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2"/>
  </p:notesMasterIdLst>
  <p:sldIdLst>
    <p:sldId id="696" r:id="rId2"/>
    <p:sldId id="697" r:id="rId3"/>
    <p:sldId id="691" r:id="rId4"/>
    <p:sldId id="692" r:id="rId5"/>
    <p:sldId id="693" r:id="rId6"/>
    <p:sldId id="681" r:id="rId7"/>
    <p:sldId id="685" r:id="rId8"/>
    <p:sldId id="682" r:id="rId9"/>
    <p:sldId id="684" r:id="rId10"/>
    <p:sldId id="502" r:id="rId11"/>
    <p:sldId id="602" r:id="rId12"/>
    <p:sldId id="504" r:id="rId13"/>
    <p:sldId id="506" r:id="rId14"/>
    <p:sldId id="507" r:id="rId15"/>
    <p:sldId id="508" r:id="rId16"/>
    <p:sldId id="611" r:id="rId17"/>
    <p:sldId id="523" r:id="rId18"/>
    <p:sldId id="524" r:id="rId19"/>
    <p:sldId id="525" r:id="rId20"/>
    <p:sldId id="612" r:id="rId21"/>
    <p:sldId id="527" r:id="rId22"/>
    <p:sldId id="529" r:id="rId23"/>
    <p:sldId id="530" r:id="rId24"/>
    <p:sldId id="531" r:id="rId25"/>
    <p:sldId id="694" r:id="rId26"/>
    <p:sldId id="532" r:id="rId27"/>
    <p:sldId id="533" r:id="rId28"/>
    <p:sldId id="534" r:id="rId29"/>
    <p:sldId id="622" r:id="rId30"/>
    <p:sldId id="68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CC"/>
    <a:srgbClr val="E6BB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42" autoAdjust="0"/>
    <p:restoredTop sz="88435" autoAdjust="0"/>
  </p:normalViewPr>
  <p:slideViewPr>
    <p:cSldViewPr snapToGrid="0">
      <p:cViewPr varScale="1">
        <p:scale>
          <a:sx n="112" d="100"/>
          <a:sy n="112" d="100"/>
        </p:scale>
        <p:origin x="36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3594B-FEBB-48A3-8BDF-DB05D5DE02C0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10BFD-0FCF-4A7B-9E85-8F7D0B316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4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83057-5BFD-4E3C-AAB5-9166BAE2A395}" type="slidenum">
              <a:rPr lang="en-US"/>
              <a:pPr/>
              <a:t>4</a:t>
            </a:fld>
            <a:endParaRPr lang="en-US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72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dirty="0" err="1"/>
              <a:t>expresiones</a:t>
            </a:r>
            <a:r>
              <a:rPr lang="en-US" dirty="0"/>
              <a:t> </a:t>
            </a:r>
            <a:r>
              <a:rPr lang="en-US" dirty="0" err="1"/>
              <a:t>aritméticas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compuestas</a:t>
            </a:r>
            <a:r>
              <a:rPr lang="en-US" dirty="0"/>
              <a:t> de </a:t>
            </a:r>
            <a:r>
              <a:rPr lang="en-US" dirty="0" err="1"/>
              <a:t>sumas</a:t>
            </a:r>
            <a:r>
              <a:rPr lang="en-US" dirty="0"/>
              <a:t>, </a:t>
            </a:r>
            <a:r>
              <a:rPr lang="en-US" dirty="0" err="1"/>
              <a:t>restas</a:t>
            </a:r>
            <a:r>
              <a:rPr lang="en-US" dirty="0"/>
              <a:t>,</a:t>
            </a:r>
            <a:r>
              <a:rPr lang="en-US" baseline="0" dirty="0"/>
              <a:t> </a:t>
            </a:r>
            <a:r>
              <a:rPr lang="en-US" baseline="0" dirty="0" err="1"/>
              <a:t>multiplicaciones</a:t>
            </a:r>
            <a:r>
              <a:rPr lang="en-US" baseline="0" dirty="0"/>
              <a:t>, </a:t>
            </a:r>
            <a:r>
              <a:rPr lang="en-US" baseline="0" dirty="0" err="1"/>
              <a:t>divisiones</a:t>
            </a:r>
            <a:r>
              <a:rPr lang="en-US" baseline="0" dirty="0"/>
              <a:t> de </a:t>
            </a:r>
            <a:r>
              <a:rPr lang="en-US" baseline="0" dirty="0" err="1"/>
              <a:t>una</a:t>
            </a:r>
            <a:r>
              <a:rPr lang="en-US" baseline="0" dirty="0"/>
              <a:t> o </a:t>
            </a:r>
            <a:r>
              <a:rPr lang="en-US" baseline="0" dirty="0" err="1"/>
              <a:t>más</a:t>
            </a:r>
            <a:r>
              <a:rPr lang="en-US" baseline="0" dirty="0"/>
              <a:t> </a:t>
            </a:r>
            <a:r>
              <a:rPr lang="en-US" baseline="0" dirty="0" err="1"/>
              <a:t>columnas</a:t>
            </a:r>
            <a:r>
              <a:rPr lang="en-US" baseline="0" dirty="0"/>
              <a:t>. </a:t>
            </a:r>
            <a:r>
              <a:rPr lang="en-US" baseline="0" dirty="0" err="1"/>
              <a:t>Así</a:t>
            </a:r>
            <a:r>
              <a:rPr lang="en-US" baseline="0" dirty="0"/>
              <a:t> </a:t>
            </a:r>
            <a:r>
              <a:rPr lang="en-US" baseline="0" dirty="0" err="1"/>
              <a:t>mismo</a:t>
            </a:r>
            <a:r>
              <a:rPr lang="en-US" baseline="0" dirty="0"/>
              <a:t> se </a:t>
            </a:r>
            <a:r>
              <a:rPr lang="en-US" baseline="0" dirty="0" err="1"/>
              <a:t>pueden</a:t>
            </a:r>
            <a:r>
              <a:rPr lang="en-US" baseline="0" dirty="0"/>
              <a:t> </a:t>
            </a:r>
            <a:r>
              <a:rPr lang="en-US" baseline="0" dirty="0" err="1"/>
              <a:t>utilizar</a:t>
            </a:r>
            <a:r>
              <a:rPr lang="en-US" baseline="0" dirty="0"/>
              <a:t> </a:t>
            </a:r>
            <a:r>
              <a:rPr lang="en-US" baseline="0" dirty="0" err="1"/>
              <a:t>paréntesis</a:t>
            </a:r>
            <a:r>
              <a:rPr lang="en-US" baseline="0" dirty="0"/>
              <a:t> </a:t>
            </a:r>
            <a:r>
              <a:rPr lang="en-US" baseline="0" dirty="0" err="1"/>
              <a:t>para</a:t>
            </a:r>
            <a:r>
              <a:rPr lang="en-US" baseline="0" dirty="0"/>
              <a:t> </a:t>
            </a:r>
            <a:r>
              <a:rPr lang="en-US" baseline="0" dirty="0" err="1"/>
              <a:t>separar</a:t>
            </a:r>
            <a:r>
              <a:rPr lang="en-US" baseline="0" dirty="0"/>
              <a:t> </a:t>
            </a:r>
            <a:r>
              <a:rPr lang="en-US" baseline="0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operaciones</a:t>
            </a:r>
            <a:r>
              <a:rPr lang="en-US" baseline="0" dirty="0"/>
              <a:t>.</a:t>
            </a:r>
          </a:p>
          <a:p>
            <a:r>
              <a:rPr lang="en-US" baseline="0" dirty="0"/>
              <a:t>Las </a:t>
            </a:r>
            <a:r>
              <a:rPr lang="en-US" baseline="0" dirty="0" err="1"/>
              <a:t>columnas</a:t>
            </a:r>
            <a:r>
              <a:rPr lang="en-US" baseline="0" dirty="0"/>
              <a:t> </a:t>
            </a:r>
            <a:r>
              <a:rPr lang="en-US" baseline="0" dirty="0" err="1"/>
              <a:t>utilizadas</a:t>
            </a:r>
            <a:r>
              <a:rPr lang="en-US" baseline="0" dirty="0"/>
              <a:t> </a:t>
            </a:r>
            <a:r>
              <a:rPr lang="en-US" baseline="0" dirty="0" err="1"/>
              <a:t>deben</a:t>
            </a:r>
            <a:r>
              <a:rPr lang="en-US" baseline="0" dirty="0"/>
              <a:t> de </a:t>
            </a:r>
            <a:r>
              <a:rPr lang="en-US" baseline="0" dirty="0" err="1"/>
              <a:t>ser</a:t>
            </a:r>
            <a:r>
              <a:rPr lang="en-US" baseline="0" dirty="0"/>
              <a:t> de </a:t>
            </a:r>
            <a:r>
              <a:rPr lang="en-US" baseline="0" dirty="0" err="1"/>
              <a:t>tipo</a:t>
            </a:r>
            <a:r>
              <a:rPr lang="en-US" baseline="0" dirty="0"/>
              <a:t> </a:t>
            </a:r>
            <a:r>
              <a:rPr lang="en-US" baseline="0" dirty="0" err="1"/>
              <a:t>numérico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AD6B2-F501-4347-86E0-8359328209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61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05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E504C-A065-244E-BBF0-F74351BF77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82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el query???</a:t>
            </a:r>
          </a:p>
          <a:p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aquellas</a:t>
            </a:r>
            <a:r>
              <a:rPr lang="en-US" baseline="0" dirty="0"/>
              <a:t> </a:t>
            </a:r>
            <a:r>
              <a:rPr lang="en-US" baseline="0" dirty="0" err="1"/>
              <a:t>cia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</a:t>
            </a:r>
            <a:r>
              <a:rPr lang="en-US" baseline="0" dirty="0" err="1"/>
              <a:t>tengan</a:t>
            </a:r>
            <a:r>
              <a:rPr lang="en-US" baseline="0" dirty="0"/>
              <a:t> </a:t>
            </a:r>
            <a:r>
              <a:rPr lang="en-US" baseline="0" dirty="0" err="1"/>
              <a:t>fabricas</a:t>
            </a:r>
            <a:r>
              <a:rPr lang="en-US" baseline="0" dirty="0"/>
              <a:t> en China y 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01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69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9D0B4B-A99C-4EA3-BB61-D5CE1032B3EB}" type="slidenum">
              <a:rPr lang="en-US"/>
              <a:pPr/>
              <a:t>13</a:t>
            </a:fld>
            <a:endParaRPr lang="en-US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5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2BF1F8-ED5A-425B-853D-68E023615F06}" type="slidenum">
              <a:rPr lang="en-US"/>
              <a:pPr/>
              <a:t>14</a:t>
            </a:fld>
            <a:endParaRPr lang="en-US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1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2BF1F8-ED5A-425B-853D-68E023615F06}" type="slidenum">
              <a:rPr lang="en-US"/>
              <a:pPr/>
              <a:t>15</a:t>
            </a:fld>
            <a:endParaRPr lang="en-US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77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0CD93C-A1AB-4F9D-A73F-E272AA11FBB9}" type="slidenum">
              <a:rPr lang="en-US"/>
              <a:pPr/>
              <a:t>17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20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587893-6C22-4EAA-8362-768E961E3E74}" type="slidenum">
              <a:rPr lang="en-US"/>
              <a:pPr/>
              <a:t>18</a:t>
            </a:fld>
            <a:endParaRPr lang="en-US"/>
          </a:p>
        </p:txBody>
      </p:sp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0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1AD065-7167-487D-84C4-7B47B901E43C}" type="slidenum">
              <a:rPr lang="en-US"/>
              <a:pPr/>
              <a:t>19</a:t>
            </a:fld>
            <a:endParaRPr lang="en-US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76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1AD065-7167-487D-84C4-7B47B901E43C}" type="slidenum">
              <a:rPr lang="en-US"/>
              <a:pPr/>
              <a:t>20</a:t>
            </a:fld>
            <a:endParaRPr lang="en-US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76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1AD065-7167-487D-84C4-7B47B901E43C}" type="slidenum">
              <a:rPr lang="en-US"/>
              <a:pPr/>
              <a:t>21</a:t>
            </a:fld>
            <a:endParaRPr lang="en-US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35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732A3D-8256-43D1-9D37-64AE574CDA46}" type="slidenum">
              <a:rPr lang="en-US"/>
              <a:pPr/>
              <a:t>22</a:t>
            </a:fld>
            <a:endParaRPr lang="en-US"/>
          </a:p>
        </p:txBody>
      </p:sp>
      <p:sp>
        <p:nvSpPr>
          <p:cNvPr id="24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51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73612-B2B7-415B-BD0B-C3DDB45ED59C}" type="slidenum">
              <a:rPr lang="en-US"/>
              <a:pPr/>
              <a:t>23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35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73612-B2B7-415B-BD0B-C3DDB45ED59C}" type="slidenum">
              <a:rPr lang="en-US"/>
              <a:pPr/>
              <a:t>24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12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D73612-B2B7-415B-BD0B-C3DDB45ED59C}" type="slidenum">
              <a:rPr lang="en-US"/>
              <a:pPr/>
              <a:t>25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12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7E0670-3023-4BB7-A747-16ED1710E089}" type="slidenum">
              <a:rPr lang="en-US"/>
              <a:pPr/>
              <a:t>26</a:t>
            </a:fld>
            <a:endParaRPr lang="en-US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35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EAE8DC-4C15-40A1-B210-B3F44905FF19}" type="slidenum">
              <a:rPr lang="en-US"/>
              <a:pPr/>
              <a:t>27</a:t>
            </a:fld>
            <a:endParaRPr lang="en-US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No need for </a:t>
            </a:r>
            <a:r>
              <a:rPr lang="en-US" sz="1200" dirty="0">
                <a:solidFill>
                  <a:schemeClr val="accent2"/>
                </a:solidFill>
              </a:rPr>
              <a:t>DISTINCT</a:t>
            </a:r>
            <a:r>
              <a:rPr lang="en-US" sz="1200" dirty="0"/>
              <a:t>: automatically from </a:t>
            </a:r>
            <a:r>
              <a:rPr lang="en-US" sz="1200" dirty="0">
                <a:solidFill>
                  <a:schemeClr val="accent2"/>
                </a:solidFill>
              </a:rPr>
              <a:t>GROUP BY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589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E6C37-543A-8445-A000-1E6F8E7D149D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94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OFICINA set OFICINA.VENTAS=(</a:t>
            </a:r>
          </a:p>
          <a:p>
            <a:r>
              <a:rPr lang="en-US" dirty="0"/>
              <a:t>select sum(</a:t>
            </a:r>
            <a:r>
              <a:rPr lang="en-US" dirty="0" err="1"/>
              <a:t>sumadinero</a:t>
            </a:r>
            <a:r>
              <a:rPr lang="en-US" dirty="0"/>
              <a:t>) from REPVENTA, (</a:t>
            </a:r>
          </a:p>
          <a:p>
            <a:r>
              <a:rPr lang="en-US" dirty="0"/>
              <a:t>select REP as </a:t>
            </a:r>
            <a:r>
              <a:rPr lang="en-US" dirty="0" err="1"/>
              <a:t>representante</a:t>
            </a:r>
            <a:r>
              <a:rPr lang="en-US" dirty="0"/>
              <a:t>, sum(IMPORTE) as </a:t>
            </a:r>
            <a:r>
              <a:rPr lang="en-US" dirty="0" err="1"/>
              <a:t>sumadinero</a:t>
            </a:r>
            <a:r>
              <a:rPr lang="en-US" dirty="0"/>
              <a:t> from PEDIDOS group by REP) as </a:t>
            </a:r>
            <a:r>
              <a:rPr lang="en-US" dirty="0" err="1"/>
              <a:t>Rep_Dinero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repventa.OFICINAREP</a:t>
            </a:r>
            <a:r>
              <a:rPr lang="en-US" dirty="0"/>
              <a:t> = OFICINA.OFICINA and REPVENTA.NUMEMPL=</a:t>
            </a:r>
            <a:r>
              <a:rPr lang="en-US" dirty="0" err="1"/>
              <a:t>representante</a:t>
            </a:r>
            <a:r>
              <a:rPr lang="en-US" dirty="0"/>
              <a:t> group by OFICINA.OFICINA);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AD6B2-F501-4347-86E0-8359328209D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9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49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8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91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8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4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2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C20E41BB-A861-4D90-850C-7108642C9483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6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2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5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20E41BB-A861-4D90-850C-7108642C9483}" type="datetimeFigureOut">
              <a:rPr lang="en-US" smtClean="0"/>
              <a:t>12/16/19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3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espol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4095" cy="1107552"/>
          </a:xfrm>
          <a:prstGeom prst="rect">
            <a:avLst/>
          </a:prstGeom>
        </p:spPr>
      </p:pic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3802299" y="649287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800" kern="1200" cap="all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UTILIZAR COMO MATERIAL DE ESTUDIO</a:t>
            </a:r>
          </a:p>
        </p:txBody>
      </p:sp>
      <p:pic>
        <p:nvPicPr>
          <p:cNvPr id="14" name="Picture 13" descr="fiec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142" y="6415974"/>
            <a:ext cx="1886857" cy="44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6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SISTEMAS DE 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BASES DE DATOS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6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TICG1001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79" y="4674015"/>
            <a:ext cx="10909519" cy="152248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UNIDAD 5</a:t>
            </a:r>
          </a:p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Lenguaje de consultas y optimización de consultas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823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442663" y="1822881"/>
            <a:ext cx="6562436" cy="443134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SQL.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Manipulación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algebra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relacional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SQL.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múltiples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tablas</a:t>
            </a: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queries </a:t>
            </a:r>
            <a:r>
              <a:rPr lang="en-US" sz="1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anidados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agregación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sz="1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agrupación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Cuantificadores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NULLs y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Joins.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Vistas</a:t>
            </a: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Procedimientos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almacenados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7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Disparadores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5526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758952"/>
            <a:ext cx="10479549" cy="3566160"/>
          </a:xfrm>
        </p:spPr>
        <p:txBody>
          <a:bodyPr/>
          <a:lstStyle/>
          <a:p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Recordemos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85262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707645" y="37699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"/>
                <a:cs typeface="Arial"/>
              </a:rPr>
              <a:t>SQL JOINS</a:t>
            </a:r>
          </a:p>
        </p:txBody>
      </p:sp>
      <p:sp>
        <p:nvSpPr>
          <p:cNvPr id="116739" name="Rectangle 3"/>
          <p:cNvSpPr>
            <a:spLocks noChangeArrowheads="1"/>
          </p:cNvSpPr>
          <p:nvPr/>
        </p:nvSpPr>
        <p:spPr bwMode="auto">
          <a:xfrm>
            <a:off x="4953000" y="2571750"/>
            <a:ext cx="23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1757464" y="2995845"/>
            <a:ext cx="7191375" cy="896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sz="2400" dirty="0" err="1"/>
              <a:t>Varias</a:t>
            </a:r>
            <a:r>
              <a:rPr lang="en-US" sz="2400" dirty="0"/>
              <a:t> </a:t>
            </a:r>
            <a:r>
              <a:rPr lang="en-US" sz="2400" dirty="0" err="1"/>
              <a:t>maneras</a:t>
            </a:r>
            <a:r>
              <a:rPr lang="en-US" sz="2400" dirty="0"/>
              <a:t> </a:t>
            </a:r>
            <a:r>
              <a:rPr lang="en-US" sz="2400" dirty="0" err="1"/>
              <a:t>equivalentes</a:t>
            </a:r>
            <a:r>
              <a:rPr lang="en-US" sz="2400" dirty="0"/>
              <a:t> de </a:t>
            </a:r>
            <a:r>
              <a:rPr lang="en-US" sz="2400" dirty="0" err="1"/>
              <a:t>escribir</a:t>
            </a:r>
            <a:r>
              <a:rPr lang="en-US" sz="2400" dirty="0"/>
              <a:t> JOIN en SQL:</a:t>
            </a:r>
          </a:p>
        </p:txBody>
      </p:sp>
      <p:sp>
        <p:nvSpPr>
          <p:cNvPr id="16" name="Rectangle 35"/>
          <p:cNvSpPr>
            <a:spLocks noChangeArrowheads="1"/>
          </p:cNvSpPr>
          <p:nvPr/>
        </p:nvSpPr>
        <p:spPr bwMode="auto">
          <a:xfrm>
            <a:off x="1160125" y="1958962"/>
            <a:ext cx="7712052" cy="99001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Categoria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StockPrecio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Pais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671551" y="3826323"/>
            <a:ext cx="3937771" cy="1477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PNombre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Precio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Compania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</a:t>
            </a:r>
            <a:r>
              <a:rPr lang="en-US" b="1" dirty="0" err="1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b="1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b="1" dirty="0" err="1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CNombre</a:t>
            </a:r>
            <a:r>
              <a:rPr lang="en-US" b="1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Pais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=‘Japan’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latin typeface="Menlo" charset="0"/>
                <a:ea typeface="Menlo" charset="0"/>
                <a:cs typeface="Menlo" charset="0"/>
              </a:rPr>
              <a:t>       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&lt;= 200;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4952999" y="3822144"/>
            <a:ext cx="6794241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PNombr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Precio</a:t>
            </a:r>
            <a:br>
              <a:rPr lang="en-US" dirty="0">
                <a:latin typeface="Menlo" charset="0"/>
                <a:ea typeface="Menlo" charset="0"/>
                <a:cs typeface="Menlo" charset="0"/>
              </a:rPr>
            </a:b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b="1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JOIN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ON</a:t>
            </a:r>
            <a:r>
              <a:rPr lang="en-US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dirty="0">
                <a:solidFill>
                  <a:srgbClr val="0000FF"/>
                </a:solidFill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latin typeface="Menlo" charset="0"/>
                <a:ea typeface="Menlo" charset="0"/>
                <a:cs typeface="Menlo" charset="0"/>
              </a:rPr>
              <a:t>Cnombre</a:t>
            </a:r>
            <a:r>
              <a:rPr lang="en-US" dirty="0">
                <a:solidFill>
                  <a:srgbClr val="0000FF"/>
                </a:solidFill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&lt;= 200 AND </a:t>
            </a:r>
            <a:r>
              <a:rPr lang="en-US" dirty="0" err="1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Pais</a:t>
            </a:r>
            <a:r>
              <a:rPr lang="en-US" dirty="0">
                <a:solidFill>
                  <a:schemeClr val="tx2"/>
                </a:solidFill>
                <a:latin typeface="Menlo" charset="0"/>
                <a:ea typeface="Menlo" charset="0"/>
                <a:cs typeface="Menlo" charset="0"/>
              </a:rPr>
              <a:t> =‘Japan’;</a:t>
            </a:r>
          </a:p>
        </p:txBody>
      </p:sp>
    </p:spTree>
    <p:extLst>
      <p:ext uri="{BB962C8B-B14F-4D97-AF65-F5344CB8AC3E}">
        <p14:creationId xmlns:p14="http://schemas.microsoft.com/office/powerpoint/2010/main" val="318136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0" grpId="0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9708" y="2033256"/>
            <a:ext cx="3076092" cy="540322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0000"/>
                </a:solidFill>
              </a:rPr>
              <a:t>Renombra</a:t>
            </a:r>
            <a:r>
              <a:rPr lang="en-US" sz="2400" b="1" dirty="0">
                <a:solidFill>
                  <a:srgbClr val="000000"/>
                </a:solidFill>
              </a:rPr>
              <a:t> la </a:t>
            </a:r>
            <a:r>
              <a:rPr lang="en-US" sz="2400" b="1" dirty="0" err="1">
                <a:solidFill>
                  <a:srgbClr val="000000"/>
                </a:solidFill>
              </a:rPr>
              <a:t>columna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249679" y="334898"/>
            <a:ext cx="10372519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RENOMBRAR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737835" y="2850817"/>
            <a:ext cx="10243203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numclie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limitecredito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limitecredito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*0.10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AS </a:t>
            </a:r>
            <a:r>
              <a:rPr lang="en-US" sz="2000" dirty="0" err="1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porcentaje</a:t>
            </a:r>
            <a:endParaRPr lang="en-US" sz="2000" dirty="0">
              <a:solidFill>
                <a:srgbClr val="FF0000"/>
              </a:solidFill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Cliente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139" y="4124196"/>
            <a:ext cx="3076092" cy="540322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0000"/>
                </a:solidFill>
              </a:rPr>
              <a:t>Renombra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b="1" dirty="0" err="1">
                <a:solidFill>
                  <a:srgbClr val="000000"/>
                </a:solidFill>
              </a:rPr>
              <a:t>tabla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773266" y="4941757"/>
            <a:ext cx="10243203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p.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Pais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p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c</a:t>
            </a:r>
            <a:br>
              <a:rPr lang="en-US" sz="2000" dirty="0">
                <a:latin typeface="Menlo" charset="0"/>
                <a:ea typeface="Menlo" charset="0"/>
                <a:cs typeface="Menlo" charset="0"/>
              </a:rPr>
            </a:b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 </a:t>
            </a:r>
            <a:r>
              <a:rPr lang="en-US" sz="2000" dirty="0" err="1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p.</a:t>
            </a:r>
            <a:r>
              <a:rPr lang="en-US" sz="20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=</a:t>
            </a:r>
            <a:r>
              <a:rPr lang="en-US" sz="2000" dirty="0" err="1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c.</a:t>
            </a:r>
            <a:r>
              <a:rPr lang="en-US" sz="20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CNombre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AND </a:t>
            </a:r>
            <a:r>
              <a:rPr lang="en-US" sz="2000" dirty="0" err="1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p.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Categoria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=‘App’;</a:t>
            </a:r>
          </a:p>
        </p:txBody>
      </p:sp>
      <p:graphicFrame>
        <p:nvGraphicFramePr>
          <p:cNvPr id="7" name="Objec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9469008"/>
              </p:ext>
            </p:extLst>
          </p:nvPr>
        </p:nvGraphicFramePr>
        <p:xfrm>
          <a:off x="9841787" y="458670"/>
          <a:ext cx="1034279" cy="1052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4" imgW="279400" imgH="342900" progId="Equation.3">
                  <p:embed/>
                </p:oleObj>
              </mc:Choice>
              <mc:Fallback>
                <p:oleObj name="Equation" r:id="rId4" imgW="279400" imgH="3429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1787" y="458670"/>
                        <a:ext cx="1034279" cy="105209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511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98285" y="3094514"/>
            <a:ext cx="7166084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SELECT 	AVG (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nombre_columna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)   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FROM  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endParaRPr lang="en-US" sz="2000" i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SELECT 	COUNT (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nombre_columna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)   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FROM  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endParaRPr lang="en-US" sz="2000" i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SELECT 	MAX (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nombre_columna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)   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FROM  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endParaRPr lang="en-US" sz="2000" i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SELECT 	MIN (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nombre_columna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)   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FROM  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endParaRPr lang="en-US" sz="2000" i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SELECT 	SUM (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nombre_columna</a:t>
            </a:r>
            <a:r>
              <a:rPr lang="en-US" sz="2000" i="1" dirty="0">
                <a:solidFill>
                  <a:schemeClr val="tx1"/>
                </a:solidFill>
                <a:latin typeface="Times New Roman"/>
                <a:cs typeface="Times New Roman"/>
              </a:rPr>
              <a:t>)   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FROM  </a:t>
            </a:r>
            <a:r>
              <a:rPr lang="en-US" sz="2000" i="1" dirty="0" err="1">
                <a:solidFill>
                  <a:schemeClr val="tx1"/>
                </a:solidFill>
                <a:latin typeface="Times New Roman"/>
                <a:cs typeface="Times New Roman"/>
              </a:rPr>
              <a:t>nombreTabla</a:t>
            </a:r>
            <a:endParaRPr lang="en-US" sz="2000" i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14883" y="1035538"/>
            <a:ext cx="10076745" cy="819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Funciones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Agregación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09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OPERADORES DE CONJUNTO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2149" t="9527" r="52387" b="59715"/>
          <a:stretch/>
        </p:blipFill>
        <p:spPr>
          <a:xfrm>
            <a:off x="2575091" y="1940526"/>
            <a:ext cx="2522180" cy="16406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11653" t="57152" r="52883" b="12090"/>
          <a:stretch/>
        </p:blipFill>
        <p:spPr>
          <a:xfrm>
            <a:off x="9041755" y="3874685"/>
            <a:ext cx="2522180" cy="16406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56293" t="57088" r="8243" b="11070"/>
          <a:stretch/>
        </p:blipFill>
        <p:spPr>
          <a:xfrm>
            <a:off x="146059" y="3916338"/>
            <a:ext cx="2522180" cy="16984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55797" t="9527" r="8739" b="59715"/>
          <a:stretch/>
        </p:blipFill>
        <p:spPr>
          <a:xfrm>
            <a:off x="6559815" y="2080184"/>
            <a:ext cx="2522180" cy="16406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51147" y="3704643"/>
            <a:ext cx="1060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3944" y="3757567"/>
            <a:ext cx="2014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676" y="5486401"/>
            <a:ext cx="17151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EXCEPT</a:t>
            </a:r>
          </a:p>
          <a:p>
            <a:pPr algn="ctr"/>
            <a:r>
              <a:rPr lang="en-US" sz="2400" dirty="0"/>
              <a:t>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0577" y="5556965"/>
            <a:ext cx="3311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SYMMETRIC DIFFERENCE</a:t>
            </a:r>
          </a:p>
        </p:txBody>
      </p:sp>
    </p:spTree>
    <p:extLst>
      <p:ext uri="{BB962C8B-B14F-4D97-AF65-F5344CB8AC3E}">
        <p14:creationId xmlns:p14="http://schemas.microsoft.com/office/powerpoint/2010/main" val="62872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758952"/>
            <a:ext cx="10479549" cy="3566160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QUERIES ANIDADOS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403830" cy="1143000"/>
          </a:xfrm>
        </p:spPr>
        <p:txBody>
          <a:bodyPr/>
          <a:lstStyle/>
          <a:p>
            <a:r>
              <a:rPr lang="en-US" sz="3600" dirty="0"/>
              <a:t>2.4 OPERADORES DE </a:t>
            </a:r>
            <a:r>
              <a:rPr lang="en-US" sz="3600" dirty="0" err="1"/>
              <a:t>conjuntos</a:t>
            </a:r>
            <a:r>
              <a:rPr lang="en-US" sz="3600" dirty="0"/>
              <a:t> y queries </a:t>
            </a:r>
            <a:r>
              <a:rPr lang="en-US" sz="3600" dirty="0" err="1"/>
              <a:t>anidados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02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73" y="286603"/>
            <a:ext cx="11239427" cy="1450757"/>
          </a:xfrm>
        </p:spPr>
        <p:txBody>
          <a:bodyPr/>
          <a:lstStyle/>
          <a:p>
            <a:r>
              <a:rPr lang="en-US" b="1" dirty="0" err="1">
                <a:latin typeface="Arial"/>
                <a:cs typeface="Arial"/>
              </a:rPr>
              <a:t>Algunos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problemas</a:t>
            </a:r>
            <a:r>
              <a:rPr lang="en-US" b="1" dirty="0">
                <a:latin typeface="Arial"/>
                <a:cs typeface="Arial"/>
              </a:rPr>
              <a:t> con INTERSECT…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4333" y="1850483"/>
            <a:ext cx="6670065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hq_ciudad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64333" y="2853793"/>
            <a:ext cx="5416868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hq_ciudad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 AND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‘US’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hq_ciudad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AND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‘China’;</a:t>
            </a:r>
            <a:endParaRPr lang="en-US" sz="2000" i="1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03059" y="3305702"/>
            <a:ext cx="4697097" cy="1569660"/>
          </a:xfrm>
          <a:prstGeom prst="rect">
            <a:avLst/>
          </a:prstGeom>
          <a:solidFill>
            <a:srgbClr val="FDCCCC"/>
          </a:solidFill>
          <a:ln>
            <a:solidFill>
              <a:srgbClr val="E6BBBA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+mj-lt"/>
              </a:rPr>
              <a:t>Qué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pasa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si</a:t>
            </a:r>
            <a:r>
              <a:rPr lang="en-US" sz="2400" dirty="0">
                <a:latin typeface="+mj-lt"/>
              </a:rPr>
              <a:t> dos </a:t>
            </a:r>
            <a:r>
              <a:rPr lang="en-US" sz="2400" dirty="0" err="1">
                <a:latin typeface="+mj-lt"/>
              </a:rPr>
              <a:t>companias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tienen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su</a:t>
            </a:r>
            <a:r>
              <a:rPr lang="en-US" sz="2400" dirty="0">
                <a:latin typeface="+mj-lt"/>
              </a:rPr>
              <a:t> HQ en US: PERO </a:t>
            </a:r>
            <a:r>
              <a:rPr lang="en-US" sz="2400" dirty="0" err="1">
                <a:latin typeface="+mj-lt"/>
              </a:rPr>
              <a:t>una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tiene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fabrica</a:t>
            </a:r>
            <a:r>
              <a:rPr lang="en-US" sz="2400" dirty="0">
                <a:latin typeface="+mj-lt"/>
              </a:rPr>
              <a:t> en China (</a:t>
            </a:r>
            <a:r>
              <a:rPr lang="en-US" sz="2400" dirty="0" err="1">
                <a:latin typeface="+mj-lt"/>
              </a:rPr>
              <a:t>pero</a:t>
            </a:r>
            <a:r>
              <a:rPr lang="en-US" sz="2400" dirty="0">
                <a:latin typeface="+mj-lt"/>
              </a:rPr>
              <a:t> no en US) y </a:t>
            </a:r>
            <a:r>
              <a:rPr lang="en-US" sz="2400" dirty="0" err="1">
                <a:latin typeface="+mj-lt"/>
              </a:rPr>
              <a:t>viceversa</a:t>
            </a:r>
            <a:r>
              <a:rPr lang="en-US" sz="2400" dirty="0">
                <a:latin typeface="+mj-lt"/>
              </a:rPr>
              <a:t>?  </a:t>
            </a:r>
            <a:r>
              <a:rPr lang="en-US" sz="2400" b="1" dirty="0" err="1">
                <a:latin typeface="+mj-lt"/>
              </a:rPr>
              <a:t>Qué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está</a:t>
            </a:r>
            <a:r>
              <a:rPr lang="en-US" sz="2400" b="1" dirty="0">
                <a:latin typeface="+mj-lt"/>
              </a:rPr>
              <a:t> mal?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759" y="2388563"/>
            <a:ext cx="1100038" cy="1200328"/>
          </a:xfrm>
          <a:prstGeom prst="rect">
            <a:avLst/>
          </a:prstGeom>
          <a:solidFill>
            <a:srgbClr val="FDCCCC"/>
          </a:solidFill>
          <a:ln>
            <a:solidFill>
              <a:srgbClr val="E6BBBA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+mj-lt"/>
              </a:rPr>
              <a:t>Qué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hace</a:t>
            </a:r>
            <a:r>
              <a:rPr lang="en-US" sz="2400" dirty="0">
                <a:latin typeface="+mj-lt"/>
              </a:rPr>
              <a:t> el query</a:t>
            </a:r>
            <a:r>
              <a:rPr lang="en-US" sz="2400" b="1" dirty="0">
                <a:latin typeface="+mj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0507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Arial"/>
                <a:cs typeface="Arial"/>
              </a:rPr>
              <a:t>Recuerda</a:t>
            </a:r>
            <a:r>
              <a:rPr lang="en-US" b="1" dirty="0">
                <a:latin typeface="Arial"/>
                <a:cs typeface="Arial"/>
              </a:rPr>
              <a:t> el </a:t>
            </a:r>
            <a:r>
              <a:rPr lang="en-US" b="1" dirty="0" err="1">
                <a:latin typeface="Arial"/>
                <a:cs typeface="Arial"/>
              </a:rPr>
              <a:t>Algoritmo</a:t>
            </a:r>
            <a:r>
              <a:rPr lang="en-US" b="1" dirty="0">
                <a:latin typeface="Arial"/>
                <a:cs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170" y="2942311"/>
            <a:ext cx="3959714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hq_ciudad</a:t>
            </a:r>
            <a:endParaRPr lang="en-US" dirty="0">
              <a:solidFill>
                <a:schemeClr val="bg2">
                  <a:lumMod val="90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  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=‘US’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hq_ciudad</a:t>
            </a:r>
            <a:endParaRPr lang="en-US" dirty="0">
              <a:solidFill>
                <a:schemeClr val="bg2">
                  <a:lumMod val="90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nombre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=‘China’</a:t>
            </a:r>
            <a:endParaRPr lang="en-US" i="1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10972" y="3425819"/>
            <a:ext cx="5551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+mj-lt"/>
              </a:rPr>
              <a:t>Ejemplo</a:t>
            </a:r>
            <a:r>
              <a:rPr lang="en-US" sz="2400" dirty="0">
                <a:latin typeface="+mj-lt"/>
              </a:rPr>
              <a:t>:  C  JOIN  P on </a:t>
            </a:r>
            <a:r>
              <a:rPr lang="en-US" sz="2400" dirty="0" err="1">
                <a:latin typeface="+mj-lt"/>
              </a:rPr>
              <a:t>fabricante</a:t>
            </a:r>
            <a:r>
              <a:rPr lang="en-US" sz="2400" dirty="0">
                <a:latin typeface="+mj-lt"/>
              </a:rPr>
              <a:t> = </a:t>
            </a:r>
            <a:r>
              <a:rPr lang="en-US" sz="2400" dirty="0" err="1">
                <a:latin typeface="+mj-lt"/>
              </a:rPr>
              <a:t>nombre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04925"/>
              </p:ext>
            </p:extLst>
          </p:nvPr>
        </p:nvGraphicFramePr>
        <p:xfrm>
          <a:off x="4810972" y="3887484"/>
          <a:ext cx="704949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9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C.nombre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C.hq_ciudad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P.pnombre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P.fabricante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P.loc_fabrica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U.S.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Inc.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68101" y="3265605"/>
            <a:ext cx="4221206" cy="86810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68102" y="4624808"/>
            <a:ext cx="4146494" cy="868101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722553" y="4227550"/>
            <a:ext cx="7156592" cy="459606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718375" y="4644238"/>
            <a:ext cx="7142092" cy="397723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386161" y="1999875"/>
            <a:ext cx="6670065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hq_ciudad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65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Arial"/>
                <a:cs typeface="Arial"/>
              </a:rPr>
              <a:t>Recuerda</a:t>
            </a:r>
            <a:r>
              <a:rPr lang="en-US" b="1" dirty="0">
                <a:latin typeface="Arial"/>
                <a:cs typeface="Arial"/>
              </a:rPr>
              <a:t> el </a:t>
            </a:r>
            <a:r>
              <a:rPr lang="en-US" b="1" dirty="0" err="1">
                <a:latin typeface="Arial"/>
                <a:cs typeface="Arial"/>
              </a:rPr>
              <a:t>Algoritmo</a:t>
            </a:r>
            <a:r>
              <a:rPr lang="en-US" b="1" dirty="0">
                <a:latin typeface="Arial"/>
                <a:cs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170" y="2942311"/>
            <a:ext cx="3959714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hq_ciudad</a:t>
            </a:r>
            <a:endParaRPr lang="en-US" dirty="0">
              <a:solidFill>
                <a:schemeClr val="bg2">
                  <a:lumMod val="90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  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factory_loc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=‘US’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INTERSECT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  <a:latin typeface="Menlo" charset="0"/>
                <a:ea typeface="Menlo" charset="0"/>
                <a:cs typeface="Menlo" charset="0"/>
              </a:rPr>
              <a:t>hq_ciudad</a:t>
            </a:r>
            <a:endParaRPr lang="en-US" dirty="0">
              <a:solidFill>
                <a:schemeClr val="bg2">
                  <a:lumMod val="90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nombre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=‘China’</a:t>
            </a:r>
            <a:endParaRPr lang="en-US" i="1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36261" y="2697536"/>
            <a:ext cx="5551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+mj-lt"/>
              </a:rPr>
              <a:t>Ejemplo</a:t>
            </a:r>
            <a:r>
              <a:rPr lang="en-US" sz="2400" dirty="0">
                <a:latin typeface="+mj-lt"/>
              </a:rPr>
              <a:t>:  C  JOIN  P on </a:t>
            </a:r>
            <a:r>
              <a:rPr lang="en-US" sz="2400" dirty="0" err="1">
                <a:latin typeface="+mj-lt"/>
              </a:rPr>
              <a:t>fabricante</a:t>
            </a:r>
            <a:r>
              <a:rPr lang="en-US" sz="2400" dirty="0">
                <a:latin typeface="+mj-lt"/>
              </a:rPr>
              <a:t> = </a:t>
            </a:r>
            <a:r>
              <a:rPr lang="en-US" sz="2400" dirty="0" err="1">
                <a:latin typeface="+mj-lt"/>
              </a:rPr>
              <a:t>nombre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997106"/>
              </p:ext>
            </p:extLst>
          </p:nvPr>
        </p:nvGraphicFramePr>
        <p:xfrm>
          <a:off x="4736261" y="3159201"/>
          <a:ext cx="704949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9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C.nombre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C.hq_ciudad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P.pnombre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P.fabricante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P.loc_fabrica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U.S.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r>
                        <a:rPr lang="en-US" baseline="0" dirty="0"/>
                        <a:t> Inc.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168101" y="3265605"/>
            <a:ext cx="4221206" cy="868101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68102" y="4624808"/>
            <a:ext cx="4146494" cy="868101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647842" y="3499267"/>
            <a:ext cx="7156592" cy="459606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643664" y="3915955"/>
            <a:ext cx="7142092" cy="397723"/>
          </a:xfrm>
          <a:prstGeom prst="roundRect">
            <a:avLst/>
          </a:prstGeom>
          <a:solidFill>
            <a:srgbClr val="C00000">
              <a:alpha val="3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12914" y="1831809"/>
            <a:ext cx="6670065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hq_ciudad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91422" y="4651562"/>
            <a:ext cx="6174449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X Co </a:t>
            </a:r>
            <a:r>
              <a:rPr lang="en-US" sz="2400" dirty="0" err="1">
                <a:latin typeface="+mj-lt"/>
              </a:rPr>
              <a:t>tiene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una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fábrica</a:t>
            </a:r>
            <a:r>
              <a:rPr lang="en-US" sz="2400" dirty="0">
                <a:latin typeface="+mj-lt"/>
              </a:rPr>
              <a:t> en US (</a:t>
            </a:r>
            <a:r>
              <a:rPr lang="en-US" sz="2400" dirty="0" err="1">
                <a:latin typeface="+mj-lt"/>
              </a:rPr>
              <a:t>pero</a:t>
            </a:r>
            <a:r>
              <a:rPr lang="en-US" sz="2400" dirty="0">
                <a:latin typeface="+mj-lt"/>
              </a:rPr>
              <a:t> no en China)</a:t>
            </a:r>
          </a:p>
          <a:p>
            <a:r>
              <a:rPr lang="en-US" sz="2400" dirty="0">
                <a:latin typeface="+mj-lt"/>
              </a:rPr>
              <a:t>Y Inc. </a:t>
            </a:r>
            <a:r>
              <a:rPr lang="en-US" sz="2400" dirty="0" err="1"/>
              <a:t>tiene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fábrica</a:t>
            </a:r>
            <a:r>
              <a:rPr lang="en-US" sz="2400" dirty="0"/>
              <a:t> en </a:t>
            </a:r>
            <a:r>
              <a:rPr lang="en-US" sz="2400" dirty="0">
                <a:latin typeface="+mj-lt"/>
              </a:rPr>
              <a:t>China (</a:t>
            </a:r>
            <a:r>
              <a:rPr lang="en-US" sz="2400" dirty="0" err="1">
                <a:latin typeface="+mj-lt"/>
              </a:rPr>
              <a:t>pero</a:t>
            </a:r>
            <a:r>
              <a:rPr lang="en-US" sz="2400" dirty="0">
                <a:latin typeface="+mj-lt"/>
              </a:rPr>
              <a:t> no en US)</a:t>
            </a:r>
          </a:p>
          <a:p>
            <a:endParaRPr lang="en-US" sz="2400" b="1" dirty="0">
              <a:latin typeface="+mj-lt"/>
            </a:endParaRPr>
          </a:p>
          <a:p>
            <a:r>
              <a:rPr lang="en-US" sz="2400" b="1" dirty="0" err="1">
                <a:latin typeface="+mj-lt"/>
              </a:rPr>
              <a:t>Pero</a:t>
            </a:r>
            <a:r>
              <a:rPr lang="en-US" sz="2400" b="1" dirty="0">
                <a:latin typeface="+mj-lt"/>
              </a:rPr>
              <a:t> Seattle </a:t>
            </a:r>
            <a:r>
              <a:rPr lang="en-US" sz="2400" b="1" dirty="0" err="1">
                <a:latin typeface="+mj-lt"/>
              </a:rPr>
              <a:t>es</a:t>
            </a:r>
            <a:r>
              <a:rPr lang="en-US" sz="2400" b="1" dirty="0">
                <a:latin typeface="+mj-lt"/>
              </a:rPr>
              <a:t> parte del </a:t>
            </a:r>
            <a:r>
              <a:rPr lang="en-US" sz="2400" b="1" dirty="0" err="1">
                <a:latin typeface="+mj-lt"/>
              </a:rPr>
              <a:t>resultado</a:t>
            </a:r>
            <a:r>
              <a:rPr lang="en-US" sz="2400" b="1" dirty="0">
                <a:latin typeface="+mj-lt"/>
              </a:rPr>
              <a:t> del query!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4064" y="5759794"/>
            <a:ext cx="4118544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+mj-lt"/>
              </a:rPr>
              <a:t>Hicimos</a:t>
            </a:r>
            <a:r>
              <a:rPr lang="en-US" sz="2800" dirty="0">
                <a:latin typeface="+mj-lt"/>
              </a:rPr>
              <a:t> el INTERSECT con los </a:t>
            </a:r>
            <a:r>
              <a:rPr lang="en-US" sz="2800" dirty="0" err="1">
                <a:latin typeface="+mj-lt"/>
              </a:rPr>
              <a:t>atributos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incorrectos</a:t>
            </a:r>
            <a:r>
              <a:rPr lang="en-US" sz="2800" dirty="0"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3584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Arial"/>
                <a:cs typeface="Arial"/>
              </a:rPr>
              <a:t>Una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Solución</a:t>
            </a:r>
            <a:r>
              <a:rPr lang="en-US" b="1" dirty="0">
                <a:latin typeface="Arial"/>
                <a:cs typeface="Arial"/>
              </a:rPr>
              <a:t>: Queries </a:t>
            </a:r>
            <a:r>
              <a:rPr lang="en-US" b="1" dirty="0" err="1">
                <a:latin typeface="Arial"/>
                <a:cs typeface="Arial"/>
              </a:rPr>
              <a:t>Anidados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57722" y="2741750"/>
            <a:ext cx="6540500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DISTINCT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hq_ciudad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 AND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IN 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fabricante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  	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 	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‘US’)</a:t>
            </a: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AND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IN 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	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fabricante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  	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  	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‘China’);</a:t>
            </a:r>
            <a:endParaRPr lang="en-US" sz="2000" i="1" dirty="0">
              <a:latin typeface="Menlo" charset="0"/>
              <a:ea typeface="Menlo" charset="0"/>
              <a:cs typeface="Menlo" charset="0"/>
            </a:endParaRPr>
          </a:p>
          <a:p>
            <a:endParaRPr lang="en-US" sz="2000" i="1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27311" y="3946967"/>
            <a:ext cx="3301257" cy="1569660"/>
          </a:xfrm>
          <a:prstGeom prst="rect">
            <a:avLst/>
          </a:prstGeom>
          <a:solidFill>
            <a:srgbClr val="FDCCCC"/>
          </a:solidFill>
          <a:ln>
            <a:solidFill>
              <a:srgbClr val="E6BBBA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Nota: </a:t>
            </a:r>
            <a:r>
              <a:rPr lang="en-US" sz="2400" dirty="0" err="1">
                <a:latin typeface="+mj-lt"/>
              </a:rPr>
              <a:t>si</a:t>
            </a:r>
            <a:r>
              <a:rPr lang="en-US" sz="2400" dirty="0">
                <a:latin typeface="+mj-lt"/>
              </a:rPr>
              <a:t> no </a:t>
            </a:r>
            <a:r>
              <a:rPr lang="en-US" sz="2400" dirty="0" err="1">
                <a:latin typeface="+mj-lt"/>
              </a:rPr>
              <a:t>hubieramos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usado</a:t>
            </a:r>
            <a:r>
              <a:rPr lang="en-US" sz="2400" dirty="0">
                <a:latin typeface="+mj-lt"/>
              </a:rPr>
              <a:t> DISTINCT, </a:t>
            </a:r>
            <a:r>
              <a:rPr lang="en-US" sz="2400" dirty="0" err="1">
                <a:latin typeface="+mj-lt"/>
              </a:rPr>
              <a:t>cuántas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copias</a:t>
            </a:r>
            <a:r>
              <a:rPr lang="en-US" sz="2400" dirty="0">
                <a:latin typeface="+mj-lt"/>
              </a:rPr>
              <a:t> de </a:t>
            </a:r>
            <a:r>
              <a:rPr lang="en-US" sz="2400" dirty="0" err="1">
                <a:latin typeface="+mj-lt"/>
              </a:rPr>
              <a:t>cada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hq_city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hubieran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salido</a:t>
            </a:r>
            <a:r>
              <a:rPr lang="en-US" sz="2400" dirty="0">
                <a:latin typeface="+mj-lt"/>
              </a:rPr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6064" y="1831809"/>
            <a:ext cx="6670065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hq_ciudad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loc_fabrica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63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/>
                <a:cs typeface="Arial"/>
              </a:rPr>
              <a:t>Queries </a:t>
            </a:r>
            <a:r>
              <a:rPr lang="en-US" b="1" dirty="0" err="1">
                <a:latin typeface="Arial"/>
                <a:cs typeface="Arial"/>
              </a:rPr>
              <a:t>Anidados</a:t>
            </a:r>
            <a:r>
              <a:rPr lang="en-US" b="1" dirty="0">
                <a:latin typeface="Arial"/>
                <a:cs typeface="Arial"/>
              </a:rPr>
              <a:t>: Sub-queries </a:t>
            </a:r>
            <a:r>
              <a:rPr lang="en-US" b="1" dirty="0" err="1">
                <a:latin typeface="Arial"/>
                <a:cs typeface="Arial"/>
              </a:rPr>
              <a:t>retornan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Relaciones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80227" name="Text Box 3"/>
          <p:cNvSpPr txBox="1">
            <a:spLocks noChangeArrowheads="1"/>
          </p:cNvSpPr>
          <p:nvPr/>
        </p:nvSpPr>
        <p:spPr bwMode="auto">
          <a:xfrm>
            <a:off x="224134" y="3267943"/>
            <a:ext cx="8461089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c.ciudad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c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c.nombre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IN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(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pr.fabricante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cp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cp.producto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pr.nombre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        AND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cp.comprador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‘Carla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Varas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‘);</a:t>
            </a:r>
          </a:p>
        </p:txBody>
      </p:sp>
      <p:sp>
        <p:nvSpPr>
          <p:cNvPr id="180228" name="Text Box 4"/>
          <p:cNvSpPr txBox="1">
            <a:spLocks noChangeArrowheads="1"/>
          </p:cNvSpPr>
          <p:nvPr/>
        </p:nvSpPr>
        <p:spPr bwMode="auto">
          <a:xfrm>
            <a:off x="8901569" y="3436008"/>
            <a:ext cx="305228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“</a:t>
            </a:r>
            <a:r>
              <a:rPr lang="en-US" sz="2400" dirty="0" err="1">
                <a:latin typeface="+mj-lt"/>
              </a:rPr>
              <a:t>Ciudades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donde</a:t>
            </a:r>
            <a:r>
              <a:rPr lang="en-US" sz="2400" dirty="0">
                <a:latin typeface="+mj-lt"/>
              </a:rPr>
              <a:t> se </a:t>
            </a:r>
            <a:r>
              <a:rPr lang="en-US" sz="2400" dirty="0" err="1">
                <a:latin typeface="+mj-lt"/>
              </a:rPr>
              <a:t>pueda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encontrar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compañías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fabriquen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productos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comprados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por</a:t>
            </a:r>
            <a:r>
              <a:rPr lang="en-US" sz="2400" dirty="0">
                <a:latin typeface="+mj-lt"/>
              </a:rPr>
              <a:t> Carla </a:t>
            </a:r>
            <a:r>
              <a:rPr lang="en-US" sz="2400" dirty="0" err="1">
                <a:latin typeface="+mj-lt"/>
              </a:rPr>
              <a:t>Varas</a:t>
            </a:r>
            <a:r>
              <a:rPr lang="en-US" sz="2400" dirty="0">
                <a:latin typeface="+mj-lt"/>
              </a:rPr>
              <a:t>”</a:t>
            </a:r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1981201" y="1823413"/>
            <a:ext cx="5928877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u="sng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ciudad)</a:t>
            </a:r>
            <a:b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4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u="sng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b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4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u="sng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id</a:t>
            </a:r>
            <a: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4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comprador)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823413"/>
            <a:ext cx="1315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+mj-lt"/>
              </a:rPr>
              <a:t>Ejemplo</a:t>
            </a:r>
            <a:r>
              <a:rPr lang="en-US" sz="2400" dirty="0">
                <a:latin typeface="+mj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3778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 animBg="1"/>
      <p:bldP spid="180228" grpId="0"/>
      <p:bldP spid="180230" grpId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  <a:cs typeface="Arial"/>
              </a:rPr>
              <a:t>QUERIES ANIDADOS…</a:t>
            </a:r>
          </a:p>
        </p:txBody>
      </p:sp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6469080" y="2064167"/>
            <a:ext cx="40306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 err="1">
                <a:latin typeface="+mj-lt"/>
              </a:rPr>
              <a:t>Es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este</a:t>
            </a:r>
            <a:r>
              <a:rPr lang="en-US" sz="2800" dirty="0">
                <a:latin typeface="+mj-lt"/>
              </a:rPr>
              <a:t> query </a:t>
            </a:r>
            <a:r>
              <a:rPr lang="en-US" sz="2800" dirty="0" err="1">
                <a:latin typeface="+mj-lt"/>
              </a:rPr>
              <a:t>equivalente</a:t>
            </a:r>
            <a:r>
              <a:rPr lang="en-US" sz="2800" dirty="0">
                <a:latin typeface="+mj-lt"/>
              </a:rPr>
              <a:t>?</a:t>
            </a:r>
          </a:p>
        </p:txBody>
      </p:sp>
      <p:sp>
        <p:nvSpPr>
          <p:cNvPr id="181254" name="Rectangle 6"/>
          <p:cNvSpPr>
            <a:spLocks noChangeArrowheads="1"/>
          </p:cNvSpPr>
          <p:nvPr/>
        </p:nvSpPr>
        <p:spPr bwMode="auto">
          <a:xfrm>
            <a:off x="7065343" y="5522521"/>
            <a:ext cx="4784883" cy="584776"/>
          </a:xfrm>
          <a:prstGeom prst="rect">
            <a:avLst/>
          </a:prstGeom>
          <a:solidFill>
            <a:srgbClr val="FDCCCC"/>
          </a:solidFill>
          <a:ln w="9525">
            <a:solidFill>
              <a:srgbClr val="E6BBBA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 dirty="0" err="1">
                <a:latin typeface="+mj-lt"/>
              </a:rPr>
              <a:t>Cuidado</a:t>
            </a:r>
            <a:r>
              <a:rPr lang="en-US" sz="3200" dirty="0">
                <a:latin typeface="+mj-lt"/>
              </a:rPr>
              <a:t> con los </a:t>
            </a:r>
            <a:r>
              <a:rPr lang="en-US" sz="3200" dirty="0" err="1">
                <a:latin typeface="+mj-lt"/>
              </a:rPr>
              <a:t>duplicados</a:t>
            </a:r>
            <a:r>
              <a:rPr lang="en-US" sz="3200" dirty="0">
                <a:latin typeface="+mj-lt"/>
              </a:rPr>
              <a:t>! </a:t>
            </a:r>
            <a:endParaRPr lang="en-US" dirty="0">
              <a:solidFill>
                <a:srgbClr val="FF5050"/>
              </a:solidFill>
              <a:latin typeface="+mj-lt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25478" y="1823413"/>
            <a:ext cx="497150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ciudad)</a:t>
            </a:r>
            <a:b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b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id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comprador)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57814" y="3652308"/>
            <a:ext cx="6493267" cy="2031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c.ciudad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c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c.nombre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IN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(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pr.fabricante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cp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latin typeface="Menlo" charset="0"/>
                <a:ea typeface="Menlo" charset="0"/>
                <a:cs typeface="Menlo" charset="0"/>
              </a:rPr>
              <a:t>      </a:t>
            </a:r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cp.producto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pr.nombre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dirty="0">
                <a:latin typeface="Menlo" charset="0"/>
                <a:ea typeface="Menlo" charset="0"/>
                <a:cs typeface="Menlo" charset="0"/>
              </a:rPr>
              <a:t>	        AND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cp.comprador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= ‘Carla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Varas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‘);</a:t>
            </a:r>
          </a:p>
        </p:txBody>
      </p:sp>
      <p:sp>
        <p:nvSpPr>
          <p:cNvPr id="181251" name="Text Box 3"/>
          <p:cNvSpPr txBox="1">
            <a:spLocks noChangeArrowheads="1"/>
          </p:cNvSpPr>
          <p:nvPr/>
        </p:nvSpPr>
        <p:spPr bwMode="auto">
          <a:xfrm>
            <a:off x="5993226" y="2985436"/>
            <a:ext cx="5897994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c.ciudad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c,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cp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pr.fabricante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AND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cp.producto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AND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cp.comprador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‘Carla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Varas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’;</a:t>
            </a:r>
          </a:p>
        </p:txBody>
      </p:sp>
    </p:spTree>
    <p:extLst>
      <p:ext uri="{BB962C8B-B14F-4D97-AF65-F5344CB8AC3E}">
        <p14:creationId xmlns:p14="http://schemas.microsoft.com/office/powerpoint/2010/main" val="20086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/>
      <p:bldP spid="181254" grpId="0" animBg="1" autoUpdateAnimBg="0"/>
      <p:bldP spid="18125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4" name="Rectangle 6"/>
          <p:cNvSpPr>
            <a:spLocks noChangeArrowheads="1"/>
          </p:cNvSpPr>
          <p:nvPr/>
        </p:nvSpPr>
        <p:spPr bwMode="auto">
          <a:xfrm>
            <a:off x="4017451" y="5704114"/>
            <a:ext cx="4157108" cy="584776"/>
          </a:xfrm>
          <a:prstGeom prst="rect">
            <a:avLst/>
          </a:prstGeom>
          <a:solidFill>
            <a:srgbClr val="FDCCCC"/>
          </a:solidFill>
          <a:ln w="9525">
            <a:solidFill>
              <a:srgbClr val="E6BBBA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 dirty="0" err="1">
                <a:latin typeface="+mj-lt"/>
              </a:rPr>
              <a:t>Ahora</a:t>
            </a:r>
            <a:r>
              <a:rPr lang="en-US" sz="3200" dirty="0">
                <a:latin typeface="+mj-lt"/>
              </a:rPr>
              <a:t> son </a:t>
            </a:r>
            <a:r>
              <a:rPr lang="en-US" sz="3200" dirty="0" err="1">
                <a:latin typeface="+mj-lt"/>
              </a:rPr>
              <a:t>equivalentes</a:t>
            </a:r>
            <a:r>
              <a:rPr lang="en-US" sz="3200" dirty="0">
                <a:latin typeface="+mj-lt"/>
              </a:rPr>
              <a:t>!</a:t>
            </a:r>
            <a:endParaRPr lang="en-US" dirty="0">
              <a:solidFill>
                <a:srgbClr val="FF5050"/>
              </a:solidFill>
              <a:latin typeface="+mj-lt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20141" y="3147123"/>
            <a:ext cx="6059030" cy="22467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c.ciudad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c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IN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(</a:t>
            </a:r>
          </a:p>
          <a:p>
            <a:pPr eaLnBrk="0" hangingPunct="0"/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 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pr.fabricante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cp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cp.product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	AND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cp.comprador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‘Carla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Varas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‘);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/>
                <a:cs typeface="Arial"/>
              </a:rPr>
              <a:t>QUERIES ANIDADOS…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25478" y="1823413"/>
            <a:ext cx="497150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ciudad)</a:t>
            </a:r>
            <a:b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b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</a:b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0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id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comprador)</a:t>
            </a:r>
          </a:p>
        </p:txBody>
      </p:sp>
      <p:sp>
        <p:nvSpPr>
          <p:cNvPr id="181251" name="Text Box 3"/>
          <p:cNvSpPr txBox="1">
            <a:spLocks noChangeArrowheads="1"/>
          </p:cNvSpPr>
          <p:nvPr/>
        </p:nvSpPr>
        <p:spPr bwMode="auto">
          <a:xfrm>
            <a:off x="6030671" y="2924639"/>
            <a:ext cx="5897994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c.ciudad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Compania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c,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, </a:t>
            </a: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   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cp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pr.fabricante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AND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pr.nombre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cp.producto</a:t>
            </a:r>
            <a:endParaRPr lang="en-US" sz="20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  AND 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cp.comprador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 = ‘Carla </a:t>
            </a:r>
            <a:r>
              <a:rPr lang="en-US" sz="2000" dirty="0" err="1">
                <a:latin typeface="Menlo" charset="0"/>
                <a:ea typeface="Menlo" charset="0"/>
                <a:cs typeface="Menlo" charset="0"/>
              </a:rPr>
              <a:t>Varas</a:t>
            </a:r>
            <a:r>
              <a:rPr lang="en-US" sz="2000" dirty="0">
                <a:latin typeface="Menlo" charset="0"/>
                <a:ea typeface="Menlo" charset="0"/>
                <a:cs typeface="Menlo" charset="0"/>
              </a:rPr>
              <a:t>’;</a:t>
            </a:r>
          </a:p>
        </p:txBody>
      </p:sp>
    </p:spTree>
    <p:extLst>
      <p:ext uri="{BB962C8B-B14F-4D97-AF65-F5344CB8AC3E}">
        <p14:creationId xmlns:p14="http://schemas.microsoft.com/office/powerpoint/2010/main" val="210069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4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GROUP BY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403830" cy="1143000"/>
          </a:xfrm>
        </p:spPr>
        <p:txBody>
          <a:bodyPr/>
          <a:lstStyle/>
          <a:p>
            <a:r>
              <a:rPr lang="en-US" sz="3600" dirty="0"/>
              <a:t>2.5 OPERADORES DE AGREGACIÓN Y GROUP BY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31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  <a:cs typeface="Arial"/>
              </a:rPr>
              <a:t>AGRUPANDO…</a:t>
            </a:r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838200" y="3007611"/>
            <a:ext cx="8243512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pPr eaLnBrk="0" hangingPunct="0"/>
            <a:r>
              <a:rPr lang="en-US" sz="2400" dirty="0">
                <a:latin typeface="Menlo" charset="0"/>
                <a:ea typeface="Menlo" charset="0"/>
                <a:cs typeface="Menlo" charset="0"/>
              </a:rPr>
              <a:t>	    SUM(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*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cantidad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 AS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TotalVentas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Compras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fecha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 ‘05/01/2018’</a:t>
            </a:r>
          </a:p>
          <a:p>
            <a:pPr eaLnBrk="0" hangingPunct="0"/>
            <a:r>
              <a:rPr lang="en-US" sz="2400" dirty="0">
                <a:solidFill>
                  <a:srgbClr val="FF0066"/>
                </a:solidFill>
                <a:latin typeface="Menlo" charset="0"/>
                <a:ea typeface="Menlo" charset="0"/>
                <a:cs typeface="Menlo" charset="0"/>
              </a:rPr>
              <a:t>GROUP BY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181254" name="Rectangle 6"/>
          <p:cNvSpPr>
            <a:spLocks noChangeArrowheads="1"/>
          </p:cNvSpPr>
          <p:nvPr/>
        </p:nvSpPr>
        <p:spPr bwMode="auto">
          <a:xfrm>
            <a:off x="9200445" y="2753611"/>
            <a:ext cx="282222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+mj-lt"/>
              </a:rPr>
              <a:t>Encuentra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por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producto</a:t>
            </a:r>
            <a:r>
              <a:rPr lang="en-US" sz="2400" dirty="0">
                <a:latin typeface="+mj-lt"/>
              </a:rPr>
              <a:t> el total de </a:t>
            </a:r>
            <a:r>
              <a:rPr lang="en-US" sz="2400" dirty="0" err="1">
                <a:latin typeface="+mj-lt"/>
              </a:rPr>
              <a:t>ventas</a:t>
            </a:r>
            <a:r>
              <a:rPr lang="en-US" sz="2400" dirty="0">
                <a:latin typeface="+mj-lt"/>
              </a:rPr>
              <a:t> (</a:t>
            </a:r>
            <a:r>
              <a:rPr lang="en-US" sz="2400" dirty="0" err="1">
                <a:latin typeface="+mj-lt"/>
              </a:rPr>
              <a:t>precio</a:t>
            </a:r>
            <a:r>
              <a:rPr lang="en-US" sz="2400" dirty="0">
                <a:latin typeface="+mj-lt"/>
              </a:rPr>
              <a:t> x </a:t>
            </a:r>
            <a:r>
              <a:rPr lang="en-US" sz="2400" dirty="0" err="1">
                <a:latin typeface="+mj-lt"/>
              </a:rPr>
              <a:t>cantidad</a:t>
            </a:r>
            <a:r>
              <a:rPr lang="en-US" sz="2400" dirty="0">
                <a:latin typeface="+mj-lt"/>
              </a:rPr>
              <a:t>) </a:t>
            </a:r>
            <a:r>
              <a:rPr lang="en-US" sz="2400" dirty="0" err="1">
                <a:latin typeface="+mj-lt"/>
              </a:rPr>
              <a:t>realizadas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después</a:t>
            </a:r>
            <a:r>
              <a:rPr lang="en-US" sz="2400" dirty="0">
                <a:latin typeface="+mj-lt"/>
              </a:rPr>
              <a:t> del 10/1/2017.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782166" y="2237395"/>
            <a:ext cx="7781848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Compra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fecha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cantidad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graphicFrame>
        <p:nvGraphicFramePr>
          <p:cNvPr id="9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8008161"/>
              </p:ext>
            </p:extLst>
          </p:nvPr>
        </p:nvGraphicFramePr>
        <p:xfrm>
          <a:off x="2535238" y="5255155"/>
          <a:ext cx="7723540" cy="727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4" imgW="5384800" imgH="457200" progId="Equation.3">
                  <p:embed/>
                </p:oleObj>
              </mc:Choice>
              <mc:Fallback>
                <p:oleObj name="Equation" r:id="rId4" imgW="5384800" imgH="4572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8" y="5255155"/>
                        <a:ext cx="7723540" cy="727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326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animBg="1"/>
      <p:bldP spid="1812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838200" y="2654300"/>
            <a:ext cx="105156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800" dirty="0"/>
              <a:t>1. </a:t>
            </a:r>
            <a:r>
              <a:rPr lang="en-US" sz="2800" dirty="0" err="1"/>
              <a:t>Ejecuta</a:t>
            </a:r>
            <a:r>
              <a:rPr lang="en-US" sz="2800" dirty="0"/>
              <a:t> </a:t>
            </a:r>
            <a:r>
              <a:rPr lang="en-US" sz="2800" dirty="0" err="1"/>
              <a:t>las</a:t>
            </a:r>
            <a:r>
              <a:rPr lang="en-US" sz="2800" dirty="0"/>
              <a:t> </a:t>
            </a:r>
            <a:r>
              <a:rPr lang="en-US" sz="2800" dirty="0" err="1"/>
              <a:t>cláusulas</a:t>
            </a:r>
            <a:r>
              <a:rPr lang="en-US" sz="2800" dirty="0"/>
              <a:t> del </a:t>
            </a:r>
            <a:r>
              <a:rPr lang="en-US" sz="2800" dirty="0">
                <a:solidFill>
                  <a:schemeClr val="accent2"/>
                </a:solidFill>
              </a:rPr>
              <a:t>FROM</a:t>
            </a:r>
            <a:r>
              <a:rPr lang="en-US" sz="2800" dirty="0"/>
              <a:t> y </a:t>
            </a:r>
            <a:r>
              <a:rPr lang="en-US" sz="2800" dirty="0">
                <a:solidFill>
                  <a:schemeClr val="accent2"/>
                </a:solidFill>
              </a:rPr>
              <a:t>WHERE</a:t>
            </a:r>
            <a:endParaRPr lang="en-US" sz="2800" dirty="0"/>
          </a:p>
          <a:p>
            <a:pPr eaLnBrk="0" hangingPunct="0"/>
            <a:endParaRPr lang="en-US" sz="2800" dirty="0"/>
          </a:p>
          <a:p>
            <a:pPr eaLnBrk="0" hangingPunct="0"/>
            <a:r>
              <a:rPr lang="en-US" sz="2800" dirty="0"/>
              <a:t>2. </a:t>
            </a:r>
            <a:r>
              <a:rPr lang="en-US" sz="2800" dirty="0" err="1"/>
              <a:t>Agrupar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los </a:t>
            </a:r>
            <a:r>
              <a:rPr lang="en-US" sz="2800" dirty="0" err="1"/>
              <a:t>atributos</a:t>
            </a:r>
            <a:r>
              <a:rPr lang="en-US" sz="2800" dirty="0"/>
              <a:t> en el </a:t>
            </a:r>
            <a:r>
              <a:rPr lang="en-US" sz="2800" dirty="0">
                <a:solidFill>
                  <a:schemeClr val="accent2"/>
                </a:solidFill>
              </a:rPr>
              <a:t>GROUP BY</a:t>
            </a:r>
          </a:p>
          <a:p>
            <a:pPr eaLnBrk="0" hangingPunct="0"/>
            <a:endParaRPr lang="en-US" sz="2800" dirty="0"/>
          </a:p>
          <a:p>
            <a:pPr eaLnBrk="0" hangingPunct="0"/>
            <a:r>
              <a:rPr lang="en-US" sz="2800" dirty="0"/>
              <a:t>3. </a:t>
            </a:r>
            <a:r>
              <a:rPr lang="en-US" sz="2800" dirty="0" err="1"/>
              <a:t>Ejecute</a:t>
            </a:r>
            <a:r>
              <a:rPr lang="en-US" sz="2800" dirty="0"/>
              <a:t> la </a:t>
            </a:r>
            <a:r>
              <a:rPr lang="en-US" sz="2800" dirty="0" err="1"/>
              <a:t>cláusula</a:t>
            </a:r>
            <a:r>
              <a:rPr lang="en-US" sz="2800" dirty="0"/>
              <a:t> del  </a:t>
            </a:r>
            <a:r>
              <a:rPr lang="en-US" sz="2800" dirty="0">
                <a:solidFill>
                  <a:schemeClr val="accent2"/>
                </a:solidFill>
              </a:rPr>
              <a:t>SELECT</a:t>
            </a:r>
            <a:r>
              <a:rPr lang="en-US" sz="2800" dirty="0"/>
              <a:t>: </a:t>
            </a:r>
            <a:r>
              <a:rPr lang="en-US" sz="2800" dirty="0" err="1"/>
              <a:t>atributos</a:t>
            </a:r>
            <a:r>
              <a:rPr lang="en-US" sz="2800" dirty="0"/>
              <a:t> </a:t>
            </a:r>
            <a:r>
              <a:rPr lang="en-US" sz="2800" dirty="0" err="1"/>
              <a:t>agrupados</a:t>
            </a:r>
            <a:r>
              <a:rPr lang="en-US" sz="2800" dirty="0"/>
              <a:t> y </a:t>
            </a:r>
            <a:r>
              <a:rPr lang="en-US" sz="2800" dirty="0" err="1"/>
              <a:t>agregados</a:t>
            </a:r>
            <a:r>
              <a:rPr lang="en-US" sz="2800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1690688"/>
            <a:ext cx="356980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 err="1">
                <a:latin typeface="+mj-lt"/>
              </a:rPr>
              <a:t>Algoritmo</a:t>
            </a:r>
            <a:r>
              <a:rPr lang="en-US" sz="3200" u="sng" dirty="0">
                <a:latin typeface="+mj-lt"/>
              </a:rPr>
              <a:t> del query: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b="1" dirty="0">
                <a:latin typeface="Arial"/>
                <a:cs typeface="Arial"/>
              </a:rPr>
              <a:t>AGRUPANDO…</a:t>
            </a:r>
          </a:p>
        </p:txBody>
      </p:sp>
    </p:spTree>
    <p:extLst>
      <p:ext uri="{BB962C8B-B14F-4D97-AF65-F5344CB8AC3E}">
        <p14:creationId xmlns:p14="http://schemas.microsoft.com/office/powerpoint/2010/main" val="357328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4879" y="622300"/>
            <a:ext cx="11706375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/>
                <a:cs typeface="Arial"/>
              </a:rPr>
              <a:t>1. </a:t>
            </a:r>
            <a:r>
              <a:rPr lang="en-US" b="1" dirty="0" err="1">
                <a:latin typeface="Arial"/>
                <a:cs typeface="Arial"/>
              </a:rPr>
              <a:t>Ejecutar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las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cláusulas</a:t>
            </a:r>
            <a:r>
              <a:rPr lang="en-US" b="1" dirty="0">
                <a:latin typeface="Arial"/>
                <a:cs typeface="Arial"/>
              </a:rPr>
              <a:t> del </a:t>
            </a:r>
            <a:r>
              <a:rPr lang="en-US" b="1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b="1" dirty="0">
                <a:latin typeface="Arial"/>
                <a:cs typeface="Arial"/>
              </a:rPr>
              <a:t> y </a:t>
            </a:r>
            <a:r>
              <a:rPr lang="en-US" b="1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endParaRPr lang="en-US" sz="3200" b="1" dirty="0">
              <a:latin typeface="Arial"/>
              <a:cs typeface="Arial"/>
            </a:endParaRPr>
          </a:p>
        </p:txBody>
      </p:sp>
      <p:graphicFrame>
        <p:nvGraphicFramePr>
          <p:cNvPr id="18335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549777"/>
              </p:ext>
            </p:extLst>
          </p:nvPr>
        </p:nvGraphicFramePr>
        <p:xfrm>
          <a:off x="3211830" y="3807618"/>
          <a:ext cx="4808220" cy="1981200"/>
        </p:xfrm>
        <a:graphic>
          <a:graphicData uri="http://schemas.openxmlformats.org/drawingml/2006/table">
            <a:tbl>
              <a:tblPr/>
              <a:tblGrid>
                <a:gridCol w="120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2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Fecha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Precio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Cantidad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21/01/2018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30/01/2018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79"/>
          <p:cNvSpPr>
            <a:spLocks noChangeArrowheads="1"/>
          </p:cNvSpPr>
          <p:nvPr/>
        </p:nvSpPr>
        <p:spPr bwMode="auto">
          <a:xfrm>
            <a:off x="2095500" y="4431386"/>
            <a:ext cx="905874" cy="733663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7772" y="2264852"/>
            <a:ext cx="8252331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 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, SUM(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 *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cantidad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) AS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TotalVentas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Compras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fecha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&gt; ‘05/01/2018’</a:t>
            </a: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2" name="Rectangle 1"/>
          <p:cNvSpPr/>
          <p:nvPr/>
        </p:nvSpPr>
        <p:spPr>
          <a:xfrm>
            <a:off x="2095500" y="4062054"/>
            <a:ext cx="740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6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4879" y="622300"/>
            <a:ext cx="11706375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/>
                <a:cs typeface="Arial"/>
              </a:rPr>
              <a:t>2. </a:t>
            </a:r>
            <a:r>
              <a:rPr lang="en-US" b="1" dirty="0" err="1">
                <a:latin typeface="Arial"/>
                <a:cs typeface="Arial"/>
              </a:rPr>
              <a:t>Agrupar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por</a:t>
            </a:r>
            <a:r>
              <a:rPr lang="en-US" b="1" dirty="0">
                <a:latin typeface="Arial"/>
                <a:cs typeface="Arial"/>
              </a:rPr>
              <a:t> los </a:t>
            </a:r>
            <a:r>
              <a:rPr lang="en-US" b="1" dirty="0" err="1">
                <a:latin typeface="Arial"/>
                <a:cs typeface="Arial"/>
              </a:rPr>
              <a:t>atributos</a:t>
            </a:r>
            <a:r>
              <a:rPr lang="en-US" b="1" dirty="0">
                <a:latin typeface="Arial"/>
                <a:cs typeface="Arial"/>
              </a:rPr>
              <a:t> en el </a:t>
            </a:r>
            <a:r>
              <a:rPr lang="en-US" b="1" dirty="0">
                <a:solidFill>
                  <a:schemeClr val="accent2"/>
                </a:solidFill>
                <a:latin typeface="Arial"/>
                <a:cs typeface="Arial"/>
              </a:rPr>
              <a:t>GROUP BY</a:t>
            </a:r>
            <a:endParaRPr lang="en-US" sz="3200" b="1" dirty="0">
              <a:latin typeface="Arial"/>
              <a:cs typeface="Arial"/>
            </a:endParaRPr>
          </a:p>
        </p:txBody>
      </p:sp>
      <p:graphicFrame>
        <p:nvGraphicFramePr>
          <p:cNvPr id="8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31829"/>
              </p:ext>
            </p:extLst>
          </p:nvPr>
        </p:nvGraphicFramePr>
        <p:xfrm>
          <a:off x="354879" y="4144415"/>
          <a:ext cx="4939464" cy="1981200"/>
        </p:xfrm>
        <a:graphic>
          <a:graphicData uri="http://schemas.openxmlformats.org/drawingml/2006/table">
            <a:tbl>
              <a:tblPr/>
              <a:tblGrid>
                <a:gridCol w="1234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Fecha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Precio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Cantidad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21/01/2018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30/01/2018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AutoShape 79"/>
          <p:cNvSpPr>
            <a:spLocks noChangeArrowheads="1"/>
          </p:cNvSpPr>
          <p:nvPr/>
        </p:nvSpPr>
        <p:spPr bwMode="auto">
          <a:xfrm>
            <a:off x="5624454" y="4636798"/>
            <a:ext cx="905874" cy="733663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78854" y="2299464"/>
            <a:ext cx="8121587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SELECT  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, SUM(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 *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cantidad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) AS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TotalVentas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FROM    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Compras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WHERE   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fecha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 &gt; ‘05/01/2018’</a:t>
            </a:r>
          </a:p>
          <a:p>
            <a:pPr eaLnBrk="0" hangingPunct="0"/>
            <a:r>
              <a:rPr lang="en-US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1928" y="4278899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endParaRPr lang="en-US" dirty="0"/>
          </a:p>
        </p:txBody>
      </p:sp>
      <p:graphicFrame>
        <p:nvGraphicFramePr>
          <p:cNvPr id="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189168"/>
              </p:ext>
            </p:extLst>
          </p:nvPr>
        </p:nvGraphicFramePr>
        <p:xfrm>
          <a:off x="6768404" y="4144415"/>
          <a:ext cx="5187376" cy="1981200"/>
        </p:xfrm>
        <a:graphic>
          <a:graphicData uri="http://schemas.openxmlformats.org/drawingml/2006/table">
            <a:tbl>
              <a:tblPr/>
              <a:tblGrid>
                <a:gridCol w="1296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Fecha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Precio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Cantidad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8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21/01/2018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2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30/01/2018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02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6450" y="622300"/>
            <a:ext cx="11222118" cy="1143000"/>
          </a:xfrm>
        </p:spPr>
        <p:txBody>
          <a:bodyPr>
            <a:normAutofit fontScale="90000"/>
          </a:bodyPr>
          <a:lstStyle/>
          <a:p>
            <a:pPr eaLnBrk="0" hangingPunct="0"/>
            <a:r>
              <a:rPr lang="en-US" b="1" dirty="0">
                <a:latin typeface="Arial"/>
                <a:cs typeface="Arial"/>
              </a:rPr>
              <a:t>3. </a:t>
            </a:r>
            <a:r>
              <a:rPr lang="en-US" b="1" dirty="0" err="1">
                <a:latin typeface="Arial"/>
                <a:cs typeface="Arial"/>
              </a:rPr>
              <a:t>Ejecute</a:t>
            </a:r>
            <a:r>
              <a:rPr lang="en-US" b="1" dirty="0">
                <a:latin typeface="Arial"/>
                <a:cs typeface="Arial"/>
              </a:rPr>
              <a:t> la </a:t>
            </a:r>
            <a:r>
              <a:rPr lang="en-US" b="1" dirty="0" err="1">
                <a:latin typeface="Arial"/>
                <a:cs typeface="Arial"/>
              </a:rPr>
              <a:t>cláusula</a:t>
            </a:r>
            <a:r>
              <a:rPr lang="en-US" b="1" dirty="0">
                <a:latin typeface="Arial"/>
                <a:cs typeface="Arial"/>
              </a:rPr>
              <a:t> del </a:t>
            </a:r>
            <a:r>
              <a:rPr lang="en-US" b="1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b="1" dirty="0">
                <a:latin typeface="Arial"/>
                <a:cs typeface="Arial"/>
              </a:rPr>
              <a:t>: </a:t>
            </a:r>
            <a:r>
              <a:rPr lang="en-US" b="1" dirty="0" err="1">
                <a:latin typeface="Arial"/>
                <a:cs typeface="Arial"/>
              </a:rPr>
              <a:t>atributos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agrupados</a:t>
            </a:r>
            <a:r>
              <a:rPr lang="en-US" b="1" dirty="0">
                <a:latin typeface="Arial"/>
                <a:cs typeface="Arial"/>
              </a:rPr>
              <a:t> y </a:t>
            </a:r>
            <a:r>
              <a:rPr lang="en-US" b="1" dirty="0" err="1">
                <a:latin typeface="Arial"/>
                <a:cs typeface="Arial"/>
              </a:rPr>
              <a:t>agregados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5" name="AutoShape 79"/>
          <p:cNvSpPr>
            <a:spLocks noChangeArrowheads="1"/>
          </p:cNvSpPr>
          <p:nvPr/>
        </p:nvSpPr>
        <p:spPr bwMode="auto">
          <a:xfrm>
            <a:off x="6453610" y="4300000"/>
            <a:ext cx="905874" cy="733663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06450" y="1986284"/>
            <a:ext cx="7967145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, SUM(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*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cantidad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) AS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TotalVentas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FROM    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Compras</a:t>
            </a:r>
            <a:endParaRPr lang="en-US" dirty="0">
              <a:solidFill>
                <a:schemeClr val="bg1">
                  <a:lumMod val="85000"/>
                </a:schemeClr>
              </a:solidFill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WHERE   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fecha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 &gt; ‘05/01/2018’</a:t>
            </a:r>
          </a:p>
          <a:p>
            <a:pPr eaLnBrk="0" hangingPunct="0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Menlo" charset="0"/>
                <a:ea typeface="Menlo" charset="0"/>
                <a:cs typeface="Menlo" charset="0"/>
              </a:rPr>
              <a:t>;</a:t>
            </a:r>
          </a:p>
        </p:txBody>
      </p:sp>
      <p:graphicFrame>
        <p:nvGraphicFramePr>
          <p:cNvPr id="7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338030"/>
              </p:ext>
            </p:extLst>
          </p:nvPr>
        </p:nvGraphicFramePr>
        <p:xfrm>
          <a:off x="7771442" y="3776079"/>
          <a:ext cx="3429000" cy="1803401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Producto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TotalVentas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6340981" y="3930668"/>
            <a:ext cx="1018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endParaRPr lang="en-US" dirty="0"/>
          </a:p>
        </p:txBody>
      </p:sp>
      <p:graphicFrame>
        <p:nvGraphicFramePr>
          <p:cNvPr id="1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476581"/>
              </p:ext>
            </p:extLst>
          </p:nvPr>
        </p:nvGraphicFramePr>
        <p:xfrm>
          <a:off x="251460" y="3776079"/>
          <a:ext cx="4936492" cy="1981200"/>
        </p:xfrm>
        <a:graphic>
          <a:graphicData uri="http://schemas.openxmlformats.org/drawingml/2006/table">
            <a:tbl>
              <a:tblPr/>
              <a:tblGrid>
                <a:gridCol w="1234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Fecha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Precio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Cantidad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8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21/01/2018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2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2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30/01/2018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10/01/2018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25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/>
                <a:cs typeface="Arial"/>
              </a:rPr>
              <a:t>CLÁUSULA HAVING</a:t>
            </a:r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8291689" y="1979063"/>
            <a:ext cx="29337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800" dirty="0" err="1">
                <a:latin typeface="+mj-lt"/>
              </a:rPr>
              <a:t>Mismo</a:t>
            </a:r>
            <a:r>
              <a:rPr lang="en-US" sz="2800" dirty="0">
                <a:latin typeface="+mj-lt"/>
              </a:rPr>
              <a:t> query </a:t>
            </a:r>
            <a:r>
              <a:rPr lang="en-US" sz="2800" dirty="0" err="1">
                <a:latin typeface="+mj-lt"/>
              </a:rPr>
              <a:t>que</a:t>
            </a:r>
            <a:r>
              <a:rPr lang="en-US" sz="2800" dirty="0">
                <a:latin typeface="+mj-lt"/>
              </a:rPr>
              <a:t> el anterior, </a:t>
            </a:r>
            <a:r>
              <a:rPr lang="en-US" sz="2800" dirty="0" err="1">
                <a:latin typeface="+mj-lt"/>
              </a:rPr>
              <a:t>excepto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que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consideramos</a:t>
            </a:r>
            <a:r>
              <a:rPr lang="en-US" sz="2800" dirty="0">
                <a:latin typeface="+mj-l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solo los </a:t>
            </a:r>
            <a:r>
              <a:rPr lang="en-US" sz="2800" b="1" dirty="0" err="1">
                <a:solidFill>
                  <a:srgbClr val="FF0000"/>
                </a:solidFill>
                <a:latin typeface="+mj-lt"/>
              </a:rPr>
              <a:t>productos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+mj-lt"/>
              </a:rPr>
              <a:t>que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+mj-lt"/>
              </a:rPr>
              <a:t>tiene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 mas de</a:t>
            </a:r>
          </a:p>
          <a:p>
            <a:pPr eaLnBrk="0" hangingPunct="0"/>
            <a:r>
              <a:rPr lang="en-US" sz="2800" b="1" dirty="0">
                <a:solidFill>
                  <a:srgbClr val="FF0000"/>
                </a:solidFill>
                <a:latin typeface="+mj-lt"/>
              </a:rPr>
              <a:t>100 items.</a:t>
            </a:r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236641" y="4408042"/>
            <a:ext cx="70905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latin typeface="+mj-lt"/>
              </a:rPr>
              <a:t>La </a:t>
            </a:r>
            <a:r>
              <a:rPr lang="en-US" sz="2400" dirty="0" err="1">
                <a:latin typeface="+mj-lt"/>
              </a:rPr>
              <a:t>clausula</a:t>
            </a:r>
            <a:r>
              <a:rPr lang="en-US" sz="2400" dirty="0">
                <a:latin typeface="+mj-lt"/>
              </a:rPr>
              <a:t> HAVING </a:t>
            </a:r>
            <a:r>
              <a:rPr lang="en-US" sz="2400" dirty="0" err="1">
                <a:latin typeface="+mj-lt"/>
              </a:rPr>
              <a:t>contiene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operaciones</a:t>
            </a:r>
            <a:r>
              <a:rPr lang="en-US" sz="2400" dirty="0">
                <a:latin typeface="+mj-lt"/>
              </a:rPr>
              <a:t> de </a:t>
            </a:r>
            <a:r>
              <a:rPr lang="en-US" sz="2400" b="1" dirty="0" err="1">
                <a:latin typeface="+mj-lt"/>
              </a:rPr>
              <a:t>agregación</a:t>
            </a:r>
            <a:endParaRPr lang="en-US" sz="2400" b="1" dirty="0">
              <a:latin typeface="+mj-lt"/>
            </a:endParaRPr>
          </a:p>
        </p:txBody>
      </p:sp>
      <p:sp>
        <p:nvSpPr>
          <p:cNvPr id="11" name="Text Box 1032"/>
          <p:cNvSpPr txBox="1">
            <a:spLocks noChangeArrowheads="1"/>
          </p:cNvSpPr>
          <p:nvPr/>
        </p:nvSpPr>
        <p:spPr bwMode="auto">
          <a:xfrm>
            <a:off x="221829" y="2288112"/>
            <a:ext cx="7781848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SUM(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precio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*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cantidad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Compra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fecha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 ‘05/01/2018’</a:t>
            </a:r>
          </a:p>
          <a:p>
            <a:pPr eaLnBrk="0" hangingPunct="0"/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producto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pPr eaLnBrk="0" hangingPunct="0"/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HAVING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SUM(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cantidad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 &gt; 100;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053460" y="5090020"/>
            <a:ext cx="1067366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i="1" dirty="0" err="1">
                <a:latin typeface="+mj-lt"/>
              </a:rPr>
              <a:t>Mientras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i="1" dirty="0" err="1">
                <a:latin typeface="+mj-lt"/>
              </a:rPr>
              <a:t>que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i="1" dirty="0" err="1">
                <a:latin typeface="+mj-lt"/>
              </a:rPr>
              <a:t>las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i="1" dirty="0" err="1">
                <a:latin typeface="+mj-lt"/>
              </a:rPr>
              <a:t>cláusulas</a:t>
            </a:r>
            <a:r>
              <a:rPr lang="en-US" sz="2400" i="1" dirty="0">
                <a:latin typeface="+mj-lt"/>
              </a:rPr>
              <a:t> de WHERE </a:t>
            </a:r>
            <a:r>
              <a:rPr lang="en-US" sz="2400" i="1" dirty="0" err="1">
                <a:latin typeface="+mj-lt"/>
              </a:rPr>
              <a:t>contienen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i="1" dirty="0" err="1">
                <a:latin typeface="+mj-lt"/>
              </a:rPr>
              <a:t>condiciones</a:t>
            </a:r>
            <a:r>
              <a:rPr lang="en-US" sz="2400" i="1" dirty="0">
                <a:latin typeface="+mj-lt"/>
              </a:rPr>
              <a:t> en </a:t>
            </a:r>
            <a:r>
              <a:rPr lang="en-US" sz="2400" b="1" i="1" dirty="0" err="1">
                <a:latin typeface="+mj-lt"/>
              </a:rPr>
              <a:t>tuplas</a:t>
            </a:r>
            <a:r>
              <a:rPr lang="en-US" sz="2400" b="1" i="1" dirty="0">
                <a:latin typeface="+mj-lt"/>
              </a:rPr>
              <a:t> </a:t>
            </a:r>
            <a:r>
              <a:rPr lang="en-US" sz="2400" b="1" i="1" dirty="0" err="1">
                <a:latin typeface="+mj-lt"/>
              </a:rPr>
              <a:t>individuales</a:t>
            </a:r>
            <a:r>
              <a:rPr lang="en-US" sz="2400" b="1" i="1" dirty="0">
                <a:latin typeface="+mj-lt"/>
              </a:rPr>
              <a:t>…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673739" y="5710340"/>
            <a:ext cx="830402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sz="2400" i="1" dirty="0">
                <a:latin typeface="+mj-lt"/>
              </a:rPr>
              <a:t>Las </a:t>
            </a:r>
            <a:r>
              <a:rPr lang="en-US" sz="2400" i="1" dirty="0" err="1">
                <a:latin typeface="+mj-lt"/>
              </a:rPr>
              <a:t>cláusulas</a:t>
            </a:r>
            <a:r>
              <a:rPr lang="en-US" sz="2400" i="1" dirty="0">
                <a:latin typeface="+mj-lt"/>
              </a:rPr>
              <a:t> de WHERE </a:t>
            </a:r>
            <a:r>
              <a:rPr lang="en-US" sz="2400" b="1" i="1" dirty="0">
                <a:solidFill>
                  <a:srgbClr val="FF0000"/>
                </a:solidFill>
                <a:latin typeface="+mj-lt"/>
              </a:rPr>
              <a:t>no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i="1" dirty="0" err="1">
                <a:latin typeface="+mj-lt"/>
              </a:rPr>
              <a:t>contienen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i="1" dirty="0" err="1">
                <a:latin typeface="+mj-lt"/>
              </a:rPr>
              <a:t>operaciones</a:t>
            </a:r>
            <a:r>
              <a:rPr lang="en-US" sz="2400" i="1" dirty="0">
                <a:latin typeface="+mj-lt"/>
              </a:rPr>
              <a:t> de </a:t>
            </a:r>
            <a:r>
              <a:rPr lang="en-US" sz="2400" i="1" dirty="0" err="1">
                <a:latin typeface="+mj-lt"/>
              </a:rPr>
              <a:t>agregación</a:t>
            </a:r>
            <a:r>
              <a:rPr lang="en-US" sz="2400" i="1" dirty="0">
                <a:latin typeface="+mj-lt"/>
              </a:rPr>
              <a:t>.</a:t>
            </a:r>
            <a:endParaRPr lang="en-US" sz="2400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34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/>
      <p:bldP spid="186373" grpId="0" animBg="1"/>
      <p:bldP spid="11" grpId="0" animBg="1"/>
      <p:bldP spid="12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6465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FORMA GENERAL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4637361"/>
            <a:ext cx="10515600" cy="1228131"/>
          </a:xfrm>
        </p:spPr>
        <p:txBody>
          <a:bodyPr>
            <a:noAutofit/>
          </a:bodyPr>
          <a:lstStyle/>
          <a:p>
            <a:r>
              <a:rPr lang="en-US" sz="2400" dirty="0"/>
              <a:t>S = </a:t>
            </a:r>
            <a:r>
              <a:rPr lang="en-US" sz="2400" dirty="0" err="1"/>
              <a:t>Puede</a:t>
            </a:r>
            <a:r>
              <a:rPr lang="en-US" sz="2400" dirty="0"/>
              <a:t> </a:t>
            </a:r>
            <a:r>
              <a:rPr lang="en-US" sz="2400" dirty="0" err="1"/>
              <a:t>contener</a:t>
            </a:r>
            <a:r>
              <a:rPr lang="en-US" sz="2400" dirty="0"/>
              <a:t> SOLO </a:t>
            </a:r>
            <a:r>
              <a:rPr lang="en-US" sz="2400" dirty="0" err="1"/>
              <a:t>atributos</a:t>
            </a:r>
            <a:r>
              <a:rPr lang="en-US" sz="2400" dirty="0"/>
              <a:t> a</a:t>
            </a:r>
            <a:r>
              <a:rPr lang="en-US" sz="2400" baseline="-25000" dirty="0"/>
              <a:t>1</a:t>
            </a:r>
            <a:r>
              <a:rPr lang="en-US" sz="2400" dirty="0"/>
              <a:t>,…,</a:t>
            </a:r>
            <a:r>
              <a:rPr lang="en-US" sz="2400" dirty="0" err="1"/>
              <a:t>a</a:t>
            </a:r>
            <a:r>
              <a:rPr lang="en-US" sz="2400" baseline="-25000" dirty="0" err="1"/>
              <a:t>k</a:t>
            </a:r>
            <a:r>
              <a:rPr lang="en-US" sz="2400" dirty="0"/>
              <a:t> y/o </a:t>
            </a:r>
            <a:r>
              <a:rPr lang="en-US" sz="2400" dirty="0" err="1"/>
              <a:t>agregación</a:t>
            </a:r>
            <a:r>
              <a:rPr lang="en-US" sz="2400" dirty="0"/>
              <a:t> </a:t>
            </a:r>
            <a:r>
              <a:rPr lang="en-US" sz="2400" dirty="0" err="1"/>
              <a:t>sobre</a:t>
            </a:r>
            <a:r>
              <a:rPr lang="en-US" sz="2400" dirty="0"/>
              <a:t> </a:t>
            </a:r>
            <a:r>
              <a:rPr lang="en-US" sz="2400" dirty="0" err="1"/>
              <a:t>otros</a:t>
            </a:r>
            <a:r>
              <a:rPr lang="en-US" sz="2400" dirty="0"/>
              <a:t> </a:t>
            </a:r>
            <a:r>
              <a:rPr lang="en-US" sz="2400" dirty="0" err="1"/>
              <a:t>atributos</a:t>
            </a:r>
            <a:endParaRPr lang="en-US" sz="2400" dirty="0"/>
          </a:p>
          <a:p>
            <a:r>
              <a:rPr lang="en-US" sz="2400" dirty="0"/>
              <a:t>C</a:t>
            </a:r>
            <a:r>
              <a:rPr lang="en-US" sz="2400" baseline="-25000" dirty="0"/>
              <a:t>1</a:t>
            </a:r>
            <a:r>
              <a:rPr lang="en-US" sz="2400" dirty="0"/>
              <a:t> =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cualquier</a:t>
            </a:r>
            <a:r>
              <a:rPr lang="en-US" sz="2400" dirty="0"/>
              <a:t> </a:t>
            </a:r>
            <a:r>
              <a:rPr lang="en-US" sz="2400" dirty="0" err="1"/>
              <a:t>condición</a:t>
            </a:r>
            <a:r>
              <a:rPr lang="en-US" sz="2400" dirty="0"/>
              <a:t> en los </a:t>
            </a:r>
            <a:r>
              <a:rPr lang="en-US" sz="2400" dirty="0" err="1"/>
              <a:t>atributos</a:t>
            </a:r>
            <a:r>
              <a:rPr lang="en-US" sz="2400" dirty="0"/>
              <a:t> de R</a:t>
            </a:r>
            <a:r>
              <a:rPr lang="en-US" sz="2400" baseline="-25000" dirty="0"/>
              <a:t>1</a:t>
            </a:r>
            <a:r>
              <a:rPr lang="en-US" sz="2400" dirty="0"/>
              <a:t>,…,R</a:t>
            </a:r>
            <a:r>
              <a:rPr lang="en-US" sz="2400" baseline="-25000" dirty="0"/>
              <a:t>n</a:t>
            </a:r>
          </a:p>
          <a:p>
            <a:r>
              <a:rPr lang="en-US" sz="2400" dirty="0"/>
              <a:t>C</a:t>
            </a:r>
            <a:r>
              <a:rPr lang="en-US" sz="2400" baseline="-25000" dirty="0"/>
              <a:t>2</a:t>
            </a:r>
            <a:r>
              <a:rPr lang="en-US" sz="2400" dirty="0"/>
              <a:t> =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cualquier</a:t>
            </a:r>
            <a:r>
              <a:rPr lang="en-US" sz="2400" dirty="0"/>
              <a:t> </a:t>
            </a:r>
            <a:r>
              <a:rPr lang="en-US" sz="2400" dirty="0" err="1"/>
              <a:t>condición</a:t>
            </a:r>
            <a:r>
              <a:rPr lang="en-US" sz="2400" dirty="0"/>
              <a:t> en </a:t>
            </a:r>
            <a:r>
              <a:rPr lang="en-US" sz="2400" dirty="0" err="1"/>
              <a:t>las</a:t>
            </a:r>
            <a:r>
              <a:rPr lang="en-US" sz="2400" dirty="0"/>
              <a:t> </a:t>
            </a:r>
            <a:r>
              <a:rPr lang="en-US" sz="2400" dirty="0" err="1"/>
              <a:t>expresiones</a:t>
            </a:r>
            <a:r>
              <a:rPr lang="en-US" sz="2400" dirty="0"/>
              <a:t> </a:t>
            </a:r>
            <a:r>
              <a:rPr lang="en-US" sz="2400" dirty="0" err="1"/>
              <a:t>agregadas</a:t>
            </a: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3956050" y="2002685"/>
            <a:ext cx="42799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  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    R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,…,R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   C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GROUP BY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a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,…,</a:t>
            </a:r>
            <a:r>
              <a:rPr lang="en-US" sz="2800" dirty="0" err="1">
                <a:latin typeface="Menlo" charset="0"/>
                <a:ea typeface="Menlo" charset="0"/>
                <a:cs typeface="Menlo" charset="0"/>
              </a:rPr>
              <a:t>a</a:t>
            </a:r>
            <a:r>
              <a:rPr lang="en-US" sz="2800" baseline="-25000" dirty="0" err="1">
                <a:latin typeface="Menlo" charset="0"/>
                <a:ea typeface="Menlo" charset="0"/>
                <a:cs typeface="Menlo" charset="0"/>
              </a:rPr>
              <a:t>k</a:t>
            </a:r>
            <a:endParaRPr lang="en-US" sz="2800" baseline="-25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HAVING</a:t>
            </a:r>
            <a:r>
              <a:rPr lang="en-US" sz="2800" dirty="0">
                <a:latin typeface="Menlo" charset="0"/>
                <a:ea typeface="Menlo" charset="0"/>
                <a:cs typeface="Menlo" charset="0"/>
              </a:rPr>
              <a:t>     C</a:t>
            </a:r>
            <a:r>
              <a:rPr lang="en-US" sz="2800" baseline="-25000" dirty="0">
                <a:latin typeface="Menlo" charset="0"/>
                <a:ea typeface="Menlo" charset="0"/>
                <a:cs typeface="Menlo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7415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6465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FORMA GENERAL</a:t>
            </a:r>
          </a:p>
        </p:txBody>
      </p:sp>
      <p:sp>
        <p:nvSpPr>
          <p:cNvPr id="2" name="Rectangle 1"/>
          <p:cNvSpPr/>
          <p:nvPr/>
        </p:nvSpPr>
        <p:spPr>
          <a:xfrm>
            <a:off x="3956050" y="1790217"/>
            <a:ext cx="4279900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 R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,…,R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 C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GROUP BY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a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1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,…,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</a:t>
            </a:r>
            <a:r>
              <a:rPr lang="en-US" sz="2400" baseline="-25000" dirty="0" err="1">
                <a:latin typeface="Menlo" charset="0"/>
                <a:ea typeface="Menlo" charset="0"/>
                <a:cs typeface="Menlo" charset="0"/>
              </a:rPr>
              <a:t>k</a:t>
            </a:r>
            <a:endParaRPr lang="en-US" sz="2400" baseline="-25000" dirty="0">
              <a:latin typeface="Menlo" charset="0"/>
              <a:ea typeface="Menlo" charset="0"/>
              <a:cs typeface="Menlo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HAVING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C</a:t>
            </a:r>
            <a:r>
              <a:rPr lang="en-US" sz="2400" baseline="-25000" dirty="0">
                <a:latin typeface="Menlo" charset="0"/>
                <a:ea typeface="Menlo" charset="0"/>
                <a:cs typeface="Menlo" charset="0"/>
              </a:rPr>
              <a:t>2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946821" y="3697955"/>
            <a:ext cx="9241241" cy="266124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 typeface="Arial"/>
              <a:buNone/>
            </a:pPr>
            <a:r>
              <a:rPr lang="en-US" sz="2400" dirty="0" err="1"/>
              <a:t>Algoritmo</a:t>
            </a:r>
            <a:r>
              <a:rPr lang="en-US" sz="2400" dirty="0"/>
              <a:t>:</a:t>
            </a:r>
          </a:p>
          <a:p>
            <a:pPr marL="609600" indent="-609600">
              <a:buFontTx/>
              <a:buAutoNum type="arabicPeriod"/>
            </a:pPr>
            <a:r>
              <a:rPr lang="en-US" sz="2400" dirty="0" err="1"/>
              <a:t>Evalua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/>
                </a:solidFill>
              </a:rPr>
              <a:t>FROM-WHERE</a:t>
            </a:r>
            <a:r>
              <a:rPr lang="en-US" sz="2400" dirty="0"/>
              <a:t>: </a:t>
            </a:r>
            <a:r>
              <a:rPr lang="en-US" sz="2400" dirty="0" err="1"/>
              <a:t>aplica</a:t>
            </a:r>
            <a:r>
              <a:rPr lang="en-US" sz="2400" dirty="0"/>
              <a:t> la </a:t>
            </a:r>
            <a:r>
              <a:rPr lang="en-US" sz="2400" dirty="0" err="1"/>
              <a:t>condición</a:t>
            </a:r>
            <a:r>
              <a:rPr lang="en-US" sz="2400" dirty="0"/>
              <a:t> C</a:t>
            </a:r>
            <a:r>
              <a:rPr lang="en-US" sz="2400" baseline="-25000" dirty="0"/>
              <a:t>1</a:t>
            </a:r>
            <a:r>
              <a:rPr lang="en-US" sz="2400" dirty="0"/>
              <a:t> en los  </a:t>
            </a:r>
            <a:r>
              <a:rPr lang="en-US" sz="2400" dirty="0" err="1"/>
              <a:t>atributos</a:t>
            </a:r>
            <a:r>
              <a:rPr lang="en-US" sz="2400" dirty="0"/>
              <a:t> de R</a:t>
            </a:r>
            <a:r>
              <a:rPr lang="en-US" sz="2400" baseline="-25000" dirty="0"/>
              <a:t>1</a:t>
            </a:r>
            <a:r>
              <a:rPr lang="en-US" sz="2400" dirty="0"/>
              <a:t>,…,R</a:t>
            </a:r>
            <a:r>
              <a:rPr lang="en-US" sz="2400" baseline="-25000" dirty="0"/>
              <a:t>n</a:t>
            </a:r>
            <a:endParaRPr lang="en-US" sz="2400" dirty="0">
              <a:solidFill>
                <a:srgbClr val="000000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en-US" sz="2400" dirty="0" err="1">
                <a:solidFill>
                  <a:srgbClr val="000000"/>
                </a:solidFill>
              </a:rPr>
              <a:t>Agrupa</a:t>
            </a:r>
            <a:r>
              <a:rPr lang="en-US" sz="2400" dirty="0">
                <a:solidFill>
                  <a:srgbClr val="000000"/>
                </a:solidFill>
              </a:rPr>
              <a:t> los </a:t>
            </a:r>
            <a:r>
              <a:rPr lang="en-US" sz="2400" dirty="0" err="1">
                <a:solidFill>
                  <a:srgbClr val="000000"/>
                </a:solidFill>
              </a:rPr>
              <a:t>atributos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,…,</a:t>
            </a:r>
            <a:r>
              <a:rPr lang="en-US" sz="2400" dirty="0" err="1"/>
              <a:t>a</a:t>
            </a:r>
            <a:r>
              <a:rPr lang="en-US" sz="2400" baseline="-25000" dirty="0" err="1"/>
              <a:t>k</a:t>
            </a:r>
            <a:r>
              <a:rPr lang="en-US" baseline="-25000" dirty="0"/>
              <a:t> </a:t>
            </a:r>
            <a:r>
              <a:rPr lang="en-US" dirty="0">
                <a:solidFill>
                  <a:schemeClr val="accent2"/>
                </a:solidFill>
              </a:rPr>
              <a:t>(GROUP BY)</a:t>
            </a:r>
            <a:endParaRPr lang="en-US" sz="2400" dirty="0"/>
          </a:p>
          <a:p>
            <a:pPr marL="609600" indent="-609600">
              <a:buFontTx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Aplica</a:t>
            </a:r>
            <a:r>
              <a:rPr lang="en-US" sz="2400" dirty="0">
                <a:solidFill>
                  <a:srgbClr val="FF0000"/>
                </a:solidFill>
              </a:rPr>
              <a:t> la </a:t>
            </a:r>
            <a:r>
              <a:rPr lang="en-US" sz="2400" dirty="0" err="1">
                <a:solidFill>
                  <a:srgbClr val="FF0000"/>
                </a:solidFill>
              </a:rPr>
              <a:t>condición</a:t>
            </a:r>
            <a:r>
              <a:rPr lang="en-US" sz="2400" dirty="0">
                <a:solidFill>
                  <a:srgbClr val="FF0000"/>
                </a:solidFill>
              </a:rPr>
              <a:t> C</a:t>
            </a:r>
            <a:r>
              <a:rPr lang="en-US" sz="2400" baseline="-25000" dirty="0">
                <a:solidFill>
                  <a:srgbClr val="FF0000"/>
                </a:solidFill>
              </a:rPr>
              <a:t>2</a:t>
            </a:r>
            <a:r>
              <a:rPr lang="en-US" sz="2400" dirty="0">
                <a:solidFill>
                  <a:srgbClr val="FF0000"/>
                </a:solidFill>
              </a:rPr>
              <a:t> a </a:t>
            </a:r>
            <a:r>
              <a:rPr lang="en-US" sz="2400" dirty="0" err="1">
                <a:solidFill>
                  <a:srgbClr val="FF0000"/>
                </a:solidFill>
              </a:rPr>
              <a:t>cada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grupo</a:t>
            </a:r>
            <a:r>
              <a:rPr lang="en-US" sz="2400" dirty="0">
                <a:solidFill>
                  <a:srgbClr val="FF0000"/>
                </a:solidFill>
              </a:rPr>
              <a:t> (</a:t>
            </a:r>
            <a:r>
              <a:rPr lang="en-US" sz="2400" dirty="0" err="1">
                <a:solidFill>
                  <a:srgbClr val="FF0000"/>
                </a:solidFill>
              </a:rPr>
              <a:t>tiene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agregaciones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  <a:p>
            <a:pPr marL="609600" indent="-609600">
              <a:buFontTx/>
              <a:buAutoNum type="arabicPeriod"/>
            </a:pPr>
            <a:r>
              <a:rPr lang="en-US" sz="2400" dirty="0"/>
              <a:t> </a:t>
            </a:r>
            <a:r>
              <a:rPr lang="en-US" sz="2400" dirty="0" err="1"/>
              <a:t>Ejecuta</a:t>
            </a:r>
            <a:r>
              <a:rPr lang="en-US" sz="2400" dirty="0"/>
              <a:t> </a:t>
            </a:r>
            <a:r>
              <a:rPr lang="en-US" sz="2400" dirty="0" err="1"/>
              <a:t>agregaciones</a:t>
            </a:r>
            <a:r>
              <a:rPr lang="en-US" sz="2400" dirty="0"/>
              <a:t> en S y </a:t>
            </a:r>
            <a:r>
              <a:rPr lang="en-US" sz="2400" dirty="0" err="1"/>
              <a:t>devuelve</a:t>
            </a:r>
            <a:r>
              <a:rPr lang="en-US" sz="2400" dirty="0"/>
              <a:t> el </a:t>
            </a:r>
            <a:r>
              <a:rPr lang="en-US" sz="2400" dirty="0" err="1"/>
              <a:t>resultado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500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6465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Consideraciones</a:t>
            </a:r>
            <a:r>
              <a:rPr lang="en-US" dirty="0"/>
              <a:t> Group By, Having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361973" y="2010089"/>
            <a:ext cx="9241241" cy="27340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AutoNum type="arabicPeriod"/>
            </a:pPr>
            <a:r>
              <a:rPr lang="en-US" sz="2400" dirty="0"/>
              <a:t>Para </a:t>
            </a:r>
            <a:r>
              <a:rPr lang="en-US" sz="2400" dirty="0" err="1"/>
              <a:t>utilizar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Having </a:t>
            </a:r>
            <a:r>
              <a:rPr lang="en-US" sz="2400" dirty="0" err="1"/>
              <a:t>debo</a:t>
            </a:r>
            <a:r>
              <a:rPr lang="en-US" sz="2400" dirty="0"/>
              <a:t> </a:t>
            </a:r>
            <a:r>
              <a:rPr lang="en-US" sz="2400" dirty="0" err="1"/>
              <a:t>tener</a:t>
            </a:r>
            <a:r>
              <a:rPr lang="en-US" sz="2400" dirty="0"/>
              <a:t> un </a:t>
            </a:r>
            <a:r>
              <a:rPr lang="en-US" sz="2400" b="1" dirty="0">
                <a:solidFill>
                  <a:srgbClr val="0000FF"/>
                </a:solidFill>
              </a:rPr>
              <a:t>Group by </a:t>
            </a:r>
            <a:r>
              <a:rPr lang="en-US" sz="2400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sz="2400" dirty="0" err="1"/>
              <a:t>Puedo</a:t>
            </a:r>
            <a:r>
              <a:rPr lang="en-US" sz="2400" dirty="0"/>
              <a:t> </a:t>
            </a:r>
            <a:r>
              <a:rPr lang="en-US" sz="2400" dirty="0" err="1"/>
              <a:t>utilizar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Group by </a:t>
            </a:r>
            <a:r>
              <a:rPr lang="en-US" sz="2400" dirty="0"/>
              <a:t>sin </a:t>
            </a:r>
            <a:r>
              <a:rPr lang="en-US" sz="2400" b="1" dirty="0">
                <a:solidFill>
                  <a:srgbClr val="0000FF"/>
                </a:solidFill>
              </a:rPr>
              <a:t>Having</a:t>
            </a:r>
            <a:r>
              <a:rPr lang="en-US" sz="2400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sz="2400" dirty="0"/>
              <a:t>El </a:t>
            </a:r>
            <a:r>
              <a:rPr lang="en-US" sz="2400" dirty="0" err="1"/>
              <a:t>orden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deben</a:t>
            </a:r>
            <a:r>
              <a:rPr lang="en-US" sz="2400" dirty="0"/>
              <a:t> </a:t>
            </a:r>
            <a:r>
              <a:rPr lang="en-US" sz="2400" dirty="0" err="1"/>
              <a:t>utilizar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primero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Group by </a:t>
            </a:r>
            <a:r>
              <a:rPr lang="en-US" sz="2400" dirty="0"/>
              <a:t> y  </a:t>
            </a:r>
            <a:r>
              <a:rPr lang="en-US" sz="2400" dirty="0" err="1"/>
              <a:t>luego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Having</a:t>
            </a:r>
            <a:r>
              <a:rPr lang="en-US" sz="2400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sz="2400" dirty="0" err="1"/>
              <a:t>Debe</a:t>
            </a:r>
            <a:r>
              <a:rPr lang="en-US" sz="2400" dirty="0"/>
              <a:t> </a:t>
            </a:r>
            <a:r>
              <a:rPr lang="en-US" sz="2400" dirty="0" err="1"/>
              <a:t>seleccionar</a:t>
            </a:r>
            <a:r>
              <a:rPr lang="en-US" sz="2400" dirty="0"/>
              <a:t> la </a:t>
            </a:r>
            <a:r>
              <a:rPr lang="en-US" sz="2400" dirty="0" err="1"/>
              <a:t>columna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utilizará</a:t>
            </a:r>
            <a:r>
              <a:rPr lang="en-US" sz="2400" dirty="0"/>
              <a:t> en </a:t>
            </a:r>
            <a:r>
              <a:rPr lang="en-US" sz="2400" b="1" dirty="0">
                <a:solidFill>
                  <a:srgbClr val="0000FF"/>
                </a:solidFill>
              </a:rPr>
              <a:t>Group by</a:t>
            </a:r>
            <a:r>
              <a:rPr lang="en-US" sz="2400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sz="2400" dirty="0"/>
              <a:t>No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necesario</a:t>
            </a:r>
            <a:r>
              <a:rPr lang="en-US" sz="2400" dirty="0"/>
              <a:t> </a:t>
            </a:r>
            <a:r>
              <a:rPr lang="en-US" sz="2400" dirty="0" err="1"/>
              <a:t>seleccionar</a:t>
            </a:r>
            <a:r>
              <a:rPr lang="en-US" sz="2400" dirty="0"/>
              <a:t> la </a:t>
            </a:r>
            <a:r>
              <a:rPr lang="en-US" sz="2400" dirty="0" err="1"/>
              <a:t>columna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utilizará</a:t>
            </a:r>
            <a:r>
              <a:rPr lang="en-US" sz="2400" dirty="0"/>
              <a:t> en </a:t>
            </a:r>
            <a:r>
              <a:rPr lang="en-US" sz="2400" b="1" dirty="0">
                <a:solidFill>
                  <a:srgbClr val="0000FF"/>
                </a:solidFill>
              </a:rPr>
              <a:t>Having</a:t>
            </a:r>
            <a:r>
              <a:rPr lang="en-US" sz="2400" dirty="0"/>
              <a:t>.</a:t>
            </a:r>
          </a:p>
          <a:p>
            <a:pPr marL="609600" indent="-609600">
              <a:buFontTx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264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GROUP-BY </a:t>
            </a:r>
            <a:r>
              <a:rPr lang="en-US" dirty="0" err="1"/>
              <a:t>vs</a:t>
            </a:r>
            <a:r>
              <a:rPr lang="en-US" dirty="0"/>
              <a:t> Queries </a:t>
            </a:r>
            <a:r>
              <a:rPr lang="en-US" dirty="0" err="1"/>
              <a:t>anidados</a:t>
            </a:r>
            <a:endParaRPr lang="en-US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0151" y="1848718"/>
            <a:ext cx="7772400" cy="2101933"/>
          </a:xfrm>
        </p:spPr>
        <p:txBody>
          <a:bodyPr/>
          <a:lstStyle/>
          <a:p>
            <a:r>
              <a:rPr lang="en-US" dirty="0" err="1"/>
              <a:t>Encuentre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hayan</a:t>
            </a:r>
            <a:r>
              <a:rPr lang="en-US" dirty="0"/>
              <a:t> </a:t>
            </a:r>
            <a:r>
              <a:rPr lang="en-US" dirty="0" err="1"/>
              <a:t>escrito</a:t>
            </a:r>
            <a:r>
              <a:rPr lang="en-US" dirty="0"/>
              <a:t> al </a:t>
            </a:r>
            <a:r>
              <a:rPr lang="en-US" dirty="0" err="1"/>
              <a:t>menos</a:t>
            </a:r>
            <a:r>
              <a:rPr lang="en-US" dirty="0"/>
              <a:t> 10 </a:t>
            </a:r>
            <a:r>
              <a:rPr lang="en-US" dirty="0" err="1"/>
              <a:t>documentos</a:t>
            </a:r>
            <a:r>
              <a:rPr lang="en-US" dirty="0"/>
              <a:t>:</a:t>
            </a:r>
          </a:p>
          <a:p>
            <a:r>
              <a:rPr lang="en-US" dirty="0" err="1"/>
              <a:t>Intento</a:t>
            </a:r>
            <a:r>
              <a:rPr lang="en-US" dirty="0"/>
              <a:t> 1: con queries </a:t>
            </a:r>
            <a:r>
              <a:rPr lang="en-US" dirty="0" err="1"/>
              <a:t>anidados</a:t>
            </a:r>
            <a:endParaRPr lang="en-US" dirty="0"/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1902840" y="3487808"/>
            <a:ext cx="8893631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DISTINCT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Autor.nombre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Autor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COUNT</a:t>
            </a:r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	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Escritor.url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Escritor</a:t>
            </a:r>
            <a:br>
              <a:rPr lang="en-US" sz="2400" dirty="0">
                <a:latin typeface="Menlo" charset="0"/>
                <a:ea typeface="Menlo" charset="0"/>
                <a:cs typeface="Menlo" charset="0"/>
              </a:rPr>
            </a:b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 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Autor.login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Escritor.login</a:t>
            </a:r>
            <a:r>
              <a:rPr lang="en-US" sz="2400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)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&gt; 10</a:t>
            </a:r>
          </a:p>
        </p:txBody>
      </p:sp>
      <p:sp>
        <p:nvSpPr>
          <p:cNvPr id="164873" name="Rectangle 9"/>
          <p:cNvSpPr>
            <a:spLocks noChangeArrowheads="1"/>
          </p:cNvSpPr>
          <p:nvPr/>
        </p:nvSpPr>
        <p:spPr bwMode="auto">
          <a:xfrm>
            <a:off x="931589" y="1948738"/>
            <a:ext cx="3890608" cy="904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Autor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u="sng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login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nombre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spcBef>
                <a:spcPct val="20000"/>
              </a:spcBef>
            </a:pP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Escritor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(login, url)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39653" y="661777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81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 animBg="1"/>
      <p:bldP spid="16487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GROUP-BY </a:t>
            </a:r>
            <a:r>
              <a:rPr lang="en-US" dirty="0" err="1"/>
              <a:t>vs</a:t>
            </a:r>
            <a:r>
              <a:rPr lang="en-US" dirty="0"/>
              <a:t> Queries </a:t>
            </a:r>
            <a:r>
              <a:rPr lang="en-US" dirty="0" err="1"/>
              <a:t>anidados</a:t>
            </a:r>
            <a:endParaRPr lang="en-US" dirty="0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Encuentre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quien</a:t>
            </a:r>
            <a:r>
              <a:rPr lang="en-US" dirty="0"/>
              <a:t> </a:t>
            </a:r>
            <a:r>
              <a:rPr lang="en-US" dirty="0" err="1"/>
              <a:t>escribió</a:t>
            </a:r>
            <a:r>
              <a:rPr lang="en-US" dirty="0"/>
              <a:t> al </a:t>
            </a:r>
            <a:r>
              <a:rPr lang="en-US" dirty="0" err="1"/>
              <a:t>menos</a:t>
            </a:r>
            <a:r>
              <a:rPr lang="en-US" dirty="0"/>
              <a:t> 10 </a:t>
            </a:r>
            <a:r>
              <a:rPr lang="en-US" dirty="0" err="1"/>
              <a:t>documentos</a:t>
            </a:r>
            <a:r>
              <a:rPr lang="en-US" dirty="0"/>
              <a:t>:</a:t>
            </a:r>
          </a:p>
          <a:p>
            <a:r>
              <a:rPr lang="en-US" dirty="0" err="1"/>
              <a:t>Intento</a:t>
            </a:r>
            <a:r>
              <a:rPr lang="en-US" dirty="0"/>
              <a:t> 2: con GROUP BY</a:t>
            </a:r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838200" y="3161320"/>
            <a:ext cx="7040659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Autor.nombre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  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Autor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Escritor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WHERE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Autor.login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Escritor.login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GROUP BY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Autor.nombre</a:t>
            </a:r>
            <a:endParaRPr lang="en-US" sz="24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HAVING   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COUNT(</a:t>
            </a:r>
            <a:r>
              <a:rPr lang="en-US" sz="2400" dirty="0" err="1">
                <a:latin typeface="Menlo" charset="0"/>
                <a:ea typeface="Menlo" charset="0"/>
                <a:cs typeface="Menlo" charset="0"/>
              </a:rPr>
              <a:t>Escritor.url</a:t>
            </a:r>
            <a:r>
              <a:rPr lang="en-US" sz="2400" dirty="0">
                <a:latin typeface="Menlo" charset="0"/>
                <a:ea typeface="Menlo" charset="0"/>
                <a:cs typeface="Menlo" charset="0"/>
              </a:rPr>
              <a:t>) &gt; 10;</a:t>
            </a:r>
          </a:p>
        </p:txBody>
      </p:sp>
      <p:sp>
        <p:nvSpPr>
          <p:cNvPr id="195590" name="Text Box 6"/>
          <p:cNvSpPr txBox="1">
            <a:spLocks noChangeArrowheads="1"/>
          </p:cNvSpPr>
          <p:nvPr/>
        </p:nvSpPr>
        <p:spPr bwMode="auto">
          <a:xfrm>
            <a:off x="8480083" y="5079570"/>
            <a:ext cx="27795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 err="1"/>
              <a:t>Necesito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/>
                </a:solidFill>
              </a:rPr>
              <a:t>DISTINCT</a:t>
            </a:r>
            <a:r>
              <a:rPr lang="en-US" sz="2400" dirty="0"/>
              <a:t>??</a:t>
            </a:r>
            <a:endParaRPr 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5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GROUP-BY </a:t>
            </a:r>
            <a:r>
              <a:rPr lang="en-US" dirty="0" err="1"/>
              <a:t>vs</a:t>
            </a:r>
            <a:r>
              <a:rPr lang="en-US" dirty="0"/>
              <a:t> Queries </a:t>
            </a:r>
            <a:r>
              <a:rPr lang="en-US" dirty="0" err="1"/>
              <a:t>anidados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Cuál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mas </a:t>
            </a:r>
            <a:r>
              <a:rPr lang="en-US" dirty="0" err="1"/>
              <a:t>eficiente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Intento</a:t>
            </a:r>
            <a:r>
              <a:rPr lang="en-US" dirty="0"/>
              <a:t> #1- </a:t>
            </a:r>
            <a:r>
              <a:rPr lang="en-US" i="1" dirty="0"/>
              <a:t>Con queries </a:t>
            </a:r>
            <a:r>
              <a:rPr lang="en-US" i="1" dirty="0" err="1"/>
              <a:t>anidados</a:t>
            </a:r>
            <a:r>
              <a:rPr lang="en-US" i="1" dirty="0"/>
              <a:t>: </a:t>
            </a:r>
            <a:r>
              <a:rPr lang="en-US" dirty="0" err="1"/>
              <a:t>Cuántas</a:t>
            </a:r>
            <a:r>
              <a:rPr lang="en-US" dirty="0"/>
              <a:t> </a:t>
            </a:r>
            <a:r>
              <a:rPr lang="en-US" dirty="0" err="1"/>
              <a:t>veces</a:t>
            </a:r>
            <a:r>
              <a:rPr lang="en-US" dirty="0"/>
              <a:t> </a:t>
            </a:r>
            <a:r>
              <a:rPr lang="en-US" dirty="0" err="1"/>
              <a:t>necesitamos</a:t>
            </a:r>
            <a:r>
              <a:rPr lang="en-US" dirty="0"/>
              <a:t> </a:t>
            </a:r>
            <a:r>
              <a:rPr lang="en-US" dirty="0" err="1"/>
              <a:t>correr</a:t>
            </a:r>
            <a:r>
              <a:rPr lang="en-US" dirty="0"/>
              <a:t> los </a:t>
            </a:r>
            <a:r>
              <a:rPr lang="en-US" dirty="0" err="1"/>
              <a:t>subqueries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tablas</a:t>
            </a:r>
            <a:r>
              <a:rPr lang="en-US" dirty="0"/>
              <a:t>?</a:t>
            </a:r>
          </a:p>
          <a:p>
            <a:r>
              <a:rPr lang="en-US" dirty="0" err="1"/>
              <a:t>Intento</a:t>
            </a:r>
            <a:r>
              <a:rPr lang="en-US" dirty="0"/>
              <a:t> #2- </a:t>
            </a:r>
            <a:r>
              <a:rPr lang="en-US" i="1" dirty="0"/>
              <a:t>Con group-by</a:t>
            </a:r>
            <a:r>
              <a:rPr lang="en-US" dirty="0"/>
              <a:t>: 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34496" y="4643596"/>
            <a:ext cx="5958583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Con GROUP BY </a:t>
            </a:r>
            <a:r>
              <a:rPr lang="en-US" sz="2800" dirty="0" err="1">
                <a:latin typeface="+mj-lt"/>
              </a:rPr>
              <a:t>puede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ser</a:t>
            </a:r>
            <a:r>
              <a:rPr lang="en-US" sz="2800" dirty="0">
                <a:latin typeface="+mj-lt"/>
              </a:rPr>
              <a:t> </a:t>
            </a:r>
            <a:r>
              <a:rPr lang="en-US" sz="2800" b="1" u="sng" dirty="0">
                <a:latin typeface="+mj-lt"/>
              </a:rPr>
              <a:t>mas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eficiente</a:t>
            </a:r>
            <a:r>
              <a:rPr lang="en-US" sz="2800" dirty="0"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4203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RESUMEN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090950"/>
              </p:ext>
            </p:extLst>
          </p:nvPr>
        </p:nvGraphicFramePr>
        <p:xfrm>
          <a:off x="1193922" y="2094545"/>
          <a:ext cx="9960412" cy="3947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4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1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CLÁUSULA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FUNCIÓN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OBLIGATORIA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Muestra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una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lista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de los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campos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que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contienen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datos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interés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Muestra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tablas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que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contienen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los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campos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de la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cláusula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SELECT.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Especifica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los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criterios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de campo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que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cada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registro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debe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cumplir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para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poder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ser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incluido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en los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resultados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ORDER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Especifica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 forma de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ordenar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los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resultados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23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GROUP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En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una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instrucción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SQL que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contiene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una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columna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muestra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los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campos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que no se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resumen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en la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cláusula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SELECT.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SÓLO SI ESTÁN ESTOS CAMPOS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HAVING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En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una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SQL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instrucción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que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contiene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funciones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agregación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especifica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las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condiciones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que se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aplican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a los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campos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que se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resumen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en la </a:t>
                      </a:r>
                      <a:r>
                        <a:rPr lang="en-US" baseline="0" dirty="0" err="1">
                          <a:solidFill>
                            <a:srgbClr val="000000"/>
                          </a:solidFill>
                        </a:rPr>
                        <a:t>instrucción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SELECT.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187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03723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000090"/>
              </a:buClr>
              <a:buFont typeface="+mj-lt"/>
              <a:buAutoNum type="arabicPeriod"/>
            </a:pPr>
            <a:r>
              <a:rPr lang="en-US" sz="2800" dirty="0" err="1"/>
              <a:t>Investigar</a:t>
            </a:r>
            <a:r>
              <a:rPr lang="en-US" sz="2800" dirty="0"/>
              <a:t> </a:t>
            </a:r>
            <a:r>
              <a:rPr lang="en-US" sz="2800" dirty="0" err="1"/>
              <a:t>sobre</a:t>
            </a:r>
            <a:r>
              <a:rPr lang="en-US" sz="2800" dirty="0"/>
              <a:t> </a:t>
            </a:r>
          </a:p>
          <a:p>
            <a:pPr marL="749808" lvl="1" indent="-457200">
              <a:buClr>
                <a:srgbClr val="000090"/>
              </a:buClr>
            </a:pPr>
            <a:r>
              <a:rPr lang="en-US" sz="2600" dirty="0"/>
              <a:t>&gt; ALL</a:t>
            </a:r>
          </a:p>
          <a:p>
            <a:pPr marL="749808" lvl="1" indent="-457200">
              <a:buClr>
                <a:srgbClr val="000090"/>
              </a:buClr>
            </a:pPr>
            <a:r>
              <a:rPr lang="en-US" sz="2600" dirty="0"/>
              <a:t>&lt; ANY</a:t>
            </a:r>
          </a:p>
          <a:p>
            <a:pPr marL="749808" lvl="1" indent="-457200">
              <a:buClr>
                <a:srgbClr val="000090"/>
              </a:buClr>
            </a:pPr>
            <a:r>
              <a:rPr lang="en-US" sz="2600" dirty="0"/>
              <a:t>EXIST</a:t>
            </a:r>
            <a:endParaRPr lang="en-US" sz="2400" dirty="0"/>
          </a:p>
          <a:p>
            <a:pPr marL="514350" indent="-514350">
              <a:buClr>
                <a:srgbClr val="000090"/>
              </a:buClr>
              <a:buFont typeface="+mj-lt"/>
              <a:buAutoNum type="arabicPeriod"/>
            </a:pPr>
            <a:r>
              <a:rPr lang="en-US" sz="2800" dirty="0"/>
              <a:t>JOINs </a:t>
            </a:r>
            <a:r>
              <a:rPr lang="en-US" sz="2800" dirty="0">
                <a:sym typeface="Wingdings"/>
              </a:rPr>
              <a:t> natural, inner, left, right, outer, full outer</a:t>
            </a:r>
            <a:r>
              <a:rPr lang="en-US" sz="2800" dirty="0"/>
              <a:t>.</a:t>
            </a:r>
          </a:p>
          <a:p>
            <a:pPr marL="514350" indent="-514350">
              <a:buClr>
                <a:srgbClr val="000090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rgbClr val="000090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rgbClr val="000090"/>
              </a:buClr>
              <a:buFont typeface="+mj-lt"/>
              <a:buAutoNum type="arabicPeriod"/>
            </a:pPr>
            <a:endParaRPr lang="en-US" sz="2800" dirty="0"/>
          </a:p>
          <a:p>
            <a:pPr>
              <a:buClr>
                <a:srgbClr val="000090"/>
              </a:buClr>
              <a:buFont typeface="Wingdings" charset="2"/>
              <a:buChar char="ü"/>
            </a:pPr>
            <a:endParaRPr lang="en-US" sz="2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PRÓXIMA CLASE</a:t>
            </a:r>
          </a:p>
        </p:txBody>
      </p:sp>
    </p:spTree>
    <p:extLst>
      <p:ext uri="{BB962C8B-B14F-4D97-AF65-F5344CB8AC3E}">
        <p14:creationId xmlns:p14="http://schemas.microsoft.com/office/powerpoint/2010/main" val="378043520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A8DFF3"/>
      </a:accent1>
      <a:accent2>
        <a:srgbClr val="2C8ED5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26345</TotalTime>
  <Words>2068</Words>
  <Application>Microsoft Macintosh PowerPoint</Application>
  <PresentationFormat>Widescreen</PresentationFormat>
  <Paragraphs>421</Paragraphs>
  <Slides>30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Menlo</vt:lpstr>
      <vt:lpstr>Times New Roman</vt:lpstr>
      <vt:lpstr>Wingdings</vt:lpstr>
      <vt:lpstr>Retrospect</vt:lpstr>
      <vt:lpstr>Equation</vt:lpstr>
      <vt:lpstr>SISTEMAS DE  BASES DE DATOS  TICG1001</vt:lpstr>
      <vt:lpstr>PowerPoint Presentation</vt:lpstr>
      <vt:lpstr>Recordemos…</vt:lpstr>
      <vt:lpstr>SQL JOINS</vt:lpstr>
      <vt:lpstr>PowerPoint Presentation</vt:lpstr>
      <vt:lpstr>PowerPoint Presentation</vt:lpstr>
      <vt:lpstr>PowerPoint Presentation</vt:lpstr>
      <vt:lpstr>QUERIES ANIDADOS</vt:lpstr>
      <vt:lpstr>Algunos problemas con INTERSECT…</vt:lpstr>
      <vt:lpstr>Recuerda el Algoritmo!</vt:lpstr>
      <vt:lpstr>Recuerda el Algoritmo!</vt:lpstr>
      <vt:lpstr>Una Solución: Queries Anidados</vt:lpstr>
      <vt:lpstr>Queries Anidados: Sub-queries retornan Relaciones</vt:lpstr>
      <vt:lpstr>QUERIES ANIDADOS…</vt:lpstr>
      <vt:lpstr>QUERIES ANIDADOS…</vt:lpstr>
      <vt:lpstr>GROUP BY</vt:lpstr>
      <vt:lpstr>AGRUPANDO…</vt:lpstr>
      <vt:lpstr>AGRUPANDO…</vt:lpstr>
      <vt:lpstr>1. Ejecutar las cláusulas del FROM y WHERE</vt:lpstr>
      <vt:lpstr>2. Agrupar por los atributos en el GROUP BY</vt:lpstr>
      <vt:lpstr>3. Ejecute la cláusula del SELECT: atributos agrupados y agregados</vt:lpstr>
      <vt:lpstr>CLÁUSULA HAVING</vt:lpstr>
      <vt:lpstr>FORMA GENERAL</vt:lpstr>
      <vt:lpstr>FORMA GENERAL</vt:lpstr>
      <vt:lpstr>Consideraciones Group By, Having</vt:lpstr>
      <vt:lpstr>GROUP-BY vs Queries anidados</vt:lpstr>
      <vt:lpstr>GROUP-BY vs Queries anidados</vt:lpstr>
      <vt:lpstr>GROUP-BY vs Queries anidados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paolis</dc:creator>
  <cp:lastModifiedBy>Vanessa Ines Cedeno Mieles</cp:lastModifiedBy>
  <cp:revision>302</cp:revision>
  <dcterms:created xsi:type="dcterms:W3CDTF">2016-04-18T15:18:48Z</dcterms:created>
  <dcterms:modified xsi:type="dcterms:W3CDTF">2019-12-18T13:12:14Z</dcterms:modified>
</cp:coreProperties>
</file>
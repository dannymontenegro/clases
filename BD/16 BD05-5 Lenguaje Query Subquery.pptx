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4"/>
  </p:notesMasterIdLst>
  <p:sldIdLst>
    <p:sldId id="536" r:id="rId2"/>
    <p:sldId id="535" r:id="rId3"/>
    <p:sldId id="540" r:id="rId4"/>
    <p:sldId id="537" r:id="rId5"/>
    <p:sldId id="538" r:id="rId6"/>
    <p:sldId id="539" r:id="rId7"/>
    <p:sldId id="544" r:id="rId8"/>
    <p:sldId id="545" r:id="rId9"/>
    <p:sldId id="502" r:id="rId10"/>
    <p:sldId id="441" r:id="rId11"/>
    <p:sldId id="443" r:id="rId12"/>
    <p:sldId id="546" r:id="rId13"/>
    <p:sldId id="504" r:id="rId14"/>
    <p:sldId id="446" r:id="rId15"/>
    <p:sldId id="447" r:id="rId16"/>
    <p:sldId id="506" r:id="rId17"/>
    <p:sldId id="505" r:id="rId18"/>
    <p:sldId id="507" r:id="rId19"/>
    <p:sldId id="547" r:id="rId20"/>
    <p:sldId id="548" r:id="rId21"/>
    <p:sldId id="549" r:id="rId22"/>
    <p:sldId id="512" r:id="rId23"/>
    <p:sldId id="513" r:id="rId24"/>
    <p:sldId id="514" r:id="rId25"/>
    <p:sldId id="515" r:id="rId26"/>
    <p:sldId id="516" r:id="rId27"/>
    <p:sldId id="517" r:id="rId28"/>
    <p:sldId id="518" r:id="rId29"/>
    <p:sldId id="519" r:id="rId30"/>
    <p:sldId id="520" r:id="rId31"/>
    <p:sldId id="521" r:id="rId32"/>
    <p:sldId id="522" r:id="rId33"/>
    <p:sldId id="524" r:id="rId34"/>
    <p:sldId id="525" r:id="rId35"/>
    <p:sldId id="526" r:id="rId36"/>
    <p:sldId id="527" r:id="rId37"/>
    <p:sldId id="528" r:id="rId38"/>
    <p:sldId id="529" r:id="rId39"/>
    <p:sldId id="530" r:id="rId40"/>
    <p:sldId id="531" r:id="rId41"/>
    <p:sldId id="532" r:id="rId42"/>
    <p:sldId id="533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51" autoAdjust="0"/>
    <p:restoredTop sz="85403" autoAdjust="0"/>
  </p:normalViewPr>
  <p:slideViewPr>
    <p:cSldViewPr snapToGrid="0">
      <p:cViewPr varScale="1">
        <p:scale>
          <a:sx n="70" d="100"/>
          <a:sy n="70" d="100"/>
        </p:scale>
        <p:origin x="200" y="10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3594B-FEBB-48A3-8BDF-DB05D5DE02C0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10BFD-0FCF-4A7B-9E85-8F7D0B316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4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E6A1E7-D163-48F1-B323-726834F1BCA6}" type="slidenum">
              <a:rPr lang="en-US"/>
              <a:pPr/>
              <a:t>4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43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E6A1E7-D163-48F1-B323-726834F1BCA6}" type="slidenum">
              <a:rPr lang="en-US"/>
              <a:pPr/>
              <a:t>5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43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0D662C-68B4-41D2-B634-ACFA1283DC81}" type="slidenum">
              <a:rPr lang="en-US"/>
              <a:pPr/>
              <a:t>6</a:t>
            </a:fld>
            <a:endParaRPr lang="en-US"/>
          </a:p>
        </p:txBody>
      </p:sp>
      <p:sp>
        <p:nvSpPr>
          <p:cNvPr id="24473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9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E48071-1762-407E-992A-3F778AEF61A8}" type="slidenum">
              <a:rPr lang="en-US"/>
              <a:pPr/>
              <a:t>7</a:t>
            </a:fld>
            <a:endParaRPr lang="en-US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76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0F093F-2565-4BC4-88E5-437546BE3F98}" type="slidenum">
              <a:rPr lang="en-US"/>
              <a:pPr/>
              <a:t>8</a:t>
            </a:fld>
            <a:endParaRPr lang="en-US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8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9CCDD6-DCF9-4647-ACD1-A06B9FB769C1}" type="slidenum">
              <a:rPr lang="en-US"/>
              <a:pPr/>
              <a:t>23</a:t>
            </a:fld>
            <a:endParaRPr lang="en-US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44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ECF976-0675-4E93-82D8-8266C63D9B50}" type="slidenum">
              <a:rPr lang="en-US"/>
              <a:pPr/>
              <a:t>24</a:t>
            </a:fld>
            <a:endParaRPr lang="en-US"/>
          </a:p>
        </p:txBody>
      </p:sp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1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BAA930-C99C-46CF-B550-963ADE7193B2}" type="slidenum">
              <a:rPr lang="en-US"/>
              <a:pPr/>
              <a:t>25</a:t>
            </a:fld>
            <a:endParaRPr lang="en-US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00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2E86E1-9278-48F6-96C9-0626624145BD}" type="slidenum">
              <a:rPr lang="en-US"/>
              <a:pPr/>
              <a:t>26</a:t>
            </a:fld>
            <a:endParaRPr lang="en-US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18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31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41C2C1-5E05-496C-BE4A-78B5DC8862D6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92246C-6A7A-48D9-8FC4-427F473C5048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92246C-6A7A-48D9-8FC4-427F473C5048}" type="slidenum">
              <a:rPr lang="en-US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92246C-6A7A-48D9-8FC4-427F473C5048}" type="slidenum">
              <a:rPr lang="en-US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49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91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8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4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2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6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2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5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3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0E41BB-A861-4D90-850C-7108642C9483}" type="datetimeFigureOut">
              <a:rPr lang="en-US" smtClean="0"/>
              <a:t>12/18/19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802299" y="649287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800" kern="1200" cap="all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UTILIZAR COMO MATERIAL DE ESTUDIO</a:t>
            </a:r>
          </a:p>
        </p:txBody>
      </p:sp>
      <p:pic>
        <p:nvPicPr>
          <p:cNvPr id="12" name="Picture 11" descr="fiec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142" y="6415974"/>
            <a:ext cx="1886857" cy="44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6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SISTEMAS DE 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BASES DE DATOS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6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TICG1001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79" y="4674015"/>
            <a:ext cx="10909519" cy="152248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UNIDAD 5</a:t>
            </a:r>
          </a:p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Lenguaje de consultas y optimización de consultas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93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442663" y="1822881"/>
            <a:ext cx="6562436" cy="443134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SQL.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Manipulación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algebra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relacional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SQL.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múltiples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queries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anidados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agregación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agrupación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Cuantificadores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NULLs y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Joins.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Vistas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Procedimientos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almacenados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Disparadores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5526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ALL, ANY, EXISTS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51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Arial"/>
                <a:cs typeface="Arial"/>
              </a:rPr>
              <a:t>Otros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Operadores</a:t>
            </a:r>
            <a:r>
              <a:rPr lang="en-US" b="1" dirty="0">
                <a:latin typeface="Arial"/>
                <a:cs typeface="Arial"/>
              </a:rPr>
              <a:t> de </a:t>
            </a:r>
            <a:r>
              <a:rPr lang="en-US" b="1" dirty="0" err="1">
                <a:latin typeface="Arial"/>
                <a:cs typeface="Arial"/>
              </a:rPr>
              <a:t>Subqueries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1344481" y="3973622"/>
            <a:ext cx="6855362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nombre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 </a:t>
            </a:r>
            <a:r>
              <a:rPr lang="en-US" sz="24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ALL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precio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‘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ABCWorks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’)</a:t>
            </a:r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1531259" y="3314023"/>
            <a:ext cx="7442136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categoria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1099692" y="1708963"/>
            <a:ext cx="738405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posible</a:t>
            </a:r>
            <a:r>
              <a:rPr lang="en-US" sz="2400" dirty="0"/>
              <a:t> </a:t>
            </a:r>
            <a:r>
              <a:rPr lang="en-US" sz="2400" dirty="0" err="1"/>
              <a:t>usar</a:t>
            </a:r>
            <a:r>
              <a:rPr lang="en-US" sz="2400" dirty="0"/>
              <a:t> </a:t>
            </a:r>
            <a:r>
              <a:rPr lang="en-US" sz="2400" dirty="0" err="1"/>
              <a:t>operaciones</a:t>
            </a:r>
            <a:r>
              <a:rPr lang="en-US" sz="2400" dirty="0"/>
              <a:t> de la forma (</a:t>
            </a:r>
            <a:r>
              <a:rPr lang="en-US" sz="2400" dirty="0" err="1"/>
              <a:t>todo</a:t>
            </a:r>
            <a:r>
              <a:rPr lang="en-US" sz="2400" dirty="0"/>
              <a:t> o </a:t>
            </a:r>
            <a:r>
              <a:rPr lang="en-US" sz="2400" dirty="0" err="1"/>
              <a:t>ninguno</a:t>
            </a:r>
            <a:r>
              <a:rPr lang="en-US" sz="2400" dirty="0"/>
              <a:t>):    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u="sng" dirty="0"/>
              <a:t>s &gt; ALL R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u="sng" dirty="0"/>
              <a:t>s &lt; ANY R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dirty="0"/>
              <a:t>EXISTS R</a:t>
            </a:r>
          </a:p>
        </p:txBody>
      </p:sp>
      <p:sp>
        <p:nvSpPr>
          <p:cNvPr id="2" name="Rectangle 1"/>
          <p:cNvSpPr/>
          <p:nvPr/>
        </p:nvSpPr>
        <p:spPr>
          <a:xfrm>
            <a:off x="8596180" y="4213892"/>
            <a:ext cx="32082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 err="1">
                <a:latin typeface="+mj-lt"/>
              </a:rPr>
              <a:t>Buscar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productos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sean</a:t>
            </a:r>
            <a:r>
              <a:rPr lang="en-US" sz="2400" dirty="0">
                <a:latin typeface="+mj-lt"/>
              </a:rPr>
              <a:t> mas </a:t>
            </a:r>
            <a:r>
              <a:rPr lang="en-US" sz="2400" dirty="0" err="1">
                <a:latin typeface="+mj-lt"/>
              </a:rPr>
              <a:t>caros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i="1" dirty="0">
                <a:latin typeface="+mj-lt"/>
              </a:rPr>
              <a:t>TODOS</a:t>
            </a:r>
            <a:r>
              <a:rPr lang="en-US" sz="2400" dirty="0">
                <a:latin typeface="+mj-lt"/>
              </a:rPr>
              <a:t> los </a:t>
            </a:r>
            <a:r>
              <a:rPr lang="en-US" sz="2400" dirty="0" err="1">
                <a:latin typeface="+mj-lt"/>
              </a:rPr>
              <a:t>producidos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por</a:t>
            </a:r>
            <a:r>
              <a:rPr lang="en-US" sz="2400" dirty="0">
                <a:latin typeface="+mj-lt"/>
              </a:rPr>
              <a:t> “</a:t>
            </a:r>
            <a:r>
              <a:rPr lang="en-US" sz="2400" dirty="0" err="1">
                <a:latin typeface="+mj-lt"/>
              </a:rPr>
              <a:t>ABCWorks</a:t>
            </a:r>
            <a:r>
              <a:rPr lang="en-US" sz="2400" dirty="0">
                <a:latin typeface="+mj-lt"/>
              </a:rPr>
              <a:t>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314023"/>
            <a:ext cx="269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 err="1">
                <a:latin typeface="+mj-lt"/>
              </a:rPr>
              <a:t>Ej</a:t>
            </a:r>
            <a:r>
              <a:rPr lang="en-US" sz="2400" dirty="0">
                <a:latin typeface="+mj-lt"/>
              </a:rPr>
              <a:t>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9125" y="2341398"/>
            <a:ext cx="4125997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ANY y ALL no son </a:t>
            </a:r>
            <a:r>
              <a:rPr lang="en-US" sz="2400" dirty="0" err="1">
                <a:latin typeface="+mj-lt"/>
              </a:rPr>
              <a:t>suportados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por</a:t>
            </a:r>
            <a:r>
              <a:rPr lang="en-US" sz="2400" dirty="0">
                <a:latin typeface="+mj-lt"/>
              </a:rPr>
              <a:t> SQLite.</a:t>
            </a:r>
          </a:p>
        </p:txBody>
      </p:sp>
    </p:spTree>
    <p:extLst>
      <p:ext uri="{BB962C8B-B14F-4D97-AF65-F5344CB8AC3E}">
        <p14:creationId xmlns:p14="http://schemas.microsoft.com/office/powerpoint/2010/main" val="86172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animBg="1"/>
      <p:bldP spid="183300" grpId="0" animBg="1"/>
      <p:bldP spid="2" grpId="0"/>
      <p:bldP spid="11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Arial"/>
                <a:cs typeface="Arial"/>
              </a:rPr>
              <a:t>Otros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Operadores</a:t>
            </a:r>
            <a:r>
              <a:rPr lang="en-US" b="1" dirty="0">
                <a:latin typeface="Arial"/>
                <a:cs typeface="Arial"/>
              </a:rPr>
              <a:t> de </a:t>
            </a:r>
            <a:r>
              <a:rPr lang="en-US" b="1" dirty="0" err="1">
                <a:latin typeface="Arial"/>
                <a:cs typeface="Arial"/>
              </a:rPr>
              <a:t>Subqueries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1531259" y="3295349"/>
            <a:ext cx="7442136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categoria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1099692" y="1708963"/>
            <a:ext cx="521233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posible</a:t>
            </a:r>
            <a:r>
              <a:rPr lang="en-US" sz="2400" dirty="0"/>
              <a:t> </a:t>
            </a:r>
            <a:r>
              <a:rPr lang="en-US" sz="2400" dirty="0" err="1"/>
              <a:t>usar</a:t>
            </a:r>
            <a:r>
              <a:rPr lang="en-US" sz="2400" dirty="0"/>
              <a:t> </a:t>
            </a:r>
            <a:r>
              <a:rPr lang="en-US" sz="2400" dirty="0" err="1"/>
              <a:t>operaciones</a:t>
            </a:r>
            <a:r>
              <a:rPr lang="en-US" sz="2400" dirty="0"/>
              <a:t> de la forma:    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dirty="0"/>
              <a:t>s &gt; ALL R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dirty="0"/>
              <a:t>s &lt; ANY R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u="sng" dirty="0"/>
              <a:t>EXISTS 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295349"/>
            <a:ext cx="269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 err="1">
                <a:latin typeface="+mj-lt"/>
              </a:rPr>
              <a:t>Ej</a:t>
            </a:r>
            <a:r>
              <a:rPr lang="en-US" sz="2400" dirty="0">
                <a:latin typeface="+mj-lt"/>
              </a:rPr>
              <a:t>: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788687" y="3870579"/>
            <a:ext cx="6361237" cy="255454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p1.nombre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p1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p1.fabricante = ‘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ABCWorks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’</a:t>
            </a:r>
          </a:p>
          <a:p>
            <a:pPr eaLnBrk="0" hangingPunct="0"/>
            <a:r>
              <a:rPr lang="en-US" sz="20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AND</a:t>
            </a:r>
            <a:r>
              <a:rPr lang="en-US" sz="20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 EXISTS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p2.nombre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p2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p2.fabricante &lt;&gt; ‘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ABCWorks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’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  AND p1.nombre = p2.nombre)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0737" y="3744843"/>
            <a:ext cx="324126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 err="1">
                <a:latin typeface="+mj-lt"/>
              </a:rPr>
              <a:t>Encuentra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productos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‘</a:t>
            </a:r>
            <a:r>
              <a:rPr lang="en-US" sz="2400" dirty="0" err="1"/>
              <a:t>copias</a:t>
            </a:r>
            <a:r>
              <a:rPr lang="en-US" sz="2400" dirty="0"/>
              <a:t>’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Ej</a:t>
            </a:r>
            <a:r>
              <a:rPr lang="en-US" sz="2400" dirty="0">
                <a:latin typeface="+mj-lt"/>
              </a:rPr>
              <a:t>. </a:t>
            </a:r>
            <a:r>
              <a:rPr lang="en-US" sz="2400" dirty="0" err="1">
                <a:latin typeface="+mj-lt"/>
              </a:rPr>
              <a:t>productos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realizados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por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competidores</a:t>
            </a:r>
            <a:r>
              <a:rPr lang="en-US" sz="2400" dirty="0">
                <a:latin typeface="+mj-lt"/>
              </a:rPr>
              <a:t> con los </a:t>
            </a:r>
            <a:r>
              <a:rPr lang="en-US" sz="2400" dirty="0" err="1">
                <a:latin typeface="+mj-lt"/>
              </a:rPr>
              <a:t>mismos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nombres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los </a:t>
            </a:r>
            <a:r>
              <a:rPr lang="en-US" sz="2400" dirty="0" err="1">
                <a:latin typeface="+mj-lt"/>
              </a:rPr>
              <a:t>productos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hechos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por</a:t>
            </a:r>
            <a:r>
              <a:rPr lang="en-US" sz="2400" dirty="0">
                <a:latin typeface="+mj-lt"/>
              </a:rPr>
              <a:t> “</a:t>
            </a:r>
            <a:r>
              <a:rPr lang="en-US" sz="2400" dirty="0" err="1">
                <a:latin typeface="+mj-lt"/>
              </a:rPr>
              <a:t>ABCWorks</a:t>
            </a:r>
            <a:r>
              <a:rPr lang="en-US" sz="2400" dirty="0">
                <a:latin typeface="+mj-lt"/>
              </a:rPr>
              <a:t>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41247" y="4962043"/>
            <a:ext cx="1568113" cy="369332"/>
          </a:xfrm>
          <a:prstGeom prst="rect">
            <a:avLst/>
          </a:prstGeom>
          <a:solidFill>
            <a:srgbClr val="FDCCCC"/>
          </a:solidFill>
          <a:ln>
            <a:solidFill>
              <a:srgbClr val="E6BBBA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&lt;&gt; </a:t>
            </a:r>
            <a:r>
              <a:rPr lang="en-US" dirty="0" err="1">
                <a:latin typeface="+mj-lt"/>
              </a:rPr>
              <a:t>Significa</a:t>
            </a:r>
            <a:r>
              <a:rPr lang="en-US" dirty="0">
                <a:latin typeface="+mj-lt"/>
              </a:rPr>
              <a:t> !=</a:t>
            </a:r>
          </a:p>
        </p:txBody>
      </p:sp>
    </p:spTree>
    <p:extLst>
      <p:ext uri="{BB962C8B-B14F-4D97-AF65-F5344CB8AC3E}">
        <p14:creationId xmlns:p14="http://schemas.microsoft.com/office/powerpoint/2010/main" val="3110864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0" grpId="0" animBg="1"/>
      <p:bldP spid="11" grpId="0"/>
      <p:bldP spid="13" grpId="0" animBg="1"/>
      <p:bldP spid="14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82954" y="428621"/>
            <a:ext cx="11209046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/>
                <a:cs typeface="Arial"/>
              </a:rPr>
              <a:t>Queries </a:t>
            </a:r>
            <a:r>
              <a:rPr lang="en-US" b="1" dirty="0" err="1">
                <a:latin typeface="Arial"/>
                <a:cs typeface="Arial"/>
              </a:rPr>
              <a:t>anidados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alternativos</a:t>
            </a:r>
            <a:r>
              <a:rPr lang="en-US" b="1" dirty="0">
                <a:latin typeface="Arial"/>
                <a:cs typeface="Arial"/>
              </a:rPr>
              <a:t> a INTERSECT y EXCEPT</a:t>
            </a:r>
          </a:p>
        </p:txBody>
      </p:sp>
      <p:sp>
        <p:nvSpPr>
          <p:cNvPr id="224259" name="Rectangle 1027"/>
          <p:cNvSpPr>
            <a:spLocks noChangeArrowheads="1"/>
          </p:cNvSpPr>
          <p:nvPr/>
        </p:nvSpPr>
        <p:spPr bwMode="auto">
          <a:xfrm>
            <a:off x="838200" y="2594508"/>
            <a:ext cx="2416046" cy="13388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R)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S.A, S.B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S)</a:t>
            </a:r>
          </a:p>
        </p:txBody>
      </p:sp>
      <p:sp>
        <p:nvSpPr>
          <p:cNvPr id="224260" name="Rectangle 1028"/>
          <p:cNvSpPr>
            <a:spLocks noChangeArrowheads="1"/>
          </p:cNvSpPr>
          <p:nvPr/>
        </p:nvSpPr>
        <p:spPr bwMode="auto">
          <a:xfrm>
            <a:off x="4343399" y="2594508"/>
            <a:ext cx="4786888" cy="158812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EXISTS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 	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*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	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     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R.A=S.A AND R.B=S.B)</a:t>
            </a:r>
          </a:p>
        </p:txBody>
      </p:sp>
      <p:sp>
        <p:nvSpPr>
          <p:cNvPr id="224261" name="AutoShape 1029"/>
          <p:cNvSpPr>
            <a:spLocks noChangeArrowheads="1"/>
          </p:cNvSpPr>
          <p:nvPr/>
        </p:nvSpPr>
        <p:spPr bwMode="auto">
          <a:xfrm>
            <a:off x="3609816" y="3163791"/>
            <a:ext cx="504984" cy="443010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24263" name="Rectangle 1031"/>
          <p:cNvSpPr>
            <a:spLocks noChangeArrowheads="1"/>
          </p:cNvSpPr>
          <p:nvPr/>
        </p:nvSpPr>
        <p:spPr bwMode="auto">
          <a:xfrm>
            <a:off x="4326209" y="4710938"/>
            <a:ext cx="4786888" cy="158812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NOT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EXISTS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*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     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     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R.A=S.A AND R.B=S.B)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0546" y="1519744"/>
            <a:ext cx="4125997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INTERSECT y EXCEPT no </a:t>
            </a:r>
            <a:r>
              <a:rPr lang="en-US" sz="2400" dirty="0" err="1">
                <a:latin typeface="+mj-lt"/>
              </a:rPr>
              <a:t>están</a:t>
            </a:r>
            <a:r>
              <a:rPr lang="en-US" sz="2400" dirty="0">
                <a:latin typeface="+mj-lt"/>
              </a:rPr>
              <a:t> en </a:t>
            </a:r>
            <a:r>
              <a:rPr lang="en-US" sz="2400" dirty="0" err="1">
                <a:latin typeface="+mj-lt"/>
              </a:rPr>
              <a:t>ciertos</a:t>
            </a:r>
            <a:r>
              <a:rPr lang="en-US" sz="2400" dirty="0">
                <a:latin typeface="+mj-lt"/>
              </a:rPr>
              <a:t> DBMS!</a:t>
            </a:r>
          </a:p>
        </p:txBody>
      </p:sp>
      <p:sp>
        <p:nvSpPr>
          <p:cNvPr id="4" name="Rectangle 3"/>
          <p:cNvSpPr/>
          <p:nvPr/>
        </p:nvSpPr>
        <p:spPr>
          <a:xfrm>
            <a:off x="9664699" y="3688104"/>
            <a:ext cx="2214445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Si R, S no </a:t>
            </a:r>
            <a:r>
              <a:rPr lang="en-US" dirty="0" err="1">
                <a:latin typeface="+mj-lt"/>
              </a:rPr>
              <a:t>tinen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duplicados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entonces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puedo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escribirlos</a:t>
            </a:r>
            <a:r>
              <a:rPr lang="en-US" dirty="0">
                <a:latin typeface="+mj-lt"/>
              </a:rPr>
              <a:t> sin sub-queries (CÓMO?)</a:t>
            </a:r>
          </a:p>
        </p:txBody>
      </p:sp>
      <p:sp>
        <p:nvSpPr>
          <p:cNvPr id="18" name="Rectangle 1027"/>
          <p:cNvSpPr>
            <a:spLocks noChangeArrowheads="1"/>
          </p:cNvSpPr>
          <p:nvPr/>
        </p:nvSpPr>
        <p:spPr bwMode="auto">
          <a:xfrm>
            <a:off x="744810" y="4710938"/>
            <a:ext cx="2416046" cy="13388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R)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EXCEPT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S.A, S.B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S)</a:t>
            </a:r>
          </a:p>
        </p:txBody>
      </p:sp>
      <p:sp>
        <p:nvSpPr>
          <p:cNvPr id="19" name="AutoShape 1029"/>
          <p:cNvSpPr>
            <a:spLocks noChangeArrowheads="1"/>
          </p:cNvSpPr>
          <p:nvPr/>
        </p:nvSpPr>
        <p:spPr bwMode="auto">
          <a:xfrm>
            <a:off x="3516426" y="5280221"/>
            <a:ext cx="504984" cy="443010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4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animBg="1"/>
      <p:bldP spid="224260" grpId="0" animBg="1" autoUpdateAnimBg="0"/>
      <p:bldP spid="224261" grpId="0" animBg="1"/>
      <p:bldP spid="224263" grpId="0" animBg="1" autoUpdateAnimBg="0"/>
      <p:bldP spid="3" grpId="0" animBg="1"/>
      <p:bldP spid="4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  <a:cs typeface="Arial"/>
              </a:rPr>
              <a:t>QUERIES CORRELACIONADOS</a:t>
            </a:r>
          </a:p>
        </p:txBody>
      </p:sp>
      <p:sp>
        <p:nvSpPr>
          <p:cNvPr id="185347" name="Text Box 3"/>
          <p:cNvSpPr txBox="1">
            <a:spLocks noChangeArrowheads="1"/>
          </p:cNvSpPr>
          <p:nvPr/>
        </p:nvSpPr>
        <p:spPr bwMode="auto">
          <a:xfrm>
            <a:off x="834172" y="2624882"/>
            <a:ext cx="6882834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titulo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Pelicula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p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anio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&lt;&gt;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ANY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anio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Pelicula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titulo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 </a:t>
            </a:r>
            <a:r>
              <a:rPr lang="en-US" sz="2400" dirty="0" err="1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p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.titulo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85348" name="Text Box 4"/>
          <p:cNvSpPr txBox="1">
            <a:spLocks noChangeArrowheads="1"/>
          </p:cNvSpPr>
          <p:nvPr/>
        </p:nvSpPr>
        <p:spPr bwMode="auto">
          <a:xfrm>
            <a:off x="875555" y="1902975"/>
            <a:ext cx="7781848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Pelicula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titulo</a:t>
            </a:r>
            <a:r>
              <a:rPr lang="en-US" sz="24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anio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director, </a:t>
            </a: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tamanio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2" name="Rectangle 1"/>
          <p:cNvSpPr/>
          <p:nvPr/>
        </p:nvSpPr>
        <p:spPr>
          <a:xfrm>
            <a:off x="8427942" y="3148945"/>
            <a:ext cx="2721913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 err="1">
                <a:latin typeface="+mj-lt"/>
              </a:rPr>
              <a:t>Encuentra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peliculas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cuyo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título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aparece</a:t>
            </a:r>
            <a:r>
              <a:rPr lang="en-US" sz="2400" dirty="0">
                <a:latin typeface="+mj-lt"/>
              </a:rPr>
              <a:t> mas de </a:t>
            </a:r>
            <a:r>
              <a:rPr lang="en-US" sz="2400" dirty="0" err="1">
                <a:latin typeface="+mj-lt"/>
              </a:rPr>
              <a:t>una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vez</a:t>
            </a:r>
            <a:r>
              <a:rPr lang="en-US" sz="24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116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</a:t>
            </a:r>
            <a:r>
              <a:rPr lang="en-US" dirty="0" err="1"/>
              <a:t>Complejos</a:t>
            </a:r>
            <a:r>
              <a:rPr lang="en-US" dirty="0"/>
              <a:t> </a:t>
            </a:r>
            <a:r>
              <a:rPr lang="en-US" dirty="0" err="1"/>
              <a:t>Correlacionados</a:t>
            </a:r>
            <a:endParaRPr lang="en-US" dirty="0"/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auto">
          <a:xfrm>
            <a:off x="221829" y="2656323"/>
            <a:ext cx="8523036" cy="242527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x.nombre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x.fabricante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x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x.precio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ALL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y.precio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y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x.fabricante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y.fabricante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   AND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y.anio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&lt; 1972)</a:t>
            </a:r>
          </a:p>
        </p:txBody>
      </p:sp>
      <p:sp>
        <p:nvSpPr>
          <p:cNvPr id="2" name="Rectangle 1"/>
          <p:cNvSpPr/>
          <p:nvPr/>
        </p:nvSpPr>
        <p:spPr>
          <a:xfrm>
            <a:off x="8991558" y="2787040"/>
            <a:ext cx="320044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>
                <a:latin typeface="+mj-lt"/>
              </a:rPr>
              <a:t>Encuentra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productos</a:t>
            </a:r>
            <a:r>
              <a:rPr lang="en-US" sz="2400" dirty="0">
                <a:latin typeface="+mj-lt"/>
              </a:rPr>
              <a:t> (y </a:t>
            </a:r>
            <a:r>
              <a:rPr lang="en-US" sz="2400" dirty="0" err="1">
                <a:latin typeface="+mj-lt"/>
              </a:rPr>
              <a:t>sus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fabricantes</a:t>
            </a:r>
            <a:r>
              <a:rPr lang="en-US" sz="2400" dirty="0">
                <a:latin typeface="+mj-lt"/>
              </a:rPr>
              <a:t>) </a:t>
            </a: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son mas </a:t>
            </a:r>
            <a:r>
              <a:rPr lang="en-US" sz="2400" dirty="0" err="1">
                <a:latin typeface="+mj-lt"/>
              </a:rPr>
              <a:t>caros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todos</a:t>
            </a:r>
            <a:r>
              <a:rPr lang="en-US" sz="2400" dirty="0">
                <a:latin typeface="+mj-lt"/>
              </a:rPr>
              <a:t> los </a:t>
            </a:r>
            <a:r>
              <a:rPr lang="en-US" sz="2400" dirty="0" err="1">
                <a:latin typeface="+mj-lt"/>
              </a:rPr>
              <a:t>productos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hechos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por</a:t>
            </a:r>
            <a:r>
              <a:rPr lang="en-US" sz="2400" dirty="0">
                <a:latin typeface="+mj-lt"/>
              </a:rPr>
              <a:t> el </a:t>
            </a:r>
            <a:r>
              <a:rPr lang="en-US" sz="2400" dirty="0" err="1">
                <a:latin typeface="+mj-lt"/>
              </a:rPr>
              <a:t>mismo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fabricante</a:t>
            </a:r>
            <a:r>
              <a:rPr lang="en-US" sz="2400" dirty="0">
                <a:latin typeface="+mj-lt"/>
              </a:rPr>
              <a:t> antes de 1972</a:t>
            </a:r>
          </a:p>
        </p:txBody>
      </p:sp>
      <p:sp>
        <p:nvSpPr>
          <p:cNvPr id="3" name="Rectangle 2"/>
          <p:cNvSpPr/>
          <p:nvPr/>
        </p:nvSpPr>
        <p:spPr>
          <a:xfrm>
            <a:off x="688777" y="1913038"/>
            <a:ext cx="8368622" cy="3744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categoria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anio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060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SUBQUERY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170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739543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800" dirty="0"/>
              <a:t>Se lo </a:t>
            </a:r>
            <a:r>
              <a:rPr lang="en-US" sz="2800" dirty="0" err="1"/>
              <a:t>puede</a:t>
            </a:r>
            <a:r>
              <a:rPr lang="en-US" sz="2800" dirty="0"/>
              <a:t> </a:t>
            </a:r>
            <a:r>
              <a:rPr lang="en-US" sz="2800" dirty="0" err="1"/>
              <a:t>usar</a:t>
            </a:r>
            <a:r>
              <a:rPr lang="en-US" sz="2800" dirty="0"/>
              <a:t> en la </a:t>
            </a:r>
            <a:r>
              <a:rPr lang="en-US" sz="2800" dirty="0" err="1"/>
              <a:t>cláusula</a:t>
            </a:r>
            <a:r>
              <a:rPr lang="en-US" sz="2800" dirty="0"/>
              <a:t> WHERE o HAVING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800" dirty="0" err="1"/>
              <a:t>También</a:t>
            </a:r>
            <a:r>
              <a:rPr lang="en-US" sz="2800" dirty="0"/>
              <a:t> </a:t>
            </a:r>
            <a:r>
              <a:rPr lang="en-US" sz="2800" dirty="0" err="1"/>
              <a:t>dentro</a:t>
            </a:r>
            <a:r>
              <a:rPr lang="en-US" sz="2800" dirty="0"/>
              <a:t> de la </a:t>
            </a:r>
            <a:r>
              <a:rPr lang="en-US" sz="2800" dirty="0" err="1"/>
              <a:t>cláusula</a:t>
            </a:r>
            <a:r>
              <a:rPr lang="en-US" sz="2800" dirty="0"/>
              <a:t> SELECT y FROM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458108" y="3466208"/>
            <a:ext cx="6697572" cy="240288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/>
              <a:t>Tres</a:t>
            </a:r>
            <a:r>
              <a:rPr lang="en-US" sz="2800" dirty="0"/>
              <a:t> </a:t>
            </a:r>
            <a:r>
              <a:rPr lang="en-US" sz="2800" dirty="0" err="1"/>
              <a:t>tipos</a:t>
            </a:r>
            <a:r>
              <a:rPr lang="en-US" sz="2800" dirty="0"/>
              <a:t>: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n-US" sz="2800" dirty="0" err="1"/>
              <a:t>Retorna</a:t>
            </a:r>
            <a:r>
              <a:rPr lang="en-US" sz="2800" dirty="0"/>
              <a:t> un valor </a:t>
            </a:r>
            <a:r>
              <a:rPr lang="en-US" sz="2800" dirty="0" err="1"/>
              <a:t>escalar</a:t>
            </a:r>
            <a:endParaRPr lang="en-US" sz="2800" dirty="0"/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n-US" sz="2800" dirty="0" err="1"/>
              <a:t>Retorna</a:t>
            </a:r>
            <a:r>
              <a:rPr lang="en-US" sz="2800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fila</a:t>
            </a:r>
            <a:r>
              <a:rPr lang="en-US" sz="2800" dirty="0"/>
              <a:t> con </a:t>
            </a:r>
            <a:r>
              <a:rPr lang="en-US" sz="2800" dirty="0" err="1"/>
              <a:t>múltiples</a:t>
            </a:r>
            <a:r>
              <a:rPr lang="en-US" sz="2800" dirty="0"/>
              <a:t> </a:t>
            </a:r>
            <a:r>
              <a:rPr lang="en-US" sz="2800" dirty="0" err="1"/>
              <a:t>columnas</a:t>
            </a:r>
            <a:r>
              <a:rPr lang="en-US" sz="2800" dirty="0"/>
              <a:t>.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n-US" sz="2800" dirty="0" err="1"/>
              <a:t>Retorna</a:t>
            </a:r>
            <a:r>
              <a:rPr lang="en-US" sz="2800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05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475253" y="3222317"/>
            <a:ext cx="4223913" cy="102675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54699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800" i="1" dirty="0" err="1"/>
              <a:t>Muestre</a:t>
            </a:r>
            <a:r>
              <a:rPr lang="en-US" sz="2800" i="1" dirty="0"/>
              <a:t> </a:t>
            </a:r>
            <a:r>
              <a:rPr lang="en-US" sz="2800" i="1" dirty="0" err="1"/>
              <a:t>todos</a:t>
            </a:r>
            <a:r>
              <a:rPr lang="en-US" sz="2800" i="1" dirty="0"/>
              <a:t> los </a:t>
            </a:r>
            <a:r>
              <a:rPr lang="en-US" sz="2800" i="1" dirty="0" err="1"/>
              <a:t>pedidos</a:t>
            </a:r>
            <a:r>
              <a:rPr lang="en-US" sz="2800" i="1" dirty="0"/>
              <a:t> </a:t>
            </a:r>
            <a:r>
              <a:rPr lang="en-US" sz="2800" i="1" dirty="0" err="1"/>
              <a:t>que</a:t>
            </a:r>
            <a:r>
              <a:rPr lang="en-US" sz="2800" i="1" dirty="0"/>
              <a:t> </a:t>
            </a:r>
            <a:r>
              <a:rPr lang="en-US" sz="2800" i="1" dirty="0" err="1"/>
              <a:t>incluyan</a:t>
            </a:r>
            <a:r>
              <a:rPr lang="en-US" sz="2800" i="1" dirty="0"/>
              <a:t> el </a:t>
            </a:r>
            <a:r>
              <a:rPr lang="en-US" sz="2800" i="1" dirty="0" err="1"/>
              <a:t>producto</a:t>
            </a:r>
            <a:r>
              <a:rPr lang="en-US" sz="2800" i="1" dirty="0"/>
              <a:t> “MANIVELA”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6738" y="2597216"/>
            <a:ext cx="93223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SELECT </a:t>
            </a:r>
            <a:r>
              <a:rPr lang="en-US" dirty="0" err="1">
                <a:latin typeface="Consolas"/>
                <a:cs typeface="Consolas"/>
              </a:rPr>
              <a:t>p.NUMPEDIDO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p.FECHAPEDIDO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p.CLIE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p.PRODUCTO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p.CANT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p.IMPORTE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FROM </a:t>
            </a:r>
            <a:r>
              <a:rPr lang="en-US" dirty="0" err="1">
                <a:latin typeface="Consolas"/>
                <a:cs typeface="Consolas"/>
              </a:rPr>
              <a:t>Pedidos</a:t>
            </a:r>
            <a:r>
              <a:rPr lang="en-US" dirty="0">
                <a:latin typeface="Consolas"/>
                <a:cs typeface="Consolas"/>
              </a:rPr>
              <a:t> p WHERE </a:t>
            </a:r>
            <a:r>
              <a:rPr lang="en-US" dirty="0" err="1">
                <a:latin typeface="Consolas"/>
                <a:cs typeface="Consolas"/>
              </a:rPr>
              <a:t>p.PRODUCTO</a:t>
            </a:r>
            <a:r>
              <a:rPr lang="en-US" dirty="0">
                <a:latin typeface="Consolas"/>
                <a:cs typeface="Consolas"/>
              </a:rPr>
              <a:t> = </a:t>
            </a:r>
          </a:p>
          <a:p>
            <a:r>
              <a:rPr lang="en-US" dirty="0">
                <a:latin typeface="Consolas"/>
                <a:cs typeface="Consolas"/>
              </a:rPr>
              <a:t>					(SELECT IDPRODUCTO </a:t>
            </a:r>
          </a:p>
          <a:p>
            <a:r>
              <a:rPr lang="en-US" dirty="0">
                <a:latin typeface="Consolas"/>
                <a:cs typeface="Consolas"/>
              </a:rPr>
              <a:t>					  FROM PRODUCTO </a:t>
            </a:r>
          </a:p>
          <a:p>
            <a:r>
              <a:rPr lang="en-US" dirty="0">
                <a:latin typeface="Consolas"/>
                <a:cs typeface="Consolas"/>
              </a:rPr>
              <a:t>					  WHERE DESCRIPCION='MANIVELA');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7325963" y="3471092"/>
            <a:ext cx="1981705" cy="35125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43701" y="3648690"/>
            <a:ext cx="964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41003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0241" y="2899196"/>
            <a:ext cx="946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41003;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54715" y="4985953"/>
            <a:ext cx="412599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+mj-lt"/>
              </a:rPr>
              <a:t>Otra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alternativa</a:t>
            </a:r>
            <a:r>
              <a:rPr lang="en-US" sz="2400" dirty="0">
                <a:latin typeface="+mj-lt"/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46107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/>
      <p:bldP spid="10" grpId="1"/>
      <p:bldP spid="11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3276821" y="2918031"/>
            <a:ext cx="8192555" cy="323271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54699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800" i="1" dirty="0" err="1"/>
              <a:t>Muestre</a:t>
            </a:r>
            <a:r>
              <a:rPr lang="en-US" sz="2800" i="1" dirty="0"/>
              <a:t> </a:t>
            </a:r>
            <a:r>
              <a:rPr lang="en-US" sz="2800" i="1" dirty="0" err="1"/>
              <a:t>todos</a:t>
            </a:r>
            <a:r>
              <a:rPr lang="en-US" sz="2800" i="1" dirty="0"/>
              <a:t> los </a:t>
            </a:r>
            <a:r>
              <a:rPr lang="en-US" sz="2800" i="1" dirty="0" err="1"/>
              <a:t>pedidos</a:t>
            </a:r>
            <a:r>
              <a:rPr lang="en-US" sz="2800" i="1" dirty="0"/>
              <a:t> </a:t>
            </a:r>
            <a:r>
              <a:rPr lang="en-US" sz="2800" i="1" dirty="0" err="1"/>
              <a:t>que</a:t>
            </a:r>
            <a:r>
              <a:rPr lang="en-US" sz="2800" i="1" dirty="0"/>
              <a:t> </a:t>
            </a:r>
            <a:r>
              <a:rPr lang="en-US" sz="2800" i="1" dirty="0" err="1"/>
              <a:t>incluyan</a:t>
            </a:r>
            <a:r>
              <a:rPr lang="en-US" sz="2800" i="1" dirty="0"/>
              <a:t> el </a:t>
            </a:r>
            <a:r>
              <a:rPr lang="en-US" sz="2800" i="1" dirty="0" err="1"/>
              <a:t>producto</a:t>
            </a:r>
            <a:r>
              <a:rPr lang="en-US" sz="2800" i="1" dirty="0"/>
              <a:t> “MANIVELA”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6738" y="2597216"/>
            <a:ext cx="10337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SELECT </a:t>
            </a:r>
            <a:r>
              <a:rPr lang="en-US" dirty="0" err="1">
                <a:latin typeface="Consolas"/>
                <a:cs typeface="Consolas"/>
              </a:rPr>
              <a:t>p.NUMPEDIDO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p.FECHAPEDIDO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p.CLIE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p.PRODUCTO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p.CANT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p.IMPORTE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FROM </a:t>
            </a:r>
            <a:r>
              <a:rPr lang="en-US" dirty="0" err="1">
                <a:latin typeface="Consolas"/>
                <a:cs typeface="Consolas"/>
              </a:rPr>
              <a:t>Pedidos</a:t>
            </a:r>
            <a:r>
              <a:rPr lang="en-US" dirty="0">
                <a:latin typeface="Consolas"/>
                <a:cs typeface="Consolas"/>
              </a:rPr>
              <a:t> p, (SELECT IDPRODUCTO FROM PRODUCTO WHERE DESCRIPCION='MANIVELA’) t</a:t>
            </a:r>
          </a:p>
          <a:p>
            <a:r>
              <a:rPr lang="en-US" dirty="0">
                <a:latin typeface="Consolas"/>
                <a:cs typeface="Consolas"/>
              </a:rPr>
              <a:t> WHERE </a:t>
            </a:r>
            <a:r>
              <a:rPr lang="en-US" dirty="0" err="1">
                <a:latin typeface="Consolas"/>
                <a:cs typeface="Consolas"/>
              </a:rPr>
              <a:t>p.PRODUCTO</a:t>
            </a:r>
            <a:r>
              <a:rPr lang="en-US" dirty="0">
                <a:latin typeface="Consolas"/>
                <a:cs typeface="Consolas"/>
              </a:rPr>
              <a:t> = </a:t>
            </a:r>
            <a:r>
              <a:rPr lang="en-US" dirty="0" err="1">
                <a:latin typeface="Consolas"/>
                <a:cs typeface="Consolas"/>
              </a:rPr>
              <a:t>t.idproducto</a:t>
            </a:r>
            <a:r>
              <a:rPr lang="en-US" dirty="0">
                <a:latin typeface="Consolas"/>
                <a:cs typeface="Consolas"/>
              </a:rPr>
              <a:t>;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SUBQUERIES</a:t>
            </a:r>
          </a:p>
        </p:txBody>
      </p:sp>
    </p:spTree>
    <p:extLst>
      <p:ext uri="{BB962C8B-B14F-4D97-AF65-F5344CB8AC3E}">
        <p14:creationId xmlns:p14="http://schemas.microsoft.com/office/powerpoint/2010/main" val="51878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54" y="1883082"/>
            <a:ext cx="6747438" cy="4023360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800" i="1" dirty="0" err="1"/>
              <a:t>Muestre</a:t>
            </a:r>
            <a:r>
              <a:rPr lang="en-US" sz="2800" i="1" dirty="0"/>
              <a:t> </a:t>
            </a:r>
            <a:r>
              <a:rPr lang="en-US" sz="2800" i="1" dirty="0" err="1"/>
              <a:t>todos</a:t>
            </a:r>
            <a:r>
              <a:rPr lang="en-US" sz="2800" i="1" dirty="0"/>
              <a:t> los </a:t>
            </a:r>
            <a:r>
              <a:rPr lang="en-US" sz="2800" i="1" dirty="0" err="1"/>
              <a:t>clientes</a:t>
            </a:r>
            <a:r>
              <a:rPr lang="en-US" sz="2800" i="1" dirty="0"/>
              <a:t> </a:t>
            </a:r>
            <a:r>
              <a:rPr lang="en-US" sz="2800" i="1" dirty="0" err="1"/>
              <a:t>cuyo</a:t>
            </a:r>
            <a:r>
              <a:rPr lang="en-US" sz="2800" i="1" dirty="0"/>
              <a:t> </a:t>
            </a:r>
            <a:r>
              <a:rPr lang="en-US" sz="2800" i="1" dirty="0" err="1"/>
              <a:t>límite</a:t>
            </a:r>
            <a:r>
              <a:rPr lang="en-US" sz="2800" i="1" dirty="0"/>
              <a:t> de </a:t>
            </a:r>
            <a:r>
              <a:rPr lang="en-US" sz="2800" i="1" dirty="0" err="1"/>
              <a:t>crédito</a:t>
            </a:r>
            <a:r>
              <a:rPr lang="en-US" sz="2800" i="1" dirty="0"/>
              <a:t> </a:t>
            </a:r>
            <a:r>
              <a:rPr lang="en-US" sz="2800" i="1" dirty="0" err="1"/>
              <a:t>es</a:t>
            </a:r>
            <a:r>
              <a:rPr lang="en-US" sz="2800" i="1" dirty="0"/>
              <a:t> mayor </a:t>
            </a:r>
            <a:r>
              <a:rPr lang="en-US" sz="2800" i="1" dirty="0" err="1"/>
              <a:t>que</a:t>
            </a:r>
            <a:r>
              <a:rPr lang="en-US" sz="2800" i="1" dirty="0"/>
              <a:t> el </a:t>
            </a:r>
            <a:r>
              <a:rPr lang="en-US" sz="2800" i="1" dirty="0" err="1"/>
              <a:t>promedio</a:t>
            </a:r>
            <a:r>
              <a:rPr lang="en-US" sz="2800" i="1" dirty="0"/>
              <a:t> y </a:t>
            </a:r>
            <a:r>
              <a:rPr lang="en-US" sz="2800" i="1" dirty="0" err="1"/>
              <a:t>muestre</a:t>
            </a:r>
            <a:r>
              <a:rPr lang="en-US" sz="2800" i="1" dirty="0"/>
              <a:t> </a:t>
            </a:r>
            <a:r>
              <a:rPr lang="en-US" sz="2800" i="1" dirty="0" err="1"/>
              <a:t>por</a:t>
            </a:r>
            <a:r>
              <a:rPr lang="en-US" sz="2800" i="1" dirty="0"/>
              <a:t> </a:t>
            </a:r>
            <a:r>
              <a:rPr lang="en-US" sz="2800" i="1" dirty="0" err="1"/>
              <a:t>cada</a:t>
            </a:r>
            <a:r>
              <a:rPr lang="en-US" sz="2800" i="1" dirty="0"/>
              <a:t> </a:t>
            </a:r>
            <a:r>
              <a:rPr lang="en-US" sz="2800" i="1" dirty="0" err="1"/>
              <a:t>cliente</a:t>
            </a:r>
            <a:r>
              <a:rPr lang="en-US" sz="2800" i="1" dirty="0"/>
              <a:t> la </a:t>
            </a:r>
            <a:r>
              <a:rPr lang="en-US" sz="2800" i="1" dirty="0" err="1"/>
              <a:t>diferencia</a:t>
            </a:r>
            <a:r>
              <a:rPr lang="en-US" sz="2800" i="1" dirty="0"/>
              <a:t> entre el </a:t>
            </a:r>
            <a:r>
              <a:rPr lang="en-US" sz="2800" i="1" dirty="0" err="1"/>
              <a:t>límite</a:t>
            </a:r>
            <a:r>
              <a:rPr lang="en-US" sz="2800" i="1" dirty="0"/>
              <a:t> de </a:t>
            </a:r>
            <a:r>
              <a:rPr lang="en-US" sz="2800" i="1" dirty="0" err="1"/>
              <a:t>crédito</a:t>
            </a:r>
            <a:r>
              <a:rPr lang="en-US" sz="2800" i="1" dirty="0"/>
              <a:t> y el </a:t>
            </a:r>
            <a:r>
              <a:rPr lang="en-US" sz="2800" i="1" dirty="0" err="1"/>
              <a:t>promedio</a:t>
            </a:r>
            <a:r>
              <a:rPr lang="en-US" sz="2800" i="1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endParaRPr lang="en-US" sz="2800" i="1" dirty="0"/>
          </a:p>
          <a:p>
            <a:pPr marL="0" indent="0">
              <a:buClr>
                <a:srgbClr val="0000FF"/>
              </a:buClr>
              <a:buNone/>
            </a:pPr>
            <a:endParaRPr lang="en-US" sz="2800" i="1" dirty="0"/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800" dirty="0" err="1"/>
              <a:t>Necesitamos</a:t>
            </a:r>
            <a:r>
              <a:rPr lang="en-US" sz="2800" dirty="0"/>
              <a:t> saber en primer </a:t>
            </a:r>
            <a:r>
              <a:rPr lang="en-US" sz="2800" dirty="0" err="1"/>
              <a:t>lugar</a:t>
            </a:r>
            <a:r>
              <a:rPr lang="en-US" sz="2800" dirty="0"/>
              <a:t> </a:t>
            </a:r>
            <a:r>
              <a:rPr lang="en-US" sz="2800" dirty="0" err="1"/>
              <a:t>cuál</a:t>
            </a:r>
            <a:r>
              <a:rPr lang="en-US" sz="2800" dirty="0"/>
              <a:t> </a:t>
            </a:r>
            <a:r>
              <a:rPr lang="en-US" sz="2800" dirty="0" err="1"/>
              <a:t>es</a:t>
            </a:r>
            <a:r>
              <a:rPr lang="en-US" sz="2800" dirty="0"/>
              <a:t> el </a:t>
            </a:r>
            <a:r>
              <a:rPr lang="en-US" sz="2800" dirty="0" err="1"/>
              <a:t>promedio</a:t>
            </a:r>
            <a:r>
              <a:rPr lang="en-US" sz="2800" dirty="0"/>
              <a:t> de los </a:t>
            </a:r>
            <a:r>
              <a:rPr lang="en-US" sz="2800" dirty="0" err="1"/>
              <a:t>límites</a:t>
            </a:r>
            <a:r>
              <a:rPr lang="en-US" sz="2800" dirty="0"/>
              <a:t> de </a:t>
            </a:r>
            <a:r>
              <a:rPr lang="en-US" sz="2800" dirty="0" err="1"/>
              <a:t>crédito</a:t>
            </a:r>
            <a:r>
              <a:rPr lang="en-US" sz="2800" dirty="0"/>
              <a:t>.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  <p:pic>
        <p:nvPicPr>
          <p:cNvPr id="2" name="Picture 1" descr="Screen Shot 2018-07-17 at 12.12.2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900" y="0"/>
            <a:ext cx="5245100" cy="641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8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91677" y="3053936"/>
            <a:ext cx="102688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SELECT </a:t>
            </a:r>
            <a:r>
              <a:rPr lang="en-US" dirty="0" err="1">
                <a:latin typeface="Consolas"/>
                <a:cs typeface="Consolas"/>
              </a:rPr>
              <a:t>customerNumber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customerName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salesRepEmployeeNumber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creditLimit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FROM customers</a:t>
            </a:r>
          </a:p>
          <a:p>
            <a:r>
              <a:rPr lang="en-US" dirty="0">
                <a:latin typeface="Consolas"/>
                <a:cs typeface="Consolas"/>
              </a:rPr>
              <a:t>WHERE </a:t>
            </a:r>
            <a:r>
              <a:rPr lang="en-US" dirty="0" err="1">
                <a:latin typeface="Consolas"/>
                <a:cs typeface="Consolas"/>
              </a:rPr>
              <a:t>creditLimit</a:t>
            </a:r>
            <a:r>
              <a:rPr lang="en-US" dirty="0">
                <a:latin typeface="Consolas"/>
                <a:cs typeface="Consolas"/>
              </a:rPr>
              <a:t> &gt;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(SELECT AVG(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creditLimit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) 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						 FROM customers);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5091" y="2501050"/>
            <a:ext cx="55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SELECT AVG(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creditLimit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) FROM customers;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4734" y="1869697"/>
            <a:ext cx="8235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solidFill>
                  <a:srgbClr val="000000"/>
                </a:solidFill>
              </a:rPr>
              <a:t>Retorna</a:t>
            </a:r>
            <a:r>
              <a:rPr lang="en-US" sz="2000" i="1" dirty="0">
                <a:solidFill>
                  <a:srgbClr val="000000"/>
                </a:solidFill>
              </a:rPr>
              <a:t> el </a:t>
            </a:r>
            <a:r>
              <a:rPr lang="en-US" sz="2000" i="1" dirty="0" err="1">
                <a:solidFill>
                  <a:srgbClr val="000000"/>
                </a:solidFill>
              </a:rPr>
              <a:t>promedio</a:t>
            </a:r>
            <a:r>
              <a:rPr lang="en-US" sz="2000" i="1" dirty="0">
                <a:solidFill>
                  <a:srgbClr val="000000"/>
                </a:solidFill>
              </a:rPr>
              <a:t> del </a:t>
            </a:r>
            <a:r>
              <a:rPr lang="en-US" sz="2000" i="1" dirty="0" err="1">
                <a:solidFill>
                  <a:srgbClr val="000000"/>
                </a:solidFill>
              </a:rPr>
              <a:t>límite</a:t>
            </a:r>
            <a:r>
              <a:rPr lang="en-US" sz="2000" i="1" dirty="0">
                <a:solidFill>
                  <a:srgbClr val="000000"/>
                </a:solidFill>
              </a:rPr>
              <a:t> de </a:t>
            </a:r>
            <a:r>
              <a:rPr lang="en-US" sz="2000" i="1" dirty="0" err="1">
                <a:solidFill>
                  <a:srgbClr val="000000"/>
                </a:solidFill>
              </a:rPr>
              <a:t>crédito</a:t>
            </a:r>
            <a:r>
              <a:rPr lang="en-US" sz="2000" i="1" dirty="0">
                <a:solidFill>
                  <a:srgbClr val="000000"/>
                </a:solidFill>
              </a:rPr>
              <a:t> de </a:t>
            </a:r>
            <a:r>
              <a:rPr lang="en-US" sz="2000" i="1" dirty="0" err="1">
                <a:solidFill>
                  <a:srgbClr val="000000"/>
                </a:solidFill>
              </a:rPr>
              <a:t>todos</a:t>
            </a:r>
            <a:r>
              <a:rPr lang="en-US" sz="2000" i="1" dirty="0">
                <a:solidFill>
                  <a:srgbClr val="000000"/>
                </a:solidFill>
              </a:rPr>
              <a:t> los </a:t>
            </a:r>
            <a:r>
              <a:rPr lang="en-US" sz="2000" i="1" dirty="0" err="1">
                <a:solidFill>
                  <a:srgbClr val="000000"/>
                </a:solidFill>
              </a:rPr>
              <a:t>clientes</a:t>
            </a:r>
            <a:r>
              <a:rPr lang="en-US" sz="2000" i="1" dirty="0">
                <a:solidFill>
                  <a:srgbClr val="000000"/>
                </a:solidFill>
              </a:rPr>
              <a:t> (un solo valor).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2759" y="4330760"/>
            <a:ext cx="3958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solidFill>
                  <a:srgbClr val="FF6600"/>
                </a:solidFill>
              </a:rPr>
              <a:t>Primero</a:t>
            </a:r>
            <a:r>
              <a:rPr lang="en-US" sz="2000" i="1" dirty="0">
                <a:solidFill>
                  <a:srgbClr val="FF6600"/>
                </a:solidFill>
              </a:rPr>
              <a:t> se </a:t>
            </a:r>
            <a:r>
              <a:rPr lang="en-US" sz="2000" i="1" dirty="0" err="1">
                <a:solidFill>
                  <a:srgbClr val="FF6600"/>
                </a:solidFill>
              </a:rPr>
              <a:t>evalúa</a:t>
            </a:r>
            <a:r>
              <a:rPr lang="en-US" sz="2000" i="1" dirty="0">
                <a:solidFill>
                  <a:srgbClr val="FF6600"/>
                </a:solidFill>
              </a:rPr>
              <a:t> el query </a:t>
            </a:r>
            <a:r>
              <a:rPr lang="en-US" sz="2000" i="1" dirty="0" err="1">
                <a:solidFill>
                  <a:srgbClr val="FF6600"/>
                </a:solidFill>
              </a:rPr>
              <a:t>anidado</a:t>
            </a:r>
            <a:r>
              <a:rPr lang="en-US" sz="2000" i="1" dirty="0">
                <a:solidFill>
                  <a:srgbClr val="FF6600"/>
                </a:solidFill>
              </a:rPr>
              <a:t>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102058" y="3565491"/>
            <a:ext cx="1002296" cy="687916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339237" y="4402133"/>
            <a:ext cx="16830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67659.016393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6756" y="5265120"/>
            <a:ext cx="62546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solidFill>
                  <a:srgbClr val="FF6600"/>
                </a:solidFill>
              </a:rPr>
              <a:t>Luego</a:t>
            </a:r>
            <a:r>
              <a:rPr lang="en-US" sz="2000" i="1" dirty="0">
                <a:solidFill>
                  <a:srgbClr val="FF6600"/>
                </a:solidFill>
              </a:rPr>
              <a:t> se </a:t>
            </a:r>
            <a:r>
              <a:rPr lang="en-US" sz="2000" i="1" dirty="0" err="1">
                <a:solidFill>
                  <a:srgbClr val="FF6600"/>
                </a:solidFill>
              </a:rPr>
              <a:t>verifica</a:t>
            </a:r>
            <a:r>
              <a:rPr lang="en-US" sz="2000" i="1" dirty="0">
                <a:solidFill>
                  <a:srgbClr val="FF6600"/>
                </a:solidFill>
              </a:rPr>
              <a:t> la </a:t>
            </a:r>
            <a:r>
              <a:rPr lang="en-US" sz="2000" i="1" dirty="0" err="1">
                <a:solidFill>
                  <a:srgbClr val="FF6600"/>
                </a:solidFill>
              </a:rPr>
              <a:t>condición</a:t>
            </a:r>
            <a:r>
              <a:rPr lang="en-US" sz="2000" i="1" dirty="0">
                <a:solidFill>
                  <a:srgbClr val="FF6600"/>
                </a:solidFill>
              </a:rPr>
              <a:t> y se </a:t>
            </a:r>
            <a:r>
              <a:rPr lang="en-US" sz="2000" i="1" dirty="0" err="1">
                <a:solidFill>
                  <a:srgbClr val="FF6600"/>
                </a:solidFill>
              </a:rPr>
              <a:t>seleccionan</a:t>
            </a:r>
            <a:r>
              <a:rPr lang="en-US" sz="2000" i="1" dirty="0">
                <a:solidFill>
                  <a:srgbClr val="FF6600"/>
                </a:solidFill>
              </a:rPr>
              <a:t> los </a:t>
            </a:r>
            <a:r>
              <a:rPr lang="en-US" sz="2000" i="1" dirty="0" err="1">
                <a:solidFill>
                  <a:srgbClr val="FF6600"/>
                </a:solidFill>
              </a:rPr>
              <a:t>campos</a:t>
            </a:r>
            <a:r>
              <a:rPr lang="en-US" sz="2000" i="1" dirty="0">
                <a:solidFill>
                  <a:srgbClr val="FF6600"/>
                </a:solidFill>
              </a:rPr>
              <a:t>.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</p:spTree>
    <p:extLst>
      <p:ext uri="{BB962C8B-B14F-4D97-AF65-F5344CB8AC3E}">
        <p14:creationId xmlns:p14="http://schemas.microsoft.com/office/powerpoint/2010/main" val="132420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180768" y="2328308"/>
            <a:ext cx="99647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7933C"/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rgbClr val="77933C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latin typeface="Consolas"/>
                <a:cs typeface="Consolas"/>
              </a:rPr>
              <a:t>customerNumber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customerName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salesRepEmployeeNumber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 -(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AVG(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) </a:t>
            </a:r>
            <a:r>
              <a:rPr lang="en-US" sz="2400" b="1" dirty="0">
                <a:solidFill>
                  <a:srgbClr val="E46C0A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E46C0A"/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costumers) AS DIFERENCIA </a:t>
            </a:r>
          </a:p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</a:t>
            </a:r>
          </a:p>
          <a:p>
            <a:r>
              <a:rPr lang="en-US" sz="2400" b="1" dirty="0">
                <a:solidFill>
                  <a:srgbClr val="77933C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solidFill>
                  <a:srgbClr val="77933C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 &gt; (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AVG(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) </a:t>
            </a:r>
            <a:r>
              <a:rPr lang="en-US" sz="2400" b="1" dirty="0">
                <a:solidFill>
                  <a:srgbClr val="558ED5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558ED5"/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costumers);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</p:spTree>
    <p:extLst>
      <p:ext uri="{BB962C8B-B14F-4D97-AF65-F5344CB8AC3E}">
        <p14:creationId xmlns:p14="http://schemas.microsoft.com/office/powerpoint/2010/main" val="2342783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180768" y="2328308"/>
            <a:ext cx="99647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customerNumber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customerName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salesRepEmployeeNumber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 -(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AVG(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) </a:t>
            </a:r>
            <a:r>
              <a:rPr lang="en-US" sz="2400" b="1" dirty="0">
                <a:solidFill>
                  <a:srgbClr val="E46C0A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E46C0A"/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costumers) AS DIFERENCIA </a:t>
            </a:r>
          </a:p>
          <a:p>
            <a:r>
              <a:rPr lang="en-US" sz="2400" b="1" dirty="0">
                <a:solidFill>
                  <a:srgbClr val="A6A6A6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costumers</a:t>
            </a:r>
          </a:p>
          <a:p>
            <a:r>
              <a:rPr lang="en-US" sz="2400" b="1" dirty="0">
                <a:solidFill>
                  <a:srgbClr val="A6A6A6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solidFill>
                  <a:srgbClr val="A6A6A6"/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&gt; (</a:t>
            </a:r>
            <a:r>
              <a:rPr lang="en-US" sz="2400" b="1" dirty="0">
                <a:solidFill>
                  <a:srgbClr val="A6A6A6"/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AVG(</a:t>
            </a:r>
            <a:r>
              <a:rPr lang="en-US" sz="2400" dirty="0" err="1">
                <a:solidFill>
                  <a:srgbClr val="A6A6A6"/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) </a:t>
            </a:r>
            <a:r>
              <a:rPr lang="en-US" sz="2400" b="1" dirty="0">
                <a:solidFill>
                  <a:srgbClr val="A6A6A6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costumers);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9897" y="5140718"/>
            <a:ext cx="77323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6600"/>
                </a:solidFill>
              </a:rPr>
              <a:t>El </a:t>
            </a:r>
            <a:r>
              <a:rPr lang="en-US" sz="2400" i="1" dirty="0" err="1">
                <a:solidFill>
                  <a:srgbClr val="FF6600"/>
                </a:solidFill>
              </a:rPr>
              <a:t>subquery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retorna</a:t>
            </a:r>
            <a:r>
              <a:rPr lang="en-US" sz="2400" i="1" dirty="0">
                <a:solidFill>
                  <a:srgbClr val="FF6600"/>
                </a:solidFill>
              </a:rPr>
              <a:t> un valor </a:t>
            </a:r>
            <a:r>
              <a:rPr lang="en-US" sz="2400" i="1" dirty="0" err="1">
                <a:solidFill>
                  <a:srgbClr val="FF6600"/>
                </a:solidFill>
              </a:rPr>
              <a:t>por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cada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fila</a:t>
            </a:r>
            <a:r>
              <a:rPr lang="en-US" sz="2400" i="1" dirty="0">
                <a:solidFill>
                  <a:srgbClr val="FF6600"/>
                </a:solidFill>
              </a:rPr>
              <a:t> y </a:t>
            </a:r>
            <a:r>
              <a:rPr lang="en-US" sz="2400" i="1" dirty="0" err="1">
                <a:solidFill>
                  <a:srgbClr val="FF6600"/>
                </a:solidFill>
              </a:rPr>
              <a:t>luego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es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restado</a:t>
            </a:r>
            <a:endParaRPr lang="en-US" sz="2400" i="1" dirty="0">
              <a:solidFill>
                <a:srgbClr val="FF6600"/>
              </a:solidFill>
            </a:endParaRPr>
          </a:p>
          <a:p>
            <a:r>
              <a:rPr lang="en-US" sz="2400" i="1" dirty="0">
                <a:solidFill>
                  <a:srgbClr val="FF6600"/>
                </a:solidFill>
              </a:rPr>
              <a:t>del </a:t>
            </a:r>
            <a:r>
              <a:rPr lang="en-US" sz="2400" i="1" dirty="0" err="1">
                <a:solidFill>
                  <a:srgbClr val="FF6600"/>
                </a:solidFill>
              </a:rPr>
              <a:t>límite</a:t>
            </a:r>
            <a:r>
              <a:rPr lang="en-US" sz="2400" i="1" dirty="0">
                <a:solidFill>
                  <a:srgbClr val="FF6600"/>
                </a:solidFill>
              </a:rPr>
              <a:t> de </a:t>
            </a:r>
            <a:r>
              <a:rPr lang="en-US" sz="2400" i="1" dirty="0" err="1">
                <a:solidFill>
                  <a:srgbClr val="FF6600"/>
                </a:solidFill>
              </a:rPr>
              <a:t>crédito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para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obtener</a:t>
            </a:r>
            <a:r>
              <a:rPr lang="en-US" sz="2400" i="1" dirty="0">
                <a:solidFill>
                  <a:srgbClr val="FF6600"/>
                </a:solidFill>
              </a:rPr>
              <a:t> la </a:t>
            </a:r>
            <a:r>
              <a:rPr lang="en-US" sz="2400" i="1" dirty="0" err="1">
                <a:solidFill>
                  <a:srgbClr val="FF6600"/>
                </a:solidFill>
              </a:rPr>
              <a:t>diferencia</a:t>
            </a:r>
            <a:r>
              <a:rPr lang="en-US" sz="2400" i="1" dirty="0">
                <a:solidFill>
                  <a:srgbClr val="FF66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5339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180768" y="2328308"/>
            <a:ext cx="99647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6A6A6"/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solidFill>
                  <a:srgbClr val="A6A6A6"/>
                </a:solidFill>
                <a:latin typeface="Consolas"/>
                <a:cs typeface="Consolas"/>
              </a:rPr>
              <a:t>customerNumber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rgbClr val="A6A6A6"/>
                </a:solidFill>
                <a:latin typeface="Consolas"/>
                <a:cs typeface="Consolas"/>
              </a:rPr>
              <a:t>customerName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rgbClr val="A6A6A6"/>
                </a:solidFill>
                <a:latin typeface="Consolas"/>
                <a:cs typeface="Consolas"/>
              </a:rPr>
              <a:t>salesRepEmployeeNumber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rgbClr val="A6A6A6"/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rgbClr val="A6A6A6"/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-(</a:t>
            </a:r>
            <a:r>
              <a:rPr lang="en-US" sz="2400" b="1" dirty="0">
                <a:solidFill>
                  <a:srgbClr val="A6A6A6"/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AVG(</a:t>
            </a:r>
            <a:r>
              <a:rPr lang="en-US" sz="2400" dirty="0" err="1">
                <a:solidFill>
                  <a:srgbClr val="A6A6A6"/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) </a:t>
            </a:r>
            <a:r>
              <a:rPr lang="en-US" sz="2400" b="1" dirty="0">
                <a:solidFill>
                  <a:srgbClr val="A6A6A6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costumers) AS DIFERENCIA </a:t>
            </a:r>
          </a:p>
          <a:p>
            <a:r>
              <a:rPr lang="en-US" sz="2400" b="1" dirty="0">
                <a:solidFill>
                  <a:srgbClr val="A6A6A6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costumers</a:t>
            </a:r>
          </a:p>
          <a:p>
            <a:r>
              <a:rPr lang="en-US" sz="2400" b="1" dirty="0">
                <a:solidFill>
                  <a:srgbClr val="A6A6A6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solidFill>
                  <a:srgbClr val="A6A6A6"/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rgbClr val="A6A6A6"/>
                </a:solidFill>
                <a:latin typeface="Consolas"/>
                <a:cs typeface="Consolas"/>
              </a:rPr>
              <a:t> &gt; </a:t>
            </a:r>
            <a:r>
              <a:rPr lang="en-US" sz="2400" dirty="0">
                <a:latin typeface="Consolas"/>
                <a:cs typeface="Consolas"/>
              </a:rPr>
              <a:t>(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AVG(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) </a:t>
            </a:r>
            <a:r>
              <a:rPr lang="en-US" sz="2400" b="1" dirty="0">
                <a:solidFill>
                  <a:srgbClr val="558ED5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558ED5"/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costumers);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9897" y="5140718"/>
            <a:ext cx="9439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6600"/>
                </a:solidFill>
              </a:rPr>
              <a:t>El </a:t>
            </a:r>
            <a:r>
              <a:rPr lang="en-US" sz="2400" i="1" dirty="0" err="1">
                <a:solidFill>
                  <a:srgbClr val="FF6600"/>
                </a:solidFill>
              </a:rPr>
              <a:t>subquery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retorna</a:t>
            </a:r>
            <a:r>
              <a:rPr lang="en-US" sz="2400" i="1" dirty="0">
                <a:solidFill>
                  <a:srgbClr val="FF6600"/>
                </a:solidFill>
              </a:rPr>
              <a:t> el </a:t>
            </a:r>
            <a:r>
              <a:rPr lang="en-US" sz="2400" i="1" dirty="0" err="1">
                <a:solidFill>
                  <a:srgbClr val="FF6600"/>
                </a:solidFill>
              </a:rPr>
              <a:t>promedio</a:t>
            </a:r>
            <a:r>
              <a:rPr lang="en-US" sz="2400" i="1" dirty="0">
                <a:solidFill>
                  <a:srgbClr val="FF6600"/>
                </a:solidFill>
              </a:rPr>
              <a:t> del </a:t>
            </a:r>
            <a:r>
              <a:rPr lang="en-US" sz="2400" i="1" dirty="0" err="1">
                <a:solidFill>
                  <a:srgbClr val="FF6600"/>
                </a:solidFill>
              </a:rPr>
              <a:t>līmite</a:t>
            </a:r>
            <a:r>
              <a:rPr lang="en-US" sz="2400" i="1" dirty="0">
                <a:solidFill>
                  <a:srgbClr val="FF6600"/>
                </a:solidFill>
              </a:rPr>
              <a:t> de </a:t>
            </a:r>
            <a:r>
              <a:rPr lang="en-US" sz="2400" i="1" dirty="0" err="1">
                <a:solidFill>
                  <a:srgbClr val="FF6600"/>
                </a:solidFill>
              </a:rPr>
              <a:t>crédito</a:t>
            </a:r>
            <a:r>
              <a:rPr lang="en-US" sz="2400" i="1" dirty="0">
                <a:solidFill>
                  <a:srgbClr val="FF6600"/>
                </a:solidFill>
              </a:rPr>
              <a:t> de </a:t>
            </a:r>
            <a:r>
              <a:rPr lang="en-US" sz="2400" i="1" dirty="0" err="1">
                <a:solidFill>
                  <a:srgbClr val="FF6600"/>
                </a:solidFill>
              </a:rPr>
              <a:t>todos</a:t>
            </a:r>
            <a:r>
              <a:rPr lang="en-US" sz="2400" i="1" dirty="0">
                <a:solidFill>
                  <a:srgbClr val="FF6600"/>
                </a:solidFill>
              </a:rPr>
              <a:t> los </a:t>
            </a:r>
            <a:r>
              <a:rPr lang="en-US" sz="2400" i="1" dirty="0" err="1">
                <a:solidFill>
                  <a:srgbClr val="FF6600"/>
                </a:solidFill>
              </a:rPr>
              <a:t>clientes</a:t>
            </a:r>
            <a:r>
              <a:rPr lang="en-US" sz="2400" i="1" dirty="0">
                <a:solidFill>
                  <a:srgbClr val="FF66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205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180768" y="2328308"/>
            <a:ext cx="99647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7933C"/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rgbClr val="77933C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latin typeface="Consolas"/>
                <a:cs typeface="Consolas"/>
              </a:rPr>
              <a:t>customerNumber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customerName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salesRepEmployeeNumber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 -(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AVG(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) </a:t>
            </a:r>
            <a:r>
              <a:rPr lang="en-US" sz="2400" b="1" dirty="0">
                <a:solidFill>
                  <a:srgbClr val="E46C0A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E46C0A"/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costumers) AS DIFERENCIA </a:t>
            </a:r>
          </a:p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</a:t>
            </a:r>
          </a:p>
          <a:p>
            <a:r>
              <a:rPr lang="en-US" sz="2400" b="1" dirty="0">
                <a:solidFill>
                  <a:srgbClr val="77933C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solidFill>
                  <a:srgbClr val="77933C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 &gt; (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AVG(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) </a:t>
            </a:r>
            <a:r>
              <a:rPr lang="en-US" sz="2400" b="1" dirty="0">
                <a:solidFill>
                  <a:srgbClr val="558ED5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558ED5"/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costumers);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54715" y="4985953"/>
            <a:ext cx="412599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+mj-lt"/>
              </a:rPr>
              <a:t>Otra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alternativa</a:t>
            </a:r>
            <a:r>
              <a:rPr lang="en-US" sz="2400" dirty="0">
                <a:latin typeface="+mj-lt"/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62132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965880" y="2328308"/>
            <a:ext cx="10714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7933C"/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rgbClr val="77933C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latin typeface="Consolas"/>
                <a:cs typeface="Consolas"/>
              </a:rPr>
              <a:t>customerNumber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customerName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salesRepEmployeeNumber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 – </a:t>
            </a:r>
            <a:r>
              <a:rPr lang="en-US" sz="2400" dirty="0" err="1">
                <a:latin typeface="Consolas"/>
                <a:cs typeface="Consolas"/>
              </a:rPr>
              <a:t>t.promedio</a:t>
            </a:r>
            <a:r>
              <a:rPr lang="en-US" sz="2400" dirty="0">
                <a:latin typeface="Consolas"/>
                <a:cs typeface="Consolas"/>
              </a:rPr>
              <a:t> AS DIFERENCIA </a:t>
            </a:r>
          </a:p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costumers, </a:t>
            </a:r>
          </a:p>
          <a:p>
            <a:r>
              <a:rPr lang="en-US" sz="2400" dirty="0">
                <a:latin typeface="Consolas"/>
                <a:cs typeface="Consolas"/>
              </a:rPr>
              <a:t>     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AVG(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) as </a:t>
            </a:r>
            <a:r>
              <a:rPr lang="en-US" sz="2400" dirty="0" err="1">
                <a:latin typeface="Consolas"/>
                <a:cs typeface="Consolas"/>
              </a:rPr>
              <a:t>promedio</a:t>
            </a:r>
            <a:r>
              <a:rPr lang="en-US" sz="2400" dirty="0">
                <a:latin typeface="Consolas"/>
                <a:cs typeface="Consolas"/>
              </a:rPr>
              <a:t> </a:t>
            </a:r>
            <a:r>
              <a:rPr lang="en-US" sz="2400" b="1" dirty="0">
                <a:solidFill>
                  <a:srgbClr val="E46C0A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E46C0A"/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costumers) t</a:t>
            </a:r>
          </a:p>
          <a:p>
            <a:r>
              <a:rPr lang="en-US" sz="2400" b="1" dirty="0">
                <a:solidFill>
                  <a:srgbClr val="77933C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solidFill>
                  <a:srgbClr val="77933C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 &gt; </a:t>
            </a:r>
            <a:r>
              <a:rPr lang="en-US" sz="2400" dirty="0" err="1">
                <a:latin typeface="Consolas"/>
                <a:cs typeface="Consolas"/>
              </a:rPr>
              <a:t>t.promedio</a:t>
            </a:r>
            <a:r>
              <a:rPr lang="en-US" sz="2400" dirty="0">
                <a:latin typeface="Consolas"/>
                <a:cs typeface="Consolas"/>
              </a:rPr>
              <a:t>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</p:spTree>
    <p:extLst>
      <p:ext uri="{BB962C8B-B14F-4D97-AF65-F5344CB8AC3E}">
        <p14:creationId xmlns:p14="http://schemas.microsoft.com/office/powerpoint/2010/main" val="228330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965880" y="2328308"/>
            <a:ext cx="10714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customerNumber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customerName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salesRepEmployeeNumber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 –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t.promedio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 AS DIFERENCIA </a:t>
            </a:r>
          </a:p>
          <a:p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/>
                <a:cs typeface="Consolas"/>
              </a:rPr>
              <a:t> costumers, </a:t>
            </a:r>
          </a:p>
          <a:p>
            <a:r>
              <a:rPr lang="en-US" sz="2400" dirty="0">
                <a:latin typeface="Consolas"/>
                <a:cs typeface="Consolas"/>
              </a:rPr>
              <a:t>     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AVG(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) as </a:t>
            </a:r>
            <a:r>
              <a:rPr lang="en-US" sz="2400" dirty="0" err="1">
                <a:latin typeface="Consolas"/>
                <a:cs typeface="Consolas"/>
              </a:rPr>
              <a:t>promedio</a:t>
            </a:r>
            <a:r>
              <a:rPr lang="en-US" sz="2400" dirty="0">
                <a:latin typeface="Consolas"/>
                <a:cs typeface="Consolas"/>
              </a:rPr>
              <a:t> </a:t>
            </a:r>
            <a:r>
              <a:rPr lang="en-US" sz="2400" b="1" dirty="0">
                <a:solidFill>
                  <a:srgbClr val="E46C0A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E46C0A"/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latin typeface="Consolas"/>
                <a:cs typeface="Consolas"/>
              </a:rPr>
              <a:t>costumers) t</a:t>
            </a:r>
          </a:p>
          <a:p>
            <a:r>
              <a:rPr lang="en-US" sz="2400" b="1" dirty="0">
                <a:solidFill>
                  <a:srgbClr val="7F7F7F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solidFill>
                  <a:srgbClr val="7F7F7F"/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 &gt; </a:t>
            </a:r>
            <a:r>
              <a:rPr lang="en-US" sz="2400" dirty="0" err="1">
                <a:solidFill>
                  <a:srgbClr val="7F7F7F"/>
                </a:solidFill>
                <a:latin typeface="Consolas"/>
                <a:cs typeface="Consolas"/>
              </a:rPr>
              <a:t>t.promedio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6228" y="5234087"/>
            <a:ext cx="9595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i="1" dirty="0">
                <a:solidFill>
                  <a:srgbClr val="FF6600"/>
                </a:solidFill>
              </a:rPr>
              <a:t>El </a:t>
            </a:r>
            <a:r>
              <a:rPr lang="en-US" sz="2400" i="1" dirty="0" err="1">
                <a:solidFill>
                  <a:srgbClr val="FF6600"/>
                </a:solidFill>
              </a:rPr>
              <a:t>subquery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retorna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una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tabla</a:t>
            </a:r>
            <a:r>
              <a:rPr lang="en-US" sz="2400" i="1" dirty="0">
                <a:solidFill>
                  <a:srgbClr val="FF6600"/>
                </a:solidFill>
              </a:rPr>
              <a:t> con </a:t>
            </a:r>
            <a:r>
              <a:rPr lang="en-US" sz="2400" i="1" dirty="0" err="1">
                <a:solidFill>
                  <a:srgbClr val="FF6600"/>
                </a:solidFill>
              </a:rPr>
              <a:t>una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columna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llamada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promedio</a:t>
            </a:r>
            <a:r>
              <a:rPr lang="en-US" sz="2400" i="1" dirty="0">
                <a:solidFill>
                  <a:srgbClr val="FF6600"/>
                </a:solidFill>
              </a:rPr>
              <a:t> y un valor con el </a:t>
            </a:r>
            <a:r>
              <a:rPr lang="en-US" sz="2400" i="1" dirty="0" err="1">
                <a:solidFill>
                  <a:srgbClr val="FF6600"/>
                </a:solidFill>
              </a:rPr>
              <a:t>promedio</a:t>
            </a:r>
            <a:r>
              <a:rPr lang="en-US" sz="2400" i="1" dirty="0">
                <a:solidFill>
                  <a:srgbClr val="FF6600"/>
                </a:solidFill>
              </a:rPr>
              <a:t> del </a:t>
            </a:r>
            <a:r>
              <a:rPr lang="en-US" sz="2400" i="1" dirty="0" err="1">
                <a:solidFill>
                  <a:srgbClr val="FF6600"/>
                </a:solidFill>
              </a:rPr>
              <a:t>límite</a:t>
            </a:r>
            <a:r>
              <a:rPr lang="en-US" sz="2400" i="1" dirty="0">
                <a:solidFill>
                  <a:srgbClr val="FF6600"/>
                </a:solidFill>
              </a:rPr>
              <a:t> de </a:t>
            </a:r>
            <a:r>
              <a:rPr lang="en-US" sz="2400" i="1" dirty="0" err="1">
                <a:solidFill>
                  <a:srgbClr val="FF6600"/>
                </a:solidFill>
              </a:rPr>
              <a:t>crédito</a:t>
            </a:r>
            <a:r>
              <a:rPr lang="en-US" sz="2400" i="1" dirty="0">
                <a:solidFill>
                  <a:srgbClr val="FF66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0211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965880" y="2328308"/>
            <a:ext cx="10714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F7F7F"/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solidFill>
                  <a:srgbClr val="7F7F7F"/>
                </a:solidFill>
                <a:latin typeface="Consolas"/>
                <a:cs typeface="Consolas"/>
              </a:rPr>
              <a:t>customerNumber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rgbClr val="7F7F7F"/>
                </a:solidFill>
                <a:latin typeface="Consolas"/>
                <a:cs typeface="Consolas"/>
              </a:rPr>
              <a:t>customerName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rgbClr val="7F7F7F"/>
                </a:solidFill>
                <a:latin typeface="Consolas"/>
                <a:cs typeface="Consolas"/>
              </a:rPr>
              <a:t>salesRepEmployeeNumber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solidFill>
                  <a:srgbClr val="7F7F7F"/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,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 – </a:t>
            </a:r>
            <a:r>
              <a:rPr lang="en-US" sz="2400" dirty="0" err="1">
                <a:latin typeface="Consolas"/>
                <a:cs typeface="Consolas"/>
              </a:rPr>
              <a:t>t.promedio</a:t>
            </a:r>
            <a:r>
              <a:rPr lang="en-US" sz="2400" dirty="0">
                <a:latin typeface="Consolas"/>
                <a:cs typeface="Consolas"/>
              </a:rPr>
              <a:t> 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AS DIFERENCIA </a:t>
            </a:r>
          </a:p>
          <a:p>
            <a:r>
              <a:rPr lang="en-US" sz="2400" b="1" dirty="0">
                <a:solidFill>
                  <a:srgbClr val="7F7F7F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 costumers, </a:t>
            </a:r>
          </a:p>
          <a:p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     (</a:t>
            </a:r>
            <a:r>
              <a:rPr lang="en-US" sz="2400" b="1" dirty="0">
                <a:solidFill>
                  <a:srgbClr val="7F7F7F"/>
                </a:solidFill>
                <a:latin typeface="Consolas"/>
                <a:cs typeface="Consolas"/>
              </a:rPr>
              <a:t>SELECT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 AVG(</a:t>
            </a:r>
            <a:r>
              <a:rPr lang="en-US" sz="2400" dirty="0" err="1">
                <a:solidFill>
                  <a:srgbClr val="7F7F7F"/>
                </a:solidFill>
                <a:latin typeface="Consolas"/>
                <a:cs typeface="Consolas"/>
              </a:rPr>
              <a:t>creditLimit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) as </a:t>
            </a:r>
            <a:r>
              <a:rPr lang="en-US" sz="2400" dirty="0" err="1">
                <a:latin typeface="Consolas"/>
                <a:cs typeface="Consolas"/>
              </a:rPr>
              <a:t>promedio</a:t>
            </a:r>
            <a:r>
              <a:rPr lang="en-US" sz="2400" dirty="0">
                <a:latin typeface="Consolas"/>
                <a:cs typeface="Consolas"/>
              </a:rPr>
              <a:t> </a:t>
            </a:r>
            <a:r>
              <a:rPr lang="en-US" sz="2400" b="1" dirty="0">
                <a:solidFill>
                  <a:srgbClr val="7F7F7F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solidFill>
                  <a:srgbClr val="7F7F7F"/>
                </a:solidFill>
                <a:latin typeface="Consolas"/>
                <a:cs typeface="Consolas"/>
              </a:rPr>
              <a:t> costumers) t</a:t>
            </a:r>
          </a:p>
          <a:p>
            <a:r>
              <a:rPr lang="en-US" sz="2400" b="1" dirty="0">
                <a:solidFill>
                  <a:srgbClr val="7F7F7F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solidFill>
                  <a:srgbClr val="77933C"/>
                </a:solidFill>
                <a:latin typeface="Consolas"/>
                <a:cs typeface="Consolas"/>
              </a:rPr>
              <a:t> </a:t>
            </a:r>
            <a:r>
              <a:rPr lang="en-US" sz="2400" dirty="0" err="1">
                <a:latin typeface="Consolas"/>
                <a:cs typeface="Consolas"/>
              </a:rPr>
              <a:t>creditLimit</a:t>
            </a:r>
            <a:r>
              <a:rPr lang="en-US" sz="2400" dirty="0">
                <a:latin typeface="Consolas"/>
                <a:cs typeface="Consolas"/>
              </a:rPr>
              <a:t> &gt; </a:t>
            </a:r>
            <a:r>
              <a:rPr lang="en-US" sz="2400" dirty="0" err="1">
                <a:latin typeface="Consolas"/>
                <a:cs typeface="Consolas"/>
              </a:rPr>
              <a:t>t.promedio</a:t>
            </a:r>
            <a:r>
              <a:rPr lang="en-US" sz="2400" dirty="0">
                <a:latin typeface="Consolas"/>
                <a:cs typeface="Consolas"/>
              </a:rPr>
              <a:t>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3850" y="5159391"/>
            <a:ext cx="7727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i="1" dirty="0">
                <a:solidFill>
                  <a:srgbClr val="FF6600"/>
                </a:solidFill>
              </a:rPr>
              <a:t>El valor con el </a:t>
            </a:r>
            <a:r>
              <a:rPr lang="en-US" sz="2400" i="1" dirty="0" err="1">
                <a:solidFill>
                  <a:srgbClr val="FF6600"/>
                </a:solidFill>
              </a:rPr>
              <a:t>promedio</a:t>
            </a:r>
            <a:r>
              <a:rPr lang="en-US" sz="2400" i="1" dirty="0">
                <a:solidFill>
                  <a:srgbClr val="FF6600"/>
                </a:solidFill>
              </a:rPr>
              <a:t> del </a:t>
            </a:r>
            <a:r>
              <a:rPr lang="en-US" sz="2400" i="1" dirty="0" err="1">
                <a:solidFill>
                  <a:srgbClr val="FF6600"/>
                </a:solidFill>
              </a:rPr>
              <a:t>límite</a:t>
            </a:r>
            <a:r>
              <a:rPr lang="en-US" sz="2400" i="1" dirty="0">
                <a:solidFill>
                  <a:srgbClr val="FF6600"/>
                </a:solidFill>
              </a:rPr>
              <a:t> de </a:t>
            </a:r>
            <a:r>
              <a:rPr lang="en-US" sz="2400" i="1" dirty="0" err="1">
                <a:solidFill>
                  <a:srgbClr val="FF6600"/>
                </a:solidFill>
              </a:rPr>
              <a:t>crédito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es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utilizado</a:t>
            </a:r>
            <a:r>
              <a:rPr lang="en-US" sz="2400" i="1" dirty="0">
                <a:solidFill>
                  <a:srgbClr val="FF6600"/>
                </a:solidFill>
              </a:rPr>
              <a:t> </a:t>
            </a:r>
            <a:r>
              <a:rPr lang="en-US" sz="2400" i="1" dirty="0" err="1">
                <a:solidFill>
                  <a:srgbClr val="FF6600"/>
                </a:solidFill>
              </a:rPr>
              <a:t>para</a:t>
            </a:r>
            <a:r>
              <a:rPr lang="en-US" sz="2400" i="1" dirty="0">
                <a:solidFill>
                  <a:srgbClr val="FF6600"/>
                </a:solidFill>
              </a:rPr>
              <a:t> la </a:t>
            </a:r>
            <a:r>
              <a:rPr lang="en-US" sz="2400" i="1" dirty="0" err="1">
                <a:solidFill>
                  <a:srgbClr val="FF6600"/>
                </a:solidFill>
              </a:rPr>
              <a:t>diferencia</a:t>
            </a:r>
            <a:r>
              <a:rPr lang="en-US" sz="2400" i="1" dirty="0">
                <a:solidFill>
                  <a:srgbClr val="FF6600"/>
                </a:solidFill>
              </a:rPr>
              <a:t> y </a:t>
            </a:r>
            <a:r>
              <a:rPr lang="en-US" sz="2400" i="1" dirty="0" err="1">
                <a:solidFill>
                  <a:srgbClr val="FF6600"/>
                </a:solidFill>
              </a:rPr>
              <a:t>condición</a:t>
            </a:r>
            <a:r>
              <a:rPr lang="en-US" sz="2400" i="1" dirty="0">
                <a:solidFill>
                  <a:srgbClr val="FF66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1715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NULLS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403830" cy="1143000"/>
          </a:xfrm>
        </p:spPr>
        <p:txBody>
          <a:bodyPr/>
          <a:lstStyle/>
          <a:p>
            <a:r>
              <a:rPr lang="en-US" sz="3600" dirty="0"/>
              <a:t>2.6 CUANTIFICADORES, NULLS Y TIPOS DE JOINS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867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48719"/>
            <a:ext cx="10515600" cy="4379414"/>
          </a:xfrm>
        </p:spPr>
        <p:txBody>
          <a:bodyPr>
            <a:noAutofit/>
          </a:bodyPr>
          <a:lstStyle/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vez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no se </a:t>
            </a:r>
            <a:r>
              <a:rPr lang="en-US" sz="2800" dirty="0" err="1"/>
              <a:t>tenga</a:t>
            </a:r>
            <a:r>
              <a:rPr lang="en-US" sz="2800" dirty="0"/>
              <a:t> un valor, </a:t>
            </a:r>
            <a:r>
              <a:rPr lang="en-US" sz="2800" dirty="0" err="1"/>
              <a:t>usamos</a:t>
            </a:r>
            <a:r>
              <a:rPr lang="en-US" sz="2800" dirty="0"/>
              <a:t> NULL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n-US" sz="2800" dirty="0" err="1"/>
              <a:t>Puede</a:t>
            </a:r>
            <a:r>
              <a:rPr lang="en-US" sz="2800" dirty="0"/>
              <a:t> </a:t>
            </a:r>
            <a:r>
              <a:rPr lang="en-US" sz="2800" dirty="0" err="1"/>
              <a:t>significar</a:t>
            </a:r>
            <a:r>
              <a:rPr lang="en-US" sz="2800" dirty="0"/>
              <a:t> </a:t>
            </a:r>
            <a:r>
              <a:rPr lang="en-US" sz="2800" dirty="0" err="1"/>
              <a:t>muchas</a:t>
            </a:r>
            <a:r>
              <a:rPr lang="en-US" sz="2800" dirty="0"/>
              <a:t> </a:t>
            </a:r>
            <a:r>
              <a:rPr lang="en-US" sz="2800" dirty="0" err="1"/>
              <a:t>cosas</a:t>
            </a:r>
            <a:r>
              <a:rPr lang="en-US" sz="2800" dirty="0"/>
              <a:t>:</a:t>
            </a:r>
          </a:p>
          <a:p>
            <a:pPr lvl="2">
              <a:buClr>
                <a:srgbClr val="0000FF"/>
              </a:buClr>
              <a:buFont typeface="Wingdings" charset="2"/>
              <a:buChar char="Ø"/>
            </a:pPr>
            <a:r>
              <a:rPr lang="en-US" sz="2400" dirty="0"/>
              <a:t>Valor no </a:t>
            </a:r>
            <a:r>
              <a:rPr lang="en-US" sz="2400" dirty="0" err="1"/>
              <a:t>existe</a:t>
            </a:r>
            <a:endParaRPr lang="en-US" sz="2400" dirty="0"/>
          </a:p>
          <a:p>
            <a:pPr lvl="2">
              <a:buClr>
                <a:srgbClr val="0000FF"/>
              </a:buClr>
              <a:buFont typeface="Wingdings" charset="2"/>
              <a:buChar char="Ø"/>
            </a:pPr>
            <a:r>
              <a:rPr lang="en-US" sz="2400" dirty="0"/>
              <a:t>Valor </a:t>
            </a:r>
            <a:r>
              <a:rPr lang="en-US" sz="2400" dirty="0" err="1"/>
              <a:t>existe</a:t>
            </a:r>
            <a:r>
              <a:rPr lang="en-US" sz="2400" dirty="0"/>
              <a:t> </a:t>
            </a:r>
            <a:r>
              <a:rPr lang="en-US" sz="2400" dirty="0" err="1"/>
              <a:t>pero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desconocido</a:t>
            </a:r>
            <a:endParaRPr lang="en-US" sz="2400" dirty="0"/>
          </a:p>
          <a:p>
            <a:pPr lvl="2">
              <a:buClr>
                <a:srgbClr val="0000FF"/>
              </a:buClr>
              <a:buFont typeface="Wingdings" charset="2"/>
              <a:buChar char="Ø"/>
            </a:pPr>
            <a:r>
              <a:rPr lang="en-US" sz="2400" dirty="0"/>
              <a:t>Valor no </a:t>
            </a:r>
            <a:r>
              <a:rPr lang="en-US" sz="2400" dirty="0" err="1"/>
              <a:t>aplicable</a:t>
            </a:r>
            <a:endParaRPr lang="en-US" sz="2400" dirty="0"/>
          </a:p>
          <a:p>
            <a:pPr lvl="2">
              <a:buClr>
                <a:srgbClr val="0000FF"/>
              </a:buClr>
              <a:buFont typeface="Wingdings" charset="2"/>
              <a:buChar char="Ø"/>
            </a:pPr>
            <a:r>
              <a:rPr lang="en-US" sz="2400" dirty="0"/>
              <a:t>Etc.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n-US" sz="2800" dirty="0"/>
              <a:t>El </a:t>
            </a:r>
            <a:r>
              <a:rPr lang="en-US" sz="2800" dirty="0" err="1"/>
              <a:t>esquema</a:t>
            </a:r>
            <a:r>
              <a:rPr lang="en-US" sz="2800" dirty="0"/>
              <a:t> </a:t>
            </a:r>
            <a:r>
              <a:rPr lang="en-US" sz="2800" dirty="0" err="1"/>
              <a:t>especifica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</a:t>
            </a: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atributo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puede</a:t>
            </a:r>
            <a:r>
              <a:rPr lang="en-US" sz="2800" dirty="0"/>
              <a:t> </a:t>
            </a:r>
            <a:r>
              <a:rPr lang="en-US" sz="2800" dirty="0" err="1"/>
              <a:t>ser</a:t>
            </a:r>
            <a:r>
              <a:rPr lang="en-US" sz="2800" dirty="0"/>
              <a:t> o no null.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n-US" sz="2800" dirty="0" err="1"/>
              <a:t>Cómo</a:t>
            </a:r>
            <a:r>
              <a:rPr lang="en-US" sz="2800" dirty="0"/>
              <a:t> SQL </a:t>
            </a:r>
            <a:r>
              <a:rPr lang="en-US" sz="2800" dirty="0" err="1"/>
              <a:t>usan</a:t>
            </a:r>
            <a:r>
              <a:rPr lang="en-US" sz="2800" dirty="0"/>
              <a:t> los </a:t>
            </a:r>
            <a:r>
              <a:rPr lang="en-US" sz="2800" dirty="0" err="1"/>
              <a:t>valores</a:t>
            </a:r>
            <a:r>
              <a:rPr lang="en-US" sz="2800" dirty="0"/>
              <a:t> de NULLs en </a:t>
            </a:r>
            <a:r>
              <a:rPr lang="en-US" sz="2800" dirty="0" err="1"/>
              <a:t>las</a:t>
            </a:r>
            <a:r>
              <a:rPr lang="en-US" sz="2800" dirty="0"/>
              <a:t> </a:t>
            </a:r>
            <a:r>
              <a:rPr lang="en-US" sz="2800" dirty="0" err="1"/>
              <a:t>tablas</a:t>
            </a:r>
            <a:r>
              <a:rPr lang="en-US" sz="2800" dirty="0"/>
              <a:t>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NULLs EN SQL</a:t>
            </a:r>
          </a:p>
        </p:txBody>
      </p:sp>
    </p:spTree>
    <p:extLst>
      <p:ext uri="{BB962C8B-B14F-4D97-AF65-F5344CB8AC3E}">
        <p14:creationId xmlns:p14="http://schemas.microsoft.com/office/powerpoint/2010/main" val="262372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1CAB3F50-4467-4A37-BA73-98C64D7E28FF}" type="slidenum">
              <a:rPr lang="en-US"/>
              <a:pPr/>
              <a:t>24</a:t>
            </a:fld>
            <a:endParaRPr 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n-US" i="1" dirty="0">
                <a:latin typeface="Menlo Bold"/>
                <a:cs typeface="Menlo Bold"/>
              </a:rPr>
              <a:t>Para </a:t>
            </a:r>
            <a:r>
              <a:rPr lang="en-US" sz="2400" dirty="0" err="1">
                <a:solidFill>
                  <a:schemeClr val="accent2"/>
                </a:solidFill>
                <a:latin typeface="Menlo Bold"/>
                <a:ea typeface="Menlo" charset="0"/>
                <a:cs typeface="Menlo Bold"/>
              </a:rPr>
              <a:t>operaciones</a:t>
            </a:r>
            <a:r>
              <a:rPr lang="en-US" i="1" dirty="0">
                <a:latin typeface="Menlo Bold"/>
                <a:cs typeface="Menlo Bold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Menlo Bold"/>
                <a:ea typeface="Menlo" charset="0"/>
                <a:cs typeface="Menlo Bold"/>
              </a:rPr>
              <a:t>numéricas</a:t>
            </a:r>
            <a:r>
              <a:rPr lang="en-US" i="1" dirty="0">
                <a:latin typeface="Menlo Bold"/>
                <a:cs typeface="Menlo Bold"/>
              </a:rPr>
              <a:t>, </a:t>
            </a:r>
            <a:r>
              <a:rPr lang="en-US" dirty="0">
                <a:latin typeface="Menlo Bold"/>
                <a:cs typeface="Menlo Bold"/>
              </a:rPr>
              <a:t>NULL -&gt; NULL:</a:t>
            </a:r>
          </a:p>
          <a:p>
            <a:pPr lvl="1">
              <a:buClr>
                <a:srgbClr val="0000FF"/>
              </a:buClr>
              <a:buFont typeface="Wingdings" charset="2"/>
              <a:buChar char="Ø"/>
            </a:pPr>
            <a:r>
              <a:rPr lang="en-US" dirty="0">
                <a:latin typeface="Menlo Bold"/>
                <a:cs typeface="Menlo Bold"/>
              </a:rPr>
              <a:t>Si x = NULL y se </a:t>
            </a:r>
            <a:r>
              <a:rPr lang="en-US" dirty="0" err="1">
                <a:latin typeface="Menlo Bold"/>
                <a:cs typeface="Menlo Bold"/>
              </a:rPr>
              <a:t>realiza</a:t>
            </a:r>
            <a:r>
              <a:rPr lang="en-US" dirty="0">
                <a:latin typeface="Menlo Bold"/>
                <a:cs typeface="Menlo Bold"/>
              </a:rPr>
              <a:t> la </a:t>
            </a:r>
            <a:r>
              <a:rPr lang="en-US" dirty="0" err="1">
                <a:latin typeface="Menlo Bold"/>
                <a:cs typeface="Menlo Bold"/>
              </a:rPr>
              <a:t>operación</a:t>
            </a:r>
            <a:r>
              <a:rPr lang="en-US" dirty="0">
                <a:latin typeface="Menlo Bold"/>
                <a:cs typeface="Menlo Bold"/>
              </a:rPr>
              <a:t> 4*(3-x)/7 </a:t>
            </a:r>
          </a:p>
          <a:p>
            <a:pPr lvl="1">
              <a:buClr>
                <a:srgbClr val="0000FF"/>
              </a:buClr>
              <a:buFont typeface="Wingdings" charset="2"/>
              <a:buChar char="Ø"/>
            </a:pPr>
            <a:r>
              <a:rPr lang="en-US" dirty="0">
                <a:latin typeface="Menlo Bold"/>
                <a:cs typeface="Menlo Bold"/>
              </a:rPr>
              <a:t>el </a:t>
            </a:r>
            <a:r>
              <a:rPr lang="en-US" dirty="0" err="1">
                <a:latin typeface="Menlo Bold"/>
                <a:cs typeface="Menlo Bold"/>
              </a:rPr>
              <a:t>resultado</a:t>
            </a:r>
            <a:r>
              <a:rPr lang="en-US" dirty="0">
                <a:latin typeface="Menlo Bold"/>
                <a:cs typeface="Menlo Bold"/>
              </a:rPr>
              <a:t> </a:t>
            </a:r>
            <a:r>
              <a:rPr lang="en-US" dirty="0" err="1">
                <a:latin typeface="Menlo Bold"/>
                <a:cs typeface="Menlo Bold"/>
              </a:rPr>
              <a:t>sigue</a:t>
            </a:r>
            <a:r>
              <a:rPr lang="en-US" dirty="0">
                <a:latin typeface="Menlo Bold"/>
                <a:cs typeface="Menlo Bold"/>
              </a:rPr>
              <a:t> </a:t>
            </a:r>
            <a:r>
              <a:rPr lang="en-US" dirty="0" err="1">
                <a:latin typeface="Menlo Bold"/>
                <a:cs typeface="Menlo Bold"/>
              </a:rPr>
              <a:t>siendo</a:t>
            </a:r>
            <a:r>
              <a:rPr lang="en-US" dirty="0">
                <a:latin typeface="Menlo Bold"/>
                <a:cs typeface="Menlo Bold"/>
              </a:rPr>
              <a:t> NULL</a:t>
            </a:r>
          </a:p>
          <a:p>
            <a:pPr marL="0" indent="0">
              <a:buClr>
                <a:srgbClr val="0000FF"/>
              </a:buClr>
              <a:buNone/>
            </a:pPr>
            <a:endParaRPr lang="en-US" dirty="0">
              <a:latin typeface="Menlo Bold"/>
              <a:cs typeface="Menlo Bold"/>
            </a:endParaRP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n-US" i="1" dirty="0">
                <a:latin typeface="Menlo Bold"/>
                <a:cs typeface="Menlo Bold"/>
              </a:rPr>
              <a:t>Para </a:t>
            </a:r>
            <a:r>
              <a:rPr lang="en-US" sz="2400" dirty="0" err="1">
                <a:solidFill>
                  <a:schemeClr val="accent2"/>
                </a:solidFill>
                <a:latin typeface="Menlo Bold"/>
                <a:ea typeface="Menlo" charset="0"/>
                <a:cs typeface="Menlo Bold"/>
              </a:rPr>
              <a:t>operaciones</a:t>
            </a:r>
            <a:r>
              <a:rPr lang="en-US" sz="2400" dirty="0">
                <a:solidFill>
                  <a:schemeClr val="accent2"/>
                </a:solidFill>
                <a:latin typeface="Menlo Bold"/>
                <a:ea typeface="Menlo" charset="0"/>
                <a:cs typeface="Menlo Bold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Menlo Bold"/>
                <a:ea typeface="Menlo" charset="0"/>
                <a:cs typeface="Menlo Bold"/>
              </a:rPr>
              <a:t>booleanas</a:t>
            </a:r>
            <a:r>
              <a:rPr lang="en-US" i="1" dirty="0">
                <a:latin typeface="Menlo Bold"/>
                <a:cs typeface="Menlo Bold"/>
              </a:rPr>
              <a:t>, </a:t>
            </a:r>
            <a:r>
              <a:rPr lang="en-US" dirty="0">
                <a:latin typeface="Menlo Bold"/>
                <a:cs typeface="Menlo Bold"/>
              </a:rPr>
              <a:t>en SQL hay 3 </a:t>
            </a:r>
            <a:r>
              <a:rPr lang="en-US" dirty="0" err="1">
                <a:latin typeface="Menlo Bold"/>
                <a:cs typeface="Menlo Bold"/>
              </a:rPr>
              <a:t>valores</a:t>
            </a:r>
            <a:r>
              <a:rPr lang="en-US" dirty="0">
                <a:latin typeface="Menlo Bold"/>
                <a:cs typeface="Menlo Bold"/>
              </a:rPr>
              <a:t>:</a:t>
            </a:r>
            <a:endParaRPr lang="en-US" b="1" dirty="0">
              <a:latin typeface="Menlo Bold"/>
              <a:cs typeface="Menlo Bold"/>
            </a:endParaRPr>
          </a:p>
          <a:p>
            <a:pPr lvl="1">
              <a:buClr>
                <a:srgbClr val="0000FF"/>
              </a:buClr>
              <a:buFont typeface="Wingdings" charset="2"/>
              <a:buChar char="Ø"/>
            </a:pPr>
            <a:r>
              <a:rPr lang="en-US" b="1" dirty="0">
                <a:latin typeface="Menlo Bold"/>
                <a:cs typeface="Menlo Bold"/>
              </a:rPr>
              <a:t>FALSE      = 0</a:t>
            </a:r>
          </a:p>
          <a:p>
            <a:pPr lvl="1">
              <a:buClr>
                <a:srgbClr val="0000FF"/>
              </a:buClr>
              <a:buFont typeface="Wingdings" charset="2"/>
              <a:buChar char="Ø"/>
            </a:pPr>
            <a:r>
              <a:rPr lang="en-US" b="1" dirty="0">
                <a:latin typeface="Menlo Bold"/>
                <a:cs typeface="Menlo Bold"/>
              </a:rPr>
              <a:t>UNKNOWN    = 0.5</a:t>
            </a:r>
          </a:p>
          <a:p>
            <a:pPr lvl="1">
              <a:buClr>
                <a:srgbClr val="0000FF"/>
              </a:buClr>
              <a:buFont typeface="Wingdings" charset="2"/>
              <a:buChar char="Ø"/>
            </a:pPr>
            <a:r>
              <a:rPr lang="en-US" b="1" dirty="0">
                <a:latin typeface="Menlo Bold"/>
                <a:cs typeface="Menlo Bold"/>
              </a:rPr>
              <a:t>TRUE       = 1</a:t>
            </a:r>
          </a:p>
          <a:p>
            <a:pPr lvl="1">
              <a:buClr>
                <a:srgbClr val="0000FF"/>
              </a:buClr>
              <a:buFont typeface="Wingdings" charset="2"/>
              <a:buChar char="Ø"/>
            </a:pPr>
            <a:endParaRPr lang="en-US" b="1" dirty="0">
              <a:latin typeface="Menlo Bold"/>
              <a:cs typeface="Menlo Bold"/>
            </a:endParaRPr>
          </a:p>
          <a:p>
            <a:pPr lvl="1">
              <a:buClr>
                <a:srgbClr val="0000FF"/>
              </a:buClr>
              <a:buFont typeface="Wingdings" charset="2"/>
              <a:buChar char="Ø"/>
            </a:pPr>
            <a:r>
              <a:rPr lang="en-US" dirty="0" err="1">
                <a:latin typeface="Menlo Bold"/>
                <a:cs typeface="Menlo Bold"/>
              </a:rPr>
              <a:t>Ej</a:t>
            </a:r>
            <a:r>
              <a:rPr lang="en-US" dirty="0">
                <a:latin typeface="Menlo Bold"/>
                <a:cs typeface="Menlo Bold"/>
              </a:rPr>
              <a:t>: Si x= NULL y se </a:t>
            </a:r>
            <a:r>
              <a:rPr lang="en-US" dirty="0" err="1">
                <a:latin typeface="Menlo Bold"/>
                <a:cs typeface="Menlo Bold"/>
              </a:rPr>
              <a:t>envía</a:t>
            </a:r>
            <a:r>
              <a:rPr lang="en-US" dirty="0">
                <a:latin typeface="Menlo Bold"/>
                <a:cs typeface="Menlo Bold"/>
              </a:rPr>
              <a:t> a </a:t>
            </a:r>
            <a:r>
              <a:rPr lang="en-US" dirty="0" err="1">
                <a:latin typeface="Menlo Bold"/>
                <a:cs typeface="Menlo Bold"/>
              </a:rPr>
              <a:t>analizar</a:t>
            </a:r>
            <a:r>
              <a:rPr lang="en-US" dirty="0">
                <a:latin typeface="Menlo Bold"/>
                <a:cs typeface="Menlo Bold"/>
              </a:rPr>
              <a:t> “Joe” en x</a:t>
            </a:r>
          </a:p>
          <a:p>
            <a:pPr lvl="1">
              <a:buClr>
                <a:srgbClr val="0000FF"/>
              </a:buClr>
              <a:buFont typeface="Wingdings" charset="2"/>
              <a:buChar char="Ø"/>
            </a:pPr>
            <a:r>
              <a:rPr lang="en-US" dirty="0">
                <a:latin typeface="Menlo Bold"/>
                <a:cs typeface="Menlo Bold"/>
              </a:rPr>
              <a:t>El </a:t>
            </a:r>
            <a:r>
              <a:rPr lang="en-US" dirty="0" err="1">
                <a:latin typeface="Menlo Bold"/>
                <a:cs typeface="Menlo Bold"/>
              </a:rPr>
              <a:t>resultado</a:t>
            </a:r>
            <a:r>
              <a:rPr lang="en-US" dirty="0">
                <a:latin typeface="Menlo Bold"/>
                <a:cs typeface="Menlo Bold"/>
              </a:rPr>
              <a:t> </a:t>
            </a:r>
            <a:r>
              <a:rPr lang="en-US" dirty="0" err="1">
                <a:latin typeface="Menlo Bold"/>
                <a:cs typeface="Menlo Bold"/>
              </a:rPr>
              <a:t>es</a:t>
            </a:r>
            <a:r>
              <a:rPr lang="en-US" dirty="0">
                <a:latin typeface="Menlo Bold"/>
                <a:cs typeface="Menlo Bold"/>
              </a:rPr>
              <a:t> UNKNOWN</a:t>
            </a:r>
          </a:p>
          <a:p>
            <a:pPr lvl="1">
              <a:buClr>
                <a:srgbClr val="0000FF"/>
              </a:buClr>
              <a:buFont typeface="Wingdings" charset="2"/>
              <a:buChar char="Ø"/>
            </a:pP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VALORES NULLs</a:t>
            </a:r>
          </a:p>
        </p:txBody>
      </p:sp>
    </p:spTree>
    <p:extLst>
      <p:ext uri="{BB962C8B-B14F-4D97-AF65-F5344CB8AC3E}">
        <p14:creationId xmlns:p14="http://schemas.microsoft.com/office/powerpoint/2010/main" val="23714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93C33BD-9F88-4F66-8FF8-5370184D3722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Valores</a:t>
            </a:r>
            <a:r>
              <a:rPr lang="en-US" dirty="0"/>
              <a:t> NULL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44" y="1793054"/>
            <a:ext cx="7411156" cy="3327400"/>
          </a:xfrm>
        </p:spPr>
        <p:txBody>
          <a:bodyPr/>
          <a:lstStyle/>
          <a:p>
            <a:r>
              <a:rPr lang="en-US" dirty="0"/>
              <a:t>C1 AND C2  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min(C1, C2)</a:t>
            </a:r>
          </a:p>
          <a:p>
            <a:r>
              <a:rPr lang="en-US" dirty="0"/>
              <a:t>C1  OR   C2  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max(C1, C2)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2088444" y="3355623"/>
            <a:ext cx="6299471" cy="14280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*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Persona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edad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&lt; 25)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AND 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altura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 6 AND peso &gt; 190)</a:t>
            </a:r>
          </a:p>
        </p:txBody>
      </p:sp>
      <p:sp>
        <p:nvSpPr>
          <p:cNvPr id="182277" name="Text Box 5"/>
          <p:cNvSpPr txBox="1">
            <a:spLocks noChangeArrowheads="1"/>
          </p:cNvSpPr>
          <p:nvPr/>
        </p:nvSpPr>
        <p:spPr bwMode="auto">
          <a:xfrm>
            <a:off x="9257205" y="3200112"/>
            <a:ext cx="1454244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000" dirty="0" err="1">
                <a:latin typeface="+mj-lt"/>
              </a:rPr>
              <a:t>Ej</a:t>
            </a:r>
            <a:r>
              <a:rPr lang="en-US" sz="2000" dirty="0">
                <a:latin typeface="+mj-lt"/>
              </a:rPr>
              <a:t>:</a:t>
            </a:r>
            <a:br>
              <a:rPr lang="en-US" sz="2000" dirty="0">
                <a:latin typeface="+mj-lt"/>
              </a:rPr>
            </a:br>
            <a:r>
              <a:rPr lang="en-US" sz="2000" dirty="0" err="1">
                <a:latin typeface="+mj-lt"/>
              </a:rPr>
              <a:t>edad</a:t>
            </a:r>
            <a:r>
              <a:rPr lang="en-US" sz="2000" dirty="0">
                <a:latin typeface="+mj-lt"/>
              </a:rPr>
              <a:t>=20</a:t>
            </a:r>
            <a:br>
              <a:rPr lang="en-US" sz="2000" dirty="0">
                <a:latin typeface="+mj-lt"/>
              </a:rPr>
            </a:br>
            <a:r>
              <a:rPr lang="en-US" sz="2000" dirty="0" err="1">
                <a:latin typeface="+mj-lt"/>
              </a:rPr>
              <a:t>altura</a:t>
            </a:r>
            <a:r>
              <a:rPr lang="en-US" sz="2000" dirty="0">
                <a:latin typeface="+mj-lt"/>
              </a:rPr>
              <a:t>=NULL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peso=200</a:t>
            </a:r>
          </a:p>
        </p:txBody>
      </p:sp>
      <p:sp>
        <p:nvSpPr>
          <p:cNvPr id="2" name="Rectangle 1"/>
          <p:cNvSpPr/>
          <p:nvPr/>
        </p:nvSpPr>
        <p:spPr>
          <a:xfrm>
            <a:off x="1006549" y="5609356"/>
            <a:ext cx="978570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sz="2400" dirty="0" err="1">
                <a:latin typeface="+mj-lt"/>
              </a:rPr>
              <a:t>Regla</a:t>
            </a:r>
            <a:r>
              <a:rPr lang="en-US" sz="2400" dirty="0">
                <a:latin typeface="+mj-lt"/>
              </a:rPr>
              <a:t> en SQL: </a:t>
            </a:r>
            <a:r>
              <a:rPr lang="en-US" sz="2400" dirty="0" err="1">
                <a:latin typeface="+mj-lt"/>
              </a:rPr>
              <a:t>incluye</a:t>
            </a:r>
            <a:r>
              <a:rPr lang="en-US" sz="2400" dirty="0">
                <a:latin typeface="+mj-lt"/>
              </a:rPr>
              <a:t> solo </a:t>
            </a:r>
            <a:r>
              <a:rPr lang="en-US" sz="2400" dirty="0" err="1">
                <a:latin typeface="+mj-lt"/>
              </a:rPr>
              <a:t>tuplas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cumplen</a:t>
            </a:r>
            <a:r>
              <a:rPr lang="en-US" sz="2400" dirty="0">
                <a:latin typeface="+mj-lt"/>
              </a:rPr>
              <a:t> con la </a:t>
            </a:r>
            <a:r>
              <a:rPr lang="en-US" sz="2400" dirty="0" err="1">
                <a:latin typeface="+mj-lt"/>
              </a:rPr>
              <a:t>condición</a:t>
            </a:r>
            <a:r>
              <a:rPr lang="en-US" sz="2400" dirty="0">
                <a:latin typeface="+mj-lt"/>
              </a:rPr>
              <a:t> (WHERE TRUE)</a:t>
            </a:r>
          </a:p>
        </p:txBody>
      </p:sp>
    </p:spTree>
    <p:extLst>
      <p:ext uri="{BB962C8B-B14F-4D97-AF65-F5344CB8AC3E}">
        <p14:creationId xmlns:p14="http://schemas.microsoft.com/office/powerpoint/2010/main" val="92134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  <p:bldP spid="182276" grpId="0" animBg="1"/>
      <p:bldP spid="182277" grpId="0" animBg="1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99972907-1C6D-41FA-AAF1-1B0777B84EE1}" type="slidenum">
              <a:rPr lang="en-US"/>
              <a:pPr/>
              <a:t>26</a:t>
            </a:fld>
            <a:endParaRPr lang="en-US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93054"/>
            <a:ext cx="7772400" cy="24638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 err="1"/>
              <a:t>Comportamiento</a:t>
            </a:r>
            <a:r>
              <a:rPr lang="en-US" dirty="0"/>
              <a:t> </a:t>
            </a:r>
            <a:r>
              <a:rPr lang="en-US" dirty="0" err="1"/>
              <a:t>Inesperado</a:t>
            </a:r>
            <a:r>
              <a:rPr lang="en-US" dirty="0"/>
              <a:t>: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318911" y="2498634"/>
            <a:ext cx="5928877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*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Persona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edad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&lt; 25 OR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edad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&gt;= 25;</a:t>
            </a:r>
          </a:p>
        </p:txBody>
      </p:sp>
      <p:sp>
        <p:nvSpPr>
          <p:cNvPr id="2" name="Rectangle 1"/>
          <p:cNvSpPr/>
          <p:nvPr/>
        </p:nvSpPr>
        <p:spPr>
          <a:xfrm>
            <a:off x="931545" y="4267433"/>
            <a:ext cx="4356932" cy="461665"/>
          </a:xfrm>
          <a:prstGeom prst="rect">
            <a:avLst/>
          </a:prstGeom>
          <a:solidFill>
            <a:srgbClr val="FDCCCC"/>
          </a:solidFill>
          <a:ln>
            <a:solidFill>
              <a:srgbClr val="E6BBBA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sz="2400" dirty="0" err="1">
                <a:latin typeface="+mj-lt"/>
              </a:rPr>
              <a:t>Algunas</a:t>
            </a:r>
            <a:r>
              <a:rPr lang="en-US" sz="2400" dirty="0">
                <a:latin typeface="+mj-lt"/>
              </a:rPr>
              <a:t> Personas no se </a:t>
            </a:r>
            <a:r>
              <a:rPr lang="en-US" sz="2400" dirty="0" err="1">
                <a:latin typeface="+mj-lt"/>
              </a:rPr>
              <a:t>incluyen</a:t>
            </a:r>
            <a:r>
              <a:rPr lang="en-US" sz="2400" dirty="0">
                <a:latin typeface="+mj-lt"/>
              </a:rPr>
              <a:t> !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493933" y="3702756"/>
            <a:ext cx="5743580" cy="14280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*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Persona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edad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&lt; 25 OR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edad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&gt;= 25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OR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edad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IS NULL</a:t>
            </a:r>
            <a: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37709" y="5472770"/>
            <a:ext cx="4947388" cy="430887"/>
          </a:xfrm>
          <a:prstGeom prst="rect">
            <a:avLst/>
          </a:prstGeom>
          <a:solidFill>
            <a:srgbClr val="FDCCCC"/>
          </a:solidFill>
          <a:ln>
            <a:solidFill>
              <a:srgbClr val="E6BBBA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 err="1">
                <a:latin typeface="+mj-lt"/>
              </a:rPr>
              <a:t>Ahora</a:t>
            </a:r>
            <a:r>
              <a:rPr lang="en-US" sz="2400" dirty="0">
                <a:latin typeface="+mj-lt"/>
              </a:rPr>
              <a:t> se </a:t>
            </a:r>
            <a:r>
              <a:rPr lang="en-US" sz="2400" dirty="0" err="1">
                <a:latin typeface="+mj-lt"/>
              </a:rPr>
              <a:t>incluyen</a:t>
            </a:r>
            <a:r>
              <a:rPr lang="en-US" sz="2400" dirty="0">
                <a:latin typeface="+mj-lt"/>
              </a:rPr>
              <a:t> TODAS </a:t>
            </a:r>
            <a:r>
              <a:rPr lang="en-US" sz="2400" dirty="0" err="1">
                <a:latin typeface="+mj-lt"/>
              </a:rPr>
              <a:t>las</a:t>
            </a:r>
            <a:r>
              <a:rPr lang="en-US" sz="2400" dirty="0">
                <a:latin typeface="+mj-lt"/>
              </a:rPr>
              <a:t> Personas!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VALORES NULLs</a:t>
            </a:r>
          </a:p>
        </p:txBody>
      </p:sp>
    </p:spTree>
    <p:extLst>
      <p:ext uri="{BB962C8B-B14F-4D97-AF65-F5344CB8AC3E}">
        <p14:creationId xmlns:p14="http://schemas.microsoft.com/office/powerpoint/2010/main" val="219685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build="p"/>
      <p:bldP spid="183300" grpId="0" animBg="1"/>
      <p:bldP spid="2" grpId="0" animBg="1"/>
      <p:bldP spid="10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JOINS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403830" cy="1143000"/>
          </a:xfrm>
        </p:spPr>
        <p:txBody>
          <a:bodyPr/>
          <a:lstStyle/>
          <a:p>
            <a:r>
              <a:rPr lang="en-US" sz="3600" dirty="0"/>
              <a:t>2.6 CUANTIFICADORES, NULLS Y TIPOS DE JOINS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57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TIPOS DE JOIN</a:t>
            </a:r>
          </a:p>
        </p:txBody>
      </p:sp>
      <p:pic>
        <p:nvPicPr>
          <p:cNvPr id="5" name="Content Placeholder 3" descr="Visual_SQL_JOINS_orig.jpg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81" r="-1279"/>
          <a:stretch/>
        </p:blipFill>
        <p:spPr>
          <a:xfrm>
            <a:off x="1855968" y="347087"/>
            <a:ext cx="7668078" cy="5808606"/>
          </a:xfrm>
        </p:spPr>
      </p:pic>
    </p:spTree>
    <p:extLst>
      <p:ext uri="{BB962C8B-B14F-4D97-AF65-F5344CB8AC3E}">
        <p14:creationId xmlns:p14="http://schemas.microsoft.com/office/powerpoint/2010/main" val="140068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6483"/>
            <a:ext cx="10515600" cy="4037551"/>
          </a:xfrm>
        </p:spPr>
        <p:txBody>
          <a:bodyPr>
            <a:normAutofit/>
          </a:bodyPr>
          <a:lstStyle/>
          <a:p>
            <a:r>
              <a:rPr lang="en-US" sz="2800" dirty="0"/>
              <a:t>La </a:t>
            </a:r>
            <a:r>
              <a:rPr lang="en-US" sz="2800" dirty="0" err="1"/>
              <a:t>sentencia</a:t>
            </a:r>
            <a:r>
              <a:rPr lang="en-US" sz="2800" dirty="0"/>
              <a:t> </a:t>
            </a:r>
            <a:r>
              <a:rPr lang="en-US" sz="2800" b="1" dirty="0"/>
              <a:t>JOIN</a:t>
            </a:r>
            <a:r>
              <a:rPr lang="en-US" sz="2800" dirty="0"/>
              <a:t> </a:t>
            </a:r>
            <a:r>
              <a:rPr lang="en-US" sz="2800" dirty="0" err="1"/>
              <a:t>combina</a:t>
            </a:r>
            <a:r>
              <a:rPr lang="en-US" sz="2800" dirty="0"/>
              <a:t> los </a:t>
            </a:r>
            <a:r>
              <a:rPr lang="en-US" sz="2800" dirty="0" err="1"/>
              <a:t>valores</a:t>
            </a:r>
            <a:r>
              <a:rPr lang="en-US" sz="2800" dirty="0"/>
              <a:t> de la </a:t>
            </a:r>
            <a:r>
              <a:rPr lang="en-US" sz="2800" dirty="0" err="1"/>
              <a:t>primera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 con los </a:t>
            </a:r>
            <a:r>
              <a:rPr lang="en-US" sz="2800" dirty="0" err="1"/>
              <a:t>valores</a:t>
            </a:r>
            <a:r>
              <a:rPr lang="en-US" sz="2800" dirty="0"/>
              <a:t> de la </a:t>
            </a:r>
            <a:r>
              <a:rPr lang="en-US" sz="2800" dirty="0" err="1"/>
              <a:t>segunda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 </a:t>
            </a:r>
            <a:r>
              <a:rPr lang="en-US" sz="2800" dirty="0" err="1"/>
              <a:t>dependiendo</a:t>
            </a:r>
            <a:r>
              <a:rPr lang="en-US" sz="2800" dirty="0"/>
              <a:t> del campo </a:t>
            </a:r>
            <a:r>
              <a:rPr lang="en-US" sz="2800" dirty="0" err="1"/>
              <a:t>por</a:t>
            </a:r>
            <a:r>
              <a:rPr lang="en-US" sz="2800" dirty="0"/>
              <a:t> el </a:t>
            </a:r>
            <a:r>
              <a:rPr lang="en-US" sz="2800" dirty="0" err="1"/>
              <a:t>cual</a:t>
            </a:r>
            <a:r>
              <a:rPr lang="en-US" sz="2800" dirty="0"/>
              <a:t> se </a:t>
            </a:r>
            <a:r>
              <a:rPr lang="en-US" sz="2800" dirty="0" err="1"/>
              <a:t>unen</a:t>
            </a:r>
            <a:r>
              <a:rPr lang="en-US" sz="28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3992" y="3308541"/>
            <a:ext cx="6931582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SELECT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nombre_columna1, nombre_columna2,...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tabla1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[</a:t>
            </a:r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INNER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| </a:t>
            </a:r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{LEFT | RIGHT | FULL | OUTER}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] </a:t>
            </a:r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JOIN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tabla2</a:t>
            </a:r>
            <a:endParaRPr lang="en-US" sz="2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tabla1.campo = tabla2.campo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WHERE …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</p:txBody>
      </p:sp>
    </p:spTree>
    <p:extLst>
      <p:ext uri="{BB962C8B-B14F-4D97-AF65-F5344CB8AC3E}">
        <p14:creationId xmlns:p14="http://schemas.microsoft.com/office/powerpoint/2010/main" val="3003472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271" y="1783202"/>
            <a:ext cx="9947614" cy="1427489"/>
          </a:xfrm>
        </p:spPr>
        <p:txBody>
          <a:bodyPr>
            <a:normAutofit/>
          </a:bodyPr>
          <a:lstStyle/>
          <a:p>
            <a:r>
              <a:rPr lang="en-US" sz="2800" dirty="0"/>
              <a:t>La </a:t>
            </a:r>
            <a:r>
              <a:rPr lang="en-US" sz="2800" dirty="0" err="1"/>
              <a:t>sentencia</a:t>
            </a:r>
            <a:r>
              <a:rPr lang="en-US" sz="2800" dirty="0"/>
              <a:t> </a:t>
            </a:r>
            <a:r>
              <a:rPr lang="en-US" sz="2800" b="1" dirty="0"/>
              <a:t>INNER JOIN</a:t>
            </a:r>
            <a:r>
              <a:rPr lang="en-US" sz="2800" dirty="0"/>
              <a:t> </a:t>
            </a:r>
            <a:r>
              <a:rPr lang="en-US" sz="2800" dirty="0" err="1"/>
              <a:t>es</a:t>
            </a:r>
            <a:r>
              <a:rPr lang="en-US" sz="2800" dirty="0"/>
              <a:t> la </a:t>
            </a:r>
            <a:r>
              <a:rPr lang="en-US" sz="2800" dirty="0" err="1"/>
              <a:t>sentencia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</a:t>
            </a:r>
            <a:r>
              <a:rPr lang="en-US" sz="2800" dirty="0" err="1"/>
              <a:t>defecto</a:t>
            </a:r>
            <a:r>
              <a:rPr lang="en-US" sz="2800" dirty="0"/>
              <a:t> del JOIN.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2446" y="2328572"/>
            <a:ext cx="6206305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SELECT 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nombre_columna1, nombre_columna2,...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FROM	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tabla1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INNER 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JOIN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tabla2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ON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			tabla1.campo = tabla2.campo;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INNER JOIN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38350" t="16720" r="37511" b="59871"/>
          <a:stretch/>
        </p:blipFill>
        <p:spPr>
          <a:xfrm>
            <a:off x="9810923" y="123487"/>
            <a:ext cx="2381077" cy="1605346"/>
          </a:xfrm>
          <a:prstGeom prst="rect">
            <a:avLst/>
          </a:prstGeom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06233" y="5527896"/>
            <a:ext cx="3602482" cy="12064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s-EC" dirty="0">
                <a:solidFill>
                  <a:srgbClr val="0033CC"/>
                </a:solidFill>
              </a:rPr>
              <a:t>Todo JOIN debe ser especificado a menos que sea un INNER join</a:t>
            </a:r>
          </a:p>
          <a:p>
            <a:pPr>
              <a:buFontTx/>
              <a:buNone/>
            </a:pPr>
            <a:r>
              <a:rPr lang="es-EC" dirty="0">
                <a:solidFill>
                  <a:srgbClr val="0033CC"/>
                </a:solidFill>
              </a:rPr>
              <a:t>		(INNER es default)</a:t>
            </a:r>
            <a:endParaRPr lang="es-EC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883140" y="3744123"/>
            <a:ext cx="6206305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SELECT 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nombre_columna1, nombre_columna2,...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FROM	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tabla1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JOIN	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tabla2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ON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			tabla1.campo = tabla2.campo;</a:t>
            </a:r>
          </a:p>
        </p:txBody>
      </p:sp>
      <p:sp>
        <p:nvSpPr>
          <p:cNvPr id="12" name="Right Brace 11"/>
          <p:cNvSpPr/>
          <p:nvPr/>
        </p:nvSpPr>
        <p:spPr>
          <a:xfrm>
            <a:off x="10144478" y="2273242"/>
            <a:ext cx="368300" cy="404853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526889" y="3306153"/>
            <a:ext cx="1577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Queries </a:t>
            </a:r>
            <a:r>
              <a:rPr lang="en-US" dirty="0" err="1">
                <a:latin typeface="+mj-lt"/>
              </a:rPr>
              <a:t>equivalentes</a:t>
            </a:r>
            <a:r>
              <a:rPr lang="en-US" dirty="0">
                <a:latin typeface="+mj-lt"/>
              </a:rPr>
              <a:t>:</a:t>
            </a:r>
          </a:p>
          <a:p>
            <a:r>
              <a:rPr lang="en-US" dirty="0" err="1">
                <a:latin typeface="+mj-lt"/>
              </a:rPr>
              <a:t>Todos</a:t>
            </a:r>
            <a:r>
              <a:rPr lang="en-US" dirty="0">
                <a:latin typeface="+mj-lt"/>
              </a:rPr>
              <a:t> son INNER JOINS!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3141" y="5169344"/>
            <a:ext cx="6206305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SELECT 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nombre_columna1, nombre_columna2,...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FROM	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tabla1, tabla2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WHERE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			tabla1.campo = tabla2.campo;</a:t>
            </a:r>
          </a:p>
        </p:txBody>
      </p:sp>
    </p:spTree>
    <p:extLst>
      <p:ext uri="{BB962C8B-B14F-4D97-AF65-F5344CB8AC3E}">
        <p14:creationId xmlns:p14="http://schemas.microsoft.com/office/powerpoint/2010/main" val="195610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28455"/>
          </a:xfrm>
        </p:spPr>
        <p:txBody>
          <a:bodyPr>
            <a:normAutofit fontScale="92500"/>
          </a:bodyPr>
          <a:lstStyle/>
          <a:p>
            <a:r>
              <a:rPr lang="en-US" sz="2800" dirty="0" err="1"/>
              <a:t>Muestre</a:t>
            </a:r>
            <a:r>
              <a:rPr lang="en-US" sz="2800" dirty="0"/>
              <a:t> el </a:t>
            </a:r>
            <a:r>
              <a:rPr lang="en-US" sz="2800" dirty="0" err="1"/>
              <a:t>producto</a:t>
            </a:r>
            <a:r>
              <a:rPr lang="en-US" sz="2800" dirty="0"/>
              <a:t> y la </a:t>
            </a:r>
            <a:r>
              <a:rPr lang="en-US" sz="2800" dirty="0" err="1"/>
              <a:t>tienda</a:t>
            </a:r>
            <a:r>
              <a:rPr lang="en-US" sz="2800" dirty="0"/>
              <a:t> </a:t>
            </a:r>
            <a:r>
              <a:rPr lang="en-US" sz="2800" dirty="0" err="1"/>
              <a:t>donde</a:t>
            </a:r>
            <a:r>
              <a:rPr lang="en-US" sz="2800" dirty="0"/>
              <a:t> se ha </a:t>
            </a:r>
            <a:r>
              <a:rPr lang="en-US" sz="2800" dirty="0" err="1"/>
              <a:t>comprado</a:t>
            </a:r>
            <a:r>
              <a:rPr lang="en-US" sz="2800" dirty="0"/>
              <a:t> </a:t>
            </a:r>
            <a:r>
              <a:rPr lang="en-US" sz="2800" dirty="0" err="1"/>
              <a:t>algún</a:t>
            </a:r>
            <a:r>
              <a:rPr lang="en-US" sz="2800" dirty="0"/>
              <a:t> </a:t>
            </a:r>
            <a:r>
              <a:rPr lang="en-US" sz="2800" dirty="0" err="1"/>
              <a:t>producto</a:t>
            </a:r>
            <a:r>
              <a:rPr lang="en-US" sz="2800" dirty="0"/>
              <a:t>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INNER JOIN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38350" t="16720" r="37511" b="59871"/>
          <a:stretch/>
        </p:blipFill>
        <p:spPr>
          <a:xfrm>
            <a:off x="9810923" y="123487"/>
            <a:ext cx="2381077" cy="1605346"/>
          </a:xfrm>
          <a:prstGeom prst="rect">
            <a:avLst/>
          </a:prstGeom>
        </p:spPr>
      </p:pic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86948" y="2276774"/>
            <a:ext cx="6052408" cy="13901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Compra.tienda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JOIN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ON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Compra.prodNombre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5879610" y="3743108"/>
            <a:ext cx="6052408" cy="13901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Compra.tienda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INNER JOIN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ON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Compra.prodNombre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10054" y="5194843"/>
            <a:ext cx="6515651" cy="105157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Compra.tienda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Compra.prodNombre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7400591" y="5375968"/>
            <a:ext cx="4091224" cy="763286"/>
          </a:xfrm>
          <a:prstGeom prst="rect">
            <a:avLst/>
          </a:prstGeom>
          <a:solidFill>
            <a:srgbClr val="FDCCCC"/>
          </a:solidFill>
          <a:ln w="9525">
            <a:solidFill>
              <a:srgbClr val="E6BBBA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pasa</a:t>
            </a:r>
            <a:r>
              <a:rPr lang="en-US" sz="2400" dirty="0">
                <a:latin typeface="+mj-lt"/>
              </a:rPr>
              <a:t> con los </a:t>
            </a:r>
            <a:r>
              <a:rPr lang="en-US" sz="2400" dirty="0" err="1">
                <a:latin typeface="+mj-lt"/>
              </a:rPr>
              <a:t>productos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no se </a:t>
            </a:r>
            <a:r>
              <a:rPr lang="en-US" sz="2400" dirty="0" err="1">
                <a:latin typeface="+mj-lt"/>
              </a:rPr>
              <a:t>han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vendido</a:t>
            </a:r>
            <a:r>
              <a:rPr lang="en-US" sz="2400" dirty="0">
                <a:latin typeface="+mj-lt"/>
              </a:rPr>
              <a:t>?.</a:t>
            </a:r>
          </a:p>
        </p:txBody>
      </p:sp>
    </p:spTree>
    <p:extLst>
      <p:ext uri="{BB962C8B-B14F-4D97-AF65-F5344CB8AC3E}">
        <p14:creationId xmlns:p14="http://schemas.microsoft.com/office/powerpoint/2010/main" val="376385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9908" y="1795105"/>
            <a:ext cx="10794219" cy="9745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s-EC" sz="2800" dirty="0"/>
              <a:t>“NATURAL” significa equi-join para cada par de atributos con el mismo nombre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NATURAL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2416" y="4016108"/>
            <a:ext cx="7037954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SELECT </a:t>
            </a:r>
            <a:r>
              <a:rPr lang="en-US" dirty="0" err="1">
                <a:latin typeface="Consolas"/>
                <a:cs typeface="Consolas"/>
              </a:rPr>
              <a:t>o.orderNumber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o.customerNumber</a:t>
            </a:r>
            <a:r>
              <a:rPr lang="en-US" dirty="0">
                <a:latin typeface="Consolas"/>
                <a:cs typeface="Consolas"/>
              </a:rPr>
              <a:t>, </a:t>
            </a:r>
            <a:r>
              <a:rPr lang="en-US" dirty="0" err="1">
                <a:latin typeface="Consolas"/>
                <a:cs typeface="Consolas"/>
              </a:rPr>
              <a:t>c.customerName</a:t>
            </a:r>
            <a:r>
              <a:rPr lang="en-US" dirty="0">
                <a:latin typeface="Consolas"/>
                <a:cs typeface="Consolas"/>
              </a:rPr>
              <a:t> </a:t>
            </a:r>
          </a:p>
          <a:p>
            <a:r>
              <a:rPr lang="en-US" dirty="0">
                <a:latin typeface="Consolas"/>
                <a:cs typeface="Consolas"/>
              </a:rPr>
              <a:t>FROM orders o 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NATURAL </a:t>
            </a:r>
            <a:r>
              <a:rPr lang="en-US" dirty="0">
                <a:latin typeface="Consolas"/>
                <a:cs typeface="Consolas"/>
              </a:rPr>
              <a:t>JOIN customers c;</a:t>
            </a:r>
          </a:p>
          <a:p>
            <a:r>
              <a:rPr lang="en-US" strike="sngStrike" dirty="0">
                <a:solidFill>
                  <a:srgbClr val="FF0000"/>
                </a:solidFill>
                <a:latin typeface="Consolas"/>
                <a:cs typeface="Consolas"/>
              </a:rPr>
              <a:t>ON </a:t>
            </a:r>
            <a:r>
              <a:rPr lang="en-US" strike="sngStrike" dirty="0" err="1">
                <a:solidFill>
                  <a:srgbClr val="FF0000"/>
                </a:solidFill>
                <a:latin typeface="Consolas"/>
                <a:cs typeface="Consolas"/>
              </a:rPr>
              <a:t>c.customerNumber</a:t>
            </a:r>
            <a:r>
              <a:rPr lang="en-US" strike="sngStrike" dirty="0">
                <a:solidFill>
                  <a:srgbClr val="FF0000"/>
                </a:solidFill>
                <a:latin typeface="Consolas"/>
                <a:cs typeface="Consolas"/>
              </a:rPr>
              <a:t>=</a:t>
            </a:r>
            <a:r>
              <a:rPr lang="en-US" strike="sngStrike" dirty="0" err="1">
                <a:solidFill>
                  <a:srgbClr val="FF0000"/>
                </a:solidFill>
                <a:latin typeface="Consolas"/>
                <a:cs typeface="Consolas"/>
              </a:rPr>
              <a:t>o.customerNumber</a:t>
            </a:r>
            <a:r>
              <a:rPr lang="en-US" strike="sngStrike" dirty="0">
                <a:solidFill>
                  <a:srgbClr val="FF0000"/>
                </a:solidFill>
                <a:latin typeface="Consolas"/>
                <a:cs typeface="Consolas"/>
              </a:rPr>
              <a:t>;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291294" y="3168821"/>
            <a:ext cx="10058400" cy="52845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/>
              <a:t>Por</a:t>
            </a:r>
            <a:r>
              <a:rPr lang="en-US" sz="2800" dirty="0"/>
              <a:t> </a:t>
            </a: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pedido</a:t>
            </a:r>
            <a:r>
              <a:rPr lang="en-US" sz="2800" dirty="0"/>
              <a:t> </a:t>
            </a:r>
            <a:r>
              <a:rPr lang="en-US" sz="2800" dirty="0" err="1"/>
              <a:t>muestre</a:t>
            </a:r>
            <a:r>
              <a:rPr lang="en-US" sz="2800" dirty="0"/>
              <a:t> el </a:t>
            </a:r>
            <a:r>
              <a:rPr lang="en-US" sz="2800" dirty="0" err="1"/>
              <a:t>número</a:t>
            </a:r>
            <a:r>
              <a:rPr lang="en-US" sz="2800" dirty="0"/>
              <a:t> de </a:t>
            </a:r>
            <a:r>
              <a:rPr lang="en-US" sz="2800" dirty="0" err="1"/>
              <a:t>cliente</a:t>
            </a:r>
            <a:r>
              <a:rPr lang="en-US" sz="2800" dirty="0"/>
              <a:t> y </a:t>
            </a:r>
            <a:r>
              <a:rPr lang="en-US" sz="2800" dirty="0" err="1"/>
              <a:t>su</a:t>
            </a:r>
            <a:r>
              <a:rPr lang="en-US" sz="2800" dirty="0"/>
              <a:t> </a:t>
            </a:r>
            <a:r>
              <a:rPr lang="en-US" sz="2800" dirty="0" err="1"/>
              <a:t>razón</a:t>
            </a:r>
            <a:r>
              <a:rPr lang="en-US" sz="2800" dirty="0"/>
              <a:t> social.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38350" t="16720" r="37511" b="59871"/>
          <a:stretch/>
        </p:blipFill>
        <p:spPr>
          <a:xfrm>
            <a:off x="9810923" y="105846"/>
            <a:ext cx="2381077" cy="1605346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7500455" y="5485562"/>
            <a:ext cx="3602482" cy="6951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s-EC" dirty="0">
                <a:solidFill>
                  <a:srgbClr val="0033CC"/>
                </a:solidFill>
              </a:rPr>
              <a:t>Ciertos DBMS no soportan este tipo de JOIN.</a:t>
            </a:r>
            <a:endParaRPr lang="es-EC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2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  <p:bldP spid="10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0911"/>
            <a:ext cx="10515600" cy="3919043"/>
          </a:xfrm>
        </p:spPr>
        <p:txBody>
          <a:bodyPr>
            <a:normAutofit/>
          </a:bodyPr>
          <a:lstStyle/>
          <a:p>
            <a:r>
              <a:rPr lang="en-US" sz="2800" dirty="0"/>
              <a:t>La </a:t>
            </a:r>
            <a:r>
              <a:rPr lang="en-US" sz="2800" dirty="0" err="1"/>
              <a:t>sentencia</a:t>
            </a:r>
            <a:r>
              <a:rPr lang="en-US" sz="2800" dirty="0"/>
              <a:t> </a:t>
            </a:r>
            <a:r>
              <a:rPr lang="en-US" sz="2800" b="1" dirty="0"/>
              <a:t>LEFT JOIN</a:t>
            </a:r>
            <a:r>
              <a:rPr lang="en-US" sz="2800" dirty="0"/>
              <a:t> </a:t>
            </a:r>
            <a:r>
              <a:rPr lang="en-US" sz="2800" dirty="0" err="1"/>
              <a:t>combina</a:t>
            </a:r>
            <a:r>
              <a:rPr lang="en-US" sz="2800" dirty="0"/>
              <a:t> los </a:t>
            </a:r>
            <a:r>
              <a:rPr lang="en-US" sz="2800" dirty="0" err="1"/>
              <a:t>valores</a:t>
            </a:r>
            <a:r>
              <a:rPr lang="en-US" sz="2800" dirty="0"/>
              <a:t> de la </a:t>
            </a:r>
            <a:r>
              <a:rPr lang="en-US" sz="2800" dirty="0" err="1"/>
              <a:t>primera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 con los </a:t>
            </a:r>
            <a:r>
              <a:rPr lang="en-US" sz="2800" dirty="0" err="1"/>
              <a:t>valores</a:t>
            </a:r>
            <a:r>
              <a:rPr lang="en-US" sz="2800" dirty="0"/>
              <a:t> de la </a:t>
            </a:r>
            <a:r>
              <a:rPr lang="en-US" sz="2800" dirty="0" err="1"/>
              <a:t>segunda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. </a:t>
            </a:r>
            <a:r>
              <a:rPr lang="en-US" sz="2800" dirty="0" err="1"/>
              <a:t>Siempre</a:t>
            </a:r>
            <a:r>
              <a:rPr lang="en-US" sz="2800" dirty="0"/>
              <a:t> </a:t>
            </a:r>
            <a:r>
              <a:rPr lang="en-US" sz="2800" dirty="0" err="1"/>
              <a:t>devolverá</a:t>
            </a:r>
            <a:r>
              <a:rPr lang="en-US" sz="2800" dirty="0"/>
              <a:t> </a:t>
            </a:r>
            <a:r>
              <a:rPr lang="en-US" sz="2800" dirty="0" err="1"/>
              <a:t>las</a:t>
            </a:r>
            <a:r>
              <a:rPr lang="en-US" sz="2800" dirty="0"/>
              <a:t> </a:t>
            </a:r>
            <a:r>
              <a:rPr lang="en-US" sz="2800" dirty="0" err="1"/>
              <a:t>filas</a:t>
            </a:r>
            <a:r>
              <a:rPr lang="en-US" sz="2800" dirty="0"/>
              <a:t> de la </a:t>
            </a:r>
            <a:r>
              <a:rPr lang="en-US" sz="2800" dirty="0" err="1"/>
              <a:t>primera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, </a:t>
            </a:r>
            <a:r>
              <a:rPr lang="en-US" sz="2800" dirty="0" err="1"/>
              <a:t>incluso</a:t>
            </a:r>
            <a:r>
              <a:rPr lang="en-US" sz="2800" dirty="0"/>
              <a:t> </a:t>
            </a:r>
            <a:r>
              <a:rPr lang="en-US" sz="2800" dirty="0" err="1"/>
              <a:t>aunque</a:t>
            </a:r>
            <a:r>
              <a:rPr lang="en-US" sz="2800" dirty="0"/>
              <a:t> no </a:t>
            </a:r>
            <a:r>
              <a:rPr lang="en-US" sz="2800" dirty="0" err="1"/>
              <a:t>cumplan</a:t>
            </a:r>
            <a:r>
              <a:rPr lang="en-US" sz="2800" dirty="0"/>
              <a:t> la </a:t>
            </a:r>
            <a:r>
              <a:rPr lang="en-US" sz="2800" dirty="0" err="1"/>
              <a:t>condición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459108" y="3792667"/>
            <a:ext cx="6312130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nombre_columna1, nombre_columna2,...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tabla1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LEFT JOIN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tabla2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ON 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				tabla1.campo1 = tabla2.campo1;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LEFT JOIN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630" t="-3" r="76491" b="77460"/>
          <a:stretch/>
        </p:blipFill>
        <p:spPr>
          <a:xfrm>
            <a:off x="9793285" y="110430"/>
            <a:ext cx="2381077" cy="15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54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LEFT JOIN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630" t="-3" r="76491" b="77460"/>
          <a:stretch/>
        </p:blipFill>
        <p:spPr>
          <a:xfrm>
            <a:off x="9793285" y="110430"/>
            <a:ext cx="2381077" cy="15459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7004" y="4792319"/>
            <a:ext cx="5199861" cy="12311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Consolas"/>
                <a:cs typeface="Consolas"/>
              </a:rPr>
              <a:t>nombre</a:t>
            </a:r>
            <a:r>
              <a:rPr lang="en-US" dirty="0">
                <a:latin typeface="Consolas"/>
                <a:cs typeface="Consolas"/>
              </a:rPr>
              <a:t>, apellido1, </a:t>
            </a:r>
            <a:r>
              <a:rPr lang="en-US" dirty="0" err="1">
                <a:latin typeface="Consolas"/>
                <a:cs typeface="Consolas"/>
              </a:rPr>
              <a:t>departamento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>
                <a:latin typeface="Consolas"/>
                <a:cs typeface="Consolas"/>
              </a:rPr>
              <a:t>personas p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LEFT JOIN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err="1">
                <a:latin typeface="Consolas"/>
                <a:cs typeface="Consolas"/>
              </a:rPr>
              <a:t>departamentos</a:t>
            </a:r>
            <a:r>
              <a:rPr lang="en-US" dirty="0">
                <a:latin typeface="Consolas"/>
                <a:cs typeface="Consolas"/>
              </a:rPr>
              <a:t> d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p.dep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=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d.dep</a:t>
            </a:r>
            <a:endParaRPr lang="en-US" dirty="0">
              <a:solidFill>
                <a:schemeClr val="tx1"/>
              </a:solidFill>
              <a:latin typeface="Consolas"/>
              <a:cs typeface="Consola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986847"/>
              </p:ext>
            </p:extLst>
          </p:nvPr>
        </p:nvGraphicFramePr>
        <p:xfrm>
          <a:off x="6196079" y="4574384"/>
          <a:ext cx="5660400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4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ADMINISTRACION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GARCIA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INFORMATICA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932758"/>
              </p:ext>
            </p:extLst>
          </p:nvPr>
        </p:nvGraphicFramePr>
        <p:xfrm>
          <a:off x="1252269" y="2221743"/>
          <a:ext cx="5379474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GOMEZ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GARCIA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RODRIGUEZ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GONZALEZ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13480"/>
              </p:ext>
            </p:extLst>
          </p:nvPr>
        </p:nvGraphicFramePr>
        <p:xfrm>
          <a:off x="7524919" y="2303578"/>
          <a:ext cx="3622051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9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ADMINISTRACION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INFORMATICA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69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LEFT JOIN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257" t="39179" r="76118" b="38278"/>
          <a:stretch/>
        </p:blipFill>
        <p:spPr>
          <a:xfrm>
            <a:off x="9810923" y="110430"/>
            <a:ext cx="2381077" cy="15459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4642" y="4580625"/>
            <a:ext cx="5096267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Consolas"/>
                <a:cs typeface="Consolas"/>
              </a:rPr>
              <a:t>nombre</a:t>
            </a:r>
            <a:r>
              <a:rPr lang="en-US" dirty="0">
                <a:latin typeface="Consolas"/>
                <a:cs typeface="Consolas"/>
              </a:rPr>
              <a:t>, apellido1, </a:t>
            </a:r>
            <a:r>
              <a:rPr lang="en-US" dirty="0" err="1">
                <a:latin typeface="Consolas"/>
                <a:cs typeface="Consolas"/>
              </a:rPr>
              <a:t>departamento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>
                <a:latin typeface="Consolas"/>
                <a:cs typeface="Consolas"/>
              </a:rPr>
              <a:t>personas p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LEFT JOIN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err="1">
                <a:latin typeface="Consolas"/>
                <a:cs typeface="Consolas"/>
              </a:rPr>
              <a:t>departamentos</a:t>
            </a:r>
            <a:r>
              <a:rPr lang="en-US" dirty="0">
                <a:latin typeface="Consolas"/>
                <a:cs typeface="Consolas"/>
              </a:rPr>
              <a:t> d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p.dep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=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d.dep</a:t>
            </a:r>
            <a:endParaRPr lang="en-US" dirty="0">
              <a:solidFill>
                <a:schemeClr val="tx1"/>
              </a:solidFill>
              <a:latin typeface="Consolas"/>
              <a:cs typeface="Consolas"/>
            </a:endParaRP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WHERE </a:t>
            </a:r>
            <a:r>
              <a:rPr lang="en-US" dirty="0" err="1">
                <a:solidFill>
                  <a:srgbClr val="FF0000"/>
                </a:solidFill>
                <a:latin typeface="Consolas"/>
                <a:cs typeface="Consolas"/>
              </a:rPr>
              <a:t>d.dep</a:t>
            </a:r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 IS NULL;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259048"/>
              </p:ext>
            </p:extLst>
          </p:nvPr>
        </p:nvGraphicFramePr>
        <p:xfrm>
          <a:off x="6178848" y="4774694"/>
          <a:ext cx="5660400" cy="741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4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313882"/>
              </p:ext>
            </p:extLst>
          </p:nvPr>
        </p:nvGraphicFramePr>
        <p:xfrm>
          <a:off x="1252269" y="2221743"/>
          <a:ext cx="5379474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GOMEZ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GARCIA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RODRIGUEZ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GONZALEZ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413237"/>
              </p:ext>
            </p:extLst>
          </p:nvPr>
        </p:nvGraphicFramePr>
        <p:xfrm>
          <a:off x="7524919" y="2303578"/>
          <a:ext cx="3622051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9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ADMINISTRACION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INFORMATICA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9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271" y="1783202"/>
            <a:ext cx="9947614" cy="1427489"/>
          </a:xfrm>
        </p:spPr>
        <p:txBody>
          <a:bodyPr>
            <a:normAutofit/>
          </a:bodyPr>
          <a:lstStyle/>
          <a:p>
            <a:r>
              <a:rPr lang="en-US" sz="2800" dirty="0"/>
              <a:t>La </a:t>
            </a:r>
            <a:r>
              <a:rPr lang="en-US" sz="2800" dirty="0" err="1"/>
              <a:t>sentencia</a:t>
            </a:r>
            <a:r>
              <a:rPr lang="en-US" sz="2800" dirty="0"/>
              <a:t> </a:t>
            </a:r>
            <a:r>
              <a:rPr lang="en-US" sz="2800" b="1" dirty="0"/>
              <a:t>RIGHT JOIN</a:t>
            </a:r>
            <a:r>
              <a:rPr lang="en-US" sz="2800" dirty="0"/>
              <a:t> </a:t>
            </a:r>
            <a:r>
              <a:rPr lang="en-US" sz="2800" dirty="0" err="1"/>
              <a:t>combina</a:t>
            </a:r>
            <a:r>
              <a:rPr lang="en-US" sz="2800" dirty="0"/>
              <a:t> los </a:t>
            </a:r>
            <a:r>
              <a:rPr lang="en-US" sz="2800" dirty="0" err="1"/>
              <a:t>valores</a:t>
            </a:r>
            <a:r>
              <a:rPr lang="en-US" sz="2800" dirty="0"/>
              <a:t> de la </a:t>
            </a:r>
            <a:r>
              <a:rPr lang="en-US" sz="2800" dirty="0" err="1"/>
              <a:t>primera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 con los </a:t>
            </a:r>
            <a:r>
              <a:rPr lang="en-US" sz="2800" dirty="0" err="1"/>
              <a:t>valores</a:t>
            </a:r>
            <a:r>
              <a:rPr lang="en-US" sz="2800" dirty="0"/>
              <a:t> de la </a:t>
            </a:r>
            <a:r>
              <a:rPr lang="en-US" sz="2800" dirty="0" err="1"/>
              <a:t>segunda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. </a:t>
            </a:r>
            <a:r>
              <a:rPr lang="en-US" sz="2800" dirty="0" err="1"/>
              <a:t>Siempre</a:t>
            </a:r>
            <a:r>
              <a:rPr lang="en-US" sz="2800" dirty="0"/>
              <a:t> </a:t>
            </a:r>
            <a:r>
              <a:rPr lang="en-US" sz="2800" dirty="0" err="1"/>
              <a:t>devolverá</a:t>
            </a:r>
            <a:r>
              <a:rPr lang="en-US" sz="2800" dirty="0"/>
              <a:t> </a:t>
            </a:r>
            <a:r>
              <a:rPr lang="en-US" sz="2800" dirty="0" err="1"/>
              <a:t>las</a:t>
            </a:r>
            <a:r>
              <a:rPr lang="en-US" sz="2800" dirty="0"/>
              <a:t> </a:t>
            </a:r>
            <a:r>
              <a:rPr lang="en-US" sz="2800" dirty="0" err="1"/>
              <a:t>filas</a:t>
            </a:r>
            <a:r>
              <a:rPr lang="en-US" sz="2800" dirty="0"/>
              <a:t> de la </a:t>
            </a:r>
            <a:r>
              <a:rPr lang="en-US" sz="2800" dirty="0" err="1"/>
              <a:t>segunda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, </a:t>
            </a:r>
            <a:r>
              <a:rPr lang="en-US" sz="2800" dirty="0" err="1"/>
              <a:t>incluso</a:t>
            </a:r>
            <a:r>
              <a:rPr lang="en-US" sz="2800" dirty="0"/>
              <a:t> </a:t>
            </a:r>
            <a:r>
              <a:rPr lang="en-US" sz="2800" dirty="0" err="1"/>
              <a:t>aunque</a:t>
            </a:r>
            <a:r>
              <a:rPr lang="en-US" sz="2800" dirty="0"/>
              <a:t> no </a:t>
            </a:r>
            <a:r>
              <a:rPr lang="en-US" sz="2800" dirty="0" err="1"/>
              <a:t>cumplan</a:t>
            </a:r>
            <a:r>
              <a:rPr lang="en-US" sz="2800" dirty="0"/>
              <a:t> la </a:t>
            </a:r>
            <a:r>
              <a:rPr lang="en-US" sz="2800" dirty="0" err="1"/>
              <a:t>condición</a:t>
            </a:r>
            <a:r>
              <a:rPr lang="en-US" sz="28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8557" y="3510408"/>
            <a:ext cx="6206305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nombre_columna1, nombre_columna2,...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tabla1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RIGHT JOIN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tabla2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			tabla1.campo = tabla2.campo;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RIGHT JOIN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5861" t="-260" b="77717"/>
          <a:stretch/>
        </p:blipFill>
        <p:spPr>
          <a:xfrm>
            <a:off x="9740371" y="110430"/>
            <a:ext cx="2381077" cy="15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4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RIGHT JOIN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5861" t="-260" b="77717"/>
          <a:stretch/>
        </p:blipFill>
        <p:spPr>
          <a:xfrm>
            <a:off x="9740371" y="110430"/>
            <a:ext cx="2381077" cy="15459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4642" y="4757039"/>
            <a:ext cx="5199861" cy="12311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/>
                <a:ea typeface="Menlo" charset="0"/>
                <a:cs typeface="Consolas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Consolas"/>
                <a:cs typeface="Consolas"/>
              </a:rPr>
              <a:t>nombre</a:t>
            </a:r>
            <a:r>
              <a:rPr lang="en-US" dirty="0">
                <a:latin typeface="Consolas"/>
                <a:cs typeface="Consolas"/>
              </a:rPr>
              <a:t>, apellido1, </a:t>
            </a:r>
            <a:r>
              <a:rPr lang="en-US" dirty="0" err="1">
                <a:latin typeface="Consolas"/>
                <a:cs typeface="Consolas"/>
              </a:rPr>
              <a:t>departamento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chemeClr val="accent2"/>
                </a:solidFill>
                <a:latin typeface="Consolas"/>
                <a:ea typeface="Menlo" charset="0"/>
                <a:cs typeface="Consolas"/>
              </a:rPr>
              <a:t>FROM </a:t>
            </a:r>
            <a:r>
              <a:rPr lang="en-US" dirty="0">
                <a:latin typeface="Consolas"/>
                <a:cs typeface="Consolas"/>
              </a:rPr>
              <a:t>personas p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RIGHT JOIN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err="1">
                <a:latin typeface="Consolas"/>
                <a:cs typeface="Consolas"/>
              </a:rPr>
              <a:t>departamentos</a:t>
            </a:r>
            <a:r>
              <a:rPr lang="en-US" dirty="0">
                <a:latin typeface="Consolas"/>
                <a:cs typeface="Consolas"/>
              </a:rPr>
              <a:t> d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p.dep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=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d.dep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334688"/>
              </p:ext>
            </p:extLst>
          </p:nvPr>
        </p:nvGraphicFramePr>
        <p:xfrm>
          <a:off x="6125528" y="4644951"/>
          <a:ext cx="5660400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4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ADMINISTRACION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GARCIA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INFORMATICA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618914"/>
              </p:ext>
            </p:extLst>
          </p:nvPr>
        </p:nvGraphicFramePr>
        <p:xfrm>
          <a:off x="1252269" y="2221743"/>
          <a:ext cx="5379474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GOMEZ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GARCIA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RODRIGUEZ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GONZALEZ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349234"/>
              </p:ext>
            </p:extLst>
          </p:nvPr>
        </p:nvGraphicFramePr>
        <p:xfrm>
          <a:off x="7524919" y="2303578"/>
          <a:ext cx="3622051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9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ADMINISTRACION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INFORMATICA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9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RIGHT JOIN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453" y="4668830"/>
            <a:ext cx="500735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/>
                <a:ea typeface="Menlo" charset="0"/>
                <a:cs typeface="Consolas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Consolas"/>
                <a:cs typeface="Consolas"/>
              </a:rPr>
              <a:t>nombre</a:t>
            </a:r>
            <a:r>
              <a:rPr lang="en-US" dirty="0">
                <a:latin typeface="Consolas"/>
                <a:cs typeface="Consolas"/>
              </a:rPr>
              <a:t>, apellido1, </a:t>
            </a:r>
            <a:r>
              <a:rPr lang="en-US" dirty="0" err="1">
                <a:latin typeface="Consolas"/>
                <a:cs typeface="Consolas"/>
              </a:rPr>
              <a:t>departamento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chemeClr val="accent2"/>
                </a:solidFill>
                <a:latin typeface="Consolas"/>
                <a:ea typeface="Menlo" charset="0"/>
                <a:cs typeface="Consolas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>
                <a:latin typeface="Consolas"/>
                <a:cs typeface="Consolas"/>
              </a:rPr>
              <a:t>personas p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RIGHT JOIN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err="1">
                <a:latin typeface="Consolas"/>
                <a:cs typeface="Consolas"/>
              </a:rPr>
              <a:t>departamentos</a:t>
            </a:r>
            <a:r>
              <a:rPr lang="en-US" dirty="0">
                <a:latin typeface="Consolas"/>
                <a:cs typeface="Consolas"/>
              </a:rPr>
              <a:t> d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p.dep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=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d.dep</a:t>
            </a:r>
            <a:endParaRPr lang="en-US" dirty="0">
              <a:solidFill>
                <a:schemeClr val="tx1"/>
              </a:solidFill>
              <a:latin typeface="Consolas"/>
              <a:cs typeface="Consolas"/>
            </a:endParaRP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WHERE </a:t>
            </a:r>
            <a:r>
              <a:rPr lang="en-US" dirty="0" err="1">
                <a:solidFill>
                  <a:srgbClr val="FF0000"/>
                </a:solidFill>
                <a:latin typeface="Consolas"/>
                <a:cs typeface="Consolas"/>
              </a:rPr>
              <a:t>p.dep</a:t>
            </a:r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 IS NULL;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75861" t="39097" b="38360"/>
          <a:stretch/>
        </p:blipFill>
        <p:spPr>
          <a:xfrm>
            <a:off x="9740371" y="110430"/>
            <a:ext cx="2381077" cy="1545983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628970"/>
              </p:ext>
            </p:extLst>
          </p:nvPr>
        </p:nvGraphicFramePr>
        <p:xfrm>
          <a:off x="6231354" y="4821361"/>
          <a:ext cx="5660400" cy="741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4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536309"/>
              </p:ext>
            </p:extLst>
          </p:nvPr>
        </p:nvGraphicFramePr>
        <p:xfrm>
          <a:off x="1252269" y="2221743"/>
          <a:ext cx="5379474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GOMEZ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GARCIA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RODRIGUEZ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GONZALEZ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776479"/>
              </p:ext>
            </p:extLst>
          </p:nvPr>
        </p:nvGraphicFramePr>
        <p:xfrm>
          <a:off x="7524919" y="2303578"/>
          <a:ext cx="3622051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9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ADMINISTRACION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INFORMATICA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26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0" y="2064014"/>
            <a:ext cx="10058400" cy="3694649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s-EC" sz="2800" dirty="0"/>
              <a:t>Full Outer Join devuelve (coincidan o no coincidan) las filas de las tablas en ambos lados de la clausula join.</a:t>
            </a:r>
          </a:p>
          <a:p>
            <a:pPr>
              <a:lnSpc>
                <a:spcPct val="50000"/>
              </a:lnSpc>
              <a:buFontTx/>
              <a:buNone/>
            </a:pPr>
            <a:endParaRPr lang="es-EC" sz="2800" dirty="0"/>
          </a:p>
          <a:p>
            <a:pPr>
              <a:lnSpc>
                <a:spcPct val="50000"/>
              </a:lnSpc>
              <a:buFontTx/>
              <a:buNone/>
            </a:pPr>
            <a:endParaRPr lang="es-EC" sz="2800" dirty="0"/>
          </a:p>
          <a:p>
            <a:pPr>
              <a:lnSpc>
                <a:spcPct val="50000"/>
              </a:lnSpc>
              <a:buFontTx/>
              <a:buNone/>
            </a:pPr>
            <a:endParaRPr lang="es-EC" sz="28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FULL OUTER JOIN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25861" t="66821" r="50000" b="10636"/>
          <a:stretch/>
        </p:blipFill>
        <p:spPr>
          <a:xfrm>
            <a:off x="9810923" y="110430"/>
            <a:ext cx="2381077" cy="154598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18175" y="3792667"/>
            <a:ext cx="7272588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Times New Roman"/>
                <a:ea typeface="Menlo" charset="0"/>
                <a:cs typeface="Times New Roman"/>
              </a:rPr>
              <a:t>SELECT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	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nombre_columna1, nombre_columna2,...</a:t>
            </a:r>
          </a:p>
          <a:p>
            <a:r>
              <a:rPr lang="en-US" sz="2000" dirty="0">
                <a:solidFill>
                  <a:schemeClr val="accent2"/>
                </a:solidFill>
                <a:latin typeface="Times New Roman"/>
                <a:ea typeface="Menlo" charset="0"/>
                <a:cs typeface="Times New Roman"/>
              </a:rPr>
              <a:t>FROM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		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tabla1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FULL OUTER JOIN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		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tabla2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						tabla1.campo1 = tabla2.campo1;</a:t>
            </a:r>
          </a:p>
        </p:txBody>
      </p:sp>
    </p:spTree>
    <p:extLst>
      <p:ext uri="{BB962C8B-B14F-4D97-AF65-F5344CB8AC3E}">
        <p14:creationId xmlns:p14="http://schemas.microsoft.com/office/powerpoint/2010/main" val="1302113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643" y="3869884"/>
            <a:ext cx="10058400" cy="540405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s-EC" sz="2800" dirty="0"/>
              <a:t>Devuelve todas las personas e información de los departamentos.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FULL OUTER JOIN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25861" t="66821" r="50000" b="10636"/>
          <a:stretch/>
        </p:blipFill>
        <p:spPr>
          <a:xfrm>
            <a:off x="9810923" y="110430"/>
            <a:ext cx="2381077" cy="15459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0137" y="4679596"/>
            <a:ext cx="5059348" cy="12311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/>
                <a:ea typeface="Menlo" charset="0"/>
                <a:cs typeface="Consolas"/>
              </a:rPr>
              <a:t>SELECT</a:t>
            </a:r>
            <a:r>
              <a:rPr lang="en-US" dirty="0">
                <a:solidFill>
                  <a:schemeClr val="accent2"/>
                </a:solidFill>
                <a:latin typeface="Times New Roman"/>
                <a:ea typeface="Menlo" charset="0"/>
                <a:cs typeface="Times New Roman"/>
              </a:rPr>
              <a:t> </a:t>
            </a:r>
            <a:r>
              <a:rPr lang="en-US" dirty="0" err="1">
                <a:latin typeface="Consolas"/>
                <a:cs typeface="Consolas"/>
              </a:rPr>
              <a:t>nombre</a:t>
            </a:r>
            <a:r>
              <a:rPr lang="en-US" dirty="0">
                <a:latin typeface="Consolas"/>
                <a:cs typeface="Consolas"/>
              </a:rPr>
              <a:t>, apellido1, </a:t>
            </a:r>
            <a:r>
              <a:rPr lang="en-US" dirty="0" err="1">
                <a:latin typeface="Consolas"/>
                <a:cs typeface="Consolas"/>
              </a:rPr>
              <a:t>departamento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chemeClr val="accent2"/>
                </a:solidFill>
                <a:latin typeface="Consolas"/>
                <a:ea typeface="Menlo" charset="0"/>
                <a:cs typeface="Consolas"/>
              </a:rPr>
              <a:t>FROM </a:t>
            </a:r>
            <a:r>
              <a:rPr lang="en-US" dirty="0">
                <a:latin typeface="Consolas"/>
                <a:cs typeface="Consolas"/>
              </a:rPr>
              <a:t>personas p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FULL OUTER JOIN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err="1">
                <a:latin typeface="Consolas"/>
                <a:cs typeface="Consolas"/>
              </a:rPr>
              <a:t>departamentos</a:t>
            </a:r>
            <a:r>
              <a:rPr lang="en-US" dirty="0">
                <a:latin typeface="Consolas"/>
                <a:cs typeface="Consolas"/>
              </a:rPr>
              <a:t> d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ON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p.dep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=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d.dep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611914"/>
              </p:ext>
            </p:extLst>
          </p:nvPr>
        </p:nvGraphicFramePr>
        <p:xfrm>
          <a:off x="5860965" y="4468538"/>
          <a:ext cx="5660400" cy="18542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4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ADMINISTRACION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GARCIA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INFORMATICA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92655"/>
              </p:ext>
            </p:extLst>
          </p:nvPr>
        </p:nvGraphicFramePr>
        <p:xfrm>
          <a:off x="970067" y="2115896"/>
          <a:ext cx="5379474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GOMEZ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GARCIA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RODRIGUEZ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GONZALEZ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780186"/>
              </p:ext>
            </p:extLst>
          </p:nvPr>
        </p:nvGraphicFramePr>
        <p:xfrm>
          <a:off x="7242717" y="2197731"/>
          <a:ext cx="3622051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9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ADMINISTRACION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INFORMATICA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0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build="p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FULL OUTER JOIN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51430" t="66821" r="24431" b="10636"/>
          <a:stretch/>
        </p:blipFill>
        <p:spPr>
          <a:xfrm>
            <a:off x="9810923" y="75148"/>
            <a:ext cx="2381077" cy="15459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0137" y="4679596"/>
            <a:ext cx="500735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/>
                <a:ea typeface="Menlo" charset="0"/>
                <a:cs typeface="Consolas"/>
              </a:rPr>
              <a:t>SELECT</a:t>
            </a:r>
            <a:r>
              <a:rPr lang="en-US" dirty="0">
                <a:solidFill>
                  <a:schemeClr val="accent2"/>
                </a:solidFill>
                <a:latin typeface="Times New Roman"/>
                <a:ea typeface="Menlo" charset="0"/>
                <a:cs typeface="Times New Roman"/>
              </a:rPr>
              <a:t> </a:t>
            </a:r>
            <a:r>
              <a:rPr lang="en-US" dirty="0" err="1">
                <a:latin typeface="Consolas"/>
                <a:cs typeface="Consolas"/>
              </a:rPr>
              <a:t>nombre</a:t>
            </a:r>
            <a:r>
              <a:rPr lang="en-US" dirty="0">
                <a:latin typeface="Consolas"/>
                <a:cs typeface="Consolas"/>
              </a:rPr>
              <a:t>, apellido1, </a:t>
            </a:r>
            <a:r>
              <a:rPr lang="en-US" dirty="0" err="1">
                <a:latin typeface="Consolas"/>
                <a:cs typeface="Consolas"/>
              </a:rPr>
              <a:t>departamento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chemeClr val="accent2"/>
                </a:solidFill>
                <a:latin typeface="Consolas"/>
                <a:ea typeface="Menlo" charset="0"/>
                <a:cs typeface="Consolas"/>
              </a:rPr>
              <a:t>FROM </a:t>
            </a:r>
            <a:r>
              <a:rPr lang="en-US" dirty="0">
                <a:latin typeface="Consolas"/>
                <a:cs typeface="Consolas"/>
              </a:rPr>
              <a:t>personas p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FULL OUTER JOIN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err="1">
                <a:latin typeface="Consolas"/>
                <a:cs typeface="Consolas"/>
              </a:rPr>
              <a:t>departamentos</a:t>
            </a:r>
            <a:r>
              <a:rPr lang="en-US" dirty="0">
                <a:latin typeface="Consolas"/>
                <a:cs typeface="Consolas"/>
              </a:rPr>
              <a:t> d</a:t>
            </a: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p.dep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=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d.dep</a:t>
            </a:r>
            <a:endParaRPr lang="en-US" dirty="0">
              <a:solidFill>
                <a:schemeClr val="tx1"/>
              </a:solidFill>
              <a:latin typeface="Consolas"/>
              <a:cs typeface="Consolas"/>
            </a:endParaRPr>
          </a:p>
          <a:p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WHERE </a:t>
            </a:r>
            <a:r>
              <a:rPr lang="en-US" dirty="0" err="1">
                <a:solidFill>
                  <a:srgbClr val="FF0000"/>
                </a:solidFill>
                <a:latin typeface="Consolas"/>
                <a:cs typeface="Consolas"/>
              </a:rPr>
              <a:t>d.dep</a:t>
            </a:r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 IS NULL OR </a:t>
            </a:r>
            <a:r>
              <a:rPr lang="en-US" dirty="0" err="1">
                <a:solidFill>
                  <a:srgbClr val="FF0000"/>
                </a:solidFill>
                <a:latin typeface="Consolas"/>
                <a:cs typeface="Consolas"/>
              </a:rPr>
              <a:t>p.dep</a:t>
            </a:r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 IS NULL;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004312"/>
              </p:ext>
            </p:extLst>
          </p:nvPr>
        </p:nvGraphicFramePr>
        <p:xfrm>
          <a:off x="5860965" y="4856644"/>
          <a:ext cx="5660400" cy="1112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4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093894"/>
              </p:ext>
            </p:extLst>
          </p:nvPr>
        </p:nvGraphicFramePr>
        <p:xfrm>
          <a:off x="970067" y="2115896"/>
          <a:ext cx="5379474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apellido2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GOMEZ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GARCIA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RODRIGUEZ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GONZALEZ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04472"/>
              </p:ext>
            </p:extLst>
          </p:nvPr>
        </p:nvGraphicFramePr>
        <p:xfrm>
          <a:off x="7242717" y="2197731"/>
          <a:ext cx="3622051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9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departamento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ADMINISTRACION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INFORMATICA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val 3"/>
          <p:cNvSpPr/>
          <p:nvPr/>
        </p:nvSpPr>
        <p:spPr>
          <a:xfrm>
            <a:off x="12066561" y="1076111"/>
            <a:ext cx="154633" cy="6703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4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3804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RESUMEN JOIN – 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OPERADORES DE CONJUNTO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34844"/>
              </p:ext>
            </p:extLst>
          </p:nvPr>
        </p:nvGraphicFramePr>
        <p:xfrm>
          <a:off x="276097" y="1511063"/>
          <a:ext cx="11577683" cy="5120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34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3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OPERADORES DE CONJUNTO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JOIN / INNER JOIN</a:t>
                      </a:r>
                    </a:p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NATURAL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Devuelve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filas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que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cumplan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 con la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condición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INTERSECT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RIGHT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Devuelve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filas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de la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segunda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tabla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aunque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no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cumplan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con la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condición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RIGHT JOIN… WHERE… IS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NULL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Devuelve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filas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de la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segunda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tabla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excluyendo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que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no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cumplan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con la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condición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EXCEPT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LEFT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Devuelve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filas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de la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primera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tabla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aunque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no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cumplan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con la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condición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LEFT JOIN…</a:t>
                      </a:r>
                    </a:p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WHERE… IS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NULL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Devuelve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filas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de la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primera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tabla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excluyendo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que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no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cumplan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con la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condición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EXCEPT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FULL OUTER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JOIN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/>
                        <a:t>Devuelve (coincidan o no coincidan) las filas de las tablas en ambos lados de la clausula join.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UNION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FULL OUTER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/>
                        <a:t>Devuelve (únicamente si</a:t>
                      </a:r>
                      <a:r>
                        <a:rPr lang="es-EC" sz="1800" baseline="0" dirty="0"/>
                        <a:t> </a:t>
                      </a:r>
                      <a:r>
                        <a:rPr lang="es-EC" sz="1800" dirty="0"/>
                        <a:t>coinciden) las filas de las tablas en ambos lados de la clausula join.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UNION EXCEPT INTERSECT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8350" t="16720" r="37511" b="59871"/>
          <a:stretch/>
        </p:blipFill>
        <p:spPr>
          <a:xfrm>
            <a:off x="10381261" y="2217026"/>
            <a:ext cx="773075" cy="5212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75861" t="-260" b="77717"/>
          <a:stretch/>
        </p:blipFill>
        <p:spPr>
          <a:xfrm>
            <a:off x="10307636" y="2871115"/>
            <a:ext cx="801456" cy="5203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75861" t="39097" b="38360"/>
          <a:stretch/>
        </p:blipFill>
        <p:spPr>
          <a:xfrm>
            <a:off x="10331331" y="3478468"/>
            <a:ext cx="796165" cy="5169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-257" t="39179" r="76118" b="38278"/>
          <a:stretch/>
        </p:blipFill>
        <p:spPr>
          <a:xfrm>
            <a:off x="10362855" y="4766786"/>
            <a:ext cx="761568" cy="4944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-630" t="-3" r="76491" b="77460"/>
          <a:stretch/>
        </p:blipFill>
        <p:spPr>
          <a:xfrm>
            <a:off x="10362856" y="4141030"/>
            <a:ext cx="743930" cy="4830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51430" t="66821" r="24431" b="10636"/>
          <a:stretch/>
        </p:blipFill>
        <p:spPr>
          <a:xfrm>
            <a:off x="10453700" y="6041791"/>
            <a:ext cx="719682" cy="4672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25861" t="66821" r="50000" b="10636"/>
          <a:stretch/>
        </p:blipFill>
        <p:spPr>
          <a:xfrm>
            <a:off x="10412025" y="5379700"/>
            <a:ext cx="761357" cy="49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008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A8DFF3"/>
      </a:accent1>
      <a:accent2>
        <a:srgbClr val="2C8ED5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6832</TotalTime>
  <Words>2624</Words>
  <Application>Microsoft Macintosh PowerPoint</Application>
  <PresentationFormat>Widescreen</PresentationFormat>
  <Paragraphs>579</Paragraphs>
  <Slides>42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Calibri</vt:lpstr>
      <vt:lpstr>Calibri Light</vt:lpstr>
      <vt:lpstr>Consolas</vt:lpstr>
      <vt:lpstr>Menlo</vt:lpstr>
      <vt:lpstr>Menlo Bold</vt:lpstr>
      <vt:lpstr>Times New Roman</vt:lpstr>
      <vt:lpstr>Wingdings</vt:lpstr>
      <vt:lpstr>Retrospect</vt:lpstr>
      <vt:lpstr>SISTEMAS DE  BASES DE DATOS  TICG1001</vt:lpstr>
      <vt:lpstr>PowerPoint Presentation</vt:lpstr>
      <vt:lpstr>ALL, ANY, EXISTS</vt:lpstr>
      <vt:lpstr>Otros Operadores de Subqueries</vt:lpstr>
      <vt:lpstr>Otros Operadores de Subqueries</vt:lpstr>
      <vt:lpstr>Queries anidados alternativos a INTERSECT y EXCEPT</vt:lpstr>
      <vt:lpstr>QUERIES CORRELACIONADOS</vt:lpstr>
      <vt:lpstr>Query Complejos Correlacionados</vt:lpstr>
      <vt:lpstr>SUBQUERY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NULLS</vt:lpstr>
      <vt:lpstr>PowerPoint Presentation</vt:lpstr>
      <vt:lpstr>PowerPoint Presentation</vt:lpstr>
      <vt:lpstr>Valores NULL</vt:lpstr>
      <vt:lpstr>PowerPoint Presentation</vt:lpstr>
      <vt:lpstr>JOINS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paolis</dc:creator>
  <cp:lastModifiedBy>Vanessa Ines Cedeno Mieles</cp:lastModifiedBy>
  <cp:revision>240</cp:revision>
  <dcterms:created xsi:type="dcterms:W3CDTF">2016-04-18T15:18:48Z</dcterms:created>
  <dcterms:modified xsi:type="dcterms:W3CDTF">2019-12-18T13:17:39Z</dcterms:modified>
</cp:coreProperties>
</file>
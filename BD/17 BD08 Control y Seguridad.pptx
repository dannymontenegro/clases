
<file path=[Content_Types].xml><?xml version="1.0" encoding="utf-8"?>
<Types xmlns="http://schemas.openxmlformats.org/package/2006/content-types">
  <Default Extension="docx" ContentType="application/vnd.openxmlformats-officedocument.wordprocessingml.documen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4" r:id="rId1"/>
  </p:sldMasterIdLst>
  <p:notesMasterIdLst>
    <p:notesMasterId r:id="rId35"/>
  </p:notesMasterIdLst>
  <p:sldIdLst>
    <p:sldId id="424" r:id="rId2"/>
    <p:sldId id="256" r:id="rId3"/>
    <p:sldId id="394" r:id="rId4"/>
    <p:sldId id="387" r:id="rId5"/>
    <p:sldId id="395" r:id="rId6"/>
    <p:sldId id="396" r:id="rId7"/>
    <p:sldId id="419" r:id="rId8"/>
    <p:sldId id="397" r:id="rId9"/>
    <p:sldId id="398" r:id="rId10"/>
    <p:sldId id="402" r:id="rId11"/>
    <p:sldId id="399" r:id="rId12"/>
    <p:sldId id="400" r:id="rId13"/>
    <p:sldId id="401" r:id="rId14"/>
    <p:sldId id="420" r:id="rId15"/>
    <p:sldId id="404" r:id="rId16"/>
    <p:sldId id="405" r:id="rId17"/>
    <p:sldId id="406" r:id="rId18"/>
    <p:sldId id="407" r:id="rId19"/>
    <p:sldId id="408" r:id="rId20"/>
    <p:sldId id="409" r:id="rId21"/>
    <p:sldId id="425" r:id="rId22"/>
    <p:sldId id="426" r:id="rId23"/>
    <p:sldId id="410" r:id="rId24"/>
    <p:sldId id="411" r:id="rId25"/>
    <p:sldId id="412" r:id="rId26"/>
    <p:sldId id="413" r:id="rId27"/>
    <p:sldId id="423" r:id="rId28"/>
    <p:sldId id="422" r:id="rId29"/>
    <p:sldId id="427" r:id="rId30"/>
    <p:sldId id="414" r:id="rId31"/>
    <p:sldId id="416" r:id="rId32"/>
    <p:sldId id="428" r:id="rId33"/>
    <p:sldId id="418" r:id="rId3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0" autoAdjust="0"/>
    <p:restoredTop sz="92721" autoAdjust="0"/>
  </p:normalViewPr>
  <p:slideViewPr>
    <p:cSldViewPr snapToGrid="0">
      <p:cViewPr varScale="1">
        <p:scale>
          <a:sx n="118" d="100"/>
          <a:sy n="118" d="100"/>
        </p:scale>
        <p:origin x="624" y="20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E3594B-FEBB-48A3-8BDF-DB05D5DE02C0}" type="datetimeFigureOut">
              <a:rPr lang="en-US" smtClean="0"/>
              <a:t>1/4/20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610BFD-0FCF-4A7B-9E85-8F7D0B3163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10492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Alarcon (no </a:t>
            </a:r>
            <a:r>
              <a:rPr lang="en-US" dirty="0" err="1"/>
              <a:t>tiene</a:t>
            </a:r>
            <a:r>
              <a:rPr lang="en-US" baseline="0" dirty="0"/>
              <a:t> nada)</a:t>
            </a: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/>
              <a:t>Bermudez (no </a:t>
            </a:r>
            <a:r>
              <a:rPr lang="en-US" dirty="0" err="1"/>
              <a:t>tiene</a:t>
            </a:r>
            <a:r>
              <a:rPr lang="en-US" baseline="0" dirty="0"/>
              <a:t> </a:t>
            </a:r>
            <a:r>
              <a:rPr lang="en-US" baseline="0" dirty="0" err="1"/>
              <a:t>cliente</a:t>
            </a:r>
            <a:r>
              <a:rPr lang="en-US" baseline="0" dirty="0"/>
              <a:t> </a:t>
            </a:r>
            <a:r>
              <a:rPr lang="en-US" baseline="0" dirty="0" err="1"/>
              <a:t>servidor</a:t>
            </a:r>
            <a:r>
              <a:rPr lang="en-US" baseline="0" dirty="0"/>
              <a:t>)</a:t>
            </a:r>
          </a:p>
          <a:p>
            <a:pPr marL="171450" indent="-171450">
              <a:buFontTx/>
              <a:buChar char="-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610BFD-0FCF-4A7B-9E85-8F7D0B3163E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56710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RELOAD </a:t>
            </a:r>
            <a:r>
              <a:rPr lang="en-US" dirty="0">
                <a:sym typeface="Wingdings"/>
              </a:rPr>
              <a:t> </a:t>
            </a:r>
            <a:r>
              <a:rPr lang="en-US" dirty="0" err="1">
                <a:sym typeface="Wingdings"/>
              </a:rPr>
              <a:t>permite</a:t>
            </a:r>
            <a:r>
              <a:rPr lang="en-US" baseline="0" dirty="0">
                <a:sym typeface="Wingdings"/>
              </a:rPr>
              <a:t> </a:t>
            </a:r>
            <a:r>
              <a:rPr lang="en-US" baseline="0" dirty="0" err="1">
                <a:sym typeface="Wingdings"/>
              </a:rPr>
              <a:t>hacer</a:t>
            </a:r>
            <a:r>
              <a:rPr lang="en-US" baseline="0" dirty="0">
                <a:sym typeface="Wingdings"/>
              </a:rPr>
              <a:t> el flush privileges</a:t>
            </a:r>
          </a:p>
          <a:p>
            <a:r>
              <a:rPr lang="en-US" baseline="0" dirty="0">
                <a:sym typeface="Wingdings"/>
              </a:rPr>
              <a:t>PROCESS  </a:t>
            </a:r>
            <a:r>
              <a:rPr lang="en-US" baseline="0" dirty="0" err="1">
                <a:sym typeface="Wingdings"/>
              </a:rPr>
              <a:t>permite</a:t>
            </a:r>
            <a:r>
              <a:rPr lang="en-US" baseline="0" dirty="0">
                <a:sym typeface="Wingdings"/>
              </a:rPr>
              <a:t> </a:t>
            </a:r>
            <a:r>
              <a:rPr lang="en-US" baseline="0" dirty="0" err="1">
                <a:sym typeface="Wingdings"/>
              </a:rPr>
              <a:t>ver</a:t>
            </a:r>
            <a:r>
              <a:rPr lang="en-US" baseline="0" dirty="0">
                <a:sym typeface="Wingdings"/>
              </a:rPr>
              <a:t> los </a:t>
            </a:r>
            <a:r>
              <a:rPr lang="en-US" baseline="0" dirty="0" err="1">
                <a:sym typeface="Wingdings"/>
              </a:rPr>
              <a:t>procesos</a:t>
            </a:r>
            <a:r>
              <a:rPr lang="en-US" baseline="0" dirty="0">
                <a:sym typeface="Wingdings"/>
              </a:rPr>
              <a:t> </a:t>
            </a:r>
            <a:r>
              <a:rPr lang="en-US" baseline="0" dirty="0" err="1">
                <a:sym typeface="Wingdings"/>
              </a:rPr>
              <a:t>corriendo</a:t>
            </a:r>
            <a:r>
              <a:rPr lang="en-US" baseline="0" dirty="0">
                <a:sym typeface="Wingdings"/>
              </a:rPr>
              <a:t>, inclusive el statement </a:t>
            </a:r>
            <a:r>
              <a:rPr lang="en-US" baseline="0" dirty="0" err="1">
                <a:sym typeface="Wingdings"/>
              </a:rPr>
              <a:t>ejecutandose</a:t>
            </a:r>
            <a:r>
              <a:rPr lang="en-US" baseline="0" dirty="0">
                <a:sym typeface="Wingdings"/>
              </a:rPr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610BFD-0FCF-4A7B-9E85-8F7D0B3163EE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99320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0E41BB-A861-4D90-850C-7108642C9483}" type="datetimeFigureOut">
              <a:rPr lang="en-US" smtClean="0"/>
              <a:t>1/4/20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5F5FFA-4EE2-4536-9065-FD1D0C5216A1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914928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0E41BB-A861-4D90-850C-7108642C9483}" type="datetimeFigureOut">
              <a:rPr lang="en-US" smtClean="0"/>
              <a:t>1/4/20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5F5FFA-4EE2-4536-9065-FD1D0C5216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9810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0E41BB-A861-4D90-850C-7108642C9483}" type="datetimeFigureOut">
              <a:rPr lang="en-US" smtClean="0"/>
              <a:t>1/4/20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5F5FFA-4EE2-4536-9065-FD1D0C5216A1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319169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1845734"/>
            <a:ext cx="4937760" cy="402335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0E41BB-A861-4D90-850C-7108642C9483}" type="datetimeFigureOut">
              <a:rPr lang="en-US" smtClean="0"/>
              <a:t>1/4/20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5F5FFA-4EE2-4536-9065-FD1D0C5216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40851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5"/>
            <a:ext cx="4937760" cy="32867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2867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0E41BB-A861-4D90-850C-7108642C9483}" type="datetimeFigureOut">
              <a:rPr lang="en-US" smtClean="0"/>
              <a:t>1/4/20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5F5FFA-4EE2-4536-9065-FD1D0C5216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44475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0E41BB-A861-4D90-850C-7108642C9483}" type="datetimeFigureOut">
              <a:rPr lang="en-US" smtClean="0"/>
              <a:t>1/4/20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5F5FFA-4EE2-4536-9065-FD1D0C5216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8598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0E41BB-A861-4D90-850C-7108642C9483}" type="datetimeFigureOut">
              <a:rPr lang="en-US" smtClean="0"/>
              <a:t>1/4/20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5F5FFA-4EE2-4536-9065-FD1D0C5216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13285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C20E41BB-A861-4D90-850C-7108642C9483}" type="datetimeFigureOut">
              <a:rPr lang="en-US" smtClean="0"/>
              <a:t>1/4/20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05F5FFA-4EE2-4536-9065-FD1D0C5216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78651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0E41BB-A861-4D90-850C-7108642C9483}" type="datetimeFigureOut">
              <a:rPr lang="en-US" smtClean="0"/>
              <a:t>1/4/20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5F5FFA-4EE2-4536-9065-FD1D0C5216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15270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0E41BB-A861-4D90-850C-7108642C9483}" type="datetimeFigureOut">
              <a:rPr lang="en-US" smtClean="0"/>
              <a:t>1/4/20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5F5FFA-4EE2-4536-9065-FD1D0C5216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95552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0E41BB-A861-4D90-850C-7108642C9483}" type="datetimeFigureOut">
              <a:rPr lang="en-US" smtClean="0"/>
              <a:t>1/4/20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5F5FFA-4EE2-4536-9065-FD1D0C5216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80312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C20E41BB-A861-4D90-850C-7108642C9483}" type="datetimeFigureOut">
              <a:rPr lang="en-US" smtClean="0"/>
              <a:t>1/4/20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205F5FFA-4EE2-4536-9065-FD1D0C5216A1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 descr="espol.png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74095" cy="1107552"/>
          </a:xfrm>
          <a:prstGeom prst="rect">
            <a:avLst/>
          </a:prstGeom>
        </p:spPr>
      </p:pic>
      <p:sp>
        <p:nvSpPr>
          <p:cNvPr id="13" name="Footer Placeholder 4"/>
          <p:cNvSpPr txBox="1">
            <a:spLocks/>
          </p:cNvSpPr>
          <p:nvPr userDrawn="1"/>
        </p:nvSpPr>
        <p:spPr>
          <a:xfrm>
            <a:off x="3802299" y="649287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800" kern="1200" cap="all" baseline="0">
                <a:solidFill>
                  <a:srgbClr val="FF0000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NO UTILIZAR COMO MATERIAL DE ESTUDIO</a:t>
            </a:r>
          </a:p>
        </p:txBody>
      </p:sp>
      <p:pic>
        <p:nvPicPr>
          <p:cNvPr id="14" name="Picture 13" descr="fiec.png"/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5142" y="6415974"/>
            <a:ext cx="1886857" cy="442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10641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Document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23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5400" b="1" dirty="0">
                <a:latin typeface="Cambria"/>
                <a:cs typeface="Cambria"/>
              </a:rPr>
              <a:t>CONTROL DE LECTURA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4"/>
            <a:ext cx="9881160" cy="4023360"/>
          </a:xfrm>
        </p:spPr>
        <p:txBody>
          <a:bodyPr>
            <a:normAutofit/>
          </a:bodyPr>
          <a:lstStyle/>
          <a:p>
            <a:pPr marL="457200" indent="-457200">
              <a:buClr>
                <a:srgbClr val="0000FF"/>
              </a:buClr>
              <a:buFont typeface="+mj-lt"/>
              <a:buAutoNum type="arabicPeriod"/>
            </a:pPr>
            <a:r>
              <a:rPr lang="en-US" sz="2400" dirty="0" err="1">
                <a:solidFill>
                  <a:srgbClr val="000000"/>
                </a:solidFill>
              </a:rPr>
              <a:t>Objetivo</a:t>
            </a:r>
            <a:r>
              <a:rPr lang="en-US" sz="2400" dirty="0">
                <a:solidFill>
                  <a:srgbClr val="000000"/>
                </a:solidFill>
              </a:rPr>
              <a:t> principal de la </a:t>
            </a:r>
            <a:r>
              <a:rPr lang="en-US" sz="2400" dirty="0" err="1">
                <a:solidFill>
                  <a:srgbClr val="000000"/>
                </a:solidFill>
              </a:rPr>
              <a:t>optimización</a:t>
            </a:r>
            <a:r>
              <a:rPr lang="en-US" sz="2400" dirty="0">
                <a:solidFill>
                  <a:srgbClr val="000000"/>
                </a:solidFill>
              </a:rPr>
              <a:t> de queries</a:t>
            </a:r>
          </a:p>
          <a:p>
            <a:pPr marL="457200" indent="-457200">
              <a:buClr>
                <a:srgbClr val="0000FF"/>
              </a:buClr>
              <a:buFont typeface="+mj-lt"/>
              <a:buAutoNum type="arabicPeriod"/>
            </a:pPr>
            <a:r>
              <a:rPr lang="en-US" sz="2400" dirty="0" err="1">
                <a:solidFill>
                  <a:srgbClr val="000000"/>
                </a:solidFill>
              </a:rPr>
              <a:t>Qué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dirty="0" err="1">
                <a:solidFill>
                  <a:srgbClr val="000000"/>
                </a:solidFill>
              </a:rPr>
              <a:t>puntos</a:t>
            </a:r>
            <a:r>
              <a:rPr lang="en-US" sz="2400" dirty="0">
                <a:solidFill>
                  <a:srgbClr val="000000"/>
                </a:solidFill>
              </a:rPr>
              <a:t> son </a:t>
            </a:r>
            <a:r>
              <a:rPr lang="en-US" sz="2400" dirty="0" err="1">
                <a:solidFill>
                  <a:srgbClr val="000000"/>
                </a:solidFill>
              </a:rPr>
              <a:t>importantes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dirty="0" err="1">
                <a:solidFill>
                  <a:srgbClr val="000000"/>
                </a:solidFill>
              </a:rPr>
              <a:t>observar</a:t>
            </a:r>
            <a:r>
              <a:rPr lang="en-US" sz="2400" dirty="0">
                <a:solidFill>
                  <a:srgbClr val="000000"/>
                </a:solidFill>
              </a:rPr>
              <a:t> a la </a:t>
            </a:r>
            <a:r>
              <a:rPr lang="en-US" sz="2400" dirty="0" err="1">
                <a:solidFill>
                  <a:srgbClr val="000000"/>
                </a:solidFill>
              </a:rPr>
              <a:t>hora</a:t>
            </a:r>
            <a:r>
              <a:rPr lang="en-US" sz="2400" dirty="0">
                <a:solidFill>
                  <a:srgbClr val="000000"/>
                </a:solidFill>
              </a:rPr>
              <a:t> de </a:t>
            </a:r>
            <a:r>
              <a:rPr lang="en-US" sz="2400" dirty="0" err="1">
                <a:solidFill>
                  <a:srgbClr val="000000"/>
                </a:solidFill>
              </a:rPr>
              <a:t>optimizar</a:t>
            </a:r>
            <a:r>
              <a:rPr lang="en-US" sz="2400" dirty="0">
                <a:solidFill>
                  <a:srgbClr val="000000"/>
                </a:solidFill>
              </a:rPr>
              <a:t> un query? </a:t>
            </a:r>
            <a:r>
              <a:rPr lang="en-US" sz="2400" dirty="0" err="1">
                <a:solidFill>
                  <a:srgbClr val="000000"/>
                </a:solidFill>
              </a:rPr>
              <a:t>Por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dirty="0" err="1">
                <a:solidFill>
                  <a:srgbClr val="000000"/>
                </a:solidFill>
              </a:rPr>
              <a:t>ejemplo</a:t>
            </a:r>
            <a:r>
              <a:rPr lang="en-US" sz="2400" dirty="0">
                <a:solidFill>
                  <a:srgbClr val="000000"/>
                </a:solidFill>
              </a:rPr>
              <a:t>: </a:t>
            </a:r>
            <a:r>
              <a:rPr lang="en-US" sz="2400" dirty="0" err="1">
                <a:solidFill>
                  <a:srgbClr val="000000"/>
                </a:solidFill>
              </a:rPr>
              <a:t>tiempo</a:t>
            </a:r>
            <a:r>
              <a:rPr lang="en-US" sz="2400" dirty="0">
                <a:solidFill>
                  <a:srgbClr val="000000"/>
                </a:solidFill>
              </a:rPr>
              <a:t> de </a:t>
            </a:r>
            <a:r>
              <a:rPr lang="en-US" sz="2400" dirty="0" err="1">
                <a:solidFill>
                  <a:srgbClr val="000000"/>
                </a:solidFill>
              </a:rPr>
              <a:t>ejecución</a:t>
            </a:r>
            <a:r>
              <a:rPr lang="en-US" sz="2400" dirty="0">
                <a:solidFill>
                  <a:srgbClr val="000000"/>
                </a:solidFill>
              </a:rPr>
              <a:t> del query.</a:t>
            </a:r>
          </a:p>
          <a:p>
            <a:pPr marL="457200" indent="-457200">
              <a:buClr>
                <a:srgbClr val="0000FF"/>
              </a:buClr>
              <a:buFont typeface="+mj-lt"/>
              <a:buAutoNum type="arabicPeriod"/>
            </a:pPr>
            <a:r>
              <a:rPr lang="en-US" sz="2400" dirty="0" err="1">
                <a:solidFill>
                  <a:srgbClr val="000000"/>
                </a:solidFill>
              </a:rPr>
              <a:t>Convierta</a:t>
            </a:r>
            <a:r>
              <a:rPr lang="en-US" sz="2400" dirty="0">
                <a:solidFill>
                  <a:srgbClr val="000000"/>
                </a:solidFill>
              </a:rPr>
              <a:t> a AR el </a:t>
            </a:r>
            <a:r>
              <a:rPr lang="en-US" sz="2400" dirty="0" err="1">
                <a:solidFill>
                  <a:srgbClr val="000000"/>
                </a:solidFill>
              </a:rPr>
              <a:t>siguiente</a:t>
            </a:r>
            <a:r>
              <a:rPr lang="en-US" sz="2400" dirty="0">
                <a:solidFill>
                  <a:srgbClr val="000000"/>
                </a:solidFill>
              </a:rPr>
              <a:t> query:</a:t>
            </a:r>
          </a:p>
          <a:p>
            <a:pPr marL="457200" indent="-457200">
              <a:buClr>
                <a:srgbClr val="0000FF"/>
              </a:buClr>
              <a:buFont typeface="+mj-lt"/>
              <a:buAutoNum type="arabicPeriod"/>
            </a:pPr>
            <a:endParaRPr lang="en-US" sz="2400" dirty="0"/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s-ES_tradnl" sz="2800" dirty="0" err="1">
                <a:solidFill>
                  <a:schemeClr val="tx1"/>
                </a:solidFill>
              </a:rPr>
              <a:t>select</a:t>
            </a:r>
            <a:r>
              <a:rPr lang="es-ES_tradnl" sz="2800" dirty="0">
                <a:solidFill>
                  <a:schemeClr val="tx1"/>
                </a:solidFill>
              </a:rPr>
              <a:t>  </a:t>
            </a:r>
            <a:r>
              <a:rPr lang="es-ES_tradnl" sz="2800" dirty="0" err="1">
                <a:solidFill>
                  <a:schemeClr val="tx1"/>
                </a:solidFill>
              </a:rPr>
              <a:t>e.nombre</a:t>
            </a:r>
            <a:r>
              <a:rPr lang="es-ES_tradnl" sz="2800" dirty="0">
                <a:solidFill>
                  <a:schemeClr val="tx1"/>
                </a:solidFill>
              </a:rPr>
              <a:t>, </a:t>
            </a:r>
            <a:r>
              <a:rPr lang="es-ES_tradnl" sz="2800" dirty="0" err="1">
                <a:solidFill>
                  <a:schemeClr val="tx1"/>
                </a:solidFill>
              </a:rPr>
              <a:t>s.nombre</a:t>
            </a:r>
            <a:r>
              <a:rPr lang="es-ES_tradnl" sz="2800" dirty="0">
                <a:solidFill>
                  <a:schemeClr val="tx1"/>
                </a:solidFill>
              </a:rPr>
              <a:t> </a:t>
            </a:r>
            <a:r>
              <a:rPr lang="es-ES_tradnl" sz="2800" dirty="0" err="1">
                <a:solidFill>
                  <a:schemeClr val="tx1"/>
                </a:solidFill>
              </a:rPr>
              <a:t>from</a:t>
            </a:r>
            <a:r>
              <a:rPr lang="es-ES_tradnl" sz="2800" dirty="0">
                <a:solidFill>
                  <a:schemeClr val="tx1"/>
                </a:solidFill>
              </a:rPr>
              <a:t> empleado e, sucursal s </a:t>
            </a:r>
            <a:r>
              <a:rPr lang="es-ES_tradnl" sz="2800" dirty="0" err="1">
                <a:solidFill>
                  <a:schemeClr val="tx1"/>
                </a:solidFill>
              </a:rPr>
              <a:t>where</a:t>
            </a:r>
            <a:r>
              <a:rPr lang="es-ES_tradnl" sz="2800" dirty="0">
                <a:solidFill>
                  <a:schemeClr val="tx1"/>
                </a:solidFill>
              </a:rPr>
              <a:t> </a:t>
            </a:r>
            <a:r>
              <a:rPr lang="es-ES_tradnl" sz="2800" dirty="0" err="1">
                <a:solidFill>
                  <a:schemeClr val="tx1"/>
                </a:solidFill>
              </a:rPr>
              <a:t>e.sucursalNo</a:t>
            </a:r>
            <a:r>
              <a:rPr lang="es-ES_tradnl" sz="2800" dirty="0">
                <a:solidFill>
                  <a:schemeClr val="tx1"/>
                </a:solidFill>
              </a:rPr>
              <a:t> = </a:t>
            </a:r>
            <a:r>
              <a:rPr lang="es-ES_tradnl" sz="2800" dirty="0" err="1">
                <a:solidFill>
                  <a:schemeClr val="tx1"/>
                </a:solidFill>
              </a:rPr>
              <a:t>s.sucursalNo</a:t>
            </a:r>
            <a:r>
              <a:rPr lang="es-ES_tradnl" sz="2800" dirty="0">
                <a:solidFill>
                  <a:schemeClr val="tx1"/>
                </a:solidFill>
              </a:rPr>
              <a:t> and </a:t>
            </a:r>
            <a:r>
              <a:rPr lang="es-ES_tradnl" sz="2800" dirty="0" err="1">
                <a:solidFill>
                  <a:schemeClr val="tx1"/>
                </a:solidFill>
              </a:rPr>
              <a:t>e.posicion</a:t>
            </a:r>
            <a:r>
              <a:rPr lang="es-ES_tradnl" sz="2800" dirty="0">
                <a:solidFill>
                  <a:schemeClr val="tx1"/>
                </a:solidFill>
              </a:rPr>
              <a:t> = ‘Jefe Administrativo’ and </a:t>
            </a:r>
            <a:r>
              <a:rPr lang="es-ES_tradnl" sz="2800" dirty="0" err="1">
                <a:solidFill>
                  <a:schemeClr val="tx1"/>
                </a:solidFill>
              </a:rPr>
              <a:t>s.provincia</a:t>
            </a:r>
            <a:r>
              <a:rPr lang="es-ES_tradnl" sz="2800" dirty="0">
                <a:solidFill>
                  <a:schemeClr val="tx1"/>
                </a:solidFill>
              </a:rPr>
              <a:t>= ‘Guayas’;</a:t>
            </a:r>
            <a:endParaRPr lang="en-US" sz="2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79299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600" b="1" dirty="0">
                <a:latin typeface="Arial" panose="020B0604020202020204" pitchFamily="34" charset="0"/>
                <a:cs typeface="Arial" panose="020B0604020202020204" pitchFamily="34" charset="0"/>
              </a:rPr>
              <a:t>SISTEMAS DE </a:t>
            </a:r>
            <a:br>
              <a:rPr lang="en-US" sz="46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4600" b="1" dirty="0">
                <a:latin typeface="Arial" panose="020B0604020202020204" pitchFamily="34" charset="0"/>
                <a:cs typeface="Arial" panose="020B0604020202020204" pitchFamily="34" charset="0"/>
              </a:rPr>
              <a:t>BASES DE DATOS</a:t>
            </a:r>
            <a:br>
              <a:rPr lang="en-US" sz="46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sz="46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TICG1001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97280" y="4674015"/>
            <a:ext cx="10058400" cy="1044997"/>
          </a:xfrm>
        </p:spPr>
        <p:txBody>
          <a:bodyPr>
            <a:normAutofit fontScale="92500" lnSpcReduction="20000"/>
          </a:bodyPr>
          <a:lstStyle/>
          <a:p>
            <a:pPr algn="ctr"/>
            <a:r>
              <a:rPr lang="es-ES" sz="3600" b="1" dirty="0">
                <a:latin typeface="Arial" panose="020B0604020202020204" pitchFamily="34" charset="0"/>
                <a:cs typeface="Arial" panose="020B0604020202020204" pitchFamily="34" charset="0"/>
              </a:rPr>
              <a:t>UNIDAD 8</a:t>
            </a:r>
          </a:p>
          <a:p>
            <a:pPr algn="ctr"/>
            <a:r>
              <a:rPr lang="es-ES" sz="3600" b="1" dirty="0">
                <a:latin typeface="Arial" panose="020B0604020202020204" pitchFamily="34" charset="0"/>
                <a:cs typeface="Arial" panose="020B0604020202020204" pitchFamily="34" charset="0"/>
              </a:rPr>
              <a:t>Control y seguridad</a:t>
            </a:r>
          </a:p>
          <a:p>
            <a:pPr algn="ctr"/>
            <a:endParaRPr lang="es-ES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s-E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ubtitle 2"/>
          <p:cNvSpPr txBox="1">
            <a:spLocks/>
          </p:cNvSpPr>
          <p:nvPr/>
        </p:nvSpPr>
        <p:spPr>
          <a:xfrm>
            <a:off x="1243055" y="5548328"/>
            <a:ext cx="10058400" cy="7523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None/>
              <a:defRPr sz="2400" kern="1200" cap="all" spc="200" baseline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s-E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s-E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39161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1249680" y="334898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CONTENIDO</a:t>
            </a: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1249680" y="1861368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lnSpc>
                <a:spcPct val="70000"/>
              </a:lnSpc>
              <a:buClr>
                <a:srgbClr val="0000FF"/>
              </a:buClr>
              <a:buFont typeface="+mj-lt"/>
              <a:buAutoNum type="arabicPeriod"/>
            </a:pPr>
            <a:r>
              <a:rPr lang="en-US" sz="2600" dirty="0" err="1">
                <a:latin typeface="Arial" panose="020B0604020202020204" pitchFamily="34" charset="0"/>
                <a:cs typeface="Arial" panose="020B0604020202020204" pitchFamily="34" charset="0"/>
              </a:rPr>
              <a:t>Mecanismos</a:t>
            </a: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US" sz="2600" dirty="0" err="1">
                <a:latin typeface="Arial" panose="020B0604020202020204" pitchFamily="34" charset="0"/>
                <a:cs typeface="Arial" panose="020B0604020202020204" pitchFamily="34" charset="0"/>
              </a:rPr>
              <a:t>Seguridad</a:t>
            </a: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  <a:cs typeface="Arial" panose="020B0604020202020204" pitchFamily="34" charset="0"/>
              </a:rPr>
              <a:t>Básica</a:t>
            </a:r>
            <a:endParaRPr lang="en-US" sz="2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indent="-514350">
              <a:lnSpc>
                <a:spcPct val="70000"/>
              </a:lnSpc>
              <a:buClr>
                <a:srgbClr val="0000FF"/>
              </a:buClr>
              <a:buFont typeface="+mj-lt"/>
              <a:buAutoNum type="arabicPeriod" startAt="2"/>
            </a:pP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Grant</a:t>
            </a:r>
          </a:p>
          <a:p>
            <a:pPr marL="514350" indent="-514350">
              <a:lnSpc>
                <a:spcPct val="70000"/>
              </a:lnSpc>
              <a:buClr>
                <a:srgbClr val="0000FF"/>
              </a:buClr>
              <a:buFont typeface="+mj-lt"/>
              <a:buAutoNum type="arabicPeriod" startAt="2"/>
            </a:pP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Revoke</a:t>
            </a:r>
          </a:p>
          <a:p>
            <a:pPr marL="514350" indent="-514350">
              <a:buFont typeface="+mj-lt"/>
              <a:buAutoNum type="arabicPeriod" startAt="2"/>
            </a:pPr>
            <a:endParaRPr lang="en-US" sz="2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731901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7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cs typeface="Arial"/>
              </a:rPr>
              <a:t>DCL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3600" dirty="0"/>
              <a:t>Data Control Language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32916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buClr>
                <a:srgbClr val="0000FF"/>
              </a:buClr>
              <a:buFont typeface="Wingdings" charset="2"/>
              <a:buChar char="ü"/>
            </a:pPr>
            <a:r>
              <a:rPr lang="es-EC" sz="2800" dirty="0"/>
              <a:t> SQL provee mecanismos de seguridad limitados.</a:t>
            </a:r>
          </a:p>
          <a:p>
            <a:pPr algn="just">
              <a:buClr>
                <a:srgbClr val="0000FF"/>
              </a:buClr>
              <a:buFont typeface="Wingdings" charset="2"/>
              <a:buChar char="ü"/>
            </a:pPr>
            <a:r>
              <a:rPr lang="es-EC" sz="2800" dirty="0"/>
              <a:t> Se confía en el software para implementar un framework de seguridad más robusto.</a:t>
            </a:r>
          </a:p>
          <a:p>
            <a:pPr algn="just">
              <a:buClr>
                <a:srgbClr val="0000FF"/>
              </a:buClr>
              <a:buFont typeface="Wingdings" charset="2"/>
              <a:buChar char="ü"/>
            </a:pPr>
            <a:r>
              <a:rPr lang="es-EC" sz="2800" dirty="0"/>
              <a:t> Los vendedores de Bases de Datos implementan varios aspectos de seguridad en distintas maneras.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1214883" y="183904"/>
            <a:ext cx="10076745" cy="160704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Introducción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83492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s-EC" sz="2800" dirty="0"/>
              <a:t>Hay tres niveles de seguridad comunes para todos los RDBMS (Relational DataBase Management Systems):</a:t>
            </a:r>
          </a:p>
          <a:p>
            <a:pPr marL="0" lvl="0" indent="0">
              <a:buNone/>
            </a:pPr>
            <a:endParaRPr lang="es-EC" sz="2800" dirty="0">
              <a:solidFill>
                <a:prstClr val="black"/>
              </a:solidFill>
            </a:endParaRPr>
          </a:p>
          <a:p>
            <a:pPr lvl="0"/>
            <a:endParaRPr lang="es-EC" sz="2800" dirty="0">
              <a:solidFill>
                <a:prstClr val="black"/>
              </a:solidFill>
            </a:endParaRPr>
          </a:p>
          <a:p>
            <a:pPr marL="0" lvl="0" indent="0">
              <a:buNone/>
            </a:pPr>
            <a:r>
              <a:rPr lang="es-EC" sz="2800" dirty="0">
                <a:solidFill>
                  <a:prstClr val="black"/>
                </a:solidFill>
              </a:rPr>
              <a:t>En lo que difieren es en la manera en que cada uno de estos RDBMS implementan estos niveles.</a:t>
            </a: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1214883" y="183904"/>
            <a:ext cx="10076745" cy="160704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Mecanismos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Seguridad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Básica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1249680" y="2834640"/>
            <a:ext cx="5852050" cy="1042438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C" sz="2800" b="1" dirty="0">
                <a:solidFill>
                  <a:srgbClr val="FF0000"/>
                </a:solidFill>
              </a:rPr>
              <a:t>A			A			A</a:t>
            </a:r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1485630" y="2853346"/>
            <a:ext cx="1939912" cy="555807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C" sz="2800" dirty="0"/>
              <a:t>utenticación</a:t>
            </a:r>
            <a:endParaRPr lang="es-EC" sz="2800" dirty="0">
              <a:solidFill>
                <a:prstClr val="black"/>
              </a:solidFill>
            </a:endParaRPr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6851535" y="2838633"/>
            <a:ext cx="1152534" cy="553812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C" sz="2800" dirty="0"/>
              <a:t>uditar</a:t>
            </a:r>
            <a:endParaRPr lang="es-EC" sz="2800" dirty="0">
              <a:solidFill>
                <a:prstClr val="black"/>
              </a:solidFill>
            </a:endParaRPr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4113112" y="2840630"/>
            <a:ext cx="1935891" cy="601950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C" sz="2800" dirty="0"/>
              <a:t>utorización</a:t>
            </a:r>
            <a:endParaRPr lang="es-EC" sz="2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554279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endParaRPr lang="es-EC" sz="2400" dirty="0"/>
          </a:p>
          <a:p>
            <a:pPr lvl="1">
              <a:buClr>
                <a:srgbClr val="0000FF"/>
              </a:buClr>
              <a:buFont typeface="Wingdings" charset="2"/>
              <a:buChar char="ü"/>
            </a:pPr>
            <a:r>
              <a:rPr lang="es-EC" sz="2400" b="1" dirty="0"/>
              <a:t> Autenticación</a:t>
            </a:r>
            <a:r>
              <a:rPr lang="es-EC" sz="2400" dirty="0"/>
              <a:t>: El usuario se conecta al RDBMS.</a:t>
            </a:r>
          </a:p>
          <a:p>
            <a:pPr lvl="1">
              <a:buClr>
                <a:srgbClr val="0000FF"/>
              </a:buClr>
              <a:buFont typeface="Wingdings" charset="2"/>
              <a:buChar char="ü"/>
            </a:pPr>
            <a:r>
              <a:rPr lang="es-EC" sz="2400" b="1" dirty="0"/>
              <a:t> Autorización</a:t>
            </a:r>
            <a:r>
              <a:rPr lang="es-EC" sz="2400" dirty="0"/>
              <a:t>: El usuario obtiene acceso a la base de datos o a los objetos del esquema de la base de datos para realizar ciertas acciones, basados en el set de privilegios asignados al usuario.</a:t>
            </a:r>
          </a:p>
          <a:p>
            <a:pPr lvl="1">
              <a:buClr>
                <a:srgbClr val="0000FF"/>
              </a:buClr>
              <a:buFont typeface="Wingdings" charset="2"/>
              <a:buChar char="ü"/>
            </a:pPr>
            <a:r>
              <a:rPr lang="es-EC" sz="2400" b="1" dirty="0"/>
              <a:t> Auditar</a:t>
            </a:r>
            <a:r>
              <a:rPr lang="es-EC" sz="2400" dirty="0"/>
              <a:t>: Para monitorear actividad sospechosa y realizar un análisis.</a:t>
            </a: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1214883" y="183904"/>
            <a:ext cx="10076745" cy="160704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Mecanismos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Seguridad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Básica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7369" y="4177886"/>
            <a:ext cx="1926989" cy="2118729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/>
          <a:srcRect l="6801" t="12708" r="14986" b="9093"/>
          <a:stretch/>
        </p:blipFill>
        <p:spPr>
          <a:xfrm>
            <a:off x="1203118" y="4183785"/>
            <a:ext cx="2272552" cy="213907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04587" y="4234409"/>
            <a:ext cx="2096334" cy="2096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6048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buClr>
                <a:srgbClr val="0000FF"/>
              </a:buClr>
              <a:buFont typeface="Wingdings" charset="2"/>
              <a:buChar char="ü"/>
            </a:pPr>
            <a:r>
              <a:rPr lang="es-EC" sz="2800" dirty="0"/>
              <a:t> La primera línea de defensa es la autenticación.</a:t>
            </a:r>
          </a:p>
          <a:p>
            <a:pPr algn="just">
              <a:buClr>
                <a:srgbClr val="0000FF"/>
              </a:buClr>
              <a:buFont typeface="Wingdings" charset="2"/>
              <a:buChar char="ü"/>
            </a:pPr>
            <a:r>
              <a:rPr lang="es-EC" sz="2800" dirty="0"/>
              <a:t> Antes de acceder al RDBMS se debe proveer suficiente información validada ya sea por el </a:t>
            </a:r>
            <a:r>
              <a:rPr lang="es-EC" sz="2800" b="1" dirty="0">
                <a:solidFill>
                  <a:srgbClr val="FF0000"/>
                </a:solidFill>
              </a:rPr>
              <a:t>RDBMS</a:t>
            </a:r>
            <a:r>
              <a:rPr lang="es-EC" sz="2800" dirty="0"/>
              <a:t> o por el </a:t>
            </a:r>
            <a:r>
              <a:rPr lang="es-EC" sz="2800" b="1" dirty="0">
                <a:solidFill>
                  <a:srgbClr val="FF0000"/>
                </a:solidFill>
              </a:rPr>
              <a:t>sistema operativo </a:t>
            </a:r>
            <a:r>
              <a:rPr lang="es-EC" sz="2800" dirty="0"/>
              <a:t>en el cual esta base de datos se encuentra instalada.</a:t>
            </a:r>
          </a:p>
          <a:p>
            <a:pPr algn="just">
              <a:buClr>
                <a:srgbClr val="0000FF"/>
              </a:buClr>
              <a:buFont typeface="Wingdings" charset="2"/>
              <a:buChar char="ü"/>
            </a:pPr>
            <a:r>
              <a:rPr lang="es-EC" sz="2800" dirty="0"/>
              <a:t> Una vez que la identidad es autenticada, se puede proceder con el intento de acceder a los recursos, objetos y datos de la base de datos.</a:t>
            </a: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1214883" y="183904"/>
            <a:ext cx="10076745" cy="160704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Autenticación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/>
          <a:srcRect l="6801" t="12708" r="14986" b="9093"/>
          <a:stretch/>
        </p:blipFill>
        <p:spPr>
          <a:xfrm>
            <a:off x="9559136" y="167116"/>
            <a:ext cx="1580135" cy="1487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99768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buClr>
                <a:srgbClr val="0000FF"/>
              </a:buClr>
              <a:buFont typeface="Wingdings" charset="2"/>
              <a:buChar char="ü"/>
            </a:pPr>
            <a:r>
              <a:rPr lang="es-EC" sz="2800" dirty="0"/>
              <a:t> Una vez que el usuario es autenticado y se le concede acceso a la base de datos, el RDBMS emplea un complejo sistema de privilegios  (permisos) para objetos particulares de la base de datos.</a:t>
            </a:r>
          </a:p>
          <a:p>
            <a:pPr algn="just">
              <a:buClr>
                <a:srgbClr val="0000FF"/>
              </a:buClr>
              <a:buFont typeface="Wingdings" charset="2"/>
              <a:buChar char="ü"/>
            </a:pPr>
            <a:r>
              <a:rPr lang="es-EC" sz="2800" dirty="0"/>
              <a:t> Estos privilegios incluyen permisos para acceder, modificar, destruir o ejecutar objetos relevantes de la base de datos, así como añadir, modificar y borrar datos.</a:t>
            </a: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1214883" y="183904"/>
            <a:ext cx="10076745" cy="160704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Autorización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9448" y="217250"/>
            <a:ext cx="1364618" cy="1500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47556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buClr>
                <a:srgbClr val="0000FF"/>
              </a:buClr>
              <a:buFont typeface="Wingdings" charset="2"/>
              <a:buChar char="ü"/>
            </a:pPr>
            <a:r>
              <a:rPr lang="es-EC" sz="2800" dirty="0"/>
              <a:t> Provee medios para monitorear actividad de base de datos, ambas legítima y no autorizadas.</a:t>
            </a:r>
          </a:p>
          <a:p>
            <a:pPr algn="just">
              <a:buClr>
                <a:srgbClr val="0000FF"/>
              </a:buClr>
              <a:buFont typeface="Wingdings" charset="2"/>
              <a:buChar char="ü"/>
            </a:pPr>
            <a:r>
              <a:rPr lang="es-EC" sz="2800" dirty="0"/>
              <a:t> Preserva la bitácora de intentos de acceso a la base de datos, ya sean exitosos o fallidos.</a:t>
            </a:r>
          </a:p>
          <a:p>
            <a:pPr algn="just">
              <a:buClr>
                <a:srgbClr val="0000FF"/>
              </a:buClr>
              <a:buFont typeface="Wingdings" charset="2"/>
              <a:buChar char="ü"/>
            </a:pPr>
            <a:r>
              <a:rPr lang="es-EC" sz="2800" dirty="0"/>
              <a:t> Tambien los intentos de delete e inserts.</a:t>
            </a:r>
          </a:p>
          <a:p>
            <a:pPr algn="just">
              <a:buClr>
                <a:srgbClr val="0000FF"/>
              </a:buClr>
              <a:buFont typeface="Wingdings" charset="2"/>
              <a:buChar char="ü"/>
            </a:pPr>
            <a:r>
              <a:rPr lang="es-EC" sz="2800" dirty="0"/>
              <a:t> Es un componente necesario para ser considerado para una certificación de seguridad. </a:t>
            </a: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1214883" y="183904"/>
            <a:ext cx="10076745" cy="160704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Auditar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74803" y="89897"/>
            <a:ext cx="1578325" cy="1578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29064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Clr>
                <a:srgbClr val="0000FF"/>
              </a:buClr>
              <a:buFont typeface="Wingdings" charset="2"/>
              <a:buChar char="ü"/>
            </a:pPr>
            <a:r>
              <a:rPr lang="es-EC" sz="2800" dirty="0"/>
              <a:t> Provee una capa adicional de seguridad, protegiendo los datos de personas no autorizadas.</a:t>
            </a:r>
          </a:p>
          <a:p>
            <a:pPr>
              <a:buClr>
                <a:srgbClr val="0000FF"/>
              </a:buClr>
              <a:buFont typeface="Wingdings" charset="2"/>
              <a:buChar char="ü"/>
            </a:pPr>
            <a:r>
              <a:rPr lang="es-EC" sz="2800" dirty="0"/>
              <a:t> Aún si se obtiene acceso a la base de datos, no será fácil descifrar datos encriptados.</a:t>
            </a:r>
          </a:p>
          <a:p>
            <a:pPr marL="0" indent="0">
              <a:buClr>
                <a:srgbClr val="0000FF"/>
              </a:buClr>
              <a:buNone/>
            </a:pPr>
            <a:endParaRPr lang="es-EC" sz="2800" dirty="0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1214883" y="183904"/>
            <a:ext cx="10076745" cy="160704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Encriptación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8656" y="3378560"/>
            <a:ext cx="4042816" cy="2280563"/>
          </a:xfrm>
          <a:prstGeom prst="rect">
            <a:avLst/>
          </a:prstGeom>
        </p:spPr>
      </p:pic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3509090" y="5827018"/>
            <a:ext cx="6583722" cy="369974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r>
              <a:rPr lang="en-US" i="1" dirty="0" err="1"/>
              <a:t>hdiutil</a:t>
            </a:r>
            <a:r>
              <a:rPr lang="en-US" i="1" dirty="0"/>
              <a:t> create –</a:t>
            </a:r>
            <a:r>
              <a:rPr lang="en-US" i="1" dirty="0" err="1"/>
              <a:t>srcfolder</a:t>
            </a:r>
            <a:r>
              <a:rPr lang="en-US" i="1" dirty="0"/>
              <a:t> &lt;source&gt; -encryption AES-128 &lt;destination&gt;</a:t>
            </a:r>
          </a:p>
        </p:txBody>
      </p:sp>
    </p:spTree>
    <p:extLst>
      <p:ext uri="{BB962C8B-B14F-4D97-AF65-F5344CB8AC3E}">
        <p14:creationId xmlns:p14="http://schemas.microsoft.com/office/powerpoint/2010/main" val="22666998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7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8878562" cy="4421095"/>
          </a:xfrm>
        </p:spPr>
        <p:txBody>
          <a:bodyPr>
            <a:normAutofit/>
          </a:bodyPr>
          <a:lstStyle/>
          <a:p>
            <a:pPr algn="just">
              <a:buClr>
                <a:srgbClr val="0000FF"/>
              </a:buClr>
              <a:buFont typeface="Wingdings" charset="2"/>
              <a:buChar char="ü"/>
            </a:pPr>
            <a:r>
              <a:rPr lang="es-EC" sz="2800" dirty="0"/>
              <a:t> Mientras la seguridad se basa en la autenticación y autorización de procedimientos, la integridad de los datos juega el rol de proteger los datos de manipulación no intencional o maliciosa. </a:t>
            </a:r>
          </a:p>
          <a:p>
            <a:pPr algn="just">
              <a:buClr>
                <a:srgbClr val="0000FF"/>
              </a:buClr>
              <a:buFont typeface="Wingdings" charset="2"/>
              <a:buChar char="ü"/>
            </a:pPr>
            <a:r>
              <a:rPr lang="es-EC" sz="2800" dirty="0"/>
              <a:t> Por ejemplo, aún si un usuario obtiene acceso a la base de datos (robando la clave), aun debe seguir reglas relacionales para manipular datos.</a:t>
            </a: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1214883" y="183904"/>
            <a:ext cx="10076745" cy="160704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Integridad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y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Consistencia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14144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8622" y="2046272"/>
            <a:ext cx="5436312" cy="4023360"/>
          </a:xfrm>
        </p:spPr>
        <p:txBody>
          <a:bodyPr>
            <a:noAutofit/>
          </a:bodyPr>
          <a:lstStyle/>
          <a:p>
            <a:pPr marL="514350" indent="-514350">
              <a:buClr>
                <a:srgbClr val="0000FF"/>
              </a:buClr>
              <a:buFont typeface="+mj-lt"/>
              <a:buAutoNum type="alphaLcPeriod"/>
            </a:pPr>
            <a:r>
              <a:rPr lang="es-EC" sz="2800" dirty="0"/>
              <a:t>Regla: No se permite registros huérfanos. Es decir no se puede borrar registros de una tabla de un padre sin entender las relaciones de la base de datos.</a:t>
            </a:r>
          </a:p>
          <a:p>
            <a:pPr>
              <a:buClr>
                <a:srgbClr val="0000FF"/>
              </a:buClr>
              <a:buFont typeface="Wingdings" charset="2"/>
              <a:buChar char="ü"/>
            </a:pPr>
            <a:r>
              <a:rPr lang="es-EC" sz="2800" dirty="0"/>
              <a:t> Existen ciertos RDBMS que incluyen la característica ¨CASCADE¨, por defecto (remover registros hijos cuando se borrar el del padre).</a:t>
            </a: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1214883" y="183904"/>
            <a:ext cx="10076745" cy="160704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Integridad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y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Consistencia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1255" y="2117293"/>
            <a:ext cx="6091448" cy="3958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42933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13990" y="1921829"/>
            <a:ext cx="6204970" cy="2356328"/>
          </a:xfrm>
        </p:spPr>
        <p:txBody>
          <a:bodyPr>
            <a:noAutofit/>
          </a:bodyPr>
          <a:lstStyle/>
          <a:p>
            <a:pPr marL="514350" indent="-514350" algn="just">
              <a:buClr>
                <a:srgbClr val="0000FF"/>
              </a:buClr>
              <a:buFont typeface="+mj-lt"/>
              <a:buAutoNum type="alphaLcPeriod" startAt="2"/>
            </a:pPr>
            <a:r>
              <a:rPr lang="es-EC" sz="2800" dirty="0"/>
              <a:t>Regla: No insertar un registro duplicado en una columna protegida con un UNIQUE constraint.</a:t>
            </a:r>
          </a:p>
          <a:p>
            <a:pPr marL="514350" indent="-514350" algn="just">
              <a:buClr>
                <a:srgbClr val="0000FF"/>
              </a:buClr>
              <a:buFont typeface="+mj-lt"/>
              <a:buAutoNum type="alphaLcPeriod" startAt="2"/>
            </a:pPr>
            <a:r>
              <a:rPr lang="es-EC" sz="2800" dirty="0"/>
              <a:t> Regla: No  ingresar datos inválidos que violen un CHECK constraint.</a:t>
            </a:r>
          </a:p>
          <a:p>
            <a:pPr marL="514350" indent="-514350">
              <a:buClr>
                <a:srgbClr val="0000FF"/>
              </a:buClr>
              <a:buFont typeface="+mj-lt"/>
              <a:buAutoNum type="alphaLcPeriod" startAt="2"/>
            </a:pPr>
            <a:endParaRPr lang="es-EC" sz="28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6512" t="2654" r="6644" b="5118"/>
          <a:stretch/>
        </p:blipFill>
        <p:spPr>
          <a:xfrm>
            <a:off x="7419219" y="2508821"/>
            <a:ext cx="4529297" cy="3607606"/>
          </a:xfrm>
          <a:prstGeom prst="rect">
            <a:avLst/>
          </a:prstGeom>
        </p:spPr>
      </p:pic>
      <p:sp>
        <p:nvSpPr>
          <p:cNvPr id="5" name="Title 1"/>
          <p:cNvSpPr txBox="1">
            <a:spLocks/>
          </p:cNvSpPr>
          <p:nvPr/>
        </p:nvSpPr>
        <p:spPr>
          <a:xfrm>
            <a:off x="1214883" y="183904"/>
            <a:ext cx="10076745" cy="160704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Integridad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y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Consistencia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58160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Clr>
                <a:srgbClr val="0000FF"/>
              </a:buClr>
              <a:buFont typeface="Wingdings" charset="2"/>
              <a:buChar char="ü"/>
            </a:pPr>
            <a:r>
              <a:rPr lang="es-EC" sz="2800" dirty="0"/>
              <a:t> Es alguien que hace uso de los servicios que el servidor del RDBMS provee. Puede ser una aplicación, un administrador, o cualquiera que acceda a la base de datos en algún momento.</a:t>
            </a:r>
          </a:p>
          <a:p>
            <a:pPr>
              <a:buClr>
                <a:srgbClr val="0000FF"/>
              </a:buClr>
              <a:buFont typeface="Wingdings" charset="2"/>
              <a:buChar char="ü"/>
            </a:pPr>
            <a:r>
              <a:rPr lang="es-EC" sz="2800" dirty="0"/>
              <a:t> Esta es la primera línea de defensa cuando hablamos de los aspectos de seguridad.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1214883" y="183904"/>
            <a:ext cx="10076745" cy="160704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Definiendo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un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Usuario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Database User</a:t>
            </a:r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3976968" y="4690634"/>
            <a:ext cx="2289264" cy="462307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pPr algn="ctr"/>
            <a:r>
              <a:rPr lang="en-US" sz="2400" b="1" i="1" dirty="0" err="1">
                <a:solidFill>
                  <a:srgbClr val="FF0000"/>
                </a:solidFill>
              </a:rPr>
              <a:t>Autenticación</a:t>
            </a:r>
            <a:endParaRPr lang="en-US" sz="2400" b="1" i="1" dirty="0">
              <a:solidFill>
                <a:srgbClr val="FF0000"/>
              </a:solidFill>
            </a:endParaRPr>
          </a:p>
        </p:txBody>
      </p:sp>
      <p:pic>
        <p:nvPicPr>
          <p:cNvPr id="9" name="Picture 8" descr="11815113-el-hombre-clave-de-la-puerta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4069" y="3191905"/>
            <a:ext cx="4775667" cy="3268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22432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7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CREATE USER</a:t>
            </a: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1938353" y="2117054"/>
            <a:ext cx="8171169" cy="831639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r>
              <a:rPr lang="en-US" sz="2400" dirty="0"/>
              <a:t>CREATE USER </a:t>
            </a:r>
            <a:r>
              <a:rPr lang="en-US" sz="2400" i="1" dirty="0">
                <a:solidFill>
                  <a:srgbClr val="3366FF"/>
                </a:solidFill>
              </a:rPr>
              <a:t>&lt;user&gt;</a:t>
            </a:r>
            <a:r>
              <a:rPr lang="en-US" sz="2400" dirty="0"/>
              <a:t> [IDENTIFIED BY [PASSWORD] </a:t>
            </a:r>
            <a:r>
              <a:rPr lang="en-US" sz="2400" dirty="0">
                <a:solidFill>
                  <a:srgbClr val="3366FF"/>
                </a:solidFill>
              </a:rPr>
              <a:t>‘password’</a:t>
            </a:r>
            <a:r>
              <a:rPr lang="en-US" sz="2400" dirty="0"/>
              <a:t>] </a:t>
            </a:r>
          </a:p>
          <a:p>
            <a:r>
              <a:rPr lang="en-US" sz="2400" dirty="0"/>
              <a:t>		      [, </a:t>
            </a:r>
            <a:r>
              <a:rPr lang="en-US" sz="2400" dirty="0">
                <a:solidFill>
                  <a:srgbClr val="3366FF"/>
                </a:solidFill>
              </a:rPr>
              <a:t>&lt;user2&gt;</a:t>
            </a:r>
            <a:r>
              <a:rPr lang="en-US" sz="2400" dirty="0"/>
              <a:t> </a:t>
            </a:r>
            <a:r>
              <a:rPr lang="en-US" sz="2400" dirty="0">
                <a:solidFill>
                  <a:srgbClr val="3366FF"/>
                </a:solidFill>
              </a:rPr>
              <a:t> </a:t>
            </a:r>
            <a:r>
              <a:rPr lang="en-US" sz="2400" dirty="0"/>
              <a:t>[IDENTIFIED BY [PASSWORD] </a:t>
            </a:r>
            <a:r>
              <a:rPr lang="en-US" sz="2400" i="1" dirty="0">
                <a:solidFill>
                  <a:srgbClr val="3366FF"/>
                </a:solidFill>
              </a:rPr>
              <a:t>‘password’</a:t>
            </a:r>
            <a:r>
              <a:rPr lang="en-US" sz="2400" dirty="0"/>
              <a:t>]];</a:t>
            </a:r>
          </a:p>
        </p:txBody>
      </p:sp>
      <p:sp>
        <p:nvSpPr>
          <p:cNvPr id="11" name="Rectangle 4"/>
          <p:cNvSpPr>
            <a:spLocks noChangeArrowheads="1"/>
          </p:cNvSpPr>
          <p:nvPr/>
        </p:nvSpPr>
        <p:spPr bwMode="auto">
          <a:xfrm>
            <a:off x="2005195" y="3857050"/>
            <a:ext cx="8104327" cy="462307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lIns="92075" tIns="46038" rIns="92075" bIns="46038">
            <a:spAutoFit/>
          </a:bodyPr>
          <a:lstStyle/>
          <a:p>
            <a:pPr algn="r"/>
            <a:r>
              <a:rPr lang="en-US" sz="2400" dirty="0"/>
              <a:t>CREATE USER </a:t>
            </a:r>
            <a:r>
              <a:rPr lang="en-US" sz="2400" i="1" dirty="0" err="1">
                <a:solidFill>
                  <a:srgbClr val="3366FF"/>
                </a:solidFill>
              </a:rPr>
              <a:t>alumno</a:t>
            </a:r>
            <a:r>
              <a:rPr lang="en-US" sz="2400" dirty="0"/>
              <a:t> IDENTIFIED BY </a:t>
            </a:r>
            <a:r>
              <a:rPr lang="en-US" sz="2400" dirty="0">
                <a:solidFill>
                  <a:srgbClr val="3366FF"/>
                </a:solidFill>
              </a:rPr>
              <a:t>‘</a:t>
            </a:r>
            <a:r>
              <a:rPr lang="en-US" sz="2400" dirty="0" err="1">
                <a:solidFill>
                  <a:srgbClr val="3366FF"/>
                </a:solidFill>
              </a:rPr>
              <a:t>clavealumno</a:t>
            </a:r>
            <a:r>
              <a:rPr lang="en-US" sz="2400" dirty="0">
                <a:solidFill>
                  <a:srgbClr val="3366FF"/>
                </a:solidFill>
              </a:rPr>
              <a:t>’;</a:t>
            </a:r>
            <a:endParaRPr lang="en-US" sz="2400" dirty="0"/>
          </a:p>
        </p:txBody>
      </p:sp>
      <p:sp>
        <p:nvSpPr>
          <p:cNvPr id="12" name="Rectangle 4"/>
          <p:cNvSpPr>
            <a:spLocks noChangeArrowheads="1"/>
          </p:cNvSpPr>
          <p:nvPr/>
        </p:nvSpPr>
        <p:spPr bwMode="auto">
          <a:xfrm>
            <a:off x="2005195" y="4527508"/>
            <a:ext cx="8104329" cy="462307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lIns="92075" tIns="46038" rIns="92075" bIns="46038">
            <a:spAutoFit/>
          </a:bodyPr>
          <a:lstStyle/>
          <a:p>
            <a:pPr algn="r"/>
            <a:r>
              <a:rPr lang="en-US" sz="2400" dirty="0"/>
              <a:t>CREATE USER </a:t>
            </a:r>
            <a:r>
              <a:rPr lang="en-US" sz="2400" i="1" dirty="0">
                <a:solidFill>
                  <a:srgbClr val="3366FF"/>
                </a:solidFill>
              </a:rPr>
              <a:t>‘</a:t>
            </a:r>
            <a:r>
              <a:rPr lang="en-US" sz="2400" i="1" dirty="0" err="1">
                <a:solidFill>
                  <a:srgbClr val="3366FF"/>
                </a:solidFill>
              </a:rPr>
              <a:t>gvsaltos</a:t>
            </a:r>
            <a:r>
              <a:rPr lang="en-US" sz="2400" i="1" dirty="0">
                <a:solidFill>
                  <a:srgbClr val="3366FF"/>
                </a:solidFill>
              </a:rPr>
              <a:t>’@’</a:t>
            </a:r>
            <a:r>
              <a:rPr lang="en-US" sz="2400" i="1" dirty="0" err="1">
                <a:solidFill>
                  <a:srgbClr val="3366FF"/>
                </a:solidFill>
              </a:rPr>
              <a:t>localhost</a:t>
            </a:r>
            <a:r>
              <a:rPr lang="en-US" sz="2400" i="1" dirty="0">
                <a:solidFill>
                  <a:srgbClr val="3366FF"/>
                </a:solidFill>
              </a:rPr>
              <a:t>’ </a:t>
            </a:r>
            <a:r>
              <a:rPr lang="en-US" sz="2400" dirty="0"/>
              <a:t>IDENTIFIED BY </a:t>
            </a:r>
            <a:r>
              <a:rPr lang="en-US" sz="2400" dirty="0">
                <a:solidFill>
                  <a:srgbClr val="3366FF"/>
                </a:solidFill>
              </a:rPr>
              <a:t>‘P@ssw0rd’;</a:t>
            </a:r>
            <a:endParaRPr lang="en-US" sz="2400" dirty="0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81247" y="116981"/>
            <a:ext cx="1587597" cy="1587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55289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1" grpId="0" animBg="1"/>
      <p:bldP spid="12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39134" y="3275464"/>
            <a:ext cx="7135151" cy="501346"/>
          </a:xfrm>
        </p:spPr>
        <p:txBody>
          <a:bodyPr>
            <a:noAutofit/>
          </a:bodyPr>
          <a:lstStyle/>
          <a:p>
            <a:r>
              <a:rPr lang="es-EC" sz="2400" dirty="0"/>
              <a:t>En MySQL el usuario está separado de la base de datos</a:t>
            </a:r>
          </a:p>
          <a:p>
            <a:endParaRPr lang="es-EC" sz="24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58353" y="148957"/>
            <a:ext cx="1505497" cy="1505497"/>
          </a:xfrm>
          <a:prstGeom prst="rect">
            <a:avLst/>
          </a:prstGeom>
        </p:spPr>
      </p:pic>
      <p:sp>
        <p:nvSpPr>
          <p:cNvPr id="6" name="Title 1"/>
          <p:cNvSpPr txBox="1">
            <a:spLocks/>
          </p:cNvSpPr>
          <p:nvPr/>
        </p:nvSpPr>
        <p:spPr>
          <a:xfrm>
            <a:off x="1249680" y="439003"/>
            <a:ext cx="10058400" cy="131570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DROP USER</a:t>
            </a:r>
          </a:p>
        </p:txBody>
      </p:sp>
      <p:sp>
        <p:nvSpPr>
          <p:cNvPr id="9" name="Rectangle 4"/>
          <p:cNvSpPr>
            <a:spLocks noChangeArrowheads="1"/>
          </p:cNvSpPr>
          <p:nvPr/>
        </p:nvSpPr>
        <p:spPr bwMode="auto">
          <a:xfrm>
            <a:off x="2222422" y="2618400"/>
            <a:ext cx="6984763" cy="462307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r>
              <a:rPr lang="en-US" sz="2400" dirty="0"/>
              <a:t>DROP USER </a:t>
            </a:r>
            <a:r>
              <a:rPr lang="en-US" sz="2400" i="1" dirty="0">
                <a:solidFill>
                  <a:srgbClr val="3366FF"/>
                </a:solidFill>
              </a:rPr>
              <a:t>&lt;username&gt;;</a:t>
            </a:r>
            <a:r>
              <a:rPr lang="en-US" sz="2400" dirty="0"/>
              <a:t> </a:t>
            </a:r>
          </a:p>
        </p:txBody>
      </p:sp>
      <p:sp>
        <p:nvSpPr>
          <p:cNvPr id="10" name="Rectangle 4"/>
          <p:cNvSpPr>
            <a:spLocks noChangeArrowheads="1"/>
          </p:cNvSpPr>
          <p:nvPr/>
        </p:nvSpPr>
        <p:spPr bwMode="auto">
          <a:xfrm>
            <a:off x="3509089" y="3857052"/>
            <a:ext cx="5698095" cy="462307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lIns="92075" tIns="46038" rIns="92075" bIns="46038">
            <a:spAutoFit/>
          </a:bodyPr>
          <a:lstStyle/>
          <a:p>
            <a:pPr algn="r"/>
            <a:r>
              <a:rPr lang="en-US" sz="2400" dirty="0"/>
              <a:t>DROP USER </a:t>
            </a:r>
            <a:r>
              <a:rPr lang="en-US" sz="2400" i="1" dirty="0">
                <a:solidFill>
                  <a:srgbClr val="3366FF"/>
                </a:solidFill>
              </a:rPr>
              <a:t>’</a:t>
            </a:r>
            <a:r>
              <a:rPr lang="en-US" sz="2400" i="1" dirty="0" err="1">
                <a:solidFill>
                  <a:srgbClr val="3366FF"/>
                </a:solidFill>
              </a:rPr>
              <a:t>gvsaltos</a:t>
            </a:r>
            <a:r>
              <a:rPr lang="en-US" sz="2400" i="1" dirty="0">
                <a:solidFill>
                  <a:srgbClr val="3366FF"/>
                </a:solidFill>
              </a:rPr>
              <a:t>’@’</a:t>
            </a:r>
            <a:r>
              <a:rPr lang="en-US" sz="2400" i="1" dirty="0" err="1">
                <a:solidFill>
                  <a:srgbClr val="3366FF"/>
                </a:solidFill>
              </a:rPr>
              <a:t>localhost</a:t>
            </a:r>
            <a:r>
              <a:rPr lang="en-US" sz="2400" i="1" dirty="0">
                <a:solidFill>
                  <a:srgbClr val="3366FF"/>
                </a:solidFill>
              </a:rPr>
              <a:t>’;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503228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C" sz="2800" dirty="0"/>
              <a:t>Provee una manera conveniente de modificar las propiedades del usuario sin la necesidad de hacerle DROP al usuario y luego recrearlo desde el principio.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8613" y="299361"/>
            <a:ext cx="1438657" cy="1438657"/>
          </a:xfrm>
          <a:prstGeom prst="rect">
            <a:avLst/>
          </a:prstGeom>
        </p:spPr>
      </p:pic>
      <p:sp>
        <p:nvSpPr>
          <p:cNvPr id="7" name="Title 1"/>
          <p:cNvSpPr txBox="1">
            <a:spLocks/>
          </p:cNvSpPr>
          <p:nvPr/>
        </p:nvSpPr>
        <p:spPr>
          <a:xfrm>
            <a:off x="1249680" y="439003"/>
            <a:ext cx="10058400" cy="131570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ALTER USER</a:t>
            </a: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2222422" y="3437266"/>
            <a:ext cx="8522078" cy="462307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r>
              <a:rPr lang="en-US" sz="2400" dirty="0"/>
              <a:t>ALTER USER </a:t>
            </a:r>
            <a:r>
              <a:rPr lang="en-US" sz="2400" i="1" dirty="0">
                <a:solidFill>
                  <a:srgbClr val="3366FF"/>
                </a:solidFill>
              </a:rPr>
              <a:t>&lt;</a:t>
            </a:r>
            <a:r>
              <a:rPr lang="en-US" sz="2400" i="1" dirty="0" err="1">
                <a:solidFill>
                  <a:srgbClr val="3366FF"/>
                </a:solidFill>
              </a:rPr>
              <a:t>user_specification</a:t>
            </a:r>
            <a:r>
              <a:rPr lang="en-US" sz="2400" i="1" dirty="0">
                <a:solidFill>
                  <a:srgbClr val="3366FF"/>
                </a:solidFill>
              </a:rPr>
              <a:t>&gt; [, </a:t>
            </a:r>
            <a:r>
              <a:rPr lang="en-US" sz="2400" i="1" dirty="0" err="1">
                <a:solidFill>
                  <a:srgbClr val="3366FF"/>
                </a:solidFill>
              </a:rPr>
              <a:t>user_specification</a:t>
            </a:r>
            <a:r>
              <a:rPr lang="en-US" sz="2400" i="1" dirty="0">
                <a:solidFill>
                  <a:srgbClr val="3366FF"/>
                </a:solidFill>
              </a:rPr>
              <a:t>]…</a:t>
            </a:r>
            <a:r>
              <a:rPr lang="en-US" sz="2400" dirty="0"/>
              <a:t> </a:t>
            </a:r>
          </a:p>
        </p:txBody>
      </p:sp>
      <p:sp>
        <p:nvSpPr>
          <p:cNvPr id="9" name="Rectangle 4"/>
          <p:cNvSpPr>
            <a:spLocks noChangeArrowheads="1"/>
          </p:cNvSpPr>
          <p:nvPr/>
        </p:nvSpPr>
        <p:spPr bwMode="auto">
          <a:xfrm>
            <a:off x="3225022" y="4358398"/>
            <a:ext cx="7519478" cy="462307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lIns="92075" tIns="46038" rIns="92075" bIns="46038">
            <a:spAutoFit/>
          </a:bodyPr>
          <a:lstStyle/>
          <a:p>
            <a:pPr algn="r"/>
            <a:r>
              <a:rPr lang="en-US" sz="2400" dirty="0"/>
              <a:t>ALTER USER </a:t>
            </a:r>
            <a:r>
              <a:rPr lang="en-US" sz="2400" i="1" dirty="0">
                <a:solidFill>
                  <a:srgbClr val="3366FF"/>
                </a:solidFill>
              </a:rPr>
              <a:t>’</a:t>
            </a:r>
            <a:r>
              <a:rPr lang="en-US" sz="2400" i="1" dirty="0" err="1">
                <a:solidFill>
                  <a:srgbClr val="3366FF"/>
                </a:solidFill>
              </a:rPr>
              <a:t>gvsaltos</a:t>
            </a:r>
            <a:r>
              <a:rPr lang="en-US" sz="2400" i="1" dirty="0">
                <a:solidFill>
                  <a:srgbClr val="3366FF"/>
                </a:solidFill>
              </a:rPr>
              <a:t>’@’</a:t>
            </a:r>
            <a:r>
              <a:rPr lang="en-US" sz="2400" i="1" dirty="0" err="1">
                <a:solidFill>
                  <a:srgbClr val="3366FF"/>
                </a:solidFill>
              </a:rPr>
              <a:t>localhost</a:t>
            </a:r>
            <a:r>
              <a:rPr lang="en-US" sz="2400" i="1" dirty="0">
                <a:solidFill>
                  <a:srgbClr val="3366FF"/>
                </a:solidFill>
              </a:rPr>
              <a:t>’ </a:t>
            </a:r>
            <a:r>
              <a:rPr lang="en-US" sz="2400" i="1" dirty="0">
                <a:solidFill>
                  <a:srgbClr val="000000"/>
                </a:solidFill>
              </a:rPr>
              <a:t>PASSWORD EXPIRE</a:t>
            </a:r>
            <a:r>
              <a:rPr lang="en-US" sz="2400" i="1" dirty="0">
                <a:solidFill>
                  <a:schemeClr val="tx1"/>
                </a:solidFill>
              </a:rPr>
              <a:t>;</a:t>
            </a: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12" name="Rectangle 4"/>
          <p:cNvSpPr>
            <a:spLocks noChangeArrowheads="1"/>
          </p:cNvSpPr>
          <p:nvPr/>
        </p:nvSpPr>
        <p:spPr bwMode="auto">
          <a:xfrm>
            <a:off x="2224434" y="5179259"/>
            <a:ext cx="8536775" cy="462307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92075" tIns="46038" rIns="92075" bIns="46038">
            <a:spAutoFit/>
          </a:bodyPr>
          <a:lstStyle/>
          <a:p>
            <a:r>
              <a:rPr lang="en-US" sz="2400" dirty="0"/>
              <a:t>SET PASSWORD FOR </a:t>
            </a:r>
            <a:r>
              <a:rPr lang="en-US" sz="2400" i="1" dirty="0">
                <a:solidFill>
                  <a:srgbClr val="3366FF"/>
                </a:solidFill>
              </a:rPr>
              <a:t>’</a:t>
            </a:r>
            <a:r>
              <a:rPr lang="en-US" sz="2400" i="1" dirty="0" err="1">
                <a:solidFill>
                  <a:srgbClr val="3366FF"/>
                </a:solidFill>
              </a:rPr>
              <a:t>gvsaltos</a:t>
            </a:r>
            <a:r>
              <a:rPr lang="en-US" sz="2400" i="1" dirty="0">
                <a:solidFill>
                  <a:srgbClr val="3366FF"/>
                </a:solidFill>
              </a:rPr>
              <a:t>’@’</a:t>
            </a:r>
            <a:r>
              <a:rPr lang="en-US" sz="2400" i="1" dirty="0" err="1">
                <a:solidFill>
                  <a:srgbClr val="3366FF"/>
                </a:solidFill>
              </a:rPr>
              <a:t>localhost</a:t>
            </a:r>
            <a:r>
              <a:rPr lang="en-US" sz="2400" i="1" dirty="0">
                <a:solidFill>
                  <a:srgbClr val="3366FF"/>
                </a:solidFill>
              </a:rPr>
              <a:t>’</a:t>
            </a:r>
            <a:r>
              <a:rPr lang="en-US" sz="2400" i="1" dirty="0">
                <a:solidFill>
                  <a:srgbClr val="000000"/>
                </a:solidFill>
              </a:rPr>
              <a:t> </a:t>
            </a:r>
            <a:r>
              <a:rPr lang="en-US" sz="2400" dirty="0">
                <a:solidFill>
                  <a:srgbClr val="000000"/>
                </a:solidFill>
              </a:rPr>
              <a:t>= PASSWORD(</a:t>
            </a:r>
            <a:r>
              <a:rPr lang="en-US" sz="2400" i="1" dirty="0">
                <a:solidFill>
                  <a:srgbClr val="000000"/>
                </a:solidFill>
              </a:rPr>
              <a:t>‘pass2’</a:t>
            </a:r>
            <a:r>
              <a:rPr lang="en-US" sz="2400" dirty="0">
                <a:solidFill>
                  <a:srgbClr val="000000"/>
                </a:solidFill>
              </a:rPr>
              <a:t>)</a:t>
            </a:r>
            <a:r>
              <a:rPr lang="en-US" sz="2400" dirty="0">
                <a:solidFill>
                  <a:schemeClr val="tx1"/>
                </a:solidFill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23636842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2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buClr>
                <a:srgbClr val="0000FF"/>
              </a:buClr>
              <a:buFont typeface="Wingdings" charset="2"/>
              <a:buChar char="ü"/>
            </a:pPr>
            <a:r>
              <a:rPr lang="es-EC" sz="2800" dirty="0"/>
              <a:t> Un RDBMS es una colección de objetos, esquemas, tablas, vistas, procedimientos, etc. Así como los procesos que administran estos objetos.</a:t>
            </a:r>
          </a:p>
          <a:p>
            <a:pPr algn="just">
              <a:buClr>
                <a:srgbClr val="0000FF"/>
              </a:buClr>
              <a:buFont typeface="Wingdings" charset="2"/>
              <a:buChar char="ü"/>
            </a:pPr>
            <a:r>
              <a:rPr lang="es-EC" sz="2800" dirty="0"/>
              <a:t> Restringir el acceso a estos objetos es un mecanismo de seguridad esencial implementado en el nivel de SQL a través del sistema de privilegios.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1249680" y="439003"/>
            <a:ext cx="10058400" cy="1315709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Administrando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la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seguridad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con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Prilivegios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 descr="11815113-el-hombre-clave-de-la-puerta.pn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064" t="4568" b="5714"/>
          <a:stretch/>
        </p:blipFill>
        <p:spPr>
          <a:xfrm>
            <a:off x="5558879" y="4077617"/>
            <a:ext cx="1492818" cy="2239347"/>
          </a:xfrm>
          <a:prstGeom prst="rect">
            <a:avLst/>
          </a:prstGeom>
        </p:spPr>
      </p:pic>
      <p:pic>
        <p:nvPicPr>
          <p:cNvPr id="7" name="Picture 6" descr="12183874-hombre-de-negocios-signo-de-exclamacia-n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9479" y="3526138"/>
            <a:ext cx="2338024" cy="2890414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18414" y="4009178"/>
            <a:ext cx="887304" cy="887304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5"/>
          <a:srcRect t="9383" b="9178"/>
          <a:stretch/>
        </p:blipFill>
        <p:spPr>
          <a:xfrm>
            <a:off x="10062243" y="4662524"/>
            <a:ext cx="738722" cy="601611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10210" y="5039375"/>
            <a:ext cx="735849" cy="735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99686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Clr>
                <a:srgbClr val="3366FF"/>
              </a:buClr>
              <a:buFont typeface="Wingdings" charset="2"/>
              <a:buChar char="ü"/>
            </a:pPr>
            <a:r>
              <a:rPr lang="es-EC" sz="2800" dirty="0"/>
              <a:t> Representan el derecho de un usuario en particular para acceder, crear, manipular y destruir varios objetos dentro de una base de datos, así como realizar tareas administrativas.</a:t>
            </a:r>
          </a:p>
          <a:p>
            <a:pPr>
              <a:buClr>
                <a:srgbClr val="3366FF"/>
              </a:buClr>
              <a:buFont typeface="Wingdings" charset="2"/>
              <a:buChar char="ü"/>
            </a:pPr>
            <a:r>
              <a:rPr lang="es-EC" sz="2800" dirty="0"/>
              <a:t> Se los puede conceder a un usuario o ROL.</a:t>
            </a:r>
          </a:p>
          <a:p>
            <a:pPr>
              <a:buClr>
                <a:srgbClr val="3366FF"/>
              </a:buClr>
              <a:buFont typeface="Wingdings" charset="2"/>
              <a:buChar char="ü"/>
            </a:pPr>
            <a:endParaRPr lang="es-EC" sz="24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90734" y="175004"/>
            <a:ext cx="1998775" cy="1491394"/>
          </a:xfrm>
          <a:prstGeom prst="rect">
            <a:avLst/>
          </a:prstGeom>
        </p:spPr>
      </p:pic>
      <p:sp>
        <p:nvSpPr>
          <p:cNvPr id="7" name="Title 1"/>
          <p:cNvSpPr txBox="1">
            <a:spLocks/>
          </p:cNvSpPr>
          <p:nvPr/>
        </p:nvSpPr>
        <p:spPr>
          <a:xfrm>
            <a:off x="1249680" y="439003"/>
            <a:ext cx="10058400" cy="131570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Privilegios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53104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Clr>
                <a:srgbClr val="3366FF"/>
              </a:buClr>
              <a:buFont typeface="Wingdings" charset="2"/>
              <a:buChar char="ü"/>
            </a:pPr>
            <a:r>
              <a:rPr lang="es-EC" sz="2800" dirty="0"/>
              <a:t> Es una colección de privilegios que pueden ser asignados a usuarios.</a:t>
            </a: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1249680" y="439003"/>
            <a:ext cx="10058400" cy="131570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ROL</a:t>
            </a:r>
          </a:p>
        </p:txBody>
      </p:sp>
      <p:sp>
        <p:nvSpPr>
          <p:cNvPr id="13" name="Rectangle 4"/>
          <p:cNvSpPr>
            <a:spLocks noChangeArrowheads="1"/>
          </p:cNvSpPr>
          <p:nvPr/>
        </p:nvSpPr>
        <p:spPr bwMode="auto">
          <a:xfrm>
            <a:off x="1955063" y="3019477"/>
            <a:ext cx="8171169" cy="462307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r>
              <a:rPr lang="en-US" sz="2400" dirty="0"/>
              <a:t>CREATE ROL </a:t>
            </a:r>
            <a:r>
              <a:rPr lang="en-US" sz="2400" i="1" dirty="0">
                <a:solidFill>
                  <a:srgbClr val="3366FF"/>
                </a:solidFill>
              </a:rPr>
              <a:t>&lt;rol1&gt;</a:t>
            </a:r>
            <a:r>
              <a:rPr lang="en-US" sz="2400" dirty="0"/>
              <a:t> [</a:t>
            </a:r>
            <a:r>
              <a:rPr lang="en-US" sz="2400" dirty="0">
                <a:solidFill>
                  <a:srgbClr val="3366FF"/>
                </a:solidFill>
              </a:rPr>
              <a:t>, &lt;rol2&gt;, … </a:t>
            </a:r>
            <a:r>
              <a:rPr lang="en-US" sz="2400" dirty="0"/>
              <a:t>];</a:t>
            </a:r>
          </a:p>
        </p:txBody>
      </p:sp>
      <p:sp>
        <p:nvSpPr>
          <p:cNvPr id="14" name="Rectangle 4"/>
          <p:cNvSpPr>
            <a:spLocks noChangeArrowheads="1"/>
          </p:cNvSpPr>
          <p:nvPr/>
        </p:nvSpPr>
        <p:spPr bwMode="auto">
          <a:xfrm>
            <a:off x="2005195" y="4007454"/>
            <a:ext cx="8104327" cy="462307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lIns="92075" tIns="46038" rIns="92075" bIns="46038">
            <a:spAutoFit/>
          </a:bodyPr>
          <a:lstStyle/>
          <a:p>
            <a:pPr algn="r"/>
            <a:r>
              <a:rPr lang="en-US" sz="2400" dirty="0"/>
              <a:t>CREATE ROL </a:t>
            </a:r>
            <a:r>
              <a:rPr lang="en-US" sz="2400" i="1" dirty="0" err="1">
                <a:solidFill>
                  <a:srgbClr val="3366FF"/>
                </a:solidFill>
              </a:rPr>
              <a:t>adm_bd</a:t>
            </a:r>
            <a:r>
              <a:rPr lang="en-US" sz="2400" i="1" dirty="0">
                <a:solidFill>
                  <a:srgbClr val="3366FF"/>
                </a:solidFill>
              </a:rPr>
              <a:t>, </a:t>
            </a:r>
            <a:r>
              <a:rPr lang="en-US" sz="2400" i="1" dirty="0" err="1">
                <a:solidFill>
                  <a:srgbClr val="3366FF"/>
                </a:solidFill>
              </a:rPr>
              <a:t>adm_usuarios</a:t>
            </a:r>
            <a:r>
              <a:rPr lang="en-US" sz="2400" i="1" dirty="0">
                <a:solidFill>
                  <a:srgbClr val="3366FF"/>
                </a:solidFill>
              </a:rPr>
              <a:t>, </a:t>
            </a:r>
            <a:r>
              <a:rPr lang="en-US" sz="2400" i="1" dirty="0" err="1">
                <a:solidFill>
                  <a:srgbClr val="3366FF"/>
                </a:solidFill>
              </a:rPr>
              <a:t>adm_datos</a:t>
            </a:r>
            <a:r>
              <a:rPr lang="en-US" sz="2400" dirty="0">
                <a:solidFill>
                  <a:srgbClr val="3366FF"/>
                </a:solidFill>
              </a:rPr>
              <a:t>;</a:t>
            </a:r>
            <a:endParaRPr lang="en-US" sz="2400" dirty="0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81247" y="116981"/>
            <a:ext cx="1587597" cy="1587597"/>
          </a:xfrm>
          <a:prstGeom prst="rect">
            <a:avLst/>
          </a:prstGeom>
        </p:spPr>
      </p:pic>
      <p:sp>
        <p:nvSpPr>
          <p:cNvPr id="16" name="Title 1"/>
          <p:cNvSpPr txBox="1">
            <a:spLocks/>
          </p:cNvSpPr>
          <p:nvPr/>
        </p:nvSpPr>
        <p:spPr>
          <a:xfrm>
            <a:off x="10442166" y="674960"/>
            <a:ext cx="1204673" cy="131570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</a:p>
        </p:txBody>
      </p:sp>
    </p:spTree>
    <p:extLst>
      <p:ext uri="{BB962C8B-B14F-4D97-AF65-F5344CB8AC3E}">
        <p14:creationId xmlns:p14="http://schemas.microsoft.com/office/powerpoint/2010/main" val="28614442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13" grpId="0" animBg="1"/>
      <p:bldP spid="14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Clr>
                <a:srgbClr val="3366FF"/>
              </a:buClr>
              <a:buFont typeface="Wingdings" charset="2"/>
              <a:buChar char="ü"/>
            </a:pPr>
            <a:r>
              <a:rPr lang="es-EC" sz="2800" dirty="0"/>
              <a:t> Representan el derecho de un usuario en particular para acceder, crear, manipular y destruir varios objetos dentro de una base de datos, así como realizar tareas administrativas.</a:t>
            </a:r>
          </a:p>
          <a:p>
            <a:pPr>
              <a:buClr>
                <a:srgbClr val="3366FF"/>
              </a:buClr>
              <a:buFont typeface="Wingdings" charset="2"/>
              <a:buChar char="ü"/>
            </a:pPr>
            <a:r>
              <a:rPr lang="es-EC" sz="2800" dirty="0"/>
              <a:t> Se los puede conceder a un usuario o ROL.</a:t>
            </a:r>
          </a:p>
          <a:p>
            <a:pPr>
              <a:buClr>
                <a:srgbClr val="3366FF"/>
              </a:buClr>
              <a:buFont typeface="Wingdings" charset="2"/>
              <a:buChar char="ü"/>
            </a:pPr>
            <a:r>
              <a:rPr lang="es-EC" sz="2800" dirty="0"/>
              <a:t> Se los puede dividir en dos categorías:</a:t>
            </a:r>
          </a:p>
          <a:p>
            <a:pPr marL="971550" lvl="1" indent="-514350">
              <a:buClr>
                <a:srgbClr val="0000FF"/>
              </a:buClr>
              <a:buFont typeface="+mj-lt"/>
              <a:buAutoNum type="arabicPeriod"/>
            </a:pPr>
            <a:r>
              <a:rPr lang="es-EC" sz="2400" dirty="0"/>
              <a:t>Privilegios de Sistema</a:t>
            </a:r>
          </a:p>
          <a:p>
            <a:pPr marL="971550" lvl="1" indent="-514350">
              <a:buClr>
                <a:srgbClr val="0000FF"/>
              </a:buClr>
              <a:buFont typeface="+mj-lt"/>
              <a:buAutoNum type="arabicPeriod"/>
            </a:pPr>
            <a:r>
              <a:rPr lang="es-EC" sz="2400" dirty="0"/>
              <a:t>Privilegios de Objetos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90734" y="175004"/>
            <a:ext cx="1998775" cy="1491394"/>
          </a:xfrm>
          <a:prstGeom prst="rect">
            <a:avLst/>
          </a:prstGeom>
        </p:spPr>
      </p:pic>
      <p:sp>
        <p:nvSpPr>
          <p:cNvPr id="7" name="Title 1"/>
          <p:cNvSpPr txBox="1">
            <a:spLocks/>
          </p:cNvSpPr>
          <p:nvPr/>
        </p:nvSpPr>
        <p:spPr>
          <a:xfrm>
            <a:off x="1249680" y="439003"/>
            <a:ext cx="10058400" cy="131570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Privilegios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" name="Group 1"/>
          <p:cNvGrpSpPr/>
          <p:nvPr/>
        </p:nvGrpSpPr>
        <p:grpSpPr>
          <a:xfrm>
            <a:off x="9075515" y="3023197"/>
            <a:ext cx="1582863" cy="1701900"/>
            <a:chOff x="9075515" y="3023197"/>
            <a:chExt cx="1582863" cy="1701900"/>
          </a:xfrm>
        </p:grpSpPr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090215" y="3023197"/>
              <a:ext cx="931174" cy="931174"/>
            </a:xfrm>
            <a:prstGeom prst="rect">
              <a:avLst/>
            </a:prstGeom>
          </p:spPr>
        </p:pic>
        <p:pic>
          <p:nvPicPr>
            <p:cNvPr id="9" name="Picture 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727204" y="3509828"/>
              <a:ext cx="931174" cy="931174"/>
            </a:xfrm>
            <a:prstGeom prst="rect">
              <a:avLst/>
            </a:prstGeom>
          </p:spPr>
        </p:pic>
        <p:pic>
          <p:nvPicPr>
            <p:cNvPr id="10" name="Picture 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075515" y="3793923"/>
              <a:ext cx="931174" cy="931174"/>
            </a:xfrm>
            <a:prstGeom prst="rect">
              <a:avLst/>
            </a:prstGeom>
          </p:spPr>
        </p:pic>
      </p:grpSp>
      <p:grpSp>
        <p:nvGrpSpPr>
          <p:cNvPr id="4" name="Group 3"/>
          <p:cNvGrpSpPr/>
          <p:nvPr/>
        </p:nvGrpSpPr>
        <p:grpSpPr>
          <a:xfrm>
            <a:off x="6904596" y="4774533"/>
            <a:ext cx="1333411" cy="1208199"/>
            <a:chOff x="7656544" y="4724399"/>
            <a:chExt cx="1333411" cy="1208199"/>
          </a:xfrm>
        </p:grpSpPr>
        <p:pic>
          <p:nvPicPr>
            <p:cNvPr id="11" name="Picture 10"/>
            <p:cNvPicPr>
              <a:picLocks noChangeAspect="1"/>
            </p:cNvPicPr>
            <p:nvPr/>
          </p:nvPicPr>
          <p:blipFill rotWithShape="1">
            <a:blip r:embed="rId4"/>
            <a:srcRect t="9383" b="9178"/>
            <a:stretch/>
          </p:blipFill>
          <p:spPr>
            <a:xfrm>
              <a:off x="7656544" y="4724399"/>
              <a:ext cx="838447" cy="682827"/>
            </a:xfrm>
            <a:prstGeom prst="rect">
              <a:avLst/>
            </a:prstGeom>
          </p:spPr>
        </p:pic>
        <p:pic>
          <p:nvPicPr>
            <p:cNvPr id="12" name="Picture 11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077281" y="5019924"/>
              <a:ext cx="912674" cy="91267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2776020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86406" y="1721288"/>
            <a:ext cx="9925713" cy="3726675"/>
          </a:xfrm>
        </p:spPr>
        <p:txBody>
          <a:bodyPr>
            <a:normAutofit/>
          </a:bodyPr>
          <a:lstStyle/>
          <a:p>
            <a:pPr algn="just">
              <a:buClr>
                <a:srgbClr val="0000FF"/>
              </a:buClr>
              <a:buFont typeface="Wingdings" charset="2"/>
              <a:buChar char="ü"/>
            </a:pPr>
            <a:r>
              <a:rPr lang="es-EC" sz="2800" dirty="0"/>
              <a:t>Permite a los usuarios realizar  tareas administrativas en un RDBMS.</a:t>
            </a:r>
          </a:p>
          <a:p>
            <a:pPr algn="just">
              <a:buClr>
                <a:srgbClr val="0000FF"/>
              </a:buClr>
              <a:buFont typeface="Wingdings" charset="2"/>
              <a:buChar char="ü"/>
            </a:pPr>
            <a:r>
              <a:rPr lang="es-EC" sz="2800" dirty="0"/>
              <a:t>Crear una base de datos.</a:t>
            </a:r>
          </a:p>
          <a:p>
            <a:pPr algn="just">
              <a:buClr>
                <a:srgbClr val="0000FF"/>
              </a:buClr>
              <a:buFont typeface="Wingdings" charset="2"/>
              <a:buChar char="ü"/>
            </a:pPr>
            <a:r>
              <a:rPr lang="es-EC" sz="2800" dirty="0"/>
              <a:t>Crear y Borrar Usuario.</a:t>
            </a:r>
          </a:p>
          <a:p>
            <a:pPr algn="just">
              <a:buClr>
                <a:srgbClr val="0000FF"/>
              </a:buClr>
              <a:buFont typeface="Wingdings" charset="2"/>
              <a:buChar char="ü"/>
            </a:pPr>
            <a:r>
              <a:rPr lang="es-EC" sz="2800" dirty="0"/>
              <a:t>Crear, alterar y destruir objetos de bases de datos, etc.</a:t>
            </a:r>
          </a:p>
          <a:p>
            <a:pPr algn="just">
              <a:buClr>
                <a:srgbClr val="0000FF"/>
              </a:buClr>
              <a:buFont typeface="Wingdings" charset="2"/>
              <a:buChar char="ü"/>
            </a:pPr>
            <a:r>
              <a:rPr lang="es-EC" sz="2800" dirty="0"/>
              <a:t>Se necesita un alto nivel de autoridad en el RDBMS para conceder o tener privilegios de sistema.</a:t>
            </a:r>
          </a:p>
          <a:p>
            <a:pPr algn="just">
              <a:buClr>
                <a:srgbClr val="0000FF"/>
              </a:buClr>
              <a:buFont typeface="Wingdings" charset="2"/>
              <a:buChar char="ü"/>
            </a:pPr>
            <a:endParaRPr lang="es-EC" sz="2800" dirty="0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1249680" y="439003"/>
            <a:ext cx="10058400" cy="131570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Privilegios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a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nivel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Sistema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9760624" y="2404870"/>
            <a:ext cx="1582863" cy="1701900"/>
            <a:chOff x="9075515" y="3023197"/>
            <a:chExt cx="1582863" cy="1701900"/>
          </a:xfrm>
        </p:grpSpPr>
        <p:pic>
          <p:nvPicPr>
            <p:cNvPr id="7" name="Picture 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090215" y="3023197"/>
              <a:ext cx="931174" cy="931174"/>
            </a:xfrm>
            <a:prstGeom prst="rect">
              <a:avLst/>
            </a:prstGeom>
          </p:spPr>
        </p:pic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727204" y="3509828"/>
              <a:ext cx="931174" cy="931174"/>
            </a:xfrm>
            <a:prstGeom prst="rect">
              <a:avLst/>
            </a:prstGeom>
          </p:spPr>
        </p:pic>
        <p:pic>
          <p:nvPicPr>
            <p:cNvPr id="9" name="Picture 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075515" y="3793923"/>
              <a:ext cx="931174" cy="93117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415674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buClr>
                <a:srgbClr val="0000FF"/>
              </a:buClr>
              <a:buFont typeface="Wingdings" charset="2"/>
              <a:buChar char="ü"/>
            </a:pPr>
            <a:r>
              <a:rPr lang="es-EC" sz="2800" dirty="0"/>
              <a:t> Estos privilegios pueden llegar hasta el nivel de columna (si el objeto de la base de datos es una tabla o vista), o a cualquier otro objeto en la base de datos como stored procedures, funciones y triggers.</a:t>
            </a:r>
          </a:p>
          <a:p>
            <a:pPr algn="just">
              <a:buClr>
                <a:srgbClr val="0000FF"/>
              </a:buClr>
              <a:buFont typeface="Wingdings" charset="2"/>
              <a:buChar char="ü"/>
            </a:pPr>
            <a:endParaRPr lang="es-EC" sz="2800" dirty="0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1249680" y="439003"/>
            <a:ext cx="10058400" cy="131570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Privilegios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a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nivel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Objetos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/>
          <a:srcRect t="9383" b="9178"/>
          <a:stretch/>
        </p:blipFill>
        <p:spPr>
          <a:xfrm>
            <a:off x="4261039" y="4072649"/>
            <a:ext cx="1627200" cy="1325183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8571" y="3850116"/>
            <a:ext cx="1771254" cy="1771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130042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541420" y="4113431"/>
            <a:ext cx="11176000" cy="156966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b="1" u="sng" dirty="0"/>
              <a:t>Nota:</a:t>
            </a:r>
          </a:p>
          <a:p>
            <a:r>
              <a:rPr lang="en-US" sz="2400" dirty="0" err="1"/>
              <a:t>Cada</a:t>
            </a:r>
            <a:r>
              <a:rPr lang="en-US" sz="2400" dirty="0"/>
              <a:t> </a:t>
            </a:r>
            <a:r>
              <a:rPr lang="en-US" sz="2400" dirty="0" err="1"/>
              <a:t>vez</a:t>
            </a:r>
            <a:r>
              <a:rPr lang="en-US" sz="2400" dirty="0"/>
              <a:t> </a:t>
            </a:r>
            <a:r>
              <a:rPr lang="en-US" sz="2400" dirty="0" err="1"/>
              <a:t>que</a:t>
            </a:r>
            <a:r>
              <a:rPr lang="en-US" sz="2400" dirty="0"/>
              <a:t> se </a:t>
            </a:r>
            <a:r>
              <a:rPr lang="en-US" sz="2400" dirty="0" err="1"/>
              <a:t>actualiza</a:t>
            </a:r>
            <a:r>
              <a:rPr lang="en-US" sz="2400" dirty="0"/>
              <a:t> o se cambia </a:t>
            </a:r>
            <a:r>
              <a:rPr lang="en-US" sz="2400" dirty="0" err="1"/>
              <a:t>permisos</a:t>
            </a:r>
            <a:r>
              <a:rPr lang="en-US" sz="2400" dirty="0"/>
              <a:t> de </a:t>
            </a:r>
            <a:r>
              <a:rPr lang="en-US" sz="2400" dirty="0" err="1"/>
              <a:t>usuario</a:t>
            </a:r>
            <a:r>
              <a:rPr lang="en-US" sz="2400" dirty="0"/>
              <a:t>/</a:t>
            </a:r>
            <a:r>
              <a:rPr lang="en-US" sz="2400" dirty="0" err="1"/>
              <a:t>rol</a:t>
            </a:r>
            <a:r>
              <a:rPr lang="en-US" sz="2400" dirty="0"/>
              <a:t>, hay </a:t>
            </a:r>
            <a:r>
              <a:rPr lang="en-US" sz="2400" dirty="0" err="1"/>
              <a:t>que</a:t>
            </a:r>
            <a:r>
              <a:rPr lang="en-US" sz="2400" dirty="0"/>
              <a:t> “</a:t>
            </a:r>
            <a:r>
              <a:rPr lang="en-US" sz="2400" dirty="0" err="1"/>
              <a:t>refrescar</a:t>
            </a:r>
            <a:r>
              <a:rPr lang="en-US" sz="2400" dirty="0"/>
              <a:t>” </a:t>
            </a:r>
            <a:r>
              <a:rPr lang="en-US" sz="2400" dirty="0" err="1"/>
              <a:t>estos</a:t>
            </a:r>
            <a:r>
              <a:rPr lang="en-US" sz="2400" dirty="0"/>
              <a:t> </a:t>
            </a:r>
            <a:r>
              <a:rPr lang="en-US" sz="2400" dirty="0" err="1"/>
              <a:t>permisos</a:t>
            </a:r>
            <a:r>
              <a:rPr lang="en-US" sz="2400" dirty="0"/>
              <a:t> </a:t>
            </a:r>
            <a:r>
              <a:rPr lang="en-US" sz="2400" dirty="0" err="1"/>
              <a:t>utilizando</a:t>
            </a:r>
            <a:r>
              <a:rPr lang="en-US" sz="2400" dirty="0"/>
              <a:t> el </a:t>
            </a:r>
            <a:r>
              <a:rPr lang="en-US" sz="2400" dirty="0" err="1"/>
              <a:t>comando</a:t>
            </a:r>
            <a:r>
              <a:rPr lang="en-US" sz="2400" dirty="0"/>
              <a:t>:</a:t>
            </a:r>
          </a:p>
          <a:p>
            <a:r>
              <a:rPr lang="en-US" sz="2400" dirty="0">
                <a:solidFill>
                  <a:srgbClr val="FF0000"/>
                </a:solidFill>
              </a:rPr>
              <a:t>FLUSH PRIVILEGES;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88788" y="167116"/>
            <a:ext cx="2053391" cy="1533198"/>
          </a:xfrm>
          <a:prstGeom prst="rect">
            <a:avLst/>
          </a:prstGeom>
        </p:spPr>
      </p:pic>
      <p:sp>
        <p:nvSpPr>
          <p:cNvPr id="9" name="Title 1"/>
          <p:cNvSpPr txBox="1">
            <a:spLocks/>
          </p:cNvSpPr>
          <p:nvPr/>
        </p:nvSpPr>
        <p:spPr>
          <a:xfrm>
            <a:off x="1249680" y="439003"/>
            <a:ext cx="10058400" cy="1315709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GRANT </a:t>
            </a:r>
          </a:p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USER/ROL</a:t>
            </a:r>
          </a:p>
        </p:txBody>
      </p:sp>
      <p:sp>
        <p:nvSpPr>
          <p:cNvPr id="10" name="Rectangle 4"/>
          <p:cNvSpPr>
            <a:spLocks noChangeArrowheads="1"/>
          </p:cNvSpPr>
          <p:nvPr/>
        </p:nvSpPr>
        <p:spPr bwMode="auto">
          <a:xfrm>
            <a:off x="2924239" y="2250747"/>
            <a:ext cx="5881906" cy="1385637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r>
              <a:rPr lang="en-US" sz="2800" dirty="0"/>
              <a:t>GRANT </a:t>
            </a:r>
            <a:r>
              <a:rPr lang="en-US" sz="2800" i="1" dirty="0">
                <a:solidFill>
                  <a:srgbClr val="3366FF"/>
                </a:solidFill>
              </a:rPr>
              <a:t>[</a:t>
            </a:r>
            <a:r>
              <a:rPr lang="en-US" sz="2800" i="1" dirty="0" err="1">
                <a:solidFill>
                  <a:srgbClr val="3366FF"/>
                </a:solidFill>
              </a:rPr>
              <a:t>privilegio</a:t>
            </a:r>
            <a:r>
              <a:rPr lang="en-US" sz="2800" i="1" dirty="0">
                <a:solidFill>
                  <a:srgbClr val="3366FF"/>
                </a:solidFill>
              </a:rPr>
              <a:t>]</a:t>
            </a:r>
            <a:r>
              <a:rPr lang="en-US" sz="2800" dirty="0"/>
              <a:t> </a:t>
            </a:r>
          </a:p>
          <a:p>
            <a:r>
              <a:rPr lang="en-US" sz="2800" dirty="0"/>
              <a:t>ON </a:t>
            </a:r>
            <a:r>
              <a:rPr lang="en-US" sz="2800" i="1" dirty="0">
                <a:solidFill>
                  <a:srgbClr val="3366FF"/>
                </a:solidFill>
              </a:rPr>
              <a:t>[&lt;database&gt;]. [&lt;table&gt;]</a:t>
            </a:r>
            <a:endParaRPr lang="en-US" sz="2800" dirty="0"/>
          </a:p>
          <a:p>
            <a:r>
              <a:rPr lang="en-US" sz="2800" dirty="0"/>
              <a:t>TO </a:t>
            </a:r>
            <a:r>
              <a:rPr lang="en-US" sz="2800" i="1" dirty="0">
                <a:solidFill>
                  <a:srgbClr val="3366FF"/>
                </a:solidFill>
              </a:rPr>
              <a:t>‘&lt;user&gt;/&lt;</a:t>
            </a:r>
            <a:r>
              <a:rPr lang="en-US" sz="2800" i="1" dirty="0" err="1">
                <a:solidFill>
                  <a:srgbClr val="3366FF"/>
                </a:solidFill>
              </a:rPr>
              <a:t>rol</a:t>
            </a:r>
            <a:r>
              <a:rPr lang="en-US" sz="2800" i="1" dirty="0">
                <a:solidFill>
                  <a:srgbClr val="3366FF"/>
                </a:solidFill>
              </a:rPr>
              <a:t>&gt;’;</a:t>
            </a:r>
            <a:endParaRPr lang="en-US" sz="2800" dirty="0"/>
          </a:p>
        </p:txBody>
      </p:sp>
      <p:sp>
        <p:nvSpPr>
          <p:cNvPr id="11" name="Rectangle 4"/>
          <p:cNvSpPr>
            <a:spLocks noChangeArrowheads="1"/>
          </p:cNvSpPr>
          <p:nvPr/>
        </p:nvSpPr>
        <p:spPr bwMode="auto">
          <a:xfrm>
            <a:off x="6299653" y="5795589"/>
            <a:ext cx="5716815" cy="462307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lIns="92075" tIns="46038" rIns="92075" bIns="46038">
            <a:spAutoFit/>
          </a:bodyPr>
          <a:lstStyle/>
          <a:p>
            <a:r>
              <a:rPr lang="en-US" sz="2400" dirty="0"/>
              <a:t>SHOW GRANTS FOR ‘</a:t>
            </a:r>
            <a:r>
              <a:rPr lang="en-US" sz="2400" i="1" dirty="0">
                <a:solidFill>
                  <a:srgbClr val="3366FF"/>
                </a:solidFill>
              </a:rPr>
              <a:t>&lt;user&gt;/&lt;</a:t>
            </a:r>
            <a:r>
              <a:rPr lang="en-US" sz="2400" i="1" dirty="0" err="1">
                <a:solidFill>
                  <a:srgbClr val="3366FF"/>
                </a:solidFill>
              </a:rPr>
              <a:t>rol</a:t>
            </a:r>
            <a:r>
              <a:rPr lang="en-US" sz="2400" i="1" dirty="0">
                <a:solidFill>
                  <a:srgbClr val="3366FF"/>
                </a:solidFill>
              </a:rPr>
              <a:t>&gt;’;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3912719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0" grpId="0" animBg="1"/>
      <p:bldP spid="11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1095498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  CREATE USER ’admin'@'</a:t>
            </a:r>
            <a:r>
              <a:rPr lang="en-US" sz="2400" dirty="0" err="1"/>
              <a:t>localhost</a:t>
            </a:r>
            <a:r>
              <a:rPr lang="en-US" sz="2400" dirty="0"/>
              <a:t>' IDENTIFIED BY '</a:t>
            </a:r>
            <a:r>
              <a:rPr lang="en-US" sz="2400" dirty="0" err="1"/>
              <a:t>some_pass</a:t>
            </a:r>
            <a:r>
              <a:rPr lang="en-US" sz="2400" dirty="0"/>
              <a:t>';</a:t>
            </a:r>
          </a:p>
          <a:p>
            <a:pPr marL="0" indent="0">
              <a:buNone/>
            </a:pPr>
            <a:r>
              <a:rPr lang="en-US" sz="2400" dirty="0"/>
              <a:t>  </a:t>
            </a:r>
            <a:r>
              <a:rPr lang="en-US" sz="2400" b="1" dirty="0">
                <a:solidFill>
                  <a:srgbClr val="0000FF"/>
                </a:solidFill>
              </a:rPr>
              <a:t>GRANT</a:t>
            </a:r>
            <a:r>
              <a:rPr lang="en-US" sz="2400" dirty="0"/>
              <a:t> ALL PRIVILEGES </a:t>
            </a:r>
            <a:r>
              <a:rPr lang="en-US" sz="2400" b="1" dirty="0">
                <a:solidFill>
                  <a:srgbClr val="0000FF"/>
                </a:solidFill>
              </a:rPr>
              <a:t>ON</a:t>
            </a:r>
            <a:r>
              <a:rPr lang="en-US" sz="2400" dirty="0">
                <a:solidFill>
                  <a:srgbClr val="0000FF"/>
                </a:solidFill>
              </a:rPr>
              <a:t> </a:t>
            </a:r>
            <a:r>
              <a:rPr lang="en-US" sz="2400" dirty="0"/>
              <a:t>*.* </a:t>
            </a:r>
            <a:r>
              <a:rPr lang="en-US" sz="2400" b="1" dirty="0">
                <a:solidFill>
                  <a:srgbClr val="0000FF"/>
                </a:solidFill>
              </a:rPr>
              <a:t>TO</a:t>
            </a:r>
            <a:r>
              <a:rPr lang="en-US" sz="2400" dirty="0">
                <a:solidFill>
                  <a:srgbClr val="0000FF"/>
                </a:solidFill>
              </a:rPr>
              <a:t> </a:t>
            </a:r>
            <a:r>
              <a:rPr lang="en-US" sz="2400" dirty="0"/>
              <a:t>’admin’ WITH GRANT OPTION;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1249680" y="439003"/>
            <a:ext cx="10058400" cy="1315709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GRANT en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Mysql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Todas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las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DBs )</a:t>
            </a: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1032451" y="3292171"/>
            <a:ext cx="10058400" cy="55148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Calibri" panose="020F0502020204030204" pitchFamily="34" charset="0"/>
              <a:buNone/>
            </a:pPr>
            <a:r>
              <a:rPr lang="en-US" sz="2400" dirty="0"/>
              <a:t>  </a:t>
            </a:r>
            <a:r>
              <a:rPr lang="en-US" sz="2400" b="1" dirty="0">
                <a:solidFill>
                  <a:srgbClr val="0000FF"/>
                </a:solidFill>
              </a:rPr>
              <a:t>GRANT</a:t>
            </a:r>
            <a:r>
              <a:rPr lang="en-US" sz="2400" dirty="0"/>
              <a:t> SELECT, INSERT </a:t>
            </a:r>
            <a:r>
              <a:rPr lang="en-US" sz="2400" b="1" dirty="0">
                <a:solidFill>
                  <a:srgbClr val="0000FF"/>
                </a:solidFill>
              </a:rPr>
              <a:t>ON</a:t>
            </a:r>
            <a:r>
              <a:rPr lang="en-US" sz="2400" dirty="0"/>
              <a:t> *.* </a:t>
            </a:r>
            <a:r>
              <a:rPr lang="en-US" sz="2400" b="1" dirty="0">
                <a:solidFill>
                  <a:srgbClr val="0000FF"/>
                </a:solidFill>
              </a:rPr>
              <a:t>TO</a:t>
            </a:r>
            <a:r>
              <a:rPr lang="en-US" sz="2400" dirty="0">
                <a:solidFill>
                  <a:srgbClr val="0000FF"/>
                </a:solidFill>
              </a:rPr>
              <a:t> </a:t>
            </a:r>
            <a:r>
              <a:rPr lang="en-US" sz="2400" dirty="0"/>
              <a:t>’admin’;</a:t>
            </a:r>
          </a:p>
        </p:txBody>
      </p:sp>
      <p:sp>
        <p:nvSpPr>
          <p:cNvPr id="13" name="Content Placeholder 2"/>
          <p:cNvSpPr txBox="1">
            <a:spLocks/>
          </p:cNvSpPr>
          <p:nvPr/>
        </p:nvSpPr>
        <p:spPr>
          <a:xfrm>
            <a:off x="1084591" y="4361704"/>
            <a:ext cx="10058400" cy="101940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Calibri" panose="020F0502020204030204" pitchFamily="34" charset="0"/>
              <a:buNone/>
            </a:pPr>
            <a:r>
              <a:rPr lang="en-US" sz="2400" dirty="0"/>
              <a:t>  CREATE USER 'admin'@'</a:t>
            </a:r>
            <a:r>
              <a:rPr lang="en-US" sz="2400" dirty="0" err="1"/>
              <a:t>localhost</a:t>
            </a:r>
            <a:r>
              <a:rPr lang="en-US" sz="2400" dirty="0"/>
              <a:t>';</a:t>
            </a:r>
          </a:p>
          <a:p>
            <a:pPr marL="0" indent="0">
              <a:buFont typeface="Calibri" panose="020F0502020204030204" pitchFamily="34" charset="0"/>
              <a:buNone/>
            </a:pPr>
            <a:r>
              <a:rPr lang="en-US" sz="2400" dirty="0"/>
              <a:t>  </a:t>
            </a:r>
            <a:r>
              <a:rPr lang="en-US" sz="2400" b="1" dirty="0">
                <a:solidFill>
                  <a:srgbClr val="0000FF"/>
                </a:solidFill>
              </a:rPr>
              <a:t>GRANT</a:t>
            </a:r>
            <a:r>
              <a:rPr lang="en-US" sz="2400" dirty="0">
                <a:solidFill>
                  <a:srgbClr val="0000FF"/>
                </a:solidFill>
              </a:rPr>
              <a:t> </a:t>
            </a:r>
            <a:r>
              <a:rPr lang="en-US" sz="2400" dirty="0"/>
              <a:t>RELOAD,PROCESS </a:t>
            </a:r>
            <a:r>
              <a:rPr lang="en-US" sz="2400" b="1" dirty="0">
                <a:solidFill>
                  <a:srgbClr val="0000FF"/>
                </a:solidFill>
              </a:rPr>
              <a:t>ON</a:t>
            </a:r>
            <a:r>
              <a:rPr lang="en-US" sz="2400" dirty="0">
                <a:solidFill>
                  <a:srgbClr val="0000FF"/>
                </a:solidFill>
              </a:rPr>
              <a:t> </a:t>
            </a:r>
            <a:r>
              <a:rPr lang="en-US" sz="2400" dirty="0"/>
              <a:t>*.* </a:t>
            </a:r>
            <a:r>
              <a:rPr lang="en-US" sz="2400" b="1" dirty="0">
                <a:solidFill>
                  <a:srgbClr val="0000FF"/>
                </a:solidFill>
              </a:rPr>
              <a:t>TO</a:t>
            </a:r>
            <a:r>
              <a:rPr lang="en-US" sz="2400" dirty="0"/>
              <a:t> 'admin’;</a:t>
            </a:r>
          </a:p>
        </p:txBody>
      </p:sp>
      <p:sp>
        <p:nvSpPr>
          <p:cNvPr id="14" name="Rectangle 4"/>
          <p:cNvSpPr>
            <a:spLocks noChangeArrowheads="1"/>
          </p:cNvSpPr>
          <p:nvPr/>
        </p:nvSpPr>
        <p:spPr bwMode="auto">
          <a:xfrm>
            <a:off x="7820260" y="5511490"/>
            <a:ext cx="3325280" cy="831639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lIns="92075" tIns="46038" rIns="92075" bIns="46038">
            <a:spAutoFit/>
          </a:bodyPr>
          <a:lstStyle/>
          <a:p>
            <a:r>
              <a:rPr lang="en-US" sz="2400" dirty="0"/>
              <a:t>SHOW PRIVILEGES;</a:t>
            </a:r>
          </a:p>
          <a:p>
            <a:r>
              <a:rPr lang="en-US" sz="2400" dirty="0"/>
              <a:t>SHOW PROCESSLIST;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88788" y="167116"/>
            <a:ext cx="2053391" cy="1533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69440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  <p:bldP spid="6" grpId="0" animBg="1"/>
      <p:bldP spid="13" grpId="0" animBg="1"/>
      <p:bldP spid="14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1249680" y="439003"/>
            <a:ext cx="10058400" cy="1315709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GRANT en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Mysql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( 1 BD )</a:t>
            </a:r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1099291" y="4120500"/>
            <a:ext cx="10058400" cy="1095498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Calibri" panose="020F0502020204030204" pitchFamily="34" charset="0"/>
              <a:buNone/>
            </a:pPr>
            <a:r>
              <a:rPr lang="en-US" sz="2400" dirty="0"/>
              <a:t>  CREATE USER '</a:t>
            </a:r>
            <a:r>
              <a:rPr lang="en-US" sz="2400" dirty="0" err="1"/>
              <a:t>monty</a:t>
            </a:r>
            <a:r>
              <a:rPr lang="en-US" sz="2400" dirty="0"/>
              <a:t>'@'</a:t>
            </a:r>
            <a:r>
              <a:rPr lang="en-US" sz="2400" dirty="0" err="1"/>
              <a:t>localhost</a:t>
            </a:r>
            <a:r>
              <a:rPr lang="en-US" sz="2400" dirty="0"/>
              <a:t>' IDENTIFIED BY '</a:t>
            </a:r>
            <a:r>
              <a:rPr lang="en-US" sz="2400" dirty="0" err="1"/>
              <a:t>some_pass</a:t>
            </a:r>
            <a:r>
              <a:rPr lang="en-US" sz="2400" dirty="0"/>
              <a:t>';</a:t>
            </a:r>
          </a:p>
          <a:p>
            <a:pPr marL="0" indent="0">
              <a:buFont typeface="Calibri" panose="020F0502020204030204" pitchFamily="34" charset="0"/>
              <a:buNone/>
            </a:pPr>
            <a:r>
              <a:rPr lang="en-US" sz="2400" dirty="0"/>
              <a:t>  </a:t>
            </a:r>
            <a:r>
              <a:rPr lang="en-US" sz="2400" b="1" dirty="0">
                <a:solidFill>
                  <a:srgbClr val="0000FF"/>
                </a:solidFill>
              </a:rPr>
              <a:t>GRANT</a:t>
            </a:r>
            <a:r>
              <a:rPr lang="en-US" sz="2400" dirty="0">
                <a:solidFill>
                  <a:srgbClr val="0000FF"/>
                </a:solidFill>
              </a:rPr>
              <a:t> </a:t>
            </a:r>
            <a:r>
              <a:rPr lang="en-US" sz="2400" dirty="0"/>
              <a:t>ALL PRIVILEGES </a:t>
            </a:r>
            <a:r>
              <a:rPr lang="en-US" sz="2400" b="1" dirty="0">
                <a:solidFill>
                  <a:srgbClr val="0000FF"/>
                </a:solidFill>
              </a:rPr>
              <a:t>ON</a:t>
            </a:r>
            <a:r>
              <a:rPr lang="en-US" sz="2400" dirty="0">
                <a:solidFill>
                  <a:srgbClr val="0000FF"/>
                </a:solidFill>
              </a:rPr>
              <a:t> </a:t>
            </a:r>
            <a:r>
              <a:rPr lang="en-US" sz="2400" dirty="0"/>
              <a:t>db1.* </a:t>
            </a:r>
            <a:r>
              <a:rPr lang="en-US" sz="2400" b="1" dirty="0">
                <a:solidFill>
                  <a:srgbClr val="0000FF"/>
                </a:solidFill>
              </a:rPr>
              <a:t>TO</a:t>
            </a:r>
            <a:r>
              <a:rPr lang="en-US" sz="2400" dirty="0">
                <a:solidFill>
                  <a:srgbClr val="0000FF"/>
                </a:solidFill>
              </a:rPr>
              <a:t> </a:t>
            </a:r>
            <a:r>
              <a:rPr lang="en-US" sz="2400" dirty="0"/>
              <a:t>'</a:t>
            </a:r>
            <a:r>
              <a:rPr lang="en-US" sz="2400" dirty="0" err="1"/>
              <a:t>monty</a:t>
            </a:r>
            <a:r>
              <a:rPr lang="en-US" sz="2400" dirty="0"/>
              <a:t>'@'</a:t>
            </a:r>
            <a:r>
              <a:rPr lang="en-US" sz="2400" dirty="0" err="1"/>
              <a:t>localhost</a:t>
            </a:r>
            <a:r>
              <a:rPr lang="en-US" sz="2400" dirty="0"/>
              <a:t>’ WITH GRANT OPTION;</a:t>
            </a:r>
          </a:p>
        </p:txBody>
      </p:sp>
      <p:sp>
        <p:nvSpPr>
          <p:cNvPr id="11" name="Content Placeholder 2"/>
          <p:cNvSpPr txBox="1">
            <a:spLocks/>
          </p:cNvSpPr>
          <p:nvPr/>
        </p:nvSpPr>
        <p:spPr>
          <a:xfrm>
            <a:off x="1101302" y="5366398"/>
            <a:ext cx="10058400" cy="551485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dirty="0"/>
              <a:t>  </a:t>
            </a:r>
            <a:r>
              <a:rPr lang="en-US" sz="2400" b="1" dirty="0">
                <a:solidFill>
                  <a:srgbClr val="0000FF"/>
                </a:solidFill>
              </a:rPr>
              <a:t>GRANT</a:t>
            </a:r>
            <a:r>
              <a:rPr lang="en-US" sz="2400" dirty="0">
                <a:solidFill>
                  <a:srgbClr val="0000FF"/>
                </a:solidFill>
              </a:rPr>
              <a:t> </a:t>
            </a:r>
            <a:r>
              <a:rPr lang="en-US" sz="2400" dirty="0"/>
              <a:t>SELECT, INSERT </a:t>
            </a:r>
            <a:r>
              <a:rPr lang="en-US" sz="2400" b="1" dirty="0">
                <a:solidFill>
                  <a:srgbClr val="0000FF"/>
                </a:solidFill>
              </a:rPr>
              <a:t>ON</a:t>
            </a:r>
            <a:r>
              <a:rPr lang="en-US" sz="2400" dirty="0">
                <a:solidFill>
                  <a:srgbClr val="0000FF"/>
                </a:solidFill>
              </a:rPr>
              <a:t> </a:t>
            </a:r>
            <a:r>
              <a:rPr lang="en-US" sz="2400" dirty="0"/>
              <a:t>db1.* </a:t>
            </a:r>
            <a:r>
              <a:rPr lang="en-US" sz="2400" b="1" dirty="0">
                <a:solidFill>
                  <a:srgbClr val="0000FF"/>
                </a:solidFill>
              </a:rPr>
              <a:t>TO</a:t>
            </a:r>
            <a:r>
              <a:rPr lang="en-US" sz="2400" dirty="0">
                <a:solidFill>
                  <a:srgbClr val="0000FF"/>
                </a:solidFill>
              </a:rPr>
              <a:t> </a:t>
            </a:r>
            <a:r>
              <a:rPr lang="en-US" sz="2400" dirty="0"/>
              <a:t>'</a:t>
            </a:r>
            <a:r>
              <a:rPr lang="en-US" sz="2400" dirty="0" err="1"/>
              <a:t>monty</a:t>
            </a:r>
            <a:r>
              <a:rPr lang="en-US" sz="2400" dirty="0"/>
              <a:t>'@’</a:t>
            </a:r>
            <a:r>
              <a:rPr lang="en-US" sz="2400" dirty="0" err="1"/>
              <a:t>localhost</a:t>
            </a:r>
            <a:r>
              <a:rPr lang="en-US" sz="2400" dirty="0"/>
              <a:t>’;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37081" y="5045294"/>
            <a:ext cx="837169" cy="837169"/>
          </a:xfrm>
          <a:prstGeom prst="rect">
            <a:avLst/>
          </a:prstGeom>
        </p:spPr>
      </p:pic>
      <p:sp>
        <p:nvSpPr>
          <p:cNvPr id="16" name="Content Placeholder 2"/>
          <p:cNvSpPr txBox="1">
            <a:spLocks/>
          </p:cNvSpPr>
          <p:nvPr/>
        </p:nvSpPr>
        <p:spPr>
          <a:xfrm>
            <a:off x="1103311" y="2358320"/>
            <a:ext cx="10058400" cy="1019409"/>
          </a:xfrm>
          <a:prstGeom prst="rect">
            <a:avLst/>
          </a:prstGeom>
          <a:ln>
            <a:solidFill>
              <a:srgbClr val="FFFF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Calibri" panose="020F0502020204030204" pitchFamily="34" charset="0"/>
              <a:buNone/>
            </a:pPr>
            <a:r>
              <a:rPr lang="en-US" sz="2400" dirty="0"/>
              <a:t>  CREATE USER ’</a:t>
            </a:r>
            <a:r>
              <a:rPr lang="en-US" sz="2400" dirty="0" err="1"/>
              <a:t>sistema</a:t>
            </a:r>
            <a:r>
              <a:rPr lang="en-US" sz="2400" dirty="0"/>
              <a:t>'@'</a:t>
            </a:r>
            <a:r>
              <a:rPr lang="en-US" sz="2400" dirty="0" err="1"/>
              <a:t>localhost</a:t>
            </a:r>
            <a:r>
              <a:rPr lang="en-US" sz="2400" dirty="0"/>
              <a:t>';</a:t>
            </a:r>
          </a:p>
          <a:p>
            <a:pPr marL="0" indent="0">
              <a:buFont typeface="Calibri" panose="020F0502020204030204" pitchFamily="34" charset="0"/>
              <a:buNone/>
            </a:pPr>
            <a:r>
              <a:rPr lang="en-US" sz="2400" dirty="0"/>
              <a:t>  </a:t>
            </a:r>
            <a:r>
              <a:rPr lang="en-US" sz="2400" b="1" dirty="0">
                <a:solidFill>
                  <a:srgbClr val="0000FF"/>
                </a:solidFill>
              </a:rPr>
              <a:t>GRANT</a:t>
            </a:r>
            <a:r>
              <a:rPr lang="en-US" sz="2400" dirty="0">
                <a:solidFill>
                  <a:srgbClr val="0000FF"/>
                </a:solidFill>
              </a:rPr>
              <a:t> </a:t>
            </a:r>
            <a:r>
              <a:rPr lang="en-US" sz="2400" dirty="0"/>
              <a:t>EXECUTE </a:t>
            </a:r>
            <a:r>
              <a:rPr lang="en-US" sz="2400" b="1">
                <a:solidFill>
                  <a:srgbClr val="0000FF"/>
                </a:solidFill>
              </a:rPr>
              <a:t>ON</a:t>
            </a:r>
            <a:r>
              <a:rPr lang="en-US" sz="2400"/>
              <a:t> db1</a:t>
            </a:r>
            <a:r>
              <a:rPr lang="en-US" sz="2400" dirty="0"/>
              <a:t>.sp1 </a:t>
            </a:r>
            <a:r>
              <a:rPr lang="en-US" sz="2400" b="1" dirty="0">
                <a:solidFill>
                  <a:srgbClr val="0000FF"/>
                </a:solidFill>
              </a:rPr>
              <a:t>TO</a:t>
            </a:r>
            <a:r>
              <a:rPr lang="en-US" sz="2400" dirty="0">
                <a:solidFill>
                  <a:srgbClr val="0000FF"/>
                </a:solidFill>
              </a:rPr>
              <a:t> </a:t>
            </a:r>
            <a:r>
              <a:rPr lang="en-US" sz="2400" dirty="0"/>
              <a:t>’</a:t>
            </a:r>
            <a:r>
              <a:rPr lang="en-US" sz="2400" dirty="0" err="1"/>
              <a:t>sistema</a:t>
            </a:r>
            <a:r>
              <a:rPr lang="en-US" sz="2400" dirty="0"/>
              <a:t>'@'</a:t>
            </a:r>
            <a:r>
              <a:rPr lang="en-US" sz="2400" dirty="0" err="1"/>
              <a:t>localhost</a:t>
            </a:r>
            <a:r>
              <a:rPr lang="en-US" sz="2400" dirty="0"/>
              <a:t>’;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88788" y="167116"/>
            <a:ext cx="2053391" cy="1533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27364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 animBg="1"/>
      <p:bldP spid="11" grpId="0" animBg="1"/>
      <p:bldP spid="16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979430"/>
            <a:ext cx="10058400" cy="1095498"/>
          </a:xfrm>
          <a:ln>
            <a:solidFill>
              <a:srgbClr val="FF66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sz="2400" dirty="0"/>
              <a:t>  CREATE USER ’ </a:t>
            </a:r>
            <a:r>
              <a:rPr lang="en-US" sz="2400" dirty="0" err="1"/>
              <a:t>monty</a:t>
            </a:r>
            <a:r>
              <a:rPr lang="en-US" sz="2400" dirty="0"/>
              <a:t>'@'</a:t>
            </a:r>
            <a:r>
              <a:rPr lang="en-US" sz="2400" dirty="0" err="1"/>
              <a:t>localhost</a:t>
            </a:r>
            <a:r>
              <a:rPr lang="en-US" sz="2400" dirty="0"/>
              <a:t>' IDENTIFIED BY '</a:t>
            </a:r>
            <a:r>
              <a:rPr lang="en-US" sz="2400" dirty="0" err="1"/>
              <a:t>some_pass</a:t>
            </a:r>
            <a:r>
              <a:rPr lang="en-US" sz="2400" dirty="0"/>
              <a:t>';</a:t>
            </a:r>
          </a:p>
          <a:p>
            <a:pPr marL="0" indent="0">
              <a:buNone/>
            </a:pPr>
            <a:r>
              <a:rPr lang="en-US" sz="2400" dirty="0"/>
              <a:t>  </a:t>
            </a:r>
            <a:r>
              <a:rPr lang="en-US" sz="2400" b="1" dirty="0">
                <a:solidFill>
                  <a:srgbClr val="0000FF"/>
                </a:solidFill>
              </a:rPr>
              <a:t>GRANT</a:t>
            </a:r>
            <a:r>
              <a:rPr lang="en-US" sz="2400" dirty="0">
                <a:solidFill>
                  <a:srgbClr val="0000FF"/>
                </a:solidFill>
              </a:rPr>
              <a:t> </a:t>
            </a:r>
            <a:r>
              <a:rPr lang="en-US" sz="2400" dirty="0"/>
              <a:t>ALL PRIVILEGES </a:t>
            </a:r>
            <a:r>
              <a:rPr lang="en-US" sz="2400" b="1" dirty="0">
                <a:solidFill>
                  <a:srgbClr val="0000FF"/>
                </a:solidFill>
              </a:rPr>
              <a:t>ON</a:t>
            </a:r>
            <a:r>
              <a:rPr lang="en-US" sz="2400" dirty="0">
                <a:solidFill>
                  <a:srgbClr val="0000FF"/>
                </a:solidFill>
              </a:rPr>
              <a:t> </a:t>
            </a:r>
            <a:r>
              <a:rPr lang="en-US" sz="2400" dirty="0"/>
              <a:t>db1.tb1 </a:t>
            </a:r>
            <a:r>
              <a:rPr lang="en-US" sz="2400" b="1" dirty="0">
                <a:solidFill>
                  <a:srgbClr val="0000FF"/>
                </a:solidFill>
              </a:rPr>
              <a:t>TO</a:t>
            </a:r>
            <a:r>
              <a:rPr lang="en-US" sz="2400" dirty="0">
                <a:solidFill>
                  <a:srgbClr val="0000FF"/>
                </a:solidFill>
              </a:rPr>
              <a:t> </a:t>
            </a:r>
            <a:r>
              <a:rPr lang="en-US" sz="2400" dirty="0"/>
              <a:t>’ </a:t>
            </a:r>
            <a:r>
              <a:rPr lang="en-US" sz="2400" dirty="0" err="1"/>
              <a:t>monty</a:t>
            </a:r>
            <a:r>
              <a:rPr lang="en-US" sz="2400" dirty="0"/>
              <a:t>'@'</a:t>
            </a:r>
            <a:r>
              <a:rPr lang="en-US" sz="2400" dirty="0" err="1"/>
              <a:t>localhost</a:t>
            </a:r>
            <a:r>
              <a:rPr lang="en-US" sz="2400" dirty="0"/>
              <a:t>’ WITH GRANT OPTION;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1249680" y="439003"/>
            <a:ext cx="10058400" cy="1315709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GRANT en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Mysql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( 1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Tabla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)</a:t>
            </a: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1099291" y="3225328"/>
            <a:ext cx="10058400" cy="551485"/>
          </a:xfrm>
          <a:prstGeom prst="rect">
            <a:avLst/>
          </a:prstGeom>
          <a:ln>
            <a:solidFill>
              <a:srgbClr val="FF66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dirty="0"/>
              <a:t>  </a:t>
            </a:r>
            <a:r>
              <a:rPr lang="en-US" sz="2400" b="1" dirty="0">
                <a:solidFill>
                  <a:srgbClr val="0000FF"/>
                </a:solidFill>
              </a:rPr>
              <a:t>GRANT</a:t>
            </a:r>
            <a:r>
              <a:rPr lang="en-US" sz="2400" dirty="0">
                <a:solidFill>
                  <a:srgbClr val="0000FF"/>
                </a:solidFill>
              </a:rPr>
              <a:t> </a:t>
            </a:r>
            <a:r>
              <a:rPr lang="en-US" sz="2400" dirty="0"/>
              <a:t>SELECT, INSERT </a:t>
            </a:r>
            <a:r>
              <a:rPr lang="en-US" sz="2400" b="1" dirty="0">
                <a:solidFill>
                  <a:srgbClr val="0000FF"/>
                </a:solidFill>
              </a:rPr>
              <a:t>ON </a:t>
            </a:r>
            <a:r>
              <a:rPr lang="en-US" sz="2400" dirty="0"/>
              <a:t>db1.tb1 </a:t>
            </a:r>
            <a:r>
              <a:rPr lang="en-US" sz="2400" b="1" dirty="0">
                <a:solidFill>
                  <a:srgbClr val="0000FF"/>
                </a:solidFill>
              </a:rPr>
              <a:t>TO</a:t>
            </a:r>
            <a:r>
              <a:rPr lang="en-US" sz="2400" dirty="0">
                <a:solidFill>
                  <a:srgbClr val="0000FF"/>
                </a:solidFill>
              </a:rPr>
              <a:t> </a:t>
            </a:r>
            <a:r>
              <a:rPr lang="en-US" sz="2400" dirty="0"/>
              <a:t>’</a:t>
            </a:r>
            <a:r>
              <a:rPr lang="en-US" sz="2400" dirty="0" err="1"/>
              <a:t>monty</a:t>
            </a:r>
            <a:r>
              <a:rPr lang="en-US" sz="2400" dirty="0"/>
              <a:t>'@’</a:t>
            </a:r>
            <a:r>
              <a:rPr lang="en-US" sz="2400" dirty="0" err="1"/>
              <a:t>localhost</a:t>
            </a:r>
            <a:r>
              <a:rPr lang="en-US" sz="2400" dirty="0"/>
              <a:t>’;</a:t>
            </a:r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1065871" y="4504865"/>
            <a:ext cx="10058400" cy="1095498"/>
          </a:xfrm>
          <a:prstGeom prst="rect">
            <a:avLst/>
          </a:prstGeom>
          <a:ln>
            <a:solidFill>
              <a:srgbClr val="008000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Calibri" panose="020F0502020204030204" pitchFamily="34" charset="0"/>
              <a:buNone/>
            </a:pPr>
            <a:r>
              <a:rPr lang="en-US" sz="2400" dirty="0"/>
              <a:t>  CREATE USER '</a:t>
            </a:r>
            <a:r>
              <a:rPr lang="en-US" sz="2400" dirty="0" err="1"/>
              <a:t>monty</a:t>
            </a:r>
            <a:r>
              <a:rPr lang="en-US" sz="2400" dirty="0"/>
              <a:t>'@'</a:t>
            </a:r>
            <a:r>
              <a:rPr lang="en-US" sz="2400" dirty="0" err="1"/>
              <a:t>localhost</a:t>
            </a:r>
            <a:r>
              <a:rPr lang="en-US" sz="2400" dirty="0"/>
              <a:t>' IDENTIFIED BY '</a:t>
            </a:r>
            <a:r>
              <a:rPr lang="en-US" sz="2400" dirty="0" err="1"/>
              <a:t>some_pass</a:t>
            </a:r>
            <a:r>
              <a:rPr lang="en-US" sz="2400" dirty="0"/>
              <a:t>';</a:t>
            </a:r>
          </a:p>
          <a:p>
            <a:pPr marL="0" indent="0">
              <a:buFont typeface="Calibri" panose="020F0502020204030204" pitchFamily="34" charset="0"/>
              <a:buNone/>
            </a:pPr>
            <a:r>
              <a:rPr lang="en-US" sz="2400" dirty="0"/>
              <a:t>  </a:t>
            </a:r>
            <a:r>
              <a:rPr lang="en-US" sz="2400" b="1" dirty="0">
                <a:solidFill>
                  <a:srgbClr val="0000FF"/>
                </a:solidFill>
              </a:rPr>
              <a:t>GRANT</a:t>
            </a:r>
            <a:r>
              <a:rPr lang="en-US" sz="2400" dirty="0">
                <a:solidFill>
                  <a:srgbClr val="0000FF"/>
                </a:solidFill>
              </a:rPr>
              <a:t> </a:t>
            </a:r>
            <a:r>
              <a:rPr lang="en-US" sz="2400" dirty="0"/>
              <a:t>SELECT (col1), INSERT (col1, col2) </a:t>
            </a:r>
            <a:r>
              <a:rPr lang="en-US" sz="2400" b="1" dirty="0">
                <a:solidFill>
                  <a:srgbClr val="0000FF"/>
                </a:solidFill>
              </a:rPr>
              <a:t>ON</a:t>
            </a:r>
            <a:r>
              <a:rPr lang="en-US" sz="2400" dirty="0">
                <a:solidFill>
                  <a:srgbClr val="0000FF"/>
                </a:solidFill>
              </a:rPr>
              <a:t> </a:t>
            </a:r>
            <a:r>
              <a:rPr lang="en-US" sz="2400" dirty="0"/>
              <a:t>db1.tbl1 </a:t>
            </a:r>
            <a:r>
              <a:rPr lang="en-US" sz="2400" b="1" dirty="0">
                <a:solidFill>
                  <a:srgbClr val="0000FF"/>
                </a:solidFill>
              </a:rPr>
              <a:t>TO</a:t>
            </a:r>
            <a:r>
              <a:rPr lang="en-US" sz="2400" dirty="0">
                <a:solidFill>
                  <a:srgbClr val="0000FF"/>
                </a:solidFill>
              </a:rPr>
              <a:t> </a:t>
            </a:r>
            <a:r>
              <a:rPr lang="en-US" sz="2400" dirty="0"/>
              <a:t>'</a:t>
            </a:r>
            <a:r>
              <a:rPr lang="en-US" sz="2400" dirty="0" err="1"/>
              <a:t>monty</a:t>
            </a:r>
            <a:r>
              <a:rPr lang="en-US" sz="2400" dirty="0"/>
              <a:t>'@'</a:t>
            </a:r>
            <a:r>
              <a:rPr lang="en-US" sz="2400" dirty="0" err="1"/>
              <a:t>localhost</a:t>
            </a:r>
            <a:r>
              <a:rPr lang="en-US" sz="2400" dirty="0"/>
              <a:t>’;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/>
          <a:srcRect t="9383" b="9178"/>
          <a:stretch/>
        </p:blipFill>
        <p:spPr>
          <a:xfrm>
            <a:off x="10816252" y="2540159"/>
            <a:ext cx="1087570" cy="885711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47825" y="4554740"/>
            <a:ext cx="1083341" cy="1083341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88788" y="167116"/>
            <a:ext cx="2053391" cy="1533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19398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  <p:bldP spid="6" grpId="0" animBg="1"/>
      <p:bldP spid="10" grpId="0" build="p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1249681" y="439003"/>
            <a:ext cx="7924084" cy="1315709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Asignar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un </a:t>
            </a:r>
          </a:p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ROL a un USUARIO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88788" y="167116"/>
            <a:ext cx="2053391" cy="1533198"/>
          </a:xfrm>
          <a:prstGeom prst="rect">
            <a:avLst/>
          </a:prstGeom>
        </p:spPr>
      </p:pic>
      <p:sp>
        <p:nvSpPr>
          <p:cNvPr id="12" name="Rectangle 4"/>
          <p:cNvSpPr>
            <a:spLocks noChangeArrowheads="1"/>
          </p:cNvSpPr>
          <p:nvPr/>
        </p:nvSpPr>
        <p:spPr bwMode="auto">
          <a:xfrm>
            <a:off x="1804673" y="3169881"/>
            <a:ext cx="9240606" cy="585418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r>
              <a:rPr lang="en-US" sz="3200" dirty="0"/>
              <a:t>GRANT </a:t>
            </a:r>
            <a:r>
              <a:rPr lang="en-US" sz="3200" i="1" dirty="0">
                <a:solidFill>
                  <a:srgbClr val="3366FF"/>
                </a:solidFill>
              </a:rPr>
              <a:t>&lt;</a:t>
            </a:r>
            <a:r>
              <a:rPr lang="en-US" sz="3200" i="1" dirty="0" err="1">
                <a:solidFill>
                  <a:srgbClr val="3366FF"/>
                </a:solidFill>
              </a:rPr>
              <a:t>rol</a:t>
            </a:r>
            <a:r>
              <a:rPr lang="en-US" sz="3200" i="1" dirty="0">
                <a:solidFill>
                  <a:srgbClr val="3366FF"/>
                </a:solidFill>
              </a:rPr>
              <a:t>&gt;</a:t>
            </a:r>
            <a:r>
              <a:rPr lang="en-US" sz="3200" dirty="0"/>
              <a:t> [</a:t>
            </a:r>
            <a:r>
              <a:rPr lang="en-US" sz="3200" dirty="0">
                <a:solidFill>
                  <a:srgbClr val="3366FF"/>
                </a:solidFill>
              </a:rPr>
              <a:t>, &lt;rol2&gt;, … </a:t>
            </a:r>
            <a:r>
              <a:rPr lang="en-US" sz="3200" dirty="0"/>
              <a:t>] TO </a:t>
            </a:r>
            <a:r>
              <a:rPr lang="en-US" sz="3200" dirty="0">
                <a:solidFill>
                  <a:srgbClr val="3366FF"/>
                </a:solidFill>
              </a:rPr>
              <a:t>&lt;user&gt; </a:t>
            </a:r>
            <a:r>
              <a:rPr lang="en-US" sz="3200" dirty="0"/>
              <a:t>[</a:t>
            </a:r>
            <a:r>
              <a:rPr lang="en-US" sz="3200" dirty="0">
                <a:solidFill>
                  <a:srgbClr val="3366FF"/>
                </a:solidFill>
              </a:rPr>
              <a:t>, &lt;user2&gt;, … </a:t>
            </a:r>
            <a:r>
              <a:rPr lang="en-US" sz="3200" dirty="0"/>
              <a:t>] ;</a:t>
            </a:r>
          </a:p>
        </p:txBody>
      </p:sp>
    </p:spTree>
    <p:extLst>
      <p:ext uri="{BB962C8B-B14F-4D97-AF65-F5344CB8AC3E}">
        <p14:creationId xmlns:p14="http://schemas.microsoft.com/office/powerpoint/2010/main" val="35854422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1359424"/>
              </p:ext>
            </p:extLst>
          </p:nvPr>
        </p:nvGraphicFramePr>
        <p:xfrm>
          <a:off x="467879" y="1770055"/>
          <a:ext cx="11128829" cy="3196335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7945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342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6068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PRIVILEGIOS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DESCRIPCION</a:t>
                      </a:r>
                    </a:p>
                  </a:txBody>
                  <a:tcPr marL="121920" marR="12192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0955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GRANT… ON… TO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r>
                        <a:rPr lang="en-US" sz="2400" dirty="0" err="1">
                          <a:solidFill>
                            <a:schemeClr val="tx1"/>
                          </a:solidFill>
                        </a:rPr>
                        <a:t>Permite</a:t>
                      </a:r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2400" dirty="0" err="1">
                          <a:solidFill>
                            <a:schemeClr val="tx1"/>
                          </a:solidFill>
                        </a:rPr>
                        <a:t>agregar</a:t>
                      </a:r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 o remover </a:t>
                      </a:r>
                      <a:r>
                        <a:rPr lang="en-US" sz="2400" dirty="0" err="1">
                          <a:solidFill>
                            <a:schemeClr val="tx1"/>
                          </a:solidFill>
                        </a:rPr>
                        <a:t>privilegios</a:t>
                      </a:r>
                      <a:r>
                        <a:rPr lang="en-US" sz="2400" baseline="0" dirty="0">
                          <a:solidFill>
                            <a:schemeClr val="tx1"/>
                          </a:solidFill>
                        </a:rPr>
                        <a:t> de los </a:t>
                      </a:r>
                      <a:r>
                        <a:rPr lang="en-US" sz="2400" baseline="0" dirty="0" err="1">
                          <a:solidFill>
                            <a:schemeClr val="tx1"/>
                          </a:solidFill>
                        </a:rPr>
                        <a:t>usuarios</a:t>
                      </a:r>
                      <a:r>
                        <a:rPr lang="en-US" sz="2400" baseline="0" dirty="0">
                          <a:solidFill>
                            <a:schemeClr val="tx1"/>
                          </a:solidFill>
                        </a:rPr>
                        <a:t>/roles.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marL="121920" marR="12192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5762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ALL PRIVILEGES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Un</a:t>
                      </a:r>
                      <a:r>
                        <a:rPr lang="en-US" sz="2400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2400" baseline="0" dirty="0" err="1">
                          <a:solidFill>
                            <a:schemeClr val="tx1"/>
                          </a:solidFill>
                        </a:rPr>
                        <a:t>usuario</a:t>
                      </a:r>
                      <a:r>
                        <a:rPr lang="en-US" sz="2400" baseline="0" dirty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en-US" sz="2400" baseline="0" dirty="0" err="1">
                          <a:solidFill>
                            <a:schemeClr val="tx1"/>
                          </a:solidFill>
                        </a:rPr>
                        <a:t>rol</a:t>
                      </a:r>
                      <a:r>
                        <a:rPr lang="en-US" sz="2400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2400" baseline="0" dirty="0" err="1">
                          <a:solidFill>
                            <a:schemeClr val="tx1"/>
                          </a:solidFill>
                        </a:rPr>
                        <a:t>puede</a:t>
                      </a:r>
                      <a:r>
                        <a:rPr lang="en-US" sz="2400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2400" baseline="0" dirty="0" err="1">
                          <a:solidFill>
                            <a:schemeClr val="tx1"/>
                          </a:solidFill>
                        </a:rPr>
                        <a:t>acceder</a:t>
                      </a:r>
                      <a:r>
                        <a:rPr lang="en-US" sz="2400" baseline="0" dirty="0">
                          <a:solidFill>
                            <a:schemeClr val="tx1"/>
                          </a:solidFill>
                        </a:rPr>
                        <a:t> a </a:t>
                      </a:r>
                      <a:r>
                        <a:rPr lang="en-US" sz="2400" baseline="0" dirty="0" err="1">
                          <a:solidFill>
                            <a:schemeClr val="tx1"/>
                          </a:solidFill>
                        </a:rPr>
                        <a:t>todas</a:t>
                      </a:r>
                      <a:r>
                        <a:rPr lang="en-US" sz="2400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2400" baseline="0" dirty="0" err="1">
                          <a:solidFill>
                            <a:schemeClr val="tx1"/>
                          </a:solidFill>
                        </a:rPr>
                        <a:t>las</a:t>
                      </a:r>
                      <a:r>
                        <a:rPr lang="en-US" sz="2400" baseline="0" dirty="0">
                          <a:solidFill>
                            <a:schemeClr val="tx1"/>
                          </a:solidFill>
                        </a:rPr>
                        <a:t> bases de </a:t>
                      </a:r>
                      <a:r>
                        <a:rPr lang="en-US" sz="2400" baseline="0" dirty="0" err="1">
                          <a:solidFill>
                            <a:schemeClr val="tx1"/>
                          </a:solidFill>
                        </a:rPr>
                        <a:t>datos</a:t>
                      </a:r>
                      <a:r>
                        <a:rPr lang="en-US" sz="2400" baseline="0" dirty="0">
                          <a:solidFill>
                            <a:schemeClr val="tx1"/>
                          </a:solidFill>
                        </a:rPr>
                        <a:t> del </a:t>
                      </a:r>
                      <a:r>
                        <a:rPr lang="en-US" sz="2400" baseline="0" dirty="0" err="1">
                          <a:solidFill>
                            <a:schemeClr val="tx1"/>
                          </a:solidFill>
                        </a:rPr>
                        <a:t>sistema</a:t>
                      </a:r>
                      <a:r>
                        <a:rPr lang="en-US" sz="2400" baseline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marL="121920" marR="12192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1740">
                <a:tc>
                  <a:txBody>
                    <a:bodyPr/>
                    <a:lstStyle/>
                    <a:p>
                      <a:r>
                        <a:rPr lang="en-US" sz="2400">
                          <a:solidFill>
                            <a:schemeClr val="tx1"/>
                          </a:solidFill>
                        </a:rPr>
                        <a:t>EXECUTE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Un</a:t>
                      </a:r>
                      <a:r>
                        <a:rPr lang="en-US" sz="2400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2400" baseline="0" dirty="0" err="1">
                          <a:solidFill>
                            <a:schemeClr val="tx1"/>
                          </a:solidFill>
                        </a:rPr>
                        <a:t>usuario</a:t>
                      </a:r>
                      <a:r>
                        <a:rPr lang="en-US" sz="2400" baseline="0" dirty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en-US" sz="2400" baseline="0" dirty="0" err="1">
                          <a:solidFill>
                            <a:schemeClr val="tx1"/>
                          </a:solidFill>
                        </a:rPr>
                        <a:t>rol</a:t>
                      </a:r>
                      <a:r>
                        <a:rPr lang="en-US" sz="2400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2400" baseline="0" dirty="0" err="1">
                          <a:solidFill>
                            <a:schemeClr val="tx1"/>
                          </a:solidFill>
                        </a:rPr>
                        <a:t>puede</a:t>
                      </a:r>
                      <a:r>
                        <a:rPr lang="en-US" sz="2400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2400" baseline="0" dirty="0" err="1">
                          <a:solidFill>
                            <a:schemeClr val="tx1"/>
                          </a:solidFill>
                        </a:rPr>
                        <a:t>ejecutar</a:t>
                      </a:r>
                      <a:r>
                        <a:rPr lang="en-US" sz="2400" baseline="0" dirty="0">
                          <a:solidFill>
                            <a:schemeClr val="tx1"/>
                          </a:solidFill>
                        </a:rPr>
                        <a:t> stored procedures.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marL="121920" marR="12192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17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RELOAD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r>
                        <a:rPr lang="en-US" sz="2400" dirty="0" err="1">
                          <a:solidFill>
                            <a:schemeClr val="tx1"/>
                          </a:solidFill>
                        </a:rPr>
                        <a:t>Permite</a:t>
                      </a:r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2400" dirty="0" err="1">
                          <a:solidFill>
                            <a:schemeClr val="tx1"/>
                          </a:solidFill>
                        </a:rPr>
                        <a:t>insertar</a:t>
                      </a:r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2400" dirty="0" err="1">
                          <a:solidFill>
                            <a:schemeClr val="tx1"/>
                          </a:solidFill>
                        </a:rPr>
                        <a:t>registros</a:t>
                      </a:r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 en </a:t>
                      </a:r>
                      <a:r>
                        <a:rPr lang="en-US" sz="2400" dirty="0" err="1">
                          <a:solidFill>
                            <a:schemeClr val="tx1"/>
                          </a:solidFill>
                        </a:rPr>
                        <a:t>las</a:t>
                      </a:r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2400" dirty="0" err="1">
                          <a:solidFill>
                            <a:schemeClr val="tx1"/>
                          </a:solidFill>
                        </a:rPr>
                        <a:t>tablas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marL="121920" marR="12192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17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PROCESS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r>
                        <a:rPr lang="en-US" sz="2400" dirty="0" err="1">
                          <a:solidFill>
                            <a:schemeClr val="tx1"/>
                          </a:solidFill>
                        </a:rPr>
                        <a:t>Permite</a:t>
                      </a:r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 leer los </a:t>
                      </a:r>
                      <a:r>
                        <a:rPr lang="en-US" sz="2400" dirty="0" err="1">
                          <a:solidFill>
                            <a:schemeClr val="tx1"/>
                          </a:solidFill>
                        </a:rPr>
                        <a:t>registros</a:t>
                      </a:r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 de </a:t>
                      </a:r>
                      <a:r>
                        <a:rPr lang="en-US" sz="2400" dirty="0" err="1">
                          <a:solidFill>
                            <a:schemeClr val="tx1"/>
                          </a:solidFill>
                        </a:rPr>
                        <a:t>las</a:t>
                      </a:r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2400" dirty="0" err="1">
                          <a:solidFill>
                            <a:schemeClr val="tx1"/>
                          </a:solidFill>
                        </a:rPr>
                        <a:t>tablas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marL="121920" marR="12192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" name="Title 1"/>
          <p:cNvSpPr txBox="1">
            <a:spLocks/>
          </p:cNvSpPr>
          <p:nvPr/>
        </p:nvSpPr>
        <p:spPr>
          <a:xfrm>
            <a:off x="1249680" y="439003"/>
            <a:ext cx="10058400" cy="1315709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RESUMEN </a:t>
            </a:r>
          </a:p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(GRANT)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88788" y="167116"/>
            <a:ext cx="2053391" cy="1533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245707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23376" y="167218"/>
            <a:ext cx="2035512" cy="1519850"/>
          </a:xfrm>
          <a:prstGeom prst="rect">
            <a:avLst/>
          </a:prstGeom>
        </p:spPr>
      </p:pic>
      <p:sp>
        <p:nvSpPr>
          <p:cNvPr id="7" name="Title 1"/>
          <p:cNvSpPr txBox="1">
            <a:spLocks/>
          </p:cNvSpPr>
          <p:nvPr/>
        </p:nvSpPr>
        <p:spPr>
          <a:xfrm>
            <a:off x="1249680" y="439003"/>
            <a:ext cx="10058400" cy="131570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REVOKE</a:t>
            </a: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3325277" y="2267459"/>
            <a:ext cx="5881906" cy="1385637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r>
              <a:rPr lang="en-US" sz="2800" dirty="0"/>
              <a:t>REVOKE </a:t>
            </a:r>
            <a:r>
              <a:rPr lang="en-US" sz="2800" i="1" dirty="0">
                <a:solidFill>
                  <a:srgbClr val="3366FF"/>
                </a:solidFill>
              </a:rPr>
              <a:t>[</a:t>
            </a:r>
            <a:r>
              <a:rPr lang="en-US" sz="2800" i="1" dirty="0" err="1">
                <a:solidFill>
                  <a:srgbClr val="3366FF"/>
                </a:solidFill>
              </a:rPr>
              <a:t>privilegio</a:t>
            </a:r>
            <a:r>
              <a:rPr lang="en-US" sz="2800" i="1" dirty="0">
                <a:solidFill>
                  <a:srgbClr val="3366FF"/>
                </a:solidFill>
              </a:rPr>
              <a:t>]</a:t>
            </a:r>
            <a:r>
              <a:rPr lang="en-US" sz="2800" dirty="0"/>
              <a:t> </a:t>
            </a:r>
          </a:p>
          <a:p>
            <a:r>
              <a:rPr lang="en-US" sz="2800" dirty="0"/>
              <a:t>ON </a:t>
            </a:r>
            <a:r>
              <a:rPr lang="en-US" sz="2800" i="1" dirty="0">
                <a:solidFill>
                  <a:srgbClr val="3366FF"/>
                </a:solidFill>
              </a:rPr>
              <a:t>[&lt;database&gt;]. [&lt;table&gt;]</a:t>
            </a:r>
            <a:endParaRPr lang="en-US" sz="2800" dirty="0"/>
          </a:p>
          <a:p>
            <a:r>
              <a:rPr lang="en-US" sz="2800" dirty="0"/>
              <a:t>FROM </a:t>
            </a:r>
            <a:r>
              <a:rPr lang="en-US" sz="2800" i="1" dirty="0">
                <a:solidFill>
                  <a:srgbClr val="3366FF"/>
                </a:solidFill>
              </a:rPr>
              <a:t>‘&lt;user&gt;’@’</a:t>
            </a:r>
            <a:r>
              <a:rPr lang="en-US" sz="2800" i="1" dirty="0" err="1">
                <a:solidFill>
                  <a:srgbClr val="3366FF"/>
                </a:solidFill>
              </a:rPr>
              <a:t>localhost</a:t>
            </a:r>
            <a:r>
              <a:rPr lang="en-US" sz="2800" i="1" dirty="0">
                <a:solidFill>
                  <a:srgbClr val="3366FF"/>
                </a:solidFill>
              </a:rPr>
              <a:t>’;</a:t>
            </a:r>
            <a:endParaRPr lang="en-US" sz="2800" dirty="0"/>
          </a:p>
        </p:txBody>
      </p:sp>
      <p:sp>
        <p:nvSpPr>
          <p:cNvPr id="9" name="Content Placeholder 2"/>
          <p:cNvSpPr>
            <a:spLocks noGrp="1"/>
          </p:cNvSpPr>
          <p:nvPr>
            <p:ph idx="1"/>
          </p:nvPr>
        </p:nvSpPr>
        <p:spPr>
          <a:xfrm>
            <a:off x="2250267" y="4034947"/>
            <a:ext cx="8678043" cy="1112210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sz="2400" b="1" dirty="0">
                <a:solidFill>
                  <a:srgbClr val="0000FF"/>
                </a:solidFill>
              </a:rPr>
              <a:t>REVOKE</a:t>
            </a:r>
            <a:r>
              <a:rPr lang="en-US" sz="2400" dirty="0">
                <a:solidFill>
                  <a:srgbClr val="0000FF"/>
                </a:solidFill>
              </a:rPr>
              <a:t> </a:t>
            </a:r>
            <a:r>
              <a:rPr lang="en-US" sz="2400" dirty="0"/>
              <a:t>INSERT </a:t>
            </a:r>
            <a:r>
              <a:rPr lang="en-US" sz="2400" b="1" dirty="0">
                <a:solidFill>
                  <a:srgbClr val="0000FF"/>
                </a:solidFill>
              </a:rPr>
              <a:t>ON</a:t>
            </a:r>
            <a:r>
              <a:rPr lang="en-US" sz="2400" dirty="0">
                <a:solidFill>
                  <a:srgbClr val="0000FF"/>
                </a:solidFill>
              </a:rPr>
              <a:t> </a:t>
            </a:r>
            <a:r>
              <a:rPr lang="en-US" sz="2400" dirty="0"/>
              <a:t>*.* </a:t>
            </a:r>
            <a:r>
              <a:rPr lang="en-US" sz="2400" b="1" dirty="0">
                <a:solidFill>
                  <a:srgbClr val="0000FF"/>
                </a:solidFill>
              </a:rPr>
              <a:t>FROM</a:t>
            </a:r>
            <a:r>
              <a:rPr lang="en-US" sz="2400" dirty="0">
                <a:solidFill>
                  <a:srgbClr val="0000FF"/>
                </a:solidFill>
              </a:rPr>
              <a:t> </a:t>
            </a:r>
            <a:r>
              <a:rPr lang="en-US" sz="2400" dirty="0"/>
              <a:t>'</a:t>
            </a:r>
            <a:r>
              <a:rPr lang="en-US" sz="2400" dirty="0" err="1"/>
              <a:t>jeffrey</a:t>
            </a:r>
            <a:r>
              <a:rPr lang="en-US" sz="2400" dirty="0"/>
              <a:t>'@'</a:t>
            </a:r>
            <a:r>
              <a:rPr lang="en-US" sz="2400" dirty="0" err="1"/>
              <a:t>localhost</a:t>
            </a:r>
            <a:r>
              <a:rPr lang="en-US" sz="2400" dirty="0"/>
              <a:t>';</a:t>
            </a:r>
          </a:p>
          <a:p>
            <a:r>
              <a:rPr lang="en-US" sz="2400" b="1" dirty="0">
                <a:solidFill>
                  <a:srgbClr val="0000FF"/>
                </a:solidFill>
              </a:rPr>
              <a:t>REVOKE</a:t>
            </a:r>
            <a:r>
              <a:rPr lang="en-US" sz="2400" dirty="0">
                <a:solidFill>
                  <a:srgbClr val="0000FF"/>
                </a:solidFill>
              </a:rPr>
              <a:t> </a:t>
            </a:r>
            <a:r>
              <a:rPr lang="en-US" sz="2400" dirty="0"/>
              <a:t>ALL PRIVILEGES, GRANT OPTION </a:t>
            </a:r>
            <a:r>
              <a:rPr lang="en-US" sz="2400" b="1" dirty="0">
                <a:solidFill>
                  <a:srgbClr val="0000FF"/>
                </a:solidFill>
              </a:rPr>
              <a:t>FROM</a:t>
            </a:r>
            <a:r>
              <a:rPr lang="en-US" sz="2400" dirty="0">
                <a:solidFill>
                  <a:srgbClr val="0000FF"/>
                </a:solidFill>
              </a:rPr>
              <a:t> </a:t>
            </a:r>
            <a:r>
              <a:rPr lang="en-US" sz="2400" i="1" dirty="0"/>
              <a:t>user</a:t>
            </a:r>
            <a:r>
              <a:rPr lang="en-US" sz="2400" dirty="0"/>
              <a:t> [, </a:t>
            </a:r>
            <a:r>
              <a:rPr lang="en-US" sz="2400" i="1" dirty="0"/>
              <a:t>user</a:t>
            </a:r>
            <a:r>
              <a:rPr lang="en-US" sz="2400" dirty="0"/>
              <a:t>] ...</a:t>
            </a:r>
          </a:p>
          <a:p>
            <a:pPr marL="0" indent="0">
              <a:buNone/>
            </a:pPr>
            <a:endParaRPr lang="en-US" sz="24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557" y="3893791"/>
            <a:ext cx="551755" cy="55175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157" y="4455956"/>
            <a:ext cx="858316" cy="858316"/>
          </a:xfrm>
          <a:prstGeom prst="rect">
            <a:avLst/>
          </a:prstGeom>
        </p:spPr>
      </p:pic>
      <p:cxnSp>
        <p:nvCxnSpPr>
          <p:cNvPr id="6" name="Straight Arrow Connector 5"/>
          <p:cNvCxnSpPr>
            <a:stCxn id="2" idx="3"/>
          </p:cNvCxnSpPr>
          <p:nvPr/>
        </p:nvCxnSpPr>
        <p:spPr>
          <a:xfrm flipV="1">
            <a:off x="1153312" y="4144463"/>
            <a:ext cx="1035692" cy="25206"/>
          </a:xfrm>
          <a:prstGeom prst="straightConnector1">
            <a:avLst/>
          </a:prstGeom>
          <a:ln w="38100" cmpd="sng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 flipV="1">
            <a:off x="1737835" y="4748075"/>
            <a:ext cx="520019" cy="14715"/>
          </a:xfrm>
          <a:prstGeom prst="straightConnector1">
            <a:avLst/>
          </a:prstGeom>
          <a:ln w="38100" cmpd="sng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207794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uiExpand="1" build="p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23376" y="167218"/>
            <a:ext cx="2035512" cy="1519850"/>
          </a:xfrm>
          <a:prstGeom prst="rect">
            <a:avLst/>
          </a:prstGeom>
        </p:spPr>
      </p:pic>
      <p:sp>
        <p:nvSpPr>
          <p:cNvPr id="7" name="Title 1"/>
          <p:cNvSpPr txBox="1">
            <a:spLocks/>
          </p:cNvSpPr>
          <p:nvPr/>
        </p:nvSpPr>
        <p:spPr>
          <a:xfrm>
            <a:off x="1249680" y="439003"/>
            <a:ext cx="10058400" cy="131570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LOCK</a:t>
            </a: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1253242" y="2568267"/>
            <a:ext cx="7452643" cy="523862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r>
              <a:rPr lang="en-US" sz="2800" dirty="0"/>
              <a:t>ALTER USER </a:t>
            </a:r>
            <a:r>
              <a:rPr lang="en-US" sz="2800" i="1" dirty="0">
                <a:solidFill>
                  <a:srgbClr val="3366FF"/>
                </a:solidFill>
              </a:rPr>
              <a:t>&lt;user or </a:t>
            </a:r>
            <a:r>
              <a:rPr lang="en-US" sz="2800" i="1" dirty="0" err="1">
                <a:solidFill>
                  <a:srgbClr val="3366FF"/>
                </a:solidFill>
              </a:rPr>
              <a:t>rol</a:t>
            </a:r>
            <a:r>
              <a:rPr lang="en-US" sz="2800" i="1" dirty="0">
                <a:solidFill>
                  <a:srgbClr val="3366FF"/>
                </a:solidFill>
              </a:rPr>
              <a:t> &gt;</a:t>
            </a:r>
            <a:r>
              <a:rPr lang="en-US" sz="2800" dirty="0"/>
              <a:t> ACCOUNT LOCK;</a:t>
            </a:r>
          </a:p>
        </p:txBody>
      </p:sp>
      <p:pic>
        <p:nvPicPr>
          <p:cNvPr id="11" name="Picture 10" descr="lock-9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2682" y="260110"/>
            <a:ext cx="1203117" cy="1061552"/>
          </a:xfrm>
          <a:prstGeom prst="rect">
            <a:avLst/>
          </a:prstGeom>
        </p:spPr>
      </p:pic>
      <p:sp>
        <p:nvSpPr>
          <p:cNvPr id="12" name="Rectangle 4"/>
          <p:cNvSpPr>
            <a:spLocks noChangeArrowheads="1"/>
          </p:cNvSpPr>
          <p:nvPr/>
        </p:nvSpPr>
        <p:spPr bwMode="auto">
          <a:xfrm>
            <a:off x="3160187" y="4024167"/>
            <a:ext cx="7452643" cy="523862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r>
              <a:rPr lang="en-US" sz="2800" dirty="0"/>
              <a:t>ALTER USER </a:t>
            </a:r>
            <a:r>
              <a:rPr lang="en-US" sz="2800" i="1" dirty="0">
                <a:solidFill>
                  <a:srgbClr val="3366FF"/>
                </a:solidFill>
              </a:rPr>
              <a:t>&lt;user or </a:t>
            </a:r>
            <a:r>
              <a:rPr lang="en-US" sz="2800" i="1" dirty="0" err="1">
                <a:solidFill>
                  <a:srgbClr val="3366FF"/>
                </a:solidFill>
              </a:rPr>
              <a:t>rol</a:t>
            </a:r>
            <a:r>
              <a:rPr lang="en-US" sz="2800" i="1" dirty="0">
                <a:solidFill>
                  <a:srgbClr val="3366FF"/>
                </a:solidFill>
              </a:rPr>
              <a:t> &gt;</a:t>
            </a:r>
            <a:r>
              <a:rPr lang="en-US" sz="2800" dirty="0"/>
              <a:t> ACCOUNT UNLOCK;</a:t>
            </a:r>
          </a:p>
        </p:txBody>
      </p:sp>
    </p:spTree>
    <p:extLst>
      <p:ext uri="{BB962C8B-B14F-4D97-AF65-F5344CB8AC3E}">
        <p14:creationId xmlns:p14="http://schemas.microsoft.com/office/powerpoint/2010/main" val="23021870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2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51232277"/>
              </p:ext>
            </p:extLst>
          </p:nvPr>
        </p:nvGraphicFramePr>
        <p:xfrm>
          <a:off x="1923699" y="457200"/>
          <a:ext cx="9736667" cy="60167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3" name="Document" r:id="rId3" imgW="5626100" imgH="4635500" progId="Word.Document.12">
                  <p:embed/>
                </p:oleObj>
              </mc:Choice>
              <mc:Fallback>
                <p:oleObj name="Document" r:id="rId3" imgW="5626100" imgH="463550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23699" y="457200"/>
                        <a:ext cx="9736667" cy="601673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0" y="3560626"/>
            <a:ext cx="19556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Database: </a:t>
            </a:r>
            <a:r>
              <a:rPr lang="en-US" dirty="0" err="1"/>
              <a:t>Ejercicio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5880479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Custom 2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A8DFF3"/>
      </a:accent1>
      <a:accent2>
        <a:srgbClr val="2C8ED5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9CC26709-368C-4D72-9060-94E5B3FF3CD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9505</TotalTime>
  <Words>1643</Words>
  <Application>Microsoft Macintosh PowerPoint</Application>
  <PresentationFormat>Widescreen</PresentationFormat>
  <Paragraphs>168</Paragraphs>
  <Slides>33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40" baseType="lpstr">
      <vt:lpstr>Arial</vt:lpstr>
      <vt:lpstr>Calibri</vt:lpstr>
      <vt:lpstr>Calibri Light</vt:lpstr>
      <vt:lpstr>Cambria</vt:lpstr>
      <vt:lpstr>Wingdings</vt:lpstr>
      <vt:lpstr>Retrospect</vt:lpstr>
      <vt:lpstr>Document</vt:lpstr>
      <vt:lpstr>CONTROL DE LECTURA</vt:lpstr>
      <vt:lpstr>SISTEMAS DE  BASES DE DATOS  TICG1001</vt:lpstr>
      <vt:lpstr>PowerPoint Presentation</vt:lpstr>
      <vt:lpstr>DCL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CREATE USER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FUNDAMENTOS DE PROGRAMACIÓN</dc:title>
  <dc:creator>paolis</dc:creator>
  <cp:lastModifiedBy>Vanessa Ines Cedeno Mieles</cp:lastModifiedBy>
  <cp:revision>285</cp:revision>
  <dcterms:created xsi:type="dcterms:W3CDTF">2016-04-18T15:18:48Z</dcterms:created>
  <dcterms:modified xsi:type="dcterms:W3CDTF">2020-01-04T17:29:56Z</dcterms:modified>
</cp:coreProperties>
</file>
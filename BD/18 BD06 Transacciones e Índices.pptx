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2" roundtripDataSignature="AMtx7mg4kSLdPTs1tSi6b842GuhCekCP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4711AB86-D136-4A98-ADC7-705674B5F6E4}">
  <a:tblStyle styleId="{4711AB86-D136-4A98-ADC7-705674B5F6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AD460A7-E8D4-4424-94A3-CAA1BCD5150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5AEA74F7-5DE0-4762-AB82-46BA7FE2A33F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Consitencia de la DBMS no de las personas, porque puede que se necesite hacer una transferencia de X a Y pero el programador se equivoca y hace la transferencia a Z, es consistente con respecto a DBMS pero no es correcto.</a:t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Consitencia de la DBMS no de las personas, porque puede que se necesite hacer una transferencia de X a Y pero el programador se equivoca y hace la transferencia a Z, es consistente con respecto a DBMS pero no es correcto.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Consitencia de la DBMS no de las personas, porque puede que se necesite hacer una transferencia de X a Y pero el programador se equivoca y hace la transferencia a Z, es consistente con respecto a DBMS pero no es correcto.</a:t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Consitencia de la DBMS no de las personas, porque puede que se necesite hacer una transferencia de X a Y pero el programador se equivoca y hace la transferencia a Z, es consistente con respecto a DBMS pero no es correcto.</a:t>
            </a:r>
            <a:endParaRPr/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 250</a:t>
            </a:r>
            <a:endParaRPr/>
          </a:p>
        </p:txBody>
      </p:sp>
      <p:sp>
        <p:nvSpPr>
          <p:cNvPr id="357" name="Google Shape;35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Pg 250</a:t>
            </a:r>
            <a:endParaRPr/>
          </a:p>
        </p:txBody>
      </p:sp>
      <p:sp>
        <p:nvSpPr>
          <p:cNvPr id="364" name="Google Shape;36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possible especificar cosas mas complicadas como: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Motor de la base de datos InnoDB, MyISAM, 🡨 depende de que distribución esten usando Oracle, Mysql, etc…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Tipo de algoritmo a utilizar como BTREE, Hash, etc… 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above table might be very expensive to search over row-by-row…</a:t>
            </a:r>
            <a:endParaRPr/>
          </a:p>
        </p:txBody>
      </p:sp>
      <p:sp>
        <p:nvSpPr>
          <p:cNvPr id="379" name="Google Shape;37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32:notes"/>
          <p:cNvSpPr txBox="1"/>
          <p:nvPr>
            <p:ph idx="1" type="body"/>
          </p:nvPr>
        </p:nvSpPr>
        <p:spPr>
          <a:xfrm>
            <a:off x="912813" y="4343400"/>
            <a:ext cx="50323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B tree search keys and data stored in internal or leaf nodes. But in B+-tree data store only leaf nodes.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Searching any data in a B+ tree is very easy because all data are found in leaf nodes. Searching a B tree requires a full traversal.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B tree, data may be found in leaf nodes or internal nodes. Deletion of internal nodes is very complicated. In a B+ tree, data is only found in leaf nodes. Deletion of leaf nodes is easy.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in B tree is more complicated than B+ tree.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 trees store redundant search key but B tree has no redundant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B+ tree, leaf nodes data are ordered as a sequential linked list but in B tree the leaf node cannot be stored using a linked list. Many database systems' implementations prefer the structural simplicity of a B+ tree.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 🡪 cuan alto es el árbol, cuantos niveles tiene hasta llegar al dato.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Asumiendo que el root es el nivel 0, este árbol es de orden 2.</a:t>
            </a:r>
            <a:endParaRPr/>
          </a:p>
        </p:txBody>
      </p:sp>
      <p:sp>
        <p:nvSpPr>
          <p:cNvPr id="411" name="Google Shape;41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Hijos entre (d+1) y 2*(d+1)</a:t>
            </a:r>
            <a:endParaRPr/>
          </a:p>
        </p:txBody>
      </p:sp>
      <p:sp>
        <p:nvSpPr>
          <p:cNvPr id="467" name="Google Shape;46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40:notes"/>
          <p:cNvSpPr txBox="1"/>
          <p:nvPr>
            <p:ph idx="1" type="body"/>
          </p:nvPr>
        </p:nvSpPr>
        <p:spPr>
          <a:xfrm>
            <a:off x="912813" y="4343400"/>
            <a:ext cx="50323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2:notes"/>
          <p:cNvSpPr/>
          <p:nvPr/>
        </p:nvSpPr>
        <p:spPr>
          <a:xfrm>
            <a:off x="3884613" y="-1588"/>
            <a:ext cx="2973387" cy="457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2:notes"/>
          <p:cNvSpPr/>
          <p:nvPr/>
        </p:nvSpPr>
        <p:spPr>
          <a:xfrm>
            <a:off x="3884613" y="8685213"/>
            <a:ext cx="2973387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650" name="Google Shape;650;p42:notes"/>
          <p:cNvSpPr/>
          <p:nvPr/>
        </p:nvSpPr>
        <p:spPr>
          <a:xfrm>
            <a:off x="-1588" y="8685213"/>
            <a:ext cx="2971801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2:notes"/>
          <p:cNvSpPr/>
          <p:nvPr/>
        </p:nvSpPr>
        <p:spPr>
          <a:xfrm>
            <a:off x="-1588" y="-1588"/>
            <a:ext cx="2971801" cy="457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CLUSTERED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Ordena, y arma el arbol.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Ahorras tiempo antes de hacer la busqueda, porque accedes directo.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inserto un dato debo arreglar los datos y el arbol.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UNCLUSTERED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 el arbol en función de los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Ahorras tiempo en ejecución, pero al buscar se demora porque debe buscar donde esta el dato.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Si inserto un dato lo coloca al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7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4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9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4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" type="body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2"/>
          <p:cNvSpPr txBox="1"/>
          <p:nvPr>
            <p:ph idx="2" type="body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52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4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54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5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5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5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t" bIns="45700" lIns="457200" spcFirstLastPara="1" rIns="0" wrap="square" tIns="4572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55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5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7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7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4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4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4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46"/>
          <p:cNvSpPr txBox="1"/>
          <p:nvPr/>
        </p:nvSpPr>
        <p:spPr>
          <a:xfrm>
            <a:off x="3802299" y="649287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UTILIZAR COMO MATERIAL DE ESTUDIO</a:t>
            </a:r>
            <a:endParaRPr/>
          </a:p>
        </p:txBody>
      </p:sp>
      <p:pic>
        <p:nvPicPr>
          <p:cNvPr descr="fiec.png" id="19" name="Google Shape;1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305142" y="6415974"/>
            <a:ext cx="1886857" cy="4420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Arial"/>
              <a:buNone/>
            </a:pPr>
            <a:r>
              <a:rPr b="1" lang="en-US" sz="4600">
                <a:latin typeface="Arial"/>
                <a:ea typeface="Arial"/>
                <a:cs typeface="Arial"/>
                <a:sym typeface="Arial"/>
              </a:rPr>
              <a:t>SISTEMAS DE </a:t>
            </a:r>
            <a:br>
              <a:rPr b="1" lang="en-US" sz="4600">
                <a:latin typeface="Arial"/>
                <a:ea typeface="Arial"/>
                <a:cs typeface="Arial"/>
                <a:sym typeface="Arial"/>
              </a:rPr>
            </a:br>
            <a:r>
              <a:rPr b="1" lang="en-US" sz="4600">
                <a:latin typeface="Arial"/>
                <a:ea typeface="Arial"/>
                <a:cs typeface="Arial"/>
                <a:sym typeface="Arial"/>
              </a:rPr>
              <a:t>BASES DE DATOS</a:t>
            </a:r>
            <a:br>
              <a:rPr b="1" lang="en-US" sz="4600">
                <a:latin typeface="Arial"/>
                <a:ea typeface="Arial"/>
                <a:cs typeface="Arial"/>
                <a:sym typeface="Arial"/>
              </a:rPr>
            </a:br>
            <a:br>
              <a:rPr b="1" lang="en-US" sz="4600">
                <a:latin typeface="Arial"/>
                <a:ea typeface="Arial"/>
                <a:cs typeface="Arial"/>
                <a:sym typeface="Arial"/>
              </a:rPr>
            </a:b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TICG1001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1097280" y="4674015"/>
            <a:ext cx="10058400" cy="10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330"/>
              <a:buNone/>
            </a:pPr>
            <a:r>
              <a:rPr b="1" lang="en-US" sz="3330">
                <a:latin typeface="Arial"/>
                <a:ea typeface="Arial"/>
                <a:cs typeface="Arial"/>
                <a:sym typeface="Arial"/>
              </a:rPr>
              <a:t>UNIDAD 6</a:t>
            </a:r>
            <a:endParaRPr/>
          </a:p>
          <a:p>
            <a:pPr indent="0" lvl="0" marL="0" rtl="0" algn="ctr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3330"/>
              <a:buNone/>
            </a:pPr>
            <a:r>
              <a:rPr b="1" lang="en-US" sz="3330">
                <a:latin typeface="Arial"/>
                <a:ea typeface="Arial"/>
                <a:cs typeface="Arial"/>
                <a:sym typeface="Arial"/>
              </a:rPr>
              <a:t>TRANSACCIONES E ÍNDICES</a:t>
            </a:r>
            <a:endParaRPr/>
          </a:p>
          <a:p>
            <a:pPr indent="0" lvl="0" marL="0" rtl="0" algn="ctr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3330"/>
              <a:buNone/>
            </a:pPr>
            <a:r>
              <a:t/>
            </a:r>
            <a:endParaRPr b="1" sz="33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220"/>
              <a:buNone/>
            </a:pPr>
            <a:r>
              <a:t/>
            </a:r>
            <a:endParaRPr b="1"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514350" lvl="0" marL="5143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 las transacciones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Propiedades de las transacciones: ACID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 y Rollback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 los Índices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Índices B+ tree</a:t>
            </a:r>
            <a:endParaRPr/>
          </a:p>
          <a:p>
            <a:pPr indent="-514350" lvl="0" marL="514350" marR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Índices agrupados vs. no agrupados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51435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6.1. TRANSACCIÓN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Un problema puede surgir en la actualización de información, y éstas pueden ser tan críticas como transacciones financieras: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Supongamos que se necesita realizar una transferencia de dinero. Se debe garantizar que la ”transferencia de dinero de una cuenta a otra” sea exitosa.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Una transferencia es conocida como una transacción en la que existen dos pasos: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US" sz="2400"/>
              <a:t>Retiro de la cuenta Y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AutoNum type="arabicPeriod"/>
            </a:pPr>
            <a:r>
              <a:rPr lang="en-US" sz="2400"/>
              <a:t>Depósito a la cuenta X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Qué ocurre si se retiran $10,000 al "usuario Y", pero a la mitad de la transacción el equipo de computo falla, y al "usuario X" no se le acreditan los $10,000 ?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/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6.2. ACID</a:t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1174122" y="1797248"/>
            <a:ext cx="10027961" cy="4328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En bases de datos se denomina </a:t>
            </a:r>
            <a:r>
              <a:rPr b="1" lang="en-US"/>
              <a:t>ACID</a:t>
            </a:r>
            <a:r>
              <a:rPr lang="en-US"/>
              <a:t> a un conjunto de características necesarias para que una serie de instrucciones puedan ser consideradas como una transacción.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ACID</a:t>
            </a:r>
            <a:r>
              <a:rPr lang="en-US"/>
              <a:t> es un acrónimo de 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A</a:t>
            </a:r>
            <a:r>
              <a:rPr lang="en-US"/>
              <a:t>tomicity	  (Atomicidad)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</a:t>
            </a:r>
            <a:r>
              <a:rPr lang="en-US"/>
              <a:t>onsistency           (Consistencia)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 I</a:t>
            </a:r>
            <a:r>
              <a:rPr lang="en-US"/>
              <a:t>solation	   (Aislamiento)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D</a:t>
            </a:r>
            <a:r>
              <a:rPr lang="en-US"/>
              <a:t>urability 	  (Durabilidad)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Cumpliendo estas 4 condiciones se considera ACID Compliant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  <a:endParaRPr/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Char char="✔"/>
            </a:pPr>
            <a:r>
              <a:rPr b="1" lang="en-US" sz="3200"/>
              <a:t> Atomicidad: </a:t>
            </a:r>
            <a:r>
              <a:rPr lang="en-US" sz="3200"/>
              <a:t>es la propiedad que asegura que la operación se ha realizado o no, y por lo tanto ante un fallo del sistema no puede quedar a medias.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149" name="Google Shape;149;p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Atomicity</a:t>
            </a:r>
            <a:endParaRPr/>
          </a:p>
        </p:txBody>
      </p:sp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7"/>
          <p:cNvGrpSpPr/>
          <p:nvPr/>
        </p:nvGrpSpPr>
        <p:grpSpPr>
          <a:xfrm>
            <a:off x="725666" y="3637029"/>
            <a:ext cx="11033409" cy="1096102"/>
            <a:chOff x="725666" y="3637029"/>
            <a:chExt cx="11033409" cy="1096102"/>
          </a:xfrm>
        </p:grpSpPr>
        <p:sp>
          <p:nvSpPr>
            <p:cNvPr id="152" name="Google Shape;152;p7"/>
            <p:cNvSpPr/>
            <p:nvPr/>
          </p:nvSpPr>
          <p:spPr>
            <a:xfrm>
              <a:off x="1167867" y="4209911"/>
              <a:ext cx="10112928" cy="523220"/>
            </a:xfrm>
            <a:prstGeom prst="rect">
              <a:avLst/>
            </a:prstGeom>
            <a:solidFill>
              <a:schemeClr val="lt2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Se ejecuta TODA la transacción o no se ejecuta NADA.</a:t>
              </a:r>
              <a:endParaRPr/>
            </a:p>
          </p:txBody>
        </p:sp>
        <p:pic>
          <p:nvPicPr>
            <p:cNvPr descr="58889250bc2fc2ef3a1860ab.png" id="153" name="Google Shape;15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20055" y="3637029"/>
              <a:ext cx="1039020" cy="1039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8889250bc2fc2ef3a1860ab.png" id="154" name="Google Shape;15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25666" y="3657465"/>
              <a:ext cx="1092468" cy="10390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b="1" lang="en-US" sz="2800"/>
              <a:t>Consistencia: </a:t>
            </a:r>
            <a:r>
              <a:rPr lang="en-US" sz="2800"/>
              <a:t>es la propiedad </a:t>
            </a:r>
            <a:r>
              <a:rPr b="1" lang="en-US" sz="2800">
                <a:solidFill>
                  <a:srgbClr val="0000FF"/>
                </a:solidFill>
              </a:rPr>
              <a:t>de las DBMS </a:t>
            </a:r>
            <a:r>
              <a:rPr lang="en-US" sz="2800"/>
              <a:t>que asegura el paso de un estado consistente a otro estado consistente (sólo se empieza aquello que se puede terminar). Por lo tanto se ejecutan aquellas operaciones que no van a romper la reglas y directrices de integridad de la base de datos (constraint). 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8"/>
          <p:cNvGrpSpPr/>
          <p:nvPr/>
        </p:nvGrpSpPr>
        <p:grpSpPr>
          <a:xfrm>
            <a:off x="725666" y="4311667"/>
            <a:ext cx="11033409" cy="1526989"/>
            <a:chOff x="725666" y="3637029"/>
            <a:chExt cx="11033409" cy="1526989"/>
          </a:xfrm>
        </p:grpSpPr>
        <p:sp>
          <p:nvSpPr>
            <p:cNvPr id="164" name="Google Shape;164;p8"/>
            <p:cNvSpPr/>
            <p:nvPr/>
          </p:nvSpPr>
          <p:spPr>
            <a:xfrm>
              <a:off x="1167867" y="4209911"/>
              <a:ext cx="10112928" cy="954107"/>
            </a:xfrm>
            <a:prstGeom prst="rect">
              <a:avLst/>
            </a:prstGeom>
            <a:solidFill>
              <a:schemeClr val="lt2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Sólo la data válida se guardará. Se validan todas las reglas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definidas.</a:t>
              </a:r>
              <a:endParaRPr/>
            </a:p>
          </p:txBody>
        </p:sp>
        <p:pic>
          <p:nvPicPr>
            <p:cNvPr descr="58889250bc2fc2ef3a1860ab.png" id="165" name="Google Shape;16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20055" y="3637029"/>
              <a:ext cx="1039020" cy="1039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8889250bc2fc2ef3a1860ab.png" id="166" name="Google Shape;16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25666" y="3657465"/>
              <a:ext cx="1092468" cy="10390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b="1" lang="en-US" sz="2800"/>
              <a:t>Aislamiento: </a:t>
            </a:r>
            <a:r>
              <a:rPr lang="en-US" sz="2800"/>
              <a:t>es la propiedad que asegura que una operación no puede afectar a otras. Esto asegura que la realización de dos transacciones sobre la misma información sean independientes y no generen ningún tipo de error.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73" name="Google Shape;173;p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  <a:endParaRPr/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725666" y="3637029"/>
            <a:ext cx="11033409" cy="1096102"/>
            <a:chOff x="725666" y="3637029"/>
            <a:chExt cx="11033409" cy="1096102"/>
          </a:xfrm>
        </p:grpSpPr>
        <p:sp>
          <p:nvSpPr>
            <p:cNvPr id="176" name="Google Shape;176;p9"/>
            <p:cNvSpPr/>
            <p:nvPr/>
          </p:nvSpPr>
          <p:spPr>
            <a:xfrm>
              <a:off x="1167867" y="4209911"/>
              <a:ext cx="10112928" cy="523220"/>
            </a:xfrm>
            <a:prstGeom prst="rect">
              <a:avLst/>
            </a:prstGeom>
            <a:solidFill>
              <a:schemeClr val="lt2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Una Transacción no debe afectar a otra.</a:t>
              </a:r>
              <a:endParaRPr/>
            </a:p>
          </p:txBody>
        </p:sp>
        <p:pic>
          <p:nvPicPr>
            <p:cNvPr descr="58889250bc2fc2ef3a1860ab.png" id="177" name="Google Shape;17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20055" y="3637029"/>
              <a:ext cx="1039020" cy="1039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8889250bc2fc2ef3a1860ab.png" id="178" name="Google Shape;17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25666" y="3657465"/>
              <a:ext cx="1092468" cy="10390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Char char="✔"/>
            </a:pPr>
            <a:r>
              <a:rPr b="1" lang="en-US" sz="3200"/>
              <a:t>Durabilidad: </a:t>
            </a:r>
            <a:r>
              <a:rPr lang="en-US" sz="3200"/>
              <a:t>es la propiedad que asegura que una vez realizada la operación, ésta persistirá y no se podrá deshacer aunque falle el sistema después de una transacción.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0"/>
          <p:cNvGrpSpPr/>
          <p:nvPr/>
        </p:nvGrpSpPr>
        <p:grpSpPr>
          <a:xfrm>
            <a:off x="725666" y="3637029"/>
            <a:ext cx="11033409" cy="1526989"/>
            <a:chOff x="725666" y="3637029"/>
            <a:chExt cx="11033409" cy="1526989"/>
          </a:xfrm>
        </p:grpSpPr>
        <p:sp>
          <p:nvSpPr>
            <p:cNvPr id="188" name="Google Shape;188;p10"/>
            <p:cNvSpPr/>
            <p:nvPr/>
          </p:nvSpPr>
          <p:spPr>
            <a:xfrm>
              <a:off x="1167867" y="4209911"/>
              <a:ext cx="10112928" cy="954107"/>
            </a:xfrm>
            <a:prstGeom prst="rect">
              <a:avLst/>
            </a:prstGeom>
            <a:solidFill>
              <a:schemeClr val="lt2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La data escrita no se puede perderse, incluso si existe falla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eléctrica. </a:t>
              </a:r>
              <a:endParaRPr/>
            </a:p>
          </p:txBody>
        </p:sp>
        <p:pic>
          <p:nvPicPr>
            <p:cNvPr descr="58889250bc2fc2ef3a1860ab.png" id="189" name="Google Shape;18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20055" y="3637029"/>
              <a:ext cx="1039020" cy="1039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8889250bc2fc2ef3a1860ab.png" id="190" name="Google Shape;19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25666" y="3657465"/>
              <a:ext cx="1092468" cy="10390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idx="1" type="body"/>
          </p:nvPr>
        </p:nvSpPr>
        <p:spPr>
          <a:xfrm>
            <a:off x="1162141" y="1773284"/>
            <a:ext cx="10015982" cy="4241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Existen varios vendedores de Bases de Datos,pero quizás la marca que tiene mayor mercado es </a:t>
            </a:r>
            <a:r>
              <a:rPr i="1" lang="en-US" sz="2400"/>
              <a:t>Oracle </a:t>
            </a:r>
            <a:r>
              <a:rPr lang="en-US" sz="2400"/>
              <a:t>y en orden de uso posiblemente le sigan: MSSQL, Postgress, MySql y DB2; todas ofrecen las funcionalidades antes mencionadas y utilizan el lenguaje SQL.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Sin embargo, debido a la misma complejidad de las operaciones que se llevan acabo, cada vendedor utiliza diferentes algoritmos y diseños por lo que el migrar y aprender a utilizar un producto de cierta compañía requiere de un esfuerzo e inversión substancial.</a:t>
            </a:r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  <a:endParaRPr/>
          </a:p>
        </p:txBody>
      </p:sp>
      <p:pic>
        <p:nvPicPr>
          <p:cNvPr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009" y="-238015"/>
            <a:ext cx="2182564" cy="218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6.3. COMMIT Y ROLLBACK</a:t>
            </a:r>
            <a:endParaRPr/>
          </a:p>
        </p:txBody>
      </p:sp>
      <p:sp>
        <p:nvSpPr>
          <p:cNvPr id="203" name="Google Shape;203;p1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1763196" y="1542143"/>
            <a:ext cx="9449085" cy="4662713"/>
            <a:chOff x="3343" y="0"/>
            <a:chExt cx="9449085" cy="4662713"/>
          </a:xfrm>
        </p:grpSpPr>
        <p:sp>
          <p:nvSpPr>
            <p:cNvPr id="209" name="Google Shape;209;p13"/>
            <p:cNvSpPr/>
            <p:nvPr/>
          </p:nvSpPr>
          <p:spPr>
            <a:xfrm>
              <a:off x="3343" y="1609638"/>
              <a:ext cx="1859263" cy="144343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0D4EB"/>
                </a:gs>
                <a:gs pos="34000">
                  <a:srgbClr val="93D5EC"/>
                </a:gs>
                <a:gs pos="70000">
                  <a:srgbClr val="94D9F1"/>
                </a:gs>
                <a:gs pos="100000">
                  <a:srgbClr val="A3E0F6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 txBox="1"/>
            <p:nvPr/>
          </p:nvSpPr>
          <p:spPr>
            <a:xfrm>
              <a:off x="45620" y="1651915"/>
              <a:ext cx="1774709" cy="13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T. Activa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 rot="-3290566">
              <a:off x="1445047" y="1498676"/>
              <a:ext cx="1968795" cy="5572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85B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 txBox="1"/>
            <p:nvPr/>
          </p:nvSpPr>
          <p:spPr>
            <a:xfrm rot="-3290566">
              <a:off x="2380225" y="1477318"/>
              <a:ext cx="98439" cy="98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"/>
                <a:buFont typeface="Calibri"/>
                <a:buNone/>
              </a:pPr>
              <a:r>
                <a:t/>
              </a:r>
              <a:endParaRPr b="0" i="0" sz="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996283" y="0"/>
              <a:ext cx="2886875" cy="144343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0D4EB"/>
                </a:gs>
                <a:gs pos="34000">
                  <a:srgbClr val="93D5EC"/>
                </a:gs>
                <a:gs pos="70000">
                  <a:srgbClr val="94D9F1"/>
                </a:gs>
                <a:gs pos="100000">
                  <a:srgbClr val="A3E0F6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 txBox="1"/>
            <p:nvPr/>
          </p:nvSpPr>
          <p:spPr>
            <a:xfrm>
              <a:off x="3038560" y="42277"/>
              <a:ext cx="2802321" cy="13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Parcialmente ejecutada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5883158" y="693857"/>
              <a:ext cx="1179168" cy="5572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97C9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3"/>
            <p:cNvSpPr txBox="1"/>
            <p:nvPr/>
          </p:nvSpPr>
          <p:spPr>
            <a:xfrm>
              <a:off x="6443263" y="692239"/>
              <a:ext cx="58958" cy="58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"/>
                <a:buFont typeface="Calibri"/>
                <a:buNone/>
              </a:pPr>
              <a:r>
                <a:t/>
              </a:r>
              <a:endParaRPr b="0" i="0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7062326" y="0"/>
              <a:ext cx="2390102" cy="144343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0D4EB"/>
                </a:gs>
                <a:gs pos="34000">
                  <a:srgbClr val="93D5EC"/>
                </a:gs>
                <a:gs pos="70000">
                  <a:srgbClr val="94D9F1"/>
                </a:gs>
                <a:gs pos="100000">
                  <a:srgbClr val="A3E0F6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 txBox="1"/>
            <p:nvPr/>
          </p:nvSpPr>
          <p:spPr>
            <a:xfrm>
              <a:off x="7104603" y="42277"/>
              <a:ext cx="2305548" cy="13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Ejecutada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3"/>
            <p:cNvSpPr/>
            <p:nvPr/>
          </p:nvSpPr>
          <p:spPr>
            <a:xfrm rot="3260666">
              <a:off x="1449479" y="3108314"/>
              <a:ext cx="1981005" cy="5572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85B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3"/>
            <p:cNvSpPr txBox="1"/>
            <p:nvPr/>
          </p:nvSpPr>
          <p:spPr>
            <a:xfrm rot="3260666">
              <a:off x="2390457" y="3086650"/>
              <a:ext cx="99050" cy="9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"/>
                <a:buFont typeface="Calibri"/>
                <a:buNone/>
              </a:pPr>
              <a:r>
                <a:t/>
              </a:r>
              <a:endParaRPr b="0" i="0" sz="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3017357" y="3219276"/>
              <a:ext cx="2886875" cy="144343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0D4EB"/>
                </a:gs>
                <a:gs pos="34000">
                  <a:srgbClr val="93D5EC"/>
                </a:gs>
                <a:gs pos="70000">
                  <a:srgbClr val="94D9F1"/>
                </a:gs>
                <a:gs pos="100000">
                  <a:srgbClr val="A3E0F6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 txBox="1"/>
            <p:nvPr/>
          </p:nvSpPr>
          <p:spPr>
            <a:xfrm>
              <a:off x="3059634" y="3261553"/>
              <a:ext cx="2802321" cy="13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Falló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 rot="-525">
              <a:off x="5904232" y="3913038"/>
              <a:ext cx="1248285" cy="5572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97C9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 txBox="1"/>
            <p:nvPr/>
          </p:nvSpPr>
          <p:spPr>
            <a:xfrm rot="-525">
              <a:off x="6497168" y="3909692"/>
              <a:ext cx="62414" cy="62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"/>
                <a:buFont typeface="Calibri"/>
                <a:buNone/>
              </a:pPr>
              <a:r>
                <a:t/>
              </a:r>
              <a:endParaRPr b="0" i="0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7152518" y="3219085"/>
              <a:ext cx="2227311" cy="144343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0D4EB"/>
                </a:gs>
                <a:gs pos="34000">
                  <a:srgbClr val="93D5EC"/>
                </a:gs>
                <a:gs pos="70000">
                  <a:srgbClr val="94D9F1"/>
                </a:gs>
                <a:gs pos="100000">
                  <a:srgbClr val="A3E0F6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7194795" y="3261362"/>
              <a:ext cx="2142757" cy="13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Abortada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7" name="Google Shape;227;p13"/>
          <p:cNvCxnSpPr/>
          <p:nvPr/>
        </p:nvCxnSpPr>
        <p:spPr>
          <a:xfrm flipH="1" rot="10800000">
            <a:off x="181429" y="3873571"/>
            <a:ext cx="1578300" cy="9000"/>
          </a:xfrm>
          <a:prstGeom prst="straightConnector1">
            <a:avLst/>
          </a:prstGeom>
          <a:noFill/>
          <a:ln cap="flat" cmpd="sng" w="57150">
            <a:solidFill>
              <a:srgbClr val="6600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8" name="Google Shape;228;p13"/>
          <p:cNvSpPr txBox="1"/>
          <p:nvPr/>
        </p:nvSpPr>
        <p:spPr>
          <a:xfrm>
            <a:off x="127001" y="2866571"/>
            <a:ext cx="18868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TRANSACTION</a:t>
            </a:r>
            <a:endParaRPr/>
          </a:p>
        </p:txBody>
      </p:sp>
      <p:cxnSp>
        <p:nvCxnSpPr>
          <p:cNvPr id="229" name="Google Shape;229;p13"/>
          <p:cNvCxnSpPr/>
          <p:nvPr/>
        </p:nvCxnSpPr>
        <p:spPr>
          <a:xfrm flipH="1" rot="10800000">
            <a:off x="3545109" y="2231571"/>
            <a:ext cx="1244605" cy="165826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13"/>
          <p:cNvCxnSpPr/>
          <p:nvPr/>
        </p:nvCxnSpPr>
        <p:spPr>
          <a:xfrm>
            <a:off x="3574143" y="3864429"/>
            <a:ext cx="1179286" cy="161471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1" name="Google Shape;231;p13"/>
          <p:cNvCxnSpPr/>
          <p:nvPr/>
        </p:nvCxnSpPr>
        <p:spPr>
          <a:xfrm>
            <a:off x="7736114" y="2238830"/>
            <a:ext cx="1117600" cy="10884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7743371" y="5439230"/>
            <a:ext cx="1117600" cy="1088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3" name="Google Shape;233;p13"/>
          <p:cNvCxnSpPr/>
          <p:nvPr/>
        </p:nvCxnSpPr>
        <p:spPr>
          <a:xfrm>
            <a:off x="5965368" y="2989945"/>
            <a:ext cx="3628" cy="176348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4" name="Google Shape;234;p13"/>
          <p:cNvSpPr txBox="1"/>
          <p:nvPr/>
        </p:nvSpPr>
        <p:spPr>
          <a:xfrm>
            <a:off x="7714339" y="1763485"/>
            <a:ext cx="103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7776024" y="4945741"/>
            <a:ext cx="1159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ROLLBACK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487" y="314843"/>
            <a:ext cx="5633128" cy="57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>
            <p:ph idx="1" type="body"/>
          </p:nvPr>
        </p:nvSpPr>
        <p:spPr>
          <a:xfrm>
            <a:off x="1198084" y="1737340"/>
            <a:ext cx="9956076" cy="190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Se refiere a la idea de hacer que un conjunto de cambios "tentativos, o no permanentes" se conviertan en permanentes.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El comando </a:t>
            </a:r>
            <a:r>
              <a:rPr b="1" lang="en-US">
                <a:solidFill>
                  <a:srgbClr val="0000FF"/>
                </a:solidFill>
              </a:rPr>
              <a:t>BEGIN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/>
              <a:t>o </a:t>
            </a:r>
            <a:r>
              <a:rPr b="1" lang="en-US">
                <a:solidFill>
                  <a:srgbClr val="0000FF"/>
                </a:solidFill>
              </a:rPr>
              <a:t>START TRANSACTION</a:t>
            </a:r>
            <a:r>
              <a:rPr lang="en-US"/>
              <a:t> se utiliza antes de cada sentencia de SQL.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El comando </a:t>
            </a:r>
            <a:r>
              <a:rPr b="1" lang="en-US">
                <a:solidFill>
                  <a:srgbClr val="0000FF"/>
                </a:solidFill>
              </a:rPr>
              <a:t>COMMIT </a:t>
            </a:r>
            <a:r>
              <a:rPr lang="en-US"/>
              <a:t>se utiliza al final de una transacción de base de datos y hacen </a:t>
            </a:r>
            <a:r>
              <a:rPr lang="en-US">
                <a:solidFill>
                  <a:srgbClr val="FF0000"/>
                </a:solidFill>
              </a:rPr>
              <a:t>permanentes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/>
              <a:t>cada transacción realizada.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BEGIN y COMMIT</a:t>
            </a:r>
            <a:endParaRPr/>
          </a:p>
        </p:txBody>
      </p:sp>
      <p:pic>
        <p:nvPicPr>
          <p:cNvPr descr="Screen Shot 2017-07-20 at 11.12.39.png" id="248" name="Google Shape;248;p15"/>
          <p:cNvPicPr preferRelativeResize="0"/>
          <p:nvPr/>
        </p:nvPicPr>
        <p:blipFill rotWithShape="1">
          <a:blip r:embed="rId3">
            <a:alphaModFix/>
          </a:blip>
          <a:srcRect b="74150" l="0" r="0" t="0"/>
          <a:stretch/>
        </p:blipFill>
        <p:spPr>
          <a:xfrm>
            <a:off x="2359653" y="3794833"/>
            <a:ext cx="8439036" cy="1780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7-20 at 11.12.39.png" id="249" name="Google Shape;249;p15"/>
          <p:cNvPicPr preferRelativeResize="0"/>
          <p:nvPr/>
        </p:nvPicPr>
        <p:blipFill rotWithShape="1">
          <a:blip r:embed="rId3">
            <a:alphaModFix/>
          </a:blip>
          <a:srcRect b="1121" l="-230" r="230" t="89963"/>
          <a:stretch/>
        </p:blipFill>
        <p:spPr>
          <a:xfrm>
            <a:off x="2363621" y="5580288"/>
            <a:ext cx="8438895" cy="61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idx="1" type="body"/>
          </p:nvPr>
        </p:nvSpPr>
        <p:spPr>
          <a:xfrm>
            <a:off x="1198084" y="1737340"/>
            <a:ext cx="9956076" cy="363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El comando </a:t>
            </a:r>
            <a:r>
              <a:rPr b="1" lang="en-US">
                <a:solidFill>
                  <a:srgbClr val="0000FF"/>
                </a:solidFill>
              </a:rPr>
              <a:t>ROLLBACK </a:t>
            </a:r>
            <a:r>
              <a:rPr lang="en-US"/>
              <a:t>se utiliza al final de una transacción de base de datos (incluye un commit implícito) y restaura las transacciones realizadas.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BEGIN y ROLLBACK</a:t>
            </a:r>
            <a:endParaRPr/>
          </a:p>
        </p:txBody>
      </p:sp>
      <p:pic>
        <p:nvPicPr>
          <p:cNvPr descr="Screen Shot 2017-07-20 at 11.12.39.png" id="256" name="Google Shape;256;p16"/>
          <p:cNvPicPr preferRelativeResize="0"/>
          <p:nvPr/>
        </p:nvPicPr>
        <p:blipFill rotWithShape="1">
          <a:blip r:embed="rId3">
            <a:alphaModFix/>
          </a:blip>
          <a:srcRect b="74150" l="0" r="0" t="0"/>
          <a:stretch/>
        </p:blipFill>
        <p:spPr>
          <a:xfrm>
            <a:off x="875323" y="2475194"/>
            <a:ext cx="8439036" cy="1780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7-20 at 11.12.39.png" id="257" name="Google Shape;257;p16"/>
          <p:cNvPicPr preferRelativeResize="0"/>
          <p:nvPr/>
        </p:nvPicPr>
        <p:blipFill rotWithShape="1">
          <a:blip r:embed="rId3">
            <a:alphaModFix/>
          </a:blip>
          <a:srcRect b="64628" l="0" r="0" t="26342"/>
          <a:stretch/>
        </p:blipFill>
        <p:spPr>
          <a:xfrm>
            <a:off x="879292" y="4260648"/>
            <a:ext cx="8439036" cy="622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7-20 at 11.12.39.png" id="258" name="Google Shape;258;p16"/>
          <p:cNvPicPr preferRelativeResize="0"/>
          <p:nvPr/>
        </p:nvPicPr>
        <p:blipFill rotWithShape="1">
          <a:blip r:embed="rId3">
            <a:alphaModFix/>
          </a:blip>
          <a:srcRect b="10986" l="-391" r="390" t="36160"/>
          <a:stretch/>
        </p:blipFill>
        <p:spPr>
          <a:xfrm>
            <a:off x="5689875" y="4052913"/>
            <a:ext cx="6502125" cy="2805088"/>
          </a:xfrm>
          <a:prstGeom prst="rect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idx="1" type="body"/>
          </p:nvPr>
        </p:nvSpPr>
        <p:spPr>
          <a:xfrm>
            <a:off x="1198084" y="1863990"/>
            <a:ext cx="9956076" cy="3503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El formato general es emitir una sentencia </a:t>
            </a:r>
            <a:r>
              <a:rPr lang="en-US" sz="2800">
                <a:solidFill>
                  <a:srgbClr val="0000FF"/>
                </a:solidFill>
              </a:rPr>
              <a:t>BEGIN</a:t>
            </a:r>
            <a:r>
              <a:rPr lang="en-US" sz="2800"/>
              <a:t>, una o más </a:t>
            </a:r>
            <a:r>
              <a:rPr lang="en-US" sz="2800">
                <a:solidFill>
                  <a:srgbClr val="0000FF"/>
                </a:solidFill>
              </a:rPr>
              <a:t>sentencias SQ</a:t>
            </a:r>
            <a:r>
              <a:rPr lang="en-US" sz="2800"/>
              <a:t>L, y entonces la sentencia </a:t>
            </a:r>
            <a:r>
              <a:rPr lang="en-US" sz="2800">
                <a:solidFill>
                  <a:srgbClr val="0000FF"/>
                </a:solidFill>
              </a:rPr>
              <a:t>COMMIT </a:t>
            </a:r>
            <a:r>
              <a:rPr lang="en-US" sz="2800">
                <a:solidFill>
                  <a:schemeClr val="dk1"/>
                </a:solidFill>
              </a:rPr>
              <a:t>o</a:t>
            </a:r>
            <a:r>
              <a:rPr lang="en-US" sz="2800">
                <a:solidFill>
                  <a:srgbClr val="0000FF"/>
                </a:solidFill>
              </a:rPr>
              <a:t> ROLLBACK</a:t>
            </a:r>
            <a:r>
              <a:rPr lang="en-US" sz="2800"/>
              <a:t>.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BEGIN, COMMIT, ROLLBACK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1167867" y="3356692"/>
            <a:ext cx="10112928" cy="1015663"/>
          </a:xfrm>
          <a:prstGeom prst="rect">
            <a:avLst/>
          </a:prstGeom>
          <a:solidFill>
            <a:schemeClr val="lt2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Por defecto Mysql inicia su sesión con </a:t>
            </a: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AUTOCOMMIT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 decir, que implícitamente se encuentra un </a:t>
            </a: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TRANSACTION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inicio de cada sentencia de SQL y un </a:t>
            </a: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ROLLBACK</a:t>
            </a:r>
            <a:r>
              <a:rPr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finalizar.</a:t>
            </a:r>
            <a:endParaRPr/>
          </a:p>
        </p:txBody>
      </p:sp>
      <p:pic>
        <p:nvPicPr>
          <p:cNvPr descr="58889250bc2fc2ef3a1860ab.png" id="266" name="Google Shape;2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055" y="2783810"/>
            <a:ext cx="1039020" cy="1039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8889250bc2fc2ef3a1860ab.png" id="267" name="Google Shape;2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25666" y="2804246"/>
            <a:ext cx="1092468" cy="103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7"/>
          <p:cNvSpPr txBox="1"/>
          <p:nvPr/>
        </p:nvSpPr>
        <p:spPr>
          <a:xfrm>
            <a:off x="1169067" y="4503270"/>
            <a:ext cx="10177697" cy="1711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64465" lvl="0" marL="9144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590"/>
              <a:buFont typeface="Noto Sans Symbols"/>
              <a:buChar char="✔"/>
            </a:pPr>
            <a:r>
              <a:rPr lang="en-US" sz="259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Para deshabilitar el autocommit se utiliza.</a:t>
            </a:r>
            <a:endParaRPr/>
          </a:p>
          <a:p>
            <a:pPr indent="0" lvl="8" marL="160856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405"/>
              <a:buFont typeface="Calibri"/>
              <a:buNone/>
            </a:pPr>
            <a:r>
              <a:rPr b="0" i="0" lang="en-US" sz="2405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SET autocommit = 0</a:t>
            </a:r>
            <a:endParaRPr b="0" i="0" sz="1387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9144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590"/>
              <a:buFont typeface="Noto Sans Symbols"/>
              <a:buChar char="✔"/>
            </a:pPr>
            <a:r>
              <a:rPr lang="en-US" sz="259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Esto hace que siempre se habrá una transacción y espera un COMMIT o ROLLBACK.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1.jpg" id="273" name="Google Shape;273;p18"/>
          <p:cNvPicPr preferRelativeResize="0"/>
          <p:nvPr/>
        </p:nvPicPr>
        <p:blipFill rotWithShape="1">
          <a:blip r:embed="rId3">
            <a:alphaModFix/>
          </a:blip>
          <a:srcRect b="14129" l="53923" r="6937" t="76307"/>
          <a:stretch/>
        </p:blipFill>
        <p:spPr>
          <a:xfrm>
            <a:off x="6448527" y="5595914"/>
            <a:ext cx="3578849" cy="655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ide_21.jpg" id="274" name="Google Shape;274;p18"/>
          <p:cNvPicPr preferRelativeResize="0"/>
          <p:nvPr/>
        </p:nvPicPr>
        <p:blipFill rotWithShape="1">
          <a:blip r:embed="rId3">
            <a:alphaModFix/>
          </a:blip>
          <a:srcRect b="32650" l="48516" r="-680" t="45520"/>
          <a:stretch/>
        </p:blipFill>
        <p:spPr>
          <a:xfrm>
            <a:off x="5970606" y="3402011"/>
            <a:ext cx="4769910" cy="14971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/>
          </a:p>
        </p:txBody>
      </p:sp>
      <p:pic>
        <p:nvPicPr>
          <p:cNvPr descr="slide_21.jpg" id="276" name="Google Shape;276;p18"/>
          <p:cNvPicPr preferRelativeResize="0"/>
          <p:nvPr/>
        </p:nvPicPr>
        <p:blipFill rotWithShape="1">
          <a:blip r:embed="rId3">
            <a:alphaModFix/>
          </a:blip>
          <a:srcRect b="50872" l="0" r="47837" t="22430"/>
          <a:stretch/>
        </p:blipFill>
        <p:spPr>
          <a:xfrm>
            <a:off x="1530185" y="1798008"/>
            <a:ext cx="4769910" cy="1830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18"/>
          <p:cNvCxnSpPr/>
          <p:nvPr/>
        </p:nvCxnSpPr>
        <p:spPr>
          <a:xfrm>
            <a:off x="6366063" y="1913477"/>
            <a:ext cx="0" cy="414036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8"/>
          <p:cNvSpPr txBox="1"/>
          <p:nvPr/>
        </p:nvSpPr>
        <p:spPr>
          <a:xfrm>
            <a:off x="7487546" y="4882665"/>
            <a:ext cx="4057128" cy="92333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Usuario 2 se pondrá en espera hasta que el primero emita un COMMIT o ROLLBACK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9223369" y="296919"/>
            <a:ext cx="2589306" cy="1220666"/>
          </a:xfrm>
          <a:prstGeom prst="cloudCallout">
            <a:avLst>
              <a:gd fmla="val 26938" name="adj1"/>
              <a:gd fmla="val 76014" name="adj2"/>
            </a:avLst>
          </a:prstGeom>
          <a:gradFill>
            <a:gsLst>
              <a:gs pos="0">
                <a:srgbClr val="91D3EB"/>
              </a:gs>
              <a:gs pos="34000">
                <a:srgbClr val="94D5EC"/>
              </a:gs>
              <a:gs pos="70000">
                <a:srgbClr val="95D8F1"/>
              </a:gs>
              <a:gs pos="100000">
                <a:srgbClr val="A4E0F6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ocurre?</a:t>
            </a:r>
            <a:endParaRPr/>
          </a:p>
        </p:txBody>
      </p:sp>
      <p:pic>
        <p:nvPicPr>
          <p:cNvPr descr="slide_21.jpg" id="280" name="Google Shape;280;p18"/>
          <p:cNvPicPr preferRelativeResize="0"/>
          <p:nvPr/>
        </p:nvPicPr>
        <p:blipFill rotWithShape="1">
          <a:blip r:embed="rId3">
            <a:alphaModFix/>
          </a:blip>
          <a:srcRect b="13166" l="5950" r="54373" t="76307"/>
          <a:stretch/>
        </p:blipFill>
        <p:spPr>
          <a:xfrm>
            <a:off x="2193849" y="5595914"/>
            <a:ext cx="3627965" cy="721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4518920-vector-funny-user-avatars-in-trendy-hand-drawn-doodle-style-eight-human-faces-on-yellow-hand-drawn-c.jpg" id="281" name="Google Shape;281;p18"/>
          <p:cNvPicPr preferRelativeResize="0"/>
          <p:nvPr/>
        </p:nvPicPr>
        <p:blipFill rotWithShape="1">
          <a:blip r:embed="rId4">
            <a:alphaModFix/>
          </a:blip>
          <a:srcRect b="66837" l="66032" r="5110" t="5101"/>
          <a:stretch/>
        </p:blipFill>
        <p:spPr>
          <a:xfrm>
            <a:off x="10670575" y="1863991"/>
            <a:ext cx="1187453" cy="1154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4518920-vector-funny-user-avatars-in-trendy-hand-drawn-doodle-style-eight-human-faces-on-yellow-hand-drawn-c.jpg" id="282" name="Google Shape;282;p18"/>
          <p:cNvPicPr preferRelativeResize="0"/>
          <p:nvPr/>
        </p:nvPicPr>
        <p:blipFill rotWithShape="1">
          <a:blip r:embed="rId4">
            <a:alphaModFix/>
          </a:blip>
          <a:srcRect b="35568" l="66032" r="5110" t="36370"/>
          <a:stretch/>
        </p:blipFill>
        <p:spPr>
          <a:xfrm>
            <a:off x="696647" y="1785454"/>
            <a:ext cx="1187453" cy="1154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/>
          </a:p>
        </p:txBody>
      </p:sp>
      <p:pic>
        <p:nvPicPr>
          <p:cNvPr descr="44518920-vector-funny-user-avatars-in-trendy-hand-drawn-doodle-style-eight-human-faces-on-yellow-hand-drawn-c.jpg" id="288" name="Google Shape;288;p19"/>
          <p:cNvPicPr preferRelativeResize="0"/>
          <p:nvPr/>
        </p:nvPicPr>
        <p:blipFill rotWithShape="1">
          <a:blip r:embed="rId3">
            <a:alphaModFix/>
          </a:blip>
          <a:srcRect b="36370" l="5509" r="65632" t="35568"/>
          <a:stretch/>
        </p:blipFill>
        <p:spPr>
          <a:xfrm>
            <a:off x="10670575" y="1863991"/>
            <a:ext cx="1187453" cy="1154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4518920-vector-funny-user-avatars-in-trendy-hand-drawn-doodle-style-eight-human-faces-on-yellow-hand-drawn-c.jpg" id="289" name="Google Shape;289;p19"/>
          <p:cNvPicPr preferRelativeResize="0"/>
          <p:nvPr/>
        </p:nvPicPr>
        <p:blipFill rotWithShape="1">
          <a:blip r:embed="rId3">
            <a:alphaModFix/>
          </a:blip>
          <a:srcRect b="5901" l="66433" r="4708" t="66036"/>
          <a:stretch/>
        </p:blipFill>
        <p:spPr>
          <a:xfrm>
            <a:off x="10658051" y="4688661"/>
            <a:ext cx="1187453" cy="115468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9"/>
          <p:cNvSpPr txBox="1"/>
          <p:nvPr/>
        </p:nvSpPr>
        <p:spPr>
          <a:xfrm>
            <a:off x="5937261" y="2243387"/>
            <a:ext cx="4346525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Employees SET salary = salary + 100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5957721" y="4391741"/>
            <a:ext cx="4300201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Employees where ID = 11567</a:t>
            </a:r>
            <a:endParaRPr/>
          </a:p>
        </p:txBody>
      </p:sp>
      <p:pic>
        <p:nvPicPr>
          <p:cNvPr descr="Screen Shot 2017-07-20 at 12.11.33.png" id="292" name="Google Shape;292;p19"/>
          <p:cNvPicPr preferRelativeResize="0"/>
          <p:nvPr/>
        </p:nvPicPr>
        <p:blipFill rotWithShape="1">
          <a:blip r:embed="rId4">
            <a:alphaModFix/>
          </a:blip>
          <a:srcRect b="85803" l="35542" r="49823" t="3654"/>
          <a:stretch/>
        </p:blipFill>
        <p:spPr>
          <a:xfrm>
            <a:off x="3747740" y="1801950"/>
            <a:ext cx="1282438" cy="50741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/>
          <p:nvPr/>
        </p:nvSpPr>
        <p:spPr>
          <a:xfrm>
            <a:off x="3727280" y="2573296"/>
            <a:ext cx="2094534" cy="31341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3879680" y="4837119"/>
            <a:ext cx="2094534" cy="31341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 flipH="1">
            <a:off x="3628327" y="5566861"/>
            <a:ext cx="2349856" cy="33852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8592535" y="5361034"/>
            <a:ext cx="1006036" cy="940243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9"/>
          <p:cNvGraphicFramePr/>
          <p:nvPr/>
        </p:nvGraphicFramePr>
        <p:xfrm>
          <a:off x="498207" y="2045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{4711AB86-D136-4A98-ADC7-705674B5F6E4}</a:tableStyleId>
              </a:tblPr>
              <a:tblGrid>
                <a:gridCol w="1474350"/>
                <a:gridCol w="1474350"/>
              </a:tblGrid>
              <a:tr h="6598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EMPLOYEES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 hMerge="1"/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SALARY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p19"/>
          <p:cNvGraphicFramePr/>
          <p:nvPr/>
        </p:nvGraphicFramePr>
        <p:xfrm>
          <a:off x="6109589" y="5311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{4711AB86-D136-4A98-ADC7-705674B5F6E4}</a:tableStyleId>
              </a:tblPr>
              <a:tblGrid>
                <a:gridCol w="1142525"/>
                <a:gridCol w="1142525"/>
              </a:tblGrid>
              <a:tr h="45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SALARY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</a:tr>
              <a:tr h="45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3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4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/>
          </a:p>
        </p:txBody>
      </p:sp>
      <p:pic>
        <p:nvPicPr>
          <p:cNvPr descr="44518920-vector-funny-user-avatars-in-trendy-hand-drawn-doodle-style-eight-human-faces-on-yellow-hand-drawn-c.jpg" id="304" name="Google Shape;304;p20"/>
          <p:cNvPicPr preferRelativeResize="0"/>
          <p:nvPr/>
        </p:nvPicPr>
        <p:blipFill rotWithShape="1">
          <a:blip r:embed="rId3">
            <a:alphaModFix/>
          </a:blip>
          <a:srcRect b="36370" l="5509" r="65632" t="35568"/>
          <a:stretch/>
        </p:blipFill>
        <p:spPr>
          <a:xfrm>
            <a:off x="10670575" y="1863991"/>
            <a:ext cx="1187453" cy="1154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4518920-vector-funny-user-avatars-in-trendy-hand-drawn-doodle-style-eight-human-faces-on-yellow-hand-drawn-c.jpg" id="305" name="Google Shape;305;p20"/>
          <p:cNvPicPr preferRelativeResize="0"/>
          <p:nvPr/>
        </p:nvPicPr>
        <p:blipFill rotWithShape="1">
          <a:blip r:embed="rId3">
            <a:alphaModFix/>
          </a:blip>
          <a:srcRect b="5901" l="66433" r="4708" t="66036"/>
          <a:stretch/>
        </p:blipFill>
        <p:spPr>
          <a:xfrm>
            <a:off x="10658051" y="4688661"/>
            <a:ext cx="1187453" cy="115468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 txBox="1"/>
          <p:nvPr/>
        </p:nvSpPr>
        <p:spPr>
          <a:xfrm>
            <a:off x="5937261" y="2243387"/>
            <a:ext cx="4346525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Employees SET salary = salary + 100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5957721" y="4391741"/>
            <a:ext cx="4185761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Employees where ID = 1128</a:t>
            </a:r>
            <a:endParaRPr/>
          </a:p>
        </p:txBody>
      </p:sp>
      <p:pic>
        <p:nvPicPr>
          <p:cNvPr descr="Screen Shot 2017-07-20 at 12.11.33.png" id="308" name="Google Shape;308;p20"/>
          <p:cNvPicPr preferRelativeResize="0"/>
          <p:nvPr/>
        </p:nvPicPr>
        <p:blipFill rotWithShape="1">
          <a:blip r:embed="rId4">
            <a:alphaModFix/>
          </a:blip>
          <a:srcRect b="85803" l="35542" r="49823" t="3654"/>
          <a:stretch/>
        </p:blipFill>
        <p:spPr>
          <a:xfrm>
            <a:off x="3747740" y="1801950"/>
            <a:ext cx="1282438" cy="50741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/>
          <p:nvPr/>
        </p:nvSpPr>
        <p:spPr>
          <a:xfrm>
            <a:off x="3727280" y="2573296"/>
            <a:ext cx="2094534" cy="31341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3879680" y="4837119"/>
            <a:ext cx="2094534" cy="31341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 flipH="1">
            <a:off x="3628327" y="5698821"/>
            <a:ext cx="2349856" cy="33852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5875">
            <a:solidFill>
              <a:srgbClr val="206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7-07-20 at 12.12.28.png" id="312" name="Google Shape;312;p20"/>
          <p:cNvPicPr preferRelativeResize="0"/>
          <p:nvPr/>
        </p:nvPicPr>
        <p:blipFill rotWithShape="1">
          <a:blip r:embed="rId5">
            <a:alphaModFix/>
          </a:blip>
          <a:srcRect b="3489" l="35767" r="49721" t="85777"/>
          <a:stretch/>
        </p:blipFill>
        <p:spPr>
          <a:xfrm>
            <a:off x="4255038" y="5212575"/>
            <a:ext cx="1286407" cy="4948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3" name="Google Shape;313;p20"/>
          <p:cNvGraphicFramePr/>
          <p:nvPr/>
        </p:nvGraphicFramePr>
        <p:xfrm>
          <a:off x="547684" y="1979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{4711AB86-D136-4A98-ADC7-705674B5F6E4}</a:tableStyleId>
              </a:tblPr>
              <a:tblGrid>
                <a:gridCol w="1474350"/>
                <a:gridCol w="1474350"/>
              </a:tblGrid>
              <a:tr h="6598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EMPLOYEES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 hMerge="1"/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SALARY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11567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" name="Google Shape;314;p20"/>
          <p:cNvGraphicFramePr/>
          <p:nvPr/>
        </p:nvGraphicFramePr>
        <p:xfrm>
          <a:off x="6192051" y="5410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{4711AB86-D136-4A98-ADC7-705674B5F6E4}</a:tableStyleId>
              </a:tblPr>
              <a:tblGrid>
                <a:gridCol w="1142525"/>
                <a:gridCol w="1142525"/>
              </a:tblGrid>
              <a:tr h="45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SALARY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</a:tr>
              <a:tr h="45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5" name="Google Shape;315;p20"/>
          <p:cNvGraphicFramePr/>
          <p:nvPr/>
        </p:nvGraphicFramePr>
        <p:xfrm>
          <a:off x="535159" y="19669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{4711AB86-D136-4A98-ADC7-705674B5F6E4}</a:tableStyleId>
              </a:tblPr>
              <a:tblGrid>
                <a:gridCol w="1474350"/>
                <a:gridCol w="1474350"/>
              </a:tblGrid>
              <a:tr h="6598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EMPLOYEES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 hMerge="1"/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SALARY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BD9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lock-9.png" id="316" name="Google Shape;3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580909">
            <a:off x="2719046" y="1625754"/>
            <a:ext cx="815579" cy="81557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/>
          <p:nvPr/>
        </p:nvSpPr>
        <p:spPr>
          <a:xfrm rot="788789">
            <a:off x="8686380" y="5417363"/>
            <a:ext cx="720621" cy="729539"/>
          </a:xfrm>
          <a:custGeom>
            <a:rect b="b" l="l" r="r" t="t"/>
            <a:pathLst>
              <a:path extrusionOk="0" h="729539" w="540466">
                <a:moveTo>
                  <a:pt x="0" y="486359"/>
                </a:moveTo>
                <a:lnTo>
                  <a:pt x="202675" y="729539"/>
                </a:lnTo>
                <a:lnTo>
                  <a:pt x="540466" y="0"/>
                </a:lnTo>
              </a:path>
            </a:pathLst>
          </a:custGeom>
          <a:noFill/>
          <a:ln cap="flat" cmpd="sng" w="762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3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idx="1" type="body"/>
          </p:nvPr>
        </p:nvSpPr>
        <p:spPr>
          <a:xfrm>
            <a:off x="1234026" y="1845734"/>
            <a:ext cx="9921654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Bloquea una tabla o vista.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donde lockType: READ, WRITE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23" name="Google Shape;323;p21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LOCK TABLES</a:t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1993577" y="2221515"/>
            <a:ext cx="7914575" cy="64697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LOCK TABLE </a:t>
            </a: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table [AS alias] </a:t>
            </a:r>
            <a:r>
              <a:rPr lang="en-US" sz="1800">
                <a:solidFill>
                  <a:srgbClr val="6600CC"/>
                </a:solidFill>
                <a:latin typeface="Arimo"/>
                <a:ea typeface="Arimo"/>
                <a:cs typeface="Arimo"/>
                <a:sym typeface="Arimo"/>
              </a:rPr>
              <a:t>&lt;lockType&gt;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LOCK TABLE </a:t>
            </a: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view [AS alias] </a:t>
            </a:r>
            <a:r>
              <a:rPr lang="en-US" sz="1800">
                <a:solidFill>
                  <a:srgbClr val="6600CC"/>
                </a:solidFill>
                <a:latin typeface="Arimo"/>
                <a:ea typeface="Arimo"/>
                <a:cs typeface="Arimo"/>
                <a:sym typeface="Arimo"/>
              </a:rPr>
              <a:t>&lt;lockType&gt;</a:t>
            </a:r>
            <a:endParaRPr/>
          </a:p>
        </p:txBody>
      </p:sp>
      <p:pic>
        <p:nvPicPr>
          <p:cNvPr descr="Screen Shot 2017-07-20 at 10.16.25.png"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907" y="3603625"/>
            <a:ext cx="7235568" cy="269875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1234026" y="1845734"/>
            <a:ext cx="9921654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⮚"/>
            </a:pPr>
            <a:r>
              <a:rPr lang="en-US" sz="2400"/>
              <a:t> El bloqueo de tablas es </a:t>
            </a:r>
            <a:r>
              <a:rPr b="1" lang="en-US" sz="2400"/>
              <a:t>únicamente para la sesión del usuario que bloquea</a:t>
            </a:r>
            <a:r>
              <a:rPr lang="en-US" sz="2400"/>
              <a:t>, es decir, ningún otro usuario puede acceder a dicha tabla mas que el usuario que la bloqueó.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⮚"/>
            </a:pPr>
            <a:r>
              <a:rPr lang="en-US" sz="2400"/>
              <a:t> Un usuario no puede bloquear una tabla para otro usuario.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⮚"/>
            </a:pPr>
            <a:r>
              <a:rPr lang="en-US" sz="2400"/>
              <a:t> Estar en el estado de bloqueo no permite el acceso a otras tablas hasta que se desbloqueen las tablas.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⮚"/>
            </a:pPr>
            <a:r>
              <a:rPr lang="en-US" sz="2400"/>
              <a:t> Para desbloquear tablas se utiliza el comando: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LOCK TABLES</a:t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2295967" y="4987369"/>
            <a:ext cx="7914575" cy="369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UNLOCK TABLES</a:t>
            </a:r>
            <a:endParaRPr sz="1800">
              <a:solidFill>
                <a:srgbClr val="6600CC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idx="1" type="body"/>
          </p:nvPr>
        </p:nvSpPr>
        <p:spPr>
          <a:xfrm>
            <a:off x="1234026" y="1845734"/>
            <a:ext cx="9921654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Se pueden bloquear varias tablas en un solo comando si las escribimos separadas por comas.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LOCK TABLES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2145977" y="5802915"/>
            <a:ext cx="7914575" cy="3699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UNLOCK TABLES</a:t>
            </a:r>
            <a:endParaRPr sz="1800">
              <a:solidFill>
                <a:srgbClr val="6600CC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Screen Shot 2017-07-20 at 10.56.55.png" id="340" name="Google Shape;340;p23"/>
          <p:cNvPicPr preferRelativeResize="0"/>
          <p:nvPr/>
        </p:nvPicPr>
        <p:blipFill rotWithShape="1">
          <a:blip r:embed="rId3">
            <a:alphaModFix/>
          </a:blip>
          <a:srcRect b="89738" l="0" r="25927" t="0"/>
          <a:stretch/>
        </p:blipFill>
        <p:spPr>
          <a:xfrm>
            <a:off x="1417724" y="2589631"/>
            <a:ext cx="7526326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7-20 at 10.56.55.png" id="341" name="Google Shape;341;p23"/>
          <p:cNvPicPr preferRelativeResize="0"/>
          <p:nvPr/>
        </p:nvPicPr>
        <p:blipFill rotWithShape="1">
          <a:blip r:embed="rId3">
            <a:alphaModFix/>
          </a:blip>
          <a:srcRect b="345" l="-312" r="35" t="39029"/>
          <a:stretch/>
        </p:blipFill>
        <p:spPr>
          <a:xfrm>
            <a:off x="1417724" y="3162797"/>
            <a:ext cx="10188951" cy="352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Las sentencias del DML pueden producir bloqueos sobre las filas de la tabla: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Una sentencia SELECT normal no bloquea filas.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Las sentencias INSERT, UPDATE o DELETE realiza un bloqueo ROW EXCLUSIVE de las filas afectadas por el WHERE.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✔"/>
            </a:pPr>
            <a:r>
              <a:rPr lang="en-US" sz="2400"/>
              <a:t>Las sentencias UPDATE Y DELETE pueden provocar o sufrir esperas si hay conflictos con otra transacción.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BLOQUEOS POR DEFECTO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6.4. ÍNDICES</a:t>
            </a:r>
            <a:endParaRPr/>
          </a:p>
        </p:txBody>
      </p:sp>
      <p:sp>
        <p:nvSpPr>
          <p:cNvPr id="353" name="Google Shape;353;p25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Es una estructura de datos que </a:t>
            </a:r>
            <a:r>
              <a:rPr b="1" lang="en-US" sz="2800"/>
              <a:t>aumenta</a:t>
            </a:r>
            <a:r>
              <a:rPr lang="en-US" sz="2800"/>
              <a:t> la velocidad de búsqueda en campos claves, permitiendo un </a:t>
            </a:r>
            <a:r>
              <a:rPr b="1" lang="en-US" sz="2800"/>
              <a:t>rápido acceso </a:t>
            </a:r>
            <a:r>
              <a:rPr lang="en-US" sz="2800"/>
              <a:t>a los registros de una tabla. 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Los campos claves suelen ser aquellos sobre los cuales se realizan búsquedas frecuentes.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Tiene un funcionamiento similar al índice de un libro, guardando parejas de elementos: el elemento que se desea indexar y su posición en la base de datos.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  <p:sp>
        <p:nvSpPr>
          <p:cNvPr id="360" name="Google Shape;360;p2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Los índices pueden ser creados usando una o más columnas, proporcionando la base tanto para búsquedas rápidas al azar como de un ordenado acceso a registros eficiente.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 El espacio en disco requerido para almacenar el índice es típicamente menor que el espacio de almacenamiento de la tabla.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Una índice no es lo mismo que un PK o FK de una tabla.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✔"/>
            </a:pPr>
            <a:r>
              <a:rPr lang="en-US" sz="2800"/>
              <a:t>Cada vez que un PK es creado, un índice es automáticamente creado.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  <p:sp>
        <p:nvSpPr>
          <p:cNvPr id="367" name="Google Shape;367;p2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 txBox="1"/>
          <p:nvPr>
            <p:ph idx="1" type="body"/>
          </p:nvPr>
        </p:nvSpPr>
        <p:spPr>
          <a:xfrm>
            <a:off x="2629947" y="3795807"/>
            <a:ext cx="6376296" cy="1868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Create index ieid on estudiantes(eid);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SINTÁXIS</a:t>
            </a: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2629583" y="2443542"/>
            <a:ext cx="5567579" cy="8316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CREATE INDEX </a:t>
            </a:r>
            <a:r>
              <a:rPr lang="en-US" sz="2400">
                <a:solidFill>
                  <a:srgbClr val="6600CC"/>
                </a:solidFill>
                <a:latin typeface="Arimo"/>
                <a:ea typeface="Arimo"/>
                <a:cs typeface="Arimo"/>
                <a:sym typeface="Arimo"/>
              </a:rPr>
              <a:t>&lt;index_name&gt;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i="1" lang="en-US" sz="2400">
                <a:solidFill>
                  <a:srgbClr val="0033CC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i="1" lang="en-US" sz="2400">
                <a:solidFill>
                  <a:srgbClr val="6600CC"/>
                </a:solidFill>
                <a:latin typeface="Arimo"/>
                <a:ea typeface="Arimo"/>
                <a:cs typeface="Arimo"/>
                <a:sym typeface="Arimo"/>
              </a:rPr>
              <a:t>&lt;table_name&gt; (&lt;col_name&gt;);</a:t>
            </a:r>
            <a:endParaRPr sz="2400">
              <a:solidFill>
                <a:schemeClr val="accent2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/>
          <p:nvPr>
            <p:ph idx="1" type="body"/>
          </p:nvPr>
        </p:nvSpPr>
        <p:spPr>
          <a:xfrm>
            <a:off x="838200" y="4383741"/>
            <a:ext cx="10515600" cy="1793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838200" y="2376081"/>
            <a:ext cx="380103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desea una lista con todas las novelas publicadas después de 1867? </a:t>
            </a: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1279690" y="4931044"/>
            <a:ext cx="4261203" cy="12003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Novelas</a:t>
            </a:r>
            <a:b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Publicado &gt; 1867</a:t>
            </a:r>
            <a:endParaRPr/>
          </a:p>
        </p:txBody>
      </p:sp>
      <p:graphicFrame>
        <p:nvGraphicFramePr>
          <p:cNvPr id="384" name="Google Shape;384;p29"/>
          <p:cNvGraphicFramePr/>
          <p:nvPr/>
        </p:nvGraphicFramePr>
        <p:xfrm>
          <a:off x="5106895" y="24454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{CAD460A7-E8D4-4424-94A3-CAA1BCD51506}</a:tableStyleId>
              </a:tblPr>
              <a:tblGrid>
                <a:gridCol w="635000"/>
                <a:gridCol w="1613650"/>
                <a:gridCol w="1499500"/>
                <a:gridCol w="1249375"/>
                <a:gridCol w="1249375"/>
              </a:tblGrid>
              <a:tr h="2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04040"/>
                          </a:solidFill>
                        </a:rPr>
                        <a:t>NID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Titulo</a:t>
                      </a:r>
                      <a:endParaRPr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Autor</a:t>
                      </a:r>
                      <a:endParaRPr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Publicado</a:t>
                      </a:r>
                      <a:endParaRPr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Full_texto</a:t>
                      </a:r>
                      <a:endParaRPr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001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Guerra y Paz</a:t>
                      </a:r>
                      <a:endParaRPr i="1"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Tolstoy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1869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…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002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Crimen y Castigo</a:t>
                      </a:r>
                      <a:endParaRPr i="1"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Dostoyevsky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1866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…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003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Anna Karenina</a:t>
                      </a:r>
                      <a:endParaRPr i="1" sz="1800">
                        <a:solidFill>
                          <a:srgbClr val="40404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Tolstoy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1877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04040"/>
                          </a:solidFill>
                        </a:rPr>
                        <a:t>…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85" name="Google Shape;385;p29"/>
          <p:cNvSpPr txBox="1"/>
          <p:nvPr/>
        </p:nvSpPr>
        <p:spPr>
          <a:xfrm>
            <a:off x="5106895" y="1866211"/>
            <a:ext cx="14817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Novelas</a:t>
            </a:r>
            <a:endParaRPr b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7088910" y="4779818"/>
            <a:ext cx="429490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Sería muy “caro” buscar registro por registro…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None/>
            </a:pPr>
            <a:r>
              <a:rPr lang="en-US" sz="2400"/>
              <a:t>Se utiliza índices en: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Campos que se hacen queries seguidos.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Campos con alta cardinalidad.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/>
              <a:t>Registros pequeños y tamaños fijos son preferidos.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None/>
            </a:pPr>
            <a:r>
              <a:rPr lang="en-US" sz="2400"/>
              <a:t>Obs: La mayoría de los DBMSs indexan automáticamente el PK)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APLICACIÓN - ÍNDICES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6.1. B+ TREE</a:t>
            </a:r>
            <a:endParaRPr/>
          </a:p>
        </p:txBody>
      </p:sp>
      <p:sp>
        <p:nvSpPr>
          <p:cNvPr id="400" name="Google Shape;400;p3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/>
          <p:nvPr>
            <p:ph idx="1" type="body"/>
          </p:nvPr>
        </p:nvSpPr>
        <p:spPr>
          <a:xfrm>
            <a:off x="444843" y="1845734"/>
            <a:ext cx="494270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 "/>
            </a:pPr>
            <a:r>
              <a:rPr lang="en-US" sz="3200"/>
              <a:t>B Tree: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Inician en un nodo = 1 página física.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Balanceado, el peso del árbol se ajusta (no la raíz).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En cada hoja se guardan tuplas (key-data).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La insersión/eliminación de datos es mas complicada.</a:t>
            </a:r>
            <a:endParaRPr/>
          </a:p>
        </p:txBody>
      </p:sp>
      <p:sp>
        <p:nvSpPr>
          <p:cNvPr id="406" name="Google Shape;406;p32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 TREE vs B+ TREE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(árboles de búsqueda)</a:t>
            </a:r>
            <a:endParaRPr/>
          </a:p>
        </p:txBody>
      </p:sp>
      <p:sp>
        <p:nvSpPr>
          <p:cNvPr id="407" name="Google Shape;407;p32"/>
          <p:cNvSpPr txBox="1"/>
          <p:nvPr/>
        </p:nvSpPr>
        <p:spPr>
          <a:xfrm>
            <a:off x="5980671" y="1845734"/>
            <a:ext cx="506627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032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 "/>
            </a:pPr>
            <a:r>
              <a:rPr lang="en-US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B+ Tree:</a:t>
            </a:r>
            <a:endParaRPr/>
          </a:p>
          <a:p>
            <a:pPr indent="-182880" lvl="1" marL="38404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 hojas se enlazan a una lista (para rangos de consultas)</a:t>
            </a:r>
            <a:endParaRPr/>
          </a:p>
          <a:p>
            <a:pPr indent="-182880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data solo se guarda al finalizar el árbol (nodos hoja)</a:t>
            </a:r>
            <a:endParaRPr/>
          </a:p>
          <a:p>
            <a:pPr indent="-182880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insersión/eliminación de datos es mas fácil.</a:t>
            </a:r>
            <a:endParaRPr/>
          </a:p>
          <a:p>
            <a:pPr indent="-5079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3" name="Google Shape;413;p33"/>
          <p:cNvGraphicFramePr/>
          <p:nvPr/>
        </p:nvGraphicFramePr>
        <p:xfrm>
          <a:off x="2449285" y="2149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33"/>
          <p:cNvSpPr txBox="1"/>
          <p:nvPr/>
        </p:nvSpPr>
        <p:spPr>
          <a:xfrm>
            <a:off x="5748602" y="2754486"/>
            <a:ext cx="4455572" cy="1384995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nodo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 (“interior”) tiene n llaves*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Donde n está entre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y 2*d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2378765" y="2080591"/>
            <a:ext cx="1981200" cy="463826"/>
          </a:xfrm>
          <a:prstGeom prst="roundRect">
            <a:avLst>
              <a:gd fmla="val 16667" name="adj"/>
            </a:avLst>
          </a:prstGeom>
          <a:solidFill>
            <a:schemeClr val="accent2">
              <a:alpha val="21960"/>
            </a:schemeClr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5748602" y="4019586"/>
            <a:ext cx="422912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*excepto para el nodo raíz, el cual puede tener entre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2*d llaves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5748602" y="1999666"/>
            <a:ext cx="3886200" cy="523220"/>
          </a:xfrm>
          <a:prstGeom prst="rect">
            <a:avLst/>
          </a:prstGeom>
          <a:solidFill>
            <a:srgbClr val="ECF8F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el grado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4" name="Google Shape;424;p34"/>
          <p:cNvGraphicFramePr/>
          <p:nvPr/>
        </p:nvGraphicFramePr>
        <p:xfrm>
          <a:off x="2449285" y="2149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25" name="Google Shape;425;p34"/>
          <p:cNvCxnSpPr/>
          <p:nvPr/>
        </p:nvCxnSpPr>
        <p:spPr>
          <a:xfrm>
            <a:off x="3635829" y="2667001"/>
            <a:ext cx="119742" cy="653143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34"/>
          <p:cNvCxnSpPr/>
          <p:nvPr/>
        </p:nvCxnSpPr>
        <p:spPr>
          <a:xfrm flipH="1">
            <a:off x="2220686" y="2667001"/>
            <a:ext cx="391886" cy="653143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34"/>
          <p:cNvCxnSpPr>
            <a:endCxn id="428" idx="0"/>
          </p:cNvCxnSpPr>
          <p:nvPr/>
        </p:nvCxnSpPr>
        <p:spPr>
          <a:xfrm>
            <a:off x="3128668" y="2666985"/>
            <a:ext cx="5100" cy="13842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p34"/>
          <p:cNvCxnSpPr>
            <a:endCxn id="430" idx="0"/>
          </p:cNvCxnSpPr>
          <p:nvPr/>
        </p:nvCxnSpPr>
        <p:spPr>
          <a:xfrm>
            <a:off x="4054720" y="2666987"/>
            <a:ext cx="1272900" cy="10332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1" name="Google Shape;431;p34"/>
          <p:cNvSpPr txBox="1"/>
          <p:nvPr/>
        </p:nvSpPr>
        <p:spPr>
          <a:xfrm>
            <a:off x="1747854" y="3350376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&lt; 10</a:t>
            </a:r>
            <a:endParaRPr/>
          </a:p>
        </p:txBody>
      </p:sp>
      <p:sp>
        <p:nvSpPr>
          <p:cNvPr id="428" name="Google Shape;428;p34"/>
          <p:cNvSpPr txBox="1"/>
          <p:nvPr/>
        </p:nvSpPr>
        <p:spPr>
          <a:xfrm>
            <a:off x="2303284" y="4051185"/>
            <a:ext cx="16609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2" name="Google Shape;432;p34"/>
          <p:cNvSpPr txBox="1"/>
          <p:nvPr/>
        </p:nvSpPr>
        <p:spPr>
          <a:xfrm>
            <a:off x="3224656" y="3339027"/>
            <a:ext cx="16609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4797699" y="3700187"/>
            <a:ext cx="10598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2400538" y="2431371"/>
            <a:ext cx="1981200" cy="463826"/>
          </a:xfrm>
          <a:prstGeom prst="roundRect">
            <a:avLst>
              <a:gd fmla="val 16667" name="adj"/>
            </a:avLst>
          </a:prstGeom>
          <a:solidFill>
            <a:schemeClr val="accent2">
              <a:alpha val="21960"/>
            </a:schemeClr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 txBox="1"/>
          <p:nvPr/>
        </p:nvSpPr>
        <p:spPr>
          <a:xfrm>
            <a:off x="7430584" y="3469354"/>
            <a:ext cx="3136980" cy="1384995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llaves en un nodo definen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rangos 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Google Shape;440;p35"/>
          <p:cNvGraphicFramePr/>
          <p:nvPr/>
        </p:nvGraphicFramePr>
        <p:xfrm>
          <a:off x="2449285" y="2760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41" name="Google Shape;441;p35"/>
          <p:cNvCxnSpPr/>
          <p:nvPr/>
        </p:nvCxnSpPr>
        <p:spPr>
          <a:xfrm>
            <a:off x="3570513" y="3291090"/>
            <a:ext cx="1012372" cy="65969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35"/>
          <p:cNvSpPr txBox="1"/>
          <p:nvPr/>
        </p:nvSpPr>
        <p:spPr>
          <a:xfrm>
            <a:off x="1865303" y="2071336"/>
            <a:ext cx="2646878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No-hojas o nodos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3346174" y="3041703"/>
            <a:ext cx="609600" cy="463826"/>
          </a:xfrm>
          <a:prstGeom prst="roundRect">
            <a:avLst>
              <a:gd fmla="val 16667" name="adj"/>
            </a:avLst>
          </a:prstGeom>
          <a:solidFill>
            <a:schemeClr val="accent2">
              <a:alpha val="21960"/>
            </a:schemeClr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" name="Google Shape;444;p35"/>
          <p:cNvGraphicFramePr/>
          <p:nvPr/>
        </p:nvGraphicFramePr>
        <p:xfrm>
          <a:off x="3668485" y="4052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35"/>
          <p:cNvSpPr txBox="1"/>
          <p:nvPr/>
        </p:nvSpPr>
        <p:spPr>
          <a:xfrm>
            <a:off x="6305193" y="2796562"/>
            <a:ext cx="4435693" cy="1815882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cada rango, en un nodo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existe un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puntero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otro nodo con llaves en ese rango.</a:t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2" name="Google Shape;452;p36"/>
          <p:cNvGraphicFramePr/>
          <p:nvPr/>
        </p:nvGraphicFramePr>
        <p:xfrm>
          <a:off x="2469603" y="2628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3" name="Google Shape;453;p36"/>
          <p:cNvSpPr txBox="1"/>
          <p:nvPr/>
        </p:nvSpPr>
        <p:spPr>
          <a:xfrm>
            <a:off x="8296107" y="4193647"/>
            <a:ext cx="3567541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 hojas también tienen entre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llaves, y son diferentes a:</a:t>
            </a:r>
            <a:endParaRPr/>
          </a:p>
        </p:txBody>
      </p:sp>
      <p:cxnSp>
        <p:nvCxnSpPr>
          <p:cNvPr id="454" name="Google Shape;454;p36"/>
          <p:cNvCxnSpPr/>
          <p:nvPr/>
        </p:nvCxnSpPr>
        <p:spPr>
          <a:xfrm flipH="1">
            <a:off x="3112009" y="3159127"/>
            <a:ext cx="557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455" name="Google Shape;455;p36"/>
          <p:cNvGraphicFramePr/>
          <p:nvPr/>
        </p:nvGraphicFramePr>
        <p:xfrm>
          <a:off x="1936204" y="421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36"/>
          <p:cNvSpPr txBox="1"/>
          <p:nvPr/>
        </p:nvSpPr>
        <p:spPr>
          <a:xfrm>
            <a:off x="5856887" y="3653105"/>
            <a:ext cx="1339955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hojas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7" name="Google Shape;457;p36"/>
          <p:cNvGraphicFramePr/>
          <p:nvPr/>
        </p:nvGraphicFramePr>
        <p:xfrm>
          <a:off x="4758561" y="42071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458" name="Google Shape;458;p36"/>
          <p:cNvCxnSpPr/>
          <p:nvPr/>
        </p:nvCxnSpPr>
        <p:spPr>
          <a:xfrm>
            <a:off x="4091576" y="3159127"/>
            <a:ext cx="1842600" cy="1047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9" name="Google Shape;459;p36"/>
          <p:cNvSpPr txBox="1"/>
          <p:nvPr/>
        </p:nvSpPr>
        <p:spPr>
          <a:xfrm>
            <a:off x="1737189" y="2071337"/>
            <a:ext cx="2646878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No-hojas o nodos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0" name="Google Shape;460;p36"/>
          <p:cNvGraphicFramePr/>
          <p:nvPr/>
        </p:nvGraphicFramePr>
        <p:xfrm>
          <a:off x="318420" y="421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461" name="Google Shape;461;p36"/>
          <p:cNvCxnSpPr/>
          <p:nvPr/>
        </p:nvCxnSpPr>
        <p:spPr>
          <a:xfrm flipH="1">
            <a:off x="892285" y="3159127"/>
            <a:ext cx="2315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2" name="Google Shape;462;p36"/>
          <p:cNvCxnSpPr/>
          <p:nvPr/>
        </p:nvCxnSpPr>
        <p:spPr>
          <a:xfrm flipH="1">
            <a:off x="-98952" y="3132290"/>
            <a:ext cx="2803778" cy="102119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3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9" name="Google Shape;469;p37"/>
          <p:cNvGraphicFramePr/>
          <p:nvPr/>
        </p:nvGraphicFramePr>
        <p:xfrm>
          <a:off x="2399808" y="24963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70" name="Google Shape;470;p37"/>
          <p:cNvCxnSpPr/>
          <p:nvPr/>
        </p:nvCxnSpPr>
        <p:spPr>
          <a:xfrm flipH="1">
            <a:off x="3042214" y="3027163"/>
            <a:ext cx="557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471" name="Google Shape;471;p37"/>
          <p:cNvGraphicFramePr/>
          <p:nvPr/>
        </p:nvGraphicFramePr>
        <p:xfrm>
          <a:off x="1866409" y="4086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37"/>
          <p:cNvSpPr txBox="1"/>
          <p:nvPr/>
        </p:nvSpPr>
        <p:spPr>
          <a:xfrm>
            <a:off x="5787092" y="3521141"/>
            <a:ext cx="1339955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hojas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3" name="Google Shape;473;p37"/>
          <p:cNvGraphicFramePr/>
          <p:nvPr/>
        </p:nvGraphicFramePr>
        <p:xfrm>
          <a:off x="4688766" y="407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474" name="Google Shape;474;p37"/>
          <p:cNvCxnSpPr/>
          <p:nvPr/>
        </p:nvCxnSpPr>
        <p:spPr>
          <a:xfrm>
            <a:off x="4021781" y="3027163"/>
            <a:ext cx="1842600" cy="1047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5" name="Google Shape;475;p37"/>
          <p:cNvSpPr txBox="1"/>
          <p:nvPr/>
        </p:nvSpPr>
        <p:spPr>
          <a:xfrm>
            <a:off x="1667394" y="1939373"/>
            <a:ext cx="2646878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No-hojas o nodos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6" name="Google Shape;476;p37"/>
          <p:cNvGraphicFramePr/>
          <p:nvPr/>
        </p:nvGraphicFramePr>
        <p:xfrm>
          <a:off x="248625" y="4086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477" name="Google Shape;477;p37"/>
          <p:cNvCxnSpPr/>
          <p:nvPr/>
        </p:nvCxnSpPr>
        <p:spPr>
          <a:xfrm flipH="1">
            <a:off x="822490" y="3027163"/>
            <a:ext cx="2315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8" name="Google Shape;478;p37"/>
          <p:cNvCxnSpPr/>
          <p:nvPr/>
        </p:nvCxnSpPr>
        <p:spPr>
          <a:xfrm flipH="1">
            <a:off x="-168747" y="3000326"/>
            <a:ext cx="2803778" cy="102119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37"/>
          <p:cNvCxnSpPr/>
          <p:nvPr/>
        </p:nvCxnSpPr>
        <p:spPr>
          <a:xfrm flipH="1">
            <a:off x="1490869" y="4603243"/>
            <a:ext cx="587384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37"/>
          <p:cNvCxnSpPr/>
          <p:nvPr/>
        </p:nvCxnSpPr>
        <p:spPr>
          <a:xfrm flipH="1">
            <a:off x="2228309" y="4596281"/>
            <a:ext cx="322547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37"/>
          <p:cNvCxnSpPr/>
          <p:nvPr/>
        </p:nvCxnSpPr>
        <p:spPr>
          <a:xfrm flipH="1">
            <a:off x="2994602" y="4596281"/>
            <a:ext cx="16537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37"/>
          <p:cNvCxnSpPr/>
          <p:nvPr/>
        </p:nvCxnSpPr>
        <p:spPr>
          <a:xfrm>
            <a:off x="3596368" y="4603243"/>
            <a:ext cx="164526" cy="825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37"/>
          <p:cNvCxnSpPr/>
          <p:nvPr/>
        </p:nvCxnSpPr>
        <p:spPr>
          <a:xfrm flipH="1">
            <a:off x="4527188" y="4596281"/>
            <a:ext cx="37498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37"/>
          <p:cNvCxnSpPr/>
          <p:nvPr/>
        </p:nvCxnSpPr>
        <p:spPr>
          <a:xfrm flipH="1">
            <a:off x="5293481" y="4596281"/>
            <a:ext cx="5223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37"/>
          <p:cNvCxnSpPr/>
          <p:nvPr/>
        </p:nvCxnSpPr>
        <p:spPr>
          <a:xfrm>
            <a:off x="5912355" y="4596281"/>
            <a:ext cx="147419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37"/>
          <p:cNvCxnSpPr/>
          <p:nvPr/>
        </p:nvCxnSpPr>
        <p:spPr>
          <a:xfrm>
            <a:off x="6407361" y="4603243"/>
            <a:ext cx="418704" cy="825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" name="Google Shape;487;p37"/>
          <p:cNvCxnSpPr/>
          <p:nvPr/>
        </p:nvCxnSpPr>
        <p:spPr>
          <a:xfrm>
            <a:off x="849217" y="4625520"/>
            <a:ext cx="8122" cy="80318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37"/>
          <p:cNvCxnSpPr/>
          <p:nvPr/>
        </p:nvCxnSpPr>
        <p:spPr>
          <a:xfrm flipH="1">
            <a:off x="252438" y="4632482"/>
            <a:ext cx="164912" cy="80318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p37"/>
          <p:cNvSpPr txBox="1"/>
          <p:nvPr/>
        </p:nvSpPr>
        <p:spPr>
          <a:xfrm>
            <a:off x="8268062" y="4596079"/>
            <a:ext cx="3704549" cy="1384995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slots de las llaves contienen punteros a los registros de la data.</a:t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6124156" y="4384451"/>
            <a:ext cx="609600" cy="463826"/>
          </a:xfrm>
          <a:prstGeom prst="roundRect">
            <a:avLst>
              <a:gd fmla="val 16667" name="adj"/>
            </a:avLst>
          </a:prstGeom>
          <a:solidFill>
            <a:schemeClr val="accent2">
              <a:alpha val="21960"/>
            </a:schemeClr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1252663" y="543566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492" name="Google Shape;492;p37"/>
          <p:cNvSpPr txBox="1"/>
          <p:nvPr/>
        </p:nvSpPr>
        <p:spPr>
          <a:xfrm>
            <a:off x="2018956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93" name="Google Shape;493;p37"/>
          <p:cNvSpPr txBox="1"/>
          <p:nvPr/>
        </p:nvSpPr>
        <p:spPr>
          <a:xfrm>
            <a:off x="2785249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494" name="Google Shape;494;p37"/>
          <p:cNvSpPr txBox="1"/>
          <p:nvPr/>
        </p:nvSpPr>
        <p:spPr>
          <a:xfrm>
            <a:off x="3551542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495" name="Google Shape;495;p37"/>
          <p:cNvSpPr txBox="1"/>
          <p:nvPr/>
        </p:nvSpPr>
        <p:spPr>
          <a:xfrm>
            <a:off x="4317835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96" name="Google Shape;496;p37"/>
          <p:cNvSpPr txBox="1"/>
          <p:nvPr/>
        </p:nvSpPr>
        <p:spPr>
          <a:xfrm>
            <a:off x="5084128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497" name="Google Shape;497;p37"/>
          <p:cNvSpPr txBox="1"/>
          <p:nvPr/>
        </p:nvSpPr>
        <p:spPr>
          <a:xfrm>
            <a:off x="5850421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498" name="Google Shape;498;p37"/>
          <p:cNvSpPr txBox="1"/>
          <p:nvPr/>
        </p:nvSpPr>
        <p:spPr>
          <a:xfrm>
            <a:off x="6616713" y="5428703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619133" y="5428703"/>
            <a:ext cx="476412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00" name="Google Shape;500;p37"/>
          <p:cNvSpPr txBox="1"/>
          <p:nvPr/>
        </p:nvSpPr>
        <p:spPr>
          <a:xfrm>
            <a:off x="14232" y="5435665"/>
            <a:ext cx="476412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501" name="Google Shape;501;p3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  <p:sp>
        <p:nvSpPr>
          <p:cNvPr id="502" name="Google Shape;502;p37"/>
          <p:cNvSpPr txBox="1"/>
          <p:nvPr/>
        </p:nvSpPr>
        <p:spPr>
          <a:xfrm>
            <a:off x="8296107" y="2996219"/>
            <a:ext cx="3567541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 hojas también tienen entre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llaves, y son diferentes a: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8" name="Google Shape;508;p38"/>
          <p:cNvGraphicFramePr/>
          <p:nvPr/>
        </p:nvGraphicFramePr>
        <p:xfrm>
          <a:off x="2449285" y="2413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09" name="Google Shape;509;p38"/>
          <p:cNvCxnSpPr/>
          <p:nvPr/>
        </p:nvCxnSpPr>
        <p:spPr>
          <a:xfrm flipH="1">
            <a:off x="3091691" y="2944686"/>
            <a:ext cx="557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10" name="Google Shape;510;p38"/>
          <p:cNvGraphicFramePr/>
          <p:nvPr/>
        </p:nvGraphicFramePr>
        <p:xfrm>
          <a:off x="1915886" y="4003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38"/>
          <p:cNvGraphicFramePr/>
          <p:nvPr/>
        </p:nvGraphicFramePr>
        <p:xfrm>
          <a:off x="4738243" y="3992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512" name="Google Shape;512;p38"/>
          <p:cNvCxnSpPr/>
          <p:nvPr/>
        </p:nvCxnSpPr>
        <p:spPr>
          <a:xfrm>
            <a:off x="4071258" y="2944686"/>
            <a:ext cx="1842600" cy="1047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13" name="Google Shape;513;p38"/>
          <p:cNvGraphicFramePr/>
          <p:nvPr/>
        </p:nvGraphicFramePr>
        <p:xfrm>
          <a:off x="298102" y="4003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514" name="Google Shape;514;p38"/>
          <p:cNvCxnSpPr/>
          <p:nvPr/>
        </p:nvCxnSpPr>
        <p:spPr>
          <a:xfrm flipH="1">
            <a:off x="871967" y="2944686"/>
            <a:ext cx="2315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5" name="Google Shape;515;p38"/>
          <p:cNvCxnSpPr/>
          <p:nvPr/>
        </p:nvCxnSpPr>
        <p:spPr>
          <a:xfrm flipH="1">
            <a:off x="-119270" y="2917849"/>
            <a:ext cx="2803778" cy="102119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6" name="Google Shape;516;p38"/>
          <p:cNvCxnSpPr/>
          <p:nvPr/>
        </p:nvCxnSpPr>
        <p:spPr>
          <a:xfrm flipH="1">
            <a:off x="1540346" y="4520766"/>
            <a:ext cx="587384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38"/>
          <p:cNvSpPr txBox="1"/>
          <p:nvPr/>
        </p:nvSpPr>
        <p:spPr>
          <a:xfrm>
            <a:off x="1302140" y="5353188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cxnSp>
        <p:nvCxnSpPr>
          <p:cNvPr id="518" name="Google Shape;518;p38"/>
          <p:cNvCxnSpPr/>
          <p:nvPr/>
        </p:nvCxnSpPr>
        <p:spPr>
          <a:xfrm flipH="1">
            <a:off x="2277786" y="4513804"/>
            <a:ext cx="322547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38"/>
          <p:cNvSpPr txBox="1"/>
          <p:nvPr/>
        </p:nvSpPr>
        <p:spPr>
          <a:xfrm>
            <a:off x="2068433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cxnSp>
        <p:nvCxnSpPr>
          <p:cNvPr id="520" name="Google Shape;520;p38"/>
          <p:cNvCxnSpPr/>
          <p:nvPr/>
        </p:nvCxnSpPr>
        <p:spPr>
          <a:xfrm flipH="1">
            <a:off x="3044079" y="4513804"/>
            <a:ext cx="16537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1" name="Google Shape;521;p38"/>
          <p:cNvSpPr txBox="1"/>
          <p:nvPr/>
        </p:nvSpPr>
        <p:spPr>
          <a:xfrm>
            <a:off x="2834726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cxnSp>
        <p:nvCxnSpPr>
          <p:cNvPr id="522" name="Google Shape;522;p38"/>
          <p:cNvCxnSpPr/>
          <p:nvPr/>
        </p:nvCxnSpPr>
        <p:spPr>
          <a:xfrm>
            <a:off x="3645845" y="4520766"/>
            <a:ext cx="164526" cy="825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3" name="Google Shape;523;p38"/>
          <p:cNvSpPr txBox="1"/>
          <p:nvPr/>
        </p:nvSpPr>
        <p:spPr>
          <a:xfrm>
            <a:off x="3601019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cxnSp>
        <p:nvCxnSpPr>
          <p:cNvPr id="524" name="Google Shape;524;p38"/>
          <p:cNvCxnSpPr/>
          <p:nvPr/>
        </p:nvCxnSpPr>
        <p:spPr>
          <a:xfrm flipH="1">
            <a:off x="4576665" y="4513804"/>
            <a:ext cx="37498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38"/>
          <p:cNvSpPr txBox="1"/>
          <p:nvPr/>
        </p:nvSpPr>
        <p:spPr>
          <a:xfrm>
            <a:off x="4367312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526" name="Google Shape;526;p38"/>
          <p:cNvCxnSpPr/>
          <p:nvPr/>
        </p:nvCxnSpPr>
        <p:spPr>
          <a:xfrm flipH="1">
            <a:off x="5342958" y="4513804"/>
            <a:ext cx="52233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7" name="Google Shape;527;p38"/>
          <p:cNvSpPr txBox="1"/>
          <p:nvPr/>
        </p:nvSpPr>
        <p:spPr>
          <a:xfrm>
            <a:off x="5133605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cxnSp>
        <p:nvCxnSpPr>
          <p:cNvPr id="528" name="Google Shape;528;p38"/>
          <p:cNvCxnSpPr/>
          <p:nvPr/>
        </p:nvCxnSpPr>
        <p:spPr>
          <a:xfrm>
            <a:off x="5961832" y="4513804"/>
            <a:ext cx="147419" cy="8324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38"/>
          <p:cNvSpPr txBox="1"/>
          <p:nvPr/>
        </p:nvSpPr>
        <p:spPr>
          <a:xfrm>
            <a:off x="5899898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cxnSp>
        <p:nvCxnSpPr>
          <p:cNvPr id="530" name="Google Shape;530;p38"/>
          <p:cNvCxnSpPr/>
          <p:nvPr/>
        </p:nvCxnSpPr>
        <p:spPr>
          <a:xfrm>
            <a:off x="6456838" y="4520766"/>
            <a:ext cx="418704" cy="82546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1" name="Google Shape;531;p38"/>
          <p:cNvSpPr txBox="1"/>
          <p:nvPr/>
        </p:nvSpPr>
        <p:spPr>
          <a:xfrm>
            <a:off x="6666190" y="5346226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cxnSp>
        <p:nvCxnSpPr>
          <p:cNvPr id="532" name="Google Shape;532;p38"/>
          <p:cNvCxnSpPr>
            <a:endCxn id="533" idx="0"/>
          </p:cNvCxnSpPr>
          <p:nvPr/>
        </p:nvCxnSpPr>
        <p:spPr>
          <a:xfrm>
            <a:off x="898716" y="4543126"/>
            <a:ext cx="8100" cy="803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3" name="Google Shape;533;p38"/>
          <p:cNvSpPr txBox="1"/>
          <p:nvPr/>
        </p:nvSpPr>
        <p:spPr>
          <a:xfrm>
            <a:off x="668610" y="5346226"/>
            <a:ext cx="476412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cxnSp>
        <p:nvCxnSpPr>
          <p:cNvPr id="534" name="Google Shape;534;p38"/>
          <p:cNvCxnSpPr/>
          <p:nvPr/>
        </p:nvCxnSpPr>
        <p:spPr>
          <a:xfrm flipH="1">
            <a:off x="301915" y="4550005"/>
            <a:ext cx="164912" cy="80318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5" name="Google Shape;535;p38"/>
          <p:cNvSpPr txBox="1"/>
          <p:nvPr/>
        </p:nvSpPr>
        <p:spPr>
          <a:xfrm>
            <a:off x="63709" y="5353188"/>
            <a:ext cx="476412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3986021" y="4301974"/>
            <a:ext cx="995504" cy="463826"/>
          </a:xfrm>
          <a:prstGeom prst="roundRect">
            <a:avLst>
              <a:gd fmla="val 16667" name="adj"/>
            </a:avLst>
          </a:prstGeom>
          <a:solidFill>
            <a:schemeClr val="accent2">
              <a:alpha val="21960"/>
            </a:schemeClr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38"/>
          <p:cNvCxnSpPr/>
          <p:nvPr/>
        </p:nvCxnSpPr>
        <p:spPr>
          <a:xfrm flipH="1" rot="10800000">
            <a:off x="4071258" y="4509358"/>
            <a:ext cx="838200" cy="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538" name="Google Shape;538;p38"/>
          <p:cNvCxnSpPr/>
          <p:nvPr/>
        </p:nvCxnSpPr>
        <p:spPr>
          <a:xfrm>
            <a:off x="1279022" y="4509357"/>
            <a:ext cx="754906" cy="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539" name="Google Shape;539;p38"/>
          <p:cNvCxnSpPr/>
          <p:nvPr/>
        </p:nvCxnSpPr>
        <p:spPr>
          <a:xfrm>
            <a:off x="0" y="4509356"/>
            <a:ext cx="462301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sp>
        <p:nvSpPr>
          <p:cNvPr id="540" name="Google Shape;540;p38"/>
          <p:cNvSpPr txBox="1"/>
          <p:nvPr/>
        </p:nvSpPr>
        <p:spPr>
          <a:xfrm>
            <a:off x="8152614" y="4448912"/>
            <a:ext cx="3704549" cy="2246769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contienen un puntero al siguiente nodo hoja,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una rápida secuencia transversal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  <p:sp>
        <p:nvSpPr>
          <p:cNvPr id="542" name="Google Shape;542;p38"/>
          <p:cNvSpPr txBox="1"/>
          <p:nvPr/>
        </p:nvSpPr>
        <p:spPr>
          <a:xfrm>
            <a:off x="8122919" y="2636650"/>
            <a:ext cx="3704549" cy="1384995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slots de las llaves contienen punteros a los registros de la data.</a:t>
            </a: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8150964" y="1200076"/>
            <a:ext cx="3567541" cy="1200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 hojas también tienen entre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llaves, y son diferentes a:</a:t>
            </a:r>
            <a:endParaRPr/>
          </a:p>
        </p:txBody>
      </p:sp>
      <p:sp>
        <p:nvSpPr>
          <p:cNvPr id="544" name="Google Shape;544;p38"/>
          <p:cNvSpPr txBox="1"/>
          <p:nvPr/>
        </p:nvSpPr>
        <p:spPr>
          <a:xfrm>
            <a:off x="5787092" y="3521141"/>
            <a:ext cx="1339955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hojas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8"/>
          <p:cNvSpPr txBox="1"/>
          <p:nvPr/>
        </p:nvSpPr>
        <p:spPr>
          <a:xfrm>
            <a:off x="1667394" y="1939373"/>
            <a:ext cx="2646878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No-hojas o nodos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1" name="Google Shape;551;p39"/>
          <p:cNvGraphicFramePr/>
          <p:nvPr/>
        </p:nvGraphicFramePr>
        <p:xfrm>
          <a:off x="2449285" y="2397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438150"/>
                <a:gridCol w="190500"/>
                <a:gridCol w="327025"/>
                <a:gridCol w="239725"/>
                <a:gridCol w="241300"/>
                <a:gridCol w="3921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52" name="Google Shape;552;p39"/>
          <p:cNvCxnSpPr/>
          <p:nvPr/>
        </p:nvCxnSpPr>
        <p:spPr>
          <a:xfrm flipH="1">
            <a:off x="3091691" y="2928183"/>
            <a:ext cx="557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53" name="Google Shape;553;p39"/>
          <p:cNvGraphicFramePr/>
          <p:nvPr/>
        </p:nvGraphicFramePr>
        <p:xfrm>
          <a:off x="1915886" y="3987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4" name="Google Shape;554;p39"/>
          <p:cNvGraphicFramePr/>
          <p:nvPr/>
        </p:nvGraphicFramePr>
        <p:xfrm>
          <a:off x="4738243" y="3976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  <a:gridCol w="328900"/>
                <a:gridCol w="272925"/>
                <a:gridCol w="272925"/>
                <a:gridCol w="3289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555" name="Google Shape;555;p39"/>
          <p:cNvCxnSpPr/>
          <p:nvPr/>
        </p:nvCxnSpPr>
        <p:spPr>
          <a:xfrm>
            <a:off x="4071258" y="2928183"/>
            <a:ext cx="1842600" cy="1047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556" name="Google Shape;556;p39"/>
          <p:cNvGraphicFramePr/>
          <p:nvPr/>
        </p:nvGraphicFramePr>
        <p:xfrm>
          <a:off x="298102" y="3987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328900"/>
                <a:gridCol w="272925"/>
                <a:gridCol w="272925"/>
                <a:gridCol w="2729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557" name="Google Shape;557;p39"/>
          <p:cNvCxnSpPr/>
          <p:nvPr/>
        </p:nvCxnSpPr>
        <p:spPr>
          <a:xfrm flipH="1">
            <a:off x="871967" y="2928183"/>
            <a:ext cx="2315100" cy="1059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8" name="Google Shape;558;p39"/>
          <p:cNvCxnSpPr/>
          <p:nvPr/>
        </p:nvCxnSpPr>
        <p:spPr>
          <a:xfrm flipH="1">
            <a:off x="-119270" y="2901346"/>
            <a:ext cx="2803778" cy="1021191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9" name="Google Shape;559;p39"/>
          <p:cNvSpPr txBox="1"/>
          <p:nvPr/>
        </p:nvSpPr>
        <p:spPr>
          <a:xfrm>
            <a:off x="8121196" y="2896142"/>
            <a:ext cx="3704549" cy="1200328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que los punteros a nivel de hoja serán a la data (registros/tuplas/filas).  </a:t>
            </a:r>
            <a:endParaRPr/>
          </a:p>
        </p:txBody>
      </p:sp>
      <p:cxnSp>
        <p:nvCxnSpPr>
          <p:cNvPr id="560" name="Google Shape;560;p39"/>
          <p:cNvCxnSpPr/>
          <p:nvPr/>
        </p:nvCxnSpPr>
        <p:spPr>
          <a:xfrm flipH="1" rot="10800000">
            <a:off x="4071258" y="4492855"/>
            <a:ext cx="838200" cy="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561" name="Google Shape;561;p39"/>
          <p:cNvCxnSpPr/>
          <p:nvPr/>
        </p:nvCxnSpPr>
        <p:spPr>
          <a:xfrm>
            <a:off x="1279022" y="4492854"/>
            <a:ext cx="754906" cy="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562" name="Google Shape;562;p39"/>
          <p:cNvCxnSpPr/>
          <p:nvPr/>
        </p:nvCxnSpPr>
        <p:spPr>
          <a:xfrm>
            <a:off x="0" y="4492853"/>
            <a:ext cx="462301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563" name="Google Shape;563;p39"/>
          <p:cNvCxnSpPr>
            <a:endCxn id="564" idx="0"/>
          </p:cNvCxnSpPr>
          <p:nvPr/>
        </p:nvCxnSpPr>
        <p:spPr>
          <a:xfrm flipH="1">
            <a:off x="1803364" y="4535537"/>
            <a:ext cx="306600" cy="127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4" name="Google Shape;564;p39"/>
          <p:cNvSpPr txBox="1"/>
          <p:nvPr/>
        </p:nvSpPr>
        <p:spPr>
          <a:xfrm>
            <a:off x="1279022" y="5814137"/>
            <a:ext cx="1048685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John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21</a:t>
            </a:r>
            <a:endParaRPr/>
          </a:p>
        </p:txBody>
      </p:sp>
      <p:cxnSp>
        <p:nvCxnSpPr>
          <p:cNvPr id="565" name="Google Shape;565;p39"/>
          <p:cNvCxnSpPr>
            <a:endCxn id="566" idx="0"/>
          </p:cNvCxnSpPr>
          <p:nvPr/>
        </p:nvCxnSpPr>
        <p:spPr>
          <a:xfrm>
            <a:off x="919444" y="4499735"/>
            <a:ext cx="127200" cy="64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7" name="Google Shape;567;p39"/>
          <p:cNvCxnSpPr>
            <a:endCxn id="568" idx="0"/>
          </p:cNvCxnSpPr>
          <p:nvPr/>
        </p:nvCxnSpPr>
        <p:spPr>
          <a:xfrm>
            <a:off x="3072356" y="4517837"/>
            <a:ext cx="202500" cy="1296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9" name="Google Shape;569;p39"/>
          <p:cNvCxnSpPr>
            <a:endCxn id="570" idx="0"/>
          </p:cNvCxnSpPr>
          <p:nvPr/>
        </p:nvCxnSpPr>
        <p:spPr>
          <a:xfrm>
            <a:off x="3664702" y="4578400"/>
            <a:ext cx="411900" cy="567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1" name="Google Shape;571;p39"/>
          <p:cNvCxnSpPr>
            <a:endCxn id="572" idx="0"/>
          </p:cNvCxnSpPr>
          <p:nvPr/>
        </p:nvCxnSpPr>
        <p:spPr>
          <a:xfrm>
            <a:off x="5375723" y="4492900"/>
            <a:ext cx="137100" cy="652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39"/>
          <p:cNvCxnSpPr/>
          <p:nvPr/>
        </p:nvCxnSpPr>
        <p:spPr>
          <a:xfrm>
            <a:off x="5942282" y="4492855"/>
            <a:ext cx="840247" cy="105967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4" name="Google Shape;574;p39"/>
          <p:cNvCxnSpPr/>
          <p:nvPr/>
        </p:nvCxnSpPr>
        <p:spPr>
          <a:xfrm>
            <a:off x="6437288" y="4499817"/>
            <a:ext cx="1508001" cy="105271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6" name="Google Shape;566;p39"/>
          <p:cNvSpPr txBox="1"/>
          <p:nvPr/>
        </p:nvSpPr>
        <p:spPr>
          <a:xfrm>
            <a:off x="538011" y="5148335"/>
            <a:ext cx="1017266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Jake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15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2777764" y="5814137"/>
            <a:ext cx="994183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27</a:t>
            </a:r>
            <a:endParaRPr/>
          </a:p>
        </p:txBody>
      </p:sp>
      <p:sp>
        <p:nvSpPr>
          <p:cNvPr id="570" name="Google Shape;570;p39"/>
          <p:cNvSpPr txBox="1"/>
          <p:nvPr/>
        </p:nvSpPr>
        <p:spPr>
          <a:xfrm>
            <a:off x="3556267" y="5145700"/>
            <a:ext cx="1040670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Sally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28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5026152" y="5145700"/>
            <a:ext cx="973343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Sue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33</a:t>
            </a:r>
            <a:endParaRPr/>
          </a:p>
        </p:txBody>
      </p:sp>
      <p:sp>
        <p:nvSpPr>
          <p:cNvPr id="575" name="Google Shape;575;p39"/>
          <p:cNvSpPr txBox="1"/>
          <p:nvPr/>
        </p:nvSpPr>
        <p:spPr>
          <a:xfrm>
            <a:off x="6246998" y="5552527"/>
            <a:ext cx="995785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Jess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35</a:t>
            </a:r>
            <a:endParaRPr/>
          </a:p>
        </p:txBody>
      </p:sp>
      <p:sp>
        <p:nvSpPr>
          <p:cNvPr id="576" name="Google Shape;576;p39"/>
          <p:cNvSpPr txBox="1"/>
          <p:nvPr/>
        </p:nvSpPr>
        <p:spPr>
          <a:xfrm>
            <a:off x="7409758" y="5552527"/>
            <a:ext cx="907621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Alf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37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58463" y="5814137"/>
            <a:ext cx="949299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Joe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11</a:t>
            </a:r>
            <a:endParaRPr/>
          </a:p>
        </p:txBody>
      </p:sp>
      <p:cxnSp>
        <p:nvCxnSpPr>
          <p:cNvPr id="578" name="Google Shape;578;p39"/>
          <p:cNvCxnSpPr>
            <a:endCxn id="577" idx="0"/>
          </p:cNvCxnSpPr>
          <p:nvPr/>
        </p:nvCxnSpPr>
        <p:spPr>
          <a:xfrm>
            <a:off x="479713" y="4499837"/>
            <a:ext cx="53400" cy="1314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9" name="Google Shape;579;p39"/>
          <p:cNvSpPr txBox="1"/>
          <p:nvPr/>
        </p:nvSpPr>
        <p:spPr>
          <a:xfrm>
            <a:off x="1901644" y="5148335"/>
            <a:ext cx="1035861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Bess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22</a:t>
            </a:r>
            <a:endParaRPr/>
          </a:p>
        </p:txBody>
      </p:sp>
      <p:cxnSp>
        <p:nvCxnSpPr>
          <p:cNvPr id="580" name="Google Shape;580;p39"/>
          <p:cNvCxnSpPr>
            <a:endCxn id="579" idx="0"/>
          </p:cNvCxnSpPr>
          <p:nvPr/>
        </p:nvCxnSpPr>
        <p:spPr>
          <a:xfrm flipH="1">
            <a:off x="2419574" y="4517735"/>
            <a:ext cx="105600" cy="630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39"/>
          <p:cNvSpPr txBox="1"/>
          <p:nvPr/>
        </p:nvSpPr>
        <p:spPr>
          <a:xfrm>
            <a:off x="4324802" y="5814137"/>
            <a:ext cx="917239" cy="523220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Sal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Age: 30</a:t>
            </a:r>
            <a:endParaRPr/>
          </a:p>
        </p:txBody>
      </p:sp>
      <p:cxnSp>
        <p:nvCxnSpPr>
          <p:cNvPr id="582" name="Google Shape;582;p39"/>
          <p:cNvCxnSpPr>
            <a:endCxn id="581" idx="0"/>
          </p:cNvCxnSpPr>
          <p:nvPr/>
        </p:nvCxnSpPr>
        <p:spPr>
          <a:xfrm flipH="1">
            <a:off x="4783421" y="4517837"/>
            <a:ext cx="142200" cy="1296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3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</a:t>
            </a:r>
            <a:endParaRPr/>
          </a:p>
        </p:txBody>
      </p:sp>
      <p:sp>
        <p:nvSpPr>
          <p:cNvPr id="584" name="Google Shape;584;p39"/>
          <p:cNvSpPr txBox="1"/>
          <p:nvPr/>
        </p:nvSpPr>
        <p:spPr>
          <a:xfrm>
            <a:off x="5787092" y="3521141"/>
            <a:ext cx="1339955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hojas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9"/>
          <p:cNvSpPr txBox="1"/>
          <p:nvPr/>
        </p:nvSpPr>
        <p:spPr>
          <a:xfrm>
            <a:off x="1667394" y="1939373"/>
            <a:ext cx="2646878" cy="369332"/>
          </a:xfrm>
          <a:prstGeom prst="rect">
            <a:avLst/>
          </a:prstGeom>
          <a:solidFill>
            <a:srgbClr val="ECF8F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No-hojas o nodos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0" name="Google Shape;590;p40"/>
          <p:cNvGraphicFramePr/>
          <p:nvPr/>
        </p:nvGraphicFramePr>
        <p:xfrm>
          <a:off x="6096000" y="2259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98450"/>
                <a:gridCol w="246075"/>
                <a:gridCol w="249225"/>
                <a:gridCol w="247650"/>
                <a:gridCol w="298450"/>
                <a:gridCol w="249250"/>
                <a:gridCol w="246050"/>
                <a:gridCol w="29845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80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40"/>
          <p:cNvGraphicFramePr/>
          <p:nvPr/>
        </p:nvGraphicFramePr>
        <p:xfrm>
          <a:off x="4267200" y="317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98450"/>
                <a:gridCol w="246075"/>
                <a:gridCol w="249225"/>
                <a:gridCol w="247650"/>
                <a:gridCol w="298450"/>
                <a:gridCol w="249250"/>
                <a:gridCol w="246050"/>
                <a:gridCol w="29845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40"/>
          <p:cNvGraphicFramePr/>
          <p:nvPr/>
        </p:nvGraphicFramePr>
        <p:xfrm>
          <a:off x="7696200" y="317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98450"/>
                <a:gridCol w="246075"/>
                <a:gridCol w="249225"/>
                <a:gridCol w="247650"/>
                <a:gridCol w="298450"/>
                <a:gridCol w="249250"/>
                <a:gridCol w="246050"/>
                <a:gridCol w="29845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3" name="Google Shape;593;p40"/>
          <p:cNvGraphicFramePr/>
          <p:nvPr/>
        </p:nvGraphicFramePr>
        <p:xfrm>
          <a:off x="3352800" y="4621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23850"/>
                <a:gridCol w="185725"/>
                <a:gridCol w="185750"/>
                <a:gridCol w="185725"/>
                <a:gridCol w="223850"/>
                <a:gridCol w="185725"/>
                <a:gridCol w="185750"/>
                <a:gridCol w="223825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4" name="Google Shape;594;p40"/>
          <p:cNvGraphicFramePr/>
          <p:nvPr/>
        </p:nvGraphicFramePr>
        <p:xfrm>
          <a:off x="5181600" y="4621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23850"/>
                <a:gridCol w="185725"/>
                <a:gridCol w="185750"/>
                <a:gridCol w="185725"/>
                <a:gridCol w="223850"/>
                <a:gridCol w="185725"/>
                <a:gridCol w="185750"/>
                <a:gridCol w="223825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5" name="Google Shape;595;p40"/>
          <p:cNvGraphicFramePr/>
          <p:nvPr/>
        </p:nvGraphicFramePr>
        <p:xfrm>
          <a:off x="6934200" y="4621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23850"/>
                <a:gridCol w="185725"/>
                <a:gridCol w="185750"/>
                <a:gridCol w="185725"/>
                <a:gridCol w="223850"/>
                <a:gridCol w="185725"/>
                <a:gridCol w="185750"/>
                <a:gridCol w="223825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60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65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6" name="Google Shape;596;p40"/>
          <p:cNvGraphicFramePr/>
          <p:nvPr/>
        </p:nvGraphicFramePr>
        <p:xfrm>
          <a:off x="8686800" y="4621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23850"/>
                <a:gridCol w="185725"/>
                <a:gridCol w="185750"/>
                <a:gridCol w="185725"/>
                <a:gridCol w="223850"/>
                <a:gridCol w="185725"/>
                <a:gridCol w="185750"/>
                <a:gridCol w="223825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80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85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90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597" name="Google Shape;597;p40"/>
          <p:cNvCxnSpPr/>
          <p:nvPr/>
        </p:nvCxnSpPr>
        <p:spPr>
          <a:xfrm flipH="1">
            <a:off x="4267200" y="2792413"/>
            <a:ext cx="19812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40"/>
          <p:cNvCxnSpPr/>
          <p:nvPr/>
        </p:nvCxnSpPr>
        <p:spPr>
          <a:xfrm>
            <a:off x="6629400" y="2792413"/>
            <a:ext cx="10668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40"/>
          <p:cNvCxnSpPr/>
          <p:nvPr/>
        </p:nvCxnSpPr>
        <p:spPr>
          <a:xfrm flipH="1">
            <a:off x="3352800" y="3706813"/>
            <a:ext cx="1066800" cy="914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40"/>
          <p:cNvCxnSpPr/>
          <p:nvPr/>
        </p:nvCxnSpPr>
        <p:spPr>
          <a:xfrm>
            <a:off x="4800600" y="3706813"/>
            <a:ext cx="381000" cy="914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40"/>
          <p:cNvCxnSpPr/>
          <p:nvPr/>
        </p:nvCxnSpPr>
        <p:spPr>
          <a:xfrm>
            <a:off x="5257800" y="3706813"/>
            <a:ext cx="1676400" cy="914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40"/>
          <p:cNvCxnSpPr/>
          <p:nvPr/>
        </p:nvCxnSpPr>
        <p:spPr>
          <a:xfrm>
            <a:off x="7848600" y="3706813"/>
            <a:ext cx="838200" cy="914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40"/>
          <p:cNvCxnSpPr/>
          <p:nvPr/>
        </p:nvCxnSpPr>
        <p:spPr>
          <a:xfrm>
            <a:off x="4876800" y="5154613"/>
            <a:ext cx="3048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40"/>
          <p:cNvCxnSpPr/>
          <p:nvPr/>
        </p:nvCxnSpPr>
        <p:spPr>
          <a:xfrm>
            <a:off x="6629400" y="5154613"/>
            <a:ext cx="3048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40"/>
          <p:cNvCxnSpPr/>
          <p:nvPr/>
        </p:nvCxnSpPr>
        <p:spPr>
          <a:xfrm>
            <a:off x="8458200" y="5154613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40"/>
          <p:cNvSpPr/>
          <p:nvPr/>
        </p:nvSpPr>
        <p:spPr>
          <a:xfrm>
            <a:off x="3189198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07" name="Google Shape;607;p40"/>
          <p:cNvSpPr/>
          <p:nvPr/>
        </p:nvSpPr>
        <p:spPr>
          <a:xfrm>
            <a:off x="38882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608" name="Google Shape;608;p40"/>
          <p:cNvSpPr/>
          <p:nvPr/>
        </p:nvSpPr>
        <p:spPr>
          <a:xfrm>
            <a:off x="44216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609" name="Google Shape;609;p40"/>
          <p:cNvSpPr/>
          <p:nvPr/>
        </p:nvSpPr>
        <p:spPr>
          <a:xfrm>
            <a:off x="5031233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10" name="Google Shape;610;p40"/>
          <p:cNvSpPr/>
          <p:nvPr/>
        </p:nvSpPr>
        <p:spPr>
          <a:xfrm>
            <a:off x="56408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611" name="Google Shape;611;p40"/>
          <p:cNvSpPr/>
          <p:nvPr/>
        </p:nvSpPr>
        <p:spPr>
          <a:xfrm>
            <a:off x="60980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612" name="Google Shape;612;p40"/>
          <p:cNvSpPr/>
          <p:nvPr/>
        </p:nvSpPr>
        <p:spPr>
          <a:xfrm>
            <a:off x="66314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613" name="Google Shape;613;p40"/>
          <p:cNvSpPr/>
          <p:nvPr/>
        </p:nvSpPr>
        <p:spPr>
          <a:xfrm>
            <a:off x="70886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/>
          </a:p>
        </p:txBody>
      </p:sp>
      <p:sp>
        <p:nvSpPr>
          <p:cNvPr id="614" name="Google Shape;614;p40"/>
          <p:cNvSpPr/>
          <p:nvPr/>
        </p:nvSpPr>
        <p:spPr>
          <a:xfrm>
            <a:off x="75458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</p:txBody>
      </p:sp>
      <p:sp>
        <p:nvSpPr>
          <p:cNvPr id="615" name="Google Shape;615;p40"/>
          <p:cNvSpPr/>
          <p:nvPr/>
        </p:nvSpPr>
        <p:spPr>
          <a:xfrm>
            <a:off x="8003033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616" name="Google Shape;616;p40"/>
          <p:cNvSpPr/>
          <p:nvPr/>
        </p:nvSpPr>
        <p:spPr>
          <a:xfrm>
            <a:off x="85364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617" name="Google Shape;617;p40"/>
          <p:cNvSpPr/>
          <p:nvPr/>
        </p:nvSpPr>
        <p:spPr>
          <a:xfrm>
            <a:off x="9069834" y="5996088"/>
            <a:ext cx="367408" cy="3077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/>
          </a:p>
        </p:txBody>
      </p:sp>
      <p:cxnSp>
        <p:nvCxnSpPr>
          <p:cNvPr id="618" name="Google Shape;618;p40"/>
          <p:cNvCxnSpPr/>
          <p:nvPr/>
        </p:nvCxnSpPr>
        <p:spPr>
          <a:xfrm flipH="1">
            <a:off x="3352800" y="5154613"/>
            <a:ext cx="1524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40"/>
          <p:cNvCxnSpPr/>
          <p:nvPr/>
        </p:nvCxnSpPr>
        <p:spPr>
          <a:xfrm>
            <a:off x="3810000" y="5154613"/>
            <a:ext cx="762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40"/>
          <p:cNvCxnSpPr/>
          <p:nvPr/>
        </p:nvCxnSpPr>
        <p:spPr>
          <a:xfrm>
            <a:off x="4191000" y="5154613"/>
            <a:ext cx="2286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40"/>
          <p:cNvCxnSpPr/>
          <p:nvPr/>
        </p:nvCxnSpPr>
        <p:spPr>
          <a:xfrm flipH="1">
            <a:off x="5029200" y="5154613"/>
            <a:ext cx="3048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40"/>
          <p:cNvCxnSpPr/>
          <p:nvPr/>
        </p:nvCxnSpPr>
        <p:spPr>
          <a:xfrm>
            <a:off x="5638799" y="5154613"/>
            <a:ext cx="15239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40"/>
          <p:cNvCxnSpPr/>
          <p:nvPr/>
        </p:nvCxnSpPr>
        <p:spPr>
          <a:xfrm>
            <a:off x="5943600" y="5154613"/>
            <a:ext cx="1524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40"/>
          <p:cNvCxnSpPr/>
          <p:nvPr/>
        </p:nvCxnSpPr>
        <p:spPr>
          <a:xfrm>
            <a:off x="6324600" y="5154613"/>
            <a:ext cx="3048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40"/>
          <p:cNvCxnSpPr/>
          <p:nvPr/>
        </p:nvCxnSpPr>
        <p:spPr>
          <a:xfrm>
            <a:off x="7086600" y="5154613"/>
            <a:ext cx="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40"/>
          <p:cNvCxnSpPr/>
          <p:nvPr/>
        </p:nvCxnSpPr>
        <p:spPr>
          <a:xfrm>
            <a:off x="7315200" y="5078413"/>
            <a:ext cx="228600" cy="914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40"/>
          <p:cNvCxnSpPr/>
          <p:nvPr/>
        </p:nvCxnSpPr>
        <p:spPr>
          <a:xfrm flipH="1">
            <a:off x="8001000" y="5154613"/>
            <a:ext cx="8382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40"/>
          <p:cNvCxnSpPr/>
          <p:nvPr/>
        </p:nvCxnSpPr>
        <p:spPr>
          <a:xfrm flipH="1">
            <a:off x="8534400" y="5154613"/>
            <a:ext cx="6096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40"/>
          <p:cNvCxnSpPr/>
          <p:nvPr/>
        </p:nvCxnSpPr>
        <p:spPr>
          <a:xfrm flipH="1">
            <a:off x="9067800" y="5154613"/>
            <a:ext cx="45720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40"/>
          <p:cNvCxnSpPr/>
          <p:nvPr/>
        </p:nvCxnSpPr>
        <p:spPr>
          <a:xfrm>
            <a:off x="10210800" y="5154613"/>
            <a:ext cx="3048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40"/>
          <p:cNvSpPr txBox="1"/>
          <p:nvPr/>
        </p:nvSpPr>
        <p:spPr>
          <a:xfrm>
            <a:off x="9366904" y="636314"/>
            <a:ext cx="2286000" cy="523220"/>
          </a:xfrm>
          <a:prstGeom prst="rect">
            <a:avLst/>
          </a:prstGeom>
          <a:solidFill>
            <a:srgbClr val="D3E8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in [30,85]?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491157" y="2081086"/>
            <a:ext cx="1441589" cy="553998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&lt; 80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491157" y="3025482"/>
            <a:ext cx="2362200" cy="553998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en [20,60)</a:t>
            </a:r>
            <a:endParaRPr/>
          </a:p>
        </p:txBody>
      </p:sp>
      <p:sp>
        <p:nvSpPr>
          <p:cNvPr id="634" name="Google Shape;634;p40"/>
          <p:cNvSpPr txBox="1"/>
          <p:nvPr/>
        </p:nvSpPr>
        <p:spPr>
          <a:xfrm>
            <a:off x="491157" y="5899152"/>
            <a:ext cx="2065683" cy="553998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 data!</a:t>
            </a:r>
            <a:endParaRPr/>
          </a:p>
        </p:txBody>
      </p:sp>
      <p:sp>
        <p:nvSpPr>
          <p:cNvPr id="635" name="Google Shape;635;p40"/>
          <p:cNvSpPr txBox="1"/>
          <p:nvPr/>
        </p:nvSpPr>
        <p:spPr>
          <a:xfrm>
            <a:off x="10002157" y="5664705"/>
            <a:ext cx="21898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todos los nodes están en la imagen…</a:t>
            </a:r>
            <a:endParaRPr/>
          </a:p>
        </p:txBody>
      </p:sp>
      <p:sp>
        <p:nvSpPr>
          <p:cNvPr id="636" name="Google Shape;636;p40"/>
          <p:cNvSpPr txBox="1"/>
          <p:nvPr/>
        </p:nvSpPr>
        <p:spPr>
          <a:xfrm>
            <a:off x="491157" y="4441224"/>
            <a:ext cx="2362200" cy="553998"/>
          </a:xfrm>
          <a:prstGeom prst="rect">
            <a:avLst/>
          </a:prstGeom>
          <a:solidFill>
            <a:srgbClr val="D8F1EA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en [30,40)</a:t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6134100" y="1636042"/>
            <a:ext cx="533400" cy="533400"/>
          </a:xfrm>
          <a:prstGeom prst="smileyFace">
            <a:avLst>
              <a:gd fmla="val 4653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7366000" y="1312523"/>
            <a:ext cx="482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Cuántas I/O realiza nuestro amigo?</a:t>
            </a:r>
            <a:endParaRPr/>
          </a:p>
        </p:txBody>
      </p:sp>
      <p:sp>
        <p:nvSpPr>
          <p:cNvPr id="639" name="Google Shape;639;p40"/>
          <p:cNvSpPr txBox="1"/>
          <p:nvPr/>
        </p:nvSpPr>
        <p:spPr>
          <a:xfrm>
            <a:off x="8763000" y="1847162"/>
            <a:ext cx="3048000" cy="830997"/>
          </a:xfrm>
          <a:prstGeom prst="rect">
            <a:avLst/>
          </a:prstGeom>
          <a:solidFill>
            <a:srgbClr val="DFECE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 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la data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está arreglada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214884" y="183904"/>
            <a:ext cx="6421094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B+ TREE búsqueda</a:t>
            </a:r>
            <a:endParaRPr b="1" sz="4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b="1" lang="en-U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6.6. CLUSTERED vs UNCLUSTERED</a:t>
            </a:r>
            <a:endParaRPr/>
          </a:p>
        </p:txBody>
      </p:sp>
      <p:sp>
        <p:nvSpPr>
          <p:cNvPr id="646" name="Google Shape;646;p4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TRANSACCIONES E INDEXAMIENTO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2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Clustered Indexes</a:t>
            </a:r>
            <a:endParaRPr/>
          </a:p>
        </p:txBody>
      </p:sp>
      <p:sp>
        <p:nvSpPr>
          <p:cNvPr id="658" name="Google Shape;658;p42"/>
          <p:cNvSpPr/>
          <p:nvPr/>
        </p:nvSpPr>
        <p:spPr>
          <a:xfrm>
            <a:off x="1743618" y="2767281"/>
            <a:ext cx="867015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índice está </a:t>
            </a:r>
            <a:r>
              <a:rPr b="1" i="1"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clusterizado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la data es ordenada de la misma forma que la entrada de datos del índice.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Clustered vs. Unclustered Index</a:t>
            </a:r>
            <a:endParaRPr/>
          </a:p>
        </p:txBody>
      </p:sp>
      <p:graphicFrame>
        <p:nvGraphicFramePr>
          <p:cNvPr id="665" name="Google Shape;665;p43"/>
          <p:cNvGraphicFramePr/>
          <p:nvPr/>
        </p:nvGraphicFramePr>
        <p:xfrm>
          <a:off x="2239669" y="198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587575"/>
                <a:gridCol w="57265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6" name="Google Shape;666;p43"/>
          <p:cNvCxnSpPr/>
          <p:nvPr/>
        </p:nvCxnSpPr>
        <p:spPr>
          <a:xfrm flipH="1">
            <a:off x="1758552" y="2478279"/>
            <a:ext cx="854700" cy="893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67" name="Google Shape;667;p43"/>
          <p:cNvGraphicFramePr/>
          <p:nvPr/>
        </p:nvGraphicFramePr>
        <p:xfrm>
          <a:off x="903697" y="33713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39125"/>
                <a:gridCol w="198425"/>
                <a:gridCol w="198425"/>
                <a:gridCol w="198425"/>
                <a:gridCol w="239125"/>
                <a:gridCol w="198425"/>
                <a:gridCol w="198425"/>
                <a:gridCol w="2391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8" name="Google Shape;668;p43"/>
          <p:cNvGraphicFramePr/>
          <p:nvPr/>
        </p:nvGraphicFramePr>
        <p:xfrm>
          <a:off x="3029482" y="3360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40400"/>
                <a:gridCol w="199475"/>
                <a:gridCol w="199475"/>
                <a:gridCol w="199475"/>
                <a:gridCol w="240400"/>
                <a:gridCol w="199475"/>
                <a:gridCol w="199475"/>
                <a:gridCol w="2404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669" name="Google Shape;669;p43"/>
          <p:cNvCxnSpPr/>
          <p:nvPr/>
        </p:nvCxnSpPr>
        <p:spPr>
          <a:xfrm>
            <a:off x="3094447" y="2478279"/>
            <a:ext cx="794400" cy="882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0" name="Google Shape;670;p43"/>
          <p:cNvCxnSpPr>
            <a:endCxn id="671" idx="0"/>
          </p:cNvCxnSpPr>
          <p:nvPr/>
        </p:nvCxnSpPr>
        <p:spPr>
          <a:xfrm flipH="1">
            <a:off x="827883" y="3888532"/>
            <a:ext cx="176100" cy="640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1" name="Google Shape;671;p43"/>
          <p:cNvSpPr txBox="1"/>
          <p:nvPr/>
        </p:nvSpPr>
        <p:spPr>
          <a:xfrm>
            <a:off x="618531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672" name="Google Shape;672;p43"/>
          <p:cNvCxnSpPr>
            <a:endCxn id="673" idx="0"/>
          </p:cNvCxnSpPr>
          <p:nvPr/>
        </p:nvCxnSpPr>
        <p:spPr>
          <a:xfrm>
            <a:off x="1337492" y="3896932"/>
            <a:ext cx="58200" cy="63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3" name="Google Shape;673;p43"/>
          <p:cNvSpPr txBox="1"/>
          <p:nvPr/>
        </p:nvSpPr>
        <p:spPr>
          <a:xfrm>
            <a:off x="1186340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cxnSp>
        <p:nvCxnSpPr>
          <p:cNvPr id="674" name="Google Shape;674;p43"/>
          <p:cNvCxnSpPr>
            <a:endCxn id="675" idx="0"/>
          </p:cNvCxnSpPr>
          <p:nvPr/>
        </p:nvCxnSpPr>
        <p:spPr>
          <a:xfrm>
            <a:off x="1765801" y="3896764"/>
            <a:ext cx="197700" cy="640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5" name="Google Shape;675;p43"/>
          <p:cNvSpPr txBox="1"/>
          <p:nvPr/>
        </p:nvSpPr>
        <p:spPr>
          <a:xfrm>
            <a:off x="1754149" y="4537564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cxnSp>
        <p:nvCxnSpPr>
          <p:cNvPr id="676" name="Google Shape;676;p43"/>
          <p:cNvCxnSpPr>
            <a:endCxn id="677" idx="0"/>
          </p:cNvCxnSpPr>
          <p:nvPr/>
        </p:nvCxnSpPr>
        <p:spPr>
          <a:xfrm>
            <a:off x="2178810" y="3896695"/>
            <a:ext cx="352500" cy="63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7" name="Google Shape;677;p43"/>
          <p:cNvSpPr txBox="1"/>
          <p:nvPr/>
        </p:nvSpPr>
        <p:spPr>
          <a:xfrm>
            <a:off x="2321958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cxnSp>
        <p:nvCxnSpPr>
          <p:cNvPr id="678" name="Google Shape;678;p43"/>
          <p:cNvCxnSpPr>
            <a:endCxn id="679" idx="0"/>
          </p:cNvCxnSpPr>
          <p:nvPr/>
        </p:nvCxnSpPr>
        <p:spPr>
          <a:xfrm flipH="1">
            <a:off x="3099119" y="3984295"/>
            <a:ext cx="69600" cy="55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9" name="Google Shape;679;p43"/>
          <p:cNvSpPr txBox="1"/>
          <p:nvPr/>
        </p:nvSpPr>
        <p:spPr>
          <a:xfrm>
            <a:off x="2889767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680" name="Google Shape;680;p43"/>
          <p:cNvCxnSpPr>
            <a:endCxn id="681" idx="0"/>
          </p:cNvCxnSpPr>
          <p:nvPr/>
        </p:nvCxnSpPr>
        <p:spPr>
          <a:xfrm>
            <a:off x="3478228" y="3895795"/>
            <a:ext cx="188700" cy="640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43"/>
          <p:cNvSpPr txBox="1"/>
          <p:nvPr/>
        </p:nvSpPr>
        <p:spPr>
          <a:xfrm>
            <a:off x="3457576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cxnSp>
        <p:nvCxnSpPr>
          <p:cNvPr id="682" name="Google Shape;682;p43"/>
          <p:cNvCxnSpPr>
            <a:endCxn id="683" idx="0"/>
          </p:cNvCxnSpPr>
          <p:nvPr/>
        </p:nvCxnSpPr>
        <p:spPr>
          <a:xfrm>
            <a:off x="3884337" y="3895795"/>
            <a:ext cx="350400" cy="640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3" name="Google Shape;683;p43"/>
          <p:cNvSpPr txBox="1"/>
          <p:nvPr/>
        </p:nvSpPr>
        <p:spPr>
          <a:xfrm>
            <a:off x="4025385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cxnSp>
        <p:nvCxnSpPr>
          <p:cNvPr id="684" name="Google Shape;684;p43"/>
          <p:cNvCxnSpPr>
            <a:endCxn id="685" idx="0"/>
          </p:cNvCxnSpPr>
          <p:nvPr/>
        </p:nvCxnSpPr>
        <p:spPr>
          <a:xfrm>
            <a:off x="4242745" y="3887932"/>
            <a:ext cx="559800" cy="64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5" name="Google Shape;685;p43"/>
          <p:cNvSpPr txBox="1"/>
          <p:nvPr/>
        </p:nvSpPr>
        <p:spPr>
          <a:xfrm>
            <a:off x="4593193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cxnSp>
        <p:nvCxnSpPr>
          <p:cNvPr id="686" name="Google Shape;686;p43"/>
          <p:cNvCxnSpPr/>
          <p:nvPr/>
        </p:nvCxnSpPr>
        <p:spPr>
          <a:xfrm flipH="1" rot="10800000">
            <a:off x="2447323" y="3888538"/>
            <a:ext cx="764586" cy="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graphicFrame>
        <p:nvGraphicFramePr>
          <p:cNvPr id="687" name="Google Shape;687;p43"/>
          <p:cNvGraphicFramePr/>
          <p:nvPr/>
        </p:nvGraphicFramePr>
        <p:xfrm>
          <a:off x="8610782" y="198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587575"/>
                <a:gridCol w="57265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88" name="Google Shape;688;p43"/>
          <p:cNvCxnSpPr/>
          <p:nvPr/>
        </p:nvCxnSpPr>
        <p:spPr>
          <a:xfrm flipH="1">
            <a:off x="8129665" y="2478279"/>
            <a:ext cx="854700" cy="893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689" name="Google Shape;689;p43"/>
          <p:cNvGraphicFramePr/>
          <p:nvPr/>
        </p:nvGraphicFramePr>
        <p:xfrm>
          <a:off x="7274810" y="33713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39125"/>
                <a:gridCol w="198425"/>
                <a:gridCol w="198425"/>
                <a:gridCol w="198425"/>
                <a:gridCol w="239125"/>
                <a:gridCol w="198425"/>
                <a:gridCol w="198425"/>
                <a:gridCol w="239125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0" name="Google Shape;690;p43"/>
          <p:cNvGraphicFramePr/>
          <p:nvPr/>
        </p:nvGraphicFramePr>
        <p:xfrm>
          <a:off x="9400595" y="3360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{5AEA74F7-5DE0-4762-AB82-46BA7FE2A33F}</a:tableStyleId>
              </a:tblPr>
              <a:tblGrid>
                <a:gridCol w="240400"/>
                <a:gridCol w="199475"/>
                <a:gridCol w="199475"/>
                <a:gridCol w="199475"/>
                <a:gridCol w="240400"/>
                <a:gridCol w="199475"/>
                <a:gridCol w="199475"/>
                <a:gridCol w="240400"/>
              </a:tblGrid>
              <a:tr h="359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C"/>
                    </a:solidFill>
                  </a:tcPr>
                </a:tc>
              </a:tr>
            </a:tbl>
          </a:graphicData>
        </a:graphic>
      </p:graphicFrame>
      <p:cxnSp>
        <p:nvCxnSpPr>
          <p:cNvPr id="691" name="Google Shape;691;p43"/>
          <p:cNvCxnSpPr>
            <a:endCxn id="692" idx="0"/>
          </p:cNvCxnSpPr>
          <p:nvPr/>
        </p:nvCxnSpPr>
        <p:spPr>
          <a:xfrm>
            <a:off x="8112314" y="3920164"/>
            <a:ext cx="222300" cy="617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3" name="Google Shape;693;p43"/>
          <p:cNvSpPr txBox="1"/>
          <p:nvPr/>
        </p:nvSpPr>
        <p:spPr>
          <a:xfrm>
            <a:off x="6989644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694" name="Google Shape;694;p43"/>
          <p:cNvCxnSpPr>
            <a:endCxn id="695" idx="0"/>
          </p:cNvCxnSpPr>
          <p:nvPr/>
        </p:nvCxnSpPr>
        <p:spPr>
          <a:xfrm flipH="1">
            <a:off x="9455520" y="3920307"/>
            <a:ext cx="1225800" cy="607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6" name="Google Shape;696;p43"/>
          <p:cNvSpPr txBox="1"/>
          <p:nvPr/>
        </p:nvSpPr>
        <p:spPr>
          <a:xfrm>
            <a:off x="8701051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cxnSp>
        <p:nvCxnSpPr>
          <p:cNvPr id="697" name="Google Shape;697;p43"/>
          <p:cNvCxnSpPr>
            <a:endCxn id="693" idx="0"/>
          </p:cNvCxnSpPr>
          <p:nvPr/>
        </p:nvCxnSpPr>
        <p:spPr>
          <a:xfrm flipH="1">
            <a:off x="7198996" y="3903532"/>
            <a:ext cx="187800" cy="625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p43"/>
          <p:cNvSpPr txBox="1"/>
          <p:nvPr/>
        </p:nvSpPr>
        <p:spPr>
          <a:xfrm>
            <a:off x="8125262" y="4537564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cxnSp>
        <p:nvCxnSpPr>
          <p:cNvPr id="698" name="Google Shape;698;p43"/>
          <p:cNvCxnSpPr>
            <a:endCxn id="699" idx="0"/>
          </p:cNvCxnSpPr>
          <p:nvPr/>
        </p:nvCxnSpPr>
        <p:spPr>
          <a:xfrm>
            <a:off x="8549953" y="3896680"/>
            <a:ext cx="1459200" cy="6453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9" name="Google Shape;699;p43"/>
          <p:cNvSpPr txBox="1"/>
          <p:nvPr/>
        </p:nvSpPr>
        <p:spPr>
          <a:xfrm>
            <a:off x="9799801" y="4541980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cxnSp>
        <p:nvCxnSpPr>
          <p:cNvPr id="700" name="Google Shape;700;p43"/>
          <p:cNvCxnSpPr>
            <a:endCxn id="696" idx="0"/>
          </p:cNvCxnSpPr>
          <p:nvPr/>
        </p:nvCxnSpPr>
        <p:spPr>
          <a:xfrm>
            <a:off x="7697203" y="3920032"/>
            <a:ext cx="1213200" cy="6093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1" name="Google Shape;701;p43"/>
          <p:cNvSpPr txBox="1"/>
          <p:nvPr/>
        </p:nvSpPr>
        <p:spPr>
          <a:xfrm>
            <a:off x="10935096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702" name="Google Shape;702;p43"/>
          <p:cNvCxnSpPr>
            <a:endCxn id="703" idx="0"/>
          </p:cNvCxnSpPr>
          <p:nvPr/>
        </p:nvCxnSpPr>
        <p:spPr>
          <a:xfrm flipH="1">
            <a:off x="7737917" y="3895732"/>
            <a:ext cx="2111400" cy="6336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3" name="Google Shape;703;p43"/>
          <p:cNvSpPr txBox="1"/>
          <p:nvPr/>
        </p:nvSpPr>
        <p:spPr>
          <a:xfrm>
            <a:off x="7528565" y="4529332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cxnSp>
        <p:nvCxnSpPr>
          <p:cNvPr id="704" name="Google Shape;704;p43"/>
          <p:cNvCxnSpPr/>
          <p:nvPr/>
        </p:nvCxnSpPr>
        <p:spPr>
          <a:xfrm>
            <a:off x="10255373" y="3895856"/>
            <a:ext cx="350477" cy="640439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5" name="Google Shape;705;p43"/>
          <p:cNvSpPr txBox="1"/>
          <p:nvPr/>
        </p:nvSpPr>
        <p:spPr>
          <a:xfrm>
            <a:off x="10396498" y="4536295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cxnSp>
        <p:nvCxnSpPr>
          <p:cNvPr id="706" name="Google Shape;706;p43"/>
          <p:cNvCxnSpPr/>
          <p:nvPr/>
        </p:nvCxnSpPr>
        <p:spPr>
          <a:xfrm>
            <a:off x="9564187" y="3920167"/>
            <a:ext cx="1609471" cy="60916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5" name="Google Shape;695;p43"/>
          <p:cNvSpPr txBox="1"/>
          <p:nvPr/>
        </p:nvSpPr>
        <p:spPr>
          <a:xfrm>
            <a:off x="9246168" y="4528107"/>
            <a:ext cx="418704" cy="369332"/>
          </a:xfrm>
          <a:prstGeom prst="rect">
            <a:avLst/>
          </a:prstGeom>
          <a:solidFill>
            <a:srgbClr val="D0F5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cxnSp>
        <p:nvCxnSpPr>
          <p:cNvPr id="707" name="Google Shape;707;p43"/>
          <p:cNvCxnSpPr/>
          <p:nvPr/>
        </p:nvCxnSpPr>
        <p:spPr>
          <a:xfrm flipH="1" rot="10800000">
            <a:off x="8818436" y="3888538"/>
            <a:ext cx="764586" cy="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</p:cxnSp>
      <p:cxnSp>
        <p:nvCxnSpPr>
          <p:cNvPr id="708" name="Google Shape;708;p43"/>
          <p:cNvCxnSpPr/>
          <p:nvPr/>
        </p:nvCxnSpPr>
        <p:spPr>
          <a:xfrm>
            <a:off x="9424174" y="2478279"/>
            <a:ext cx="794331" cy="88215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9" name="Google Shape;709;p43"/>
          <p:cNvSpPr txBox="1"/>
          <p:nvPr/>
        </p:nvSpPr>
        <p:spPr>
          <a:xfrm>
            <a:off x="1893054" y="5363031"/>
            <a:ext cx="1873123" cy="523220"/>
          </a:xfrm>
          <a:prstGeom prst="rect">
            <a:avLst/>
          </a:prstGeom>
          <a:solidFill>
            <a:srgbClr val="DFECE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3"/>
          <p:cNvSpPr txBox="1"/>
          <p:nvPr/>
        </p:nvSpPr>
        <p:spPr>
          <a:xfrm>
            <a:off x="8190366" y="5363031"/>
            <a:ext cx="2001046" cy="523220"/>
          </a:xfrm>
          <a:prstGeom prst="rect">
            <a:avLst/>
          </a:prstGeom>
          <a:solidFill>
            <a:srgbClr val="D3E8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Unclustered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p43"/>
          <p:cNvCxnSpPr/>
          <p:nvPr/>
        </p:nvCxnSpPr>
        <p:spPr>
          <a:xfrm>
            <a:off x="29210" y="4260336"/>
            <a:ext cx="121920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12" name="Google Shape;712;p43"/>
          <p:cNvSpPr txBox="1"/>
          <p:nvPr/>
        </p:nvSpPr>
        <p:spPr>
          <a:xfrm>
            <a:off x="5108615" y="2729419"/>
            <a:ext cx="18011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 Entries</a:t>
            </a:r>
            <a:endParaRPr/>
          </a:p>
        </p:txBody>
      </p:sp>
      <p:sp>
        <p:nvSpPr>
          <p:cNvPr id="713" name="Google Shape;713;p43"/>
          <p:cNvSpPr txBox="1"/>
          <p:nvPr/>
        </p:nvSpPr>
        <p:spPr>
          <a:xfrm>
            <a:off x="5106201" y="4897439"/>
            <a:ext cx="18029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Records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TAREA ÍNDICES</a:t>
            </a:r>
            <a:endParaRPr/>
          </a:p>
        </p:txBody>
      </p:sp>
      <p:sp>
        <p:nvSpPr>
          <p:cNvPr id="720" name="Google Shape;720;p4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/>
            </a:pPr>
            <a:r>
              <a:rPr lang="en-US" sz="1850"/>
              <a:t>Ejecute UNA SOLA VEZ el siguiente query.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USE classicmodels;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SELECT p.productLine , count(p.productName)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FROM products p, 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	(SELECT distinct od.productCode as pc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         FROM orderdetails od, orders o, customers c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         WHERE od.orderNumber = o.orderNumber</a:t>
            </a:r>
            <a:endParaRPr b="1" i="1" sz="1850">
              <a:solidFill>
                <a:srgbClr val="2E663E"/>
              </a:solidFill>
            </a:endParaRPr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		AND o.customerNumber=c.customerNumber</a:t>
            </a:r>
            <a:endParaRPr b="1" i="1" sz="1850">
              <a:solidFill>
                <a:srgbClr val="2E663E"/>
              </a:solidFill>
            </a:endParaRPr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		AND c.customerName = "La Rochelle Gifts") as c</a:t>
            </a:r>
            <a:endParaRPr/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WHERE p.productCode = c.pc</a:t>
            </a:r>
            <a:endParaRPr b="1" i="1" sz="1850">
              <a:solidFill>
                <a:srgbClr val="2E663E"/>
              </a:solidFill>
            </a:endParaRPr>
          </a:p>
          <a:p>
            <a:pPr indent="0" lvl="2" marL="475487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b="1" i="1" lang="en-US" sz="1850">
                <a:solidFill>
                  <a:srgbClr val="2E663E"/>
                </a:solidFill>
              </a:rPr>
              <a:t>GROUP BY p.productLine;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/>
            </a:pPr>
            <a:r>
              <a:rPr lang="en-US" sz="1850"/>
              <a:t>Anote el tiempo que se demoró la ejecución del query.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TAREA ÍNDICES</a:t>
            </a:r>
            <a:endParaRPr/>
          </a:p>
        </p:txBody>
      </p:sp>
      <p:sp>
        <p:nvSpPr>
          <p:cNvPr id="726" name="Google Shape;726;p4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 startAt="3"/>
            </a:pPr>
            <a:r>
              <a:rPr lang="en-US" sz="1850"/>
              <a:t>Vaya a la pestaña de “Execution Plan” y verifique que parte del query necesita ser optimizada.</a:t>
            </a:r>
            <a:endParaRPr/>
          </a:p>
          <a:p>
            <a:pPr indent="-45720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 startAt="3"/>
            </a:pPr>
            <a:r>
              <a:rPr lang="en-US" sz="1850"/>
              <a:t>Cree un índice sobre el campo XXXX de la tabla que cree que necesita ser optimizada.</a:t>
            </a:r>
            <a:endParaRPr/>
          </a:p>
          <a:p>
            <a:pPr indent="-45720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 startAt="3"/>
            </a:pPr>
            <a:r>
              <a:rPr lang="en-US" sz="1850"/>
              <a:t>Ejecute nuevamente el query del paso 1.</a:t>
            </a:r>
            <a:endParaRPr/>
          </a:p>
          <a:p>
            <a:pPr indent="-45720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Calibri"/>
              <a:buAutoNum type="arabicPeriod" startAt="3"/>
            </a:pPr>
            <a:r>
              <a:rPr lang="en-US" sz="1850"/>
              <a:t>Anote el tiempo que se demoró la ejecución del query por segunda vez.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rPr lang="en-US" sz="1850">
                <a:solidFill>
                  <a:srgbClr val="000000"/>
                </a:solidFill>
              </a:rPr>
              <a:t>Preguntas:</a:t>
            </a:r>
            <a:endParaRPr/>
          </a:p>
          <a:p>
            <a:pPr indent="-117475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Noto Sans Symbols"/>
              <a:buChar char="⮚"/>
            </a:pPr>
            <a:r>
              <a:rPr lang="en-US" sz="1850">
                <a:solidFill>
                  <a:srgbClr val="000000"/>
                </a:solidFill>
              </a:rPr>
              <a:t> </a:t>
            </a:r>
            <a:r>
              <a:rPr lang="en-US" sz="1850"/>
              <a:t>Vaya a la pestaña de “Execution Plan” y verifique que ha cambiado y porqué?</a:t>
            </a:r>
            <a:endParaRPr/>
          </a:p>
          <a:p>
            <a:pPr indent="-117475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Noto Sans Symbols"/>
              <a:buChar char="⮚"/>
            </a:pPr>
            <a:r>
              <a:rPr lang="en-US" sz="1850">
                <a:solidFill>
                  <a:srgbClr val="000000"/>
                </a:solidFill>
              </a:rPr>
              <a:t> Qué ocurrió con el tiempo al ejecutar el query por segunda vez? </a:t>
            </a:r>
            <a:endParaRPr/>
          </a:p>
          <a:p>
            <a:pPr indent="-117475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Noto Sans Symbols"/>
              <a:buChar char="⮚"/>
            </a:pPr>
            <a:r>
              <a:rPr lang="en-US" sz="1850">
                <a:solidFill>
                  <a:srgbClr val="000000"/>
                </a:solidFill>
              </a:rPr>
              <a:t> En qué casos podrían utilizarse los índices?</a:t>
            </a:r>
            <a:endParaRPr/>
          </a:p>
          <a:p>
            <a:pPr indent="-117475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Noto Sans Symbols"/>
              <a:buChar char="⮚"/>
            </a:pPr>
            <a:r>
              <a:rPr lang="en-US" sz="1850">
                <a:solidFill>
                  <a:srgbClr val="000000"/>
                </a:solidFill>
              </a:rPr>
              <a:t> Ejecute varias veces los queries. Qué ocurre con los tiempos de respuesta?</a:t>
            </a:r>
            <a:endParaRPr/>
          </a:p>
          <a:p>
            <a:pPr indent="-117475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Font typeface="Noto Sans Symbols"/>
              <a:buChar char="⮚"/>
            </a:pPr>
            <a:r>
              <a:rPr lang="en-US" sz="1850">
                <a:solidFill>
                  <a:srgbClr val="000000"/>
                </a:solidFill>
              </a:rPr>
              <a:t> Porqué cree usted que ocurre esto?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1850"/>
              <a:buNone/>
            </a:pPr>
            <a:r>
              <a:t/>
            </a:r>
            <a:endParaRPr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Custom 2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2016-04-18T15:18:48Z</dcterms:created>
  <dc:creator>paolis</dc:creator>
</cp:coreProperties>
</file>
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3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C5MtoTnyvSoXtGY7ulY9f+Qzc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46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SBD1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Blockchain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Alpha zero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zero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Elite coders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últimos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cKFA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09" name="Google Shape;2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19" name="Google Shape;2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37" name="Google Shape;2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STATEMENT: El trigger se ejecuta una vez cambiando todas las filas que cumplan la condición. Cuando la sentencia se vea afectada. No depende de la cantidad de filas que tenga o cant de filas que se vean afectadas.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ROW: El trigger se ejecuta un millón de veces por cada fila. Cuando la fila se vea afectada y cumpla con la condición.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For each row when columna&gt; 13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     For each row when columna is not null</a:t>
            </a:r>
            <a:endParaRPr/>
          </a:p>
        </p:txBody>
      </p:sp>
      <p:sp>
        <p:nvSpPr>
          <p:cNvPr id="270" name="Google Shape;27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STATEMENT: El trigger se ejecuta una vez cambiando todas las filas que cumplan la condición. Cuando la sentencia se vea afectada. No depende de la cantidad de filas que tenga o cant de filas que se vean afectadas.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ROW: El trigger se ejecuta un millón de veces por cada fila. Cuando la fila se vea afectada y cumpla con la condición.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For each row when columna&gt; 13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     For each row when columna is not null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STATEMENT: El trigger se ejecuta una vez cambiando todas las filas que cumplan la condición. Cuando la sentencia se vea afectada. No depende de la cantidad de filas que tenga o cant de filas que se vean afectadas.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ROW: El trigger se ejecuta un millón de veces por cada fila. Cuando la fila se vea afectada y cumpla con la condición.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For each row when columna&gt; 13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     For each row when columna is not null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STATEMENT: El trigger se ejecuta una vez cambiando todas las filas que cumplan la condición. Cuando la sentencia se vea afectada. No depende de la cantidad de filas que tenga o cant de filas que se vean afectadas.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ROW: El trigger se ejecuta un millón de veces por cada fila. Cuando la fila se vea afectada y cumpla con la condición.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For each row when columna&gt; 13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     For each row when columna is not null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STATEMENT: El trigger se ejecuta una vez cambiando todas las filas que cumplan la condición. Cuando la sentencia se vea afectada. No depende de la cantidad de filas que tenga o cant de filas que se vean afectadas.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ROW: El trigger se ejecuta un millón de veces por cada fila. Cuando la fila se vea afectada y cumpla con la condición.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For each row when columna&gt; 13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     For each row when columna is not null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este ejemplo, si insertamos o actualizamos el registro de un empleado de manera que su salario sea superior a 5000, el </a:t>
            </a:r>
            <a:r>
              <a:rPr lang="en-US" b="1"/>
              <a:t>trigger PL/SQL</a:t>
            </a:r>
            <a:r>
              <a:rPr lang="en-US"/>
              <a:t> actualizará dicho salario al valor de 5000 independientemente del salario que nosotros hayamos insertado o introducido al modificar el registro.</a:t>
            </a:r>
            <a:endParaRPr/>
          </a:p>
        </p:txBody>
      </p:sp>
      <p:sp>
        <p:nvSpPr>
          <p:cNvPr id="325" name="Google Shape;32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Escriba un trigger que se ejecute antes de realizar un pago (payments).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El trigger debe actualizar el pago ha realizar al 50% de su valor, a todos los clientes que no sean de Guayaquil.</a:t>
            </a:r>
            <a:endParaRPr/>
          </a:p>
        </p:txBody>
      </p:sp>
      <p:sp>
        <p:nvSpPr>
          <p:cNvPr id="348" name="Google Shape;34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1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1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1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" name="Google Shape;23;p4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41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3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3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4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43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45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45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4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4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4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4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8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8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8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48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48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8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4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9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9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9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49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4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4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0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5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5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1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51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5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5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5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3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3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3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cxnSp>
        <p:nvCxnSpPr>
          <p:cNvPr id="115" name="Google Shape;115;p53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4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5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5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5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5" name="Google Shape;125;p5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6" name="Google Shape;126;p5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7" name="Google Shape;127;p5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5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31" name="Google Shape;131;p56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32" name="Google Shape;132;p5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3" name="Google Shape;133;p5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4" name="Google Shape;134;p5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57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8" name="Google Shape;138;p57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39" name="Google Shape;139;p57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0" name="Google Shape;140;p57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41" name="Google Shape;141;p5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5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5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7" name="Google Shape;147;p5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8" name="Google Shape;148;p5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9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3" name="Google Shape;153;p5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4" name="Google Shape;154;p5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0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0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0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60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60" name="Google Shape;160;p60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61" name="Google Shape;161;p60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2" name="Google Shape;162;p60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3" name="Google Shape;163;p6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1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1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1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61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9" name="Google Shape;169;p61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0" name="Google Shape;170;p6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1" name="Google Shape;171;p6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2" name="Google Shape;172;p6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62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76" name="Google Shape;176;p6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7" name="Google Shape;177;p6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8" name="Google Shape;178;p6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3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63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84" name="Google Shape;184;p6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5" name="Google Shape;185;p6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6" name="Google Shape;186;p6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4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4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4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" name="Google Shape;15;p40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40"/>
          <p:cNvSpPr txBox="1"/>
          <p:nvPr/>
        </p:nvSpPr>
        <p:spPr>
          <a:xfrm>
            <a:off x="3802299" y="649287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UTILIZAR COMO MATERIAL DE ESTUDIO</a:t>
            </a:r>
            <a:endParaRPr/>
          </a:p>
        </p:txBody>
      </p:sp>
      <p:pic>
        <p:nvPicPr>
          <p:cNvPr id="17" name="Google Shape;17;p40" descr="fiec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305142" y="6415974"/>
            <a:ext cx="1886857" cy="44202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5" name="Google Shape;105;p5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06" name="Google Shape;106;p52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7" name="Google Shape;107;p52" descr="espol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774095" cy="11075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2"/>
          <p:cNvSpPr txBox="1"/>
          <p:nvPr/>
        </p:nvSpPr>
        <p:spPr>
          <a:xfrm>
            <a:off x="3802299" y="649287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UTILIZAR COMO MATERIAL DE ESTUDIO</a:t>
            </a:r>
            <a:endParaRPr/>
          </a:p>
        </p:txBody>
      </p:sp>
      <p:pic>
        <p:nvPicPr>
          <p:cNvPr id="109" name="Google Shape;109;p52" descr="fiec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305142" y="6415974"/>
            <a:ext cx="1886857" cy="44202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600"/>
              <a:buFont typeface="Arial"/>
              <a:buNone/>
            </a:pPr>
            <a:r>
              <a:rPr lang="en-US" sz="4600" b="1">
                <a:latin typeface="Arial"/>
                <a:ea typeface="Arial"/>
                <a:cs typeface="Arial"/>
                <a:sym typeface="Arial"/>
              </a:rPr>
              <a:t>SISTEMAS DE </a:t>
            </a:r>
            <a:br>
              <a:rPr lang="en-US" sz="4600" b="1">
                <a:latin typeface="Arial"/>
                <a:ea typeface="Arial"/>
                <a:cs typeface="Arial"/>
                <a:sym typeface="Arial"/>
              </a:rPr>
            </a:br>
            <a:r>
              <a:rPr lang="en-US" sz="4600" b="1">
                <a:latin typeface="Arial"/>
                <a:ea typeface="Arial"/>
                <a:cs typeface="Arial"/>
                <a:sym typeface="Arial"/>
              </a:rPr>
              <a:t>BASES DE DATOS</a:t>
            </a:r>
            <a:br>
              <a:rPr lang="en-US" sz="4600" b="1">
                <a:latin typeface="Arial"/>
                <a:ea typeface="Arial"/>
                <a:cs typeface="Arial"/>
                <a:sym typeface="Arial"/>
              </a:rPr>
            </a:br>
            <a:br>
              <a:rPr lang="en-US" sz="4600" b="1"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>
                <a:latin typeface="Arial"/>
                <a:ea typeface="Arial"/>
                <a:cs typeface="Arial"/>
                <a:sym typeface="Arial"/>
              </a:rPr>
              <a:t>TICG1001</a:t>
            </a:r>
            <a:endParaRPr/>
          </a:p>
        </p:txBody>
      </p:sp>
      <p:sp>
        <p:nvSpPr>
          <p:cNvPr id="193" name="Google Shape;193;p1"/>
          <p:cNvSpPr txBox="1">
            <a:spLocks noGrp="1"/>
          </p:cNvSpPr>
          <p:nvPr>
            <p:ph type="subTitle" idx="1"/>
          </p:nvPr>
        </p:nvSpPr>
        <p:spPr>
          <a:xfrm>
            <a:off x="1097280" y="4674015"/>
            <a:ext cx="10058400" cy="1044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330"/>
              <a:buNone/>
            </a:pPr>
            <a:r>
              <a:rPr lang="en-US" sz="3330" b="1">
                <a:latin typeface="Arial"/>
                <a:ea typeface="Arial"/>
                <a:cs typeface="Arial"/>
                <a:sym typeface="Arial"/>
              </a:rPr>
              <a:t>UNIDAD 5</a:t>
            </a:r>
            <a:endParaRPr/>
          </a:p>
          <a:p>
            <a:pPr marL="0" lvl="0" indent="0" algn="ctr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3330"/>
              <a:buNone/>
            </a:pPr>
            <a:r>
              <a:rPr lang="en-US" sz="3330" b="1">
                <a:latin typeface="Arial"/>
                <a:ea typeface="Arial"/>
                <a:cs typeface="Arial"/>
                <a:sym typeface="Arial"/>
              </a:rPr>
              <a:t>LENGUAJE QUERY AVANZADO</a:t>
            </a:r>
            <a:endParaRPr/>
          </a:p>
          <a:p>
            <a:pPr marL="0" lvl="0" indent="0" algn="ctr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3330"/>
              <a:buNone/>
            </a:pPr>
            <a:endParaRPr sz="333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220"/>
              <a:buNone/>
            </a:pPr>
            <a:endParaRPr sz="222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"/>
          <p:cNvSpPr txBox="1"/>
          <p:nvPr/>
        </p:nvSpPr>
        <p:spPr>
          <a:xfrm>
            <a:off x="1243055" y="5548328"/>
            <a:ext cx="10058400" cy="75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endParaRPr sz="2400" b="1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endParaRPr sz="2400" b="1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endParaRPr sz="2400" b="1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"/>
          <p:cNvSpPr txBox="1"/>
          <p:nvPr/>
        </p:nvSpPr>
        <p:spPr>
          <a:xfrm>
            <a:off x="1249680" y="334898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/>
          </a:p>
        </p:txBody>
      </p:sp>
      <p:sp>
        <p:nvSpPr>
          <p:cNvPr id="200" name="Google Shape;200;p2"/>
          <p:cNvSpPr txBox="1"/>
          <p:nvPr/>
        </p:nvSpPr>
        <p:spPr>
          <a:xfrm>
            <a:off x="1249680" y="1861368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514350" marR="0" lvl="0" indent="-51435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Vistas</a:t>
            </a:r>
            <a:endParaRPr/>
          </a:p>
          <a:p>
            <a:pPr marL="514350" marR="0" lvl="0" indent="-51435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Stored Procedures</a:t>
            </a:r>
            <a:endParaRPr/>
          </a:p>
          <a:p>
            <a:pPr marL="514350" marR="0" lvl="0" indent="-51435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Triggers</a:t>
            </a:r>
            <a:endParaRPr/>
          </a:p>
          <a:p>
            <a:pPr marL="9144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alibri"/>
              <a:buNone/>
            </a:pPr>
            <a:endParaRPr sz="2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0"/>
              <a:buFont typeface="Arial"/>
              <a:buNone/>
            </a:pPr>
            <a:r>
              <a:rPr lang="en-US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5.1. VIEWS</a:t>
            </a:r>
            <a:endParaRPr/>
          </a:p>
        </p:txBody>
      </p:sp>
      <p:sp>
        <p:nvSpPr>
          <p:cNvPr id="206" name="Google Shape;206;p3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5. LENGUAJE QUERY AVANZADO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"/>
          <p:cNvSpPr txBox="1">
            <a:spLocks noGrp="1"/>
          </p:cNvSpPr>
          <p:nvPr>
            <p:ph type="ftr" idx="11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2173290" y="2245479"/>
            <a:ext cx="7112000" cy="646973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CREATE VIEW  </a:t>
            </a:r>
            <a:r>
              <a:rPr lang="en-US" sz="1800" i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nombre_de_vista </a:t>
            </a: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[&lt;columnas&gt;] </a:t>
            </a:r>
            <a:r>
              <a:rPr lang="en-US" sz="1800" i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lang="en-US" sz="1800" i="1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&lt;expresion de consulta&gt;</a:t>
            </a:r>
            <a:endParaRPr sz="1800" i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 txBox="1"/>
          <p:nvPr/>
        </p:nvSpPr>
        <p:spPr>
          <a:xfrm>
            <a:off x="1727201" y="1741429"/>
            <a:ext cx="587853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Utilizadas para aumentar las posibilidades de acceso a tablas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VISTAS</a:t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830267" y="3525858"/>
            <a:ext cx="5689600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VIEW Rojos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SELECT  B.bid,  COUNT (*) AS scount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FROM Botes B, Reservacion 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WHERE  R.bid=B.bid AND   B.color='rojo'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GROUP BY  B.bid;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 txBox="1">
            <a:spLocks noGrp="1"/>
          </p:cNvSpPr>
          <p:nvPr>
            <p:ph type="ftr" idx="11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2173290" y="2245479"/>
            <a:ext cx="7112000" cy="646973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CREATE VIEW  </a:t>
            </a:r>
            <a:r>
              <a:rPr lang="en-US" sz="1800" i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nombre_de_vista </a:t>
            </a: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[&lt;columnas&gt;] </a:t>
            </a:r>
            <a:r>
              <a:rPr lang="en-US" sz="1800" i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lang="en-US" sz="1800" i="1">
                <a:solidFill>
                  <a:srgbClr val="6600CC"/>
                </a:solidFill>
                <a:latin typeface="Calibri"/>
                <a:ea typeface="Calibri"/>
                <a:cs typeface="Calibri"/>
                <a:sym typeface="Calibri"/>
              </a:rPr>
              <a:t>&lt;expresion de consulta&gt;</a:t>
            </a:r>
            <a:endParaRPr sz="1800" i="1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1727201" y="1741429"/>
            <a:ext cx="587853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Utilizadas para aumentar las posibilidades de acceso a tablas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635023" y="3735305"/>
            <a:ext cx="4703163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Parecidas a las Tablas, la diferencia es que las vistas son creadas a partir de las tablas.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 la programación simple.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Usadas normalmente para crear reportes.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 al compartir información.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actualizan cuando se actualizan los datos de las tablas. Sin embargo, no lo hacen cuando son creadas utilizando joins.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VISTAS (VENTAJAS)</a:t>
            </a:r>
            <a:endParaRPr/>
          </a:p>
        </p:txBody>
      </p:sp>
      <p:pic>
        <p:nvPicPr>
          <p:cNvPr id="227" name="Google Shape;227;p5"/>
          <p:cNvPicPr preferRelativeResize="0"/>
          <p:nvPr/>
        </p:nvPicPr>
        <p:blipFill rotWithShape="1">
          <a:blip r:embed="rId3">
            <a:alphaModFix/>
          </a:blip>
          <a:srcRect l="12222" t="4447" r="1133" b="60398"/>
          <a:stretch/>
        </p:blipFill>
        <p:spPr>
          <a:xfrm>
            <a:off x="6325882" y="3127212"/>
            <a:ext cx="5666937" cy="11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5"/>
          <p:cNvPicPr preferRelativeResize="0"/>
          <p:nvPr/>
        </p:nvPicPr>
        <p:blipFill rotWithShape="1">
          <a:blip r:embed="rId3">
            <a:alphaModFix/>
          </a:blip>
          <a:srcRect l="26013" t="65530" r="15919" b="6849"/>
          <a:stretch/>
        </p:blipFill>
        <p:spPr>
          <a:xfrm>
            <a:off x="7511985" y="5259947"/>
            <a:ext cx="3797926" cy="922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5"/>
          <p:cNvPicPr preferRelativeResize="0"/>
          <p:nvPr/>
        </p:nvPicPr>
        <p:blipFill rotWithShape="1">
          <a:blip r:embed="rId3">
            <a:alphaModFix/>
          </a:blip>
          <a:srcRect l="315" r="90709" b="55018"/>
          <a:stretch/>
        </p:blipFill>
        <p:spPr>
          <a:xfrm>
            <a:off x="5577143" y="3004578"/>
            <a:ext cx="587061" cy="1502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5"/>
          <p:cNvPicPr preferRelativeResize="0"/>
          <p:nvPr/>
        </p:nvPicPr>
        <p:blipFill rotWithShape="1">
          <a:blip r:embed="rId3">
            <a:alphaModFix/>
          </a:blip>
          <a:srcRect l="5222" t="54428" r="79318"/>
          <a:stretch/>
        </p:blipFill>
        <p:spPr>
          <a:xfrm>
            <a:off x="6054384" y="4820635"/>
            <a:ext cx="1011120" cy="1522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5"/>
          <p:cNvPicPr preferRelativeResize="0"/>
          <p:nvPr/>
        </p:nvPicPr>
        <p:blipFill rotWithShape="1">
          <a:blip r:embed="rId3">
            <a:alphaModFix/>
          </a:blip>
          <a:srcRect l="42173" t="60333" r="31432" b="33760"/>
          <a:stretch/>
        </p:blipFill>
        <p:spPr>
          <a:xfrm>
            <a:off x="8569851" y="5079542"/>
            <a:ext cx="1726301" cy="197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5"/>
          <p:cNvPicPr preferRelativeResize="0"/>
          <p:nvPr/>
        </p:nvPicPr>
        <p:blipFill rotWithShape="1">
          <a:blip r:embed="rId3">
            <a:alphaModFix/>
          </a:blip>
          <a:srcRect l="24074" t="40403" r="58014" b="34866"/>
          <a:stretch/>
        </p:blipFill>
        <p:spPr>
          <a:xfrm>
            <a:off x="7225801" y="4364461"/>
            <a:ext cx="1171419" cy="826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5"/>
          <p:cNvPicPr preferRelativeResize="0"/>
          <p:nvPr/>
        </p:nvPicPr>
        <p:blipFill rotWithShape="1">
          <a:blip r:embed="rId3">
            <a:alphaModFix/>
          </a:blip>
          <a:srcRect l="73470" t="40403" r="19366" b="34866"/>
          <a:stretch/>
        </p:blipFill>
        <p:spPr>
          <a:xfrm>
            <a:off x="10789381" y="4389119"/>
            <a:ext cx="468567" cy="826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5"/>
          <p:cNvPicPr preferRelativeResize="0"/>
          <p:nvPr/>
        </p:nvPicPr>
        <p:blipFill rotWithShape="1">
          <a:blip r:embed="rId3">
            <a:alphaModFix/>
          </a:blip>
          <a:srcRect l="51977" t="40403" r="35390" b="38926"/>
          <a:stretch/>
        </p:blipFill>
        <p:spPr>
          <a:xfrm>
            <a:off x="8841128" y="4290487"/>
            <a:ext cx="826158" cy="69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"/>
          <p:cNvSpPr txBox="1">
            <a:spLocks noGrp="1"/>
          </p:cNvSpPr>
          <p:nvPr>
            <p:ph type="ftr" idx="11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>
            <a:spLocks noGrp="1"/>
          </p:cNvSpPr>
          <p:nvPr>
            <p:ph type="body" idx="1"/>
          </p:nvPr>
        </p:nvSpPr>
        <p:spPr>
          <a:xfrm>
            <a:off x="711200" y="3657600"/>
            <a:ext cx="10363200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914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5754553" y="4525977"/>
            <a:ext cx="3955510" cy="181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 bnombre, scount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FROM </a:t>
            </a:r>
            <a:r>
              <a:rPr lang="en-US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Rojos 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Botes B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WHERE  R.bid=B.bid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AND scount &lt; 10</a:t>
            </a:r>
            <a:endParaRPr/>
          </a:p>
        </p:txBody>
      </p:sp>
      <p:graphicFrame>
        <p:nvGraphicFramePr>
          <p:cNvPr id="243" name="Google Shape;243;p6"/>
          <p:cNvGraphicFramePr/>
          <p:nvPr/>
        </p:nvGraphicFramePr>
        <p:xfrm>
          <a:off x="3987840" y="3581401"/>
          <a:ext cx="36703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4" imgW="3670300" imgH="746125" progId="Excel.Sheet.8">
                  <p:embed/>
                </p:oleObj>
              </mc:Choice>
              <mc:Fallback>
                <p:oleObj r:id="rId4" imgW="3670300" imgH="746125" progId="Excel.Sheet.8">
                  <p:embed/>
                  <p:pic>
                    <p:nvPicPr>
                      <p:cNvPr id="243" name="Google Shape;243;p6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987840" y="3581401"/>
                        <a:ext cx="3670300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" name="Google Shape;244;p6"/>
          <p:cNvSpPr txBox="1"/>
          <p:nvPr/>
        </p:nvSpPr>
        <p:spPr>
          <a:xfrm>
            <a:off x="8101037" y="3733800"/>
            <a:ext cx="6989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Rojos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1524001" y="1953354"/>
            <a:ext cx="4212328" cy="1477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VIEW Rojos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SELECT  B.bid,  COUNT (*) AS scount</a:t>
            </a:r>
            <a:endParaRPr sz="1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FROM Botes B, Reservacion 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WHERE  R.bid=B.bid AND   B.color='rojo'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 GROUP BY  B.bid;</a:t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3111500" y="3629026"/>
            <a:ext cx="304800" cy="2714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VISTAS en vez de TABLAS en Queries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0"/>
              <a:buFont typeface="Arial"/>
              <a:buNone/>
            </a:pPr>
            <a:r>
              <a:rPr lang="en-US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5.3 TRIGGERS </a:t>
            </a:r>
            <a:endParaRPr/>
          </a:p>
        </p:txBody>
      </p:sp>
      <p:sp>
        <p:nvSpPr>
          <p:cNvPr id="253" name="Google Shape;253;p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5. LENGUAJE QUERY AVANZADO</a:t>
            </a:r>
            <a:endParaRPr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✔"/>
            </a:pPr>
            <a:r>
              <a:rPr lang="en-US"/>
              <a:t>Es un procedimiento que se ejecuta cuando se cumple una condición establecida al realizar una operación de inserción (INSERT), actualización (UPDATE) o borrado (DELETE).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✔"/>
            </a:pPr>
            <a:r>
              <a:rPr lang="en-US"/>
              <a:t>Son usados para mejorar la administración de la Base de datos, sin necesidad de contar con que el usuario ejecute la sentencia de SQL.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✔"/>
            </a:pPr>
            <a:r>
              <a:rPr lang="en-US"/>
              <a:t>Además, pueden generar valores de columnas, previene errores de datos, sincroniza tablas, modifica valores de una vista, etc.</a:t>
            </a:r>
            <a:endParaRPr/>
          </a:p>
        </p:txBody>
      </p:sp>
      <p:sp>
        <p:nvSpPr>
          <p:cNvPr id="259" name="Google Shape;259;p8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TRIGGERS</a:t>
            </a:r>
            <a:endParaRPr/>
          </a:p>
        </p:txBody>
      </p:sp>
      <p:sp>
        <p:nvSpPr>
          <p:cNvPr id="260" name="Google Shape;260;p8"/>
          <p:cNvSpPr txBox="1"/>
          <p:nvPr/>
        </p:nvSpPr>
        <p:spPr>
          <a:xfrm>
            <a:off x="1249680" y="4746660"/>
            <a:ext cx="10058400" cy="127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None/>
            </a:pPr>
            <a:r>
              <a:rPr lang="en-US" sz="2000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Parecido a Batch file calendarizado (task scheduler).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AutoNum type="arabicPeriod"/>
            </a:pPr>
            <a:r>
              <a:rPr lang="en-US" b="1"/>
              <a:t>Row Triggers (o Disparadores de fila): </a:t>
            </a:r>
            <a:r>
              <a:rPr lang="en-US"/>
              <a:t>son aquellas que se ejecutaran n-veces si se llama n-veces desde la tabla asociada al trigger (FOR EACH ROW).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AutoNum type="arabicPeriod"/>
            </a:pPr>
            <a:r>
              <a:rPr lang="en-US" b="1"/>
              <a:t>Statement Triggers (o Disparadores de secuencia): </a:t>
            </a:r>
            <a:r>
              <a:rPr lang="en-US"/>
              <a:t>son aquellos que sin importar la cantidad de veces que se cumpla con la condición, su ejecución es única.</a:t>
            </a:r>
            <a:endParaRPr/>
          </a:p>
        </p:txBody>
      </p:sp>
      <p:sp>
        <p:nvSpPr>
          <p:cNvPr id="266" name="Google Shape;266;p9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Tipos de TRIGGERS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AutoNum type="arabicPeriod"/>
            </a:pPr>
            <a:r>
              <a:rPr lang="en-US" b="1"/>
              <a:t> Llamada de activación</a:t>
            </a:r>
            <a:r>
              <a:rPr lang="en-US"/>
              <a:t>: es la sentencia que permite "disparar" el código a ejecutar.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AutoNum type="arabicPeriod"/>
            </a:pPr>
            <a:r>
              <a:rPr lang="en-US" b="1"/>
              <a:t> Restricción</a:t>
            </a:r>
            <a:r>
              <a:rPr lang="en-US"/>
              <a:t>: es la condición necesaria para realizar el código. Esta restricción puede ser de tipo condicional o de tipo nulidad.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Calibri"/>
              <a:buAutoNum type="arabicPeriod"/>
            </a:pPr>
            <a:r>
              <a:rPr lang="en-US" b="1"/>
              <a:t> Acción a ejecutar</a:t>
            </a:r>
            <a:r>
              <a:rPr lang="en-US"/>
              <a:t>: es la secuencia de instrucciones a ejecutar una vez que se han cumplido las condiciones iniciales.</a:t>
            </a:r>
            <a:endParaRPr/>
          </a:p>
          <a:p>
            <a:pPr marL="457200" lvl="0" indent="-330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/>
          </a:p>
        </p:txBody>
      </p:sp>
      <p:sp>
        <p:nvSpPr>
          <p:cNvPr id="273" name="Google Shape;273;p10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Estructura básica - TRIGGERS</a:t>
            </a:r>
            <a:endParaRPr/>
          </a:p>
        </p:txBody>
      </p:sp>
      <p:grpSp>
        <p:nvGrpSpPr>
          <p:cNvPr id="274" name="Google Shape;274;p10"/>
          <p:cNvGrpSpPr/>
          <p:nvPr/>
        </p:nvGrpSpPr>
        <p:grpSpPr>
          <a:xfrm>
            <a:off x="4633625" y="5124338"/>
            <a:ext cx="825588" cy="832158"/>
            <a:chOff x="4633625" y="5124338"/>
            <a:chExt cx="825588" cy="832158"/>
          </a:xfrm>
        </p:grpSpPr>
        <p:sp>
          <p:nvSpPr>
            <p:cNvPr id="275" name="Google Shape;275;p10"/>
            <p:cNvSpPr/>
            <p:nvPr/>
          </p:nvSpPr>
          <p:spPr>
            <a:xfrm>
              <a:off x="4633625" y="5320537"/>
              <a:ext cx="496292" cy="437978"/>
            </a:xfrm>
            <a:prstGeom prst="ellipse">
              <a:avLst/>
            </a:prstGeom>
            <a:solidFill>
              <a:schemeClr val="accent2"/>
            </a:solidFill>
            <a:ln w="15875" cap="flat" cmpd="sng">
              <a:solidFill>
                <a:srgbClr val="2067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76" name="Google Shape;276;p10"/>
            <p:cNvSpPr/>
            <p:nvPr/>
          </p:nvSpPr>
          <p:spPr>
            <a:xfrm>
              <a:off x="5254858" y="5124338"/>
              <a:ext cx="204355" cy="83215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158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0"/>
          <p:cNvSpPr/>
          <p:nvPr/>
        </p:nvSpPr>
        <p:spPr>
          <a:xfrm>
            <a:off x="5562797" y="3712531"/>
            <a:ext cx="6473628" cy="258596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DELIMITER |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TRIGGER  </a:t>
            </a:r>
            <a:r>
              <a:rPr lang="en-US" sz="1800" b="1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&lt;trigger_name&gt; &lt;trigger_time&gt; &lt;trigger_event&gt; </a:t>
            </a:r>
            <a:r>
              <a:rPr lang="en-US" sz="1800" b="1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1800" b="1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&lt;table_name&gt;</a:t>
            </a:r>
            <a:endParaRPr sz="18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EACH {ROW|STATEMENT}</a:t>
            </a: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&lt;condition&gt;</a:t>
            </a: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 |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  <p:grpSp>
        <p:nvGrpSpPr>
          <p:cNvPr id="278" name="Google Shape;278;p10"/>
          <p:cNvGrpSpPr/>
          <p:nvPr/>
        </p:nvGrpSpPr>
        <p:grpSpPr>
          <a:xfrm>
            <a:off x="8971985" y="3182638"/>
            <a:ext cx="2982816" cy="817559"/>
            <a:chOff x="8971985" y="3182638"/>
            <a:chExt cx="2982816" cy="817559"/>
          </a:xfrm>
        </p:grpSpPr>
        <p:sp>
          <p:nvSpPr>
            <p:cNvPr id="279" name="Google Shape;279;p10"/>
            <p:cNvSpPr/>
            <p:nvPr/>
          </p:nvSpPr>
          <p:spPr>
            <a:xfrm>
              <a:off x="11458509" y="3182638"/>
              <a:ext cx="496292" cy="437978"/>
            </a:xfrm>
            <a:prstGeom prst="ellipse">
              <a:avLst/>
            </a:prstGeom>
            <a:solidFill>
              <a:schemeClr val="accent2"/>
            </a:solidFill>
            <a:ln w="15875" cap="flat" cmpd="sng">
              <a:solidFill>
                <a:srgbClr val="2067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80" name="Google Shape;280;p10"/>
            <p:cNvSpPr/>
            <p:nvPr/>
          </p:nvSpPr>
          <p:spPr>
            <a:xfrm rot="5400000">
              <a:off x="10311686" y="2415470"/>
              <a:ext cx="245026" cy="292442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158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10"/>
          <p:cNvGrpSpPr/>
          <p:nvPr/>
        </p:nvGrpSpPr>
        <p:grpSpPr>
          <a:xfrm>
            <a:off x="4537879" y="4554968"/>
            <a:ext cx="921332" cy="554771"/>
            <a:chOff x="4537879" y="4554968"/>
            <a:chExt cx="921332" cy="554771"/>
          </a:xfrm>
        </p:grpSpPr>
        <p:sp>
          <p:nvSpPr>
            <p:cNvPr id="282" name="Google Shape;282;p10"/>
            <p:cNvSpPr/>
            <p:nvPr/>
          </p:nvSpPr>
          <p:spPr>
            <a:xfrm>
              <a:off x="4537879" y="4626180"/>
              <a:ext cx="496292" cy="437978"/>
            </a:xfrm>
            <a:prstGeom prst="ellipse">
              <a:avLst/>
            </a:prstGeom>
            <a:solidFill>
              <a:schemeClr val="accent2"/>
            </a:solidFill>
            <a:ln w="15875" cap="flat" cmpd="sng">
              <a:solidFill>
                <a:srgbClr val="2067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5246692" y="4554968"/>
              <a:ext cx="212519" cy="554771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158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10"/>
          <p:cNvSpPr txBox="1"/>
          <p:nvPr/>
        </p:nvSpPr>
        <p:spPr>
          <a:xfrm>
            <a:off x="216535" y="4026015"/>
            <a:ext cx="420499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trigger_time: BEFORE, AFTER, INSTEAD OF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trigger_event: INSERT, UPDATE OR DELETE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defecto: FOR EACH STATEMENT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/>
          <p:nvPr/>
        </p:nvSpPr>
        <p:spPr>
          <a:xfrm>
            <a:off x="2119168" y="4891839"/>
            <a:ext cx="2644178" cy="425897"/>
          </a:xfrm>
          <a:prstGeom prst="rect">
            <a:avLst/>
          </a:prstGeom>
          <a:solidFill>
            <a:srgbClr val="D3EB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2119168" y="2556526"/>
            <a:ext cx="2644178" cy="425897"/>
          </a:xfrm>
          <a:prstGeom prst="rect">
            <a:avLst/>
          </a:prstGeom>
          <a:solidFill>
            <a:srgbClr val="D3EB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SINTAXIS - TRIGGER 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DELIMITER</a:t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2119168" y="2644148"/>
            <a:ext cx="7828156" cy="258596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DELIMITER |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TRIGGER  </a:t>
            </a:r>
            <a:r>
              <a:rPr lang="en-US" sz="1800" b="1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&lt;trigger_name&gt; &lt;trigger_time&gt; &lt;trigger_event&gt; </a:t>
            </a:r>
            <a:r>
              <a:rPr lang="en-US" sz="1800" b="1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1800" b="1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&lt;table_name&gt;</a:t>
            </a:r>
            <a:endParaRPr sz="18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EACH {ROW|STATEMENT}</a:t>
            </a: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&lt;condition&gt;</a:t>
            </a: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 |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  <p:cxnSp>
        <p:nvCxnSpPr>
          <p:cNvPr id="294" name="Google Shape;294;p11"/>
          <p:cNvCxnSpPr/>
          <p:nvPr/>
        </p:nvCxnSpPr>
        <p:spPr>
          <a:xfrm rot="10800000">
            <a:off x="2868930" y="4766310"/>
            <a:ext cx="1337310" cy="67437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"/>
          <p:cNvSpPr/>
          <p:nvPr/>
        </p:nvSpPr>
        <p:spPr>
          <a:xfrm>
            <a:off x="2119168" y="2904068"/>
            <a:ext cx="6464762" cy="646973"/>
          </a:xfrm>
          <a:prstGeom prst="rect">
            <a:avLst/>
          </a:prstGeom>
          <a:solidFill>
            <a:srgbClr val="D3EB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SINTAXIS – TRIGGER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CREACIÓN</a:t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2119168" y="2644148"/>
            <a:ext cx="7828156" cy="258596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DELIMITER |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TRIGGER  </a:t>
            </a:r>
            <a:r>
              <a:rPr lang="en-US" sz="1800" b="1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&lt;trigger_name&gt; &lt;trigger_time&gt; &lt;trigger_event&gt; </a:t>
            </a:r>
            <a:r>
              <a:rPr lang="en-US" sz="1800" b="1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1800" b="1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&lt;table_name&gt;</a:t>
            </a:r>
            <a:endParaRPr sz="18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EACH {ROW|STATEMENT}</a:t>
            </a: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&lt;condition&gt;</a:t>
            </a: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 |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2119168" y="3475568"/>
            <a:ext cx="6464762" cy="646973"/>
          </a:xfrm>
          <a:prstGeom prst="rect">
            <a:avLst/>
          </a:prstGeom>
          <a:solidFill>
            <a:srgbClr val="D3EB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SINTAXIS – TRIGGER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RESTRICCIÓN</a:t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2119168" y="2644148"/>
            <a:ext cx="7828156" cy="258596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DELIMITER |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TRIGGER  </a:t>
            </a:r>
            <a:r>
              <a:rPr lang="en-US" sz="1800" b="1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&lt;trigger_name&gt; &lt;trigger_time&gt; &lt;trigger_event&gt; </a:t>
            </a:r>
            <a:r>
              <a:rPr lang="en-US" sz="1800" b="1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1800" b="1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&lt;table_name&gt;</a:t>
            </a:r>
            <a:endParaRPr sz="18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EACH {ROW|STATEMENT}</a:t>
            </a: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&lt;condition&gt;</a:t>
            </a: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 |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"/>
          <p:cNvSpPr/>
          <p:nvPr/>
        </p:nvSpPr>
        <p:spPr>
          <a:xfrm>
            <a:off x="2119168" y="4606692"/>
            <a:ext cx="2644178" cy="308419"/>
          </a:xfrm>
          <a:prstGeom prst="rect">
            <a:avLst/>
          </a:prstGeom>
          <a:solidFill>
            <a:srgbClr val="D3EB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2119168" y="4057709"/>
            <a:ext cx="2644178" cy="308419"/>
          </a:xfrm>
          <a:prstGeom prst="rect">
            <a:avLst/>
          </a:prstGeom>
          <a:solidFill>
            <a:srgbClr val="D3EB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SINTAXIS - TRIGGER 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BEGIN &amp; END</a:t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2119168" y="2644148"/>
            <a:ext cx="7828156" cy="258596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DELIMITER |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TRIGGER  </a:t>
            </a:r>
            <a:r>
              <a:rPr lang="en-US" sz="1800" b="1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&lt;trigger_name&gt; &lt;trigger_time&gt; &lt;trigger_event&gt; </a:t>
            </a:r>
            <a:r>
              <a:rPr lang="en-US" sz="1800" b="1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1800" b="1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&lt;table_name&gt;</a:t>
            </a:r>
            <a:endParaRPr sz="18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EACH {ROW|STATEMENT}</a:t>
            </a: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&lt;condition&gt;</a:t>
            </a:r>
            <a:r>
              <a:rPr lang="en-US" sz="1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 |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  <p:cxnSp>
        <p:nvCxnSpPr>
          <p:cNvPr id="320" name="Google Shape;320;p14"/>
          <p:cNvCxnSpPr/>
          <p:nvPr/>
        </p:nvCxnSpPr>
        <p:spPr>
          <a:xfrm rot="10800000">
            <a:off x="4011930" y="4480560"/>
            <a:ext cx="89154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1" name="Google Shape;321;p14"/>
          <p:cNvSpPr txBox="1"/>
          <p:nvPr/>
        </p:nvSpPr>
        <p:spPr>
          <a:xfrm>
            <a:off x="4954039" y="4295894"/>
            <a:ext cx="25027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SENTENCIAS A EJECUTAR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i="1"/>
              <a:t>DELIMITER |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endParaRPr sz="1700" i="1"/>
          </a:p>
          <a:p>
            <a:pPr marL="0" lvl="0" indent="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1700" i="1"/>
              <a:t>CREATE TRIGGER testref BEFORE INSERT ON test1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1700" i="1"/>
              <a:t>FOR EACH STATEMENT 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1700" i="1"/>
              <a:t>BEGIN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1700" i="1"/>
              <a:t>    INSERT INTO test2 SET a2 = NEW.a1;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1700" i="1"/>
              <a:t>    DELETE FROM test3 WHERE a3 = NEW.a1;  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1700" i="1"/>
              <a:t>    UPDATE test4 SET b4 = b4 + 1 WHERE a4 = NEW.a1;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1700" i="1"/>
              <a:t>  END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1700" i="1"/>
              <a:t>|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1700" i="1"/>
              <a:t>DELIMITER ;</a:t>
            </a:r>
            <a:endParaRPr/>
          </a:p>
        </p:txBody>
      </p:sp>
      <p:sp>
        <p:nvSpPr>
          <p:cNvPr id="328" name="Google Shape;328;p15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>
            <a:spLocks noGrp="1"/>
          </p:cNvSpPr>
          <p:nvPr>
            <p:ph type="body" idx="1"/>
          </p:nvPr>
        </p:nvSpPr>
        <p:spPr>
          <a:xfrm>
            <a:off x="203534" y="1869252"/>
            <a:ext cx="7840188" cy="4362623"/>
          </a:xfrm>
          <a:prstGeom prst="rect">
            <a:avLst/>
          </a:prstGeom>
          <a:noFill/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000090"/>
                </a:solidFill>
              </a:rPr>
              <a:t>DELIMITER</a:t>
            </a:r>
            <a:r>
              <a:rPr lang="en-US" sz="2400"/>
              <a:t> |</a:t>
            </a:r>
            <a:endParaRPr/>
          </a:p>
          <a:p>
            <a:pPr marL="0" lvl="0" indent="0" algn="l" rtl="0">
              <a:lnSpc>
                <a:spcPct val="6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000090"/>
                </a:solidFill>
              </a:rPr>
              <a:t>CREATE TRIGGER</a:t>
            </a:r>
            <a:r>
              <a:rPr lang="en-US" sz="2400"/>
              <a:t> tr1 </a:t>
            </a:r>
            <a:r>
              <a:rPr lang="en-US" sz="2400">
                <a:solidFill>
                  <a:srgbClr val="000090"/>
                </a:solidFill>
              </a:rPr>
              <a:t>BEFORE INSERT ON</a:t>
            </a:r>
            <a:r>
              <a:rPr lang="en-US" sz="2400"/>
              <a:t> PAYMENTS</a:t>
            </a:r>
            <a:endParaRPr/>
          </a:p>
          <a:p>
            <a:pPr marL="0" lvl="0" indent="0" algn="l" rtl="0">
              <a:lnSpc>
                <a:spcPct val="6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</a:t>
            </a:r>
            <a:r>
              <a:rPr lang="en-US" sz="2400">
                <a:solidFill>
                  <a:srgbClr val="000090"/>
                </a:solidFill>
              </a:rPr>
              <a:t>FOR EACH STATEMENT</a:t>
            </a:r>
            <a:endParaRPr/>
          </a:p>
          <a:p>
            <a:pPr marL="0" lvl="0" indent="0" algn="l" rtl="0">
              <a:lnSpc>
                <a:spcPct val="6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000090"/>
                </a:solidFill>
              </a:rPr>
              <a:t>	BEGIN </a:t>
            </a:r>
            <a:endParaRPr/>
          </a:p>
          <a:p>
            <a:pPr marL="0" lvl="0" indent="0" algn="l" rtl="0">
              <a:lnSpc>
                <a:spcPct val="6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	</a:t>
            </a:r>
            <a:r>
              <a:rPr lang="en-US" sz="2400">
                <a:solidFill>
                  <a:srgbClr val="008000"/>
                </a:solidFill>
              </a:rPr>
              <a:t>IF</a:t>
            </a:r>
            <a:r>
              <a:rPr lang="en-US" sz="2400"/>
              <a:t> new.amount &lt; 100 </a:t>
            </a:r>
            <a:r>
              <a:rPr lang="en-US" sz="2400">
                <a:solidFill>
                  <a:srgbClr val="008000"/>
                </a:solidFill>
              </a:rPr>
              <a:t>THEN</a:t>
            </a:r>
            <a:endParaRPr/>
          </a:p>
          <a:p>
            <a:pPr marL="0" lvl="0" indent="0" algn="l" rtl="0">
              <a:lnSpc>
                <a:spcPct val="6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		SET new.amount = new.amount * 0.90;</a:t>
            </a:r>
            <a:endParaRPr/>
          </a:p>
          <a:p>
            <a:pPr marL="0" lvl="0" indent="0" algn="l" rtl="0">
              <a:lnSpc>
                <a:spcPct val="6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008000"/>
                </a:solidFill>
              </a:rPr>
              <a:t>       		ELSEIF </a:t>
            </a:r>
            <a:r>
              <a:rPr lang="en-US" sz="2400"/>
              <a:t>NEW.amount &gt;= 100 </a:t>
            </a:r>
            <a:r>
              <a:rPr lang="en-US" sz="2400">
                <a:solidFill>
                  <a:srgbClr val="008000"/>
                </a:solidFill>
              </a:rPr>
              <a:t>THEN</a:t>
            </a:r>
            <a:endParaRPr/>
          </a:p>
          <a:p>
            <a:pPr marL="0" lvl="0" indent="0" algn="l" rtl="0">
              <a:lnSpc>
                <a:spcPct val="6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		SET NEW.amount = 0;</a:t>
            </a:r>
            <a:endParaRPr/>
          </a:p>
          <a:p>
            <a:pPr marL="0" lvl="0" indent="0" algn="l" rtl="0">
              <a:lnSpc>
                <a:spcPct val="6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008000"/>
                </a:solidFill>
              </a:rPr>
              <a:t>        		END IF;</a:t>
            </a:r>
            <a:endParaRPr/>
          </a:p>
          <a:p>
            <a:pPr marL="0" lvl="0" indent="0" algn="l" rtl="0">
              <a:lnSpc>
                <a:spcPct val="6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	</a:t>
            </a:r>
            <a:r>
              <a:rPr lang="en-US" sz="2400">
                <a:solidFill>
                  <a:srgbClr val="000090"/>
                </a:solidFill>
              </a:rPr>
              <a:t>END</a:t>
            </a:r>
            <a:r>
              <a:rPr lang="en-US" sz="2400"/>
              <a:t> |</a:t>
            </a:r>
            <a:endParaRPr/>
          </a:p>
          <a:p>
            <a:pPr marL="0" lvl="0" indent="0" algn="l" rtl="0">
              <a:lnSpc>
                <a:spcPct val="6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000090"/>
                </a:solidFill>
              </a:rPr>
              <a:t>DELIMITER</a:t>
            </a:r>
            <a:r>
              <a:rPr lang="en-US" sz="2400"/>
              <a:t> ;</a:t>
            </a:r>
            <a:endParaRPr/>
          </a:p>
        </p:txBody>
      </p:sp>
      <p:sp>
        <p:nvSpPr>
          <p:cNvPr id="335" name="Google Shape;335;p16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8208358" y="1927585"/>
            <a:ext cx="3703869" cy="4116157"/>
          </a:xfrm>
          <a:prstGeom prst="rect">
            <a:avLst/>
          </a:prstGeom>
          <a:noFill/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scriba un trigger que realice un descuento del 10% en los pagos si el monto es menor a $100 y, un descuento del 100% si es mayor o igual $100</a:t>
            </a:r>
            <a:endParaRPr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"/>
          <p:cNvSpPr txBox="1">
            <a:spLocks noGrp="1"/>
          </p:cNvSpPr>
          <p:nvPr>
            <p:ph type="body" idx="1"/>
          </p:nvPr>
        </p:nvSpPr>
        <p:spPr>
          <a:xfrm>
            <a:off x="211678" y="1857805"/>
            <a:ext cx="6467904" cy="4327036"/>
          </a:xfrm>
          <a:prstGeom prst="rect">
            <a:avLst/>
          </a:prstGeom>
          <a:noFill/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US" sz="2040">
                <a:solidFill>
                  <a:srgbClr val="000090"/>
                </a:solidFill>
              </a:rPr>
              <a:t>DELIMITER </a:t>
            </a:r>
            <a:r>
              <a:rPr lang="en-US" sz="2040"/>
              <a:t>||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>
                <a:solidFill>
                  <a:srgbClr val="000090"/>
                </a:solidFill>
              </a:rPr>
              <a:t>CREATE TRIGGER </a:t>
            </a:r>
            <a:r>
              <a:rPr lang="en-US" sz="2040"/>
              <a:t>tr4 </a:t>
            </a:r>
            <a:r>
              <a:rPr lang="en-US" sz="2040">
                <a:solidFill>
                  <a:srgbClr val="000090"/>
                </a:solidFill>
              </a:rPr>
              <a:t>AFTER UPDATE ON </a:t>
            </a:r>
            <a:r>
              <a:rPr lang="en-US" sz="2040"/>
              <a:t>PAYMENTS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/>
              <a:t>     </a:t>
            </a:r>
            <a:r>
              <a:rPr lang="en-US" sz="2040">
                <a:solidFill>
                  <a:srgbClr val="000090"/>
                </a:solidFill>
              </a:rPr>
              <a:t> FOR EACH STATEMENT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>
                <a:solidFill>
                  <a:srgbClr val="000090"/>
                </a:solidFill>
              </a:rPr>
              <a:t>      BEGIN</a:t>
            </a:r>
            <a:r>
              <a:rPr lang="en-US" sz="2040"/>
              <a:t> 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>
                <a:solidFill>
                  <a:srgbClr val="008000"/>
                </a:solidFill>
              </a:rPr>
              <a:t>           IF</a:t>
            </a:r>
            <a:r>
              <a:rPr lang="en-US" sz="2040"/>
              <a:t> new.amount&lt;0 </a:t>
            </a:r>
            <a:r>
              <a:rPr lang="en-US" sz="2040">
                <a:solidFill>
                  <a:srgbClr val="008000"/>
                </a:solidFill>
              </a:rPr>
              <a:t>THEN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/>
              <a:t>	UPDATE customers SET creditLimit = new.amount 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/>
              <a:t>	WHERE customerNumber = new.customerNumber;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>
                <a:solidFill>
                  <a:srgbClr val="008000"/>
                </a:solidFill>
              </a:rPr>
              <a:t>           ELSEIF</a:t>
            </a:r>
            <a:r>
              <a:rPr lang="en-US" sz="2040"/>
              <a:t> new.amount &gt; 100 </a:t>
            </a:r>
            <a:r>
              <a:rPr lang="en-US" sz="2040">
                <a:solidFill>
                  <a:srgbClr val="008000"/>
                </a:solidFill>
              </a:rPr>
              <a:t>THEN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/>
              <a:t>	UPDATE customers SET creditLimit = old.amount+1 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/>
              <a:t>	WHERE customerNumber = new.customerNumber;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>
                <a:solidFill>
                  <a:srgbClr val="008000"/>
                </a:solidFill>
              </a:rPr>
              <a:t>           END IF;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/>
              <a:t>      </a:t>
            </a:r>
            <a:r>
              <a:rPr lang="en-US" sz="2040">
                <a:solidFill>
                  <a:srgbClr val="000090"/>
                </a:solidFill>
              </a:rPr>
              <a:t>END</a:t>
            </a:r>
            <a:r>
              <a:rPr lang="en-US" sz="2040"/>
              <a:t> ||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>
                <a:solidFill>
                  <a:srgbClr val="000090"/>
                </a:solidFill>
              </a:rPr>
              <a:t>DELIMITER </a:t>
            </a:r>
            <a:r>
              <a:rPr lang="en-US" sz="2040"/>
              <a:t>;</a:t>
            </a: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344" name="Google Shape;344;p17"/>
          <p:cNvSpPr txBox="1"/>
          <p:nvPr/>
        </p:nvSpPr>
        <p:spPr>
          <a:xfrm>
            <a:off x="6867740" y="1786481"/>
            <a:ext cx="5127284" cy="4610006"/>
          </a:xfrm>
          <a:prstGeom prst="rect">
            <a:avLst/>
          </a:prstGeom>
          <a:noFill/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Escriba un trigger que se ejecute después de que se actualicen datos en la tabla payments.</a:t>
            </a:r>
            <a:endParaRPr/>
          </a:p>
          <a:p>
            <a:pPr marL="0" marR="0" lvl="0" indent="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 trigger debe actualizar el límite de crédito de acuerdo a la siguiente condición:</a:t>
            </a:r>
            <a:endParaRPr/>
          </a:p>
          <a:p>
            <a:pPr marL="91440" marR="0" lvl="0" indent="-1524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 el monto es menor a 0, el límite de crédito debe tomar el valor del nuevo monto.</a:t>
            </a:r>
            <a:endParaRPr/>
          </a:p>
          <a:p>
            <a:pPr marL="91440" marR="0" lvl="0" indent="-1524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✔"/>
            </a:pPr>
            <a:r>
              <a:rPr lang="en-US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 el monto es mayor a 100, el límite de crédito debe tomar el valor del monto actual + 1.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"/>
          <p:cNvSpPr txBox="1">
            <a:spLocks noGrp="1"/>
          </p:cNvSpPr>
          <p:nvPr>
            <p:ph type="body" idx="1"/>
          </p:nvPr>
        </p:nvSpPr>
        <p:spPr>
          <a:xfrm>
            <a:off x="127000" y="1857805"/>
            <a:ext cx="8937625" cy="4327036"/>
          </a:xfrm>
          <a:prstGeom prst="rect">
            <a:avLst/>
          </a:prstGeom>
          <a:noFill/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endParaRPr sz="2040">
              <a:solidFill>
                <a:srgbClr val="000090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>
                <a:solidFill>
                  <a:srgbClr val="000090"/>
                </a:solidFill>
              </a:rPr>
              <a:t>DELIMITER </a:t>
            </a:r>
            <a:r>
              <a:rPr lang="en-US" sz="2040"/>
              <a:t>||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>
                <a:solidFill>
                  <a:srgbClr val="000090"/>
                </a:solidFill>
              </a:rPr>
              <a:t>CREATE TRIGGER </a:t>
            </a:r>
            <a:r>
              <a:rPr lang="en-US" sz="2040"/>
              <a:t>tr_before_insert_payments </a:t>
            </a:r>
            <a:r>
              <a:rPr lang="en-US" sz="2040">
                <a:solidFill>
                  <a:srgbClr val="000090"/>
                </a:solidFill>
              </a:rPr>
              <a:t>BEFORE INSERT ON </a:t>
            </a:r>
            <a:r>
              <a:rPr lang="en-US" sz="2040"/>
              <a:t>payments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/>
              <a:t>     </a:t>
            </a:r>
            <a:r>
              <a:rPr lang="en-US" sz="2040">
                <a:solidFill>
                  <a:srgbClr val="000090"/>
                </a:solidFill>
              </a:rPr>
              <a:t> FOR EACH ROW WHEN </a:t>
            </a:r>
            <a:r>
              <a:rPr lang="en-US" sz="2040">
                <a:solidFill>
                  <a:schemeClr val="dk1"/>
                </a:solidFill>
              </a:rPr>
              <a:t>amount &gt; 100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>
                <a:solidFill>
                  <a:srgbClr val="000090"/>
                </a:solidFill>
              </a:rPr>
              <a:t>      BEGIN</a:t>
            </a:r>
            <a:r>
              <a:rPr lang="en-US" sz="2040"/>
              <a:t> 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1700" b="1">
                <a:solidFill>
                  <a:srgbClr val="008000"/>
                </a:solidFill>
              </a:rPr>
              <a:t>             SET</a:t>
            </a:r>
            <a:r>
              <a:rPr lang="en-US" sz="1700">
                <a:solidFill>
                  <a:srgbClr val="008000"/>
                </a:solidFill>
              </a:rPr>
              <a:t> </a:t>
            </a:r>
            <a:r>
              <a:rPr lang="en-US" sz="1700"/>
              <a:t>@var = (</a:t>
            </a:r>
            <a:r>
              <a:rPr lang="en-US" sz="1700" b="1">
                <a:solidFill>
                  <a:srgbClr val="008000"/>
                </a:solidFill>
              </a:rPr>
              <a:t>SELECT</a:t>
            </a:r>
            <a:r>
              <a:rPr lang="en-US" sz="1700"/>
              <a:t> city </a:t>
            </a:r>
            <a:r>
              <a:rPr lang="en-US" sz="1700" b="1">
                <a:solidFill>
                  <a:srgbClr val="008000"/>
                </a:solidFill>
              </a:rPr>
              <a:t>FROM</a:t>
            </a:r>
            <a:r>
              <a:rPr lang="en-US" sz="1700">
                <a:solidFill>
                  <a:srgbClr val="008000"/>
                </a:solidFill>
              </a:rPr>
              <a:t> </a:t>
            </a:r>
            <a:r>
              <a:rPr lang="en-US" sz="1700"/>
              <a:t>customers </a:t>
            </a:r>
            <a:r>
              <a:rPr lang="en-US" sz="1700" b="1">
                <a:solidFill>
                  <a:srgbClr val="008000"/>
                </a:solidFill>
              </a:rPr>
              <a:t>WHERE</a:t>
            </a:r>
            <a:r>
              <a:rPr lang="en-US" sz="1700">
                <a:solidFill>
                  <a:srgbClr val="008000"/>
                </a:solidFill>
              </a:rPr>
              <a:t> </a:t>
            </a:r>
            <a:r>
              <a:rPr lang="en-US" sz="1700"/>
              <a:t>customerNumber=new.customerNumber);</a:t>
            </a:r>
            <a:endParaRPr/>
          </a:p>
          <a:p>
            <a:pPr marL="91440" lvl="0" indent="-10795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00"/>
              <a:buChar char=" "/>
            </a:pPr>
            <a:r>
              <a:rPr lang="en-US" sz="1700" b="1">
                <a:solidFill>
                  <a:srgbClr val="008000"/>
                </a:solidFill>
              </a:rPr>
              <a:t>           </a:t>
            </a:r>
            <a:r>
              <a:rPr lang="en-US" sz="1700" b="1">
                <a:solidFill>
                  <a:srgbClr val="0000FF"/>
                </a:solidFill>
              </a:rPr>
              <a:t>IF </a:t>
            </a:r>
            <a:r>
              <a:rPr lang="en-US" sz="1700"/>
              <a:t>@var != “Guayaquil” </a:t>
            </a:r>
            <a:r>
              <a:rPr lang="en-US" sz="1700" b="1">
                <a:solidFill>
                  <a:srgbClr val="0000FF"/>
                </a:solidFill>
              </a:rPr>
              <a:t>THEN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1700" b="1">
                <a:solidFill>
                  <a:srgbClr val="008000"/>
                </a:solidFill>
              </a:rPr>
              <a:t>                   </a:t>
            </a:r>
            <a:r>
              <a:rPr lang="en-US" sz="1700"/>
              <a:t>UPDATE payments SET amount = new.amount*0.50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	WHERE customerNumber = new.customerNumber;</a:t>
            </a:r>
            <a:endParaRPr/>
          </a:p>
          <a:p>
            <a:pPr marL="91440" lvl="0" indent="-10795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700"/>
              <a:buChar char=" "/>
            </a:pPr>
            <a:r>
              <a:rPr lang="en-US" sz="1700"/>
              <a:t>            </a:t>
            </a:r>
            <a:r>
              <a:rPr lang="en-US" sz="1700" b="1">
                <a:solidFill>
                  <a:srgbClr val="0000FF"/>
                </a:solidFill>
              </a:rPr>
              <a:t>END IF;</a:t>
            </a:r>
            <a:endParaRPr sz="2040">
              <a:solidFill>
                <a:srgbClr val="008000"/>
              </a:solidFill>
            </a:endParaRPr>
          </a:p>
          <a:p>
            <a:pPr marL="91440" lvl="0" indent="-129540" algn="l" rtl="0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040"/>
              <a:buChar char=" "/>
            </a:pPr>
            <a:r>
              <a:rPr lang="en-US" sz="2040">
                <a:solidFill>
                  <a:srgbClr val="000090"/>
                </a:solidFill>
              </a:rPr>
              <a:t>     END</a:t>
            </a:r>
            <a:r>
              <a:rPr lang="en-US" sz="2040"/>
              <a:t> ||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SzPts val="2040"/>
              <a:buNone/>
            </a:pPr>
            <a:r>
              <a:rPr lang="en-US" sz="2040">
                <a:solidFill>
                  <a:srgbClr val="000090"/>
                </a:solidFill>
              </a:rPr>
              <a:t>DELIMITER </a:t>
            </a:r>
            <a:r>
              <a:rPr lang="en-US" sz="2040"/>
              <a:t>;</a:t>
            </a:r>
            <a:endParaRPr/>
          </a:p>
        </p:txBody>
      </p:sp>
      <p:sp>
        <p:nvSpPr>
          <p:cNvPr id="351" name="Google Shape;351;p18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352" name="Google Shape;352;p18"/>
          <p:cNvSpPr txBox="1"/>
          <p:nvPr/>
        </p:nvSpPr>
        <p:spPr>
          <a:xfrm>
            <a:off x="9223374" y="341856"/>
            <a:ext cx="2755773" cy="594464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Una compañía está realizando una campaña en todas sus sucursales a nivel nacional, excepto a Guayaquil.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 campaña consiste en un 50% de descuento en todas las compras que realicen sus clientes.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Escriba los comandos necesarios para que realice automáticamente lo que la compañía necesita</a:t>
            </a:r>
            <a:endParaRPr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0"/>
              <a:buFont typeface="Arial"/>
              <a:buNone/>
            </a:pPr>
            <a:r>
              <a:rPr lang="en-US" sz="7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5.2. STORED PROCEDURES</a:t>
            </a:r>
            <a:endParaRPr/>
          </a:p>
        </p:txBody>
      </p:sp>
      <p:sp>
        <p:nvSpPr>
          <p:cNvPr id="371" name="Google Shape;371;p21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5. LENGUAJE QUERY AVANZADO</a:t>
            </a:r>
            <a:endParaRPr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✔"/>
            </a:pPr>
            <a:r>
              <a:rPr lang="en-US"/>
              <a:t>Es un programa (o procedimiento) el cual es almacenado físicamente en una base de datos.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✔"/>
            </a:pPr>
            <a:r>
              <a:rPr lang="en-US"/>
              <a:t>La ventaja es que al ser ejecutado, en respuesta a una petición de usuario, es ejecutado directamente en el motor de bases de datos, el cual usualmente corre en un servidor separado.</a:t>
            </a: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✔"/>
            </a:pPr>
            <a:r>
              <a:rPr lang="en-US"/>
              <a:t>Como tal, posee acceso directo a los datos que necesita manipular y sólo necesita enviar sus resultados de regreso al usuario, deshaciéndose de la sobrecarga resultante de comunicar grandes cantidades de datos salientes y entrantes.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STORED PROCEDURE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3"/>
          <p:cNvSpPr/>
          <p:nvPr/>
        </p:nvSpPr>
        <p:spPr>
          <a:xfrm>
            <a:off x="3384316" y="4182993"/>
            <a:ext cx="2644178" cy="308419"/>
          </a:xfrm>
          <a:prstGeom prst="rect">
            <a:avLst/>
          </a:prstGeom>
          <a:solidFill>
            <a:srgbClr val="D3EB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3384316" y="2736443"/>
            <a:ext cx="2644178" cy="308419"/>
          </a:xfrm>
          <a:prstGeom prst="rect">
            <a:avLst/>
          </a:prstGeom>
          <a:solidFill>
            <a:srgbClr val="D3EB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Sintáxis - STORED PROCEDURE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DELIMITER</a:t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3384316" y="2736443"/>
            <a:ext cx="5142464" cy="175496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CREATE PROCEDURE </a:t>
            </a:r>
            <a:r>
              <a:rPr lang="en-US" sz="1800" i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&lt;procedure_name&gt;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/sentencias</a:t>
            </a:r>
            <a:endParaRPr sz="18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END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  <p:cxnSp>
        <p:nvCxnSpPr>
          <p:cNvPr id="386" name="Google Shape;386;p23"/>
          <p:cNvCxnSpPr/>
          <p:nvPr/>
        </p:nvCxnSpPr>
        <p:spPr>
          <a:xfrm rot="10800000">
            <a:off x="4171950" y="3990353"/>
            <a:ext cx="2011680" cy="924548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4"/>
          <p:cNvSpPr/>
          <p:nvPr/>
        </p:nvSpPr>
        <p:spPr>
          <a:xfrm>
            <a:off x="3384316" y="3056483"/>
            <a:ext cx="4022324" cy="308419"/>
          </a:xfrm>
          <a:prstGeom prst="rect">
            <a:avLst/>
          </a:prstGeom>
          <a:solidFill>
            <a:srgbClr val="D3EB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Sintáxis - STORED PROCEDURE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CREACIÓN</a:t>
            </a:r>
            <a:endParaRPr/>
          </a:p>
        </p:txBody>
      </p:sp>
      <p:sp>
        <p:nvSpPr>
          <p:cNvPr id="393" name="Google Shape;393;p24"/>
          <p:cNvSpPr/>
          <p:nvPr/>
        </p:nvSpPr>
        <p:spPr>
          <a:xfrm>
            <a:off x="3384316" y="2736443"/>
            <a:ext cx="5142464" cy="175496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CREATE PROCEDURE </a:t>
            </a:r>
            <a:r>
              <a:rPr lang="en-US" sz="1800" i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&lt;procedure_name&gt;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/sentencias</a:t>
            </a:r>
            <a:endParaRPr sz="18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END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5"/>
          <p:cNvSpPr/>
          <p:nvPr/>
        </p:nvSpPr>
        <p:spPr>
          <a:xfrm>
            <a:off x="3384316" y="3886644"/>
            <a:ext cx="2644178" cy="308419"/>
          </a:xfrm>
          <a:prstGeom prst="rect">
            <a:avLst/>
          </a:prstGeom>
          <a:solidFill>
            <a:srgbClr val="D3EB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3384316" y="3305509"/>
            <a:ext cx="2644178" cy="308419"/>
          </a:xfrm>
          <a:prstGeom prst="rect">
            <a:avLst/>
          </a:prstGeom>
          <a:solidFill>
            <a:srgbClr val="D3EBD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5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Sintáxis - STORED PROCEDURE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BEGIN &amp; END</a:t>
            </a:r>
            <a:endParaRPr/>
          </a:p>
        </p:txBody>
      </p:sp>
      <p:sp>
        <p:nvSpPr>
          <p:cNvPr id="401" name="Google Shape;401;p25"/>
          <p:cNvSpPr/>
          <p:nvPr/>
        </p:nvSpPr>
        <p:spPr>
          <a:xfrm>
            <a:off x="3384316" y="2736443"/>
            <a:ext cx="5142464" cy="175496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CREATE PROCEDURE </a:t>
            </a:r>
            <a:r>
              <a:rPr lang="en-US" sz="1800" i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&lt;procedure_name&gt;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/sentencias</a:t>
            </a:r>
            <a:endParaRPr sz="18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END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  <p:cxnSp>
        <p:nvCxnSpPr>
          <p:cNvPr id="402" name="Google Shape;402;p25"/>
          <p:cNvCxnSpPr/>
          <p:nvPr/>
        </p:nvCxnSpPr>
        <p:spPr>
          <a:xfrm rot="10800000">
            <a:off x="5084160" y="3750286"/>
            <a:ext cx="89154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3" name="Google Shape;403;p25"/>
          <p:cNvSpPr txBox="1"/>
          <p:nvPr/>
        </p:nvSpPr>
        <p:spPr>
          <a:xfrm>
            <a:off x="6026269" y="3565620"/>
            <a:ext cx="25027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SENTENCIAS A EJECUTAR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6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Sintáxis - STORED PROCEDURE</a:t>
            </a:r>
            <a:endParaRPr/>
          </a:p>
        </p:txBody>
      </p:sp>
      <p:sp>
        <p:nvSpPr>
          <p:cNvPr id="409" name="Google Shape;409;p26"/>
          <p:cNvSpPr txBox="1">
            <a:spLocks noGrp="1"/>
          </p:cNvSpPr>
          <p:nvPr>
            <p:ph type="body" idx="1"/>
          </p:nvPr>
        </p:nvSpPr>
        <p:spPr>
          <a:xfrm>
            <a:off x="3247054" y="4392229"/>
            <a:ext cx="5354125" cy="804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i="1"/>
              <a:t>Llamada al stored procedure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call </a:t>
            </a:r>
            <a:r>
              <a:rPr lang="en-US" i="1"/>
              <a:t>ObtenerClientes();</a:t>
            </a:r>
            <a:endParaRPr/>
          </a:p>
        </p:txBody>
      </p:sp>
      <p:sp>
        <p:nvSpPr>
          <p:cNvPr id="410" name="Google Shape;410;p26"/>
          <p:cNvSpPr/>
          <p:nvPr/>
        </p:nvSpPr>
        <p:spPr>
          <a:xfrm>
            <a:off x="3125106" y="2797677"/>
            <a:ext cx="6486359" cy="147797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CREATE PROCEDURE </a:t>
            </a:r>
            <a:r>
              <a:rPr lang="en-US" sz="1800" i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obtenerClientes()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SELECT NUMCLIE, EMPRESA, LIMITECREDITO FROM CLIENTES;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✔"/>
            </a:pPr>
            <a:r>
              <a:rPr lang="en-US"/>
              <a:t> No retornan valores: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None/>
            </a:pP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None/>
            </a:pP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✔"/>
            </a:pPr>
            <a:r>
              <a:rPr lang="en-US"/>
              <a:t> Retornan 1 o n valores (donde n es un entero definido):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None/>
            </a:pPr>
            <a:endParaRPr/>
          </a:p>
          <a:p>
            <a:pPr marL="91440" lvl="0" indent="-1270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✔"/>
            </a:pPr>
            <a:r>
              <a:rPr lang="en-US"/>
              <a:t> Retornan un set de valores (cantidad aleatoria):</a:t>
            </a:r>
            <a:endParaRPr/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None/>
            </a:pPr>
            <a:endParaRPr/>
          </a:p>
        </p:txBody>
      </p:sp>
      <p:sp>
        <p:nvSpPr>
          <p:cNvPr id="416" name="Google Shape;416;p27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Tipos de STORED PROCEDURE</a:t>
            </a: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1979064" y="2289533"/>
            <a:ext cx="1568495" cy="120097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</a:t>
            </a: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3905245" y="2595182"/>
            <a:ext cx="1153313" cy="52386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DML</a:t>
            </a:r>
            <a:endParaRPr/>
          </a:p>
        </p:txBody>
      </p:sp>
      <p:sp>
        <p:nvSpPr>
          <p:cNvPr id="419" name="Google Shape;419;p27"/>
          <p:cNvSpPr/>
          <p:nvPr/>
        </p:nvSpPr>
        <p:spPr>
          <a:xfrm>
            <a:off x="1978174" y="4105806"/>
            <a:ext cx="1568495" cy="46230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/>
          </a:p>
        </p:txBody>
      </p:sp>
      <p:sp>
        <p:nvSpPr>
          <p:cNvPr id="420" name="Google Shape;420;p27"/>
          <p:cNvSpPr/>
          <p:nvPr/>
        </p:nvSpPr>
        <p:spPr>
          <a:xfrm>
            <a:off x="1977285" y="5112035"/>
            <a:ext cx="1568495" cy="46230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8"/>
          <p:cNvSpPr txBox="1">
            <a:spLocks noGrp="1"/>
          </p:cNvSpPr>
          <p:nvPr>
            <p:ph type="body" idx="1"/>
          </p:nvPr>
        </p:nvSpPr>
        <p:spPr>
          <a:xfrm>
            <a:off x="4185871" y="4515340"/>
            <a:ext cx="4987894" cy="896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Llamada al stored procedure: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call insertarLineasDeProductosTemp(105);</a:t>
            </a:r>
            <a:endParaRPr/>
          </a:p>
        </p:txBody>
      </p:sp>
      <p:sp>
        <p:nvSpPr>
          <p:cNvPr id="426" name="Google Shape;426;p28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EJEMPLO (no retorno)</a:t>
            </a: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1592976" y="2183901"/>
            <a:ext cx="8900875" cy="175496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CREATE PROCEDURE </a:t>
            </a:r>
            <a:r>
              <a:rPr lang="en-US" sz="1800" i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insertarLineasDeProductosTemp</a:t>
            </a:r>
            <a:r>
              <a:rPr lang="en-US" sz="1800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(IN prodID int)</a:t>
            </a:r>
            <a:endParaRPr sz="1800" i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INSERT INTO ProuctLineTemp SELECT * FROM productsLines where productLine=prodID;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END//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9"/>
          <p:cNvSpPr txBox="1">
            <a:spLocks noGrp="1"/>
          </p:cNvSpPr>
          <p:nvPr>
            <p:ph type="body" idx="1"/>
          </p:nvPr>
        </p:nvSpPr>
        <p:spPr>
          <a:xfrm>
            <a:off x="2908994" y="4473391"/>
            <a:ext cx="5863731" cy="13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Llamada al procedure: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call clientePorPedidos(2118, @client);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select @client;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433" name="Google Shape;433;p29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EJEMPLO (in / out) 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(1 Registro / 1 Variable)</a:t>
            </a:r>
            <a:endParaRPr/>
          </a:p>
        </p:txBody>
      </p:sp>
      <p:sp>
        <p:nvSpPr>
          <p:cNvPr id="434" name="Google Shape;434;p29"/>
          <p:cNvSpPr/>
          <p:nvPr/>
        </p:nvSpPr>
        <p:spPr>
          <a:xfrm>
            <a:off x="1689452" y="2211027"/>
            <a:ext cx="8704139" cy="175496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CREATE PROCEDURE </a:t>
            </a:r>
            <a:r>
              <a:rPr lang="en-US" sz="1800" i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clientePorPedido(IN idOrden INT, OUT cliente INT)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customerNumber </a:t>
            </a:r>
            <a:r>
              <a:rPr lang="en-US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into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ORDERS where orderNumber=idOrden;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END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0"/>
          <p:cNvSpPr txBox="1">
            <a:spLocks noGrp="1"/>
          </p:cNvSpPr>
          <p:nvPr>
            <p:ph type="body" idx="1"/>
          </p:nvPr>
        </p:nvSpPr>
        <p:spPr>
          <a:xfrm>
            <a:off x="2908994" y="4473391"/>
            <a:ext cx="6548840" cy="13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Llamada al procedure: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call clientePorPedidos(2118,@numOrden, @client);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select @numOrden, @cliente;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440" name="Google Shape;440;p30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EJEMPLO (in / out) 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(1 Registro / 2 Variables)</a:t>
            </a:r>
            <a:endParaRPr/>
          </a:p>
        </p:txBody>
      </p:sp>
      <p:sp>
        <p:nvSpPr>
          <p:cNvPr id="441" name="Google Shape;441;p30"/>
          <p:cNvSpPr/>
          <p:nvPr/>
        </p:nvSpPr>
        <p:spPr>
          <a:xfrm>
            <a:off x="534719" y="2211027"/>
            <a:ext cx="10945021" cy="175496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CREATE PROCEDURE </a:t>
            </a:r>
            <a:r>
              <a:rPr lang="en-US" sz="1800" i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clientePorPedido(IN orden int, OUT numOrden int, OUT cliente int)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orderNumber, customerNumber </a:t>
            </a:r>
            <a:r>
              <a:rPr lang="en-US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into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numOrden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b="1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ORDERS where orderNumber=orden;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END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1"/>
          <p:cNvSpPr txBox="1">
            <a:spLocks noGrp="1"/>
          </p:cNvSpPr>
          <p:nvPr>
            <p:ph type="body" idx="1"/>
          </p:nvPr>
        </p:nvSpPr>
        <p:spPr>
          <a:xfrm>
            <a:off x="3291861" y="4515340"/>
            <a:ext cx="4779047" cy="896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Llamada al stored procedure: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call obtenerClienteID ("Schmitt","Carine");</a:t>
            </a:r>
            <a:endParaRPr/>
          </a:p>
        </p:txBody>
      </p:sp>
      <p:sp>
        <p:nvSpPr>
          <p:cNvPr id="447" name="Google Shape;447;p31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EJEMPLO (in)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(1 Registro / </a:t>
            </a:r>
            <a:r>
              <a:rPr lang="en-US" sz="4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Variables)</a:t>
            </a: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718527" y="2200612"/>
            <a:ext cx="11045279" cy="175496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CREATE PROCEDURE </a:t>
            </a:r>
            <a:r>
              <a:rPr lang="en-US" sz="1800" i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obtenerClienteID </a:t>
            </a:r>
            <a:r>
              <a:rPr lang="en-US" sz="1800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(IN cLName varchar(60), IN cFName varchar(60))</a:t>
            </a:r>
            <a:endParaRPr sz="1800" i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SELECT customerNumber FROM CUSTOMERS where contactLastName=cLName and contactFirstName=cFName;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END//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2"/>
          <p:cNvSpPr txBox="1">
            <a:spLocks noGrp="1"/>
          </p:cNvSpPr>
          <p:nvPr>
            <p:ph type="body" idx="1"/>
          </p:nvPr>
        </p:nvSpPr>
        <p:spPr>
          <a:xfrm>
            <a:off x="3291861" y="4515340"/>
            <a:ext cx="5330476" cy="896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Llamada al stored procedure: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call obtenerClientesPorCreditoMayor(12000);</a:t>
            </a:r>
            <a:endParaRPr/>
          </a:p>
        </p:txBody>
      </p:sp>
      <p:sp>
        <p:nvSpPr>
          <p:cNvPr id="454" name="Google Shape;454;p32"/>
          <p:cNvSpPr txBox="1"/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EJEMPLO (in)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</a:pP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(n Registro / </a:t>
            </a:r>
            <a:r>
              <a:rPr lang="en-US" sz="4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lang="en-US" sz="48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Variables)</a:t>
            </a:r>
            <a:endParaRPr/>
          </a:p>
        </p:txBody>
      </p:sp>
      <p:sp>
        <p:nvSpPr>
          <p:cNvPr id="455" name="Google Shape;455;p32"/>
          <p:cNvSpPr/>
          <p:nvPr/>
        </p:nvSpPr>
        <p:spPr>
          <a:xfrm>
            <a:off x="1670997" y="2133766"/>
            <a:ext cx="9090214" cy="175496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 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CREATE PROCEDURE </a:t>
            </a:r>
            <a:r>
              <a:rPr lang="en-US" sz="1800" i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obtenerClientesPorCreditoMayor </a:t>
            </a:r>
            <a:r>
              <a:rPr lang="en-US" sz="1800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(IN valor int)</a:t>
            </a:r>
            <a:endParaRPr sz="1800" i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BEGIN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SELECT contactLastName, contactFirstName FROM customers WHERE creditLimit&gt;valor;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END//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DELIMITER;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Custom 2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A8DFF3"/>
      </a:accent1>
      <a:accent2>
        <a:srgbClr val="2C8ED5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Retrospect">
  <a:themeElements>
    <a:clrScheme name="Custom 2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A8DFF3"/>
      </a:accent1>
      <a:accent2>
        <a:srgbClr val="2C8ED5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2263</Words>
  <Application>Microsoft Macintosh PowerPoint</Application>
  <PresentationFormat>Widescreen</PresentationFormat>
  <Paragraphs>323</Paragraphs>
  <Slides>30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Arimo</vt:lpstr>
      <vt:lpstr>Calibri</vt:lpstr>
      <vt:lpstr>Noto Sans Symbols</vt:lpstr>
      <vt:lpstr>Retrospect</vt:lpstr>
      <vt:lpstr>1_Retrospect</vt:lpstr>
      <vt:lpstr>Excel.Sheet.8</vt:lpstr>
      <vt:lpstr>SISTEMAS DE  BASES DE DATOS  TICG1001</vt:lpstr>
      <vt:lpstr>PowerPoint Presentation</vt:lpstr>
      <vt:lpstr>5.1. VIEWS</vt:lpstr>
      <vt:lpstr>PowerPoint Presentation</vt:lpstr>
      <vt:lpstr>PowerPoint Presentation</vt:lpstr>
      <vt:lpstr>PowerPoint Presentation</vt:lpstr>
      <vt:lpstr>5.3 TRIGGERS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5.2. STORED PROCEDURES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DE  BASES DE DATOS  TICG1001</dc:title>
  <dc:creator>paolis</dc:creator>
  <cp:lastModifiedBy>Vanessa Ines Cedeno Mieles</cp:lastModifiedBy>
  <cp:revision>1</cp:revision>
  <dcterms:created xsi:type="dcterms:W3CDTF">2016-04-18T15:18:48Z</dcterms:created>
  <dcterms:modified xsi:type="dcterms:W3CDTF">2020-01-04T17:43:45Z</dcterms:modified>
</cp:coreProperties>
</file>
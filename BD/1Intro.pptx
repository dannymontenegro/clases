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70" r:id="rId4"/>
    <p:sldId id="274" r:id="rId5"/>
    <p:sldId id="275" r:id="rId6"/>
    <p:sldId id="276" r:id="rId7"/>
    <p:sldId id="277" r:id="rId8"/>
    <p:sldId id="257" r:id="rId9"/>
    <p:sldId id="258" r:id="rId10"/>
    <p:sldId id="259" r:id="rId11"/>
    <p:sldId id="266" r:id="rId12"/>
    <p:sldId id="260" r:id="rId13"/>
    <p:sldId id="263" r:id="rId14"/>
    <p:sldId id="272" r:id="rId15"/>
    <p:sldId id="262" r:id="rId16"/>
    <p:sldId id="264" r:id="rId17"/>
    <p:sldId id="265" r:id="rId18"/>
    <p:sldId id="273" r:id="rId19"/>
    <p:sldId id="271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7"/>
    <p:restoredTop sz="73263" autoAdjust="0"/>
  </p:normalViewPr>
  <p:slideViewPr>
    <p:cSldViewPr>
      <p:cViewPr varScale="1">
        <p:scale>
          <a:sx n="76" d="100"/>
          <a:sy n="76" d="100"/>
        </p:scale>
        <p:origin x="17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2CAB7-617F-48F7-A057-CE5E17BE1024}" type="datetimeFigureOut">
              <a:rPr lang="es-EC" smtClean="0"/>
              <a:pPr/>
              <a:t>26/9/19</a:t>
            </a:fld>
            <a:endParaRPr lang="es-EC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447FF-C0A4-401D-BDA1-02D8DF2B4C4D}" type="slidenum">
              <a:rPr lang="es-EC" smtClean="0"/>
              <a:pPr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9182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112">
              <a:defRPr sz="1200">
                <a:solidFill>
                  <a:srgbClr val="CF0E30"/>
                </a:solidFill>
                <a:latin typeface="Book Antiqua" pitchFamily="18" charset="0"/>
              </a:defRPr>
            </a:lvl1pPr>
            <a:lvl2pPr marL="730840" indent="-281092" defTabSz="915112">
              <a:defRPr sz="1200">
                <a:solidFill>
                  <a:srgbClr val="CF0E30"/>
                </a:solidFill>
                <a:latin typeface="Book Antiqua" pitchFamily="18" charset="0"/>
              </a:defRPr>
            </a:lvl2pPr>
            <a:lvl3pPr marL="1124369" indent="-224874" defTabSz="915112">
              <a:defRPr sz="1200">
                <a:solidFill>
                  <a:srgbClr val="CF0E30"/>
                </a:solidFill>
                <a:latin typeface="Book Antiqua" pitchFamily="18" charset="0"/>
              </a:defRPr>
            </a:lvl3pPr>
            <a:lvl4pPr marL="1574117" indent="-224874" defTabSz="915112">
              <a:defRPr sz="1200">
                <a:solidFill>
                  <a:srgbClr val="CF0E30"/>
                </a:solidFill>
                <a:latin typeface="Book Antiqua" pitchFamily="18" charset="0"/>
              </a:defRPr>
            </a:lvl4pPr>
            <a:lvl5pPr marL="2023864" indent="-224874" defTabSz="915112">
              <a:defRPr sz="1200">
                <a:solidFill>
                  <a:srgbClr val="CF0E30"/>
                </a:solidFill>
                <a:latin typeface="Book Antiqua" pitchFamily="18" charset="0"/>
              </a:defRPr>
            </a:lvl5pPr>
            <a:lvl6pPr marL="2473612" indent="-224874" defTabSz="91511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6pPr>
            <a:lvl7pPr marL="2923360" indent="-224874" defTabSz="91511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7pPr>
            <a:lvl8pPr marL="3373107" indent="-224874" defTabSz="91511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8pPr>
            <a:lvl9pPr marL="3822855" indent="-224874" defTabSz="91511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9pPr>
          </a:lstStyle>
          <a:p>
            <a:fld id="{55159DAE-AF1D-406E-92F5-8D4F6D666096}" type="slidenum">
              <a:rPr lang="en-US" sz="1000">
                <a:solidFill>
                  <a:schemeClr val="tx1"/>
                </a:solidFill>
                <a:latin typeface="Times New Roman" pitchFamily="18" charset="0"/>
              </a:rPr>
              <a:pPr/>
              <a:t>3</a:t>
            </a:fld>
            <a:endParaRPr lang="en-US" sz="1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dirty="0"/>
              <a:t>-El usuario de un sistema relacional no tenía que preocuparse de la estructura de almacenamiento, sólo debía preocuparse por el qué consultar y no el cómo. </a:t>
            </a:r>
          </a:p>
          <a:p>
            <a:r>
              <a:rPr lang="es-EC" dirty="0"/>
              <a:t>-La aceptación del Modelo Relacional no fue inmediata en parte por la naturaleza técnica del artículo y a su base matemática</a:t>
            </a:r>
          </a:p>
          <a:p>
            <a:r>
              <a:rPr lang="es-EC" dirty="0"/>
              <a:t>-Se dudaba de la eficiencia del modelo aún dentro de IBM</a:t>
            </a:r>
          </a:p>
          <a:p>
            <a:r>
              <a:rPr lang="es-EC" dirty="0"/>
              <a:t>-</a:t>
            </a:r>
            <a:r>
              <a:rPr lang="es-EC" dirty="0" err="1"/>
              <a:t>Codd</a:t>
            </a:r>
            <a:r>
              <a:rPr lang="es-EC" dirty="0"/>
              <a:t> publicó el artículo en una revista de ámbito científico la respuesta externa al artículo fuera muy positiva</a:t>
            </a:r>
          </a:p>
          <a:p>
            <a:r>
              <a:rPr lang="es-EC" dirty="0"/>
              <a:t>-Se acogió la idea con todo su potencial comercial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C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C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D447FF-C0A4-401D-BDA1-02D8DF2B4C4D}" type="slidenum">
              <a:rPr lang="es-EC" smtClean="0"/>
              <a:pPr/>
              <a:t>13</a:t>
            </a:fld>
            <a:endParaRPr lang="es-EC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77200" cy="1470025"/>
          </a:xfrm>
        </p:spPr>
        <p:txBody>
          <a:bodyPr>
            <a:normAutofit fontScale="90000"/>
          </a:bodyPr>
          <a:lstStyle/>
          <a:p>
            <a:br>
              <a:rPr lang="es-ES" b="1" dirty="0"/>
            </a:br>
            <a:r>
              <a:rPr lang="es-ES" b="1" dirty="0"/>
              <a:t>SISTEMAS DE BASES DE DATOS </a:t>
            </a:r>
            <a:br>
              <a:rPr lang="es-EC" dirty="0"/>
            </a:br>
            <a:r>
              <a:rPr lang="es-EC" dirty="0"/>
              <a:t>Ing. Vanessa Cedeño Mieles</a:t>
            </a:r>
            <a:br>
              <a:rPr lang="es-EC" dirty="0"/>
            </a:br>
            <a:r>
              <a:rPr lang="es-EC" dirty="0"/>
              <a:t>2019-II</a:t>
            </a:r>
            <a:br>
              <a:rPr lang="es-EC" dirty="0"/>
            </a:br>
            <a:r>
              <a:rPr lang="es-EC" dirty="0"/>
              <a:t>Introducción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Objetivos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>
              <a:buNone/>
            </a:pPr>
            <a:r>
              <a:rPr lang="es-EC" dirty="0"/>
              <a:t>	•Tecnología de los RDBMS</a:t>
            </a:r>
            <a:br>
              <a:rPr lang="es-EC" dirty="0"/>
            </a:br>
            <a:r>
              <a:rPr lang="es-EC" dirty="0"/>
              <a:t>•Evolución de los RDBMS</a:t>
            </a:r>
            <a:br>
              <a:rPr lang="es-EC" dirty="0"/>
            </a:br>
            <a:r>
              <a:rPr lang="es-EC" dirty="0"/>
              <a:t>•Cliente/Servidor: Los componentes</a:t>
            </a:r>
            <a:br>
              <a:rPr lang="es-EC" dirty="0"/>
            </a:br>
            <a:r>
              <a:rPr lang="es-EC" dirty="0"/>
              <a:t>•Glosario de términos usados en Bases de Datos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CF0E30"/>
                </a:solidFill>
                <a:latin typeface="Book Antiqua" pitchFamily="18" charset="0"/>
              </a:defRPr>
            </a:lvl1pPr>
            <a:lvl2pPr marL="742950" indent="-285750">
              <a:defRPr sz="1200">
                <a:solidFill>
                  <a:srgbClr val="CF0E30"/>
                </a:solidFill>
                <a:latin typeface="Book Antiqua" pitchFamily="18" charset="0"/>
              </a:defRPr>
            </a:lvl2pPr>
            <a:lvl3pPr marL="1143000" indent="-228600">
              <a:defRPr sz="1200">
                <a:solidFill>
                  <a:srgbClr val="CF0E30"/>
                </a:solidFill>
                <a:latin typeface="Book Antiqua" pitchFamily="18" charset="0"/>
              </a:defRPr>
            </a:lvl3pPr>
            <a:lvl4pPr marL="1600200" indent="-228600">
              <a:defRPr sz="1200">
                <a:solidFill>
                  <a:srgbClr val="CF0E30"/>
                </a:solidFill>
                <a:latin typeface="Book Antiqua" pitchFamily="18" charset="0"/>
              </a:defRPr>
            </a:lvl4pPr>
            <a:lvl5pPr marL="2057400" indent="-228600">
              <a:defRPr sz="1200">
                <a:solidFill>
                  <a:srgbClr val="CF0E30"/>
                </a:solidFill>
                <a:latin typeface="Book Antiqua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</a:defRPr>
            </a:lvl9pPr>
          </a:lstStyle>
          <a:p>
            <a:endParaRPr lang="en-US">
              <a:solidFill>
                <a:schemeClr val="tx1"/>
              </a:solidFill>
              <a:latin typeface="Times New Roman" pitchFamily="18" charset="0"/>
            </a:endParaRPr>
          </a:p>
          <a:p>
            <a:endParaRPr lang="en-US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1143000"/>
          </a:xfrm>
          <a:noFill/>
        </p:spPr>
        <p:txBody>
          <a:bodyPr>
            <a:normAutofit fontScale="90000"/>
          </a:bodyPr>
          <a:lstStyle/>
          <a:p>
            <a:r>
              <a:rPr lang="es-EC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un </a:t>
            </a:r>
            <a:r>
              <a:rPr lang="en-US" u="sng" dirty="0" err="1"/>
              <a:t>sistema</a:t>
            </a:r>
            <a:r>
              <a:rPr lang="en-US" dirty="0"/>
              <a:t> de Bases de </a:t>
            </a:r>
            <a:r>
              <a:rPr lang="en-US" dirty="0" err="1"/>
              <a:t>Datos</a:t>
            </a:r>
            <a:r>
              <a:rPr lang="en-US" dirty="0"/>
              <a:t>?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724400"/>
          </a:xfrm>
          <a:noFill/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Base de </a:t>
            </a:r>
            <a:r>
              <a:rPr lang="en-US" dirty="0" err="1"/>
              <a:t>Datos</a:t>
            </a:r>
            <a:r>
              <a:rPr lang="en-US" dirty="0"/>
              <a:t>:                                                                            	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colección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almacenados</a:t>
            </a:r>
            <a:r>
              <a:rPr lang="en-US" dirty="0"/>
              <a:t>,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y </a:t>
            </a:r>
            <a:r>
              <a:rPr lang="en-US" dirty="0" err="1"/>
              <a:t>estructurada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i="1" u="sng" dirty="0" err="1">
                <a:solidFill>
                  <a:schemeClr val="accent2"/>
                </a:solidFill>
              </a:rPr>
              <a:t>empresa</a:t>
            </a:r>
            <a:r>
              <a:rPr lang="en-US" i="1" u="sng" dirty="0">
                <a:solidFill>
                  <a:schemeClr val="accent2"/>
                </a:solidFill>
              </a:rPr>
              <a:t> </a:t>
            </a:r>
            <a:r>
              <a:rPr lang="en-US" dirty="0"/>
              <a:t>de la </a:t>
            </a:r>
            <a:r>
              <a:rPr lang="en-US" dirty="0" err="1"/>
              <a:t>vida</a:t>
            </a:r>
            <a:r>
              <a:rPr lang="en-US" dirty="0"/>
              <a:t> real</a:t>
            </a:r>
            <a:endParaRPr lang="en-US" i="1" u="sng" dirty="0"/>
          </a:p>
          <a:p>
            <a:pPr lvl="1">
              <a:lnSpc>
                <a:spcPct val="90000"/>
              </a:lnSpc>
            </a:pPr>
            <a:r>
              <a:rPr lang="en-US" dirty="0"/>
              <a:t> </a:t>
            </a:r>
            <a:r>
              <a:rPr lang="en-US" dirty="0" err="1">
                <a:solidFill>
                  <a:srgbClr val="004080"/>
                </a:solidFill>
              </a:rPr>
              <a:t>Entidades</a:t>
            </a:r>
            <a:r>
              <a:rPr lang="en-US" dirty="0"/>
              <a:t>(</a:t>
            </a:r>
            <a:r>
              <a:rPr lang="en-US" dirty="0" err="1"/>
              <a:t>e.j</a:t>
            </a:r>
            <a:r>
              <a:rPr lang="en-US" dirty="0"/>
              <a:t>., </a:t>
            </a:r>
            <a:r>
              <a:rPr lang="en-US" dirty="0" err="1">
                <a:solidFill>
                  <a:srgbClr val="004080"/>
                </a:solidFill>
              </a:rPr>
              <a:t>profesores</a:t>
            </a:r>
            <a:r>
              <a:rPr lang="en-US" dirty="0"/>
              <a:t>, </a:t>
            </a:r>
            <a:r>
              <a:rPr lang="en-US" dirty="0" err="1">
                <a:solidFill>
                  <a:srgbClr val="004080"/>
                </a:solidFill>
              </a:rPr>
              <a:t>materias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 </a:t>
            </a:r>
            <a:r>
              <a:rPr lang="en-US" dirty="0" err="1">
                <a:solidFill>
                  <a:schemeClr val="folHlink"/>
                </a:solidFill>
              </a:rPr>
              <a:t>Relaciones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e.j</a:t>
            </a:r>
            <a:r>
              <a:rPr lang="en-US" dirty="0"/>
              <a:t>., </a:t>
            </a:r>
            <a:r>
              <a:rPr lang="en-US" dirty="0">
                <a:solidFill>
                  <a:srgbClr val="004080"/>
                </a:solidFill>
              </a:rPr>
              <a:t>Vanessa </a:t>
            </a:r>
            <a:r>
              <a:rPr lang="en-US" i="1" dirty="0">
                <a:solidFill>
                  <a:schemeClr val="folHlink"/>
                </a:solidFill>
              </a:rPr>
              <a:t>dicta </a:t>
            </a:r>
            <a:r>
              <a:rPr lang="en-US" dirty="0" err="1">
                <a:solidFill>
                  <a:srgbClr val="004080"/>
                </a:solidFill>
              </a:rPr>
              <a:t>Sistemas</a:t>
            </a:r>
            <a:r>
              <a:rPr lang="en-US" dirty="0">
                <a:solidFill>
                  <a:srgbClr val="004080"/>
                </a:solidFill>
              </a:rPr>
              <a:t> de Bases de </a:t>
            </a:r>
            <a:r>
              <a:rPr lang="en-US" dirty="0" err="1">
                <a:solidFill>
                  <a:srgbClr val="004080"/>
                </a:solidFill>
              </a:rPr>
              <a:t>Datos</a:t>
            </a:r>
            <a:r>
              <a:rPr lang="en-US" dirty="0">
                <a:solidFill>
                  <a:srgbClr val="004080"/>
                </a:solidFill>
              </a:rPr>
              <a:t> I</a:t>
            </a:r>
            <a:r>
              <a:rPr lang="en-US" dirty="0"/>
              <a:t>)</a:t>
            </a:r>
          </a:p>
          <a:p>
            <a:pPr>
              <a:lnSpc>
                <a:spcPct val="90000"/>
              </a:lnSpc>
            </a:pPr>
            <a:r>
              <a:rPr lang="en-US" dirty="0"/>
              <a:t>Un </a:t>
            </a:r>
            <a:r>
              <a:rPr lang="en-US" i="1" u="sng" dirty="0">
                <a:solidFill>
                  <a:schemeClr val="accent2"/>
                </a:solidFill>
              </a:rPr>
              <a:t>Database Management System (DBMS)</a:t>
            </a: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dirty="0" err="1"/>
              <a:t>es</a:t>
            </a:r>
            <a:r>
              <a:rPr lang="en-US" dirty="0"/>
              <a:t> un software </a:t>
            </a:r>
            <a:r>
              <a:rPr lang="en-US" dirty="0" err="1"/>
              <a:t>dise</a:t>
            </a:r>
            <a:r>
              <a:rPr lang="es-EC" dirty="0"/>
              <a:t>ñ</a:t>
            </a:r>
            <a:r>
              <a:rPr lang="en-US" dirty="0"/>
              <a:t>ado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>
                <a:solidFill>
                  <a:srgbClr val="FC0128"/>
                </a:solidFill>
              </a:rPr>
              <a:t>almacenar</a:t>
            </a:r>
            <a:r>
              <a:rPr lang="en-US" dirty="0">
                <a:solidFill>
                  <a:srgbClr val="FC0128"/>
                </a:solidFill>
              </a:rPr>
              <a:t>, </a:t>
            </a:r>
            <a:r>
              <a:rPr lang="en-US" dirty="0" err="1">
                <a:solidFill>
                  <a:srgbClr val="FC0128"/>
                </a:solidFill>
              </a:rPr>
              <a:t>administrar</a:t>
            </a:r>
            <a:r>
              <a:rPr lang="en-US" dirty="0">
                <a:solidFill>
                  <a:srgbClr val="FC0128"/>
                </a:solidFill>
              </a:rPr>
              <a:t>, y </a:t>
            </a:r>
            <a:r>
              <a:rPr lang="en-US" dirty="0" err="1">
                <a:solidFill>
                  <a:srgbClr val="FC0128"/>
                </a:solidFill>
              </a:rPr>
              <a:t>facilitar</a:t>
            </a:r>
            <a:r>
              <a:rPr lang="en-US" dirty="0">
                <a:solidFill>
                  <a:srgbClr val="FC0128"/>
                </a:solidFill>
              </a:rPr>
              <a:t> </a:t>
            </a:r>
            <a:r>
              <a:rPr lang="en-US" dirty="0" err="1">
                <a:solidFill>
                  <a:srgbClr val="FC0128"/>
                </a:solidFill>
              </a:rPr>
              <a:t>acceso</a:t>
            </a:r>
            <a:r>
              <a:rPr lang="en-US" dirty="0">
                <a:solidFill>
                  <a:srgbClr val="FC0128"/>
                </a:solidFill>
              </a:rPr>
              <a:t> a </a:t>
            </a:r>
            <a:r>
              <a:rPr lang="en-US" dirty="0" err="1">
                <a:solidFill>
                  <a:srgbClr val="FC0128"/>
                </a:solidFill>
              </a:rPr>
              <a:t>las</a:t>
            </a:r>
            <a:r>
              <a:rPr lang="en-US" dirty="0">
                <a:solidFill>
                  <a:srgbClr val="FC0128"/>
                </a:solidFill>
              </a:rPr>
              <a:t> </a:t>
            </a:r>
            <a:r>
              <a:rPr lang="en-US" dirty="0"/>
              <a:t>bases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19532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antiguas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Las bases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estado</a:t>
            </a:r>
            <a:r>
              <a:rPr lang="en-US" dirty="0"/>
              <a:t> con </a:t>
            </a:r>
            <a:r>
              <a:rPr lang="en-US" dirty="0" err="1"/>
              <a:t>nosotros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la </a:t>
            </a:r>
            <a:r>
              <a:rPr lang="en-US" dirty="0" err="1"/>
              <a:t>historia</a:t>
            </a:r>
            <a:r>
              <a:rPr lang="en-US" dirty="0"/>
              <a:t> en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medios</a:t>
            </a:r>
            <a:r>
              <a:rPr lang="en-US" dirty="0"/>
              <a:t>.</a:t>
            </a:r>
          </a:p>
          <a:p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los </a:t>
            </a:r>
            <a:r>
              <a:rPr lang="en-US" dirty="0" err="1"/>
              <a:t>Egiptos</a:t>
            </a:r>
            <a:r>
              <a:rPr lang="en-US" dirty="0"/>
              <a:t> (2000 A.C) </a:t>
            </a:r>
            <a:r>
              <a:rPr lang="en-US" dirty="0" err="1"/>
              <a:t>llevaban</a:t>
            </a:r>
            <a:r>
              <a:rPr lang="en-US" dirty="0"/>
              <a:t> </a:t>
            </a:r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cosechas</a:t>
            </a:r>
            <a:r>
              <a:rPr lang="en-US" dirty="0"/>
              <a:t> en </a:t>
            </a:r>
            <a:r>
              <a:rPr lang="en-US" dirty="0" err="1"/>
              <a:t>papiros</a:t>
            </a:r>
            <a:r>
              <a:rPr lang="en-US" dirty="0"/>
              <a:t> y </a:t>
            </a:r>
            <a:r>
              <a:rPr lang="en-US" dirty="0" err="1"/>
              <a:t>tabletas</a:t>
            </a:r>
            <a:r>
              <a:rPr lang="en-US" dirty="0"/>
              <a:t> de </a:t>
            </a:r>
            <a:r>
              <a:rPr lang="en-US" dirty="0" err="1"/>
              <a:t>arcillas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038600"/>
            <a:ext cx="1887409" cy="23740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053456"/>
            <a:ext cx="3314700" cy="21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2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Tablas</a:t>
            </a:r>
            <a:r>
              <a:rPr lang="en-US" dirty="0"/>
              <a:t>, Campos y </a:t>
            </a:r>
            <a:r>
              <a:rPr lang="en-US" dirty="0" err="1"/>
              <a:t>Registros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2057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El </a:t>
            </a:r>
            <a:r>
              <a:rPr lang="en-US" dirty="0">
                <a:solidFill>
                  <a:srgbClr val="FF6600"/>
                </a:solidFill>
              </a:rPr>
              <a:t>Sr. Juan </a:t>
            </a:r>
            <a:r>
              <a:rPr lang="en-US" dirty="0" err="1">
                <a:solidFill>
                  <a:srgbClr val="FF6600"/>
                </a:solidFill>
              </a:rPr>
              <a:t>López</a:t>
            </a:r>
            <a:r>
              <a:rPr lang="en-US" dirty="0"/>
              <a:t> vive en </a:t>
            </a:r>
            <a:r>
              <a:rPr lang="en-US" dirty="0" err="1">
                <a:solidFill>
                  <a:srgbClr val="FF6600"/>
                </a:solidFill>
              </a:rPr>
              <a:t>Calle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 err="1">
                <a:solidFill>
                  <a:srgbClr val="FF6600"/>
                </a:solidFill>
              </a:rPr>
              <a:t>Primera</a:t>
            </a:r>
            <a:r>
              <a:rPr lang="en-US" dirty="0">
                <a:solidFill>
                  <a:srgbClr val="FF6600"/>
                </a:solidFill>
              </a:rPr>
              <a:t> 710, Guayaquil</a:t>
            </a:r>
            <a:r>
              <a:rPr lang="en-US" dirty="0"/>
              <a:t>. Su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teléfono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2555455</a:t>
            </a:r>
            <a:r>
              <a:rPr lang="en-US" dirty="0"/>
              <a:t>.</a:t>
            </a:r>
          </a:p>
          <a:p>
            <a:r>
              <a:rPr lang="en-US" dirty="0"/>
              <a:t>Un campo </a:t>
            </a:r>
            <a:r>
              <a:rPr lang="en-US" dirty="0" err="1"/>
              <a:t>es</a:t>
            </a:r>
            <a:r>
              <a:rPr lang="en-US" dirty="0"/>
              <a:t> 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persona o un item de </a:t>
            </a:r>
            <a:r>
              <a:rPr lang="en-US" dirty="0" err="1"/>
              <a:t>interés</a:t>
            </a:r>
            <a:r>
              <a:rPr lang="en-US" dirty="0"/>
              <a:t>.</a:t>
            </a:r>
          </a:p>
          <a:p>
            <a:r>
              <a:rPr lang="en-US" dirty="0" err="1"/>
              <a:t>Cada</a:t>
            </a:r>
            <a:r>
              <a:rPr lang="en-US" dirty="0"/>
              <a:t> campo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descripción</a:t>
            </a:r>
            <a:r>
              <a:rPr lang="en-US" dirty="0"/>
              <a:t> y un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asociado</a:t>
            </a:r>
            <a:r>
              <a:rPr lang="en-US" dirty="0"/>
              <a:t> con </a:t>
            </a:r>
            <a:r>
              <a:rPr lang="en-US" dirty="0" err="1"/>
              <a:t>él</a:t>
            </a:r>
            <a:r>
              <a:rPr lang="en-US" dirty="0"/>
              <a:t>.</a:t>
            </a:r>
          </a:p>
          <a:p>
            <a:r>
              <a:rPr lang="en-US" dirty="0"/>
              <a:t>Los </a:t>
            </a:r>
            <a:r>
              <a:rPr lang="en-US" dirty="0" err="1"/>
              <a:t>campos</a:t>
            </a:r>
            <a:r>
              <a:rPr lang="en-US" dirty="0"/>
              <a:t> se </a:t>
            </a:r>
            <a:r>
              <a:rPr lang="en-US" dirty="0" err="1"/>
              <a:t>agrupan</a:t>
            </a:r>
            <a:r>
              <a:rPr lang="en-US" dirty="0"/>
              <a:t> en un </a:t>
            </a:r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llamado</a:t>
            </a:r>
            <a:r>
              <a:rPr lang="en-US" dirty="0"/>
              <a:t> </a:t>
            </a:r>
            <a:r>
              <a:rPr lang="en-US" dirty="0" err="1"/>
              <a:t>Registro</a:t>
            </a:r>
            <a:r>
              <a:rPr lang="en-US" dirty="0"/>
              <a:t>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672268"/>
              </p:ext>
            </p:extLst>
          </p:nvPr>
        </p:nvGraphicFramePr>
        <p:xfrm>
          <a:off x="609600" y="2743200"/>
          <a:ext cx="76616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Título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Apellido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Dirección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Ciudad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Teléfono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López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Calle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Primera</a:t>
                      </a:r>
                      <a:r>
                        <a:rPr lang="en-US" dirty="0"/>
                        <a:t> 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Guayaquil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2555455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3810000"/>
            <a:ext cx="7543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Registros</a:t>
            </a:r>
            <a:r>
              <a:rPr lang="en-US" dirty="0"/>
              <a:t> </a:t>
            </a:r>
            <a:r>
              <a:rPr lang="en-US" dirty="0" err="1"/>
              <a:t>relacionados</a:t>
            </a:r>
            <a:r>
              <a:rPr lang="en-US" dirty="0"/>
              <a:t> se </a:t>
            </a:r>
            <a:r>
              <a:rPr lang="en-US" dirty="0" err="1"/>
              <a:t>almacenan</a:t>
            </a:r>
            <a:r>
              <a:rPr lang="en-US" dirty="0"/>
              <a:t> </a:t>
            </a:r>
            <a:r>
              <a:rPr lang="en-US" dirty="0" err="1"/>
              <a:t>juntos</a:t>
            </a:r>
            <a:r>
              <a:rPr lang="en-US" dirty="0"/>
              <a:t> en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dirty="0" err="1"/>
              <a:t>llamada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04087"/>
              </p:ext>
            </p:extLst>
          </p:nvPr>
        </p:nvGraphicFramePr>
        <p:xfrm>
          <a:off x="457200" y="4648200"/>
          <a:ext cx="76616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Título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Apellido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Dirección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Ciudad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Teléfono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López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Calle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Primera</a:t>
                      </a:r>
                      <a:r>
                        <a:rPr lang="en-US" dirty="0"/>
                        <a:t> 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Guayaquil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2555455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Calle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Segunda</a:t>
                      </a:r>
                      <a:r>
                        <a:rPr lang="en-US" dirty="0"/>
                        <a:t>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2567435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6096000"/>
            <a:ext cx="7924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Una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creada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tablas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011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Bases de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Archivos</a:t>
            </a:r>
            <a:r>
              <a:rPr lang="en-US" dirty="0"/>
              <a:t> </a:t>
            </a:r>
            <a:r>
              <a:rPr lang="en-US" dirty="0" err="1"/>
              <a:t>Planos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Una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sola </a:t>
            </a:r>
            <a:r>
              <a:rPr lang="en-US" dirty="0" err="1"/>
              <a:t>tabla</a:t>
            </a:r>
            <a:endParaRPr lang="en-US" dirty="0"/>
          </a:p>
          <a:p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hoja</a:t>
            </a:r>
            <a:r>
              <a:rPr lang="en-US" dirty="0"/>
              <a:t> de excel,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fila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un </a:t>
            </a:r>
            <a:r>
              <a:rPr lang="en-US" dirty="0" err="1"/>
              <a:t>registro</a:t>
            </a:r>
            <a:r>
              <a:rPr lang="en-US" dirty="0"/>
              <a:t> y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columna</a:t>
            </a:r>
            <a:r>
              <a:rPr lang="en-US" dirty="0"/>
              <a:t> un campo.</a:t>
            </a:r>
          </a:p>
          <a:p>
            <a:r>
              <a:rPr lang="en-US" dirty="0" err="1"/>
              <a:t>Ventajas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Todos</a:t>
            </a:r>
            <a:r>
              <a:rPr lang="en-US" dirty="0"/>
              <a:t> los </a:t>
            </a:r>
            <a:r>
              <a:rPr lang="en-US" dirty="0" err="1"/>
              <a:t>registros</a:t>
            </a:r>
            <a:r>
              <a:rPr lang="en-US" dirty="0"/>
              <a:t> en un </a:t>
            </a:r>
            <a:r>
              <a:rPr lang="en-US" dirty="0" err="1"/>
              <a:t>sólo</a:t>
            </a:r>
            <a:r>
              <a:rPr lang="en-US" dirty="0"/>
              <a:t> </a:t>
            </a:r>
            <a:r>
              <a:rPr lang="en-US" dirty="0" err="1"/>
              <a:t>lugar</a:t>
            </a:r>
            <a:endParaRPr lang="en-US" dirty="0"/>
          </a:p>
          <a:p>
            <a:pPr lvl="1"/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implementar</a:t>
            </a:r>
            <a:endParaRPr lang="en-US" dirty="0"/>
          </a:p>
          <a:p>
            <a:pPr lvl="1"/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entender</a:t>
            </a:r>
            <a:endParaRPr lang="en-US" dirty="0"/>
          </a:p>
          <a:p>
            <a:pPr lvl="1"/>
            <a:r>
              <a:rPr lang="en-US" dirty="0"/>
              <a:t>Los </a:t>
            </a:r>
            <a:r>
              <a:rPr lang="en-US" dirty="0" err="1"/>
              <a:t>registros</a:t>
            </a:r>
            <a:r>
              <a:rPr lang="en-US" dirty="0"/>
              <a:t>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ordenar</a:t>
            </a:r>
            <a:r>
              <a:rPr lang="en-US" dirty="0"/>
              <a:t> </a:t>
            </a:r>
            <a:r>
              <a:rPr lang="en-US" dirty="0" err="1"/>
              <a:t>fácilmente</a:t>
            </a:r>
            <a:endParaRPr lang="en-US" dirty="0"/>
          </a:p>
          <a:p>
            <a:pPr lvl="1"/>
            <a:r>
              <a:rPr lang="en-US" dirty="0"/>
              <a:t>Los </a:t>
            </a:r>
            <a:r>
              <a:rPr lang="en-US" dirty="0" err="1"/>
              <a:t>registros</a:t>
            </a:r>
            <a:r>
              <a:rPr lang="en-US" dirty="0"/>
              <a:t>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y </a:t>
            </a:r>
            <a:r>
              <a:rPr lang="en-US" dirty="0" err="1"/>
              <a:t>extraer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25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Bases de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Archivos</a:t>
            </a:r>
            <a:r>
              <a:rPr lang="en-US" dirty="0"/>
              <a:t> </a:t>
            </a:r>
            <a:r>
              <a:rPr lang="en-US" dirty="0" err="1"/>
              <a:t>Planos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Desventajas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Duplicación</a:t>
            </a:r>
            <a:r>
              <a:rPr lang="en-US" dirty="0"/>
              <a:t> </a:t>
            </a:r>
            <a:r>
              <a:rPr lang="en-US" dirty="0" err="1"/>
              <a:t>potencial</a:t>
            </a:r>
            <a:endParaRPr lang="en-US" dirty="0"/>
          </a:p>
          <a:p>
            <a:pPr lvl="1"/>
            <a:r>
              <a:rPr lang="en-US" dirty="0" err="1"/>
              <a:t>Registros</a:t>
            </a:r>
            <a:r>
              <a:rPr lang="en-US" dirty="0"/>
              <a:t> no </a:t>
            </a:r>
            <a:r>
              <a:rPr lang="en-US" dirty="0" err="1"/>
              <a:t>únicos</a:t>
            </a:r>
            <a:endParaRPr lang="en-US" dirty="0"/>
          </a:p>
          <a:p>
            <a:pPr lvl="1"/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difícil</a:t>
            </a:r>
            <a:r>
              <a:rPr lang="en-US" dirty="0"/>
              <a:t> de </a:t>
            </a:r>
            <a:r>
              <a:rPr lang="en-US" dirty="0" err="1"/>
              <a:t>actualizar</a:t>
            </a:r>
            <a:endParaRPr lang="en-US" dirty="0"/>
          </a:p>
          <a:p>
            <a:pPr lvl="1"/>
            <a:r>
              <a:rPr lang="en-US" dirty="0"/>
              <a:t>Campos </a:t>
            </a:r>
            <a:r>
              <a:rPr lang="en-US" dirty="0" err="1"/>
              <a:t>vacíos</a:t>
            </a:r>
            <a:endParaRPr lang="en-US" dirty="0"/>
          </a:p>
          <a:p>
            <a:pPr lvl="1"/>
            <a:r>
              <a:rPr lang="en-US" dirty="0" err="1"/>
              <a:t>Difícil</a:t>
            </a:r>
            <a:r>
              <a:rPr lang="en-US" dirty="0"/>
              <a:t> de </a:t>
            </a:r>
            <a:r>
              <a:rPr lang="en-US" dirty="0" err="1"/>
              <a:t>cambiar</a:t>
            </a:r>
            <a:r>
              <a:rPr lang="en-US" dirty="0"/>
              <a:t> el </a:t>
            </a:r>
            <a:r>
              <a:rPr lang="en-US" dirty="0" err="1"/>
              <a:t>formato</a:t>
            </a:r>
            <a:r>
              <a:rPr lang="en-US" dirty="0"/>
              <a:t> de los </a:t>
            </a:r>
            <a:r>
              <a:rPr lang="en-US" dirty="0" err="1"/>
              <a:t>datos</a:t>
            </a:r>
            <a:endParaRPr lang="en-US" dirty="0"/>
          </a:p>
          <a:p>
            <a:pPr lvl="1"/>
            <a:r>
              <a:rPr lang="en-US" dirty="0" err="1"/>
              <a:t>Pobre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consultas</a:t>
            </a:r>
            <a:r>
              <a:rPr lang="en-US" dirty="0"/>
              <a:t> (queries) </a:t>
            </a:r>
            <a:r>
              <a:rPr lang="en-US" dirty="0" err="1"/>
              <a:t>complejas</a:t>
            </a:r>
            <a:endParaRPr lang="en-US" dirty="0"/>
          </a:p>
          <a:p>
            <a:pPr lvl="1"/>
            <a:r>
              <a:rPr lang="en-US" dirty="0" err="1"/>
              <a:t>Pobre</a:t>
            </a:r>
            <a:r>
              <a:rPr lang="en-US" dirty="0"/>
              <a:t> al </a:t>
            </a:r>
            <a:r>
              <a:rPr lang="en-US" dirty="0" err="1"/>
              <a:t>limitar</a:t>
            </a:r>
            <a:r>
              <a:rPr lang="en-US" dirty="0"/>
              <a:t> </a:t>
            </a:r>
            <a:r>
              <a:rPr lang="en-US" dirty="0" err="1"/>
              <a:t>acceso</a:t>
            </a:r>
            <a:r>
              <a:rPr lang="en-US" dirty="0"/>
              <a:t> (lo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748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s-EC" b="1" dirty="0"/>
              <a:t>Sistema de bases de datos</a:t>
            </a:r>
            <a:endParaRPr lang="es-EC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s-EC" dirty="0"/>
              <a:t>Sistema computarizado para llevar registros</a:t>
            </a:r>
          </a:p>
          <a:p>
            <a:r>
              <a:rPr lang="es-EC" dirty="0"/>
              <a:t>Depósito o contenedor de una colección de archivos de datos computarizados</a:t>
            </a:r>
          </a:p>
          <a:p>
            <a:r>
              <a:rPr lang="es-EC" dirty="0"/>
              <a:t>Usuarios del sistema pueden realizar una variedad de operaciones sobre dichos archivos</a:t>
            </a:r>
          </a:p>
          <a:p>
            <a:pPr>
              <a:buNone/>
            </a:pPr>
            <a:r>
              <a:rPr lang="es-EC" sz="2400" dirty="0"/>
              <a:t>		■ Agregar nuevos archivos vacíos a la base de datos</a:t>
            </a:r>
          </a:p>
          <a:p>
            <a:pPr>
              <a:buNone/>
            </a:pPr>
            <a:r>
              <a:rPr lang="es-EC" sz="2400" dirty="0"/>
              <a:t>		■ Insertar datos dentro de los archivos existentes</a:t>
            </a:r>
          </a:p>
          <a:p>
            <a:pPr>
              <a:buNone/>
            </a:pPr>
            <a:r>
              <a:rPr lang="es-EC" sz="2400" dirty="0"/>
              <a:t>		■ Recuperar datos de los archivos existentes</a:t>
            </a:r>
          </a:p>
          <a:p>
            <a:pPr>
              <a:buNone/>
            </a:pPr>
            <a:r>
              <a:rPr lang="es-EC" sz="2400" dirty="0"/>
              <a:t>		■ Modificar datos en archivos existentes</a:t>
            </a:r>
          </a:p>
          <a:p>
            <a:pPr>
              <a:buNone/>
            </a:pPr>
            <a:r>
              <a:rPr lang="es-EC" sz="2400" dirty="0"/>
              <a:t>		■ Eliminar datos de los archivos existentes</a:t>
            </a:r>
          </a:p>
          <a:p>
            <a:pPr>
              <a:buNone/>
            </a:pPr>
            <a:r>
              <a:rPr lang="es-EC" sz="2400" dirty="0"/>
              <a:t>		■ Eliminar archivos existentes de la base de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Sistema de administración </a:t>
            </a:r>
            <a:br>
              <a:rPr lang="es-EC" dirty="0"/>
            </a:br>
            <a:r>
              <a:rPr lang="es-EC" dirty="0"/>
              <a:t>de base de datos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sz="2400" dirty="0"/>
              <a:t>DBMS: Database Management System </a:t>
            </a:r>
          </a:p>
          <a:p>
            <a:r>
              <a:rPr lang="es-EC" sz="2400" dirty="0"/>
              <a:t>Comprende cuatro componentes principales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sz="2400" dirty="0"/>
              <a:t>Datos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sz="2400" dirty="0"/>
              <a:t>Hardware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sz="2400" dirty="0"/>
              <a:t>Software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sz="2400" dirty="0"/>
              <a:t>Usuarios</a:t>
            </a:r>
          </a:p>
          <a:p>
            <a:pPr marL="514350" indent="-514350">
              <a:buNone/>
            </a:pPr>
            <a:endParaRPr lang="es-EC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5993" y="4724400"/>
            <a:ext cx="5901607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>
            <a:normAutofit fontScale="70000" lnSpcReduction="20000"/>
          </a:bodyPr>
          <a:lstStyle/>
          <a:p>
            <a:r>
              <a:rPr lang="es-EC" dirty="0"/>
              <a:t>Relational Database Management System</a:t>
            </a:r>
          </a:p>
          <a:p>
            <a:r>
              <a:rPr lang="en-US" dirty="0" err="1"/>
              <a:t>Soporta</a:t>
            </a:r>
            <a:r>
              <a:rPr lang="en-US" dirty="0"/>
              <a:t> la </a:t>
            </a:r>
            <a:r>
              <a:rPr lang="en-US" dirty="0" err="1"/>
              <a:t>estructura</a:t>
            </a:r>
            <a:r>
              <a:rPr lang="en-US" dirty="0"/>
              <a:t> tabular </a:t>
            </a:r>
            <a:r>
              <a:rPr lang="en-US" dirty="0" err="1"/>
              <a:t>para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, con </a:t>
            </a:r>
            <a:r>
              <a:rPr lang="en-US" dirty="0" err="1"/>
              <a:t>relaciones</a:t>
            </a:r>
            <a:r>
              <a:rPr lang="en-US" dirty="0"/>
              <a:t> entre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tablas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s-EC" dirty="0"/>
          </a:p>
          <a:p>
            <a:pPr>
              <a:buNone/>
            </a:pPr>
            <a:endParaRPr lang="es-EC" dirty="0"/>
          </a:p>
          <a:p>
            <a:pPr>
              <a:buNone/>
            </a:pPr>
            <a:endParaRPr lang="es-EC" dirty="0"/>
          </a:p>
          <a:p>
            <a:r>
              <a:rPr lang="es-EC" dirty="0"/>
              <a:t>Capa de software conocida como el sistema de administración de base de datos</a:t>
            </a:r>
          </a:p>
          <a:p>
            <a:r>
              <a:rPr lang="es-EC" dirty="0"/>
              <a:t>Todas las solicitudes de acceso a la base de datos son manejadas por el RDBMS</a:t>
            </a:r>
          </a:p>
          <a:p>
            <a:r>
              <a:rPr lang="es-EC" dirty="0"/>
              <a:t>Ejemplos: Oracle, Microsoft Access, </a:t>
            </a:r>
            <a:r>
              <a:rPr lang="es-EC" dirty="0" err="1"/>
              <a:t>MySQL</a:t>
            </a:r>
            <a:endParaRPr lang="es-EC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362200"/>
            <a:ext cx="5008357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¿Por qué una base de datos?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s-EC" sz="2000" b="1" dirty="0"/>
              <a:t>Compactación: </a:t>
            </a:r>
            <a:r>
              <a:rPr lang="es-EC" sz="2000" dirty="0"/>
              <a:t>No hay necesidad de archivos en papel voluminosos.</a:t>
            </a:r>
          </a:p>
          <a:p>
            <a:r>
              <a:rPr lang="es-EC" sz="2000" b="1" dirty="0"/>
              <a:t>Velocidad: </a:t>
            </a:r>
            <a:r>
              <a:rPr lang="es-EC" sz="2000" dirty="0"/>
              <a:t>La máquina puede recuperar y actualizar datos más rápidamente que un humano.</a:t>
            </a:r>
          </a:p>
          <a:p>
            <a:r>
              <a:rPr lang="es-EC" sz="2000" b="1" dirty="0"/>
              <a:t>Menos trabajo laborioso: </a:t>
            </a:r>
            <a:r>
              <a:rPr lang="es-EC" sz="2000" dirty="0"/>
              <a:t>Se puede eliminar gran parte del trabajo de llevar los archivos a mano. </a:t>
            </a:r>
          </a:p>
          <a:p>
            <a:pPr lvl="2"/>
            <a:r>
              <a:rPr lang="es-EC" sz="2000" dirty="0"/>
              <a:t>Las tareas mecánicas siempre las realizan mejor las máquinas.</a:t>
            </a:r>
          </a:p>
          <a:p>
            <a:r>
              <a:rPr lang="es-EC" sz="2000" b="1" dirty="0"/>
              <a:t>Actualidad: </a:t>
            </a:r>
            <a:r>
              <a:rPr lang="es-EC" sz="2000" dirty="0"/>
              <a:t>En el momento que la necesitemos, tendremos a nuestra disposición información precisa y actualizada.</a:t>
            </a:r>
            <a:endParaRPr lang="en-US" sz="2000" dirty="0">
              <a:solidFill>
                <a:schemeClr val="folHlink"/>
              </a:solidFill>
            </a:endParaRPr>
          </a:p>
          <a:p>
            <a:pPr marL="0" indent="0">
              <a:buNone/>
            </a:pPr>
            <a:r>
              <a:rPr lang="es-EC" sz="2000" dirty="0"/>
              <a:t>¿ </a:t>
            </a:r>
            <a:r>
              <a:rPr lang="en-US" sz="2000" dirty="0" err="1">
                <a:solidFill>
                  <a:schemeClr val="folHlink"/>
                </a:solidFill>
              </a:rPr>
              <a:t>Por</a:t>
            </a:r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dirty="0" err="1">
                <a:solidFill>
                  <a:schemeClr val="folHlink"/>
                </a:solidFill>
              </a:rPr>
              <a:t>qué</a:t>
            </a:r>
            <a:r>
              <a:rPr lang="en-US" sz="2000" dirty="0">
                <a:solidFill>
                  <a:schemeClr val="folHlink"/>
                </a:solidFill>
              </a:rPr>
              <a:t> no </a:t>
            </a:r>
            <a:r>
              <a:rPr lang="en-US" sz="2000" dirty="0" err="1">
                <a:solidFill>
                  <a:schemeClr val="folHlink"/>
                </a:solidFill>
              </a:rPr>
              <a:t>utilizarlas</a:t>
            </a:r>
            <a:r>
              <a:rPr lang="en-US" sz="2000" dirty="0">
                <a:solidFill>
                  <a:schemeClr val="folHlink"/>
                </a:solidFill>
              </a:rPr>
              <a:t> </a:t>
            </a:r>
            <a:r>
              <a:rPr lang="en-US" sz="2000" dirty="0" err="1">
                <a:solidFill>
                  <a:schemeClr val="folHlink"/>
                </a:solidFill>
              </a:rPr>
              <a:t>todo</a:t>
            </a:r>
            <a:r>
              <a:rPr lang="en-US" sz="2000" dirty="0">
                <a:solidFill>
                  <a:schemeClr val="folHlink"/>
                </a:solidFill>
              </a:rPr>
              <a:t> el </a:t>
            </a:r>
            <a:r>
              <a:rPr lang="en-US" sz="2000" dirty="0" err="1">
                <a:solidFill>
                  <a:schemeClr val="folHlink"/>
                </a:solidFill>
              </a:rPr>
              <a:t>tiempo</a:t>
            </a:r>
            <a:r>
              <a:rPr lang="en-US" sz="2000" dirty="0">
                <a:solidFill>
                  <a:schemeClr val="folHlink"/>
                </a:solidFill>
              </a:rPr>
              <a:t>?</a:t>
            </a:r>
          </a:p>
          <a:p>
            <a:pPr lvl="1"/>
            <a:r>
              <a:rPr lang="en-US" sz="2000" dirty="0" err="1"/>
              <a:t>Caras</a:t>
            </a:r>
            <a:r>
              <a:rPr lang="en-US" sz="2000" dirty="0"/>
              <a:t>/</a:t>
            </a:r>
            <a:r>
              <a:rPr lang="en-US" sz="2000" dirty="0" err="1"/>
              <a:t>Complicadas</a:t>
            </a:r>
            <a:r>
              <a:rPr lang="en-US" sz="2000" dirty="0"/>
              <a:t> de </a:t>
            </a:r>
            <a:r>
              <a:rPr lang="en-US" sz="2000" dirty="0" err="1"/>
              <a:t>crear</a:t>
            </a:r>
            <a:r>
              <a:rPr lang="en-US" sz="2000" dirty="0"/>
              <a:t> y </a:t>
            </a:r>
            <a:r>
              <a:rPr lang="en-US" sz="2000" dirty="0" err="1"/>
              <a:t>mantener</a:t>
            </a:r>
            <a:endParaRPr lang="en-US" sz="2000" dirty="0"/>
          </a:p>
          <a:p>
            <a:pPr lvl="1"/>
            <a:r>
              <a:rPr lang="en-US" sz="2000" dirty="0"/>
              <a:t>Este </a:t>
            </a:r>
            <a:r>
              <a:rPr lang="en-US" sz="2000" dirty="0" err="1"/>
              <a:t>costo</a:t>
            </a:r>
            <a:r>
              <a:rPr lang="en-US" sz="2000" dirty="0"/>
              <a:t> y </a:t>
            </a:r>
            <a:r>
              <a:rPr lang="en-US" sz="2000" dirty="0" err="1"/>
              <a:t>complejidad</a:t>
            </a:r>
            <a:r>
              <a:rPr lang="en-US" sz="2000" dirty="0"/>
              <a:t>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superado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la </a:t>
            </a:r>
            <a:r>
              <a:rPr lang="en-US" sz="2000" dirty="0" err="1"/>
              <a:t>necesidad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s-EC" dirty="0"/>
              <a:t>¿Quiénes utilizan un RDBMS?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5029200"/>
          </a:xfrm>
        </p:spPr>
        <p:txBody>
          <a:bodyPr>
            <a:normAutofit fontScale="70000" lnSpcReduction="20000"/>
          </a:bodyPr>
          <a:lstStyle/>
          <a:p>
            <a:r>
              <a:rPr lang="es-EC" dirty="0"/>
              <a:t>Una base de datos es un conjunto de datos persistentes que es utilizado por los sistemas de aplicación de alguna empresa dada</a:t>
            </a:r>
          </a:p>
          <a:p>
            <a:r>
              <a:rPr lang="es-EC" b="1" dirty="0"/>
              <a:t>Empresa: </a:t>
            </a:r>
            <a:r>
              <a:rPr lang="es-EC" dirty="0"/>
              <a:t>organización independiente de tipo comercial, técnico, científico u otro</a:t>
            </a:r>
          </a:p>
          <a:p>
            <a:pPr lvl="3"/>
            <a:r>
              <a:rPr lang="es-EC" dirty="0"/>
              <a:t>Desde un solo individuo con una pequeña base de datos personal a toda una corporación con una gran base de datos compartida</a:t>
            </a:r>
          </a:p>
          <a:p>
            <a:r>
              <a:rPr lang="es-EC" b="1" dirty="0"/>
              <a:t>Ejemplos: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dirty="0"/>
              <a:t>Una compañía manufacturera</a:t>
            </a:r>
          </a:p>
          <a:p>
            <a:pPr marL="1314450" lvl="2" indent="-514350"/>
            <a:r>
              <a:rPr lang="es-EC" dirty="0"/>
              <a:t>Datos de producción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dirty="0"/>
              <a:t>Un banco</a:t>
            </a:r>
          </a:p>
          <a:p>
            <a:pPr marL="1314450" lvl="2" indent="-514350"/>
            <a:r>
              <a:rPr lang="es-EC" dirty="0"/>
              <a:t>Datos contables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dirty="0"/>
              <a:t>Un hospital</a:t>
            </a:r>
          </a:p>
          <a:p>
            <a:pPr marL="1314450" lvl="2" indent="-514350"/>
            <a:r>
              <a:rPr lang="es-EC" dirty="0"/>
              <a:t>Datos de pacientes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dirty="0"/>
              <a:t>Una universidad</a:t>
            </a:r>
          </a:p>
          <a:p>
            <a:pPr marL="1314450" lvl="2" indent="-514350"/>
            <a:r>
              <a:rPr lang="es-EC" dirty="0"/>
              <a:t>Datos de estudiantes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s-EC" dirty="0"/>
              <a:t>Un departamento gubernamental</a:t>
            </a:r>
          </a:p>
          <a:p>
            <a:pPr marL="1314450" lvl="2" indent="-514350"/>
            <a:r>
              <a:rPr lang="es-EC" dirty="0"/>
              <a:t>Datos de planeación</a:t>
            </a:r>
          </a:p>
          <a:p>
            <a:pPr lvl="3"/>
            <a:endParaRPr lang="es-EC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Evolución de los RDBMS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295400"/>
            <a:ext cx="6096000" cy="2743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s-EC" dirty="0"/>
          </a:p>
          <a:p>
            <a:r>
              <a:rPr lang="es-EC" dirty="0" err="1"/>
              <a:t>Codd</a:t>
            </a:r>
            <a:r>
              <a:rPr lang="es-EC" dirty="0"/>
              <a:t>, un matemático formado en Oxford, que trabajaba en IBM en 1949, desarrollo una manera de organizar y acceder a los datos.</a:t>
            </a:r>
          </a:p>
          <a:p>
            <a:pPr>
              <a:buNone/>
            </a:pPr>
            <a:endParaRPr lang="es-EC" dirty="0"/>
          </a:p>
          <a:p>
            <a:r>
              <a:rPr lang="es-EC" dirty="0"/>
              <a:t>A partir de estos trabajos publicó el artículo “A Relational </a:t>
            </a:r>
            <a:r>
              <a:rPr lang="es-EC" dirty="0" err="1"/>
              <a:t>Model</a:t>
            </a:r>
            <a:r>
              <a:rPr lang="es-EC" dirty="0"/>
              <a:t> of Data </a:t>
            </a:r>
            <a:r>
              <a:rPr lang="es-EC" dirty="0" err="1"/>
              <a:t>for</a:t>
            </a:r>
            <a:r>
              <a:rPr lang="es-EC" dirty="0"/>
              <a:t> </a:t>
            </a:r>
            <a:r>
              <a:rPr lang="es-EC" dirty="0" err="1"/>
              <a:t>Large</a:t>
            </a:r>
            <a:r>
              <a:rPr lang="es-EC" dirty="0"/>
              <a:t> </a:t>
            </a:r>
            <a:r>
              <a:rPr lang="es-EC" dirty="0" err="1"/>
              <a:t>Shared</a:t>
            </a:r>
            <a:r>
              <a:rPr lang="es-EC" dirty="0"/>
              <a:t> Data Banks” en 1970.</a:t>
            </a:r>
          </a:p>
          <a:p>
            <a:pPr>
              <a:buNone/>
            </a:pPr>
            <a:endParaRPr lang="es-EC" dirty="0"/>
          </a:p>
          <a:p>
            <a:endParaRPr lang="es-EC" dirty="0"/>
          </a:p>
          <a:p>
            <a:endParaRPr lang="es-EC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1371600"/>
            <a:ext cx="12763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4 Marcador de contenido"/>
          <p:cNvSpPr txBox="1">
            <a:spLocks/>
          </p:cNvSpPr>
          <p:nvPr/>
        </p:nvSpPr>
        <p:spPr>
          <a:xfrm>
            <a:off x="381000" y="3810000"/>
            <a:ext cx="86106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C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EC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EC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s-EC" sz="2600" dirty="0"/>
              <a:t>Propuso que los sistemas de bases de datos deberían presentarse a los usuarios con una visión de los datos organizados en estructuras llamadas </a:t>
            </a:r>
            <a:r>
              <a:rPr lang="es-EC" sz="2600" b="1" dirty="0"/>
              <a:t>Relaciones</a:t>
            </a:r>
            <a:r>
              <a:rPr lang="es-EC" sz="2600" dirty="0"/>
              <a:t>. </a:t>
            </a:r>
          </a:p>
          <a:p>
            <a:pPr lvl="0">
              <a:defRPr/>
            </a:pPr>
            <a:endParaRPr lang="es-EC" sz="2600" dirty="0"/>
          </a:p>
          <a:p>
            <a:pPr lvl="0">
              <a:defRPr/>
            </a:pPr>
            <a:r>
              <a:rPr lang="es-EC" sz="2600" dirty="0" err="1"/>
              <a:t>Codd</a:t>
            </a:r>
            <a:r>
              <a:rPr lang="es-EC" sz="2600" dirty="0"/>
              <a:t> concibió un sistema donde el usuario sería capaz de acceder a la información con comandos parecidos al lenguaje natural y donde la información estuviera almacenada en </a:t>
            </a:r>
            <a:r>
              <a:rPr lang="es-EC" sz="2600" b="1" dirty="0"/>
              <a:t>tablas</a:t>
            </a:r>
            <a:r>
              <a:rPr lang="es-EC" sz="2600" dirty="0"/>
              <a:t>. 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15153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525963"/>
          </a:xfrm>
        </p:spPr>
        <p:txBody>
          <a:bodyPr/>
          <a:lstStyle/>
          <a:p>
            <a:r>
              <a:rPr lang="es-EC" dirty="0"/>
              <a:t>Base de Datos Organizacional</a:t>
            </a:r>
          </a:p>
          <a:p>
            <a:endParaRPr lang="es-EC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828800"/>
            <a:ext cx="6477000" cy="477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C" dirty="0"/>
              <a:t>Cliente / Servidor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971800"/>
            <a:ext cx="8305800" cy="3352800"/>
          </a:xfrm>
        </p:spPr>
        <p:txBody>
          <a:bodyPr>
            <a:normAutofit fontScale="92500" lnSpcReduction="20000"/>
          </a:bodyPr>
          <a:lstStyle/>
          <a:p>
            <a:pPr lvl="1"/>
            <a:endParaRPr lang="es-EC" dirty="0"/>
          </a:p>
          <a:p>
            <a:r>
              <a:rPr lang="es-EC" sz="2600" dirty="0"/>
              <a:t>Cliente: Requiere un servicio del servidor</a:t>
            </a:r>
          </a:p>
          <a:p>
            <a:pPr lvl="1"/>
            <a:r>
              <a:rPr lang="es-EC" sz="2600" dirty="0"/>
              <a:t>En caso de no tener la capacidad de procesar los datos necesarios, recurre al servidor y espera a que este le brinde los servicios solicitados</a:t>
            </a:r>
          </a:p>
          <a:p>
            <a:r>
              <a:rPr lang="es-EC" sz="2600" dirty="0"/>
              <a:t>Servidor: Máquina desde la que se suministran servicios y que está a la espera del requerimiento del cliente</a:t>
            </a:r>
          </a:p>
          <a:p>
            <a:pPr lvl="1"/>
            <a:r>
              <a:rPr lang="es-EC" sz="2600" dirty="0"/>
              <a:t>Busca la información solicitada y le envía la respuesta al cliente</a:t>
            </a:r>
          </a:p>
          <a:p>
            <a:pPr lvl="1"/>
            <a:endParaRPr lang="es-EC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304800"/>
            <a:ext cx="26765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7200" y="1295400"/>
            <a:ext cx="5867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C" sz="2200" dirty="0"/>
              <a:t>Aplicaciones basadas en dos categorías que cumplen funciones diferentes </a:t>
            </a:r>
          </a:p>
          <a:p>
            <a:endParaRPr lang="es-EC" sz="2200" dirty="0"/>
          </a:p>
          <a:p>
            <a:pPr>
              <a:buFont typeface="Arial" pitchFamily="34" charset="0"/>
              <a:buChar char="•"/>
            </a:pPr>
            <a:r>
              <a:rPr lang="es-EC" sz="2200" dirty="0"/>
              <a:t>Una requiere servicios y la otra los brinda pero a la vez, pueden realizar tanto actividades en forma conjunta como independientemente</a:t>
            </a:r>
          </a:p>
          <a:p>
            <a:pPr>
              <a:buFont typeface="Arial" pitchFamily="34" charset="0"/>
              <a:buChar char="•"/>
            </a:pPr>
            <a:endParaRPr lang="es-EC" dirty="0"/>
          </a:p>
          <a:p>
            <a:endParaRPr lang="es-EC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Términos usados en bases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81200"/>
            <a:ext cx="8229600" cy="4495800"/>
          </a:xfrm>
        </p:spPr>
        <p:txBody>
          <a:bodyPr>
            <a:normAutofit/>
          </a:bodyPr>
          <a:lstStyle/>
          <a:p>
            <a:r>
              <a:rPr lang="es-EC" sz="2800" b="1" dirty="0"/>
              <a:t>Administrador de la base de datos (DBA): </a:t>
            </a:r>
            <a:r>
              <a:rPr lang="es-EC" sz="2800" dirty="0"/>
              <a:t>Especialista responsable de mantener los estándares para el desarrollo, mantenimiento, y seguridad de las bases de datos de una organización.</a:t>
            </a:r>
          </a:p>
          <a:p>
            <a:r>
              <a:rPr lang="es-EC" sz="2800" b="1" dirty="0"/>
              <a:t>Data </a:t>
            </a:r>
            <a:r>
              <a:rPr lang="es-EC" sz="2800" b="1" dirty="0" err="1"/>
              <a:t>Mining</a:t>
            </a:r>
            <a:r>
              <a:rPr lang="es-EC" sz="2800" b="1" dirty="0"/>
              <a:t>: </a:t>
            </a:r>
            <a:r>
              <a:rPr lang="es-EC" sz="2800" dirty="0"/>
              <a:t>Utilizar software de propósito especial para analizar datos de un data </a:t>
            </a:r>
            <a:r>
              <a:rPr lang="es-EC" sz="2800" dirty="0" err="1"/>
              <a:t>warehouse</a:t>
            </a:r>
            <a:r>
              <a:rPr lang="es-EC" sz="2800" dirty="0"/>
              <a:t> para encontrar tendencias y patrones ocultos.</a:t>
            </a:r>
          </a:p>
          <a:p>
            <a:endParaRPr lang="es-EC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Términos usados en bases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s-EC" sz="2400" b="1" dirty="0"/>
              <a:t>Diccionario de Datos: </a:t>
            </a:r>
            <a:r>
              <a:rPr lang="es-EC" sz="2400" dirty="0"/>
              <a:t>Un modulo de software y base de datos que contiene la descripción y definición de la estructura, elementos, interrelaciones y otras </a:t>
            </a:r>
            <a:r>
              <a:rPr lang="es-EC" sz="2400" dirty="0" err="1"/>
              <a:t>caracteristicas</a:t>
            </a:r>
            <a:r>
              <a:rPr lang="es-EC" sz="2400" dirty="0"/>
              <a:t> de una base de datos.</a:t>
            </a:r>
          </a:p>
          <a:p>
            <a:r>
              <a:rPr lang="es-EC" sz="2400" b="1" dirty="0"/>
              <a:t>SQL (lenguaje de búsqueda): </a:t>
            </a:r>
            <a:r>
              <a:rPr lang="es-EC" sz="2400" dirty="0"/>
              <a:t>Un lenguaje de alto nivel, parecido al humano que permite al usuario realizar extraer fácilmente datos e información de una base de datos.</a:t>
            </a:r>
          </a:p>
          <a:p>
            <a:r>
              <a:rPr lang="es-EC" sz="2400" b="1" dirty="0"/>
              <a:t>Sistema de Administración de bases de datos - Database Management System(DBMS): </a:t>
            </a:r>
            <a:r>
              <a:rPr lang="es-EC" sz="2400" dirty="0"/>
              <a:t>Un conjunto de programas computacionales que controlan la creación, mantenimiento, y utilización de las bases de datos de una organización.</a:t>
            </a:r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11951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dirty="0" err="1"/>
              <a:t>Vendedores</a:t>
            </a:r>
            <a:r>
              <a:rPr lang="en-US" sz="2000" dirty="0"/>
              <a:t> de DBMS,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Oracle, IBM, MS, Sybase, …</a:t>
            </a:r>
          </a:p>
          <a:p>
            <a:pPr>
              <a:lnSpc>
                <a:spcPct val="90000"/>
              </a:lnSpc>
            </a:pPr>
            <a:r>
              <a:rPr lang="en-US" sz="2000" dirty="0" err="1"/>
              <a:t>Usuarios</a:t>
            </a:r>
            <a:r>
              <a:rPr lang="en-US" sz="2000" dirty="0"/>
              <a:t> en </a:t>
            </a:r>
            <a:r>
              <a:rPr lang="en-US" sz="2000" dirty="0" err="1"/>
              <a:t>muchos</a:t>
            </a:r>
            <a:r>
              <a:rPr lang="en-US" sz="2000" dirty="0"/>
              <a:t> </a:t>
            </a:r>
            <a:r>
              <a:rPr lang="en-US" sz="2000" dirty="0" err="1"/>
              <a:t>campos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 err="1"/>
              <a:t>Negocios</a:t>
            </a:r>
            <a:r>
              <a:rPr lang="en-US" sz="2000" dirty="0"/>
              <a:t>, </a:t>
            </a:r>
            <a:r>
              <a:rPr lang="en-US" sz="2000" dirty="0" err="1"/>
              <a:t>eduación</a:t>
            </a:r>
            <a:r>
              <a:rPr lang="en-US" sz="2000" dirty="0"/>
              <a:t>, </a:t>
            </a:r>
            <a:r>
              <a:rPr lang="en-US" sz="2000" dirty="0" err="1"/>
              <a:t>ciencia</a:t>
            </a:r>
            <a:r>
              <a:rPr lang="en-US" sz="2000" dirty="0"/>
              <a:t>, …</a:t>
            </a:r>
          </a:p>
          <a:p>
            <a:pPr>
              <a:lnSpc>
                <a:spcPct val="90000"/>
              </a:lnSpc>
            </a:pPr>
            <a:r>
              <a:rPr lang="en-US" sz="2000" dirty="0" err="1"/>
              <a:t>Programadores</a:t>
            </a:r>
            <a:r>
              <a:rPr lang="en-US" sz="2000" dirty="0"/>
              <a:t> de </a:t>
            </a:r>
            <a:r>
              <a:rPr lang="en-US" sz="2000" dirty="0" err="1"/>
              <a:t>aplicaciones</a:t>
            </a:r>
            <a:r>
              <a:rPr lang="en-US" sz="2000" dirty="0"/>
              <a:t> de BD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Construyen</a:t>
            </a:r>
            <a:r>
              <a:rPr lang="en-US" sz="2000" dirty="0"/>
              <a:t> </a:t>
            </a:r>
            <a:r>
              <a:rPr lang="en-US" sz="2000" dirty="0" err="1"/>
              <a:t>aplicaciones</a:t>
            </a:r>
            <a:r>
              <a:rPr lang="en-US" sz="2000" dirty="0"/>
              <a:t> de </a:t>
            </a:r>
            <a:r>
              <a:rPr lang="en-US" sz="2000" dirty="0" err="1"/>
              <a:t>empresas</a:t>
            </a:r>
            <a:r>
              <a:rPr lang="en-US" sz="2000" dirty="0"/>
              <a:t> </a:t>
            </a:r>
            <a:r>
              <a:rPr lang="en-US" sz="2000" dirty="0" err="1"/>
              <a:t>encima</a:t>
            </a:r>
            <a:r>
              <a:rPr lang="en-US" sz="2000" dirty="0"/>
              <a:t> de los DBMSs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Construyen</a:t>
            </a:r>
            <a:r>
              <a:rPr lang="en-US" sz="2000" dirty="0"/>
              <a:t> </a:t>
            </a:r>
            <a:r>
              <a:rPr lang="en-US" sz="2000" dirty="0" err="1"/>
              <a:t>servicios</a:t>
            </a:r>
            <a:r>
              <a:rPr lang="en-US" sz="2000" dirty="0"/>
              <a:t> Web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corren</a:t>
            </a:r>
            <a:r>
              <a:rPr lang="en-US" sz="2000" dirty="0"/>
              <a:t> con DBMSs</a:t>
            </a:r>
          </a:p>
          <a:p>
            <a:pPr>
              <a:lnSpc>
                <a:spcPct val="90000"/>
              </a:lnSpc>
            </a:pPr>
            <a:r>
              <a:rPr lang="en-US" sz="2000" dirty="0" err="1"/>
              <a:t>Administradores</a:t>
            </a:r>
            <a:r>
              <a:rPr lang="en-US" sz="2000" dirty="0"/>
              <a:t> de Bases de </a:t>
            </a:r>
            <a:r>
              <a:rPr lang="en-US" sz="2000" dirty="0" err="1"/>
              <a:t>Datoss</a:t>
            </a:r>
            <a:r>
              <a:rPr lang="en-US" sz="2000" dirty="0"/>
              <a:t>(DBAs)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Dise</a:t>
            </a:r>
            <a:r>
              <a:rPr lang="es-EC" sz="2000" dirty="0"/>
              <a:t>ñ</a:t>
            </a:r>
            <a:r>
              <a:rPr lang="en-US" sz="2000" dirty="0"/>
              <a:t>an </a:t>
            </a:r>
            <a:r>
              <a:rPr lang="en-US" sz="2000" dirty="0" err="1"/>
              <a:t>esquemas</a:t>
            </a:r>
            <a:r>
              <a:rPr lang="en-US" sz="2000" dirty="0"/>
              <a:t> </a:t>
            </a:r>
            <a:r>
              <a:rPr lang="en-US" sz="2000" dirty="0" err="1"/>
              <a:t>lógicos</a:t>
            </a:r>
            <a:r>
              <a:rPr lang="en-US" sz="2000" dirty="0"/>
              <a:t>/</a:t>
            </a:r>
            <a:r>
              <a:rPr lang="en-US" sz="2000" dirty="0" err="1"/>
              <a:t>físicos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 err="1"/>
              <a:t>Controlan</a:t>
            </a:r>
            <a:r>
              <a:rPr lang="en-US" sz="2000" dirty="0"/>
              <a:t> la </a:t>
            </a:r>
            <a:r>
              <a:rPr lang="en-US" sz="2000" dirty="0" err="1"/>
              <a:t>seguridad</a:t>
            </a:r>
            <a:r>
              <a:rPr lang="en-US" sz="2000" dirty="0"/>
              <a:t> y </a:t>
            </a:r>
            <a:r>
              <a:rPr lang="en-US" sz="2000" dirty="0" err="1"/>
              <a:t>autorización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 err="1"/>
              <a:t>Disponibilidad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, crash recovery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Database tuning al </a:t>
            </a:r>
            <a:r>
              <a:rPr lang="en-US" sz="2000" dirty="0" err="1"/>
              <a:t>cambiar</a:t>
            </a:r>
            <a:r>
              <a:rPr lang="en-US" sz="2000" dirty="0"/>
              <a:t> </a:t>
            </a:r>
            <a:r>
              <a:rPr lang="en-US" sz="2000" dirty="0" err="1"/>
              <a:t>las</a:t>
            </a:r>
            <a:r>
              <a:rPr lang="en-US" sz="2000" dirty="0"/>
              <a:t> </a:t>
            </a:r>
            <a:r>
              <a:rPr lang="en-US" sz="2000" dirty="0" err="1"/>
              <a:t>necesidades</a:t>
            </a:r>
            <a:endParaRPr lang="en-US" sz="2000" dirty="0"/>
          </a:p>
          <a:p>
            <a:pPr marL="457200" indent="-457200">
              <a:lnSpc>
                <a:spcPct val="90000"/>
              </a:lnSpc>
            </a:pPr>
            <a:r>
              <a:rPr lang="en-US" sz="2000" dirty="0"/>
              <a:t>En el </a:t>
            </a:r>
            <a:r>
              <a:rPr lang="en-US" sz="2000" dirty="0" err="1"/>
              <a:t>curso</a:t>
            </a:r>
            <a:r>
              <a:rPr lang="en-US" sz="2000" dirty="0"/>
              <a:t> </a:t>
            </a:r>
            <a:r>
              <a:rPr lang="en-US" sz="2000" dirty="0" err="1"/>
              <a:t>exploraremos</a:t>
            </a:r>
            <a:r>
              <a:rPr lang="en-US" sz="2000" dirty="0"/>
              <a:t>:</a:t>
            </a: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sz="2000" dirty="0"/>
              <a:t>	</a:t>
            </a:r>
            <a:r>
              <a:rPr lang="en-US" sz="2000" dirty="0" err="1"/>
              <a:t>Cómo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un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sofisticado</a:t>
            </a:r>
            <a:r>
              <a:rPr lang="en-US" sz="2000" dirty="0"/>
              <a:t> de </a:t>
            </a:r>
            <a:r>
              <a:rPr lang="en-US" sz="2000" dirty="0" err="1"/>
              <a:t>tecnología</a:t>
            </a:r>
            <a:r>
              <a:rPr lang="en-US" sz="2000" dirty="0"/>
              <a:t> de DBMS</a:t>
            </a:r>
          </a:p>
        </p:txBody>
      </p:sp>
    </p:spTree>
    <p:extLst>
      <p:ext uri="{BB962C8B-B14F-4D97-AF65-F5344CB8AC3E}">
        <p14:creationId xmlns:p14="http://schemas.microsoft.com/office/powerpoint/2010/main" val="3231434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Tarea</a:t>
            </a:r>
            <a:r>
              <a:rPr lang="en-US" dirty="0"/>
              <a:t> </a:t>
            </a:r>
            <a:r>
              <a:rPr lang="en-US" dirty="0" err="1"/>
              <a:t>proyecto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Escoger</a:t>
            </a:r>
            <a:r>
              <a:rPr lang="en-US" dirty="0"/>
              <a:t> un </a:t>
            </a:r>
            <a:r>
              <a:rPr lang="en-US" dirty="0" err="1"/>
              <a:t>grupo</a:t>
            </a:r>
            <a:r>
              <a:rPr lang="en-US" dirty="0"/>
              <a:t> de 4 personas.</a:t>
            </a:r>
          </a:p>
          <a:p>
            <a:r>
              <a:rPr lang="en-US" dirty="0" err="1"/>
              <a:t>Discutir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negocios</a:t>
            </a:r>
            <a:r>
              <a:rPr lang="en-US" dirty="0"/>
              <a:t> </a:t>
            </a:r>
            <a:r>
              <a:rPr lang="en-US" dirty="0" err="1"/>
              <a:t>reales</a:t>
            </a:r>
            <a:r>
              <a:rPr lang="en-US" dirty="0"/>
              <a:t> 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necesiten</a:t>
            </a:r>
            <a:r>
              <a:rPr lang="en-US" dirty="0"/>
              <a:t> un </a:t>
            </a:r>
            <a:r>
              <a:rPr lang="en-US" dirty="0" err="1"/>
              <a:t>diseño</a:t>
            </a:r>
            <a:r>
              <a:rPr lang="en-US" dirty="0"/>
              <a:t> de base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/>
              <a:t>Traer </a:t>
            </a:r>
            <a:r>
              <a:rPr lang="en-US" dirty="0" err="1"/>
              <a:t>para</a:t>
            </a:r>
            <a:r>
              <a:rPr lang="en-US" dirty="0"/>
              <a:t> la </a:t>
            </a:r>
            <a:r>
              <a:rPr lang="en-US" dirty="0" err="1"/>
              <a:t>próxima</a:t>
            </a:r>
            <a:r>
              <a:rPr lang="en-US" dirty="0"/>
              <a:t> </a:t>
            </a:r>
            <a:r>
              <a:rPr lang="en-US" dirty="0" err="1"/>
              <a:t>semana</a:t>
            </a:r>
            <a:r>
              <a:rPr lang="en-US" dirty="0"/>
              <a:t> un </a:t>
            </a:r>
            <a:r>
              <a:rPr lang="en-US" dirty="0" err="1"/>
              <a:t>párrafo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descripción</a:t>
            </a:r>
            <a:r>
              <a:rPr lang="en-US" dirty="0"/>
              <a:t> de </a:t>
            </a:r>
            <a:r>
              <a:rPr lang="en-US" dirty="0" err="1"/>
              <a:t>negocio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9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1181</Words>
  <Application>Microsoft Macintosh PowerPoint</Application>
  <PresentationFormat>On-screen Show (4:3)</PresentationFormat>
  <Paragraphs>174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 SISTEMAS DE BASES DE DATOS  Ing. Vanessa Cedeño Mieles 2019-II Introducción</vt:lpstr>
      <vt:lpstr>Objetivos</vt:lpstr>
      <vt:lpstr>¿Qué es un sistema de Bases de Datos?</vt:lpstr>
      <vt:lpstr>Bases de Datos antiguas</vt:lpstr>
      <vt:lpstr>Tablas, Campos y Registros</vt:lpstr>
      <vt:lpstr>Bases de Datos de Archivos Planos</vt:lpstr>
      <vt:lpstr>Bases de Datos de Archivos Planos</vt:lpstr>
      <vt:lpstr>Sistema de bases de datos</vt:lpstr>
      <vt:lpstr>Sistema de administración  de base de datos (DBMS)</vt:lpstr>
      <vt:lpstr>RDBMS</vt:lpstr>
      <vt:lpstr>¿Por qué una base de datos?</vt:lpstr>
      <vt:lpstr>¿Quiénes utilizan un RDBMS?</vt:lpstr>
      <vt:lpstr>Evolución de los RDBMS</vt:lpstr>
      <vt:lpstr>PowerPoint Presentation</vt:lpstr>
      <vt:lpstr>Ejemplo:</vt:lpstr>
      <vt:lpstr>Cliente / Servidor</vt:lpstr>
      <vt:lpstr>Términos usados en bases de datos</vt:lpstr>
      <vt:lpstr>Términos usados en bases de datos</vt:lpstr>
      <vt:lpstr>Resumen</vt:lpstr>
      <vt:lpstr>Tarea proyecto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</dc:title>
  <dc:creator>vanessa</dc:creator>
  <cp:lastModifiedBy>Vanessa Ines Cedeno Mieles</cp:lastModifiedBy>
  <cp:revision>105</cp:revision>
  <dcterms:created xsi:type="dcterms:W3CDTF">2006-08-16T00:00:00Z</dcterms:created>
  <dcterms:modified xsi:type="dcterms:W3CDTF">2019-09-26T16:57:59Z</dcterms:modified>
</cp:coreProperties>
</file>
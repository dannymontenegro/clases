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49"/>
  </p:notesMasterIdLst>
  <p:sldIdLst>
    <p:sldId id="256" r:id="rId2"/>
    <p:sldId id="347" r:id="rId3"/>
    <p:sldId id="348" r:id="rId4"/>
    <p:sldId id="416" r:id="rId5"/>
    <p:sldId id="349" r:id="rId6"/>
    <p:sldId id="405" r:id="rId7"/>
    <p:sldId id="404" r:id="rId8"/>
    <p:sldId id="406" r:id="rId9"/>
    <p:sldId id="408" r:id="rId10"/>
    <p:sldId id="409" r:id="rId11"/>
    <p:sldId id="410" r:id="rId12"/>
    <p:sldId id="411" r:id="rId13"/>
    <p:sldId id="412" r:id="rId14"/>
    <p:sldId id="413" r:id="rId15"/>
    <p:sldId id="414" r:id="rId16"/>
    <p:sldId id="439" r:id="rId17"/>
    <p:sldId id="438" r:id="rId18"/>
    <p:sldId id="418" r:id="rId19"/>
    <p:sldId id="431" r:id="rId20"/>
    <p:sldId id="419" r:id="rId21"/>
    <p:sldId id="417" r:id="rId22"/>
    <p:sldId id="454" r:id="rId23"/>
    <p:sldId id="455" r:id="rId24"/>
    <p:sldId id="456" r:id="rId25"/>
    <p:sldId id="421" r:id="rId26"/>
    <p:sldId id="420" r:id="rId27"/>
    <p:sldId id="422" r:id="rId28"/>
    <p:sldId id="425" r:id="rId29"/>
    <p:sldId id="427" r:id="rId30"/>
    <p:sldId id="426" r:id="rId31"/>
    <p:sldId id="428" r:id="rId32"/>
    <p:sldId id="441" r:id="rId33"/>
    <p:sldId id="449" r:id="rId34"/>
    <p:sldId id="448" r:id="rId35"/>
    <p:sldId id="450" r:id="rId36"/>
    <p:sldId id="446" r:id="rId37"/>
    <p:sldId id="457" r:id="rId38"/>
    <p:sldId id="452" r:id="rId39"/>
    <p:sldId id="453" r:id="rId40"/>
    <p:sldId id="451" r:id="rId41"/>
    <p:sldId id="433" r:id="rId42"/>
    <p:sldId id="429" r:id="rId43"/>
    <p:sldId id="432" r:id="rId44"/>
    <p:sldId id="434" r:id="rId45"/>
    <p:sldId id="435" r:id="rId46"/>
    <p:sldId id="436" r:id="rId47"/>
    <p:sldId id="437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5030" autoAdjust="0"/>
  </p:normalViewPr>
  <p:slideViewPr>
    <p:cSldViewPr snapToGrid="0">
      <p:cViewPr varScale="1">
        <p:scale>
          <a:sx n="106" d="100"/>
          <a:sy n="106" d="100"/>
        </p:scale>
        <p:origin x="105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3594B-FEBB-48A3-8BDF-DB05D5DE02C0}" type="datetimeFigureOut">
              <a:rPr lang="en-US" smtClean="0"/>
              <a:t>1/13/20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10BFD-0FCF-4A7B-9E85-8F7D0B316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49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71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</a:t>
            </a:r>
            <a:r>
              <a:rPr lang="en-US" baseline="0" dirty="0"/>
              <a:t> embargo el </a:t>
            </a:r>
            <a:r>
              <a:rPr lang="en-US" baseline="0" dirty="0" err="1"/>
              <a:t>mantenimiento</a:t>
            </a:r>
            <a:r>
              <a:rPr lang="en-US" baseline="0" dirty="0"/>
              <a:t> de </a:t>
            </a:r>
            <a:r>
              <a:rPr lang="en-US" baseline="0" dirty="0" err="1"/>
              <a:t>estas</a:t>
            </a:r>
            <a:r>
              <a:rPr lang="en-US" baseline="0" dirty="0"/>
              <a:t> </a:t>
            </a:r>
            <a:r>
              <a:rPr lang="en-US" baseline="0" dirty="0" err="1"/>
              <a:t>estadisticias</a:t>
            </a:r>
            <a:r>
              <a:rPr lang="en-US" baseline="0" dirty="0"/>
              <a:t> </a:t>
            </a:r>
            <a:r>
              <a:rPr lang="en-US" baseline="0" dirty="0" err="1"/>
              <a:t>tb</a:t>
            </a:r>
            <a:r>
              <a:rPr lang="en-US" baseline="0" dirty="0"/>
              <a:t> </a:t>
            </a:r>
            <a:r>
              <a:rPr lang="en-US" baseline="0" dirty="0" err="1"/>
              <a:t>puede</a:t>
            </a:r>
            <a:r>
              <a:rPr lang="en-US" baseline="0" dirty="0"/>
              <a:t> </a:t>
            </a:r>
            <a:r>
              <a:rPr lang="en-US" baseline="0" dirty="0" err="1"/>
              <a:t>resultar</a:t>
            </a:r>
            <a:r>
              <a:rPr lang="en-US" baseline="0" dirty="0"/>
              <a:t> </a:t>
            </a:r>
            <a:r>
              <a:rPr lang="en-US" baseline="0" dirty="0" err="1"/>
              <a:t>costoso</a:t>
            </a:r>
            <a:r>
              <a:rPr lang="en-US" baseline="0" dirty="0"/>
              <a:t> a la </a:t>
            </a:r>
            <a:r>
              <a:rPr lang="en-US" baseline="0" dirty="0" err="1"/>
              <a:t>bd</a:t>
            </a:r>
            <a:endParaRPr lang="en-US" baseline="0" dirty="0"/>
          </a:p>
          <a:p>
            <a:r>
              <a:rPr lang="en-US" baseline="0" dirty="0" err="1"/>
              <a:t>por</a:t>
            </a:r>
            <a:r>
              <a:rPr lang="en-US" baseline="0" dirty="0"/>
              <a:t> lo </a:t>
            </a:r>
            <a:r>
              <a:rPr lang="en-US" baseline="0" dirty="0" err="1"/>
              <a:t>que</a:t>
            </a:r>
            <a:r>
              <a:rPr lang="en-US" baseline="0" dirty="0"/>
              <a:t> hay </a:t>
            </a:r>
            <a:r>
              <a:rPr lang="en-US" baseline="0" dirty="0" err="1"/>
              <a:t>procedimientos</a:t>
            </a:r>
            <a:r>
              <a:rPr lang="en-US" baseline="0" dirty="0"/>
              <a:t>. </a:t>
            </a:r>
            <a:r>
              <a:rPr lang="en-US" baseline="0" dirty="0" err="1"/>
              <a:t>eg</a:t>
            </a:r>
            <a:r>
              <a:rPr lang="en-US" baseline="0" dirty="0"/>
              <a:t>. q se </a:t>
            </a:r>
            <a:r>
              <a:rPr lang="en-US" baseline="0" dirty="0" err="1"/>
              <a:t>generen</a:t>
            </a:r>
            <a:r>
              <a:rPr lang="en-US" baseline="0" dirty="0"/>
              <a:t> en la </a:t>
            </a:r>
            <a:r>
              <a:rPr lang="en-US" baseline="0" dirty="0" err="1"/>
              <a:t>noche</a:t>
            </a:r>
            <a:r>
              <a:rPr lang="en-US" baseline="0" dirty="0"/>
              <a:t> o </a:t>
            </a:r>
            <a:r>
              <a:rPr lang="en-US" baseline="0" dirty="0" err="1"/>
              <a:t>cuando</a:t>
            </a:r>
            <a:r>
              <a:rPr lang="en-US" baseline="0" dirty="0"/>
              <a:t> el </a:t>
            </a:r>
            <a:r>
              <a:rPr lang="en-US" baseline="0" dirty="0" err="1"/>
              <a:t>sistema</a:t>
            </a:r>
            <a:r>
              <a:rPr lang="en-US" baseline="0" dirty="0"/>
              <a:t> </a:t>
            </a:r>
            <a:r>
              <a:rPr lang="en-US" baseline="0" dirty="0" err="1"/>
              <a:t>esta</a:t>
            </a:r>
            <a:r>
              <a:rPr lang="en-US" baseline="0" dirty="0"/>
              <a:t> </a:t>
            </a:r>
            <a:r>
              <a:rPr lang="en-US" baseline="0" dirty="0" err="1"/>
              <a:t>desocupado</a:t>
            </a:r>
            <a:endParaRPr lang="en-US" baseline="0" dirty="0"/>
          </a:p>
          <a:p>
            <a:r>
              <a:rPr lang="en-US" baseline="0" dirty="0"/>
              <a:t>o </a:t>
            </a:r>
            <a:r>
              <a:rPr lang="en-US" baseline="0" dirty="0" err="1"/>
              <a:t>cuando</a:t>
            </a:r>
            <a:r>
              <a:rPr lang="en-US" baseline="0" dirty="0"/>
              <a:t> el </a:t>
            </a:r>
            <a:r>
              <a:rPr lang="en-US" baseline="0" dirty="0" err="1"/>
              <a:t>usuario</a:t>
            </a:r>
            <a:r>
              <a:rPr lang="en-US" baseline="0" dirty="0"/>
              <a:t> lo </a:t>
            </a:r>
            <a:r>
              <a:rPr lang="en-US" baseline="0" dirty="0" err="1"/>
              <a:t>requiera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58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</a:t>
            </a:r>
            <a:r>
              <a:rPr lang="en-US" baseline="0" dirty="0"/>
              <a:t> </a:t>
            </a:r>
            <a:r>
              <a:rPr lang="en-US" baseline="0" dirty="0" err="1"/>
              <a:t>recibe</a:t>
            </a:r>
            <a:r>
              <a:rPr lang="en-US" baseline="0" dirty="0"/>
              <a:t> el query </a:t>
            </a:r>
            <a:r>
              <a:rPr lang="en-US" baseline="0" dirty="0" err="1"/>
              <a:t>que</a:t>
            </a:r>
            <a:r>
              <a:rPr lang="en-US" baseline="0" dirty="0"/>
              <a:t> </a:t>
            </a:r>
            <a:r>
              <a:rPr lang="en-US" baseline="0" dirty="0" err="1"/>
              <a:t>escribe</a:t>
            </a:r>
            <a:r>
              <a:rPr lang="en-US" baseline="0" dirty="0"/>
              <a:t> el </a:t>
            </a:r>
            <a:r>
              <a:rPr lang="en-US" baseline="0" dirty="0" err="1"/>
              <a:t>usuario</a:t>
            </a:r>
            <a:endParaRPr lang="en-US" baseline="0" dirty="0"/>
          </a:p>
          <a:p>
            <a:r>
              <a:rPr lang="en-US" baseline="0" dirty="0"/>
              <a:t>Se lo traduce a </a:t>
            </a:r>
            <a:r>
              <a:rPr lang="en-US" baseline="0" dirty="0" err="1"/>
              <a:t>expresiones</a:t>
            </a:r>
            <a:r>
              <a:rPr lang="en-US" baseline="0" dirty="0"/>
              <a:t> RA</a:t>
            </a:r>
          </a:p>
          <a:p>
            <a:r>
              <a:rPr lang="en-US" baseline="0" dirty="0"/>
              <a:t>Se </a:t>
            </a:r>
            <a:r>
              <a:rPr lang="en-US" baseline="0" dirty="0" err="1"/>
              <a:t>encuentra</a:t>
            </a:r>
            <a:r>
              <a:rPr lang="en-US" baseline="0" dirty="0"/>
              <a:t> un </a:t>
            </a:r>
            <a:r>
              <a:rPr lang="en-US" baseline="0" dirty="0" err="1"/>
              <a:t>metodo</a:t>
            </a:r>
            <a:r>
              <a:rPr lang="en-US" baseline="0" dirty="0"/>
              <a:t> mas </a:t>
            </a:r>
            <a:r>
              <a:rPr lang="en-US" baseline="0" dirty="0" err="1"/>
              <a:t>eficiente</a:t>
            </a:r>
            <a:r>
              <a:rPr lang="en-US" baseline="0" dirty="0"/>
              <a:t> en </a:t>
            </a:r>
            <a:r>
              <a:rPr lang="en-US" baseline="0" dirty="0" err="1"/>
              <a:t>terminos</a:t>
            </a:r>
            <a:r>
              <a:rPr lang="en-US" baseline="0" dirty="0"/>
              <a:t> de </a:t>
            </a:r>
            <a:r>
              <a:rPr lang="en-US" baseline="0" dirty="0" err="1"/>
              <a:t>costos</a:t>
            </a:r>
            <a:endParaRPr lang="en-US" baseline="0" dirty="0"/>
          </a:p>
          <a:p>
            <a:r>
              <a:rPr lang="en-US" baseline="0" dirty="0"/>
              <a:t>Se </a:t>
            </a:r>
            <a:r>
              <a:rPr lang="en-US" baseline="0" dirty="0" err="1"/>
              <a:t>ejecuta</a:t>
            </a:r>
            <a:r>
              <a:rPr lang="en-US" baseline="0" dirty="0"/>
              <a:t> el </a:t>
            </a:r>
            <a:r>
              <a:rPr lang="en-US" baseline="0" dirty="0" err="1"/>
              <a:t>nuevo</a:t>
            </a:r>
            <a:r>
              <a:rPr lang="en-US" baseline="0" dirty="0"/>
              <a:t>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61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71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Recordemos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46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Pag</a:t>
            </a:r>
            <a:r>
              <a:rPr lang="en-US" dirty="0"/>
              <a:t> 261-262, </a:t>
            </a:r>
            <a:r>
              <a:rPr lang="en-US" dirty="0" err="1"/>
              <a:t>Pg</a:t>
            </a:r>
            <a:r>
              <a:rPr lang="en-US" dirty="0"/>
              <a:t> 668-683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35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π</a:t>
            </a:r>
            <a:r>
              <a:rPr lang="es-ES_tradnl" baseline="-25000" dirty="0" err="1"/>
              <a:t>a,d</a:t>
            </a:r>
            <a:r>
              <a:rPr lang="es-ES_tradnl" baseline="0" dirty="0"/>
              <a:t>( 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  <a:r>
              <a:rPr lang="es-ES_tradnl" baseline="0" dirty="0"/>
              <a:t>(T ∞(R∞S) ) )</a:t>
            </a:r>
          </a:p>
          <a:p>
            <a:r>
              <a:rPr lang="es-ES_tradnl" baseline="0" dirty="0"/>
              <a:t>mandar abajo la  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</a:p>
          <a:p>
            <a:r>
              <a:rPr lang="es-ES_tradnl" baseline="0" dirty="0"/>
              <a:t>mandar abajo la </a:t>
            </a:r>
            <a:r>
              <a:rPr lang="es-ES_tradnl" dirty="0"/>
              <a:t>π</a:t>
            </a:r>
            <a:r>
              <a:rPr lang="es-ES_tradnl" baseline="-25000" dirty="0" err="1"/>
              <a:t>a,c</a:t>
            </a:r>
            <a:r>
              <a:rPr lang="es-ES_tradnl" baseline="-25000" dirty="0"/>
              <a:t> </a:t>
            </a:r>
            <a:r>
              <a:rPr lang="es-ES_tradnl" baseline="0" dirty="0"/>
              <a:t>(antes del </a:t>
            </a:r>
            <a:r>
              <a:rPr lang="es-ES_tradnl" baseline="0" dirty="0" err="1"/>
              <a:t>join</a:t>
            </a:r>
            <a:r>
              <a:rPr lang="es-ES_tradnl" baseline="0" dirty="0"/>
              <a:t>) eliminamos b porque no forma parte del resultado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dirty="0"/>
              <a:t>π</a:t>
            </a:r>
            <a:r>
              <a:rPr lang="es-ES_tradnl" baseline="-25000" dirty="0" err="1"/>
              <a:t>a,d</a:t>
            </a:r>
            <a:r>
              <a:rPr lang="es-ES_tradnl" baseline="0" dirty="0"/>
              <a:t>( T ∞ </a:t>
            </a:r>
            <a:r>
              <a:rPr lang="es-ES_tradnl" dirty="0"/>
              <a:t>π</a:t>
            </a:r>
            <a:r>
              <a:rPr lang="es-ES_tradnl" baseline="-25000" dirty="0" err="1"/>
              <a:t>a,c</a:t>
            </a:r>
            <a:r>
              <a:rPr lang="es-ES_tradnl" baseline="-25000" dirty="0"/>
              <a:t> </a:t>
            </a:r>
            <a:r>
              <a:rPr lang="es-ES_tradnl" baseline="0" dirty="0"/>
              <a:t>(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  <a:r>
              <a:rPr lang="es-ES_tradnl" baseline="0" dirty="0"/>
              <a:t>(R)∞S) ) 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baseline="0" dirty="0"/>
              <a:t>IMPORTANTE: Explicar que es mejor un </a:t>
            </a:r>
            <a:r>
              <a:rPr lang="es-ES_tradnl" baseline="0" dirty="0" err="1"/>
              <a:t>left-tree</a:t>
            </a:r>
            <a:r>
              <a:rPr lang="es-ES_tradnl" baseline="0" dirty="0"/>
              <a:t> que un </a:t>
            </a:r>
            <a:r>
              <a:rPr lang="es-ES_tradnl" baseline="0" dirty="0" err="1"/>
              <a:t>right-tree</a:t>
            </a:r>
            <a:r>
              <a:rPr lang="es-ES_tradnl" baseline="0" dirty="0"/>
              <a:t> (consume menos memoria)</a:t>
            </a:r>
          </a:p>
          <a:p>
            <a:endParaRPr lang="es-ES_tradnl" baseline="0" dirty="0"/>
          </a:p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π</a:t>
            </a:r>
            <a:r>
              <a:rPr lang="es-ES_tradnl" baseline="-25000" dirty="0" err="1"/>
              <a:t>a,d</a:t>
            </a:r>
            <a:r>
              <a:rPr lang="es-ES_tradnl" baseline="0" dirty="0"/>
              <a:t>( 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  <a:r>
              <a:rPr lang="es-ES_tradnl" baseline="0" dirty="0"/>
              <a:t>(T ∞(R∞S) ) )</a:t>
            </a:r>
          </a:p>
          <a:p>
            <a:r>
              <a:rPr lang="es-ES_tradnl" baseline="0" dirty="0"/>
              <a:t>mandar abajo la  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</a:p>
          <a:p>
            <a:r>
              <a:rPr lang="es-ES_tradnl" baseline="0" dirty="0"/>
              <a:t>mandar abajo la </a:t>
            </a:r>
            <a:r>
              <a:rPr lang="es-ES_tradnl" dirty="0"/>
              <a:t>π</a:t>
            </a:r>
            <a:r>
              <a:rPr lang="es-ES_tradnl" baseline="-25000" dirty="0" err="1"/>
              <a:t>a,c</a:t>
            </a:r>
            <a:r>
              <a:rPr lang="es-ES_tradnl" baseline="-25000" dirty="0"/>
              <a:t> </a:t>
            </a:r>
            <a:r>
              <a:rPr lang="es-ES_tradnl" baseline="0" dirty="0"/>
              <a:t>(antes del </a:t>
            </a:r>
            <a:r>
              <a:rPr lang="es-ES_tradnl" baseline="0" dirty="0" err="1"/>
              <a:t>join</a:t>
            </a:r>
            <a:r>
              <a:rPr lang="es-ES_tradnl" baseline="0" dirty="0"/>
              <a:t>) eliminamos b porque no forma parte del resultado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dirty="0"/>
              <a:t>π</a:t>
            </a:r>
            <a:r>
              <a:rPr lang="es-ES_tradnl" baseline="-25000" dirty="0" err="1"/>
              <a:t>a,d</a:t>
            </a:r>
            <a:r>
              <a:rPr lang="es-ES_tradnl" baseline="0" dirty="0"/>
              <a:t>( T ∞ </a:t>
            </a:r>
            <a:r>
              <a:rPr lang="es-ES_tradnl" dirty="0"/>
              <a:t>π</a:t>
            </a:r>
            <a:r>
              <a:rPr lang="es-ES_tradnl" baseline="-25000" dirty="0" err="1"/>
              <a:t>a,c</a:t>
            </a:r>
            <a:r>
              <a:rPr lang="es-ES_tradnl" baseline="-25000" dirty="0"/>
              <a:t> </a:t>
            </a:r>
            <a:r>
              <a:rPr lang="es-ES_tradnl" baseline="0" dirty="0"/>
              <a:t>(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  <a:r>
              <a:rPr lang="es-ES_tradnl" baseline="0" dirty="0"/>
              <a:t>(R)∞S) ) )</a:t>
            </a:r>
          </a:p>
          <a:p>
            <a:endParaRPr lang="es-ES_tradnl" baseline="0" dirty="0"/>
          </a:p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π</a:t>
            </a:r>
            <a:r>
              <a:rPr lang="es-ES_tradnl" baseline="-25000" dirty="0" err="1"/>
              <a:t>a,d</a:t>
            </a:r>
            <a:r>
              <a:rPr lang="es-ES_tradnl" baseline="0" dirty="0"/>
              <a:t>( 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  <a:r>
              <a:rPr lang="es-ES_tradnl" baseline="0" dirty="0"/>
              <a:t>(T ∞(R∞S) ) )</a:t>
            </a:r>
          </a:p>
          <a:p>
            <a:r>
              <a:rPr lang="es-ES_tradnl" baseline="0" dirty="0"/>
              <a:t>mandar abajo la  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</a:p>
          <a:p>
            <a:r>
              <a:rPr lang="es-ES_tradnl" baseline="0" dirty="0"/>
              <a:t>mandar abajo la </a:t>
            </a:r>
            <a:r>
              <a:rPr lang="es-ES_tradnl" dirty="0"/>
              <a:t>π</a:t>
            </a:r>
            <a:r>
              <a:rPr lang="es-ES_tradnl" baseline="-25000" dirty="0" err="1"/>
              <a:t>a,c</a:t>
            </a:r>
            <a:r>
              <a:rPr lang="es-ES_tradnl" baseline="-25000" dirty="0"/>
              <a:t> </a:t>
            </a:r>
            <a:r>
              <a:rPr lang="es-ES_tradnl" baseline="0" dirty="0"/>
              <a:t>(antes del </a:t>
            </a:r>
            <a:r>
              <a:rPr lang="es-ES_tradnl" baseline="0" dirty="0" err="1"/>
              <a:t>join</a:t>
            </a:r>
            <a:r>
              <a:rPr lang="es-ES_tradnl" baseline="0" dirty="0"/>
              <a:t>) eliminamos b porque no forma parte del resultado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dirty="0"/>
              <a:t>π</a:t>
            </a:r>
            <a:r>
              <a:rPr lang="es-ES_tradnl" baseline="-25000" dirty="0" err="1"/>
              <a:t>a,d</a:t>
            </a:r>
            <a:r>
              <a:rPr lang="es-ES_tradnl" baseline="0" dirty="0"/>
              <a:t>( T ∞ </a:t>
            </a:r>
            <a:r>
              <a:rPr lang="es-ES_tradnl" dirty="0"/>
              <a:t>π</a:t>
            </a:r>
            <a:r>
              <a:rPr lang="es-ES_tradnl" baseline="-25000" dirty="0" err="1"/>
              <a:t>a,c</a:t>
            </a:r>
            <a:r>
              <a:rPr lang="es-ES_tradnl" baseline="-25000" dirty="0"/>
              <a:t> </a:t>
            </a:r>
            <a:r>
              <a:rPr lang="es-ES_tradnl" baseline="0" dirty="0"/>
              <a:t>(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  <a:r>
              <a:rPr lang="es-ES_tradnl" baseline="0" dirty="0"/>
              <a:t>(R)∞S) ) )</a:t>
            </a:r>
          </a:p>
          <a:p>
            <a:endParaRPr lang="es-ES_tradnl" baseline="0" dirty="0"/>
          </a:p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π</a:t>
            </a:r>
            <a:r>
              <a:rPr lang="es-ES_tradnl" baseline="-25000" dirty="0" err="1"/>
              <a:t>a,d</a:t>
            </a:r>
            <a:r>
              <a:rPr lang="es-ES_tradnl" baseline="0" dirty="0"/>
              <a:t>( 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  <a:r>
              <a:rPr lang="es-ES_tradnl" baseline="0" dirty="0"/>
              <a:t>(T ∞(R∞S) ) )</a:t>
            </a:r>
          </a:p>
          <a:p>
            <a:r>
              <a:rPr lang="es-ES_tradnl" baseline="0" dirty="0"/>
              <a:t>mandar abajo la  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</a:p>
          <a:p>
            <a:r>
              <a:rPr lang="es-ES_tradnl" baseline="0" dirty="0"/>
              <a:t>mandar abajo la </a:t>
            </a:r>
            <a:r>
              <a:rPr lang="es-ES_tradnl" dirty="0"/>
              <a:t>π</a:t>
            </a:r>
            <a:r>
              <a:rPr lang="es-ES_tradnl" baseline="-25000" dirty="0" err="1"/>
              <a:t>a,c</a:t>
            </a:r>
            <a:r>
              <a:rPr lang="es-ES_tradnl" baseline="-25000" dirty="0"/>
              <a:t> </a:t>
            </a:r>
            <a:r>
              <a:rPr lang="es-ES_tradnl" baseline="0" dirty="0"/>
              <a:t>(antes del </a:t>
            </a:r>
            <a:r>
              <a:rPr lang="es-ES_tradnl" baseline="0" dirty="0" err="1"/>
              <a:t>join</a:t>
            </a:r>
            <a:r>
              <a:rPr lang="es-ES_tradnl" baseline="0" dirty="0"/>
              <a:t>) eliminamos b porque no forma parte del resultado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dirty="0"/>
              <a:t>π</a:t>
            </a:r>
            <a:r>
              <a:rPr lang="es-ES_tradnl" baseline="-25000" dirty="0" err="1"/>
              <a:t>a,d</a:t>
            </a:r>
            <a:r>
              <a:rPr lang="es-ES_tradnl" baseline="0" dirty="0"/>
              <a:t>( T ∞ </a:t>
            </a:r>
            <a:r>
              <a:rPr lang="es-ES_tradnl" dirty="0"/>
              <a:t>π</a:t>
            </a:r>
            <a:r>
              <a:rPr lang="es-ES_tradnl" baseline="-25000" dirty="0" err="1"/>
              <a:t>a,c</a:t>
            </a:r>
            <a:r>
              <a:rPr lang="es-ES_tradnl" baseline="-25000" dirty="0"/>
              <a:t> </a:t>
            </a:r>
            <a:r>
              <a:rPr lang="es-ES_tradnl" baseline="0" dirty="0"/>
              <a:t>(</a:t>
            </a:r>
            <a:r>
              <a:rPr lang="es-ES_tradnl" baseline="0" dirty="0" err="1"/>
              <a:t>σ</a:t>
            </a:r>
            <a:r>
              <a:rPr lang="es-ES_tradnl" baseline="-25000" dirty="0" err="1"/>
              <a:t>a</a:t>
            </a:r>
            <a:r>
              <a:rPr lang="es-ES_tradnl" baseline="-25000" dirty="0"/>
              <a:t> &lt; 10 </a:t>
            </a:r>
            <a:r>
              <a:rPr lang="es-ES_tradnl" baseline="0" dirty="0"/>
              <a:t>(R)∞S) ) )</a:t>
            </a:r>
          </a:p>
          <a:p>
            <a:endParaRPr lang="es-ES_tradnl" baseline="0" dirty="0"/>
          </a:p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aseline="0" dirty="0"/>
          </a:p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aseline="0" dirty="0"/>
          </a:p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aseline="0" dirty="0"/>
          </a:p>
          <a:p>
            <a:r>
              <a:rPr lang="es-ES_tradnl" b="1" dirty="0"/>
              <a:t>SELECT</a:t>
            </a:r>
            <a:r>
              <a:rPr lang="es-ES_tradnl" dirty="0"/>
              <a:t> </a:t>
            </a:r>
            <a:r>
              <a:rPr lang="es-ES_tradnl" dirty="0" err="1"/>
              <a:t>f.fNombre</a:t>
            </a:r>
            <a:r>
              <a:rPr lang="es-ES_tradnl" dirty="0"/>
              <a:t> </a:t>
            </a:r>
            <a:r>
              <a:rPr lang="es-ES_tradnl" b="1" dirty="0"/>
              <a:t>FROM</a:t>
            </a:r>
            <a:r>
              <a:rPr lang="es-ES_tradnl" dirty="0"/>
              <a:t> fruta f </a:t>
            </a:r>
          </a:p>
          <a:p>
            <a:r>
              <a:rPr lang="es-ES_tradnl" b="1" dirty="0"/>
              <a:t>JOIN</a:t>
            </a:r>
            <a:r>
              <a:rPr lang="es-ES_tradnl" dirty="0"/>
              <a:t> </a:t>
            </a:r>
            <a:r>
              <a:rPr lang="es-ES_tradnl" dirty="0" err="1"/>
              <a:t>TieneFruta</a:t>
            </a:r>
            <a:r>
              <a:rPr lang="es-ES_tradnl" dirty="0"/>
              <a:t> t </a:t>
            </a:r>
            <a:r>
              <a:rPr lang="es-ES_tradnl" b="1" dirty="0"/>
              <a:t>ON </a:t>
            </a:r>
            <a:r>
              <a:rPr lang="es-ES_tradnl" dirty="0" err="1"/>
              <a:t>f.fId</a:t>
            </a:r>
            <a:r>
              <a:rPr lang="es-ES_tradnl" dirty="0"/>
              <a:t> = </a:t>
            </a:r>
            <a:r>
              <a:rPr lang="es-ES_tradnl" dirty="0" err="1"/>
              <a:t>t.fId</a:t>
            </a:r>
            <a:endParaRPr lang="es-ES_tradnl" dirty="0"/>
          </a:p>
          <a:p>
            <a:r>
              <a:rPr lang="es-ES_tradnl" b="1" dirty="0"/>
              <a:t>JOIN</a:t>
            </a:r>
            <a:r>
              <a:rPr lang="es-ES_tradnl" dirty="0"/>
              <a:t> sucursal s </a:t>
            </a:r>
            <a:r>
              <a:rPr lang="es-ES_tradnl" b="1" dirty="0"/>
              <a:t>ON</a:t>
            </a:r>
            <a:r>
              <a:rPr lang="es-ES_tradnl" dirty="0"/>
              <a:t> </a:t>
            </a:r>
            <a:r>
              <a:rPr lang="es-ES_tradnl" dirty="0" err="1"/>
              <a:t>t.tId</a:t>
            </a:r>
            <a:r>
              <a:rPr lang="es-ES_tradnl" dirty="0"/>
              <a:t> = </a:t>
            </a:r>
            <a:r>
              <a:rPr lang="es-ES_tradnl" dirty="0" err="1"/>
              <a:t>s.fId</a:t>
            </a:r>
            <a:endParaRPr lang="es-ES_tradnl" dirty="0"/>
          </a:p>
          <a:p>
            <a:r>
              <a:rPr lang="es-ES_tradnl" b="1" dirty="0"/>
              <a:t>WHERE</a:t>
            </a:r>
            <a:r>
              <a:rPr lang="es-ES_tradnl" dirty="0"/>
              <a:t> </a:t>
            </a:r>
            <a:r>
              <a:rPr lang="es-ES_tradnl" dirty="0" err="1"/>
              <a:t>f.fCalorias</a:t>
            </a:r>
            <a:r>
              <a:rPr lang="es-ES_tradnl" dirty="0"/>
              <a:t> &lt;=100</a:t>
            </a:r>
          </a:p>
          <a:p>
            <a:r>
              <a:rPr lang="es-ES_tradnl" b="1" dirty="0"/>
              <a:t>AND</a:t>
            </a:r>
            <a:r>
              <a:rPr lang="es-ES_tradnl" dirty="0"/>
              <a:t> </a:t>
            </a:r>
            <a:r>
              <a:rPr lang="es-ES_tradnl" dirty="0" err="1"/>
              <a:t>t.tPrecio</a:t>
            </a:r>
            <a:r>
              <a:rPr lang="es-ES_tradnl" dirty="0"/>
              <a:t>&lt;10 </a:t>
            </a:r>
          </a:p>
          <a:p>
            <a:r>
              <a:rPr lang="es-ES_tradnl" b="1" dirty="0"/>
              <a:t>AND</a:t>
            </a:r>
            <a:r>
              <a:rPr lang="es-ES_tradnl" dirty="0"/>
              <a:t> s.Abre24=True;</a:t>
            </a:r>
          </a:p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710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</a:t>
            </a:r>
            <a:r>
              <a:rPr lang="en-US" baseline="0" dirty="0"/>
              <a:t> </a:t>
            </a:r>
            <a:r>
              <a:rPr lang="en-US" baseline="0" dirty="0" err="1"/>
              <a:t>recibe</a:t>
            </a:r>
            <a:r>
              <a:rPr lang="en-US" baseline="0" dirty="0"/>
              <a:t> el query </a:t>
            </a:r>
            <a:r>
              <a:rPr lang="en-US" baseline="0" dirty="0" err="1"/>
              <a:t>que</a:t>
            </a:r>
            <a:r>
              <a:rPr lang="en-US" baseline="0" dirty="0"/>
              <a:t> </a:t>
            </a:r>
            <a:r>
              <a:rPr lang="en-US" baseline="0" dirty="0" err="1"/>
              <a:t>escribe</a:t>
            </a:r>
            <a:r>
              <a:rPr lang="en-US" baseline="0" dirty="0"/>
              <a:t> el </a:t>
            </a:r>
            <a:r>
              <a:rPr lang="en-US" baseline="0" dirty="0" err="1"/>
              <a:t>usuario</a:t>
            </a:r>
            <a:endParaRPr lang="en-US" baseline="0" dirty="0"/>
          </a:p>
          <a:p>
            <a:r>
              <a:rPr lang="en-US" baseline="0" dirty="0"/>
              <a:t>Se lo traduce a </a:t>
            </a:r>
            <a:r>
              <a:rPr lang="en-US" baseline="0" dirty="0" err="1"/>
              <a:t>expresiones</a:t>
            </a:r>
            <a:r>
              <a:rPr lang="en-US" baseline="0" dirty="0"/>
              <a:t> RA</a:t>
            </a:r>
          </a:p>
          <a:p>
            <a:r>
              <a:rPr lang="en-US" baseline="0" dirty="0"/>
              <a:t>Se </a:t>
            </a:r>
            <a:r>
              <a:rPr lang="en-US" baseline="0" dirty="0" err="1"/>
              <a:t>encuentra</a:t>
            </a:r>
            <a:r>
              <a:rPr lang="en-US" baseline="0" dirty="0"/>
              <a:t> un </a:t>
            </a:r>
            <a:r>
              <a:rPr lang="en-US" baseline="0" dirty="0" err="1"/>
              <a:t>metodo</a:t>
            </a:r>
            <a:r>
              <a:rPr lang="en-US" baseline="0" dirty="0"/>
              <a:t> mas </a:t>
            </a:r>
            <a:r>
              <a:rPr lang="en-US" baseline="0" dirty="0" err="1"/>
              <a:t>eficiente</a:t>
            </a:r>
            <a:r>
              <a:rPr lang="en-US" baseline="0" dirty="0"/>
              <a:t> en </a:t>
            </a:r>
            <a:r>
              <a:rPr lang="en-US" baseline="0" dirty="0" err="1"/>
              <a:t>terminos</a:t>
            </a:r>
            <a:r>
              <a:rPr lang="en-US" baseline="0" dirty="0"/>
              <a:t> de </a:t>
            </a:r>
            <a:r>
              <a:rPr lang="en-US" baseline="0" dirty="0" err="1"/>
              <a:t>costos</a:t>
            </a:r>
            <a:endParaRPr lang="en-US" baseline="0" dirty="0"/>
          </a:p>
          <a:p>
            <a:r>
              <a:rPr lang="en-US" baseline="0" dirty="0"/>
              <a:t>Se </a:t>
            </a:r>
            <a:r>
              <a:rPr lang="en-US" baseline="0" dirty="0" err="1"/>
              <a:t>ejecuta</a:t>
            </a:r>
            <a:r>
              <a:rPr lang="en-US" baseline="0" dirty="0"/>
              <a:t> el </a:t>
            </a:r>
            <a:r>
              <a:rPr lang="en-US" baseline="0" dirty="0" err="1"/>
              <a:t>nuevo</a:t>
            </a:r>
            <a:r>
              <a:rPr lang="en-US" baseline="0" dirty="0"/>
              <a:t>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613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1000</a:t>
            </a:r>
            <a:r>
              <a:rPr lang="en-US" baseline="0" dirty="0"/>
              <a:t> </a:t>
            </a:r>
            <a:r>
              <a:rPr lang="en-US" baseline="0" dirty="0" err="1"/>
              <a:t>tuplas</a:t>
            </a:r>
            <a:r>
              <a:rPr lang="en-US" baseline="0" dirty="0"/>
              <a:t> en Staff, 50 </a:t>
            </a:r>
            <a:r>
              <a:rPr lang="en-US" baseline="0" dirty="0" err="1"/>
              <a:t>tuplas</a:t>
            </a:r>
            <a:r>
              <a:rPr lang="en-US" baseline="0" dirty="0"/>
              <a:t> en Branch y 50 en Manager ( </a:t>
            </a:r>
            <a:r>
              <a:rPr lang="en-US" baseline="0" dirty="0" err="1"/>
              <a:t>por</a:t>
            </a:r>
            <a:r>
              <a:rPr lang="en-US" baseline="0" dirty="0"/>
              <a:t> </a:t>
            </a:r>
            <a:r>
              <a:rPr lang="en-US" baseline="0" dirty="0" err="1"/>
              <a:t>cada</a:t>
            </a:r>
            <a:r>
              <a:rPr lang="en-US" baseline="0" dirty="0"/>
              <a:t> branch). y 5 branches en London. </a:t>
            </a:r>
          </a:p>
          <a:p>
            <a:r>
              <a:rPr lang="en-US" baseline="0" dirty="0" err="1"/>
              <a:t>Acceso</a:t>
            </a:r>
            <a:r>
              <a:rPr lang="en-US" baseline="0" dirty="0"/>
              <a:t> a disco</a:t>
            </a:r>
          </a:p>
          <a:p>
            <a:r>
              <a:rPr lang="en-US" baseline="0" dirty="0"/>
              <a:t>1) </a:t>
            </a:r>
            <a:r>
              <a:rPr lang="en-US" baseline="0" dirty="0" err="1"/>
              <a:t>Asuma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no hay indices, </a:t>
            </a:r>
            <a:r>
              <a:rPr lang="en-US" baseline="0" dirty="0" err="1"/>
              <a:t>ni</a:t>
            </a:r>
            <a:r>
              <a:rPr lang="en-US" baseline="0" dirty="0"/>
              <a:t> </a:t>
            </a:r>
            <a:r>
              <a:rPr lang="en-US" baseline="0" dirty="0" err="1"/>
              <a:t>ordenamiento</a:t>
            </a:r>
            <a:r>
              <a:rPr lang="en-US" baseline="0" dirty="0"/>
              <a:t> y </a:t>
            </a:r>
            <a:r>
              <a:rPr lang="en-US" baseline="0" dirty="0" err="1"/>
              <a:t>ni</a:t>
            </a:r>
            <a:r>
              <a:rPr lang="en-US" baseline="0" dirty="0"/>
              <a:t> </a:t>
            </a:r>
            <a:r>
              <a:rPr lang="en-US" baseline="0" dirty="0" err="1"/>
              <a:t>resultados</a:t>
            </a:r>
            <a:r>
              <a:rPr lang="en-US" baseline="0" dirty="0"/>
              <a:t> </a:t>
            </a:r>
            <a:r>
              <a:rPr lang="en-US" baseline="0" dirty="0" err="1"/>
              <a:t>intermedios</a:t>
            </a:r>
            <a:endParaRPr lang="en-US" baseline="0" dirty="0"/>
          </a:p>
          <a:p>
            <a:r>
              <a:rPr lang="en-US" baseline="0" dirty="0" err="1"/>
              <a:t>Lectura</a:t>
            </a:r>
            <a:r>
              <a:rPr lang="en-US" baseline="0" dirty="0"/>
              <a:t> de </a:t>
            </a:r>
            <a:r>
              <a:rPr lang="en-US" baseline="0" dirty="0" err="1"/>
              <a:t>las</a:t>
            </a:r>
            <a:r>
              <a:rPr lang="en-US" baseline="0" dirty="0"/>
              <a:t> </a:t>
            </a:r>
            <a:r>
              <a:rPr lang="en-US" baseline="0" dirty="0" err="1"/>
              <a:t>tablas</a:t>
            </a:r>
            <a:r>
              <a:rPr lang="en-US" baseline="0" dirty="0"/>
              <a:t> : 1000+50 , </a:t>
            </a:r>
            <a:r>
              <a:rPr lang="en-US" baseline="0" dirty="0" err="1"/>
              <a:t>creación</a:t>
            </a:r>
            <a:r>
              <a:rPr lang="en-US" baseline="0" dirty="0"/>
              <a:t> del </a:t>
            </a:r>
            <a:r>
              <a:rPr lang="en-US" baseline="0" dirty="0" err="1"/>
              <a:t>producto</a:t>
            </a:r>
            <a:r>
              <a:rPr lang="en-US" baseline="0" dirty="0"/>
              <a:t> </a:t>
            </a:r>
            <a:r>
              <a:rPr lang="en-US" baseline="0" dirty="0" err="1"/>
              <a:t>cruz</a:t>
            </a:r>
            <a:r>
              <a:rPr lang="en-US" baseline="0" dirty="0"/>
              <a:t> 1000*50, </a:t>
            </a:r>
            <a:r>
              <a:rPr lang="en-US" baseline="0" dirty="0" err="1"/>
              <a:t>validación</a:t>
            </a:r>
            <a:r>
              <a:rPr lang="en-US" baseline="0" dirty="0"/>
              <a:t> del </a:t>
            </a:r>
            <a:r>
              <a:rPr lang="en-US" baseline="0" dirty="0" err="1"/>
              <a:t>predicado</a:t>
            </a:r>
            <a:r>
              <a:rPr lang="en-US" baseline="0" dirty="0"/>
              <a:t> 1000*50</a:t>
            </a:r>
          </a:p>
          <a:p>
            <a:r>
              <a:rPr lang="sv-S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(1000 + 50) +2*(1000 * 50) = 101 050 disk </a:t>
            </a:r>
            <a:r>
              <a:rPr lang="sv-SE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accesses</a:t>
            </a:r>
            <a:endParaRPr lang="sv-SE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2)</a:t>
            </a:r>
            <a:r>
              <a:rPr lang="en-US" baseline="0" dirty="0"/>
              <a:t> el join </a:t>
            </a:r>
            <a:r>
              <a:rPr lang="en-US" baseline="0" dirty="0" err="1"/>
              <a:t>arroja</a:t>
            </a:r>
            <a:r>
              <a:rPr lang="en-US" baseline="0" dirty="0"/>
              <a:t> 1000 </a:t>
            </a:r>
            <a:r>
              <a:rPr lang="en-US" baseline="0" dirty="0" err="1"/>
              <a:t>tuplas</a:t>
            </a:r>
            <a:r>
              <a:rPr lang="en-US" baseline="0" dirty="0"/>
              <a:t> (</a:t>
            </a:r>
            <a:r>
              <a:rPr lang="en-US" baseline="0" dirty="0" err="1"/>
              <a:t>ya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un </a:t>
            </a:r>
            <a:r>
              <a:rPr lang="en-US" baseline="0" dirty="0" err="1"/>
              <a:t>empleado</a:t>
            </a:r>
            <a:r>
              <a:rPr lang="en-US" baseline="0" dirty="0"/>
              <a:t> solo </a:t>
            </a:r>
            <a:r>
              <a:rPr lang="en-US" baseline="0" dirty="0" err="1"/>
              <a:t>trabaja</a:t>
            </a:r>
            <a:r>
              <a:rPr lang="en-US" baseline="0" dirty="0"/>
              <a:t> en un Branch), la </a:t>
            </a:r>
            <a:r>
              <a:rPr lang="en-US" baseline="0" dirty="0" err="1"/>
              <a:t>selecciòn</a:t>
            </a:r>
            <a:r>
              <a:rPr lang="en-US" baseline="0" dirty="0"/>
              <a:t> </a:t>
            </a:r>
            <a:r>
              <a:rPr lang="en-US" baseline="0" dirty="0" err="1"/>
              <a:t>requiere</a:t>
            </a:r>
            <a:r>
              <a:rPr lang="en-US" baseline="0" dirty="0"/>
              <a:t> 1000 </a:t>
            </a:r>
            <a:r>
              <a:rPr lang="en-US" baseline="0" dirty="0" err="1"/>
              <a:t>accesos</a:t>
            </a:r>
            <a:r>
              <a:rPr lang="en-US" baseline="0" dirty="0"/>
              <a:t> al disco </a:t>
            </a:r>
            <a:r>
              <a:rPr lang="en-US" baseline="0" dirty="0" err="1"/>
              <a:t>para</a:t>
            </a:r>
            <a:r>
              <a:rPr lang="en-US" baseline="0" dirty="0"/>
              <a:t> leer el join</a:t>
            </a:r>
          </a:p>
          <a:p>
            <a:r>
              <a:rPr lang="en-US" baseline="0" dirty="0"/>
              <a:t>2*(1000) + (1000+50) = 3050 </a:t>
            </a:r>
            <a:r>
              <a:rPr lang="en-US" baseline="0" dirty="0" err="1"/>
              <a:t>accesos</a:t>
            </a:r>
            <a:r>
              <a:rPr lang="en-US" baseline="0" dirty="0"/>
              <a:t> al disco</a:t>
            </a:r>
          </a:p>
          <a:p>
            <a:endParaRPr lang="en-US" baseline="0" dirty="0"/>
          </a:p>
          <a:p>
            <a:r>
              <a:rPr lang="en-US" baseline="0" dirty="0"/>
              <a:t>3) 1000 (</a:t>
            </a:r>
            <a:r>
              <a:rPr lang="en-US" baseline="0" dirty="0" err="1"/>
              <a:t>tabla</a:t>
            </a:r>
            <a:r>
              <a:rPr lang="en-US" baseline="0" dirty="0"/>
              <a:t> staff) + 50 de leer los managers+ 50 (de la </a:t>
            </a:r>
            <a:r>
              <a:rPr lang="en-US" baseline="0" dirty="0" err="1"/>
              <a:t>tabla</a:t>
            </a:r>
            <a:r>
              <a:rPr lang="en-US" baseline="0" dirty="0"/>
              <a:t> branch) + 5(branches in </a:t>
            </a:r>
            <a:r>
              <a:rPr lang="en-US" baseline="0" dirty="0" err="1"/>
              <a:t>london</a:t>
            </a:r>
            <a:r>
              <a:rPr lang="en-US" baseline="0" dirty="0"/>
              <a:t>)+ (50 +5)join = 1160 </a:t>
            </a:r>
            <a:r>
              <a:rPr lang="en-US" baseline="0" dirty="0" err="1"/>
              <a:t>accesos</a:t>
            </a:r>
            <a:r>
              <a:rPr lang="en-US" baseline="0" dirty="0"/>
              <a:t> al disco</a:t>
            </a:r>
          </a:p>
          <a:p>
            <a:endParaRPr lang="en-US" baseline="0" dirty="0"/>
          </a:p>
          <a:p>
            <a:r>
              <a:rPr lang="en-US" baseline="0" dirty="0" err="1"/>
              <a:t>Sabes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</a:t>
            </a:r>
            <a:r>
              <a:rPr lang="en-US" baseline="0" dirty="0" err="1"/>
              <a:t>tanto</a:t>
            </a:r>
            <a:r>
              <a:rPr lang="en-US" baseline="0" dirty="0"/>
              <a:t> los joins </a:t>
            </a:r>
            <a:r>
              <a:rPr lang="en-US" baseline="0" dirty="0" err="1"/>
              <a:t>como</a:t>
            </a:r>
            <a:r>
              <a:rPr lang="en-US" baseline="0" dirty="0"/>
              <a:t> los </a:t>
            </a:r>
            <a:r>
              <a:rPr lang="en-US" baseline="0" dirty="0" err="1"/>
              <a:t>productos</a:t>
            </a:r>
            <a:r>
              <a:rPr lang="en-US" baseline="0" dirty="0"/>
              <a:t> </a:t>
            </a:r>
            <a:r>
              <a:rPr lang="en-US" baseline="0" dirty="0" err="1"/>
              <a:t>cruz</a:t>
            </a:r>
            <a:r>
              <a:rPr lang="en-US" baseline="0" dirty="0"/>
              <a:t> </a:t>
            </a:r>
            <a:r>
              <a:rPr lang="en-US" b="1" baseline="0" dirty="0"/>
              <a:t>son </a:t>
            </a:r>
            <a:r>
              <a:rPr lang="en-US" b="1" baseline="0" dirty="0" err="1"/>
              <a:t>costosos</a:t>
            </a:r>
            <a:r>
              <a:rPr lang="en-US" baseline="0" dirty="0"/>
              <a:t>, sin embargo el </a:t>
            </a:r>
            <a:r>
              <a:rPr lang="en-US" baseline="0" dirty="0" err="1"/>
              <a:t>ejemplo</a:t>
            </a:r>
            <a:r>
              <a:rPr lang="en-US" baseline="0" dirty="0"/>
              <a:t> dice lo </a:t>
            </a:r>
            <a:r>
              <a:rPr lang="en-US" baseline="0" dirty="0" err="1"/>
              <a:t>contrario</a:t>
            </a:r>
            <a:r>
              <a:rPr lang="en-US" baseline="0" dirty="0"/>
              <a:t>… Y </a:t>
            </a:r>
            <a:r>
              <a:rPr lang="en-US" baseline="0" dirty="0" err="1"/>
              <a:t>esto</a:t>
            </a:r>
            <a:r>
              <a:rPr lang="en-US" baseline="0" dirty="0"/>
              <a:t> se </a:t>
            </a:r>
            <a:r>
              <a:rPr lang="en-US" baseline="0" dirty="0" err="1"/>
              <a:t>debe</a:t>
            </a:r>
            <a:r>
              <a:rPr lang="en-US" baseline="0" dirty="0"/>
              <a:t> a </a:t>
            </a:r>
            <a:r>
              <a:rPr lang="en-US" baseline="0" dirty="0" err="1"/>
              <a:t>las</a:t>
            </a:r>
            <a:r>
              <a:rPr lang="en-US" baseline="0" dirty="0"/>
              <a:t> </a:t>
            </a:r>
            <a:r>
              <a:rPr lang="en-US" baseline="0" dirty="0" err="1"/>
              <a:t>selecciones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se </a:t>
            </a:r>
            <a:r>
              <a:rPr lang="en-US" baseline="0" dirty="0" err="1"/>
              <a:t>hacen</a:t>
            </a:r>
            <a:r>
              <a:rPr lang="en-US" baseline="0" dirty="0"/>
              <a:t> </a:t>
            </a:r>
            <a:r>
              <a:rPr lang="en-US" baseline="0" dirty="0" err="1"/>
              <a:t>tempranamente</a:t>
            </a:r>
            <a:r>
              <a:rPr lang="en-US" baseline="0"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43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1000</a:t>
            </a:r>
            <a:r>
              <a:rPr lang="en-US" baseline="0" dirty="0"/>
              <a:t> </a:t>
            </a:r>
            <a:r>
              <a:rPr lang="en-US" baseline="0" dirty="0" err="1"/>
              <a:t>tuplas</a:t>
            </a:r>
            <a:r>
              <a:rPr lang="en-US" baseline="0" dirty="0"/>
              <a:t> en Staff, 50 </a:t>
            </a:r>
            <a:r>
              <a:rPr lang="en-US" baseline="0" dirty="0" err="1"/>
              <a:t>tuplas</a:t>
            </a:r>
            <a:r>
              <a:rPr lang="en-US" baseline="0" dirty="0"/>
              <a:t> en Branch y 50 en Manager ( </a:t>
            </a:r>
            <a:r>
              <a:rPr lang="en-US" baseline="0" dirty="0" err="1"/>
              <a:t>por</a:t>
            </a:r>
            <a:r>
              <a:rPr lang="en-US" baseline="0" dirty="0"/>
              <a:t> </a:t>
            </a:r>
            <a:r>
              <a:rPr lang="en-US" baseline="0" dirty="0" err="1"/>
              <a:t>cada</a:t>
            </a:r>
            <a:r>
              <a:rPr lang="en-US" baseline="0" dirty="0"/>
              <a:t> branch). y 5 branches en London. </a:t>
            </a:r>
          </a:p>
          <a:p>
            <a:r>
              <a:rPr lang="en-US" baseline="0" dirty="0" err="1"/>
              <a:t>Acceso</a:t>
            </a:r>
            <a:r>
              <a:rPr lang="en-US" baseline="0" dirty="0"/>
              <a:t> a disco</a:t>
            </a:r>
          </a:p>
          <a:p>
            <a:r>
              <a:rPr lang="en-US" baseline="0" dirty="0"/>
              <a:t>1) </a:t>
            </a:r>
            <a:r>
              <a:rPr lang="en-US" baseline="0" dirty="0" err="1"/>
              <a:t>Asuma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no hay indices, </a:t>
            </a:r>
            <a:r>
              <a:rPr lang="en-US" baseline="0" dirty="0" err="1"/>
              <a:t>ni</a:t>
            </a:r>
            <a:r>
              <a:rPr lang="en-US" baseline="0" dirty="0"/>
              <a:t> </a:t>
            </a:r>
            <a:r>
              <a:rPr lang="en-US" baseline="0" dirty="0" err="1"/>
              <a:t>ordenamiento</a:t>
            </a:r>
            <a:r>
              <a:rPr lang="en-US" baseline="0" dirty="0"/>
              <a:t> y </a:t>
            </a:r>
            <a:r>
              <a:rPr lang="en-US" baseline="0" dirty="0" err="1"/>
              <a:t>ni</a:t>
            </a:r>
            <a:r>
              <a:rPr lang="en-US" baseline="0" dirty="0"/>
              <a:t> </a:t>
            </a:r>
            <a:r>
              <a:rPr lang="en-US" baseline="0" dirty="0" err="1"/>
              <a:t>resultados</a:t>
            </a:r>
            <a:r>
              <a:rPr lang="en-US" baseline="0" dirty="0"/>
              <a:t> </a:t>
            </a:r>
            <a:r>
              <a:rPr lang="en-US" baseline="0" dirty="0" err="1"/>
              <a:t>intermedios</a:t>
            </a:r>
            <a:endParaRPr lang="en-US" baseline="0" dirty="0"/>
          </a:p>
          <a:p>
            <a:r>
              <a:rPr lang="en-US" baseline="0" dirty="0" err="1"/>
              <a:t>Lectura</a:t>
            </a:r>
            <a:r>
              <a:rPr lang="en-US" baseline="0" dirty="0"/>
              <a:t> de </a:t>
            </a:r>
            <a:r>
              <a:rPr lang="en-US" baseline="0" dirty="0" err="1"/>
              <a:t>las</a:t>
            </a:r>
            <a:r>
              <a:rPr lang="en-US" baseline="0" dirty="0"/>
              <a:t> </a:t>
            </a:r>
            <a:r>
              <a:rPr lang="en-US" baseline="0" dirty="0" err="1"/>
              <a:t>tablas</a:t>
            </a:r>
            <a:r>
              <a:rPr lang="en-US" baseline="0" dirty="0"/>
              <a:t> : 1000+50 , </a:t>
            </a:r>
            <a:r>
              <a:rPr lang="en-US" baseline="0" dirty="0" err="1"/>
              <a:t>creación</a:t>
            </a:r>
            <a:r>
              <a:rPr lang="en-US" baseline="0" dirty="0"/>
              <a:t> del </a:t>
            </a:r>
            <a:r>
              <a:rPr lang="en-US" baseline="0" dirty="0" err="1"/>
              <a:t>producto</a:t>
            </a:r>
            <a:r>
              <a:rPr lang="en-US" baseline="0" dirty="0"/>
              <a:t> </a:t>
            </a:r>
            <a:r>
              <a:rPr lang="en-US" baseline="0" dirty="0" err="1"/>
              <a:t>cruz</a:t>
            </a:r>
            <a:r>
              <a:rPr lang="en-US" baseline="0" dirty="0"/>
              <a:t> 1000*50, </a:t>
            </a:r>
            <a:r>
              <a:rPr lang="en-US" baseline="0" dirty="0" err="1"/>
              <a:t>validación</a:t>
            </a:r>
            <a:r>
              <a:rPr lang="en-US" baseline="0" dirty="0"/>
              <a:t> del </a:t>
            </a:r>
            <a:r>
              <a:rPr lang="en-US" baseline="0" dirty="0" err="1"/>
              <a:t>predicado</a:t>
            </a:r>
            <a:r>
              <a:rPr lang="en-US" baseline="0" dirty="0"/>
              <a:t> 1000*50</a:t>
            </a:r>
          </a:p>
          <a:p>
            <a:r>
              <a:rPr lang="sv-S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(1000 + 50) +2*(1000 * 50) = 101 050 disk </a:t>
            </a:r>
            <a:r>
              <a:rPr lang="sv-SE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accesses</a:t>
            </a:r>
            <a:endParaRPr lang="sv-SE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2)</a:t>
            </a:r>
            <a:r>
              <a:rPr lang="en-US" baseline="0" dirty="0"/>
              <a:t> el join </a:t>
            </a:r>
            <a:r>
              <a:rPr lang="en-US" baseline="0" dirty="0" err="1"/>
              <a:t>arroja</a:t>
            </a:r>
            <a:r>
              <a:rPr lang="en-US" baseline="0" dirty="0"/>
              <a:t> 1000 </a:t>
            </a:r>
            <a:r>
              <a:rPr lang="en-US" baseline="0" dirty="0" err="1"/>
              <a:t>tuplas</a:t>
            </a:r>
            <a:r>
              <a:rPr lang="en-US" baseline="0" dirty="0"/>
              <a:t> (</a:t>
            </a:r>
            <a:r>
              <a:rPr lang="en-US" baseline="0" dirty="0" err="1"/>
              <a:t>ya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un </a:t>
            </a:r>
            <a:r>
              <a:rPr lang="en-US" baseline="0" dirty="0" err="1"/>
              <a:t>empleado</a:t>
            </a:r>
            <a:r>
              <a:rPr lang="en-US" baseline="0" dirty="0"/>
              <a:t> solo </a:t>
            </a:r>
            <a:r>
              <a:rPr lang="en-US" baseline="0" dirty="0" err="1"/>
              <a:t>trabaja</a:t>
            </a:r>
            <a:r>
              <a:rPr lang="en-US" baseline="0" dirty="0"/>
              <a:t> en un Branch), la </a:t>
            </a:r>
            <a:r>
              <a:rPr lang="en-US" baseline="0" dirty="0" err="1"/>
              <a:t>selecciòn</a:t>
            </a:r>
            <a:r>
              <a:rPr lang="en-US" baseline="0" dirty="0"/>
              <a:t> </a:t>
            </a:r>
            <a:r>
              <a:rPr lang="en-US" baseline="0" dirty="0" err="1"/>
              <a:t>requiere</a:t>
            </a:r>
            <a:r>
              <a:rPr lang="en-US" baseline="0" dirty="0"/>
              <a:t> 1000 </a:t>
            </a:r>
            <a:r>
              <a:rPr lang="en-US" baseline="0" dirty="0" err="1"/>
              <a:t>accesos</a:t>
            </a:r>
            <a:r>
              <a:rPr lang="en-US" baseline="0" dirty="0"/>
              <a:t> al disco </a:t>
            </a:r>
            <a:r>
              <a:rPr lang="en-US" baseline="0" dirty="0" err="1"/>
              <a:t>para</a:t>
            </a:r>
            <a:r>
              <a:rPr lang="en-US" baseline="0" dirty="0"/>
              <a:t> leer el join</a:t>
            </a:r>
          </a:p>
          <a:p>
            <a:r>
              <a:rPr lang="en-US" baseline="0" dirty="0"/>
              <a:t>2*(1000) + (1000+50) = 3050 </a:t>
            </a:r>
            <a:r>
              <a:rPr lang="en-US" baseline="0" dirty="0" err="1"/>
              <a:t>accesos</a:t>
            </a:r>
            <a:r>
              <a:rPr lang="en-US" baseline="0" dirty="0"/>
              <a:t> al disco</a:t>
            </a:r>
          </a:p>
          <a:p>
            <a:endParaRPr lang="en-US" baseline="0" dirty="0"/>
          </a:p>
          <a:p>
            <a:r>
              <a:rPr lang="en-US" baseline="0" dirty="0"/>
              <a:t>3) 1000 (</a:t>
            </a:r>
            <a:r>
              <a:rPr lang="en-US" baseline="0" dirty="0" err="1"/>
              <a:t>tabla</a:t>
            </a:r>
            <a:r>
              <a:rPr lang="en-US" baseline="0" dirty="0"/>
              <a:t> staff) + 50 de leer los managers+ 50 (de la </a:t>
            </a:r>
            <a:r>
              <a:rPr lang="en-US" baseline="0" dirty="0" err="1"/>
              <a:t>tabla</a:t>
            </a:r>
            <a:r>
              <a:rPr lang="en-US" baseline="0" dirty="0"/>
              <a:t> branch) + 5(branches in </a:t>
            </a:r>
            <a:r>
              <a:rPr lang="en-US" baseline="0" dirty="0" err="1"/>
              <a:t>london</a:t>
            </a:r>
            <a:r>
              <a:rPr lang="en-US" baseline="0" dirty="0"/>
              <a:t>)+ (50 +5)join = 1160 </a:t>
            </a:r>
            <a:r>
              <a:rPr lang="en-US" baseline="0" dirty="0" err="1"/>
              <a:t>accesos</a:t>
            </a:r>
            <a:r>
              <a:rPr lang="en-US" baseline="0" dirty="0"/>
              <a:t> al disco</a:t>
            </a:r>
          </a:p>
          <a:p>
            <a:endParaRPr lang="en-US" baseline="0" dirty="0"/>
          </a:p>
          <a:p>
            <a:r>
              <a:rPr lang="en-US" baseline="0" dirty="0" err="1"/>
              <a:t>Sabes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</a:t>
            </a:r>
            <a:r>
              <a:rPr lang="en-US" baseline="0" dirty="0" err="1"/>
              <a:t>tanto</a:t>
            </a:r>
            <a:r>
              <a:rPr lang="en-US" baseline="0" dirty="0"/>
              <a:t> los joins </a:t>
            </a:r>
            <a:r>
              <a:rPr lang="en-US" baseline="0" dirty="0" err="1"/>
              <a:t>como</a:t>
            </a:r>
            <a:r>
              <a:rPr lang="en-US" baseline="0" dirty="0"/>
              <a:t> los </a:t>
            </a:r>
            <a:r>
              <a:rPr lang="en-US" baseline="0" dirty="0" err="1"/>
              <a:t>productos</a:t>
            </a:r>
            <a:r>
              <a:rPr lang="en-US" baseline="0" dirty="0"/>
              <a:t> </a:t>
            </a:r>
            <a:r>
              <a:rPr lang="en-US" baseline="0" dirty="0" err="1"/>
              <a:t>cruz</a:t>
            </a:r>
            <a:r>
              <a:rPr lang="en-US" baseline="0" dirty="0"/>
              <a:t> </a:t>
            </a:r>
            <a:r>
              <a:rPr lang="en-US" b="1" baseline="0" dirty="0"/>
              <a:t>son </a:t>
            </a:r>
            <a:r>
              <a:rPr lang="en-US" b="1" baseline="0" dirty="0" err="1"/>
              <a:t>costosos</a:t>
            </a:r>
            <a:r>
              <a:rPr lang="en-US" baseline="0" dirty="0"/>
              <a:t>, sin embargo el </a:t>
            </a:r>
            <a:r>
              <a:rPr lang="en-US" baseline="0" dirty="0" err="1"/>
              <a:t>ejemplo</a:t>
            </a:r>
            <a:r>
              <a:rPr lang="en-US" baseline="0" dirty="0"/>
              <a:t> dice lo </a:t>
            </a:r>
            <a:r>
              <a:rPr lang="en-US" baseline="0" dirty="0" err="1"/>
              <a:t>contrario</a:t>
            </a:r>
            <a:r>
              <a:rPr lang="en-US" baseline="0" dirty="0"/>
              <a:t>… Y </a:t>
            </a:r>
            <a:r>
              <a:rPr lang="en-US" baseline="0" dirty="0" err="1"/>
              <a:t>esto</a:t>
            </a:r>
            <a:r>
              <a:rPr lang="en-US" baseline="0" dirty="0"/>
              <a:t> se </a:t>
            </a:r>
            <a:r>
              <a:rPr lang="en-US" baseline="0" dirty="0" err="1"/>
              <a:t>debe</a:t>
            </a:r>
            <a:r>
              <a:rPr lang="en-US" baseline="0" dirty="0"/>
              <a:t> a </a:t>
            </a:r>
            <a:r>
              <a:rPr lang="en-US" baseline="0" dirty="0" err="1"/>
              <a:t>las</a:t>
            </a:r>
            <a:r>
              <a:rPr lang="en-US" baseline="0" dirty="0"/>
              <a:t> </a:t>
            </a:r>
            <a:r>
              <a:rPr lang="en-US" baseline="0" dirty="0" err="1"/>
              <a:t>selecciones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se </a:t>
            </a:r>
            <a:r>
              <a:rPr lang="en-US" baseline="0" dirty="0" err="1"/>
              <a:t>hacen</a:t>
            </a:r>
            <a:r>
              <a:rPr lang="en-US" baseline="0" dirty="0"/>
              <a:t> </a:t>
            </a:r>
            <a:r>
              <a:rPr lang="en-US" baseline="0" dirty="0" err="1"/>
              <a:t>tempranamente</a:t>
            </a:r>
            <a:r>
              <a:rPr lang="en-US" baseline="0"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491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1000</a:t>
            </a:r>
            <a:r>
              <a:rPr lang="en-US" baseline="0" dirty="0"/>
              <a:t> </a:t>
            </a:r>
            <a:r>
              <a:rPr lang="en-US" baseline="0" dirty="0" err="1"/>
              <a:t>tuplas</a:t>
            </a:r>
            <a:r>
              <a:rPr lang="en-US" baseline="0" dirty="0"/>
              <a:t> en Staff, 50 </a:t>
            </a:r>
            <a:r>
              <a:rPr lang="en-US" baseline="0" dirty="0" err="1"/>
              <a:t>tuplas</a:t>
            </a:r>
            <a:r>
              <a:rPr lang="en-US" baseline="0" dirty="0"/>
              <a:t> en Branch y 50 en Manager ( </a:t>
            </a:r>
            <a:r>
              <a:rPr lang="en-US" baseline="0" dirty="0" err="1"/>
              <a:t>por</a:t>
            </a:r>
            <a:r>
              <a:rPr lang="en-US" baseline="0" dirty="0"/>
              <a:t> </a:t>
            </a:r>
            <a:r>
              <a:rPr lang="en-US" baseline="0" dirty="0" err="1"/>
              <a:t>cada</a:t>
            </a:r>
            <a:r>
              <a:rPr lang="en-US" baseline="0" dirty="0"/>
              <a:t> branch). y 5 branches en London. </a:t>
            </a:r>
          </a:p>
          <a:p>
            <a:r>
              <a:rPr lang="en-US" baseline="0" dirty="0" err="1"/>
              <a:t>Acceso</a:t>
            </a:r>
            <a:r>
              <a:rPr lang="en-US" baseline="0" dirty="0"/>
              <a:t> a disco</a:t>
            </a:r>
          </a:p>
          <a:p>
            <a:r>
              <a:rPr lang="en-US" baseline="0" dirty="0"/>
              <a:t>1) </a:t>
            </a:r>
            <a:r>
              <a:rPr lang="en-US" baseline="0" dirty="0" err="1"/>
              <a:t>Asuma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no hay indices, </a:t>
            </a:r>
            <a:r>
              <a:rPr lang="en-US" baseline="0" dirty="0" err="1"/>
              <a:t>ni</a:t>
            </a:r>
            <a:r>
              <a:rPr lang="en-US" baseline="0" dirty="0"/>
              <a:t> </a:t>
            </a:r>
            <a:r>
              <a:rPr lang="en-US" baseline="0" dirty="0" err="1"/>
              <a:t>ordenamiento</a:t>
            </a:r>
            <a:r>
              <a:rPr lang="en-US" baseline="0" dirty="0"/>
              <a:t> y </a:t>
            </a:r>
            <a:r>
              <a:rPr lang="en-US" baseline="0" dirty="0" err="1"/>
              <a:t>ni</a:t>
            </a:r>
            <a:r>
              <a:rPr lang="en-US" baseline="0" dirty="0"/>
              <a:t> </a:t>
            </a:r>
            <a:r>
              <a:rPr lang="en-US" baseline="0" dirty="0" err="1"/>
              <a:t>resultados</a:t>
            </a:r>
            <a:r>
              <a:rPr lang="en-US" baseline="0" dirty="0"/>
              <a:t> </a:t>
            </a:r>
            <a:r>
              <a:rPr lang="en-US" baseline="0" dirty="0" err="1"/>
              <a:t>intermedios</a:t>
            </a:r>
            <a:endParaRPr lang="en-US" baseline="0" dirty="0"/>
          </a:p>
          <a:p>
            <a:r>
              <a:rPr lang="en-US" baseline="0" dirty="0" err="1"/>
              <a:t>Lectura</a:t>
            </a:r>
            <a:r>
              <a:rPr lang="en-US" baseline="0" dirty="0"/>
              <a:t> de </a:t>
            </a:r>
            <a:r>
              <a:rPr lang="en-US" baseline="0" dirty="0" err="1"/>
              <a:t>las</a:t>
            </a:r>
            <a:r>
              <a:rPr lang="en-US" baseline="0" dirty="0"/>
              <a:t> </a:t>
            </a:r>
            <a:r>
              <a:rPr lang="en-US" baseline="0" dirty="0" err="1"/>
              <a:t>tablas</a:t>
            </a:r>
            <a:r>
              <a:rPr lang="en-US" baseline="0" dirty="0"/>
              <a:t> : 1000+50 , </a:t>
            </a:r>
            <a:r>
              <a:rPr lang="en-US" baseline="0" dirty="0" err="1"/>
              <a:t>creación</a:t>
            </a:r>
            <a:r>
              <a:rPr lang="en-US" baseline="0" dirty="0"/>
              <a:t> del </a:t>
            </a:r>
            <a:r>
              <a:rPr lang="en-US" baseline="0" dirty="0" err="1"/>
              <a:t>producto</a:t>
            </a:r>
            <a:r>
              <a:rPr lang="en-US" baseline="0" dirty="0"/>
              <a:t> </a:t>
            </a:r>
            <a:r>
              <a:rPr lang="en-US" baseline="0" dirty="0" err="1"/>
              <a:t>cruz</a:t>
            </a:r>
            <a:r>
              <a:rPr lang="en-US" baseline="0" dirty="0"/>
              <a:t> 1000*50, </a:t>
            </a:r>
            <a:r>
              <a:rPr lang="en-US" baseline="0" dirty="0" err="1"/>
              <a:t>validación</a:t>
            </a:r>
            <a:r>
              <a:rPr lang="en-US" baseline="0" dirty="0"/>
              <a:t> del </a:t>
            </a:r>
            <a:r>
              <a:rPr lang="en-US" baseline="0" dirty="0" err="1"/>
              <a:t>predicado</a:t>
            </a:r>
            <a:r>
              <a:rPr lang="en-US" baseline="0" dirty="0"/>
              <a:t> 1000*50</a:t>
            </a:r>
          </a:p>
          <a:p>
            <a:r>
              <a:rPr lang="sv-S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(1000 + 50) +2*(1000 * 50) = 101 050 disk </a:t>
            </a:r>
            <a:r>
              <a:rPr lang="sv-SE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accesses</a:t>
            </a:r>
            <a:endParaRPr lang="sv-SE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2)</a:t>
            </a:r>
            <a:r>
              <a:rPr lang="en-US" baseline="0" dirty="0"/>
              <a:t> el join </a:t>
            </a:r>
            <a:r>
              <a:rPr lang="en-US" baseline="0" dirty="0" err="1"/>
              <a:t>arroja</a:t>
            </a:r>
            <a:r>
              <a:rPr lang="en-US" baseline="0" dirty="0"/>
              <a:t> 1000 </a:t>
            </a:r>
            <a:r>
              <a:rPr lang="en-US" baseline="0" dirty="0" err="1"/>
              <a:t>tuplas</a:t>
            </a:r>
            <a:r>
              <a:rPr lang="en-US" baseline="0" dirty="0"/>
              <a:t> (</a:t>
            </a:r>
            <a:r>
              <a:rPr lang="en-US" baseline="0" dirty="0" err="1"/>
              <a:t>ya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un </a:t>
            </a:r>
            <a:r>
              <a:rPr lang="en-US" baseline="0" dirty="0" err="1"/>
              <a:t>empleado</a:t>
            </a:r>
            <a:r>
              <a:rPr lang="en-US" baseline="0" dirty="0"/>
              <a:t> solo </a:t>
            </a:r>
            <a:r>
              <a:rPr lang="en-US" baseline="0" dirty="0" err="1"/>
              <a:t>trabaja</a:t>
            </a:r>
            <a:r>
              <a:rPr lang="en-US" baseline="0" dirty="0"/>
              <a:t> en un Branch), la </a:t>
            </a:r>
            <a:r>
              <a:rPr lang="en-US" baseline="0" dirty="0" err="1"/>
              <a:t>selecciòn</a:t>
            </a:r>
            <a:r>
              <a:rPr lang="en-US" baseline="0" dirty="0"/>
              <a:t> </a:t>
            </a:r>
            <a:r>
              <a:rPr lang="en-US" baseline="0" dirty="0" err="1"/>
              <a:t>requiere</a:t>
            </a:r>
            <a:r>
              <a:rPr lang="en-US" baseline="0" dirty="0"/>
              <a:t> 1000 </a:t>
            </a:r>
            <a:r>
              <a:rPr lang="en-US" baseline="0" dirty="0" err="1"/>
              <a:t>accesos</a:t>
            </a:r>
            <a:r>
              <a:rPr lang="en-US" baseline="0" dirty="0"/>
              <a:t> al disco </a:t>
            </a:r>
            <a:r>
              <a:rPr lang="en-US" baseline="0" dirty="0" err="1"/>
              <a:t>para</a:t>
            </a:r>
            <a:r>
              <a:rPr lang="en-US" baseline="0" dirty="0"/>
              <a:t> leer el join</a:t>
            </a:r>
          </a:p>
          <a:p>
            <a:r>
              <a:rPr lang="en-US" baseline="0" dirty="0"/>
              <a:t>2*(1000) + (1000+50) = 3050 </a:t>
            </a:r>
            <a:r>
              <a:rPr lang="en-US" baseline="0" dirty="0" err="1"/>
              <a:t>accesos</a:t>
            </a:r>
            <a:r>
              <a:rPr lang="en-US" baseline="0" dirty="0"/>
              <a:t> al disco</a:t>
            </a:r>
          </a:p>
          <a:p>
            <a:endParaRPr lang="en-US" baseline="0" dirty="0"/>
          </a:p>
          <a:p>
            <a:r>
              <a:rPr lang="en-US" baseline="0" dirty="0"/>
              <a:t>3) 1000 (</a:t>
            </a:r>
            <a:r>
              <a:rPr lang="en-US" baseline="0" dirty="0" err="1"/>
              <a:t>tabla</a:t>
            </a:r>
            <a:r>
              <a:rPr lang="en-US" baseline="0" dirty="0"/>
              <a:t> staff) + 50 de leer los managers+ 50 (de la </a:t>
            </a:r>
            <a:r>
              <a:rPr lang="en-US" baseline="0" dirty="0" err="1"/>
              <a:t>tabla</a:t>
            </a:r>
            <a:r>
              <a:rPr lang="en-US" baseline="0" dirty="0"/>
              <a:t> branch) + 5(branches in </a:t>
            </a:r>
            <a:r>
              <a:rPr lang="en-US" baseline="0" dirty="0" err="1"/>
              <a:t>london</a:t>
            </a:r>
            <a:r>
              <a:rPr lang="en-US" baseline="0" dirty="0"/>
              <a:t>)+ (50 +5)join = 1160 </a:t>
            </a:r>
            <a:r>
              <a:rPr lang="en-US" baseline="0" dirty="0" err="1"/>
              <a:t>accesos</a:t>
            </a:r>
            <a:r>
              <a:rPr lang="en-US" baseline="0" dirty="0"/>
              <a:t> al disco</a:t>
            </a:r>
          </a:p>
          <a:p>
            <a:endParaRPr lang="en-US" baseline="0" dirty="0"/>
          </a:p>
          <a:p>
            <a:r>
              <a:rPr lang="en-US" baseline="0" dirty="0" err="1"/>
              <a:t>Sabes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</a:t>
            </a:r>
            <a:r>
              <a:rPr lang="en-US" baseline="0" dirty="0" err="1"/>
              <a:t>tanto</a:t>
            </a:r>
            <a:r>
              <a:rPr lang="en-US" baseline="0" dirty="0"/>
              <a:t> los joins </a:t>
            </a:r>
            <a:r>
              <a:rPr lang="en-US" baseline="0" dirty="0" err="1"/>
              <a:t>como</a:t>
            </a:r>
            <a:r>
              <a:rPr lang="en-US" baseline="0" dirty="0"/>
              <a:t> los </a:t>
            </a:r>
            <a:r>
              <a:rPr lang="en-US" baseline="0" dirty="0" err="1"/>
              <a:t>productos</a:t>
            </a:r>
            <a:r>
              <a:rPr lang="en-US" baseline="0" dirty="0"/>
              <a:t> </a:t>
            </a:r>
            <a:r>
              <a:rPr lang="en-US" baseline="0" dirty="0" err="1"/>
              <a:t>cruz</a:t>
            </a:r>
            <a:r>
              <a:rPr lang="en-US" baseline="0" dirty="0"/>
              <a:t> </a:t>
            </a:r>
            <a:r>
              <a:rPr lang="en-US" b="1" baseline="0" dirty="0"/>
              <a:t>son </a:t>
            </a:r>
            <a:r>
              <a:rPr lang="en-US" b="1" baseline="0" dirty="0" err="1"/>
              <a:t>costosos</a:t>
            </a:r>
            <a:r>
              <a:rPr lang="en-US" baseline="0" dirty="0"/>
              <a:t>, sin embargo el </a:t>
            </a:r>
            <a:r>
              <a:rPr lang="en-US" baseline="0" dirty="0" err="1"/>
              <a:t>ejemplo</a:t>
            </a:r>
            <a:r>
              <a:rPr lang="en-US" baseline="0" dirty="0"/>
              <a:t> dice lo </a:t>
            </a:r>
            <a:r>
              <a:rPr lang="en-US" baseline="0" dirty="0" err="1"/>
              <a:t>contrario</a:t>
            </a:r>
            <a:r>
              <a:rPr lang="en-US" baseline="0" dirty="0"/>
              <a:t>… Y </a:t>
            </a:r>
            <a:r>
              <a:rPr lang="en-US" baseline="0" dirty="0" err="1"/>
              <a:t>esto</a:t>
            </a:r>
            <a:r>
              <a:rPr lang="en-US" baseline="0" dirty="0"/>
              <a:t> se </a:t>
            </a:r>
            <a:r>
              <a:rPr lang="en-US" baseline="0" dirty="0" err="1"/>
              <a:t>debe</a:t>
            </a:r>
            <a:r>
              <a:rPr lang="en-US" baseline="0" dirty="0"/>
              <a:t> a </a:t>
            </a:r>
            <a:r>
              <a:rPr lang="en-US" baseline="0" dirty="0" err="1"/>
              <a:t>las</a:t>
            </a:r>
            <a:r>
              <a:rPr lang="en-US" baseline="0" dirty="0"/>
              <a:t> </a:t>
            </a:r>
            <a:r>
              <a:rPr lang="en-US" baseline="0" dirty="0" err="1"/>
              <a:t>selecciones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se </a:t>
            </a:r>
            <a:r>
              <a:rPr lang="en-US" baseline="0" dirty="0" err="1"/>
              <a:t>hacen</a:t>
            </a:r>
            <a:r>
              <a:rPr lang="en-US" baseline="0" dirty="0"/>
              <a:t> </a:t>
            </a:r>
            <a:r>
              <a:rPr lang="en-US" baseline="0" dirty="0" err="1"/>
              <a:t>tempranamente</a:t>
            </a:r>
            <a:r>
              <a:rPr lang="en-US" baseline="0"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644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1000</a:t>
            </a:r>
            <a:r>
              <a:rPr lang="en-US" baseline="0" dirty="0"/>
              <a:t> </a:t>
            </a:r>
            <a:r>
              <a:rPr lang="en-US" baseline="0" dirty="0" err="1"/>
              <a:t>tuplas</a:t>
            </a:r>
            <a:r>
              <a:rPr lang="en-US" baseline="0" dirty="0"/>
              <a:t> en Staff, 50 </a:t>
            </a:r>
            <a:r>
              <a:rPr lang="en-US" baseline="0" dirty="0" err="1"/>
              <a:t>tuplas</a:t>
            </a:r>
            <a:r>
              <a:rPr lang="en-US" baseline="0" dirty="0"/>
              <a:t> en Branch y 50 en Manager ( </a:t>
            </a:r>
            <a:r>
              <a:rPr lang="en-US" baseline="0" dirty="0" err="1"/>
              <a:t>por</a:t>
            </a:r>
            <a:r>
              <a:rPr lang="en-US" baseline="0" dirty="0"/>
              <a:t> </a:t>
            </a:r>
            <a:r>
              <a:rPr lang="en-US" baseline="0" dirty="0" err="1"/>
              <a:t>cada</a:t>
            </a:r>
            <a:r>
              <a:rPr lang="en-US" baseline="0" dirty="0"/>
              <a:t> branch). y 5 branches en London. </a:t>
            </a:r>
          </a:p>
          <a:p>
            <a:r>
              <a:rPr lang="en-US" baseline="0" dirty="0" err="1"/>
              <a:t>Acceso</a:t>
            </a:r>
            <a:r>
              <a:rPr lang="en-US" baseline="0" dirty="0"/>
              <a:t> a disco</a:t>
            </a:r>
          </a:p>
          <a:p>
            <a:r>
              <a:rPr lang="en-US" baseline="0" dirty="0"/>
              <a:t>1) </a:t>
            </a:r>
            <a:r>
              <a:rPr lang="en-US" baseline="0" dirty="0" err="1"/>
              <a:t>Asuma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no hay indices, </a:t>
            </a:r>
            <a:r>
              <a:rPr lang="en-US" baseline="0" dirty="0" err="1"/>
              <a:t>ni</a:t>
            </a:r>
            <a:r>
              <a:rPr lang="en-US" baseline="0" dirty="0"/>
              <a:t> </a:t>
            </a:r>
            <a:r>
              <a:rPr lang="en-US" baseline="0" dirty="0" err="1"/>
              <a:t>ordenamiento</a:t>
            </a:r>
            <a:r>
              <a:rPr lang="en-US" baseline="0" dirty="0"/>
              <a:t> y </a:t>
            </a:r>
            <a:r>
              <a:rPr lang="en-US" baseline="0" dirty="0" err="1"/>
              <a:t>ni</a:t>
            </a:r>
            <a:r>
              <a:rPr lang="en-US" baseline="0" dirty="0"/>
              <a:t> </a:t>
            </a:r>
            <a:r>
              <a:rPr lang="en-US" baseline="0" dirty="0" err="1"/>
              <a:t>resultados</a:t>
            </a:r>
            <a:r>
              <a:rPr lang="en-US" baseline="0" dirty="0"/>
              <a:t> </a:t>
            </a:r>
            <a:r>
              <a:rPr lang="en-US" baseline="0" dirty="0" err="1"/>
              <a:t>intermedios</a:t>
            </a:r>
            <a:endParaRPr lang="en-US" baseline="0" dirty="0"/>
          </a:p>
          <a:p>
            <a:r>
              <a:rPr lang="en-US" baseline="0" dirty="0" err="1"/>
              <a:t>Lectura</a:t>
            </a:r>
            <a:r>
              <a:rPr lang="en-US" baseline="0" dirty="0"/>
              <a:t> de </a:t>
            </a:r>
            <a:r>
              <a:rPr lang="en-US" baseline="0" dirty="0" err="1"/>
              <a:t>las</a:t>
            </a:r>
            <a:r>
              <a:rPr lang="en-US" baseline="0" dirty="0"/>
              <a:t> </a:t>
            </a:r>
            <a:r>
              <a:rPr lang="en-US" baseline="0" dirty="0" err="1"/>
              <a:t>tablas</a:t>
            </a:r>
            <a:r>
              <a:rPr lang="en-US" baseline="0" dirty="0"/>
              <a:t> : 1000+50 , </a:t>
            </a:r>
            <a:r>
              <a:rPr lang="en-US" baseline="0" dirty="0" err="1"/>
              <a:t>creación</a:t>
            </a:r>
            <a:r>
              <a:rPr lang="en-US" baseline="0" dirty="0"/>
              <a:t> del </a:t>
            </a:r>
            <a:r>
              <a:rPr lang="en-US" baseline="0" dirty="0" err="1"/>
              <a:t>producto</a:t>
            </a:r>
            <a:r>
              <a:rPr lang="en-US" baseline="0" dirty="0"/>
              <a:t> </a:t>
            </a:r>
            <a:r>
              <a:rPr lang="en-US" baseline="0" dirty="0" err="1"/>
              <a:t>cruz</a:t>
            </a:r>
            <a:r>
              <a:rPr lang="en-US" baseline="0" dirty="0"/>
              <a:t> 1000*50, </a:t>
            </a:r>
            <a:r>
              <a:rPr lang="en-US" baseline="0" dirty="0" err="1"/>
              <a:t>validación</a:t>
            </a:r>
            <a:r>
              <a:rPr lang="en-US" baseline="0" dirty="0"/>
              <a:t> del </a:t>
            </a:r>
            <a:r>
              <a:rPr lang="en-US" baseline="0" dirty="0" err="1"/>
              <a:t>predicado</a:t>
            </a:r>
            <a:r>
              <a:rPr lang="en-US" baseline="0" dirty="0"/>
              <a:t> 1000*50</a:t>
            </a:r>
          </a:p>
          <a:p>
            <a:r>
              <a:rPr lang="sv-S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(1000 + 50) +2*(1000 * 50) = 101 050 disk </a:t>
            </a:r>
            <a:r>
              <a:rPr lang="sv-SE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accesses</a:t>
            </a:r>
            <a:endParaRPr lang="sv-SE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2)</a:t>
            </a:r>
            <a:r>
              <a:rPr lang="en-US" baseline="0" dirty="0"/>
              <a:t> el join </a:t>
            </a:r>
            <a:r>
              <a:rPr lang="en-US" baseline="0" dirty="0" err="1"/>
              <a:t>arroja</a:t>
            </a:r>
            <a:r>
              <a:rPr lang="en-US" baseline="0" dirty="0"/>
              <a:t> 1000 </a:t>
            </a:r>
            <a:r>
              <a:rPr lang="en-US" baseline="0" dirty="0" err="1"/>
              <a:t>tuplas</a:t>
            </a:r>
            <a:r>
              <a:rPr lang="en-US" baseline="0" dirty="0"/>
              <a:t> (</a:t>
            </a:r>
            <a:r>
              <a:rPr lang="en-US" baseline="0" dirty="0" err="1"/>
              <a:t>ya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un </a:t>
            </a:r>
            <a:r>
              <a:rPr lang="en-US" baseline="0" dirty="0" err="1"/>
              <a:t>empleado</a:t>
            </a:r>
            <a:r>
              <a:rPr lang="en-US" baseline="0" dirty="0"/>
              <a:t> solo </a:t>
            </a:r>
            <a:r>
              <a:rPr lang="en-US" baseline="0" dirty="0" err="1"/>
              <a:t>trabaja</a:t>
            </a:r>
            <a:r>
              <a:rPr lang="en-US" baseline="0" dirty="0"/>
              <a:t> en un Branch), la </a:t>
            </a:r>
            <a:r>
              <a:rPr lang="en-US" baseline="0" dirty="0" err="1"/>
              <a:t>selecciòn</a:t>
            </a:r>
            <a:r>
              <a:rPr lang="en-US" baseline="0" dirty="0"/>
              <a:t> </a:t>
            </a:r>
            <a:r>
              <a:rPr lang="en-US" baseline="0" dirty="0" err="1"/>
              <a:t>requiere</a:t>
            </a:r>
            <a:r>
              <a:rPr lang="en-US" baseline="0" dirty="0"/>
              <a:t> 1000 </a:t>
            </a:r>
            <a:r>
              <a:rPr lang="en-US" baseline="0" dirty="0" err="1"/>
              <a:t>accesos</a:t>
            </a:r>
            <a:r>
              <a:rPr lang="en-US" baseline="0" dirty="0"/>
              <a:t> al disco </a:t>
            </a:r>
            <a:r>
              <a:rPr lang="en-US" baseline="0" dirty="0" err="1"/>
              <a:t>para</a:t>
            </a:r>
            <a:r>
              <a:rPr lang="en-US" baseline="0" dirty="0"/>
              <a:t> leer el join</a:t>
            </a:r>
          </a:p>
          <a:p>
            <a:r>
              <a:rPr lang="en-US" baseline="0" dirty="0"/>
              <a:t>2*(1000) + (1000+50) = 3050 </a:t>
            </a:r>
            <a:r>
              <a:rPr lang="en-US" baseline="0" dirty="0" err="1"/>
              <a:t>accesos</a:t>
            </a:r>
            <a:r>
              <a:rPr lang="en-US" baseline="0" dirty="0"/>
              <a:t> al disco</a:t>
            </a:r>
          </a:p>
          <a:p>
            <a:endParaRPr lang="en-US" baseline="0" dirty="0"/>
          </a:p>
          <a:p>
            <a:r>
              <a:rPr lang="en-US" baseline="0" dirty="0"/>
              <a:t>3) 1000 (</a:t>
            </a:r>
            <a:r>
              <a:rPr lang="en-US" baseline="0" dirty="0" err="1"/>
              <a:t>tabla</a:t>
            </a:r>
            <a:r>
              <a:rPr lang="en-US" baseline="0" dirty="0"/>
              <a:t> staff) + 50 de leer los managers+ 50 (de la </a:t>
            </a:r>
            <a:r>
              <a:rPr lang="en-US" baseline="0" dirty="0" err="1"/>
              <a:t>tabla</a:t>
            </a:r>
            <a:r>
              <a:rPr lang="en-US" baseline="0" dirty="0"/>
              <a:t> branch) + 5(branches in </a:t>
            </a:r>
            <a:r>
              <a:rPr lang="en-US" baseline="0" dirty="0" err="1"/>
              <a:t>london</a:t>
            </a:r>
            <a:r>
              <a:rPr lang="en-US" baseline="0" dirty="0"/>
              <a:t>)+ (50 +5)join = 1160 </a:t>
            </a:r>
            <a:r>
              <a:rPr lang="en-US" baseline="0" dirty="0" err="1"/>
              <a:t>accesos</a:t>
            </a:r>
            <a:r>
              <a:rPr lang="en-US" baseline="0" dirty="0"/>
              <a:t> al disco</a:t>
            </a:r>
          </a:p>
          <a:p>
            <a:endParaRPr lang="en-US" baseline="0" dirty="0"/>
          </a:p>
          <a:p>
            <a:r>
              <a:rPr lang="en-US" baseline="0" dirty="0" err="1"/>
              <a:t>Sabes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</a:t>
            </a:r>
            <a:r>
              <a:rPr lang="en-US" baseline="0" dirty="0" err="1"/>
              <a:t>tanto</a:t>
            </a:r>
            <a:r>
              <a:rPr lang="en-US" baseline="0" dirty="0"/>
              <a:t> los joins </a:t>
            </a:r>
            <a:r>
              <a:rPr lang="en-US" baseline="0" dirty="0" err="1"/>
              <a:t>como</a:t>
            </a:r>
            <a:r>
              <a:rPr lang="en-US" baseline="0" dirty="0"/>
              <a:t> los </a:t>
            </a:r>
            <a:r>
              <a:rPr lang="en-US" baseline="0" dirty="0" err="1"/>
              <a:t>productos</a:t>
            </a:r>
            <a:r>
              <a:rPr lang="en-US" baseline="0" dirty="0"/>
              <a:t> </a:t>
            </a:r>
            <a:r>
              <a:rPr lang="en-US" baseline="0" dirty="0" err="1"/>
              <a:t>cruz</a:t>
            </a:r>
            <a:r>
              <a:rPr lang="en-US" baseline="0" dirty="0"/>
              <a:t> </a:t>
            </a:r>
            <a:r>
              <a:rPr lang="en-US" b="1" baseline="0" dirty="0"/>
              <a:t>son </a:t>
            </a:r>
            <a:r>
              <a:rPr lang="en-US" b="1" baseline="0" dirty="0" err="1"/>
              <a:t>costosos</a:t>
            </a:r>
            <a:r>
              <a:rPr lang="en-US" baseline="0" dirty="0"/>
              <a:t>, sin embargo el </a:t>
            </a:r>
            <a:r>
              <a:rPr lang="en-US" baseline="0" dirty="0" err="1"/>
              <a:t>ejemplo</a:t>
            </a:r>
            <a:r>
              <a:rPr lang="en-US" baseline="0" dirty="0"/>
              <a:t> dice lo </a:t>
            </a:r>
            <a:r>
              <a:rPr lang="en-US" baseline="0" dirty="0" err="1"/>
              <a:t>contrario</a:t>
            </a:r>
            <a:r>
              <a:rPr lang="en-US" baseline="0" dirty="0"/>
              <a:t>… Y </a:t>
            </a:r>
            <a:r>
              <a:rPr lang="en-US" baseline="0" dirty="0" err="1"/>
              <a:t>esto</a:t>
            </a:r>
            <a:r>
              <a:rPr lang="en-US" baseline="0" dirty="0"/>
              <a:t> se </a:t>
            </a:r>
            <a:r>
              <a:rPr lang="en-US" baseline="0" dirty="0" err="1"/>
              <a:t>debe</a:t>
            </a:r>
            <a:r>
              <a:rPr lang="en-US" baseline="0" dirty="0"/>
              <a:t> a </a:t>
            </a:r>
            <a:r>
              <a:rPr lang="en-US" baseline="0" dirty="0" err="1"/>
              <a:t>las</a:t>
            </a:r>
            <a:r>
              <a:rPr lang="en-US" baseline="0" dirty="0"/>
              <a:t> </a:t>
            </a:r>
            <a:r>
              <a:rPr lang="en-US" baseline="0" dirty="0" err="1"/>
              <a:t>selecciones</a:t>
            </a:r>
            <a:r>
              <a:rPr lang="en-US" baseline="0" dirty="0"/>
              <a:t> </a:t>
            </a:r>
            <a:r>
              <a:rPr lang="en-US" baseline="0" dirty="0" err="1"/>
              <a:t>que</a:t>
            </a:r>
            <a:r>
              <a:rPr lang="en-US" baseline="0" dirty="0"/>
              <a:t> se </a:t>
            </a:r>
            <a:r>
              <a:rPr lang="en-US" baseline="0" dirty="0" err="1"/>
              <a:t>hacen</a:t>
            </a:r>
            <a:r>
              <a:rPr lang="en-US" baseline="0" dirty="0"/>
              <a:t> </a:t>
            </a:r>
            <a:r>
              <a:rPr lang="en-US" baseline="0" dirty="0" err="1"/>
              <a:t>tempranamente</a:t>
            </a:r>
            <a:r>
              <a:rPr lang="en-US" baseline="0"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733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710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14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aseline="0" dirty="0"/>
          </a:p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aseline="0" dirty="0"/>
          </a:p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aseline="0" dirty="0"/>
          </a:p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baseline="0" dirty="0"/>
          </a:p>
          <a:p>
            <a:endParaRPr lang="es-ES_tradn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923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--&gt; Si SL = 2000 con el </a:t>
            </a:r>
            <a:r>
              <a:rPr lang="en-US" dirty="0" err="1"/>
              <a:t>árbol</a:t>
            </a:r>
            <a:r>
              <a:rPr lang="en-US" dirty="0"/>
              <a:t> actual </a:t>
            </a:r>
          </a:p>
          <a:p>
            <a:r>
              <a:rPr lang="en-US" dirty="0"/>
              <a:t>E = 1000</a:t>
            </a:r>
          </a:p>
          <a:p>
            <a:r>
              <a:rPr lang="en-US" dirty="0" err="1"/>
              <a:t>Sel</a:t>
            </a:r>
            <a:r>
              <a:rPr lang="en-US" dirty="0"/>
              <a:t>(E) = 800</a:t>
            </a:r>
          </a:p>
          <a:p>
            <a:r>
              <a:rPr lang="en-US" dirty="0"/>
              <a:t>SL = 2000</a:t>
            </a:r>
          </a:p>
          <a:p>
            <a:r>
              <a:rPr lang="en-US" dirty="0"/>
              <a:t>A =&gt; Join(</a:t>
            </a:r>
            <a:r>
              <a:rPr lang="en-US" dirty="0" err="1"/>
              <a:t>Sel</a:t>
            </a:r>
            <a:r>
              <a:rPr lang="en-US" dirty="0"/>
              <a:t>(E), SL) = 2000</a:t>
            </a:r>
          </a:p>
          <a:p>
            <a:r>
              <a:rPr lang="en-US" dirty="0"/>
              <a:t>L = 5000</a:t>
            </a:r>
          </a:p>
          <a:p>
            <a:r>
              <a:rPr lang="en-US" dirty="0" err="1"/>
              <a:t>Sel</a:t>
            </a:r>
            <a:r>
              <a:rPr lang="en-US" dirty="0"/>
              <a:t>(L) = 500</a:t>
            </a:r>
          </a:p>
          <a:p>
            <a:r>
              <a:rPr lang="en-US" dirty="0"/>
              <a:t>Join(A, </a:t>
            </a:r>
            <a:r>
              <a:rPr lang="en-US" dirty="0" err="1"/>
              <a:t>Sel</a:t>
            </a:r>
            <a:r>
              <a:rPr lang="en-US" dirty="0"/>
              <a:t>(L)) = 2000</a:t>
            </a:r>
          </a:p>
          <a:p>
            <a:r>
              <a:rPr lang="en-US" dirty="0"/>
              <a:t>Total a) 13300</a:t>
            </a:r>
          </a:p>
          <a:p>
            <a:endParaRPr lang="en-US" dirty="0"/>
          </a:p>
          <a:p>
            <a:r>
              <a:rPr lang="en-US" dirty="0"/>
              <a:t>--&gt; Si SL = 2000 con el </a:t>
            </a:r>
            <a:r>
              <a:rPr lang="en-US" dirty="0" err="1"/>
              <a:t>árbol</a:t>
            </a:r>
            <a:r>
              <a:rPr lang="en-US" dirty="0"/>
              <a:t> SL join Libro join </a:t>
            </a:r>
            <a:r>
              <a:rPr lang="en-US" dirty="0" err="1"/>
              <a:t>Estudiante</a:t>
            </a:r>
            <a:endParaRPr lang="en-US" dirty="0"/>
          </a:p>
          <a:p>
            <a:r>
              <a:rPr lang="en-US" dirty="0"/>
              <a:t>L = 5000</a:t>
            </a:r>
          </a:p>
          <a:p>
            <a:r>
              <a:rPr lang="en-US" dirty="0" err="1"/>
              <a:t>Sel</a:t>
            </a:r>
            <a:r>
              <a:rPr lang="en-US" dirty="0"/>
              <a:t>(L) = 500</a:t>
            </a:r>
          </a:p>
          <a:p>
            <a:r>
              <a:rPr lang="en-US" dirty="0"/>
              <a:t>SL = 2000</a:t>
            </a:r>
          </a:p>
          <a:p>
            <a:r>
              <a:rPr lang="en-US" dirty="0"/>
              <a:t>A =&gt; Join(</a:t>
            </a:r>
            <a:r>
              <a:rPr lang="en-US" dirty="0" err="1"/>
              <a:t>Sel</a:t>
            </a:r>
            <a:r>
              <a:rPr lang="en-US" dirty="0"/>
              <a:t>(L), SL) = 5000</a:t>
            </a:r>
          </a:p>
          <a:p>
            <a:r>
              <a:rPr lang="en-US" dirty="0"/>
              <a:t>E = 1000</a:t>
            </a:r>
          </a:p>
          <a:p>
            <a:r>
              <a:rPr lang="en-US" dirty="0" err="1"/>
              <a:t>Sel</a:t>
            </a:r>
            <a:r>
              <a:rPr lang="en-US" dirty="0"/>
              <a:t>(E) = 800</a:t>
            </a:r>
          </a:p>
          <a:p>
            <a:r>
              <a:rPr lang="en-US" dirty="0"/>
              <a:t>Join(A, </a:t>
            </a:r>
            <a:r>
              <a:rPr lang="en-US" dirty="0" err="1"/>
              <a:t>Sel</a:t>
            </a:r>
            <a:r>
              <a:rPr lang="en-US" dirty="0"/>
              <a:t>(E)) = 5000</a:t>
            </a:r>
          </a:p>
          <a:p>
            <a:r>
              <a:rPr lang="en-US" dirty="0"/>
              <a:t>Total b) 19300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012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rgbClr val="0000FF"/>
              </a:buClr>
              <a:buNone/>
            </a:pPr>
            <a:endParaRPr lang="es-ES_tradnl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626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rgbClr val="0000FF"/>
              </a:buClr>
              <a:buNone/>
            </a:pPr>
            <a:endParaRPr lang="es-ES_tradnl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626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T(E)=1.000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T(E edad) = 800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T(SL) = 5.000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</a:t>
            </a:r>
            <a:r>
              <a:rPr lang="es-ES_tradnl" sz="1200" dirty="0" err="1"/>
              <a:t>Eedad</a:t>
            </a:r>
            <a:r>
              <a:rPr lang="es-ES_tradnl" sz="1200" dirty="0"/>
              <a:t> </a:t>
            </a:r>
            <a:r>
              <a:rPr lang="es-ES_tradnl" sz="1200" dirty="0" err="1"/>
              <a:t>join</a:t>
            </a:r>
            <a:r>
              <a:rPr lang="es-ES_tradnl" sz="1200" dirty="0"/>
              <a:t> SL) = 5.000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T(L) =5.000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</a:t>
            </a:r>
            <a:r>
              <a:rPr lang="es-ES_tradnl" sz="1200" dirty="0" err="1"/>
              <a:t>Lautor</a:t>
            </a:r>
            <a:r>
              <a:rPr lang="es-ES_tradnl" sz="1200" dirty="0"/>
              <a:t>)</a:t>
            </a:r>
            <a:r>
              <a:rPr lang="es-ES_tradnl" sz="1200" baseline="0" dirty="0"/>
              <a:t> = 500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baseline="0" dirty="0"/>
              <a:t>T(</a:t>
            </a:r>
            <a:r>
              <a:rPr lang="es-ES_tradnl" sz="1200" baseline="0" dirty="0" err="1"/>
              <a:t>EjoinSLjoinL</a:t>
            </a:r>
            <a:r>
              <a:rPr lang="es-ES_tradnl" sz="1200" baseline="0" dirty="0"/>
              <a:t>) &lt; 5000</a:t>
            </a:r>
            <a:endParaRPr lang="es-ES_tradnl" sz="1200" dirty="0"/>
          </a:p>
          <a:p>
            <a:pPr marL="0" indent="0">
              <a:buClr>
                <a:srgbClr val="0000FF"/>
              </a:buClr>
              <a:buNone/>
            </a:pPr>
            <a:endParaRPr lang="es-ES_tradnl" sz="1200" dirty="0"/>
          </a:p>
          <a:p>
            <a:pPr marL="0" indent="0">
              <a:buClr>
                <a:srgbClr val="0000FF"/>
              </a:buClr>
              <a:buNone/>
            </a:pPr>
            <a:endParaRPr lang="es-ES_tradnl" sz="1200" dirty="0"/>
          </a:p>
          <a:p>
            <a:pPr marL="0" indent="0">
              <a:buClr>
                <a:srgbClr val="0000FF"/>
              </a:buClr>
              <a:buNone/>
            </a:pPr>
            <a:endParaRPr lang="es-ES_tradnl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626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T(E)=1.000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T(E edad) = 800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T(SL) = 5.000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</a:t>
            </a:r>
            <a:r>
              <a:rPr lang="es-ES_tradnl" sz="1200" dirty="0" err="1"/>
              <a:t>Eedad</a:t>
            </a:r>
            <a:r>
              <a:rPr lang="es-ES_tradnl" sz="1200" dirty="0"/>
              <a:t> </a:t>
            </a:r>
            <a:r>
              <a:rPr lang="es-ES_tradnl" sz="1200" dirty="0" err="1"/>
              <a:t>join</a:t>
            </a:r>
            <a:r>
              <a:rPr lang="es-ES_tradnl" sz="1200" dirty="0"/>
              <a:t> SL) = 5.000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T(L) =5.000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dirty="0"/>
              <a:t>T(</a:t>
            </a:r>
            <a:r>
              <a:rPr lang="es-ES_tradnl" sz="1200" dirty="0" err="1"/>
              <a:t>Lautor</a:t>
            </a:r>
            <a:r>
              <a:rPr lang="es-ES_tradnl" sz="1200" dirty="0"/>
              <a:t>)</a:t>
            </a:r>
            <a:r>
              <a:rPr lang="es-ES_tradnl" sz="1200" baseline="0" dirty="0"/>
              <a:t> = 500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baseline="0" dirty="0"/>
              <a:t>T(</a:t>
            </a:r>
            <a:r>
              <a:rPr lang="es-ES_tradnl" sz="1200" baseline="0" dirty="0" err="1"/>
              <a:t>EjoinSLjoinL</a:t>
            </a:r>
            <a:r>
              <a:rPr lang="es-ES_tradnl" sz="1200" baseline="0" dirty="0"/>
              <a:t>) &lt; 5000</a:t>
            </a:r>
            <a:endParaRPr lang="es-ES_tradnl" sz="1200" dirty="0"/>
          </a:p>
          <a:p>
            <a:pPr marL="0" indent="0">
              <a:buClr>
                <a:srgbClr val="0000FF"/>
              </a:buClr>
              <a:buNone/>
            </a:pPr>
            <a:endParaRPr lang="es-ES_tradnl" sz="1200" dirty="0"/>
          </a:p>
          <a:p>
            <a:pPr marL="0" indent="0">
              <a:buClr>
                <a:srgbClr val="0000FF"/>
              </a:buClr>
              <a:buNone/>
            </a:pPr>
            <a:endParaRPr lang="es-ES_tradnl" sz="1200" dirty="0"/>
          </a:p>
          <a:p>
            <a:pPr marL="0" indent="0">
              <a:buClr>
                <a:srgbClr val="0000FF"/>
              </a:buClr>
              <a:buNone/>
            </a:pPr>
            <a:endParaRPr lang="es-ES_tradnl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626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rgbClr val="0000FF"/>
              </a:buClr>
              <a:buNone/>
            </a:pPr>
            <a:endParaRPr lang="es-ES_tradnl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609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None/>
              <a:defRPr/>
            </a:pPr>
            <a:r>
              <a:rPr lang="es-ES_tradnl" sz="1200" i="1" dirty="0" err="1">
                <a:solidFill>
                  <a:schemeClr val="tx1"/>
                </a:solidFill>
              </a:rPr>
              <a:t>r.id_restaurante</a:t>
            </a:r>
            <a:r>
              <a:rPr lang="es-ES_tradnl" sz="1200" i="1" dirty="0">
                <a:solidFill>
                  <a:schemeClr val="tx1"/>
                </a:solidFill>
              </a:rPr>
              <a:t>=</a:t>
            </a:r>
            <a:r>
              <a:rPr lang="es-ES_tradnl" sz="1200" i="1" dirty="0" err="1">
                <a:solidFill>
                  <a:schemeClr val="tx1"/>
                </a:solidFill>
              </a:rPr>
              <a:t>s.id_rest</a:t>
            </a:r>
            <a:r>
              <a:rPr lang="es-ES_tradnl" sz="1200" i="1" dirty="0">
                <a:solidFill>
                  <a:schemeClr val="tx1"/>
                </a:solidFill>
              </a:rPr>
              <a:t> </a:t>
            </a:r>
            <a:r>
              <a:rPr lang="es-ES_tradnl" sz="1200" b="1" i="1" dirty="0">
                <a:solidFill>
                  <a:schemeClr val="tx1"/>
                </a:solidFill>
              </a:rPr>
              <a:t>AND</a:t>
            </a:r>
            <a:r>
              <a:rPr lang="es-ES_tradnl" sz="1200" i="1" dirty="0">
                <a:solidFill>
                  <a:schemeClr val="tx1"/>
                </a:solidFill>
              </a:rPr>
              <a:t> </a:t>
            </a:r>
            <a:r>
              <a:rPr lang="es-ES_tradnl" sz="1200" i="1" dirty="0" err="1">
                <a:solidFill>
                  <a:schemeClr val="tx1"/>
                </a:solidFill>
              </a:rPr>
              <a:t>s.ciudad</a:t>
            </a:r>
            <a:r>
              <a:rPr lang="es-ES_tradnl" sz="1200" i="1" dirty="0">
                <a:solidFill>
                  <a:schemeClr val="tx1"/>
                </a:solidFill>
              </a:rPr>
              <a:t>=</a:t>
            </a:r>
            <a:r>
              <a:rPr lang="es-ES_tradnl" sz="1200" i="1" dirty="0" err="1">
                <a:solidFill>
                  <a:schemeClr val="tx1"/>
                </a:solidFill>
              </a:rPr>
              <a:t>c.id_ciudad</a:t>
            </a:r>
            <a:r>
              <a:rPr lang="es-ES_tradnl" sz="1200" i="1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None/>
              <a:defRPr/>
            </a:pPr>
            <a:r>
              <a:rPr lang="es-ES_tradnl" sz="1200" b="1" i="1" dirty="0">
                <a:solidFill>
                  <a:schemeClr val="tx1"/>
                </a:solidFill>
              </a:rPr>
              <a:t>AND</a:t>
            </a:r>
            <a:r>
              <a:rPr lang="es-ES_tradnl" sz="1200" i="1" dirty="0">
                <a:solidFill>
                  <a:schemeClr val="tx1"/>
                </a:solidFill>
              </a:rPr>
              <a:t> </a:t>
            </a:r>
            <a:r>
              <a:rPr lang="es-ES_tradnl" sz="1200" i="1" dirty="0" err="1">
                <a:solidFill>
                  <a:schemeClr val="tx1"/>
                </a:solidFill>
              </a:rPr>
              <a:t>s.id_sucursal</a:t>
            </a:r>
            <a:r>
              <a:rPr lang="es-ES_tradnl" sz="1200" i="1" dirty="0">
                <a:solidFill>
                  <a:schemeClr val="tx1"/>
                </a:solidFill>
              </a:rPr>
              <a:t>=</a:t>
            </a:r>
            <a:r>
              <a:rPr lang="es-ES_tradnl" sz="1200" i="1" dirty="0" err="1">
                <a:solidFill>
                  <a:schemeClr val="tx1"/>
                </a:solidFill>
              </a:rPr>
              <a:t>co.restaurante</a:t>
            </a:r>
            <a:endParaRPr lang="es-ES_tradnl" sz="1200" i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62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rgbClr val="0000FF"/>
              </a:buClr>
              <a:buNone/>
            </a:pPr>
            <a:r>
              <a:rPr lang="es-ES_tradnl" sz="1200" baseline="0" dirty="0"/>
              <a:t>Existen registradas 1200 cadenas de restaurantes distribuidas en 250 ciudades diferentes.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baseline="0" dirty="0"/>
              <a:t>El 15% de los restaurantes registrados tienen un promedio de ranking menor a 3. </a:t>
            </a:r>
            <a:r>
              <a:rPr lang="es-ES_tradnl" sz="1200" baseline="0" dirty="0">
                <a:sym typeface="Wingdings"/>
              </a:rPr>
              <a:t> 85% &gt;=3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Tx/>
              <a:buNone/>
              <a:tabLst/>
              <a:defRPr/>
            </a:pPr>
            <a:r>
              <a:rPr lang="es-ES_tradnl" sz="1200" baseline="0" dirty="0"/>
              <a:t>Al menos la mitad de los restaurantes tienen 4 sucursales, 350 restaurantes tienen 2 sucursales y 250 únicamente la matriz. </a:t>
            </a:r>
            <a:r>
              <a:rPr lang="es-ES_tradnl" sz="1200" baseline="0" dirty="0">
                <a:sym typeface="Wingdings"/>
              </a:rPr>
              <a:t>(600*4)+(350*2)+(250) = 3350 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1200" baseline="0" dirty="0"/>
              <a:t>Existen 5940 comentarios anónimos de 23.256 registrados.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626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710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</a:t>
            </a:r>
            <a:r>
              <a:rPr lang="en-US" baseline="0" dirty="0"/>
              <a:t> </a:t>
            </a:r>
            <a:r>
              <a:rPr lang="en-US" baseline="0" dirty="0" err="1"/>
              <a:t>recibe</a:t>
            </a:r>
            <a:r>
              <a:rPr lang="en-US" baseline="0" dirty="0"/>
              <a:t> el query </a:t>
            </a:r>
            <a:r>
              <a:rPr lang="en-US" baseline="0" dirty="0" err="1"/>
              <a:t>que</a:t>
            </a:r>
            <a:r>
              <a:rPr lang="en-US" baseline="0" dirty="0"/>
              <a:t> </a:t>
            </a:r>
            <a:r>
              <a:rPr lang="en-US" baseline="0" dirty="0" err="1"/>
              <a:t>escribe</a:t>
            </a:r>
            <a:r>
              <a:rPr lang="en-US" baseline="0" dirty="0"/>
              <a:t> el </a:t>
            </a:r>
            <a:r>
              <a:rPr lang="en-US" baseline="0" dirty="0" err="1"/>
              <a:t>usuario</a:t>
            </a:r>
            <a:endParaRPr lang="en-US" baseline="0" dirty="0"/>
          </a:p>
          <a:p>
            <a:r>
              <a:rPr lang="en-US" baseline="0" dirty="0"/>
              <a:t>Se lo traduce a </a:t>
            </a:r>
            <a:r>
              <a:rPr lang="en-US" baseline="0" dirty="0" err="1"/>
              <a:t>expresiones</a:t>
            </a:r>
            <a:r>
              <a:rPr lang="en-US" baseline="0" dirty="0"/>
              <a:t> RA</a:t>
            </a:r>
          </a:p>
          <a:p>
            <a:r>
              <a:rPr lang="en-US" baseline="0" dirty="0"/>
              <a:t>Se </a:t>
            </a:r>
            <a:r>
              <a:rPr lang="en-US" baseline="0" dirty="0" err="1"/>
              <a:t>encuentra</a:t>
            </a:r>
            <a:r>
              <a:rPr lang="en-US" baseline="0" dirty="0"/>
              <a:t> un </a:t>
            </a:r>
            <a:r>
              <a:rPr lang="en-US" baseline="0" dirty="0" err="1"/>
              <a:t>metodo</a:t>
            </a:r>
            <a:r>
              <a:rPr lang="en-US" baseline="0" dirty="0"/>
              <a:t> mas </a:t>
            </a:r>
            <a:r>
              <a:rPr lang="en-US" baseline="0" dirty="0" err="1"/>
              <a:t>eficiente</a:t>
            </a:r>
            <a:r>
              <a:rPr lang="en-US" baseline="0" dirty="0"/>
              <a:t> en </a:t>
            </a:r>
            <a:r>
              <a:rPr lang="en-US" baseline="0" dirty="0" err="1"/>
              <a:t>terminos</a:t>
            </a:r>
            <a:r>
              <a:rPr lang="en-US" baseline="0" dirty="0"/>
              <a:t> de </a:t>
            </a:r>
            <a:r>
              <a:rPr lang="en-US" baseline="0" dirty="0" err="1"/>
              <a:t>costos</a:t>
            </a:r>
            <a:endParaRPr lang="en-US" baseline="0" dirty="0"/>
          </a:p>
          <a:p>
            <a:r>
              <a:rPr lang="en-US" baseline="0" dirty="0"/>
              <a:t>Se </a:t>
            </a:r>
            <a:r>
              <a:rPr lang="en-US" baseline="0" dirty="0" err="1"/>
              <a:t>ejecuta</a:t>
            </a:r>
            <a:r>
              <a:rPr lang="en-US" baseline="0" dirty="0"/>
              <a:t> el </a:t>
            </a:r>
            <a:r>
              <a:rPr lang="en-US" baseline="0" dirty="0" err="1"/>
              <a:t>nuevo</a:t>
            </a:r>
            <a:r>
              <a:rPr lang="en-US" baseline="0" dirty="0"/>
              <a:t>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613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10BFD-0FCF-4A7B-9E85-8F7D0B3163E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0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49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91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8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4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5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2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6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2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5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/>
          <a:lstStyle/>
          <a:p>
            <a:fld id="{205F5FFA-4EE2-4536-9065-FD1D0C52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3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0E41BB-A861-4D90-850C-7108642C9483}" type="datetimeFigureOut">
              <a:rPr lang="en-US" smtClean="0"/>
              <a:t>1/13/20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espol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4095" cy="1107552"/>
          </a:xfrm>
          <a:prstGeom prst="rect">
            <a:avLst/>
          </a:prstGeom>
        </p:spPr>
      </p:pic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3802299" y="649287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800" kern="1200" cap="all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 UTILIZAR COMO MATERIAL DE ESTUDIO</a:t>
            </a:r>
          </a:p>
        </p:txBody>
      </p:sp>
      <p:pic>
        <p:nvPicPr>
          <p:cNvPr id="14" name="Picture 13" descr="fiec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142" y="6415974"/>
            <a:ext cx="1886857" cy="44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6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SISTEMAS DE 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BASES DE DATOS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6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TICG1001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674015"/>
            <a:ext cx="10058400" cy="1332404"/>
          </a:xfrm>
        </p:spPr>
        <p:txBody>
          <a:bodyPr>
            <a:norm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UNIDAD 8</a:t>
            </a:r>
          </a:p>
          <a:p>
            <a:pPr algn="ctr"/>
            <a:r>
              <a:rPr lang="es-E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1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373986" cy="4140529"/>
          </a:xfrm>
        </p:spPr>
        <p:txBody>
          <a:bodyPr>
            <a:noAutofit/>
          </a:bodyPr>
          <a:lstStyle/>
          <a:p>
            <a:pPr>
              <a:buClr>
                <a:srgbClr val="0000FF"/>
              </a:buClr>
              <a:buFont typeface="Wingdings" charset="2"/>
              <a:buChar char="§"/>
            </a:pPr>
            <a:r>
              <a:rPr lang="es-EC" sz="2800" dirty="0"/>
              <a:t> Se refiere al procesamiento del query que produzca una ejecución más eficiente en el motor de la BD.</a:t>
            </a:r>
          </a:p>
          <a:p>
            <a:pPr lvl="1">
              <a:buClr>
                <a:srgbClr val="0000FF"/>
              </a:buClr>
              <a:buFont typeface="Wingdings" charset="2"/>
              <a:buChar char="§"/>
            </a:pPr>
            <a:r>
              <a:rPr lang="es-EC" sz="2400" dirty="0"/>
              <a:t>Minimizar la utilización de recursos. Ej. minimizar las tuplas</a:t>
            </a:r>
          </a:p>
          <a:p>
            <a:pPr lvl="1">
              <a:buClr>
                <a:srgbClr val="0000FF"/>
              </a:buClr>
              <a:buFont typeface="Wingdings" charset="2"/>
              <a:buChar char="§"/>
            </a:pPr>
            <a:r>
              <a:rPr lang="es-EC" sz="2400" dirty="0"/>
              <a:t>Minimizar el tiempo de ejecución de un query. Ej. Aplicar el algoritmo que permita disminuir las operaciones IO</a:t>
            </a:r>
          </a:p>
          <a:p>
            <a:pPr lvl="1">
              <a:buClr>
                <a:srgbClr val="0000FF"/>
              </a:buClr>
              <a:buFont typeface="Wingdings" charset="2"/>
              <a:buChar char="§"/>
            </a:pPr>
            <a:endParaRPr lang="es-EC" sz="2400" dirty="0"/>
          </a:p>
          <a:p>
            <a:pPr algn="just">
              <a:buClr>
                <a:srgbClr val="0000FF"/>
              </a:buClr>
              <a:buFont typeface="Wingdings" charset="2"/>
              <a:buChar char="§"/>
            </a:pPr>
            <a:r>
              <a:rPr lang="es-EC" sz="2800" dirty="0"/>
              <a:t>Diferentes DBMS utilizan estadísticas (estimación de costos) de acuerdo a la información de las tablas e índices.</a:t>
            </a:r>
          </a:p>
          <a:p>
            <a:pPr marL="201168" lvl="1" indent="0">
              <a:buClr>
                <a:srgbClr val="0000FF"/>
              </a:buClr>
              <a:buNone/>
            </a:pPr>
            <a:r>
              <a:rPr lang="es-EC" sz="2400" dirty="0"/>
              <a:t>Las estadisticas permiten tomar deciciones mas acertadas con respecto a las estrategias de  ejecución de las consultas</a:t>
            </a:r>
          </a:p>
          <a:p>
            <a:pPr lvl="1">
              <a:buClr>
                <a:srgbClr val="0000FF"/>
              </a:buClr>
              <a:buFont typeface="Wingdings" charset="2"/>
              <a:buChar char="§"/>
            </a:pPr>
            <a:endParaRPr lang="es-EC" sz="24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OPTIMIZACIÓN DE QUERIES</a:t>
            </a:r>
          </a:p>
        </p:txBody>
      </p:sp>
    </p:spTree>
    <p:extLst>
      <p:ext uri="{BB962C8B-B14F-4D97-AF65-F5344CB8AC3E}">
        <p14:creationId xmlns:p14="http://schemas.microsoft.com/office/powerpoint/2010/main" val="1253599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-643467" y="2791637"/>
            <a:ext cx="6862317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PROCEDIMIENTO</a:t>
            </a:r>
          </a:p>
        </p:txBody>
      </p:sp>
      <p:pic>
        <p:nvPicPr>
          <p:cNvPr id="4" name="Picture 3" descr="Optimizacion de B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13" y="152400"/>
            <a:ext cx="5107460" cy="65024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9635067" y="2048933"/>
            <a:ext cx="2032000" cy="60960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31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TRANSFORMACIÓN </a:t>
            </a:r>
            <a:b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QUERY-AR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674015"/>
            <a:ext cx="10058400" cy="1332404"/>
          </a:xfrm>
        </p:spPr>
        <p:txBody>
          <a:bodyPr>
            <a:normAutofit/>
          </a:bodyPr>
          <a:lstStyle/>
          <a:p>
            <a:pPr algn="ctr"/>
            <a:r>
              <a:rPr lang="es-E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optimizaR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 QUERY CON AR</a:t>
            </a: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4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²"/>
            </a:pPr>
            <a:r>
              <a:rPr lang="es-EC" sz="2800" dirty="0"/>
              <a:t>Nos concentraremos en :</a:t>
            </a:r>
          </a:p>
          <a:p>
            <a:pPr lvl="1">
              <a:buClr>
                <a:srgbClr val="0000FF"/>
              </a:buClr>
              <a:buFont typeface="Wingdings" charset="2"/>
              <a:buChar char="²"/>
            </a:pPr>
            <a:r>
              <a:rPr lang="es-EC" sz="2400" dirty="0"/>
              <a:t>Selección:  σ</a:t>
            </a:r>
          </a:p>
          <a:p>
            <a:pPr lvl="1">
              <a:buClr>
                <a:srgbClr val="0000FF"/>
              </a:buClr>
              <a:buFont typeface="Wingdings" charset="2"/>
              <a:buChar char="²"/>
            </a:pPr>
            <a:r>
              <a:rPr lang="es-EC" sz="2400" dirty="0"/>
              <a:t>Proyección: π</a:t>
            </a:r>
          </a:p>
          <a:p>
            <a:pPr lvl="1">
              <a:buClr>
                <a:srgbClr val="0000FF"/>
              </a:buClr>
              <a:buFont typeface="Wingdings" charset="2"/>
              <a:buChar char="²"/>
            </a:pPr>
            <a:r>
              <a:rPr lang="es-EC" sz="2400" dirty="0"/>
              <a:t>Producto cartesiano: x</a:t>
            </a:r>
          </a:p>
          <a:p>
            <a:pPr lvl="1">
              <a:buClr>
                <a:srgbClr val="0000FF"/>
              </a:buClr>
              <a:buFont typeface="Wingdings" charset="2"/>
              <a:buChar char="²"/>
            </a:pPr>
            <a:endParaRPr lang="es-EC" sz="2400" dirty="0"/>
          </a:p>
          <a:p>
            <a:pPr>
              <a:buClr>
                <a:srgbClr val="0000FF"/>
              </a:buClr>
              <a:buFont typeface="Wingdings" charset="2"/>
              <a:buChar char="²"/>
            </a:pPr>
            <a:r>
              <a:rPr lang="es-EC" sz="2800" dirty="0"/>
              <a:t>Operadores derivados</a:t>
            </a:r>
          </a:p>
          <a:p>
            <a:pPr lvl="1">
              <a:buClr>
                <a:srgbClr val="0000FF"/>
              </a:buClr>
              <a:buFont typeface="Wingdings" charset="2"/>
              <a:buChar char="²"/>
            </a:pPr>
            <a:r>
              <a:rPr lang="es-EC" sz="2400" dirty="0"/>
              <a:t>Joins (natural, equi-join)</a:t>
            </a:r>
          </a:p>
          <a:p>
            <a:pPr lvl="1">
              <a:buClr>
                <a:srgbClr val="0000FF"/>
              </a:buClr>
              <a:buFont typeface="Wingdings" charset="2"/>
              <a:buChar char="²"/>
            </a:pPr>
            <a:r>
              <a:rPr lang="es-EC" sz="2400" dirty="0"/>
              <a:t>Renombrar: ρ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OPERADORES DE AR</a:t>
            </a:r>
          </a:p>
        </p:txBody>
      </p:sp>
    </p:spTree>
    <p:extLst>
      <p:ext uri="{BB962C8B-B14F-4D97-AF65-F5344CB8AC3E}">
        <p14:creationId xmlns:p14="http://schemas.microsoft.com/office/powerpoint/2010/main" val="406818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084" y="1737340"/>
            <a:ext cx="9956076" cy="3630442"/>
          </a:xfrm>
        </p:spPr>
        <p:txBody>
          <a:bodyPr>
            <a:normAutofit/>
          </a:bodyPr>
          <a:lstStyle/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s-EC" sz="2400" dirty="0"/>
              <a:t>Un query de alto nivel es transformado a una estructura fácil de procesar.</a:t>
            </a:r>
          </a:p>
          <a:p>
            <a:pPr>
              <a:buClr>
                <a:srgbClr val="0000FF"/>
              </a:buClr>
              <a:buFont typeface="Wingdings" charset="2"/>
              <a:buChar char="ü"/>
            </a:pPr>
            <a:r>
              <a:rPr lang="es-EC" sz="2400" dirty="0"/>
              <a:t>Se utilizará una visualización en forma de árbol para representar el query:</a:t>
            </a:r>
          </a:p>
          <a:p>
            <a:pPr lvl="3">
              <a:buClr>
                <a:srgbClr val="0000FF"/>
              </a:buClr>
              <a:buFont typeface="Wingdings" charset="2"/>
              <a:buChar char="ü"/>
            </a:pPr>
            <a:r>
              <a:rPr lang="es-EC" sz="2400" dirty="0"/>
              <a:t>Una hoja representa una tabla</a:t>
            </a:r>
          </a:p>
          <a:p>
            <a:pPr lvl="3">
              <a:buClr>
                <a:srgbClr val="0000FF"/>
              </a:buClr>
              <a:buFont typeface="Wingdings" charset="2"/>
              <a:buChar char="ü"/>
            </a:pPr>
            <a:r>
              <a:rPr lang="es-EC" sz="2400" dirty="0"/>
              <a:t>Una no-hoja representa una tabla intermedia con resultados de una operación</a:t>
            </a:r>
          </a:p>
          <a:p>
            <a:pPr lvl="3">
              <a:buClr>
                <a:srgbClr val="0000FF"/>
              </a:buClr>
              <a:buFont typeface="Wingdings" charset="2"/>
              <a:buChar char="ü"/>
            </a:pPr>
            <a:r>
              <a:rPr lang="es-EC" sz="2400" dirty="0"/>
              <a:t>La raíz representa el resultado del query</a:t>
            </a:r>
          </a:p>
          <a:p>
            <a:pPr lvl="3">
              <a:buClr>
                <a:srgbClr val="0000FF"/>
              </a:buClr>
              <a:buFont typeface="Wingdings" charset="2"/>
              <a:buChar char="ü"/>
            </a:pPr>
            <a:r>
              <a:rPr lang="es-EC" sz="2400" dirty="0"/>
              <a:t>la secuencia de operaciones inicia de las hojas hacia la raíz (siempre desde la izquierda)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Creación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del plan</a:t>
            </a:r>
          </a:p>
        </p:txBody>
      </p:sp>
    </p:spTree>
    <p:extLst>
      <p:ext uri="{BB962C8B-B14F-4D97-AF65-F5344CB8AC3E}">
        <p14:creationId xmlns:p14="http://schemas.microsoft.com/office/powerpoint/2010/main" val="3182051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Generando el plan….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7218" y="3507104"/>
            <a:ext cx="348774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/>
              <a:t>π</a:t>
            </a:r>
            <a:r>
              <a:rPr lang="es-ES_tradnl" sz="2800" baseline="-25000" dirty="0"/>
              <a:t>B</a:t>
            </a:r>
            <a:r>
              <a:rPr lang="es-ES_tradnl" sz="2800" dirty="0"/>
              <a:t> ( R(</a:t>
            </a:r>
            <a:r>
              <a:rPr lang="es-ES_tradnl" sz="2800" dirty="0" err="1"/>
              <a:t>a,b</a:t>
            </a:r>
            <a:r>
              <a:rPr lang="es-ES_tradnl" sz="2800" dirty="0"/>
              <a:t>) ∞ S(</a:t>
            </a:r>
            <a:r>
              <a:rPr lang="es-ES_tradnl" sz="2800" dirty="0" err="1"/>
              <a:t>b,c</a:t>
            </a:r>
            <a:r>
              <a:rPr lang="es-ES_tradnl" sz="2800" dirty="0"/>
              <a:t>) )</a:t>
            </a:r>
          </a:p>
          <a:p>
            <a:endParaRPr lang="es-ES_tradnl" dirty="0"/>
          </a:p>
        </p:txBody>
      </p:sp>
      <p:sp>
        <p:nvSpPr>
          <p:cNvPr id="5" name="Right Arrow 4"/>
          <p:cNvSpPr/>
          <p:nvPr/>
        </p:nvSpPr>
        <p:spPr>
          <a:xfrm>
            <a:off x="4798174" y="3406319"/>
            <a:ext cx="2036201" cy="80623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TextBox 5"/>
          <p:cNvSpPr txBox="1"/>
          <p:nvPr/>
        </p:nvSpPr>
        <p:spPr>
          <a:xfrm>
            <a:off x="8346405" y="2257446"/>
            <a:ext cx="55522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/>
              <a:t>π</a:t>
            </a:r>
            <a:r>
              <a:rPr lang="es-ES_tradnl" sz="3200" baseline="-25000" dirty="0"/>
              <a:t>b</a:t>
            </a:r>
            <a:endParaRPr lang="es-ES_tradnl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8366565" y="3466792"/>
            <a:ext cx="5347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/>
              <a:t>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77903" y="4877697"/>
            <a:ext cx="117091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/>
              <a:t>R(</a:t>
            </a:r>
            <a:r>
              <a:rPr lang="es-ES_tradnl" sz="3200" dirty="0" err="1"/>
              <a:t>a,b</a:t>
            </a:r>
            <a:r>
              <a:rPr lang="es-ES_tradnl" sz="3200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3778" y="4909160"/>
            <a:ext cx="111360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/>
              <a:t>S(</a:t>
            </a:r>
            <a:r>
              <a:rPr lang="es-ES_tradnl" sz="3200" dirty="0" err="1"/>
              <a:t>b,c</a:t>
            </a:r>
            <a:r>
              <a:rPr lang="es-ES_tradnl" sz="3200" dirty="0"/>
              <a:t>)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8648810" y="3003209"/>
            <a:ext cx="0" cy="644985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7" idx="2"/>
            <a:endCxn id="8" idx="0"/>
          </p:cNvCxnSpPr>
          <p:nvPr/>
        </p:nvCxnSpPr>
        <p:spPr>
          <a:xfrm flipH="1">
            <a:off x="7863360" y="4051568"/>
            <a:ext cx="770566" cy="826129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7" idx="2"/>
            <a:endCxn id="9" idx="0"/>
          </p:cNvCxnSpPr>
          <p:nvPr/>
        </p:nvCxnSpPr>
        <p:spPr>
          <a:xfrm>
            <a:off x="8633926" y="4051568"/>
            <a:ext cx="1046655" cy="857592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Desplazando la proyección…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370906" y="2217134"/>
            <a:ext cx="2959481" cy="3236490"/>
            <a:chOff x="1370906" y="2217134"/>
            <a:chExt cx="2959481" cy="3236490"/>
          </a:xfrm>
        </p:grpSpPr>
        <p:sp>
          <p:nvSpPr>
            <p:cNvPr id="4" name="TextBox 3"/>
            <p:cNvSpPr txBox="1"/>
            <p:nvPr/>
          </p:nvSpPr>
          <p:spPr>
            <a:xfrm>
              <a:off x="2439408" y="2217134"/>
              <a:ext cx="555227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π</a:t>
              </a:r>
              <a:r>
                <a:rPr lang="es-ES_tradnl" sz="3200" baseline="-25000" dirty="0"/>
                <a:t>b</a:t>
              </a:r>
              <a:endParaRPr lang="es-ES_tradnl" sz="3200" dirty="0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1370906" y="2962897"/>
              <a:ext cx="2959481" cy="2490727"/>
              <a:chOff x="1370906" y="2962897"/>
              <a:chExt cx="2959481" cy="2490727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2459568" y="3426480"/>
                <a:ext cx="534722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/>
                  <a:t>∞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370906" y="4837385"/>
                <a:ext cx="1170913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/>
                  <a:t>R(</a:t>
                </a:r>
                <a:r>
                  <a:rPr lang="es-ES_tradnl" sz="3200" dirty="0" err="1"/>
                  <a:t>a,b</a:t>
                </a:r>
                <a:r>
                  <a:rPr lang="es-ES_tradnl" sz="3200" dirty="0"/>
                  <a:t>)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216781" y="4868848"/>
                <a:ext cx="1113606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/>
                  <a:t>S(</a:t>
                </a:r>
                <a:r>
                  <a:rPr lang="es-ES_tradnl" sz="3200" dirty="0" err="1"/>
                  <a:t>b,c</a:t>
                </a:r>
                <a:r>
                  <a:rPr lang="es-ES_tradnl" sz="3200" dirty="0"/>
                  <a:t>)</a:t>
                </a: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741813" y="2962897"/>
                <a:ext cx="0" cy="644985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>
                <a:stCxn id="5" idx="2"/>
                <a:endCxn id="6" idx="0"/>
              </p:cNvCxnSpPr>
              <p:nvPr/>
            </p:nvCxnSpPr>
            <p:spPr>
              <a:xfrm flipH="1">
                <a:off x="1956363" y="4011256"/>
                <a:ext cx="770566" cy="826129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>
                <a:stCxn id="5" idx="2"/>
                <a:endCxn id="7" idx="0"/>
              </p:cNvCxnSpPr>
              <p:nvPr/>
            </p:nvCxnSpPr>
            <p:spPr>
              <a:xfrm>
                <a:off x="2726929" y="4011256"/>
                <a:ext cx="1046655" cy="857592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" name="Group 31"/>
          <p:cNvGrpSpPr/>
          <p:nvPr/>
        </p:nvGrpSpPr>
        <p:grpSpPr>
          <a:xfrm>
            <a:off x="7277903" y="2257446"/>
            <a:ext cx="2858681" cy="3236490"/>
            <a:chOff x="7277903" y="2257446"/>
            <a:chExt cx="2858681" cy="3236490"/>
          </a:xfrm>
        </p:grpSpPr>
        <p:sp>
          <p:nvSpPr>
            <p:cNvPr id="11" name="TextBox 10"/>
            <p:cNvSpPr txBox="1"/>
            <p:nvPr/>
          </p:nvSpPr>
          <p:spPr>
            <a:xfrm>
              <a:off x="8346405" y="2257446"/>
              <a:ext cx="555227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80309" y="3507104"/>
              <a:ext cx="555227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π</a:t>
              </a:r>
              <a:r>
                <a:rPr lang="es-ES_tradnl" sz="3200" baseline="-25000" dirty="0"/>
                <a:t>b</a:t>
              </a:r>
              <a:endParaRPr lang="es-ES_tradnl" sz="32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77903" y="4877697"/>
              <a:ext cx="1170913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R(</a:t>
              </a:r>
              <a:r>
                <a:rPr lang="es-ES_tradnl" sz="3200" dirty="0" err="1"/>
                <a:t>a,b</a:t>
              </a:r>
              <a:r>
                <a:rPr lang="es-ES_tradnl" sz="3200" dirty="0"/>
                <a:t>)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022978" y="4909160"/>
              <a:ext cx="1113606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S(</a:t>
              </a:r>
              <a:r>
                <a:rPr lang="es-ES_tradnl" sz="3200" dirty="0" err="1"/>
                <a:t>b,c</a:t>
              </a:r>
              <a:r>
                <a:rPr lang="es-ES_tradnl" sz="3200" dirty="0"/>
                <a:t>)</a:t>
              </a:r>
            </a:p>
          </p:txBody>
        </p:sp>
        <p:cxnSp>
          <p:nvCxnSpPr>
            <p:cNvPr id="15" name="Straight Connector 14"/>
            <p:cNvCxnSpPr>
              <a:stCxn id="11" idx="2"/>
              <a:endCxn id="12" idx="0"/>
            </p:cNvCxnSpPr>
            <p:nvPr/>
          </p:nvCxnSpPr>
          <p:spPr>
            <a:xfrm flipH="1">
              <a:off x="7857923" y="2842222"/>
              <a:ext cx="766096" cy="66488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2"/>
              <a:endCxn id="13" idx="0"/>
            </p:cNvCxnSpPr>
            <p:nvPr/>
          </p:nvCxnSpPr>
          <p:spPr>
            <a:xfrm>
              <a:off x="7857923" y="4091880"/>
              <a:ext cx="5437" cy="78581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24" idx="0"/>
              <a:endCxn id="11" idx="2"/>
            </p:cNvCxnSpPr>
            <p:nvPr/>
          </p:nvCxnSpPr>
          <p:spPr>
            <a:xfrm flipH="1" flipV="1">
              <a:off x="8624019" y="2842222"/>
              <a:ext cx="947538" cy="66488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9293943" y="3507104"/>
              <a:ext cx="555227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π</a:t>
              </a:r>
              <a:r>
                <a:rPr lang="es-ES_tradnl" sz="3200" baseline="-25000" dirty="0"/>
                <a:t>b</a:t>
              </a:r>
              <a:endParaRPr lang="es-ES_tradnl" sz="3200" dirty="0"/>
            </a:p>
          </p:txBody>
        </p:sp>
        <p:cxnSp>
          <p:nvCxnSpPr>
            <p:cNvPr id="30" name="Straight Connector 29"/>
            <p:cNvCxnSpPr>
              <a:stCxn id="24" idx="2"/>
              <a:endCxn id="14" idx="0"/>
            </p:cNvCxnSpPr>
            <p:nvPr/>
          </p:nvCxnSpPr>
          <p:spPr>
            <a:xfrm>
              <a:off x="9571557" y="4091880"/>
              <a:ext cx="8224" cy="81728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358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Mecanismos básicos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dirty="0"/>
              <a:t> Ejecutar la </a:t>
            </a:r>
            <a:r>
              <a:rPr lang="es-ES_tradnl" sz="2800" u="sng" dirty="0"/>
              <a:t>proyección</a:t>
            </a:r>
            <a:r>
              <a:rPr lang="es-ES_tradnl" sz="2800" dirty="0"/>
              <a:t> lo más pronto posible a través de la   </a:t>
            </a:r>
            <a:r>
              <a:rPr lang="es-ES_tradnl" sz="2800" b="1" dirty="0"/>
              <a:t>selección</a:t>
            </a:r>
            <a:r>
              <a:rPr lang="es-ES_tradnl" sz="2800" dirty="0"/>
              <a:t> y/o </a:t>
            </a:r>
            <a:r>
              <a:rPr lang="es-ES_tradnl" sz="2800" b="1" dirty="0" err="1"/>
              <a:t>join</a:t>
            </a:r>
            <a:endParaRPr lang="es-ES_tradnl" sz="2800" b="1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dirty="0"/>
              <a:t> Ejecutar la </a:t>
            </a:r>
            <a:r>
              <a:rPr lang="es-ES_tradnl" sz="2800" u="sng" dirty="0"/>
              <a:t>selección </a:t>
            </a:r>
            <a:r>
              <a:rPr lang="es-ES_tradnl" sz="2800" dirty="0"/>
              <a:t>lo más pronto posible a través de la </a:t>
            </a:r>
            <a:r>
              <a:rPr lang="es-ES_tradnl" sz="2800" b="1" dirty="0"/>
              <a:t>selección,  proyección y/o </a:t>
            </a:r>
            <a:r>
              <a:rPr lang="es-ES_tradnl" sz="2800" b="1" dirty="0" err="1"/>
              <a:t>join</a:t>
            </a:r>
            <a:endParaRPr lang="es-ES_tradnl" sz="2800" b="1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dirty="0"/>
              <a:t>Los </a:t>
            </a:r>
            <a:r>
              <a:rPr lang="es-ES_tradnl" sz="2800" dirty="0" err="1"/>
              <a:t>joins</a:t>
            </a:r>
            <a:r>
              <a:rPr lang="es-ES_tradnl" sz="2800" dirty="0"/>
              <a:t> pueden ser re-ordenados.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dirty="0"/>
              <a:t>Preferir la creación de árboles inclinados a la izquierda (optimiza memoria).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</p:txBody>
      </p:sp>
    </p:spTree>
    <p:extLst>
      <p:ext uri="{BB962C8B-B14F-4D97-AF65-F5344CB8AC3E}">
        <p14:creationId xmlns:p14="http://schemas.microsoft.com/office/powerpoint/2010/main" val="3022044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9305485" cy="4023360"/>
          </a:xfrm>
        </p:spPr>
        <p:txBody>
          <a:bodyPr>
            <a:normAutofit/>
          </a:bodyPr>
          <a:lstStyle/>
          <a:p>
            <a:r>
              <a:rPr lang="es-ES_tradnl" b="1" dirty="0"/>
              <a:t>Esquema: </a:t>
            </a:r>
            <a:r>
              <a:rPr lang="es-ES_tradnl" dirty="0"/>
              <a:t> </a:t>
            </a:r>
          </a:p>
          <a:p>
            <a:pPr lvl="2">
              <a:buClr>
                <a:srgbClr val="0000FF"/>
              </a:buClr>
              <a:buFont typeface="Wingdings" charset="2"/>
              <a:buChar char="v"/>
            </a:pPr>
            <a:r>
              <a:rPr lang="es-ES_tradnl" sz="2000" dirty="0"/>
              <a:t>R(</a:t>
            </a:r>
            <a:r>
              <a:rPr lang="es-ES_tradnl" sz="2000" dirty="0" err="1"/>
              <a:t>a,b</a:t>
            </a:r>
            <a:r>
              <a:rPr lang="es-ES_tradnl" sz="2000" dirty="0"/>
              <a:t>)  </a:t>
            </a:r>
          </a:p>
          <a:p>
            <a:pPr lvl="2">
              <a:buClr>
                <a:srgbClr val="0000FF"/>
              </a:buClr>
              <a:buFont typeface="Wingdings" charset="2"/>
              <a:buChar char="v"/>
            </a:pPr>
            <a:r>
              <a:rPr lang="es-ES_tradnl" sz="2000" dirty="0"/>
              <a:t>S(</a:t>
            </a:r>
            <a:r>
              <a:rPr lang="es-ES_tradnl" sz="2000" dirty="0" err="1"/>
              <a:t>b,c</a:t>
            </a:r>
            <a:r>
              <a:rPr lang="es-ES_tradnl" sz="2000" dirty="0"/>
              <a:t>)   </a:t>
            </a:r>
          </a:p>
          <a:p>
            <a:pPr lvl="2">
              <a:buClr>
                <a:srgbClr val="0000FF"/>
              </a:buClr>
              <a:buFont typeface="Wingdings" charset="2"/>
              <a:buChar char="v"/>
            </a:pPr>
            <a:r>
              <a:rPr lang="es-ES_tradnl" sz="2000" dirty="0"/>
              <a:t>T(</a:t>
            </a:r>
            <a:r>
              <a:rPr lang="es-ES_tradnl" sz="2000" dirty="0" err="1"/>
              <a:t>c,d</a:t>
            </a:r>
            <a:r>
              <a:rPr lang="es-ES_tradnl" sz="2000" dirty="0"/>
              <a:t>)</a:t>
            </a:r>
            <a:endParaRPr lang="es-ES_tradnl" sz="2000" b="1" dirty="0"/>
          </a:p>
          <a:p>
            <a:r>
              <a:rPr lang="es-ES_tradnl" b="1" dirty="0"/>
              <a:t>SELECT</a:t>
            </a:r>
            <a:r>
              <a:rPr lang="es-ES_tradnl" dirty="0"/>
              <a:t> </a:t>
            </a:r>
            <a:r>
              <a:rPr lang="es-ES_tradnl" dirty="0" err="1"/>
              <a:t>R.a,T.d</a:t>
            </a:r>
            <a:r>
              <a:rPr lang="es-ES_tradnl" dirty="0"/>
              <a:t> </a:t>
            </a:r>
            <a:r>
              <a:rPr lang="es-ES_tradnl" b="1" dirty="0"/>
              <a:t>FROM</a:t>
            </a:r>
            <a:r>
              <a:rPr lang="es-ES_tradnl" dirty="0"/>
              <a:t> R,S,T </a:t>
            </a:r>
            <a:r>
              <a:rPr lang="es-ES_tradnl" b="1" dirty="0"/>
              <a:t>WHERE</a:t>
            </a:r>
            <a:r>
              <a:rPr lang="es-ES_tradnl" dirty="0"/>
              <a:t> </a:t>
            </a:r>
            <a:r>
              <a:rPr lang="es-ES_tradnl" dirty="0" err="1"/>
              <a:t>R.b</a:t>
            </a:r>
            <a:r>
              <a:rPr lang="es-ES_tradnl" dirty="0"/>
              <a:t> = </a:t>
            </a:r>
            <a:r>
              <a:rPr lang="es-ES_tradnl" dirty="0" err="1"/>
              <a:t>S.b</a:t>
            </a:r>
            <a:r>
              <a:rPr lang="es-ES_tradnl" dirty="0"/>
              <a:t>  </a:t>
            </a:r>
            <a:r>
              <a:rPr lang="es-ES_tradnl" b="1" dirty="0"/>
              <a:t>AND</a:t>
            </a:r>
            <a:r>
              <a:rPr lang="es-ES_tradnl" dirty="0"/>
              <a:t> </a:t>
            </a:r>
            <a:r>
              <a:rPr lang="es-ES_tradnl" dirty="0" err="1"/>
              <a:t>S.c</a:t>
            </a:r>
            <a:r>
              <a:rPr lang="es-ES_tradnl" dirty="0"/>
              <a:t> = </a:t>
            </a:r>
            <a:r>
              <a:rPr lang="es-ES_tradnl" dirty="0" err="1"/>
              <a:t>T.c</a:t>
            </a:r>
            <a:r>
              <a:rPr lang="es-ES_tradnl" dirty="0"/>
              <a:t> </a:t>
            </a:r>
            <a:r>
              <a:rPr lang="es-ES_tradnl" b="1" dirty="0"/>
              <a:t>AND</a:t>
            </a:r>
            <a:r>
              <a:rPr lang="es-ES_tradnl" dirty="0"/>
              <a:t> </a:t>
            </a:r>
            <a:r>
              <a:rPr lang="es-ES_tradnl" dirty="0" err="1"/>
              <a:t>R.a</a:t>
            </a:r>
            <a:r>
              <a:rPr lang="es-ES_tradnl" dirty="0"/>
              <a:t> &lt; 10;</a:t>
            </a:r>
          </a:p>
          <a:p>
            <a:r>
              <a:rPr lang="es-ES_tradnl" b="1" dirty="0">
                <a:solidFill>
                  <a:srgbClr val="3366FF"/>
                </a:solidFill>
              </a:rPr>
              <a:t>1. </a:t>
            </a:r>
            <a:r>
              <a:rPr lang="es-ES_tradnl" dirty="0"/>
              <a:t>Transformar en algebra relacional</a:t>
            </a:r>
          </a:p>
          <a:p>
            <a:pPr marL="0" indent="0">
              <a:buNone/>
            </a:pPr>
            <a:endParaRPr lang="es-ES_tradnl" dirty="0"/>
          </a:p>
          <a:p>
            <a:r>
              <a:rPr lang="es-ES_tradnl" b="1" dirty="0">
                <a:solidFill>
                  <a:srgbClr val="3366FF"/>
                </a:solidFill>
              </a:rPr>
              <a:t>2. </a:t>
            </a:r>
            <a:r>
              <a:rPr lang="es-ES_tradnl" dirty="0"/>
              <a:t>Cree el árbol</a:t>
            </a:r>
          </a:p>
          <a:p>
            <a:r>
              <a:rPr lang="es-ES_tradnl" b="1" dirty="0">
                <a:solidFill>
                  <a:srgbClr val="3366FF"/>
                </a:solidFill>
              </a:rPr>
              <a:t>3.</a:t>
            </a:r>
            <a:r>
              <a:rPr lang="es-ES_tradnl" dirty="0"/>
              <a:t> Reordene las operaciones.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7902874" y="1955106"/>
            <a:ext cx="3386947" cy="4345058"/>
            <a:chOff x="7902853" y="1068252"/>
            <a:chExt cx="3665238" cy="4405529"/>
          </a:xfrm>
        </p:grpSpPr>
        <p:sp>
          <p:nvSpPr>
            <p:cNvPr id="4" name="TextBox 3"/>
            <p:cNvSpPr txBox="1"/>
            <p:nvPr/>
          </p:nvSpPr>
          <p:spPr>
            <a:xfrm>
              <a:off x="9656810" y="1068252"/>
              <a:ext cx="754533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π</a:t>
              </a:r>
              <a:r>
                <a:rPr lang="es-ES_tradnl" sz="3200" baseline="-25000" dirty="0" err="1"/>
                <a:t>a,d</a:t>
              </a:r>
              <a:endParaRPr lang="es-ES_tradnl" sz="320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890709" y="3869912"/>
              <a:ext cx="555227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902853" y="4877697"/>
              <a:ext cx="1170913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R(</a:t>
              </a:r>
              <a:r>
                <a:rPr lang="es-ES_tradnl" sz="3200" dirty="0" err="1"/>
                <a:t>a,b</a:t>
              </a:r>
              <a:r>
                <a:rPr lang="es-ES_tradnl" sz="3200" dirty="0"/>
                <a:t>)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84239" y="4889005"/>
              <a:ext cx="1113606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S(</a:t>
              </a:r>
              <a:r>
                <a:rPr lang="es-ES_tradnl" sz="3200" dirty="0" err="1"/>
                <a:t>b,c</a:t>
              </a:r>
              <a:r>
                <a:rPr lang="es-ES_tradnl" sz="3200" dirty="0"/>
                <a:t>)</a:t>
              </a:r>
            </a:p>
          </p:txBody>
        </p:sp>
        <p:cxnSp>
          <p:nvCxnSpPr>
            <p:cNvPr id="9" name="Straight Connector 8"/>
            <p:cNvCxnSpPr>
              <a:stCxn id="5" idx="2"/>
              <a:endCxn id="6" idx="0"/>
            </p:cNvCxnSpPr>
            <p:nvPr/>
          </p:nvCxnSpPr>
          <p:spPr>
            <a:xfrm flipH="1">
              <a:off x="8488310" y="4454688"/>
              <a:ext cx="680013" cy="42300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0443063" y="4071465"/>
              <a:ext cx="1125028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T(</a:t>
              </a:r>
              <a:r>
                <a:rPr lang="es-ES_tradnl" sz="3200" dirty="0" err="1"/>
                <a:t>c,d</a:t>
              </a:r>
              <a:r>
                <a:rPr lang="es-ES_tradnl" sz="3200" dirty="0"/>
                <a:t>)</a:t>
              </a:r>
            </a:p>
          </p:txBody>
        </p:sp>
        <p:cxnSp>
          <p:nvCxnSpPr>
            <p:cNvPr id="12" name="Straight Connector 11"/>
            <p:cNvCxnSpPr>
              <a:stCxn id="5" idx="2"/>
              <a:endCxn id="7" idx="0"/>
            </p:cNvCxnSpPr>
            <p:nvPr/>
          </p:nvCxnSpPr>
          <p:spPr>
            <a:xfrm>
              <a:off x="9168323" y="4454688"/>
              <a:ext cx="572719" cy="43431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9556029" y="1955103"/>
              <a:ext cx="947494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 err="1"/>
                <a:t>σ</a:t>
              </a:r>
              <a:r>
                <a:rPr lang="es-ES_tradnl" sz="3200" baseline="-25000" dirty="0" err="1"/>
                <a:t>a</a:t>
              </a:r>
              <a:r>
                <a:rPr lang="es-ES_tradnl" sz="3200" baseline="-25000" dirty="0"/>
                <a:t>&lt;10</a:t>
              </a:r>
              <a:endParaRPr lang="es-ES_tradnl" sz="32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57629" y="2942736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cxnSp>
          <p:nvCxnSpPr>
            <p:cNvPr id="24" name="Straight Connector 23"/>
            <p:cNvCxnSpPr>
              <a:stCxn id="4" idx="2"/>
              <a:endCxn id="15" idx="0"/>
            </p:cNvCxnSpPr>
            <p:nvPr/>
          </p:nvCxnSpPr>
          <p:spPr>
            <a:xfrm flipH="1">
              <a:off x="10029776" y="1653028"/>
              <a:ext cx="4301" cy="30207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5" idx="0"/>
              <a:endCxn id="16" idx="2"/>
            </p:cNvCxnSpPr>
            <p:nvPr/>
          </p:nvCxnSpPr>
          <p:spPr>
            <a:xfrm flipV="1">
              <a:off x="9168323" y="3527512"/>
              <a:ext cx="856667" cy="34240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6" idx="2"/>
              <a:endCxn id="11" idx="0"/>
            </p:cNvCxnSpPr>
            <p:nvPr/>
          </p:nvCxnSpPr>
          <p:spPr>
            <a:xfrm>
              <a:off x="10024990" y="3527512"/>
              <a:ext cx="980587" cy="543953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5" idx="2"/>
              <a:endCxn id="16" idx="0"/>
            </p:cNvCxnSpPr>
            <p:nvPr/>
          </p:nvCxnSpPr>
          <p:spPr>
            <a:xfrm flipH="1">
              <a:off x="10024990" y="2539879"/>
              <a:ext cx="4786" cy="40285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/>
          <p:cNvSpPr/>
          <p:nvPr/>
        </p:nvSpPr>
        <p:spPr>
          <a:xfrm>
            <a:off x="2019851" y="4180755"/>
            <a:ext cx="4132059" cy="584776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s-ES_tradnl" sz="3200" dirty="0"/>
              <a:t>π</a:t>
            </a:r>
            <a:r>
              <a:rPr lang="es-ES_tradnl" sz="3200" baseline="-25000" dirty="0" err="1"/>
              <a:t>a,d</a:t>
            </a:r>
            <a:r>
              <a:rPr lang="es-ES_tradnl" sz="3200" dirty="0"/>
              <a:t>( </a:t>
            </a:r>
            <a:r>
              <a:rPr lang="es-ES_tradnl" sz="3200" dirty="0" err="1"/>
              <a:t>σ</a:t>
            </a:r>
            <a:r>
              <a:rPr lang="es-ES_tradnl" sz="3200" baseline="-25000" dirty="0" err="1"/>
              <a:t>a</a:t>
            </a:r>
            <a:r>
              <a:rPr lang="es-ES_tradnl" sz="3200" baseline="-25000" dirty="0"/>
              <a:t> &lt; 10 </a:t>
            </a:r>
            <a:r>
              <a:rPr lang="es-ES_tradnl" sz="3200" dirty="0"/>
              <a:t>(T ∞(R∞S) ) )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 #1</a:t>
            </a:r>
          </a:p>
        </p:txBody>
      </p:sp>
    </p:spTree>
    <p:extLst>
      <p:ext uri="{BB962C8B-B14F-4D97-AF65-F5344CB8AC3E}">
        <p14:creationId xmlns:p14="http://schemas.microsoft.com/office/powerpoint/2010/main" val="229653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/>
          <p:cNvCxnSpPr/>
          <p:nvPr/>
        </p:nvCxnSpPr>
        <p:spPr>
          <a:xfrm flipH="1" flipV="1">
            <a:off x="8357200" y="1671689"/>
            <a:ext cx="56169" cy="4530035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975416" y="1852484"/>
            <a:ext cx="3386948" cy="4345059"/>
            <a:chOff x="7902853" y="1068252"/>
            <a:chExt cx="3665239" cy="4405530"/>
          </a:xfrm>
        </p:grpSpPr>
        <p:sp>
          <p:nvSpPr>
            <p:cNvPr id="4" name="TextBox 3"/>
            <p:cNvSpPr txBox="1"/>
            <p:nvPr/>
          </p:nvSpPr>
          <p:spPr>
            <a:xfrm>
              <a:off x="9656810" y="1068252"/>
              <a:ext cx="754532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π</a:t>
              </a:r>
              <a:r>
                <a:rPr lang="es-ES_tradnl" sz="3200" baseline="-25000" dirty="0" err="1"/>
                <a:t>a,d</a:t>
              </a:r>
              <a:endParaRPr lang="es-ES_tradnl" sz="320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890709" y="3869912"/>
              <a:ext cx="555227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902853" y="4877697"/>
              <a:ext cx="1170913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R(</a:t>
              </a:r>
              <a:r>
                <a:rPr lang="es-ES_tradnl" sz="3200" dirty="0" err="1"/>
                <a:t>a,b</a:t>
              </a:r>
              <a:r>
                <a:rPr lang="es-ES_tradnl" sz="3200" dirty="0"/>
                <a:t>)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84239" y="4889006"/>
              <a:ext cx="1113606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S(</a:t>
              </a:r>
              <a:r>
                <a:rPr lang="es-ES_tradnl" sz="3200" dirty="0" err="1"/>
                <a:t>b,c</a:t>
              </a:r>
              <a:r>
                <a:rPr lang="es-ES_tradnl" sz="3200" dirty="0"/>
                <a:t>)</a:t>
              </a:r>
            </a:p>
          </p:txBody>
        </p:sp>
        <p:cxnSp>
          <p:nvCxnSpPr>
            <p:cNvPr id="9" name="Straight Connector 8"/>
            <p:cNvCxnSpPr>
              <a:stCxn id="5" idx="2"/>
              <a:endCxn id="6" idx="0"/>
            </p:cNvCxnSpPr>
            <p:nvPr/>
          </p:nvCxnSpPr>
          <p:spPr>
            <a:xfrm flipH="1">
              <a:off x="8488310" y="4454688"/>
              <a:ext cx="680013" cy="42300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0443064" y="4071465"/>
              <a:ext cx="1125028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T(</a:t>
              </a:r>
              <a:r>
                <a:rPr lang="es-ES_tradnl" sz="3200" dirty="0" err="1"/>
                <a:t>c,d</a:t>
              </a:r>
              <a:r>
                <a:rPr lang="es-ES_tradnl" sz="3200" dirty="0"/>
                <a:t>)</a:t>
              </a:r>
            </a:p>
          </p:txBody>
        </p:sp>
        <p:cxnSp>
          <p:nvCxnSpPr>
            <p:cNvPr id="12" name="Straight Connector 11"/>
            <p:cNvCxnSpPr>
              <a:stCxn id="5" idx="2"/>
              <a:endCxn id="7" idx="0"/>
            </p:cNvCxnSpPr>
            <p:nvPr/>
          </p:nvCxnSpPr>
          <p:spPr>
            <a:xfrm>
              <a:off x="9168323" y="4454688"/>
              <a:ext cx="572719" cy="43431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9556029" y="1955103"/>
              <a:ext cx="947494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 err="1"/>
                <a:t>σ</a:t>
              </a:r>
              <a:r>
                <a:rPr lang="es-ES_tradnl" sz="3200" baseline="-25000" dirty="0" err="1"/>
                <a:t>a</a:t>
              </a:r>
              <a:r>
                <a:rPr lang="es-ES_tradnl" sz="3200" baseline="-25000" dirty="0"/>
                <a:t>&lt;10</a:t>
              </a:r>
              <a:endParaRPr lang="es-ES_tradnl" sz="32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757629" y="2942736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cxnSp>
          <p:nvCxnSpPr>
            <p:cNvPr id="24" name="Straight Connector 23"/>
            <p:cNvCxnSpPr>
              <a:stCxn id="4" idx="2"/>
              <a:endCxn id="15" idx="0"/>
            </p:cNvCxnSpPr>
            <p:nvPr/>
          </p:nvCxnSpPr>
          <p:spPr>
            <a:xfrm flipH="1">
              <a:off x="10029776" y="1653028"/>
              <a:ext cx="4301" cy="30207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5" idx="0"/>
              <a:endCxn id="16" idx="2"/>
            </p:cNvCxnSpPr>
            <p:nvPr/>
          </p:nvCxnSpPr>
          <p:spPr>
            <a:xfrm flipV="1">
              <a:off x="9168323" y="3527512"/>
              <a:ext cx="856667" cy="34240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6" idx="2"/>
              <a:endCxn id="11" idx="0"/>
            </p:cNvCxnSpPr>
            <p:nvPr/>
          </p:nvCxnSpPr>
          <p:spPr>
            <a:xfrm>
              <a:off x="10024990" y="3527512"/>
              <a:ext cx="980587" cy="543953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5" idx="2"/>
              <a:endCxn id="16" idx="0"/>
            </p:cNvCxnSpPr>
            <p:nvPr/>
          </p:nvCxnSpPr>
          <p:spPr>
            <a:xfrm flipH="1">
              <a:off x="10024990" y="2539879"/>
              <a:ext cx="4786" cy="40285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4950748" y="1927919"/>
            <a:ext cx="2937945" cy="4333904"/>
            <a:chOff x="4694175" y="1927919"/>
            <a:chExt cx="2937945" cy="4333904"/>
          </a:xfrm>
        </p:grpSpPr>
        <p:sp>
          <p:nvSpPr>
            <p:cNvPr id="22" name="TextBox 21"/>
            <p:cNvSpPr txBox="1"/>
            <p:nvPr/>
          </p:nvSpPr>
          <p:spPr>
            <a:xfrm>
              <a:off x="6161015" y="1927919"/>
              <a:ext cx="697243" cy="57674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π</a:t>
              </a:r>
              <a:r>
                <a:rPr lang="es-ES_tradnl" sz="3200" baseline="-25000" dirty="0" err="1"/>
                <a:t>a,d</a:t>
              </a:r>
              <a:endParaRPr lang="es-ES_tradnl" sz="3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465911" y="3754702"/>
              <a:ext cx="513070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694175" y="5685074"/>
              <a:ext cx="1082009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R(</a:t>
              </a:r>
              <a:r>
                <a:rPr lang="es-ES_tradnl" sz="3200" dirty="0" err="1"/>
                <a:t>a,b</a:t>
              </a:r>
              <a:r>
                <a:rPr lang="es-ES_tradnl" sz="3200" dirty="0"/>
                <a:t>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26954" y="4862426"/>
              <a:ext cx="1029053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S(</a:t>
              </a:r>
              <a:r>
                <a:rPr lang="es-ES_tradnl" sz="3200" dirty="0" err="1"/>
                <a:t>b,c</a:t>
              </a:r>
              <a:r>
                <a:rPr lang="es-ES_tradnl" sz="3200" dirty="0"/>
                <a:t>)</a:t>
              </a:r>
            </a:p>
          </p:txBody>
        </p:sp>
        <p:cxnSp>
          <p:nvCxnSpPr>
            <p:cNvPr id="29" name="Straight Connector 28"/>
            <p:cNvCxnSpPr>
              <a:stCxn id="23" idx="2"/>
              <a:endCxn id="33" idx="0"/>
            </p:cNvCxnSpPr>
            <p:nvPr/>
          </p:nvCxnSpPr>
          <p:spPr>
            <a:xfrm flipH="1">
              <a:off x="5235630" y="4331451"/>
              <a:ext cx="486816" cy="38246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6592512" y="3825211"/>
              <a:ext cx="1039608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T(</a:t>
              </a:r>
              <a:r>
                <a:rPr lang="es-ES_tradnl" sz="3200" dirty="0" err="1"/>
                <a:t>c,d</a:t>
              </a:r>
              <a:r>
                <a:rPr lang="es-ES_tradnl" sz="3200" dirty="0"/>
                <a:t>)</a:t>
              </a:r>
            </a:p>
          </p:txBody>
        </p:sp>
        <p:cxnSp>
          <p:nvCxnSpPr>
            <p:cNvPr id="32" name="Straight Connector 31"/>
            <p:cNvCxnSpPr>
              <a:stCxn id="23" idx="2"/>
              <a:endCxn id="27" idx="0"/>
            </p:cNvCxnSpPr>
            <p:nvPr/>
          </p:nvCxnSpPr>
          <p:spPr>
            <a:xfrm>
              <a:off x="5722446" y="4331451"/>
              <a:ext cx="619035" cy="53097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4797853" y="4713918"/>
              <a:ext cx="875554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 err="1"/>
                <a:t>σ</a:t>
              </a:r>
              <a:r>
                <a:rPr lang="es-ES_tradnl" sz="3200" baseline="-25000" dirty="0" err="1"/>
                <a:t>a</a:t>
              </a:r>
              <a:r>
                <a:rPr lang="es-ES_tradnl" sz="3200" baseline="-25000" dirty="0"/>
                <a:t>&lt;10</a:t>
              </a:r>
              <a:endParaRPr lang="es-ES_tradnl" sz="32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267008" y="2840253"/>
              <a:ext cx="494122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cxnSp>
          <p:nvCxnSpPr>
            <p:cNvPr id="36" name="Straight Connector 35"/>
            <p:cNvCxnSpPr>
              <a:stCxn id="22" idx="2"/>
              <a:endCxn id="35" idx="0"/>
            </p:cNvCxnSpPr>
            <p:nvPr/>
          </p:nvCxnSpPr>
          <p:spPr>
            <a:xfrm>
              <a:off x="6509637" y="2504668"/>
              <a:ext cx="4432" cy="33558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3" idx="0"/>
              <a:endCxn id="35" idx="2"/>
            </p:cNvCxnSpPr>
            <p:nvPr/>
          </p:nvCxnSpPr>
          <p:spPr>
            <a:xfrm flipV="1">
              <a:off x="5722446" y="3417002"/>
              <a:ext cx="791623" cy="33770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35" idx="2"/>
              <a:endCxn id="31" idx="0"/>
            </p:cNvCxnSpPr>
            <p:nvPr/>
          </p:nvCxnSpPr>
          <p:spPr>
            <a:xfrm>
              <a:off x="6514069" y="3417002"/>
              <a:ext cx="598247" cy="40820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33" idx="2"/>
              <a:endCxn id="25" idx="0"/>
            </p:cNvCxnSpPr>
            <p:nvPr/>
          </p:nvCxnSpPr>
          <p:spPr>
            <a:xfrm flipH="1">
              <a:off x="5235180" y="5290667"/>
              <a:ext cx="450" cy="39440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Straight Connector 49"/>
          <p:cNvCxnSpPr/>
          <p:nvPr/>
        </p:nvCxnSpPr>
        <p:spPr>
          <a:xfrm flipH="1" flipV="1">
            <a:off x="4497329" y="1737360"/>
            <a:ext cx="56169" cy="4530035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ight Arrow 51"/>
          <p:cNvSpPr/>
          <p:nvPr/>
        </p:nvSpPr>
        <p:spPr>
          <a:xfrm>
            <a:off x="4271932" y="3573079"/>
            <a:ext cx="679916" cy="32653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3" name="Right Arrow 52"/>
          <p:cNvSpPr/>
          <p:nvPr/>
        </p:nvSpPr>
        <p:spPr>
          <a:xfrm>
            <a:off x="8054831" y="3545891"/>
            <a:ext cx="679916" cy="326536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80" name="Group 79"/>
          <p:cNvGrpSpPr/>
          <p:nvPr/>
        </p:nvGrpSpPr>
        <p:grpSpPr>
          <a:xfrm>
            <a:off x="8784961" y="1413287"/>
            <a:ext cx="2565915" cy="4923973"/>
            <a:chOff x="8810619" y="1272179"/>
            <a:chExt cx="2565915" cy="4923973"/>
          </a:xfrm>
        </p:grpSpPr>
        <p:sp>
          <p:nvSpPr>
            <p:cNvPr id="55" name="TextBox 54"/>
            <p:cNvSpPr txBox="1"/>
            <p:nvPr/>
          </p:nvSpPr>
          <p:spPr>
            <a:xfrm>
              <a:off x="9956744" y="1272179"/>
              <a:ext cx="697243" cy="57674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π</a:t>
              </a:r>
              <a:r>
                <a:rPr lang="es-ES_tradnl" sz="3200" baseline="-25000" dirty="0" err="1"/>
                <a:t>a,d</a:t>
              </a:r>
              <a:endParaRPr lang="es-ES_tradnl" sz="320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582355" y="3868623"/>
              <a:ext cx="513070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810619" y="5619403"/>
              <a:ext cx="1082009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R(</a:t>
              </a:r>
              <a:r>
                <a:rPr lang="es-ES_tradnl" sz="3200" dirty="0" err="1"/>
                <a:t>a,b</a:t>
              </a:r>
              <a:r>
                <a:rPr lang="es-ES_tradnl" sz="3200" dirty="0"/>
                <a:t>)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917740" y="4732615"/>
              <a:ext cx="1029053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S(</a:t>
              </a:r>
              <a:r>
                <a:rPr lang="es-ES_tradnl" sz="3200" dirty="0" err="1"/>
                <a:t>b,c</a:t>
              </a:r>
              <a:r>
                <a:rPr lang="es-ES_tradnl" sz="3200" dirty="0"/>
                <a:t>)</a:t>
              </a:r>
            </a:p>
          </p:txBody>
        </p:sp>
        <p:cxnSp>
          <p:nvCxnSpPr>
            <p:cNvPr id="59" name="Straight Connector 58"/>
            <p:cNvCxnSpPr>
              <a:stCxn id="56" idx="2"/>
              <a:endCxn id="62" idx="0"/>
            </p:cNvCxnSpPr>
            <p:nvPr/>
          </p:nvCxnSpPr>
          <p:spPr>
            <a:xfrm flipH="1">
              <a:off x="9352074" y="4445372"/>
              <a:ext cx="486816" cy="20287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0336926" y="3092505"/>
              <a:ext cx="1039608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T(</a:t>
              </a:r>
              <a:r>
                <a:rPr lang="es-ES_tradnl" sz="3200" dirty="0" err="1"/>
                <a:t>c,d</a:t>
              </a:r>
              <a:r>
                <a:rPr lang="es-ES_tradnl" sz="3200" dirty="0"/>
                <a:t>)</a:t>
              </a:r>
            </a:p>
          </p:txBody>
        </p:sp>
        <p:cxnSp>
          <p:nvCxnSpPr>
            <p:cNvPr id="61" name="Straight Connector 60"/>
            <p:cNvCxnSpPr>
              <a:stCxn id="56" idx="2"/>
              <a:endCxn id="58" idx="0"/>
            </p:cNvCxnSpPr>
            <p:nvPr/>
          </p:nvCxnSpPr>
          <p:spPr>
            <a:xfrm>
              <a:off x="9838890" y="4445372"/>
              <a:ext cx="593377" cy="287243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8914297" y="4648247"/>
              <a:ext cx="875554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 err="1"/>
                <a:t>σ</a:t>
              </a:r>
              <a:r>
                <a:rPr lang="es-ES_tradnl" sz="3200" baseline="-25000" dirty="0" err="1"/>
                <a:t>a</a:t>
              </a:r>
              <a:r>
                <a:rPr lang="es-ES_tradnl" sz="3200" baseline="-25000" dirty="0"/>
                <a:t>&lt;10</a:t>
              </a:r>
              <a:endParaRPr lang="es-ES_tradnl" sz="3200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062737" y="2184513"/>
              <a:ext cx="494122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cxnSp>
          <p:nvCxnSpPr>
            <p:cNvPr id="64" name="Straight Connector 63"/>
            <p:cNvCxnSpPr>
              <a:stCxn id="55" idx="2"/>
              <a:endCxn id="63" idx="0"/>
            </p:cNvCxnSpPr>
            <p:nvPr/>
          </p:nvCxnSpPr>
          <p:spPr>
            <a:xfrm>
              <a:off x="10305366" y="1848928"/>
              <a:ext cx="4432" cy="33558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69" idx="0"/>
              <a:endCxn id="63" idx="2"/>
            </p:cNvCxnSpPr>
            <p:nvPr/>
          </p:nvCxnSpPr>
          <p:spPr>
            <a:xfrm flipV="1">
              <a:off x="9830952" y="2761262"/>
              <a:ext cx="478846" cy="27961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stCxn id="63" idx="2"/>
              <a:endCxn id="60" idx="0"/>
            </p:cNvCxnSpPr>
            <p:nvPr/>
          </p:nvCxnSpPr>
          <p:spPr>
            <a:xfrm>
              <a:off x="10309798" y="2761262"/>
              <a:ext cx="546932" cy="331243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stCxn id="62" idx="2"/>
              <a:endCxn id="57" idx="0"/>
            </p:cNvCxnSpPr>
            <p:nvPr/>
          </p:nvCxnSpPr>
          <p:spPr>
            <a:xfrm flipH="1">
              <a:off x="9351624" y="5224996"/>
              <a:ext cx="450" cy="39440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9467711" y="3040872"/>
              <a:ext cx="726481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π</a:t>
              </a:r>
              <a:r>
                <a:rPr lang="es-ES_tradnl" sz="3200" baseline="-25000" dirty="0" err="1"/>
                <a:t>a,c</a:t>
              </a:r>
              <a:endParaRPr lang="es-ES_tradnl" sz="3200" dirty="0"/>
            </a:p>
          </p:txBody>
        </p:sp>
        <p:cxnSp>
          <p:nvCxnSpPr>
            <p:cNvPr id="70" name="Straight Connector 69"/>
            <p:cNvCxnSpPr>
              <a:stCxn id="69" idx="2"/>
              <a:endCxn id="56" idx="0"/>
            </p:cNvCxnSpPr>
            <p:nvPr/>
          </p:nvCxnSpPr>
          <p:spPr>
            <a:xfrm>
              <a:off x="9830952" y="3625648"/>
              <a:ext cx="7938" cy="24297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 #1</a:t>
            </a:r>
          </a:p>
        </p:txBody>
      </p:sp>
    </p:spTree>
    <p:extLst>
      <p:ext uri="{BB962C8B-B14F-4D97-AF65-F5344CB8AC3E}">
        <p14:creationId xmlns:p14="http://schemas.microsoft.com/office/powerpoint/2010/main" val="335024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9305485" cy="4023360"/>
          </a:xfrm>
        </p:spPr>
        <p:txBody>
          <a:bodyPr/>
          <a:lstStyle/>
          <a:p>
            <a:r>
              <a:rPr lang="es-ES_tradnl" b="1" dirty="0">
                <a:solidFill>
                  <a:srgbClr val="3366FF"/>
                </a:solidFill>
              </a:rPr>
              <a:t>4.</a:t>
            </a:r>
            <a:r>
              <a:rPr lang="es-ES_tradnl" dirty="0"/>
              <a:t> Cree la nueva solución de álgebra relacional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92334" y="2293553"/>
            <a:ext cx="4952930" cy="584776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lang="es-ES_tradnl" sz="3200" dirty="0"/>
              <a:t>π</a:t>
            </a:r>
            <a:r>
              <a:rPr lang="es-ES_tradnl" sz="3200" baseline="-25000" dirty="0" err="1"/>
              <a:t>a,d</a:t>
            </a:r>
            <a:r>
              <a:rPr lang="es-ES_tradnl" sz="3200" dirty="0"/>
              <a:t>( T ∞ π</a:t>
            </a:r>
            <a:r>
              <a:rPr lang="es-ES_tradnl" sz="3200" baseline="-25000" dirty="0" err="1"/>
              <a:t>a,c</a:t>
            </a:r>
            <a:r>
              <a:rPr lang="es-ES_tradnl" sz="3200" baseline="-25000" dirty="0"/>
              <a:t> </a:t>
            </a:r>
            <a:r>
              <a:rPr lang="es-ES_tradnl" sz="3200" dirty="0"/>
              <a:t>(</a:t>
            </a:r>
            <a:r>
              <a:rPr lang="es-ES_tradnl" sz="3200" dirty="0" err="1"/>
              <a:t>σ</a:t>
            </a:r>
            <a:r>
              <a:rPr lang="es-ES_tradnl" sz="3200" baseline="-25000" dirty="0" err="1"/>
              <a:t>a</a:t>
            </a:r>
            <a:r>
              <a:rPr lang="es-ES_tradnl" sz="3200" baseline="-25000" dirty="0"/>
              <a:t> &lt; 10 </a:t>
            </a:r>
            <a:r>
              <a:rPr lang="es-ES_tradnl" sz="3200" dirty="0"/>
              <a:t>(R)∞S)  )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489903" y="1374804"/>
            <a:ext cx="2565915" cy="4923973"/>
            <a:chOff x="8810619" y="1272179"/>
            <a:chExt cx="2565915" cy="4923973"/>
          </a:xfrm>
        </p:grpSpPr>
        <p:sp>
          <p:nvSpPr>
            <p:cNvPr id="21" name="TextBox 20"/>
            <p:cNvSpPr txBox="1"/>
            <p:nvPr/>
          </p:nvSpPr>
          <p:spPr>
            <a:xfrm>
              <a:off x="9956744" y="1272179"/>
              <a:ext cx="697243" cy="57674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π</a:t>
              </a:r>
              <a:r>
                <a:rPr lang="es-ES_tradnl" sz="3200" baseline="-25000" dirty="0" err="1"/>
                <a:t>a,d</a:t>
              </a:r>
              <a:endParaRPr lang="es-ES_tradnl" sz="3200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82355" y="3868623"/>
              <a:ext cx="513070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10619" y="5619403"/>
              <a:ext cx="1082009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R(</a:t>
              </a:r>
              <a:r>
                <a:rPr lang="es-ES_tradnl" sz="3200" dirty="0" err="1"/>
                <a:t>a,b</a:t>
              </a:r>
              <a:r>
                <a:rPr lang="es-ES_tradnl" sz="3200" dirty="0"/>
                <a:t>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917740" y="4732615"/>
              <a:ext cx="1029053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S(</a:t>
              </a:r>
              <a:r>
                <a:rPr lang="es-ES_tradnl" sz="3200" dirty="0" err="1"/>
                <a:t>b,c</a:t>
              </a:r>
              <a:r>
                <a:rPr lang="es-ES_tradnl" sz="3200" dirty="0"/>
                <a:t>)</a:t>
              </a:r>
            </a:p>
          </p:txBody>
        </p:sp>
        <p:cxnSp>
          <p:nvCxnSpPr>
            <p:cNvPr id="27" name="Straight Connector 26"/>
            <p:cNvCxnSpPr>
              <a:stCxn id="22" idx="2"/>
              <a:endCxn id="32" idx="0"/>
            </p:cNvCxnSpPr>
            <p:nvPr/>
          </p:nvCxnSpPr>
          <p:spPr>
            <a:xfrm flipH="1">
              <a:off x="9352074" y="4445372"/>
              <a:ext cx="486816" cy="20287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10336926" y="3092505"/>
              <a:ext cx="1039608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T(</a:t>
              </a:r>
              <a:r>
                <a:rPr lang="es-ES_tradnl" sz="3200" dirty="0" err="1"/>
                <a:t>c,d</a:t>
              </a:r>
              <a:r>
                <a:rPr lang="es-ES_tradnl" sz="3200" dirty="0"/>
                <a:t>)</a:t>
              </a:r>
            </a:p>
          </p:txBody>
        </p:sp>
        <p:cxnSp>
          <p:nvCxnSpPr>
            <p:cNvPr id="31" name="Straight Connector 30"/>
            <p:cNvCxnSpPr>
              <a:stCxn id="22" idx="2"/>
              <a:endCxn id="25" idx="0"/>
            </p:cNvCxnSpPr>
            <p:nvPr/>
          </p:nvCxnSpPr>
          <p:spPr>
            <a:xfrm>
              <a:off x="9838890" y="4445372"/>
              <a:ext cx="593377" cy="287243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8914297" y="4648247"/>
              <a:ext cx="875554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 err="1"/>
                <a:t>σ</a:t>
              </a:r>
              <a:r>
                <a:rPr lang="es-ES_tradnl" sz="3200" baseline="-25000" dirty="0" err="1"/>
                <a:t>a</a:t>
              </a:r>
              <a:r>
                <a:rPr lang="es-ES_tradnl" sz="3200" baseline="-25000" dirty="0"/>
                <a:t>&lt;10</a:t>
              </a:r>
              <a:endParaRPr lang="es-ES_tradnl" sz="32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062737" y="2184513"/>
              <a:ext cx="494122" cy="576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cxnSp>
          <p:nvCxnSpPr>
            <p:cNvPr id="35" name="Straight Connector 34"/>
            <p:cNvCxnSpPr>
              <a:stCxn id="21" idx="2"/>
              <a:endCxn id="33" idx="0"/>
            </p:cNvCxnSpPr>
            <p:nvPr/>
          </p:nvCxnSpPr>
          <p:spPr>
            <a:xfrm>
              <a:off x="10305366" y="1848928"/>
              <a:ext cx="4432" cy="33558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39" idx="0"/>
              <a:endCxn id="33" idx="2"/>
            </p:cNvCxnSpPr>
            <p:nvPr/>
          </p:nvCxnSpPr>
          <p:spPr>
            <a:xfrm flipV="1">
              <a:off x="9830952" y="2761262"/>
              <a:ext cx="478846" cy="27961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33" idx="2"/>
              <a:endCxn id="29" idx="0"/>
            </p:cNvCxnSpPr>
            <p:nvPr/>
          </p:nvCxnSpPr>
          <p:spPr>
            <a:xfrm>
              <a:off x="10309798" y="2761262"/>
              <a:ext cx="546932" cy="331243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32" idx="2"/>
              <a:endCxn id="23" idx="0"/>
            </p:cNvCxnSpPr>
            <p:nvPr/>
          </p:nvCxnSpPr>
          <p:spPr>
            <a:xfrm flipH="1">
              <a:off x="9351624" y="5224996"/>
              <a:ext cx="450" cy="39440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9467711" y="3040872"/>
              <a:ext cx="726481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π</a:t>
              </a:r>
              <a:r>
                <a:rPr lang="es-ES_tradnl" sz="3200" baseline="-25000" dirty="0" err="1"/>
                <a:t>a,c</a:t>
              </a:r>
              <a:endParaRPr lang="es-ES_tradnl" sz="3200" dirty="0"/>
            </a:p>
          </p:txBody>
        </p:sp>
        <p:cxnSp>
          <p:nvCxnSpPr>
            <p:cNvPr id="40" name="Straight Connector 39"/>
            <p:cNvCxnSpPr>
              <a:stCxn id="39" idx="2"/>
              <a:endCxn id="22" idx="0"/>
            </p:cNvCxnSpPr>
            <p:nvPr/>
          </p:nvCxnSpPr>
          <p:spPr>
            <a:xfrm>
              <a:off x="9830952" y="3625648"/>
              <a:ext cx="7938" cy="24297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 #1</a:t>
            </a:r>
          </a:p>
        </p:txBody>
      </p:sp>
    </p:spTree>
    <p:extLst>
      <p:ext uri="{BB962C8B-B14F-4D97-AF65-F5344CB8AC3E}">
        <p14:creationId xmlns:p14="http://schemas.microsoft.com/office/powerpoint/2010/main" val="399449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9305485" cy="4023360"/>
          </a:xfrm>
        </p:spPr>
        <p:txBody>
          <a:bodyPr>
            <a:normAutofit/>
          </a:bodyPr>
          <a:lstStyle/>
          <a:p>
            <a:r>
              <a:rPr lang="es-ES_tradnl" b="1" dirty="0"/>
              <a:t>Esquema: </a:t>
            </a:r>
            <a:r>
              <a:rPr lang="es-ES_tradnl" dirty="0"/>
              <a:t> </a:t>
            </a:r>
          </a:p>
          <a:p>
            <a:pPr lvl="2">
              <a:buClr>
                <a:srgbClr val="0000FF"/>
              </a:buClr>
              <a:buFont typeface="Wingdings" charset="2"/>
              <a:buChar char="v"/>
            </a:pPr>
            <a:r>
              <a:rPr lang="es-ES_tradnl" sz="2000" dirty="0"/>
              <a:t>Empleado(</a:t>
            </a:r>
            <a:r>
              <a:rPr lang="es-ES_tradnl" sz="2000" dirty="0" err="1"/>
              <a:t>noEmp</a:t>
            </a:r>
            <a:r>
              <a:rPr lang="es-ES_tradnl" sz="2000" dirty="0"/>
              <a:t>, nombre, apellido, edad, </a:t>
            </a:r>
            <a:r>
              <a:rPr lang="es-ES_tradnl" sz="2000" dirty="0" err="1"/>
              <a:t>cuentaBancaria</a:t>
            </a:r>
            <a:r>
              <a:rPr lang="es-ES_tradnl" sz="2000" dirty="0"/>
              <a:t>, </a:t>
            </a:r>
            <a:r>
              <a:rPr lang="es-ES_tradnl" sz="2000" dirty="0" err="1"/>
              <a:t>direccion</a:t>
            </a:r>
            <a:r>
              <a:rPr lang="es-ES_tradnl" sz="2000" dirty="0"/>
              <a:t>, </a:t>
            </a:r>
            <a:r>
              <a:rPr lang="es-ES_tradnl" sz="2000" dirty="0" err="1"/>
              <a:t>telefono</a:t>
            </a:r>
            <a:r>
              <a:rPr lang="es-ES_tradnl" sz="2000" dirty="0"/>
              <a:t>)  </a:t>
            </a:r>
          </a:p>
          <a:p>
            <a:pPr lvl="2">
              <a:buClr>
                <a:srgbClr val="0000FF"/>
              </a:buClr>
              <a:buFont typeface="Wingdings" charset="2"/>
              <a:buChar char="v"/>
            </a:pPr>
            <a:r>
              <a:rPr lang="es-ES_tradnl" sz="2000" dirty="0"/>
              <a:t>Propiedad(</a:t>
            </a:r>
            <a:r>
              <a:rPr lang="es-ES_tradnl" sz="2000" dirty="0" err="1"/>
              <a:t>noProp</a:t>
            </a:r>
            <a:r>
              <a:rPr lang="es-ES_tradnl" sz="2000" dirty="0"/>
              <a:t>, </a:t>
            </a:r>
            <a:r>
              <a:rPr lang="es-ES_tradnl" sz="2000" dirty="0" err="1"/>
              <a:t>noEmp</a:t>
            </a:r>
            <a:r>
              <a:rPr lang="es-ES_tradnl" sz="2000" dirty="0"/>
              <a:t>, ciudad, distancia, avalúo, alquiler, estado)   </a:t>
            </a:r>
          </a:p>
          <a:p>
            <a:r>
              <a:rPr lang="es-ES_tradnl" b="1" dirty="0"/>
              <a:t>SELECT</a:t>
            </a:r>
            <a:r>
              <a:rPr lang="es-ES_tradnl" dirty="0"/>
              <a:t> </a:t>
            </a:r>
            <a:r>
              <a:rPr lang="es-ES_tradnl" dirty="0" err="1"/>
              <a:t>p.noProp</a:t>
            </a:r>
            <a:r>
              <a:rPr lang="es-ES_tradnl" dirty="0"/>
              <a:t> </a:t>
            </a:r>
            <a:r>
              <a:rPr lang="es-ES_tradnl" b="1" dirty="0"/>
              <a:t>FROM</a:t>
            </a:r>
            <a:r>
              <a:rPr lang="es-ES_tradnl" dirty="0"/>
              <a:t> Empleado e, Propiedad p</a:t>
            </a:r>
          </a:p>
          <a:p>
            <a:r>
              <a:rPr lang="es-ES_tradnl" b="1" dirty="0"/>
              <a:t>WHERE</a:t>
            </a:r>
            <a:r>
              <a:rPr lang="es-ES_tradnl" dirty="0"/>
              <a:t> </a:t>
            </a:r>
            <a:r>
              <a:rPr lang="es-ES_tradnl" dirty="0" err="1"/>
              <a:t>e.noEmp</a:t>
            </a:r>
            <a:r>
              <a:rPr lang="es-ES_tradnl" dirty="0"/>
              <a:t> = </a:t>
            </a:r>
            <a:r>
              <a:rPr lang="es-ES_tradnl" dirty="0" err="1"/>
              <a:t>p.noEmp</a:t>
            </a:r>
            <a:endParaRPr lang="es-ES_tradnl" dirty="0"/>
          </a:p>
          <a:p>
            <a:pPr marL="201168" lvl="1" indent="0">
              <a:buNone/>
            </a:pPr>
            <a:r>
              <a:rPr lang="es-ES_tradnl" sz="2000" b="1" dirty="0"/>
              <a:t>AND</a:t>
            </a:r>
            <a:r>
              <a:rPr lang="es-ES_tradnl" sz="2000" dirty="0"/>
              <a:t> </a:t>
            </a:r>
            <a:r>
              <a:rPr lang="es-ES_tradnl" sz="2000" dirty="0" err="1"/>
              <a:t>p.distancia</a:t>
            </a:r>
            <a:r>
              <a:rPr lang="es-ES_tradnl" sz="2000" dirty="0"/>
              <a:t> &lt; 2</a:t>
            </a:r>
          </a:p>
          <a:p>
            <a:pPr marL="201168" lvl="1" indent="0">
              <a:buNone/>
            </a:pPr>
            <a:r>
              <a:rPr lang="es-ES_tradnl" sz="2000" b="1" dirty="0"/>
              <a:t>AND</a:t>
            </a:r>
            <a:r>
              <a:rPr lang="es-ES_tradnl" sz="2000" dirty="0"/>
              <a:t> </a:t>
            </a:r>
            <a:r>
              <a:rPr lang="es-ES_tradnl" sz="2000" dirty="0" err="1"/>
              <a:t>p.ciudad</a:t>
            </a:r>
            <a:r>
              <a:rPr lang="es-ES_tradnl" sz="2000" dirty="0"/>
              <a:t> = “Guayaquil” </a:t>
            </a:r>
          </a:p>
          <a:p>
            <a:pPr marL="201168" lvl="1" indent="0">
              <a:buNone/>
            </a:pPr>
            <a:r>
              <a:rPr lang="es-ES_tradnl" sz="2000" b="1" dirty="0"/>
              <a:t>AND</a:t>
            </a:r>
            <a:r>
              <a:rPr lang="es-ES_tradnl" sz="2000" dirty="0"/>
              <a:t> </a:t>
            </a:r>
            <a:r>
              <a:rPr lang="es-ES_tradnl" sz="2000" dirty="0" err="1"/>
              <a:t>e.nombre</a:t>
            </a:r>
            <a:r>
              <a:rPr lang="es-ES_tradnl" sz="2000" dirty="0"/>
              <a:t> = “Juan”</a:t>
            </a:r>
          </a:p>
          <a:p>
            <a:pPr marL="201168" lvl="1" indent="0">
              <a:buNone/>
            </a:pPr>
            <a:r>
              <a:rPr lang="es-ES_tradnl" sz="2000" b="1" dirty="0"/>
              <a:t>AND</a:t>
            </a:r>
            <a:r>
              <a:rPr lang="es-ES_tradnl" sz="2000" dirty="0"/>
              <a:t> </a:t>
            </a:r>
            <a:r>
              <a:rPr lang="es-ES_tradnl" sz="2000" dirty="0" err="1"/>
              <a:t>e.apellido</a:t>
            </a:r>
            <a:r>
              <a:rPr lang="es-ES_tradnl" sz="2000" dirty="0"/>
              <a:t> = “Castro”;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 #2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26689" y="4180755"/>
            <a:ext cx="6536839" cy="2062103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s-ES_tradnl" sz="3200" dirty="0"/>
              <a:t>π</a:t>
            </a:r>
            <a:r>
              <a:rPr lang="es-ES_tradnl" sz="3200" baseline="-25000" dirty="0" err="1"/>
              <a:t>p.noProp</a:t>
            </a:r>
            <a:r>
              <a:rPr lang="es-ES_tradnl" sz="3200" dirty="0">
                <a:solidFill>
                  <a:srgbClr val="FF0000"/>
                </a:solidFill>
              </a:rPr>
              <a:t>(</a:t>
            </a:r>
          </a:p>
          <a:p>
            <a:r>
              <a:rPr lang="es-ES_tradnl" sz="3200" dirty="0"/>
              <a:t>     </a:t>
            </a:r>
            <a:r>
              <a:rPr lang="es-ES_tradnl" sz="3200" dirty="0" err="1"/>
              <a:t>σ</a:t>
            </a:r>
            <a:r>
              <a:rPr lang="es-ES_tradnl" sz="3200" baseline="-25000" dirty="0"/>
              <a:t> </a:t>
            </a:r>
            <a:r>
              <a:rPr lang="es-ES_tradnl" sz="3200" baseline="-25000" dirty="0" err="1"/>
              <a:t>p.distancia</a:t>
            </a:r>
            <a:r>
              <a:rPr lang="es-ES_tradnl" sz="3200" baseline="-25000" dirty="0"/>
              <a:t> &lt; 2 ^</a:t>
            </a:r>
            <a:r>
              <a:rPr lang="es-ES_tradnl" sz="3200" baseline="-25000" dirty="0" err="1"/>
              <a:t>p.ciudad</a:t>
            </a:r>
            <a:r>
              <a:rPr lang="es-ES_tradnl" sz="3200" baseline="-25000" dirty="0"/>
              <a:t>=“Guayaquil”</a:t>
            </a:r>
            <a:r>
              <a:rPr lang="es-ES_tradnl" sz="3200" dirty="0">
                <a:solidFill>
                  <a:srgbClr val="008000"/>
                </a:solidFill>
              </a:rPr>
              <a:t>(</a:t>
            </a:r>
          </a:p>
          <a:p>
            <a:r>
              <a:rPr lang="es-ES_tradnl" sz="3200" dirty="0"/>
              <a:t>          </a:t>
            </a:r>
            <a:r>
              <a:rPr lang="es-ES_tradnl" sz="3200" dirty="0" err="1"/>
              <a:t>σ</a:t>
            </a:r>
            <a:r>
              <a:rPr lang="es-ES_tradnl" sz="3200" baseline="-25000" dirty="0" err="1"/>
              <a:t>e.nombre</a:t>
            </a:r>
            <a:r>
              <a:rPr lang="es-ES_tradnl" sz="3200" baseline="-25000" dirty="0"/>
              <a:t> = “Juan” ^ </a:t>
            </a:r>
            <a:r>
              <a:rPr lang="es-ES_tradnl" sz="3200" baseline="-25000" dirty="0" err="1"/>
              <a:t>e.apellido</a:t>
            </a:r>
            <a:r>
              <a:rPr lang="es-ES_tradnl" sz="3200" baseline="-25000" dirty="0"/>
              <a:t>=“Castro”</a:t>
            </a:r>
            <a:r>
              <a:rPr lang="es-ES_tradnl" sz="3200" dirty="0">
                <a:solidFill>
                  <a:srgbClr val="3366FF"/>
                </a:solidFill>
              </a:rPr>
              <a:t>(</a:t>
            </a:r>
            <a:r>
              <a:rPr lang="es-ES_tradnl" sz="3200" dirty="0"/>
              <a:t> </a:t>
            </a:r>
          </a:p>
          <a:p>
            <a:r>
              <a:rPr lang="es-ES_tradnl" sz="3200" dirty="0"/>
              <a:t>              </a:t>
            </a:r>
            <a:r>
              <a:rPr lang="es-ES_tradnl" sz="3200" dirty="0" err="1"/>
              <a:t>σ</a:t>
            </a:r>
            <a:r>
              <a:rPr lang="es-ES_tradnl" sz="3200" baseline="-25000" dirty="0" err="1"/>
              <a:t>e.noEmp</a:t>
            </a:r>
            <a:r>
              <a:rPr lang="es-ES_tradnl" sz="3200" baseline="-25000" dirty="0"/>
              <a:t> = </a:t>
            </a:r>
            <a:r>
              <a:rPr lang="es-ES_tradnl" sz="3200" baseline="-25000" dirty="0" err="1"/>
              <a:t>p.noEmp</a:t>
            </a:r>
            <a:r>
              <a:rPr lang="es-ES_tradnl" sz="3200" baseline="-25000" dirty="0"/>
              <a:t> </a:t>
            </a:r>
            <a:r>
              <a:rPr lang="es-ES_tradnl" sz="3200" dirty="0"/>
              <a:t>(</a:t>
            </a:r>
            <a:r>
              <a:rPr lang="es-ES_tradnl" sz="3200" dirty="0" err="1"/>
              <a:t>PxE</a:t>
            </a:r>
            <a:r>
              <a:rPr lang="es-ES_tradnl" sz="3200" dirty="0"/>
              <a:t>)</a:t>
            </a:r>
            <a:r>
              <a:rPr lang="es-ES_tradnl" sz="3200" dirty="0">
                <a:solidFill>
                  <a:srgbClr val="3366FF"/>
                </a:solidFill>
              </a:rPr>
              <a:t>)</a:t>
            </a:r>
            <a:r>
              <a:rPr lang="es-ES_tradnl" sz="3200" dirty="0">
                <a:solidFill>
                  <a:srgbClr val="008000"/>
                </a:solidFill>
              </a:rPr>
              <a:t>)</a:t>
            </a:r>
            <a:r>
              <a:rPr lang="es-ES_tradnl" sz="3200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33" name="Curved Connector 32"/>
          <p:cNvCxnSpPr>
            <a:endCxn id="32" idx="0"/>
          </p:cNvCxnSpPr>
          <p:nvPr/>
        </p:nvCxnSpPr>
        <p:spPr>
          <a:xfrm>
            <a:off x="4823561" y="3501958"/>
            <a:ext cx="3171548" cy="678797"/>
          </a:xfrm>
          <a:prstGeom prst="bentConnector2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39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 #2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1330" y="4219238"/>
            <a:ext cx="6536839" cy="2062103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s-ES_tradnl" sz="3200" dirty="0"/>
              <a:t>π</a:t>
            </a:r>
            <a:r>
              <a:rPr lang="es-ES_tradnl" sz="3200" baseline="-25000" dirty="0" err="1"/>
              <a:t>p.noProp</a:t>
            </a:r>
            <a:r>
              <a:rPr lang="es-ES_tradnl" sz="3200" dirty="0">
                <a:solidFill>
                  <a:srgbClr val="FF0000"/>
                </a:solidFill>
              </a:rPr>
              <a:t>(</a:t>
            </a:r>
          </a:p>
          <a:p>
            <a:r>
              <a:rPr lang="es-ES_tradnl" sz="3200" dirty="0"/>
              <a:t>     </a:t>
            </a:r>
            <a:r>
              <a:rPr lang="es-ES_tradnl" sz="3200" dirty="0" err="1"/>
              <a:t>σ</a:t>
            </a:r>
            <a:r>
              <a:rPr lang="es-ES_tradnl" sz="3200" baseline="-25000" dirty="0"/>
              <a:t> </a:t>
            </a:r>
            <a:r>
              <a:rPr lang="es-ES_tradnl" sz="3200" baseline="-25000" dirty="0" err="1"/>
              <a:t>p.distancia</a:t>
            </a:r>
            <a:r>
              <a:rPr lang="es-ES_tradnl" sz="3200" baseline="-25000" dirty="0"/>
              <a:t> &gt; 2 ^</a:t>
            </a:r>
            <a:r>
              <a:rPr lang="es-ES_tradnl" sz="3200" baseline="-25000" dirty="0" err="1"/>
              <a:t>p.ciudad</a:t>
            </a:r>
            <a:r>
              <a:rPr lang="es-ES_tradnl" sz="3200" baseline="-25000" dirty="0"/>
              <a:t>=“Guayaquil”</a:t>
            </a:r>
            <a:r>
              <a:rPr lang="es-ES_tradnl" sz="3200" dirty="0">
                <a:solidFill>
                  <a:srgbClr val="008000"/>
                </a:solidFill>
              </a:rPr>
              <a:t>(</a:t>
            </a:r>
          </a:p>
          <a:p>
            <a:r>
              <a:rPr lang="es-ES_tradnl" sz="3200" dirty="0"/>
              <a:t>          </a:t>
            </a:r>
            <a:r>
              <a:rPr lang="es-ES_tradnl" sz="3200" dirty="0" err="1"/>
              <a:t>σ</a:t>
            </a:r>
            <a:r>
              <a:rPr lang="es-ES_tradnl" sz="3200" baseline="-25000" dirty="0" err="1"/>
              <a:t>e.nombre</a:t>
            </a:r>
            <a:r>
              <a:rPr lang="es-ES_tradnl" sz="3200" baseline="-25000" dirty="0"/>
              <a:t> = “Juan” ^ </a:t>
            </a:r>
            <a:r>
              <a:rPr lang="es-ES_tradnl" sz="3200" baseline="-25000" dirty="0" err="1"/>
              <a:t>e.apellido</a:t>
            </a:r>
            <a:r>
              <a:rPr lang="es-ES_tradnl" sz="3200" baseline="-25000" dirty="0"/>
              <a:t>=“Castro”</a:t>
            </a:r>
            <a:r>
              <a:rPr lang="es-ES_tradnl" sz="3200" dirty="0">
                <a:solidFill>
                  <a:srgbClr val="3366FF"/>
                </a:solidFill>
              </a:rPr>
              <a:t>(</a:t>
            </a:r>
            <a:r>
              <a:rPr lang="es-ES_tradnl" sz="3200" dirty="0"/>
              <a:t> </a:t>
            </a:r>
          </a:p>
          <a:p>
            <a:r>
              <a:rPr lang="es-ES_tradnl" sz="3200" dirty="0"/>
              <a:t>              </a:t>
            </a:r>
            <a:r>
              <a:rPr lang="es-ES_tradnl" sz="3200" dirty="0" err="1"/>
              <a:t>σ</a:t>
            </a:r>
            <a:r>
              <a:rPr lang="es-ES_tradnl" sz="3200" baseline="-25000" dirty="0" err="1"/>
              <a:t>e.noEmp</a:t>
            </a:r>
            <a:r>
              <a:rPr lang="es-ES_tradnl" sz="3200" baseline="-25000" dirty="0"/>
              <a:t> = </a:t>
            </a:r>
            <a:r>
              <a:rPr lang="es-ES_tradnl" sz="3200" baseline="-25000" dirty="0" err="1"/>
              <a:t>p.noEmp</a:t>
            </a:r>
            <a:r>
              <a:rPr lang="es-ES_tradnl" sz="3200" baseline="-25000" dirty="0"/>
              <a:t> </a:t>
            </a:r>
            <a:r>
              <a:rPr lang="es-ES_tradnl" sz="3200" dirty="0"/>
              <a:t>(</a:t>
            </a:r>
            <a:r>
              <a:rPr lang="es-ES_tradnl" sz="3200" dirty="0" err="1"/>
              <a:t>PxE</a:t>
            </a:r>
            <a:r>
              <a:rPr lang="es-ES_tradnl" sz="3200" dirty="0"/>
              <a:t>)</a:t>
            </a:r>
            <a:r>
              <a:rPr lang="es-ES_tradnl" sz="3200" dirty="0">
                <a:solidFill>
                  <a:srgbClr val="3366FF"/>
                </a:solidFill>
              </a:rPr>
              <a:t>)</a:t>
            </a:r>
            <a:r>
              <a:rPr lang="es-ES_tradnl" sz="3200" dirty="0">
                <a:solidFill>
                  <a:srgbClr val="008000"/>
                </a:solidFill>
              </a:rPr>
              <a:t>)</a:t>
            </a:r>
            <a:r>
              <a:rPr lang="es-ES_tradnl" sz="3200" dirty="0">
                <a:solidFill>
                  <a:srgbClr val="FF0000"/>
                </a:solidFill>
              </a:rPr>
              <a:t>)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6980261" y="1249585"/>
            <a:ext cx="4957402" cy="5085936"/>
            <a:chOff x="6980261" y="1249585"/>
            <a:chExt cx="4957402" cy="5085936"/>
          </a:xfrm>
        </p:grpSpPr>
        <p:sp>
          <p:nvSpPr>
            <p:cNvPr id="4" name="TextBox 3"/>
            <p:cNvSpPr txBox="1"/>
            <p:nvPr/>
          </p:nvSpPr>
          <p:spPr>
            <a:xfrm>
              <a:off x="9178335" y="1249585"/>
              <a:ext cx="697243" cy="57674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π</a:t>
              </a:r>
              <a:r>
                <a:rPr lang="es-ES_tradnl" sz="3200" baseline="-25000" dirty="0" err="1"/>
                <a:t>a,d</a:t>
              </a:r>
              <a:endParaRPr lang="es-ES_tradnl" sz="320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344855" y="4718310"/>
              <a:ext cx="36420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x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070280" y="5750746"/>
              <a:ext cx="3966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P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689916" y="5723415"/>
              <a:ext cx="3850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E</a:t>
              </a:r>
            </a:p>
          </p:txBody>
        </p:sp>
        <p:cxnSp>
          <p:nvCxnSpPr>
            <p:cNvPr id="9" name="Straight Connector 8"/>
            <p:cNvCxnSpPr>
              <a:stCxn id="5" idx="2"/>
              <a:endCxn id="6" idx="0"/>
            </p:cNvCxnSpPr>
            <p:nvPr/>
          </p:nvCxnSpPr>
          <p:spPr>
            <a:xfrm flipH="1">
              <a:off x="9268612" y="5303086"/>
              <a:ext cx="258344" cy="44766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5" idx="2"/>
              <a:endCxn id="7" idx="0"/>
            </p:cNvCxnSpPr>
            <p:nvPr/>
          </p:nvCxnSpPr>
          <p:spPr>
            <a:xfrm>
              <a:off x="9526956" y="5303086"/>
              <a:ext cx="355481" cy="42032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980261" y="3035028"/>
              <a:ext cx="48983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 err="1"/>
                <a:t>σ</a:t>
              </a:r>
              <a:r>
                <a:rPr lang="es-ES_tradnl" sz="3200" baseline="-25000" dirty="0" err="1"/>
                <a:t>e.nombre</a:t>
              </a:r>
              <a:r>
                <a:rPr lang="es-ES_tradnl" sz="3200" baseline="-25000" dirty="0"/>
                <a:t>=“Juan” ^ </a:t>
              </a:r>
              <a:r>
                <a:rPr lang="es-ES_tradnl" sz="3200" baseline="-25000" dirty="0" err="1"/>
                <a:t>e.apellido</a:t>
              </a:r>
              <a:r>
                <a:rPr lang="es-ES_tradnl" sz="3200" baseline="-25000" dirty="0"/>
                <a:t> = “Castro”</a:t>
              </a:r>
              <a:endParaRPr lang="es-ES_tradnl" sz="32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64532" y="3842345"/>
              <a:ext cx="2524848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 err="1"/>
                <a:t>σ</a:t>
              </a:r>
              <a:r>
                <a:rPr lang="es-ES_tradnl" sz="3200" baseline="-25000" dirty="0" err="1"/>
                <a:t>e.noEmp</a:t>
              </a:r>
              <a:r>
                <a:rPr lang="es-ES_tradnl" sz="3200" baseline="-25000" dirty="0"/>
                <a:t>=</a:t>
              </a:r>
              <a:r>
                <a:rPr lang="es-ES_tradnl" sz="3200" baseline="-25000" dirty="0" err="1"/>
                <a:t>p.noEmp</a:t>
              </a:r>
              <a:endParaRPr lang="es-ES_tradnl" sz="3200" dirty="0"/>
            </a:p>
          </p:txBody>
        </p:sp>
        <p:cxnSp>
          <p:nvCxnSpPr>
            <p:cNvPr id="24" name="Straight Connector 23"/>
            <p:cNvCxnSpPr>
              <a:stCxn id="28" idx="2"/>
              <a:endCxn id="15" idx="0"/>
            </p:cNvCxnSpPr>
            <p:nvPr/>
          </p:nvCxnSpPr>
          <p:spPr>
            <a:xfrm flipH="1">
              <a:off x="9429457" y="2758818"/>
              <a:ext cx="97499" cy="27621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5" idx="0"/>
              <a:endCxn id="16" idx="2"/>
            </p:cNvCxnSpPr>
            <p:nvPr/>
          </p:nvCxnSpPr>
          <p:spPr>
            <a:xfrm flipV="1">
              <a:off x="9526956" y="4427121"/>
              <a:ext cx="0" cy="29118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5" idx="2"/>
              <a:endCxn id="16" idx="0"/>
            </p:cNvCxnSpPr>
            <p:nvPr/>
          </p:nvCxnSpPr>
          <p:spPr>
            <a:xfrm>
              <a:off x="9429457" y="3619803"/>
              <a:ext cx="97499" cy="22254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7116249" y="2174042"/>
              <a:ext cx="4821414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 err="1"/>
                <a:t>σ</a:t>
              </a:r>
              <a:r>
                <a:rPr lang="es-ES_tradnl" sz="3200" baseline="-25000" dirty="0" err="1"/>
                <a:t>p.distancia</a:t>
              </a:r>
              <a:r>
                <a:rPr lang="es-ES_tradnl" sz="3200" baseline="-25000" dirty="0"/>
                <a:t> &gt; 2 ^ </a:t>
              </a:r>
              <a:r>
                <a:rPr lang="es-ES_tradnl" sz="3200" baseline="-25000" dirty="0" err="1"/>
                <a:t>p.ciudad</a:t>
              </a:r>
              <a:r>
                <a:rPr lang="es-ES_tradnl" sz="3200" baseline="-25000" dirty="0"/>
                <a:t> = “Guayaquil”</a:t>
              </a:r>
              <a:endParaRPr lang="es-ES_tradnl" sz="3200" dirty="0"/>
            </a:p>
          </p:txBody>
        </p:sp>
        <p:cxnSp>
          <p:nvCxnSpPr>
            <p:cNvPr id="31" name="Straight Connector 30"/>
            <p:cNvCxnSpPr>
              <a:stCxn id="28" idx="0"/>
              <a:endCxn id="4" idx="2"/>
            </p:cNvCxnSpPr>
            <p:nvPr/>
          </p:nvCxnSpPr>
          <p:spPr>
            <a:xfrm flipV="1">
              <a:off x="9526956" y="1826334"/>
              <a:ext cx="1" cy="347708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078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0064" y="1814002"/>
            <a:ext cx="1437011" cy="58477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_tradnl" sz="3200" dirty="0"/>
              <a:t>π</a:t>
            </a:r>
            <a:r>
              <a:rPr lang="es-ES_tradnl" sz="3200" baseline="-25000" dirty="0" err="1"/>
              <a:t>p.noProp</a:t>
            </a:r>
            <a:endParaRPr lang="es-ES_tradnl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6278815" y="2768502"/>
            <a:ext cx="5347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/>
              <a:t>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2461" y="5648272"/>
            <a:ext cx="3966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/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63936" y="5738068"/>
            <a:ext cx="385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/>
              <a:t>E</a:t>
            </a:r>
          </a:p>
        </p:txBody>
      </p:sp>
      <p:cxnSp>
        <p:nvCxnSpPr>
          <p:cNvPr id="9" name="Straight Connector 8"/>
          <p:cNvCxnSpPr>
            <a:stCxn id="5" idx="2"/>
            <a:endCxn id="56" idx="0"/>
          </p:cNvCxnSpPr>
          <p:nvPr/>
        </p:nvCxnSpPr>
        <p:spPr>
          <a:xfrm flipH="1">
            <a:off x="3791288" y="3353278"/>
            <a:ext cx="2754888" cy="686767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2"/>
            <a:endCxn id="64" idx="0"/>
          </p:cNvCxnSpPr>
          <p:nvPr/>
        </p:nvCxnSpPr>
        <p:spPr>
          <a:xfrm>
            <a:off x="6546176" y="3353278"/>
            <a:ext cx="2810061" cy="743630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13489" y="4913037"/>
            <a:ext cx="48983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 err="1"/>
              <a:t>σ</a:t>
            </a:r>
            <a:r>
              <a:rPr lang="es-ES_tradnl" sz="3200" baseline="-25000" dirty="0" err="1"/>
              <a:t>e.nombre</a:t>
            </a:r>
            <a:r>
              <a:rPr lang="es-ES_tradnl" sz="3200" baseline="-25000" dirty="0"/>
              <a:t>=“Juan” ^ </a:t>
            </a:r>
            <a:r>
              <a:rPr lang="es-ES_tradnl" sz="3200" baseline="-25000" dirty="0" err="1"/>
              <a:t>e.apellido</a:t>
            </a:r>
            <a:r>
              <a:rPr lang="es-ES_tradnl" sz="3200" baseline="-25000" dirty="0"/>
              <a:t> = “Castro”</a:t>
            </a:r>
            <a:endParaRPr lang="es-ES_tradnl" sz="3200" dirty="0"/>
          </a:p>
        </p:txBody>
      </p:sp>
      <p:cxnSp>
        <p:nvCxnSpPr>
          <p:cNvPr id="24" name="Straight Connector 23"/>
          <p:cNvCxnSpPr>
            <a:stCxn id="28" idx="2"/>
            <a:endCxn id="6" idx="0"/>
          </p:cNvCxnSpPr>
          <p:nvPr/>
        </p:nvCxnSpPr>
        <p:spPr>
          <a:xfrm flipH="1">
            <a:off x="3790793" y="5497813"/>
            <a:ext cx="1772" cy="150459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7" idx="0"/>
            <a:endCxn id="15" idx="2"/>
          </p:cNvCxnSpPr>
          <p:nvPr/>
        </p:nvCxnSpPr>
        <p:spPr>
          <a:xfrm flipH="1" flipV="1">
            <a:off x="9262685" y="5497812"/>
            <a:ext cx="93772" cy="240256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81858" y="4913037"/>
            <a:ext cx="482141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 err="1"/>
              <a:t>σ</a:t>
            </a:r>
            <a:r>
              <a:rPr lang="es-ES_tradnl" sz="3200" baseline="-25000" dirty="0" err="1"/>
              <a:t>p.distancia</a:t>
            </a:r>
            <a:r>
              <a:rPr lang="es-ES_tradnl" sz="3200" baseline="-25000" dirty="0"/>
              <a:t> &gt; 2 ^ </a:t>
            </a:r>
            <a:r>
              <a:rPr lang="es-ES_tradnl" sz="3200" baseline="-25000" dirty="0" err="1"/>
              <a:t>p.ciudad</a:t>
            </a:r>
            <a:r>
              <a:rPr lang="es-ES_tradnl" sz="3200" baseline="-25000" dirty="0"/>
              <a:t> = “Guayaquil”</a:t>
            </a:r>
            <a:endParaRPr lang="es-ES_tradnl" sz="3200" dirty="0"/>
          </a:p>
        </p:txBody>
      </p:sp>
      <p:cxnSp>
        <p:nvCxnSpPr>
          <p:cNvPr id="31" name="Straight Connector 30"/>
          <p:cNvCxnSpPr>
            <a:stCxn id="5" idx="0"/>
            <a:endCxn id="4" idx="2"/>
          </p:cNvCxnSpPr>
          <p:nvPr/>
        </p:nvCxnSpPr>
        <p:spPr>
          <a:xfrm flipV="1">
            <a:off x="6546176" y="2398778"/>
            <a:ext cx="2394" cy="369724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475263" y="4040045"/>
            <a:ext cx="2632049" cy="58477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_tradnl" sz="3200" dirty="0"/>
              <a:t>π</a:t>
            </a:r>
            <a:r>
              <a:rPr lang="es-ES_tradnl" sz="3200" baseline="-25000" dirty="0" err="1"/>
              <a:t>p.noProp</a:t>
            </a:r>
            <a:r>
              <a:rPr lang="es-ES_tradnl" sz="3200" baseline="-25000" dirty="0"/>
              <a:t>, </a:t>
            </a:r>
            <a:r>
              <a:rPr lang="es-ES_tradnl" sz="3200" baseline="-25000" dirty="0" err="1"/>
              <a:t>p.noEmp</a:t>
            </a:r>
            <a:endParaRPr lang="es-ES_tradnl" sz="3200" dirty="0"/>
          </a:p>
        </p:txBody>
      </p:sp>
      <p:cxnSp>
        <p:nvCxnSpPr>
          <p:cNvPr id="59" name="Straight Connector 58"/>
          <p:cNvCxnSpPr>
            <a:stCxn id="56" idx="2"/>
            <a:endCxn id="28" idx="0"/>
          </p:cNvCxnSpPr>
          <p:nvPr/>
        </p:nvCxnSpPr>
        <p:spPr>
          <a:xfrm>
            <a:off x="3791288" y="4624821"/>
            <a:ext cx="1277" cy="288216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655965" y="4096908"/>
            <a:ext cx="1400543" cy="58477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_tradnl" sz="3200" dirty="0"/>
              <a:t>π</a:t>
            </a:r>
            <a:r>
              <a:rPr lang="es-ES_tradnl" sz="3200" baseline="-25000" dirty="0" err="1"/>
              <a:t>e.noEmp</a:t>
            </a:r>
            <a:endParaRPr lang="es-ES_tradnl" sz="3200" dirty="0"/>
          </a:p>
        </p:txBody>
      </p:sp>
      <p:cxnSp>
        <p:nvCxnSpPr>
          <p:cNvPr id="65" name="Straight Connector 64"/>
          <p:cNvCxnSpPr>
            <a:stCxn id="64" idx="2"/>
            <a:endCxn id="15" idx="0"/>
          </p:cNvCxnSpPr>
          <p:nvPr/>
        </p:nvCxnSpPr>
        <p:spPr>
          <a:xfrm flipH="1">
            <a:off x="9262685" y="4681684"/>
            <a:ext cx="93552" cy="231353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556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9305485" cy="4621635"/>
          </a:xfrm>
        </p:spPr>
        <p:txBody>
          <a:bodyPr>
            <a:normAutofit lnSpcReduction="10000"/>
          </a:bodyPr>
          <a:lstStyle/>
          <a:p>
            <a:r>
              <a:rPr lang="es-ES_tradnl" b="1" dirty="0"/>
              <a:t>Esquema: </a:t>
            </a:r>
            <a:r>
              <a:rPr lang="es-ES_tradnl" dirty="0"/>
              <a:t> </a:t>
            </a:r>
          </a:p>
          <a:p>
            <a:pPr lvl="2">
              <a:buClr>
                <a:srgbClr val="0000FF"/>
              </a:buClr>
              <a:buFont typeface="Wingdings" charset="2"/>
              <a:buChar char="v"/>
            </a:pPr>
            <a:r>
              <a:rPr lang="es-ES_tradnl" sz="2000" dirty="0"/>
              <a:t>Fruta  (</a:t>
            </a:r>
            <a:r>
              <a:rPr lang="es-ES_tradnl" sz="2000" u="sng" dirty="0" err="1"/>
              <a:t>fId</a:t>
            </a:r>
            <a:r>
              <a:rPr lang="es-ES_tradnl" sz="2000" dirty="0"/>
              <a:t> </a:t>
            </a:r>
            <a:r>
              <a:rPr lang="es-ES_tradnl" sz="2000" dirty="0" err="1"/>
              <a:t>int</a:t>
            </a:r>
            <a:r>
              <a:rPr lang="es-ES_tradnl" sz="2000" dirty="0"/>
              <a:t>, Nombre </a:t>
            </a:r>
            <a:r>
              <a:rPr lang="es-ES_tradnl" sz="2000" dirty="0" err="1"/>
              <a:t>varchar</a:t>
            </a:r>
            <a:r>
              <a:rPr lang="es-ES_tradnl" sz="2000" dirty="0"/>
              <a:t>(12), </a:t>
            </a:r>
            <a:r>
              <a:rPr lang="es-ES_tradnl" sz="2000" dirty="0" err="1"/>
              <a:t>fCalorias</a:t>
            </a:r>
            <a:r>
              <a:rPr lang="es-ES_tradnl" sz="2000" dirty="0"/>
              <a:t> </a:t>
            </a:r>
            <a:r>
              <a:rPr lang="es-ES_tradnl" sz="2000" dirty="0" err="1"/>
              <a:t>int</a:t>
            </a:r>
            <a:r>
              <a:rPr lang="es-ES_tradnl" sz="2000" dirty="0"/>
              <a:t>, observaciones </a:t>
            </a:r>
            <a:r>
              <a:rPr lang="es-ES_tradnl" sz="2000" dirty="0" err="1"/>
              <a:t>varchar</a:t>
            </a:r>
            <a:r>
              <a:rPr lang="es-ES_tradnl" sz="2000" dirty="0"/>
              <a:t>(60))</a:t>
            </a:r>
          </a:p>
          <a:p>
            <a:pPr lvl="2">
              <a:buClr>
                <a:srgbClr val="0000FF"/>
              </a:buClr>
              <a:buFont typeface="Wingdings" charset="2"/>
              <a:buChar char="v"/>
            </a:pPr>
            <a:r>
              <a:rPr lang="es-ES_tradnl" sz="2000" dirty="0" err="1"/>
              <a:t>TieneFruta</a:t>
            </a:r>
            <a:r>
              <a:rPr lang="es-ES_tradnl" sz="2000" dirty="0"/>
              <a:t> (</a:t>
            </a:r>
            <a:r>
              <a:rPr lang="es-ES_tradnl" sz="2000" u="sng" dirty="0" err="1"/>
              <a:t>tId</a:t>
            </a:r>
            <a:r>
              <a:rPr lang="es-ES_tradnl" sz="2000" dirty="0"/>
              <a:t> </a:t>
            </a:r>
            <a:r>
              <a:rPr lang="es-ES_tradnl" sz="2000" dirty="0" err="1"/>
              <a:t>int</a:t>
            </a:r>
            <a:r>
              <a:rPr lang="es-ES_tradnl" sz="2000" dirty="0"/>
              <a:t>, stock </a:t>
            </a:r>
            <a:r>
              <a:rPr lang="es-ES_tradnl" sz="2000" dirty="0" err="1"/>
              <a:t>int</a:t>
            </a:r>
            <a:r>
              <a:rPr lang="es-ES_tradnl" sz="2000" dirty="0"/>
              <a:t>, </a:t>
            </a:r>
            <a:r>
              <a:rPr lang="es-ES_tradnl" sz="2000" dirty="0" err="1"/>
              <a:t>tPrecio</a:t>
            </a:r>
            <a:r>
              <a:rPr lang="es-ES_tradnl" sz="2000" dirty="0"/>
              <a:t> </a:t>
            </a:r>
            <a:r>
              <a:rPr lang="es-ES_tradnl" sz="2000" dirty="0" err="1"/>
              <a:t>int</a:t>
            </a:r>
            <a:r>
              <a:rPr lang="es-ES_tradnl" sz="2000" dirty="0"/>
              <a:t>, </a:t>
            </a:r>
            <a:r>
              <a:rPr lang="es-ES_tradnl" sz="2000" dirty="0" err="1"/>
              <a:t>fId</a:t>
            </a:r>
            <a:r>
              <a:rPr lang="es-ES_tradnl" sz="2000" dirty="0"/>
              <a:t> </a:t>
            </a:r>
            <a:r>
              <a:rPr lang="es-ES_tradnl" sz="2000" dirty="0" err="1"/>
              <a:t>int</a:t>
            </a:r>
            <a:r>
              <a:rPr lang="es-ES_tradnl" sz="2000" dirty="0"/>
              <a:t>)   </a:t>
            </a:r>
          </a:p>
          <a:p>
            <a:pPr lvl="2">
              <a:buClr>
                <a:srgbClr val="0000FF"/>
              </a:buClr>
              <a:buFont typeface="Wingdings" charset="2"/>
              <a:buChar char="v"/>
            </a:pPr>
            <a:r>
              <a:rPr lang="es-ES_tradnl" sz="2000" dirty="0"/>
              <a:t>Sucursal (</a:t>
            </a:r>
            <a:r>
              <a:rPr lang="es-ES_tradnl" sz="2000" u="sng" dirty="0" err="1"/>
              <a:t>sId</a:t>
            </a:r>
            <a:r>
              <a:rPr lang="es-ES_tradnl" sz="2000" dirty="0"/>
              <a:t> </a:t>
            </a:r>
            <a:r>
              <a:rPr lang="es-ES_tradnl" sz="2000" dirty="0" err="1"/>
              <a:t>int</a:t>
            </a:r>
            <a:r>
              <a:rPr lang="es-ES_tradnl" sz="2000" dirty="0"/>
              <a:t>, nombre </a:t>
            </a:r>
            <a:r>
              <a:rPr lang="es-ES_tradnl" sz="2000" dirty="0" err="1"/>
              <a:t>varchar</a:t>
            </a:r>
            <a:r>
              <a:rPr lang="es-ES_tradnl" sz="2000" dirty="0"/>
              <a:t>(60), Abre24 </a:t>
            </a:r>
            <a:r>
              <a:rPr lang="es-ES_tradnl" sz="2000" dirty="0" err="1"/>
              <a:t>bool</a:t>
            </a:r>
            <a:r>
              <a:rPr lang="es-ES_tradnl" sz="2000" dirty="0"/>
              <a:t>, </a:t>
            </a:r>
            <a:r>
              <a:rPr lang="es-ES_tradnl" sz="2000" dirty="0" err="1"/>
              <a:t>direccion</a:t>
            </a:r>
            <a:r>
              <a:rPr lang="es-ES_tradnl" sz="2000" dirty="0"/>
              <a:t> </a:t>
            </a:r>
            <a:r>
              <a:rPr lang="es-ES_tradnl" sz="2000" dirty="0" err="1"/>
              <a:t>varchar</a:t>
            </a:r>
            <a:r>
              <a:rPr lang="es-ES_tradnl" sz="2000" dirty="0"/>
              <a:t>(60), </a:t>
            </a:r>
            <a:r>
              <a:rPr lang="es-ES_tradnl" sz="2000" dirty="0" err="1"/>
              <a:t>tId</a:t>
            </a:r>
            <a:r>
              <a:rPr lang="es-ES_tradnl" sz="2000" dirty="0"/>
              <a:t>   </a:t>
            </a:r>
            <a:r>
              <a:rPr lang="es-ES_tradnl" sz="2000" dirty="0" err="1"/>
              <a:t>int</a:t>
            </a:r>
            <a:r>
              <a:rPr lang="es-ES_tradnl" sz="2000" dirty="0"/>
              <a:t>)  </a:t>
            </a:r>
          </a:p>
          <a:p>
            <a:r>
              <a:rPr lang="es-ES_tradnl" b="1" dirty="0">
                <a:solidFill>
                  <a:srgbClr val="000000"/>
                </a:solidFill>
              </a:rPr>
              <a:t>Muestre el nombre de las frutas que cueste menos de $10 y que no tenga mas de 100 </a:t>
            </a:r>
            <a:r>
              <a:rPr lang="es-ES_tradnl" b="1" dirty="0" err="1">
                <a:solidFill>
                  <a:srgbClr val="000000"/>
                </a:solidFill>
              </a:rPr>
              <a:t>calorias</a:t>
            </a:r>
            <a:r>
              <a:rPr lang="es-ES_tradnl" b="1" dirty="0">
                <a:solidFill>
                  <a:srgbClr val="000000"/>
                </a:solidFill>
              </a:rPr>
              <a:t>. Además debe ser una fruta que pueda comprarse las 24 horas.</a:t>
            </a:r>
          </a:p>
          <a:p>
            <a:r>
              <a:rPr lang="es-ES_tradnl" b="1" dirty="0"/>
              <a:t>SELECT</a:t>
            </a:r>
            <a:r>
              <a:rPr lang="es-ES_tradnl" dirty="0"/>
              <a:t> </a:t>
            </a:r>
            <a:r>
              <a:rPr lang="es-ES_tradnl" dirty="0" err="1"/>
              <a:t>f.fNombre</a:t>
            </a:r>
            <a:r>
              <a:rPr lang="es-ES_tradnl" dirty="0"/>
              <a:t> </a:t>
            </a:r>
            <a:r>
              <a:rPr lang="es-ES_tradnl" b="1" dirty="0"/>
              <a:t>FROM</a:t>
            </a:r>
            <a:r>
              <a:rPr lang="es-ES_tradnl" dirty="0"/>
              <a:t> fruta f </a:t>
            </a:r>
          </a:p>
          <a:p>
            <a:r>
              <a:rPr lang="es-ES_tradnl" b="1" dirty="0"/>
              <a:t>JOIN</a:t>
            </a:r>
            <a:r>
              <a:rPr lang="es-ES_tradnl" dirty="0"/>
              <a:t> </a:t>
            </a:r>
            <a:r>
              <a:rPr lang="es-ES_tradnl" dirty="0" err="1"/>
              <a:t>TieneFruta</a:t>
            </a:r>
            <a:r>
              <a:rPr lang="es-ES_tradnl" dirty="0"/>
              <a:t> t </a:t>
            </a:r>
            <a:r>
              <a:rPr lang="es-ES_tradnl" b="1" dirty="0"/>
              <a:t>ON </a:t>
            </a:r>
            <a:r>
              <a:rPr lang="es-ES_tradnl" dirty="0" err="1"/>
              <a:t>f.fId</a:t>
            </a:r>
            <a:r>
              <a:rPr lang="es-ES_tradnl" dirty="0"/>
              <a:t> = </a:t>
            </a:r>
            <a:r>
              <a:rPr lang="es-ES_tradnl" dirty="0" err="1"/>
              <a:t>t.fId</a:t>
            </a:r>
            <a:endParaRPr lang="es-ES_tradnl" dirty="0"/>
          </a:p>
          <a:p>
            <a:r>
              <a:rPr lang="es-ES_tradnl" b="1" dirty="0"/>
              <a:t>JOIN</a:t>
            </a:r>
            <a:r>
              <a:rPr lang="es-ES_tradnl" dirty="0"/>
              <a:t> sucursal s </a:t>
            </a:r>
            <a:r>
              <a:rPr lang="es-ES_tradnl" b="1" dirty="0"/>
              <a:t>ON</a:t>
            </a:r>
            <a:r>
              <a:rPr lang="es-ES_tradnl" dirty="0"/>
              <a:t> </a:t>
            </a:r>
            <a:r>
              <a:rPr lang="es-ES_tradnl" dirty="0" err="1"/>
              <a:t>t.tId</a:t>
            </a:r>
            <a:r>
              <a:rPr lang="es-ES_tradnl" dirty="0"/>
              <a:t> = </a:t>
            </a:r>
            <a:r>
              <a:rPr lang="es-ES_tradnl" dirty="0" err="1"/>
              <a:t>s.tId</a:t>
            </a:r>
            <a:endParaRPr lang="es-ES_tradnl" dirty="0"/>
          </a:p>
          <a:p>
            <a:r>
              <a:rPr lang="es-ES_tradnl" b="1" dirty="0"/>
              <a:t>WHERE</a:t>
            </a:r>
            <a:r>
              <a:rPr lang="es-ES_tradnl" dirty="0"/>
              <a:t> </a:t>
            </a:r>
            <a:r>
              <a:rPr lang="es-ES_tradnl" dirty="0" err="1"/>
              <a:t>f.fCalorias</a:t>
            </a:r>
            <a:r>
              <a:rPr lang="es-ES_tradnl" dirty="0"/>
              <a:t> &lt;=100</a:t>
            </a:r>
          </a:p>
          <a:p>
            <a:r>
              <a:rPr lang="es-ES_tradnl" b="1" dirty="0"/>
              <a:t>AND</a:t>
            </a:r>
            <a:r>
              <a:rPr lang="es-ES_tradnl" dirty="0"/>
              <a:t> </a:t>
            </a:r>
            <a:r>
              <a:rPr lang="es-ES_tradnl" dirty="0" err="1"/>
              <a:t>t.tPrecio</a:t>
            </a:r>
            <a:r>
              <a:rPr lang="es-ES_tradnl" dirty="0"/>
              <a:t>&lt;10 </a:t>
            </a:r>
          </a:p>
          <a:p>
            <a:r>
              <a:rPr lang="es-ES_tradnl" b="1" dirty="0"/>
              <a:t>AND</a:t>
            </a:r>
            <a:r>
              <a:rPr lang="es-ES_tradnl" dirty="0"/>
              <a:t> s.Abre24=True;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EJERCICIO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71502" y="3796389"/>
            <a:ext cx="7520498" cy="2554545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s-ES_tradnl" sz="3200" dirty="0"/>
              <a:t>π</a:t>
            </a:r>
            <a:r>
              <a:rPr lang="es-ES_tradnl" sz="3200" baseline="-25000" dirty="0" err="1"/>
              <a:t>f.Nombre</a:t>
            </a:r>
            <a:endParaRPr lang="es-ES_tradnl" sz="3200" baseline="-25000" dirty="0"/>
          </a:p>
          <a:p>
            <a:r>
              <a:rPr lang="es-ES_tradnl" sz="3200" baseline="-25000" dirty="0">
                <a:solidFill>
                  <a:srgbClr val="FF0000"/>
                </a:solidFill>
              </a:rPr>
              <a:t>       </a:t>
            </a:r>
            <a:r>
              <a:rPr lang="es-ES_tradnl" sz="3200" dirty="0">
                <a:solidFill>
                  <a:srgbClr val="FF0000"/>
                </a:solidFill>
              </a:rPr>
              <a:t>( </a:t>
            </a:r>
            <a:r>
              <a:rPr lang="es-ES_tradnl" sz="3200" dirty="0" err="1"/>
              <a:t>σ</a:t>
            </a:r>
            <a:r>
              <a:rPr lang="es-ES_tradnl" sz="3200" baseline="-25000" dirty="0"/>
              <a:t> </a:t>
            </a:r>
            <a:r>
              <a:rPr lang="es-ES_tradnl" sz="3200" baseline="-25000" dirty="0" err="1"/>
              <a:t>f.fCalorias</a:t>
            </a:r>
            <a:r>
              <a:rPr lang="es-ES_tradnl" sz="3200" baseline="-25000" dirty="0"/>
              <a:t>&lt;=100</a:t>
            </a:r>
            <a:endParaRPr lang="es-ES_tradnl" sz="3200" dirty="0"/>
          </a:p>
          <a:p>
            <a:r>
              <a:rPr lang="es-ES_tradnl" sz="3200" dirty="0">
                <a:solidFill>
                  <a:srgbClr val="008000"/>
                </a:solidFill>
              </a:rPr>
              <a:t>         ( </a:t>
            </a:r>
            <a:r>
              <a:rPr lang="es-ES_tradnl" sz="3200" dirty="0" err="1"/>
              <a:t>σ</a:t>
            </a:r>
            <a:r>
              <a:rPr lang="es-ES_tradnl" sz="3200" baseline="-25000" dirty="0" err="1"/>
              <a:t>t.tprecio</a:t>
            </a:r>
            <a:r>
              <a:rPr lang="es-ES_tradnl" sz="3200" baseline="-25000" dirty="0"/>
              <a:t>&lt;10 </a:t>
            </a:r>
          </a:p>
          <a:p>
            <a:r>
              <a:rPr lang="es-ES_tradnl" sz="3200" baseline="-25000" dirty="0">
                <a:solidFill>
                  <a:srgbClr val="3366FF"/>
                </a:solidFill>
              </a:rPr>
              <a:t>                   </a:t>
            </a:r>
            <a:r>
              <a:rPr lang="es-ES_tradnl" sz="3200" dirty="0">
                <a:solidFill>
                  <a:srgbClr val="3366FF"/>
                </a:solidFill>
              </a:rPr>
              <a:t>(</a:t>
            </a:r>
            <a:r>
              <a:rPr lang="es-ES_tradnl" sz="3200" dirty="0"/>
              <a:t>σ</a:t>
            </a:r>
            <a:r>
              <a:rPr lang="es-ES_tradnl" sz="3200" baseline="-25000" dirty="0"/>
              <a:t>s.Abre24 = True</a:t>
            </a:r>
            <a:endParaRPr lang="es-ES_tradnl" sz="3200" dirty="0"/>
          </a:p>
          <a:p>
            <a:r>
              <a:rPr lang="es-ES_tradnl" sz="3200" dirty="0"/>
              <a:t>                  (Fruta ∞ </a:t>
            </a:r>
            <a:r>
              <a:rPr lang="es-ES_tradnl" sz="3200" dirty="0" err="1"/>
              <a:t>TieneFruta</a:t>
            </a:r>
            <a:r>
              <a:rPr lang="es-ES_tradnl" sz="3200" dirty="0"/>
              <a:t>∞ Sucursal)</a:t>
            </a:r>
            <a:r>
              <a:rPr lang="es-ES_tradnl" sz="3200" dirty="0">
                <a:solidFill>
                  <a:srgbClr val="3366FF"/>
                </a:solidFill>
              </a:rPr>
              <a:t>)</a:t>
            </a:r>
            <a:r>
              <a:rPr lang="es-ES_tradnl" sz="3200" dirty="0">
                <a:solidFill>
                  <a:srgbClr val="008000"/>
                </a:solidFill>
              </a:rPr>
              <a:t>)</a:t>
            </a:r>
            <a:r>
              <a:rPr lang="es-ES_tradnl" sz="3200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33" name="Curved Connector 32"/>
          <p:cNvCxnSpPr>
            <a:endCxn id="32" idx="1"/>
          </p:cNvCxnSpPr>
          <p:nvPr/>
        </p:nvCxnSpPr>
        <p:spPr>
          <a:xfrm flipV="1">
            <a:off x="3308571" y="5073662"/>
            <a:ext cx="1362931" cy="457859"/>
          </a:xfrm>
          <a:prstGeom prst="bentConnector3">
            <a:avLst>
              <a:gd name="adj1" fmla="val 50000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9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667088" y="1282768"/>
            <a:ext cx="10968471" cy="7183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963503" y="606089"/>
            <a:ext cx="1562179" cy="58477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C" sz="3200"/>
              <a:t>π</a:t>
            </a:r>
            <a:r>
              <a:rPr lang="es-EC" sz="3200" baseline="-25000"/>
              <a:t>f.fNombre</a:t>
            </a:r>
            <a:endParaRPr lang="es-EC" sz="3200"/>
          </a:p>
        </p:txBody>
      </p:sp>
      <p:sp>
        <p:nvSpPr>
          <p:cNvPr id="5" name="TextBox 4"/>
          <p:cNvSpPr txBox="1"/>
          <p:nvPr/>
        </p:nvSpPr>
        <p:spPr>
          <a:xfrm>
            <a:off x="6476399" y="1560589"/>
            <a:ext cx="5347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200"/>
              <a:t>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6384" y="5235527"/>
            <a:ext cx="157226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200"/>
              <a:t>Sucursal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458" y="4469618"/>
            <a:ext cx="106591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200"/>
              <a:t>Fruta</a:t>
            </a:r>
          </a:p>
        </p:txBody>
      </p:sp>
      <p:cxnSp>
        <p:nvCxnSpPr>
          <p:cNvPr id="9" name="Straight Connector 8"/>
          <p:cNvCxnSpPr>
            <a:stCxn id="60" idx="2"/>
            <a:endCxn id="56" idx="0"/>
          </p:cNvCxnSpPr>
          <p:nvPr/>
        </p:nvCxnSpPr>
        <p:spPr>
          <a:xfrm flipH="1">
            <a:off x="3659837" y="3157223"/>
            <a:ext cx="1209401" cy="410530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2"/>
            <a:endCxn id="64" idx="0"/>
          </p:cNvCxnSpPr>
          <p:nvPr/>
        </p:nvCxnSpPr>
        <p:spPr>
          <a:xfrm>
            <a:off x="6743760" y="2145365"/>
            <a:ext cx="1967702" cy="388596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24218" y="3657547"/>
            <a:ext cx="23622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200"/>
              <a:t>σ</a:t>
            </a:r>
            <a:r>
              <a:rPr lang="es-EC" sz="3200" baseline="-25000"/>
              <a:t>f.fCalorias</a:t>
            </a:r>
            <a:r>
              <a:rPr lang="es-EC" sz="3200"/>
              <a:t> </a:t>
            </a:r>
            <a:r>
              <a:rPr lang="es-EC" sz="3200" baseline="-25000"/>
              <a:t>&lt;= 100</a:t>
            </a:r>
            <a:endParaRPr lang="es-EC" sz="3200"/>
          </a:p>
        </p:txBody>
      </p:sp>
      <p:cxnSp>
        <p:nvCxnSpPr>
          <p:cNvPr id="24" name="Straight Connector 23"/>
          <p:cNvCxnSpPr>
            <a:stCxn id="28" idx="2"/>
            <a:endCxn id="6" idx="0"/>
          </p:cNvCxnSpPr>
          <p:nvPr/>
        </p:nvCxnSpPr>
        <p:spPr>
          <a:xfrm>
            <a:off x="3637197" y="4964600"/>
            <a:ext cx="15320" cy="270927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5" idx="0"/>
            <a:endCxn id="64" idx="2"/>
          </p:cNvCxnSpPr>
          <p:nvPr/>
        </p:nvCxnSpPr>
        <p:spPr>
          <a:xfrm flipV="1">
            <a:off x="8705323" y="3118737"/>
            <a:ext cx="6139" cy="538810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558050" y="4379824"/>
            <a:ext cx="215829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200" dirty="0"/>
              <a:t>σ</a:t>
            </a:r>
            <a:r>
              <a:rPr lang="es-EC" sz="3200" baseline="-25000" dirty="0"/>
              <a:t>s.Abre24 = True</a:t>
            </a:r>
            <a:endParaRPr lang="es-EC" sz="3200" dirty="0"/>
          </a:p>
        </p:txBody>
      </p:sp>
      <p:cxnSp>
        <p:nvCxnSpPr>
          <p:cNvPr id="31" name="Straight Connector 30"/>
          <p:cNvCxnSpPr>
            <a:stCxn id="5" idx="0"/>
            <a:endCxn id="4" idx="2"/>
          </p:cNvCxnSpPr>
          <p:nvPr/>
        </p:nvCxnSpPr>
        <p:spPr>
          <a:xfrm flipV="1">
            <a:off x="6743760" y="1190865"/>
            <a:ext cx="833" cy="369724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199481" y="3567753"/>
            <a:ext cx="920711" cy="58477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C" sz="3200" dirty="0"/>
              <a:t>π</a:t>
            </a:r>
            <a:r>
              <a:rPr lang="es-EC" sz="3200" baseline="-25000" dirty="0"/>
              <a:t>s.tId</a:t>
            </a:r>
            <a:endParaRPr lang="es-EC" sz="3200" dirty="0"/>
          </a:p>
        </p:txBody>
      </p:sp>
      <p:cxnSp>
        <p:nvCxnSpPr>
          <p:cNvPr id="59" name="Straight Connector 58"/>
          <p:cNvCxnSpPr>
            <a:stCxn id="56" idx="2"/>
            <a:endCxn id="28" idx="0"/>
          </p:cNvCxnSpPr>
          <p:nvPr/>
        </p:nvCxnSpPr>
        <p:spPr>
          <a:xfrm flipH="1">
            <a:off x="3637197" y="4152529"/>
            <a:ext cx="22640" cy="227295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640964" y="2533961"/>
            <a:ext cx="2140995" cy="58477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C" sz="3200"/>
              <a:t>π</a:t>
            </a:r>
            <a:r>
              <a:rPr lang="es-EC" sz="3200" baseline="-25000"/>
              <a:t>f.fNombre, f.fId</a:t>
            </a:r>
            <a:endParaRPr lang="es-EC" sz="3200"/>
          </a:p>
        </p:txBody>
      </p:sp>
      <p:cxnSp>
        <p:nvCxnSpPr>
          <p:cNvPr id="65" name="Straight Connector 64"/>
          <p:cNvCxnSpPr>
            <a:stCxn id="15" idx="2"/>
            <a:endCxn id="7" idx="0"/>
          </p:cNvCxnSpPr>
          <p:nvPr/>
        </p:nvCxnSpPr>
        <p:spPr>
          <a:xfrm flipH="1">
            <a:off x="8701417" y="4242323"/>
            <a:ext cx="3906" cy="227295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15106" y="5272478"/>
            <a:ext cx="198403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200"/>
              <a:t>TieneFruta</a:t>
            </a:r>
          </a:p>
        </p:txBody>
      </p:sp>
      <p:cxnSp>
        <p:nvCxnSpPr>
          <p:cNvPr id="52" name="Straight Connector 51"/>
          <p:cNvCxnSpPr>
            <a:stCxn id="53" idx="2"/>
            <a:endCxn id="19" idx="0"/>
          </p:cNvCxnSpPr>
          <p:nvPr/>
        </p:nvCxnSpPr>
        <p:spPr>
          <a:xfrm flipH="1">
            <a:off x="6307125" y="4964600"/>
            <a:ext cx="2878" cy="307878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365975" y="4379824"/>
            <a:ext cx="188805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200"/>
              <a:t>σ</a:t>
            </a:r>
            <a:r>
              <a:rPr lang="es-EC" sz="3200" baseline="-25000"/>
              <a:t>t.tPrecio &lt; 10</a:t>
            </a:r>
            <a:endParaRPr lang="es-EC" sz="3200"/>
          </a:p>
        </p:txBody>
      </p:sp>
      <p:sp>
        <p:nvSpPr>
          <p:cNvPr id="54" name="TextBox 53"/>
          <p:cNvSpPr txBox="1"/>
          <p:nvPr/>
        </p:nvSpPr>
        <p:spPr>
          <a:xfrm>
            <a:off x="5558395" y="3567753"/>
            <a:ext cx="1492314" cy="58477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C" sz="3200"/>
              <a:t>π</a:t>
            </a:r>
            <a:r>
              <a:rPr lang="es-EC" sz="3200" baseline="-25000"/>
              <a:t>t.tId, t.fId</a:t>
            </a:r>
            <a:endParaRPr lang="es-EC" sz="3200"/>
          </a:p>
        </p:txBody>
      </p:sp>
      <p:cxnSp>
        <p:nvCxnSpPr>
          <p:cNvPr id="55" name="Straight Connector 54"/>
          <p:cNvCxnSpPr>
            <a:stCxn id="54" idx="2"/>
            <a:endCxn id="53" idx="0"/>
          </p:cNvCxnSpPr>
          <p:nvPr/>
        </p:nvCxnSpPr>
        <p:spPr>
          <a:xfrm>
            <a:off x="6304552" y="4152529"/>
            <a:ext cx="5451" cy="227295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601877" y="2572447"/>
            <a:ext cx="5347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200"/>
              <a:t>∞</a:t>
            </a:r>
          </a:p>
        </p:txBody>
      </p:sp>
      <p:cxnSp>
        <p:nvCxnSpPr>
          <p:cNvPr id="61" name="Straight Connector 60"/>
          <p:cNvCxnSpPr>
            <a:stCxn id="60" idx="2"/>
            <a:endCxn id="54" idx="0"/>
          </p:cNvCxnSpPr>
          <p:nvPr/>
        </p:nvCxnSpPr>
        <p:spPr>
          <a:xfrm>
            <a:off x="4869238" y="3157223"/>
            <a:ext cx="1435314" cy="410530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5" idx="2"/>
            <a:endCxn id="60" idx="0"/>
          </p:cNvCxnSpPr>
          <p:nvPr/>
        </p:nvCxnSpPr>
        <p:spPr>
          <a:xfrm flipH="1">
            <a:off x="4869238" y="2145365"/>
            <a:ext cx="1874522" cy="427082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782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ESTIMACIÓN DE COSTOS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674015"/>
            <a:ext cx="10058400" cy="1332404"/>
          </a:xfrm>
        </p:spPr>
        <p:txBody>
          <a:bodyPr>
            <a:norm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PLAN DE COSTOS</a:t>
            </a: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948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-643467" y="2791637"/>
            <a:ext cx="6862317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PROCEDIMIENTO</a:t>
            </a:r>
          </a:p>
        </p:txBody>
      </p:sp>
      <p:pic>
        <p:nvPicPr>
          <p:cNvPr id="4" name="Picture 3" descr="Optimizacion de B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13" y="152400"/>
            <a:ext cx="5107460" cy="65024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10109200" y="3369732"/>
            <a:ext cx="1574800" cy="880534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94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PLAN DE COSTOS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dirty="0"/>
              <a:t> Las </a:t>
            </a:r>
            <a:r>
              <a:rPr lang="es-ES_tradnl" sz="2800" dirty="0" err="1"/>
              <a:t>caraterísticas</a:t>
            </a:r>
            <a:r>
              <a:rPr lang="es-ES_tradnl" sz="2800" dirty="0"/>
              <a:t> mas importantes para realizar el plan son: la cantidad de </a:t>
            </a:r>
            <a:r>
              <a:rPr lang="es-ES_tradnl" sz="2800" dirty="0" err="1"/>
              <a:t>tuplas</a:t>
            </a:r>
            <a:r>
              <a:rPr lang="es-ES_tradnl" sz="2800" dirty="0"/>
              <a:t> por cada operación y, el tiempo que le toma al </a:t>
            </a:r>
            <a:r>
              <a:rPr lang="es-ES_tradnl" sz="2800" dirty="0" err="1"/>
              <a:t>query</a:t>
            </a:r>
            <a:r>
              <a:rPr lang="es-ES_tradnl" sz="2800" dirty="0"/>
              <a:t> arrojar el resultado.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dirty="0"/>
              <a:t> Las I/Os de disco son las mas costosas, por ello el plan de costos se basa en las I/O de disco.</a:t>
            </a:r>
          </a:p>
          <a:p>
            <a:pPr marL="0" indent="0">
              <a:buClr>
                <a:srgbClr val="0000FF"/>
              </a:buClr>
              <a:buNone/>
            </a:pPr>
            <a:endParaRPr lang="es-ES_tradnl" b="1" dirty="0"/>
          </a:p>
        </p:txBody>
      </p:sp>
    </p:spTree>
    <p:extLst>
      <p:ext uri="{BB962C8B-B14F-4D97-AF65-F5344CB8AC3E}">
        <p14:creationId xmlns:p14="http://schemas.microsoft.com/office/powerpoint/2010/main" val="4177519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913CF04-4369-E94F-9CA0-EE2AEA60450E}"/>
              </a:ext>
            </a:extLst>
          </p:cNvPr>
          <p:cNvSpPr/>
          <p:nvPr/>
        </p:nvSpPr>
        <p:spPr>
          <a:xfrm>
            <a:off x="8893276" y="3418499"/>
            <a:ext cx="2767285" cy="38885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BF130D-CA39-7740-996A-D83BCB5ACC72}"/>
              </a:ext>
            </a:extLst>
          </p:cNvPr>
          <p:cNvSpPr/>
          <p:nvPr/>
        </p:nvSpPr>
        <p:spPr>
          <a:xfrm>
            <a:off x="866134" y="3511603"/>
            <a:ext cx="4139370" cy="3223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3C3E4F-4689-D642-A726-1E730BB8D842}"/>
              </a:ext>
            </a:extLst>
          </p:cNvPr>
          <p:cNvSpPr/>
          <p:nvPr/>
        </p:nvSpPr>
        <p:spPr>
          <a:xfrm>
            <a:off x="5161935" y="3465871"/>
            <a:ext cx="3731342" cy="3824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916" y="1773284"/>
            <a:ext cx="11815158" cy="4241507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s-ES_tradnl" sz="2800" dirty="0"/>
              <a:t>SELECT   *  FROM empleado e, sucursal s</a:t>
            </a:r>
          </a:p>
          <a:p>
            <a:pPr marL="126000">
              <a:lnSpc>
                <a:spcPct val="80000"/>
              </a:lnSpc>
              <a:spcBef>
                <a:spcPts val="600"/>
              </a:spcBef>
            </a:pPr>
            <a:r>
              <a:rPr lang="es-ES_tradnl" sz="2800" dirty="0"/>
              <a:t>WHERE </a:t>
            </a:r>
            <a:r>
              <a:rPr lang="es-ES_tradnl" sz="2800" dirty="0" err="1"/>
              <a:t>e.sucursalNo</a:t>
            </a:r>
            <a:r>
              <a:rPr lang="es-ES_tradnl" sz="2800" dirty="0"/>
              <a:t> = </a:t>
            </a:r>
            <a:r>
              <a:rPr lang="es-ES_tradnl" sz="2800" dirty="0" err="1"/>
              <a:t>s.sucursalNo</a:t>
            </a:r>
            <a:r>
              <a:rPr lang="es-ES_tradnl" sz="2800" dirty="0"/>
              <a:t> </a:t>
            </a:r>
          </a:p>
          <a:p>
            <a:pPr marL="418608" lvl="2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s-ES_tradnl" sz="2800" dirty="0"/>
              <a:t>AND (</a:t>
            </a:r>
            <a:r>
              <a:rPr lang="es-ES_tradnl" sz="2800" dirty="0" err="1"/>
              <a:t>e.posicion</a:t>
            </a:r>
            <a:r>
              <a:rPr lang="es-ES_tradnl" sz="2800" dirty="0"/>
              <a:t> = ‘Administrador’ AND </a:t>
            </a:r>
            <a:r>
              <a:rPr lang="es-ES_tradnl" sz="2800" dirty="0" err="1"/>
              <a:t>s.ciudad</a:t>
            </a:r>
            <a:r>
              <a:rPr lang="es-ES_tradnl" sz="2800" dirty="0"/>
              <a:t> = ‘Londres’);</a:t>
            </a:r>
          </a:p>
          <a:p>
            <a:pPr>
              <a:lnSpc>
                <a:spcPct val="50000"/>
              </a:lnSpc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 err="1"/>
              <a:t>σ</a:t>
            </a:r>
            <a:r>
              <a:rPr lang="es-ES_tradnl" sz="2400" baseline="-25000" dirty="0"/>
              <a:t>(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=‘Administrador’)</a:t>
            </a:r>
            <a:r>
              <a:rPr lang="es-ES_tradnl" sz="2400" dirty="0"/>
              <a:t>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(ciudad=‘Londres’)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baseline="-25000" dirty="0"/>
              <a:t>)</a:t>
            </a:r>
            <a:r>
              <a:rPr lang="es-ES_tradnl" sz="2400" dirty="0"/>
              <a:t>(Empleado x Sucursal)</a:t>
            </a:r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 err="1"/>
              <a:t>σ</a:t>
            </a:r>
            <a:r>
              <a:rPr lang="es-ES_tradnl" sz="2400" baseline="-25000" dirty="0"/>
              <a:t>(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=‘Administrador’)</a:t>
            </a:r>
            <a:r>
              <a:rPr lang="es-ES_tradnl" sz="2400" dirty="0"/>
              <a:t>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(ciudad=‘Londres’)</a:t>
            </a:r>
            <a:r>
              <a:rPr lang="es-ES_tradnl" sz="2400" dirty="0"/>
              <a:t> (</a:t>
            </a:r>
            <a:r>
              <a:rPr lang="es-ES_tradnl" sz="2400" dirty="0" err="1"/>
              <a:t>Empleado∞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dirty="0" err="1"/>
              <a:t>Sucursal</a:t>
            </a:r>
            <a:r>
              <a:rPr lang="es-ES_tradnl" sz="2400" dirty="0"/>
              <a:t>)</a:t>
            </a:r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/>
              <a:t>(</a:t>
            </a:r>
            <a:r>
              <a:rPr lang="es-ES_tradnl" sz="2400" dirty="0" err="1"/>
              <a:t>σ</a:t>
            </a:r>
            <a:r>
              <a:rPr lang="es-ES_tradnl" sz="2400" dirty="0"/>
              <a:t> 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</a:t>
            </a:r>
            <a:r>
              <a:rPr lang="es-ES_tradnl" sz="2400" dirty="0"/>
              <a:t> (Empleado))∞</a:t>
            </a:r>
            <a:r>
              <a:rPr lang="es-ES_tradnl" sz="2400" baseline="-25000" dirty="0"/>
              <a:t> 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baseline="-25000" dirty="0"/>
              <a:t> </a:t>
            </a:r>
            <a:r>
              <a:rPr lang="es-ES_tradnl" sz="2400" dirty="0"/>
              <a:t>(</a:t>
            </a:r>
            <a:r>
              <a:rPr lang="es-ES_tradnl" sz="2400" dirty="0" err="1"/>
              <a:t>σ</a:t>
            </a:r>
            <a:r>
              <a:rPr lang="es-ES_tradnl" sz="2400" dirty="0"/>
              <a:t> </a:t>
            </a:r>
            <a:r>
              <a:rPr lang="es-ES_tradnl" sz="2400" baseline="-25000" dirty="0"/>
              <a:t>ciudad=‘Londres’</a:t>
            </a:r>
            <a:r>
              <a:rPr lang="es-ES_tradnl" sz="2400" dirty="0"/>
              <a:t>(Sucursal))</a:t>
            </a:r>
          </a:p>
          <a:p>
            <a:pPr>
              <a:lnSpc>
                <a:spcPct val="50000"/>
              </a:lnSpc>
            </a:pPr>
            <a:endParaRPr lang="es-EC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43545" y="166760"/>
            <a:ext cx="39805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1000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Empleado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Sucursal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 </a:t>
            </a:r>
            <a:r>
              <a:rPr lang="en-US" dirty="0" err="1"/>
              <a:t>Administradores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Sucursal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 </a:t>
            </a:r>
            <a:r>
              <a:rPr lang="en-US" dirty="0" err="1"/>
              <a:t>sucursales</a:t>
            </a:r>
            <a:r>
              <a:rPr lang="en-US" dirty="0"/>
              <a:t> en </a:t>
            </a:r>
            <a:r>
              <a:rPr lang="en-US" dirty="0" err="1"/>
              <a:t>Londres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056374" y="3848306"/>
            <a:ext cx="127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= 1000 + 50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5292" y="3835475"/>
            <a:ext cx="1690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        1000 *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78810" y="3833944"/>
            <a:ext cx="1495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2*(                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4328" y="3848306"/>
            <a:ext cx="105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= 101050</a:t>
            </a:r>
          </a:p>
        </p:txBody>
      </p:sp>
    </p:spTree>
    <p:extLst>
      <p:ext uri="{BB962C8B-B14F-4D97-AF65-F5344CB8AC3E}">
        <p14:creationId xmlns:p14="http://schemas.microsoft.com/office/powerpoint/2010/main" val="422408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0" grpId="0" animBg="1"/>
      <p:bldP spid="20" grpId="1" animBg="1"/>
      <p:bldP spid="8" grpId="0" animBg="1"/>
      <p:bldP spid="8" grpId="1" animBg="1"/>
      <p:bldP spid="3" grpId="0" uiExpand="1" build="p"/>
      <p:bldP spid="2" grpId="0"/>
      <p:bldP spid="5" grpId="0"/>
      <p:bldP spid="6" grpId="0"/>
      <p:bldP spid="7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900ED8E-802C-B84C-B7B1-365FDC05A6EF}"/>
              </a:ext>
            </a:extLst>
          </p:cNvPr>
          <p:cNvSpPr/>
          <p:nvPr/>
        </p:nvSpPr>
        <p:spPr>
          <a:xfrm>
            <a:off x="10098096" y="4150852"/>
            <a:ext cx="1170179" cy="34256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8FAE48-9FC9-E149-949F-0CD6F6122178}"/>
              </a:ext>
            </a:extLst>
          </p:cNvPr>
          <p:cNvSpPr/>
          <p:nvPr/>
        </p:nvSpPr>
        <p:spPr>
          <a:xfrm>
            <a:off x="5028818" y="4125709"/>
            <a:ext cx="1273117" cy="3677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611508-E9B4-434A-8587-FE837BE117C4}"/>
              </a:ext>
            </a:extLst>
          </p:cNvPr>
          <p:cNvSpPr/>
          <p:nvPr/>
        </p:nvSpPr>
        <p:spPr>
          <a:xfrm>
            <a:off x="930287" y="4182236"/>
            <a:ext cx="3983676" cy="4045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2222C3-B7E8-094F-99B7-5E9B9C1CA92D}"/>
              </a:ext>
            </a:extLst>
          </p:cNvPr>
          <p:cNvSpPr/>
          <p:nvPr/>
        </p:nvSpPr>
        <p:spPr>
          <a:xfrm>
            <a:off x="4998226" y="4111256"/>
            <a:ext cx="6293402" cy="38243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916" y="1773284"/>
            <a:ext cx="11815158" cy="4241507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s-ES_tradnl" sz="2800" dirty="0"/>
              <a:t>SELECT   *  FROM empleado e, sucursal s</a:t>
            </a:r>
          </a:p>
          <a:p>
            <a:pPr marL="126000">
              <a:lnSpc>
                <a:spcPct val="80000"/>
              </a:lnSpc>
              <a:spcBef>
                <a:spcPts val="600"/>
              </a:spcBef>
            </a:pPr>
            <a:r>
              <a:rPr lang="es-ES_tradnl" sz="2800" dirty="0"/>
              <a:t>WHERE </a:t>
            </a:r>
            <a:r>
              <a:rPr lang="es-ES_tradnl" sz="2800" dirty="0" err="1"/>
              <a:t>e.sucursalNo</a:t>
            </a:r>
            <a:r>
              <a:rPr lang="es-ES_tradnl" sz="2800" dirty="0"/>
              <a:t> = </a:t>
            </a:r>
            <a:r>
              <a:rPr lang="es-ES_tradnl" sz="2800" dirty="0" err="1"/>
              <a:t>s.sucursalNo</a:t>
            </a:r>
            <a:r>
              <a:rPr lang="es-ES_tradnl" sz="2800" dirty="0"/>
              <a:t> </a:t>
            </a:r>
          </a:p>
          <a:p>
            <a:pPr marL="418608" lvl="2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s-ES_tradnl" sz="2800" dirty="0"/>
              <a:t>AND (</a:t>
            </a:r>
            <a:r>
              <a:rPr lang="es-ES_tradnl" sz="2800" dirty="0" err="1"/>
              <a:t>e.posicion</a:t>
            </a:r>
            <a:r>
              <a:rPr lang="es-ES_tradnl" sz="2800" dirty="0"/>
              <a:t> = ‘Administrador’ AND </a:t>
            </a:r>
            <a:r>
              <a:rPr lang="es-ES_tradnl" sz="2800" dirty="0" err="1"/>
              <a:t>s.ciudad</a:t>
            </a:r>
            <a:r>
              <a:rPr lang="es-ES_tradnl" sz="2800" dirty="0"/>
              <a:t> = ‘Londres’);</a:t>
            </a:r>
          </a:p>
          <a:p>
            <a:pPr>
              <a:lnSpc>
                <a:spcPct val="50000"/>
              </a:lnSpc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 err="1"/>
              <a:t>σ</a:t>
            </a:r>
            <a:r>
              <a:rPr lang="es-ES_tradnl" sz="2400" baseline="-25000" dirty="0"/>
              <a:t>(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=‘Administrador’)</a:t>
            </a:r>
            <a:r>
              <a:rPr lang="es-ES_tradnl" sz="2400" dirty="0"/>
              <a:t>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(ciudad=‘Londres’)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baseline="-25000" dirty="0"/>
              <a:t>)</a:t>
            </a:r>
            <a:r>
              <a:rPr lang="es-ES_tradnl" sz="2400" dirty="0"/>
              <a:t>(Empleado x Sucursal)</a:t>
            </a:r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 err="1"/>
              <a:t>σ</a:t>
            </a:r>
            <a:r>
              <a:rPr lang="es-ES_tradnl" sz="2400" baseline="-25000" dirty="0"/>
              <a:t>(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=‘Administrador’)</a:t>
            </a:r>
            <a:r>
              <a:rPr lang="es-ES_tradnl" sz="2400" dirty="0"/>
              <a:t>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(ciudad=‘Londres’)</a:t>
            </a:r>
            <a:r>
              <a:rPr lang="es-ES_tradnl" sz="2400" dirty="0"/>
              <a:t> (</a:t>
            </a:r>
            <a:r>
              <a:rPr lang="es-ES_tradnl" sz="2400" dirty="0" err="1"/>
              <a:t>Empleado∞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dirty="0" err="1"/>
              <a:t>Sucursal</a:t>
            </a:r>
            <a:r>
              <a:rPr lang="es-ES_tradnl" sz="2400" dirty="0"/>
              <a:t>)</a:t>
            </a:r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/>
              <a:t>(</a:t>
            </a:r>
            <a:r>
              <a:rPr lang="es-ES_tradnl" sz="2400" dirty="0" err="1"/>
              <a:t>σ</a:t>
            </a:r>
            <a:r>
              <a:rPr lang="es-ES_tradnl" sz="2400" dirty="0"/>
              <a:t> 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</a:t>
            </a:r>
            <a:r>
              <a:rPr lang="es-ES_tradnl" sz="2400" dirty="0"/>
              <a:t> (Empleado))∞</a:t>
            </a:r>
            <a:r>
              <a:rPr lang="es-ES_tradnl" sz="2400" baseline="-25000" dirty="0"/>
              <a:t> 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baseline="-25000" dirty="0"/>
              <a:t> </a:t>
            </a:r>
            <a:r>
              <a:rPr lang="es-ES_tradnl" sz="2400" dirty="0"/>
              <a:t>(</a:t>
            </a:r>
            <a:r>
              <a:rPr lang="es-ES_tradnl" sz="2400" dirty="0" err="1"/>
              <a:t>σ</a:t>
            </a:r>
            <a:r>
              <a:rPr lang="es-ES_tradnl" sz="2400" dirty="0"/>
              <a:t> </a:t>
            </a:r>
            <a:r>
              <a:rPr lang="es-ES_tradnl" sz="2400" baseline="-25000" dirty="0"/>
              <a:t>ciudad=‘Londres’</a:t>
            </a:r>
            <a:r>
              <a:rPr lang="es-ES_tradnl" sz="2400" dirty="0"/>
              <a:t>(Sucursal))</a:t>
            </a:r>
          </a:p>
          <a:p>
            <a:pPr>
              <a:lnSpc>
                <a:spcPct val="50000"/>
              </a:lnSpc>
            </a:pPr>
            <a:endParaRPr lang="es-EC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43545" y="166760"/>
            <a:ext cx="39805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1000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Empleado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Sucursal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 </a:t>
            </a:r>
            <a:r>
              <a:rPr lang="en-US" dirty="0" err="1"/>
              <a:t>Administradores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Sucursal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 </a:t>
            </a:r>
            <a:r>
              <a:rPr lang="en-US" dirty="0" err="1"/>
              <a:t>sucursales</a:t>
            </a:r>
            <a:r>
              <a:rPr lang="en-US" dirty="0"/>
              <a:t> en </a:t>
            </a:r>
            <a:r>
              <a:rPr lang="en-US" dirty="0" err="1"/>
              <a:t>Londres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056374" y="3848306"/>
            <a:ext cx="127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= 1000 + 50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5292" y="3835475"/>
            <a:ext cx="1690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        1000 *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78810" y="3833944"/>
            <a:ext cx="1495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2*(                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4328" y="3848306"/>
            <a:ext cx="105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= 101050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8818" y="4643622"/>
            <a:ext cx="127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= 1000 + 50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1651" y="4642089"/>
            <a:ext cx="118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       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539" y="4640555"/>
            <a:ext cx="107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2*(         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4115" y="4680573"/>
            <a:ext cx="819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= 3050</a:t>
            </a:r>
          </a:p>
        </p:txBody>
      </p:sp>
    </p:spTree>
    <p:extLst>
      <p:ext uri="{BB962C8B-B14F-4D97-AF65-F5344CB8AC3E}">
        <p14:creationId xmlns:p14="http://schemas.microsoft.com/office/powerpoint/2010/main" val="317194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animBg="1"/>
      <p:bldP spid="24" grpId="1" animBg="1"/>
      <p:bldP spid="22" grpId="0" animBg="1"/>
      <p:bldP spid="22" grpId="1" animBg="1"/>
      <p:bldP spid="20" grpId="0" animBg="1"/>
      <p:bldP spid="20" grpId="1" animBg="1"/>
      <p:bldP spid="10" grpId="0"/>
      <p:bldP spid="11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D999744-2C8B-E148-A94D-75709EBDD8F6}"/>
              </a:ext>
            </a:extLst>
          </p:cNvPr>
          <p:cNvSpPr/>
          <p:nvPr/>
        </p:nvSpPr>
        <p:spPr>
          <a:xfrm>
            <a:off x="4709784" y="4882293"/>
            <a:ext cx="3844124" cy="4366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CB2D32-50E0-794E-8578-F04D3BFE9609}"/>
              </a:ext>
            </a:extLst>
          </p:cNvPr>
          <p:cNvSpPr/>
          <p:nvPr/>
        </p:nvSpPr>
        <p:spPr>
          <a:xfrm>
            <a:off x="8699575" y="4895277"/>
            <a:ext cx="1600416" cy="40925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363770-7E1E-1F44-8E70-E9452B4C813E}"/>
              </a:ext>
            </a:extLst>
          </p:cNvPr>
          <p:cNvSpPr/>
          <p:nvPr/>
        </p:nvSpPr>
        <p:spPr>
          <a:xfrm>
            <a:off x="10263702" y="4858687"/>
            <a:ext cx="1249030" cy="44584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B56DF4-6C6E-874E-A9F7-9F25E5609E34}"/>
              </a:ext>
            </a:extLst>
          </p:cNvPr>
          <p:cNvSpPr/>
          <p:nvPr/>
        </p:nvSpPr>
        <p:spPr>
          <a:xfrm>
            <a:off x="843609" y="4908524"/>
            <a:ext cx="2302048" cy="41036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3186A3-674D-214B-8970-69947F6EE719}"/>
              </a:ext>
            </a:extLst>
          </p:cNvPr>
          <p:cNvSpPr/>
          <p:nvPr/>
        </p:nvSpPr>
        <p:spPr>
          <a:xfrm>
            <a:off x="3189999" y="4877026"/>
            <a:ext cx="1419701" cy="44186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916" y="1773284"/>
            <a:ext cx="11815158" cy="4241507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s-ES_tradnl" sz="2800" dirty="0"/>
              <a:t>SELECT   *  FROM empleado e, sucursal s</a:t>
            </a:r>
          </a:p>
          <a:p>
            <a:pPr marL="126000">
              <a:lnSpc>
                <a:spcPct val="80000"/>
              </a:lnSpc>
              <a:spcBef>
                <a:spcPts val="600"/>
              </a:spcBef>
            </a:pPr>
            <a:r>
              <a:rPr lang="es-ES_tradnl" sz="2800" dirty="0"/>
              <a:t>WHERE </a:t>
            </a:r>
            <a:r>
              <a:rPr lang="es-ES_tradnl" sz="2800" dirty="0" err="1"/>
              <a:t>e.sucursalNo</a:t>
            </a:r>
            <a:r>
              <a:rPr lang="es-ES_tradnl" sz="2800" dirty="0"/>
              <a:t> = </a:t>
            </a:r>
            <a:r>
              <a:rPr lang="es-ES_tradnl" sz="2800" dirty="0" err="1"/>
              <a:t>s.sucursalNo</a:t>
            </a:r>
            <a:r>
              <a:rPr lang="es-ES_tradnl" sz="2800" dirty="0"/>
              <a:t> </a:t>
            </a:r>
          </a:p>
          <a:p>
            <a:pPr marL="418608" lvl="2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s-ES_tradnl" sz="2800" dirty="0"/>
              <a:t>AND (</a:t>
            </a:r>
            <a:r>
              <a:rPr lang="es-ES_tradnl" sz="2800" dirty="0" err="1"/>
              <a:t>e.posicion</a:t>
            </a:r>
            <a:r>
              <a:rPr lang="es-ES_tradnl" sz="2800" dirty="0"/>
              <a:t> = ‘Administrador’ AND </a:t>
            </a:r>
            <a:r>
              <a:rPr lang="es-ES_tradnl" sz="2800" dirty="0" err="1"/>
              <a:t>s.ciudad</a:t>
            </a:r>
            <a:r>
              <a:rPr lang="es-ES_tradnl" sz="2800" dirty="0"/>
              <a:t> = ‘Londres’);</a:t>
            </a:r>
          </a:p>
          <a:p>
            <a:pPr>
              <a:lnSpc>
                <a:spcPct val="50000"/>
              </a:lnSpc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 err="1"/>
              <a:t>σ</a:t>
            </a:r>
            <a:r>
              <a:rPr lang="es-ES_tradnl" sz="2400" baseline="-25000" dirty="0"/>
              <a:t>(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=‘Administrador’)</a:t>
            </a:r>
            <a:r>
              <a:rPr lang="es-ES_tradnl" sz="2400" dirty="0"/>
              <a:t>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(ciudad=‘Londres’)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baseline="-25000" dirty="0"/>
              <a:t>)</a:t>
            </a:r>
            <a:r>
              <a:rPr lang="es-ES_tradnl" sz="2400" dirty="0"/>
              <a:t>(Empleado x Sucursal)</a:t>
            </a:r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 err="1"/>
              <a:t>σ</a:t>
            </a:r>
            <a:r>
              <a:rPr lang="es-ES_tradnl" sz="2400" baseline="-25000" dirty="0"/>
              <a:t>(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=‘Administrador’)</a:t>
            </a:r>
            <a:r>
              <a:rPr lang="es-ES_tradnl" sz="2400" dirty="0"/>
              <a:t>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(ciudad=‘Londres’)</a:t>
            </a:r>
            <a:r>
              <a:rPr lang="es-ES_tradnl" sz="2400" dirty="0"/>
              <a:t> (</a:t>
            </a:r>
            <a:r>
              <a:rPr lang="es-ES_tradnl" sz="2400" dirty="0" err="1"/>
              <a:t>Empleado∞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dirty="0" err="1"/>
              <a:t>Sucursal</a:t>
            </a:r>
            <a:r>
              <a:rPr lang="es-ES_tradnl" sz="2400" dirty="0"/>
              <a:t>)</a:t>
            </a:r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/>
              <a:t>(</a:t>
            </a:r>
            <a:r>
              <a:rPr lang="es-ES_tradnl" sz="2400" dirty="0" err="1"/>
              <a:t>σ</a:t>
            </a:r>
            <a:r>
              <a:rPr lang="es-ES_tradnl" sz="2400" dirty="0"/>
              <a:t> 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</a:t>
            </a:r>
            <a:r>
              <a:rPr lang="es-ES_tradnl" sz="2400" dirty="0"/>
              <a:t> (Empleado))∞</a:t>
            </a:r>
            <a:r>
              <a:rPr lang="es-ES_tradnl" sz="2400" baseline="-25000" dirty="0"/>
              <a:t> 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baseline="-25000" dirty="0"/>
              <a:t> </a:t>
            </a:r>
            <a:r>
              <a:rPr lang="es-ES_tradnl" sz="2400" dirty="0"/>
              <a:t>(</a:t>
            </a:r>
            <a:r>
              <a:rPr lang="es-ES_tradnl" sz="2400" dirty="0" err="1"/>
              <a:t>σ</a:t>
            </a:r>
            <a:r>
              <a:rPr lang="es-ES_tradnl" sz="2400" dirty="0"/>
              <a:t> </a:t>
            </a:r>
            <a:r>
              <a:rPr lang="es-ES_tradnl" sz="2400" baseline="-25000" dirty="0"/>
              <a:t>ciudad=‘Londres’</a:t>
            </a:r>
            <a:r>
              <a:rPr lang="es-ES_tradnl" sz="2400" dirty="0"/>
              <a:t>(Sucursal))</a:t>
            </a:r>
          </a:p>
          <a:p>
            <a:pPr>
              <a:lnSpc>
                <a:spcPct val="50000"/>
              </a:lnSpc>
            </a:pPr>
            <a:endParaRPr lang="es-EC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43545" y="166760"/>
            <a:ext cx="39805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1000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Empleado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Sucursal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 </a:t>
            </a:r>
            <a:r>
              <a:rPr lang="en-US" dirty="0" err="1"/>
              <a:t>Administradores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Sucursal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 </a:t>
            </a:r>
            <a:r>
              <a:rPr lang="en-US" dirty="0" err="1"/>
              <a:t>sucursales</a:t>
            </a:r>
            <a:r>
              <a:rPr lang="en-US" dirty="0"/>
              <a:t> en </a:t>
            </a:r>
            <a:r>
              <a:rPr lang="en-US" dirty="0" err="1"/>
              <a:t>Londres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056374" y="3848306"/>
            <a:ext cx="127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= 1000 + 50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5292" y="3835475"/>
            <a:ext cx="1690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        1000 *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78810" y="3833944"/>
            <a:ext cx="1495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2*(                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4328" y="3848306"/>
            <a:ext cx="105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= 101050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8818" y="4643622"/>
            <a:ext cx="127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= 1000 + 50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1651" y="4642089"/>
            <a:ext cx="118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       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539" y="4640555"/>
            <a:ext cx="107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2*(         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4115" y="4680573"/>
            <a:ext cx="819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= 3050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374" y="5318893"/>
            <a:ext cx="819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= 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9891" y="5318893"/>
            <a:ext cx="58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2009" y="5318893"/>
            <a:ext cx="58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4891" y="5318893"/>
            <a:ext cx="468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9699" y="5318893"/>
            <a:ext cx="58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+ 50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32156" y="5318893"/>
            <a:ext cx="819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= 1155</a:t>
            </a:r>
          </a:p>
        </p:txBody>
      </p:sp>
    </p:spTree>
    <p:extLst>
      <p:ext uri="{BB962C8B-B14F-4D97-AF65-F5344CB8AC3E}">
        <p14:creationId xmlns:p14="http://schemas.microsoft.com/office/powerpoint/2010/main" val="46041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3" grpId="0" animBg="1"/>
      <p:bldP spid="23" grpId="1" animBg="1"/>
      <p:bldP spid="22" grpId="0" animBg="1"/>
      <p:bldP spid="22" grpId="1" animBg="1"/>
      <p:bldP spid="21" grpId="0" animBg="1"/>
      <p:bldP spid="21" grpId="1" animBg="1"/>
      <p:bldP spid="20" grpId="0" animBg="1"/>
      <p:bldP spid="20" grpId="1" animBg="1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ED46AA6-24F4-1C41-A4DC-26A75FF6C434}"/>
              </a:ext>
            </a:extLst>
          </p:cNvPr>
          <p:cNvSpPr/>
          <p:nvPr/>
        </p:nvSpPr>
        <p:spPr>
          <a:xfrm>
            <a:off x="11132155" y="5277856"/>
            <a:ext cx="819793" cy="410369"/>
          </a:xfrm>
          <a:prstGeom prst="rect">
            <a:avLst/>
          </a:prstGeom>
          <a:solidFill>
            <a:srgbClr val="FF0300">
              <a:alpha val="29804"/>
            </a:srgbClr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916" y="1773284"/>
            <a:ext cx="11815158" cy="4241507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s-ES_tradnl" sz="2800" dirty="0"/>
              <a:t>SELECT   *  FROM empleado e, sucursal s</a:t>
            </a:r>
          </a:p>
          <a:p>
            <a:pPr marL="126000">
              <a:lnSpc>
                <a:spcPct val="80000"/>
              </a:lnSpc>
              <a:spcBef>
                <a:spcPts val="600"/>
              </a:spcBef>
            </a:pPr>
            <a:r>
              <a:rPr lang="es-ES_tradnl" sz="2800" dirty="0"/>
              <a:t>WHERE </a:t>
            </a:r>
            <a:r>
              <a:rPr lang="es-ES_tradnl" sz="2800" dirty="0" err="1"/>
              <a:t>e.sucursalNo</a:t>
            </a:r>
            <a:r>
              <a:rPr lang="es-ES_tradnl" sz="2800" dirty="0"/>
              <a:t> = </a:t>
            </a:r>
            <a:r>
              <a:rPr lang="es-ES_tradnl" sz="2800" dirty="0" err="1"/>
              <a:t>s.sucursalNo</a:t>
            </a:r>
            <a:r>
              <a:rPr lang="es-ES_tradnl" sz="2800" dirty="0"/>
              <a:t> </a:t>
            </a:r>
          </a:p>
          <a:p>
            <a:pPr marL="418608" lvl="2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s-ES_tradnl" sz="2800" dirty="0"/>
              <a:t>AND (</a:t>
            </a:r>
            <a:r>
              <a:rPr lang="es-ES_tradnl" sz="2800" dirty="0" err="1"/>
              <a:t>e.posicion</a:t>
            </a:r>
            <a:r>
              <a:rPr lang="es-ES_tradnl" sz="2800" dirty="0"/>
              <a:t> = ‘Administrador’ AND </a:t>
            </a:r>
            <a:r>
              <a:rPr lang="es-ES_tradnl" sz="2800" dirty="0" err="1"/>
              <a:t>s.ciudad</a:t>
            </a:r>
            <a:r>
              <a:rPr lang="es-ES_tradnl" sz="2800" dirty="0"/>
              <a:t> = ‘Londres’);</a:t>
            </a:r>
          </a:p>
          <a:p>
            <a:pPr>
              <a:lnSpc>
                <a:spcPct val="50000"/>
              </a:lnSpc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 err="1"/>
              <a:t>σ</a:t>
            </a:r>
            <a:r>
              <a:rPr lang="es-ES_tradnl" sz="2400" baseline="-25000" dirty="0"/>
              <a:t>(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=‘Administrador’)</a:t>
            </a:r>
            <a:r>
              <a:rPr lang="es-ES_tradnl" sz="2400" dirty="0"/>
              <a:t>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(ciudad=‘Londres’)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baseline="-25000" dirty="0"/>
              <a:t>)</a:t>
            </a:r>
            <a:r>
              <a:rPr lang="es-ES_tradnl" sz="2400" dirty="0"/>
              <a:t>(Empleado x Sucursal)</a:t>
            </a:r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 err="1"/>
              <a:t>σ</a:t>
            </a:r>
            <a:r>
              <a:rPr lang="es-ES_tradnl" sz="2400" baseline="-25000" dirty="0"/>
              <a:t>(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=‘Administrador’)</a:t>
            </a:r>
            <a:r>
              <a:rPr lang="es-ES_tradnl" sz="2400" dirty="0"/>
              <a:t> </a:t>
            </a:r>
            <a:r>
              <a:rPr lang="es-ES_tradnl" sz="2400" baseline="-250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s-ES_tradnl" sz="2400" baseline="-25000" dirty="0"/>
              <a:t> (ciudad=‘Londres’)</a:t>
            </a:r>
            <a:r>
              <a:rPr lang="es-ES_tradnl" sz="2400" dirty="0"/>
              <a:t> (</a:t>
            </a:r>
            <a:r>
              <a:rPr lang="es-ES_tradnl" sz="2400" dirty="0" err="1"/>
              <a:t>Empleado∞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dirty="0" err="1"/>
              <a:t>Sucursal</a:t>
            </a:r>
            <a:r>
              <a:rPr lang="es-ES_tradnl" sz="2400" dirty="0"/>
              <a:t>)</a:t>
            </a:r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endParaRPr lang="es-ES_tradnl" sz="2400" dirty="0"/>
          </a:p>
          <a:p>
            <a:pPr marL="514350" indent="-514350">
              <a:lnSpc>
                <a:spcPct val="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s-ES_tradnl" sz="2400" dirty="0"/>
              <a:t>(</a:t>
            </a:r>
            <a:r>
              <a:rPr lang="es-ES_tradnl" sz="2400" dirty="0" err="1"/>
              <a:t>σ</a:t>
            </a:r>
            <a:r>
              <a:rPr lang="es-ES_tradnl" sz="2400" dirty="0"/>
              <a:t> </a:t>
            </a:r>
            <a:r>
              <a:rPr lang="es-ES_tradnl" sz="2400" baseline="-25000" dirty="0" err="1"/>
              <a:t>posicion</a:t>
            </a:r>
            <a:r>
              <a:rPr lang="es-ES_tradnl" sz="2400" baseline="-25000" dirty="0"/>
              <a:t>=‘Administrador’</a:t>
            </a:r>
            <a:r>
              <a:rPr lang="es-ES_tradnl" sz="2400" dirty="0"/>
              <a:t> (Empleado))∞</a:t>
            </a:r>
            <a:r>
              <a:rPr lang="es-ES_tradnl" sz="2400" baseline="-25000" dirty="0"/>
              <a:t> </a:t>
            </a:r>
            <a:r>
              <a:rPr lang="es-ES_tradnl" sz="2400" baseline="-25000" dirty="0" err="1"/>
              <a:t>Empleado.sucursalNo</a:t>
            </a:r>
            <a:r>
              <a:rPr lang="es-ES_tradnl" sz="2400" baseline="-25000" dirty="0"/>
              <a:t>=</a:t>
            </a:r>
            <a:r>
              <a:rPr lang="es-ES_tradnl" sz="2400" baseline="-25000" dirty="0" err="1"/>
              <a:t>Sucursal.sucursalNo</a:t>
            </a:r>
            <a:r>
              <a:rPr lang="es-ES_tradnl" sz="2400" baseline="-25000" dirty="0"/>
              <a:t> </a:t>
            </a:r>
            <a:r>
              <a:rPr lang="es-ES_tradnl" sz="2400" dirty="0"/>
              <a:t>(</a:t>
            </a:r>
            <a:r>
              <a:rPr lang="es-ES_tradnl" sz="2400" dirty="0" err="1"/>
              <a:t>σ</a:t>
            </a:r>
            <a:r>
              <a:rPr lang="es-ES_tradnl" sz="2400" dirty="0"/>
              <a:t> </a:t>
            </a:r>
            <a:r>
              <a:rPr lang="es-ES_tradnl" sz="2400" baseline="-25000" dirty="0"/>
              <a:t>ciudad=‘Londres’</a:t>
            </a:r>
            <a:r>
              <a:rPr lang="es-ES_tradnl" sz="2400" dirty="0"/>
              <a:t>(Sucursal))</a:t>
            </a:r>
          </a:p>
          <a:p>
            <a:pPr>
              <a:lnSpc>
                <a:spcPct val="50000"/>
              </a:lnSpc>
            </a:pPr>
            <a:endParaRPr lang="es-EC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14883" y="183904"/>
            <a:ext cx="10076745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43545" y="166760"/>
            <a:ext cx="39805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1000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Empleado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Sucursal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 </a:t>
            </a:r>
            <a:r>
              <a:rPr lang="en-US" dirty="0" err="1"/>
              <a:t>Administradores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Sucursal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 </a:t>
            </a:r>
            <a:r>
              <a:rPr lang="en-US" dirty="0" err="1"/>
              <a:t>sucursales</a:t>
            </a:r>
            <a:r>
              <a:rPr lang="en-US" dirty="0"/>
              <a:t> en </a:t>
            </a:r>
            <a:r>
              <a:rPr lang="en-US" dirty="0" err="1"/>
              <a:t>Londres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056374" y="3848306"/>
            <a:ext cx="127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= 1000 + 50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5292" y="3835475"/>
            <a:ext cx="1690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        1000 *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78810" y="3833944"/>
            <a:ext cx="1495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2*(                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4328" y="3848306"/>
            <a:ext cx="105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= 101050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8818" y="4643622"/>
            <a:ext cx="127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= 1000 + 50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1651" y="4642089"/>
            <a:ext cx="118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       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539" y="4640555"/>
            <a:ext cx="107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2*(         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4115" y="4680573"/>
            <a:ext cx="819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= 3050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374" y="5318893"/>
            <a:ext cx="819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= 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9891" y="5318893"/>
            <a:ext cx="58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2009" y="5318893"/>
            <a:ext cx="58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4891" y="5318893"/>
            <a:ext cx="468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9699" y="5318893"/>
            <a:ext cx="58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+ 50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32156" y="5318893"/>
            <a:ext cx="81979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= 1155</a:t>
            </a:r>
          </a:p>
        </p:txBody>
      </p:sp>
    </p:spTree>
    <p:extLst>
      <p:ext uri="{BB962C8B-B14F-4D97-AF65-F5344CB8AC3E}">
        <p14:creationId xmlns:p14="http://schemas.microsoft.com/office/powerpoint/2010/main" val="1957714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PLAN AR Y COSTOS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674015"/>
            <a:ext cx="10058400" cy="1332404"/>
          </a:xfrm>
        </p:spPr>
        <p:txBody>
          <a:bodyPr>
            <a:norm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ELEGIR ÍNDICES</a:t>
            </a: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111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lr>
                <a:srgbClr val="0000FF"/>
              </a:buClr>
              <a:buNone/>
            </a:pPr>
            <a:r>
              <a:rPr lang="es-ES_tradnl" sz="2800" dirty="0"/>
              <a:t>SELECT </a:t>
            </a:r>
            <a:r>
              <a:rPr lang="es-ES_tradnl" sz="2800" dirty="0" err="1"/>
              <a:t>p.nombre</a:t>
            </a:r>
            <a:r>
              <a:rPr lang="es-ES_tradnl" sz="2800" dirty="0"/>
              <a:t>, </a:t>
            </a:r>
            <a:r>
              <a:rPr lang="es-ES_tradnl" sz="2800" dirty="0" err="1"/>
              <a:t>d.nombre</a:t>
            </a:r>
            <a:r>
              <a:rPr lang="es-ES_tradnl" sz="2800" dirty="0"/>
              <a:t> FROM paciente p, doctor d WHERE </a:t>
            </a:r>
            <a:r>
              <a:rPr lang="es-ES_tradnl" sz="2800" dirty="0" err="1"/>
              <a:t>p.doctor</a:t>
            </a:r>
            <a:r>
              <a:rPr lang="es-ES_tradnl" sz="2800" dirty="0"/>
              <a:t> = </a:t>
            </a:r>
            <a:r>
              <a:rPr lang="es-ES_tradnl" sz="2800" dirty="0" err="1"/>
              <a:t>d.nombre</a:t>
            </a:r>
            <a:r>
              <a:rPr lang="es-ES_tradnl" sz="2800" dirty="0"/>
              <a:t> AND </a:t>
            </a:r>
            <a:r>
              <a:rPr lang="es-ES_tradnl" sz="2800" dirty="0" err="1"/>
              <a:t>d.genero</a:t>
            </a:r>
            <a:r>
              <a:rPr lang="es-ES_tradnl" sz="2800" dirty="0"/>
              <a:t> = “F”;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sz="2800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</p:txBody>
      </p:sp>
      <p:sp>
        <p:nvSpPr>
          <p:cNvPr id="4" name="Rectangle 3"/>
          <p:cNvSpPr/>
          <p:nvPr/>
        </p:nvSpPr>
        <p:spPr>
          <a:xfrm>
            <a:off x="1016130" y="2898438"/>
            <a:ext cx="10904937" cy="3046988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_tradnl" sz="3200" dirty="0"/>
              <a:t>π</a:t>
            </a:r>
            <a:r>
              <a:rPr lang="es-ES_tradnl" sz="3200" baseline="-25000" dirty="0" err="1"/>
              <a:t>p.nombre</a:t>
            </a:r>
            <a:r>
              <a:rPr lang="es-ES_tradnl" sz="3200" baseline="-25000" dirty="0"/>
              <a:t>, </a:t>
            </a:r>
            <a:r>
              <a:rPr lang="es-ES_tradnl" sz="3200" baseline="-25000" dirty="0" err="1"/>
              <a:t>d.nombre</a:t>
            </a:r>
            <a:r>
              <a:rPr lang="es-ES_tradnl" sz="3200" baseline="-25000" dirty="0"/>
              <a:t> </a:t>
            </a:r>
            <a:r>
              <a:rPr lang="es-ES_tradnl" sz="3200" dirty="0">
                <a:solidFill>
                  <a:srgbClr val="FF0000"/>
                </a:solidFill>
              </a:rPr>
              <a:t>( </a:t>
            </a:r>
            <a:r>
              <a:rPr lang="es-ES_tradnl" sz="3200" dirty="0" err="1"/>
              <a:t>σ</a:t>
            </a:r>
            <a:r>
              <a:rPr lang="es-ES_tradnl" sz="3200" baseline="-25000" dirty="0"/>
              <a:t> </a:t>
            </a:r>
            <a:r>
              <a:rPr lang="es-ES_tradnl" sz="3200" baseline="-25000" dirty="0" err="1"/>
              <a:t>d.genero</a:t>
            </a:r>
            <a:r>
              <a:rPr lang="es-ES_tradnl" sz="3200" baseline="-25000" dirty="0"/>
              <a:t> = “F” ^ </a:t>
            </a:r>
            <a:r>
              <a:rPr lang="es-ES_tradnl" sz="3200" baseline="-25000" dirty="0" err="1"/>
              <a:t>p.doctor</a:t>
            </a:r>
            <a:r>
              <a:rPr lang="es-ES_tradnl" sz="3200" baseline="-25000" dirty="0"/>
              <a:t> = </a:t>
            </a:r>
            <a:r>
              <a:rPr lang="es-ES_tradnl" sz="3200" baseline="-25000" dirty="0" err="1"/>
              <a:t>d.nombre</a:t>
            </a:r>
            <a:r>
              <a:rPr lang="es-ES_tradnl" sz="3200" baseline="-25000" dirty="0"/>
              <a:t> </a:t>
            </a:r>
            <a:r>
              <a:rPr lang="es-ES_tradnl" sz="3200" dirty="0">
                <a:solidFill>
                  <a:srgbClr val="008000"/>
                </a:solidFill>
              </a:rPr>
              <a:t>(</a:t>
            </a:r>
            <a:r>
              <a:rPr lang="es-ES_tradnl" sz="3200" dirty="0" err="1"/>
              <a:t>PxD</a:t>
            </a:r>
            <a:r>
              <a:rPr lang="es-ES_tradnl" sz="3200" dirty="0">
                <a:solidFill>
                  <a:srgbClr val="008000"/>
                </a:solidFill>
              </a:rPr>
              <a:t>)</a:t>
            </a:r>
            <a:r>
              <a:rPr lang="es-ES_tradnl" sz="3200" dirty="0">
                <a:solidFill>
                  <a:srgbClr val="FF0000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s-ES_tradnl" sz="32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s-ES_tradnl" sz="3200" dirty="0"/>
              <a:t>π</a:t>
            </a:r>
            <a:r>
              <a:rPr lang="es-ES_tradnl" sz="3200" baseline="-25000" dirty="0" err="1"/>
              <a:t>p.nombre</a:t>
            </a:r>
            <a:r>
              <a:rPr lang="es-ES_tradnl" sz="3200" baseline="-25000" dirty="0"/>
              <a:t>, </a:t>
            </a:r>
            <a:r>
              <a:rPr lang="es-ES_tradnl" sz="3200" baseline="-25000" dirty="0" err="1"/>
              <a:t>d.nombre</a:t>
            </a:r>
            <a:r>
              <a:rPr lang="es-ES_tradnl" sz="3200" baseline="-25000" dirty="0"/>
              <a:t> </a:t>
            </a:r>
            <a:r>
              <a:rPr lang="es-ES_tradnl" sz="3200" dirty="0">
                <a:solidFill>
                  <a:srgbClr val="FF0000"/>
                </a:solidFill>
              </a:rPr>
              <a:t>( </a:t>
            </a:r>
            <a:r>
              <a:rPr lang="es-ES_tradnl" sz="3200" dirty="0" err="1"/>
              <a:t>σ</a:t>
            </a:r>
            <a:r>
              <a:rPr lang="es-ES_tradnl" sz="3200" baseline="-25000" dirty="0"/>
              <a:t> </a:t>
            </a:r>
            <a:r>
              <a:rPr lang="es-ES_tradnl" sz="3200" baseline="-25000" dirty="0" err="1"/>
              <a:t>d.genero</a:t>
            </a:r>
            <a:r>
              <a:rPr lang="es-ES_tradnl" sz="3200" baseline="-25000" dirty="0"/>
              <a:t> = “F” </a:t>
            </a:r>
            <a:r>
              <a:rPr lang="es-ES_tradnl" sz="3200" dirty="0">
                <a:solidFill>
                  <a:srgbClr val="008000"/>
                </a:solidFill>
              </a:rPr>
              <a:t>(</a:t>
            </a:r>
            <a:r>
              <a:rPr lang="es-ES_tradnl" sz="3200" dirty="0"/>
              <a:t>P∞D</a:t>
            </a:r>
            <a:r>
              <a:rPr lang="es-ES_tradnl" sz="3200" dirty="0">
                <a:solidFill>
                  <a:srgbClr val="008000"/>
                </a:solidFill>
              </a:rPr>
              <a:t>)</a:t>
            </a:r>
            <a:r>
              <a:rPr lang="es-ES_tradnl" sz="3200" dirty="0">
                <a:solidFill>
                  <a:srgbClr val="FF0000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s-ES_tradnl" sz="32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s-ES_tradnl" sz="3200" dirty="0"/>
              <a:t>π</a:t>
            </a:r>
            <a:r>
              <a:rPr lang="es-ES_tradnl" sz="3200" baseline="-25000" dirty="0" err="1"/>
              <a:t>p.nombre</a:t>
            </a:r>
            <a:r>
              <a:rPr lang="es-ES_tradnl" sz="3200" baseline="-25000" dirty="0"/>
              <a:t>, </a:t>
            </a:r>
            <a:r>
              <a:rPr lang="es-ES_tradnl" sz="3200" baseline="-25000" dirty="0" err="1"/>
              <a:t>d.nombre</a:t>
            </a:r>
            <a:r>
              <a:rPr lang="es-ES_tradnl" sz="3200" baseline="-25000" dirty="0"/>
              <a:t> </a:t>
            </a:r>
            <a:r>
              <a:rPr lang="es-ES_tradnl" sz="3200" dirty="0">
                <a:solidFill>
                  <a:srgbClr val="FF0000"/>
                </a:solidFill>
              </a:rPr>
              <a:t>(</a:t>
            </a:r>
            <a:r>
              <a:rPr lang="es-ES_tradnl" sz="3200" dirty="0">
                <a:solidFill>
                  <a:srgbClr val="008000"/>
                </a:solidFill>
              </a:rPr>
              <a:t>(</a:t>
            </a:r>
            <a:r>
              <a:rPr lang="es-ES_tradnl" sz="3200" dirty="0"/>
              <a:t>π</a:t>
            </a:r>
            <a:r>
              <a:rPr lang="es-ES_tradnl" sz="3200" baseline="-25000" dirty="0" err="1"/>
              <a:t>d.nombre</a:t>
            </a:r>
            <a:r>
              <a:rPr lang="es-ES_tradnl" sz="3200" dirty="0"/>
              <a:t> </a:t>
            </a:r>
            <a:r>
              <a:rPr lang="es-ES_tradnl" sz="3200" dirty="0" err="1"/>
              <a:t>σ</a:t>
            </a:r>
            <a:r>
              <a:rPr lang="es-ES_tradnl" sz="3200" baseline="-25000" dirty="0"/>
              <a:t> </a:t>
            </a:r>
            <a:r>
              <a:rPr lang="es-ES_tradnl" sz="3200" baseline="-25000" dirty="0" err="1"/>
              <a:t>d.genero</a:t>
            </a:r>
            <a:r>
              <a:rPr lang="es-ES_tradnl" sz="3200" baseline="-25000" dirty="0"/>
              <a:t> = “F” </a:t>
            </a:r>
            <a:r>
              <a:rPr lang="es-ES_tradnl" sz="3200" dirty="0"/>
              <a:t>D</a:t>
            </a:r>
            <a:r>
              <a:rPr lang="es-ES_tradnl" sz="3200" dirty="0">
                <a:solidFill>
                  <a:srgbClr val="008000"/>
                </a:solidFill>
              </a:rPr>
              <a:t>)</a:t>
            </a:r>
            <a:r>
              <a:rPr lang="es-ES_tradnl" sz="3200" dirty="0"/>
              <a:t>∞</a:t>
            </a:r>
            <a:r>
              <a:rPr lang="es-ES_tradnl" sz="3200" baseline="-25000" dirty="0"/>
              <a:t> </a:t>
            </a:r>
            <a:r>
              <a:rPr lang="es-ES_tradnl" sz="3200" dirty="0">
                <a:solidFill>
                  <a:srgbClr val="008000"/>
                </a:solidFill>
              </a:rPr>
              <a:t>(</a:t>
            </a:r>
            <a:r>
              <a:rPr lang="es-ES_tradnl" sz="3200" dirty="0"/>
              <a:t>π</a:t>
            </a:r>
            <a:r>
              <a:rPr lang="es-ES_tradnl" sz="3200" baseline="-25000" dirty="0" err="1"/>
              <a:t>p.nombre</a:t>
            </a:r>
            <a:r>
              <a:rPr lang="es-ES_tradnl" sz="3200" baseline="-25000" dirty="0"/>
              <a:t>, </a:t>
            </a:r>
            <a:r>
              <a:rPr lang="es-ES_tradnl" sz="3200" baseline="-25000" dirty="0" err="1"/>
              <a:t>p.doctor</a:t>
            </a:r>
            <a:r>
              <a:rPr lang="es-ES_tradnl" sz="3200" baseline="-25000" dirty="0"/>
              <a:t> </a:t>
            </a:r>
            <a:r>
              <a:rPr lang="es-ES_tradnl" sz="3200" dirty="0"/>
              <a:t>P</a:t>
            </a:r>
            <a:r>
              <a:rPr lang="es-ES_tradnl" sz="3200" dirty="0">
                <a:solidFill>
                  <a:srgbClr val="008000"/>
                </a:solidFill>
              </a:rPr>
              <a:t>)</a:t>
            </a:r>
            <a:r>
              <a:rPr lang="es-ES_tradnl" sz="3200" dirty="0">
                <a:solidFill>
                  <a:srgbClr val="FF0000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s-ES_tradnl" sz="32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36211" y="251426"/>
            <a:ext cx="2877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20.000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Paciente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tuplas</a:t>
            </a:r>
            <a:r>
              <a:rPr lang="en-US" dirty="0"/>
              <a:t> en Doctor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300 </a:t>
            </a:r>
            <a:r>
              <a:rPr lang="en-US" dirty="0" err="1"/>
              <a:t>doctores</a:t>
            </a:r>
            <a:r>
              <a:rPr lang="en-US" dirty="0"/>
              <a:t> </a:t>
            </a:r>
            <a:r>
              <a:rPr lang="en-US" dirty="0" err="1"/>
              <a:t>femeninos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2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/>
          <p:cNvCxnSpPr/>
          <p:nvPr/>
        </p:nvCxnSpPr>
        <p:spPr>
          <a:xfrm flipH="1" flipV="1">
            <a:off x="7764545" y="1671689"/>
            <a:ext cx="56169" cy="4530035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18864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 (PLAN AR)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41060B-1CE5-344A-B92D-971DD6CDC64A}"/>
              </a:ext>
            </a:extLst>
          </p:cNvPr>
          <p:cNvGrpSpPr/>
          <p:nvPr/>
        </p:nvGrpSpPr>
        <p:grpSpPr>
          <a:xfrm>
            <a:off x="-6709" y="1737360"/>
            <a:ext cx="3967552" cy="4530035"/>
            <a:chOff x="-6709" y="1737360"/>
            <a:chExt cx="3967552" cy="4530035"/>
          </a:xfrm>
        </p:grpSpPr>
        <p:cxnSp>
          <p:nvCxnSpPr>
            <p:cNvPr id="50" name="Straight Connector 49"/>
            <p:cNvCxnSpPr/>
            <p:nvPr/>
          </p:nvCxnSpPr>
          <p:spPr>
            <a:xfrm flipH="1" flipV="1">
              <a:off x="3904674" y="1737360"/>
              <a:ext cx="56169" cy="453003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/>
            <p:cNvGrpSpPr/>
            <p:nvPr/>
          </p:nvGrpSpPr>
          <p:grpSpPr>
            <a:xfrm>
              <a:off x="-6709" y="1903284"/>
              <a:ext cx="3451206" cy="4325702"/>
              <a:chOff x="1093946" y="1869417"/>
              <a:chExt cx="3451206" cy="4325702"/>
            </a:xfrm>
          </p:grpSpPr>
          <p:grpSp>
            <p:nvGrpSpPr>
              <p:cNvPr id="34" name="Group 33"/>
              <p:cNvGrpSpPr/>
              <p:nvPr/>
            </p:nvGrpSpPr>
            <p:grpSpPr>
              <a:xfrm>
                <a:off x="1093946" y="1869417"/>
                <a:ext cx="3451206" cy="4325702"/>
                <a:chOff x="8031125" y="1085421"/>
                <a:chExt cx="3734778" cy="4385902"/>
              </a:xfrm>
            </p:grpSpPr>
            <p:sp>
              <p:nvSpPr>
                <p:cNvPr id="4" name="TextBox 3"/>
                <p:cNvSpPr txBox="1"/>
                <p:nvPr/>
              </p:nvSpPr>
              <p:spPr>
                <a:xfrm>
                  <a:off x="8557330" y="1085421"/>
                  <a:ext cx="2919437" cy="59291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l-GR" sz="3200" dirty="0"/>
                    <a:t>Π</a:t>
                  </a:r>
                  <a:r>
                    <a:rPr lang="es-ES_tradnl" sz="3200" baseline="-25000" dirty="0" err="1"/>
                    <a:t>p.nombre,d.nombre</a:t>
                  </a:r>
                  <a:endParaRPr lang="es-ES_tradnl" sz="3200" dirty="0"/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8031125" y="4877700"/>
                  <a:ext cx="1755662" cy="5929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3200" dirty="0"/>
                    <a:t>Paciente</a:t>
                  </a: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10333115" y="4878409"/>
                  <a:ext cx="1432788" cy="5929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3200" dirty="0"/>
                    <a:t>Doctor</a:t>
                  </a: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9006289" y="1955103"/>
                  <a:ext cx="2041164" cy="5929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3200" dirty="0" err="1"/>
                    <a:t>σ</a:t>
                  </a:r>
                  <a:r>
                    <a:rPr lang="es-ES_tradnl" sz="3200" baseline="-25000" dirty="0" err="1"/>
                    <a:t>d.genero</a:t>
                  </a:r>
                  <a:r>
                    <a:rPr lang="es-ES_tradnl" sz="3200" baseline="-25000" dirty="0"/>
                    <a:t>=“F”</a:t>
                  </a:r>
                  <a:endParaRPr lang="es-ES_tradnl" sz="3200" dirty="0"/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9830927" y="3784016"/>
                  <a:ext cx="394127" cy="5929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3200" dirty="0"/>
                    <a:t>x</a:t>
                  </a:r>
                </a:p>
              </p:txBody>
            </p:sp>
            <p:cxnSp>
              <p:nvCxnSpPr>
                <p:cNvPr id="24" name="Straight Connector 23"/>
                <p:cNvCxnSpPr>
                  <a:stCxn id="4" idx="2"/>
                  <a:endCxn id="15" idx="0"/>
                </p:cNvCxnSpPr>
                <p:nvPr/>
              </p:nvCxnSpPr>
              <p:spPr>
                <a:xfrm>
                  <a:off x="10017048" y="1678335"/>
                  <a:ext cx="9823" cy="276768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>
                  <a:stCxn id="6" idx="0"/>
                  <a:endCxn id="16" idx="2"/>
                </p:cNvCxnSpPr>
                <p:nvPr/>
              </p:nvCxnSpPr>
              <p:spPr>
                <a:xfrm flipV="1">
                  <a:off x="8908957" y="4376931"/>
                  <a:ext cx="1119034" cy="500769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>
                  <a:stCxn id="16" idx="2"/>
                  <a:endCxn id="11" idx="0"/>
                </p:cNvCxnSpPr>
                <p:nvPr/>
              </p:nvCxnSpPr>
              <p:spPr>
                <a:xfrm>
                  <a:off x="10027991" y="4376931"/>
                  <a:ext cx="1021518" cy="501478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>
                  <a:stCxn id="71" idx="2"/>
                  <a:endCxn id="16" idx="0"/>
                </p:cNvCxnSpPr>
                <p:nvPr/>
              </p:nvCxnSpPr>
              <p:spPr>
                <a:xfrm flipH="1">
                  <a:off x="10027991" y="3509481"/>
                  <a:ext cx="8604" cy="274535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1" name="TextBox 70"/>
              <p:cNvSpPr txBox="1"/>
              <p:nvPr/>
            </p:nvSpPr>
            <p:spPr>
              <a:xfrm>
                <a:off x="1656401" y="3675429"/>
                <a:ext cx="2581487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 err="1"/>
                  <a:t>σ</a:t>
                </a:r>
                <a:r>
                  <a:rPr lang="es-ES_tradnl" sz="3200" baseline="-25000" dirty="0" err="1"/>
                  <a:t>p.doctor</a:t>
                </a:r>
                <a:r>
                  <a:rPr lang="es-ES_tradnl" sz="3200" baseline="-25000" dirty="0"/>
                  <a:t>=</a:t>
                </a:r>
                <a:r>
                  <a:rPr lang="es-ES_tradnl" sz="3200" baseline="-25000" dirty="0" err="1"/>
                  <a:t>d.nombre</a:t>
                </a:r>
                <a:endParaRPr lang="es-ES_tradnl" sz="3200" dirty="0"/>
              </a:p>
            </p:txBody>
          </p:sp>
        </p:grpSp>
        <p:cxnSp>
          <p:nvCxnSpPr>
            <p:cNvPr id="72" name="Straight Connector 71"/>
            <p:cNvCxnSpPr>
              <a:stCxn id="71" idx="0"/>
              <a:endCxn id="15" idx="2"/>
            </p:cNvCxnSpPr>
            <p:nvPr/>
          </p:nvCxnSpPr>
          <p:spPr>
            <a:xfrm flipH="1" flipV="1">
              <a:off x="1837504" y="3345805"/>
              <a:ext cx="8986" cy="36349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5F414E0-A91B-E245-AA35-D566C7A627F9}"/>
              </a:ext>
            </a:extLst>
          </p:cNvPr>
          <p:cNvGrpSpPr/>
          <p:nvPr/>
        </p:nvGrpSpPr>
        <p:grpSpPr>
          <a:xfrm>
            <a:off x="4239559" y="1910987"/>
            <a:ext cx="3066380" cy="4358863"/>
            <a:chOff x="4239559" y="1910987"/>
            <a:chExt cx="3066380" cy="4358863"/>
          </a:xfrm>
        </p:grpSpPr>
        <p:grpSp>
          <p:nvGrpSpPr>
            <p:cNvPr id="49" name="Group 48"/>
            <p:cNvGrpSpPr/>
            <p:nvPr/>
          </p:nvGrpSpPr>
          <p:grpSpPr>
            <a:xfrm>
              <a:off x="4239559" y="1910987"/>
              <a:ext cx="3066380" cy="4358863"/>
              <a:chOff x="4575641" y="1910987"/>
              <a:chExt cx="3066380" cy="4358863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4755545" y="1910987"/>
                <a:ext cx="2697772" cy="58477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l-GR" sz="3200" dirty="0"/>
                  <a:t>Π</a:t>
                </a:r>
                <a:r>
                  <a:rPr lang="es-ES_tradnl" sz="3200" baseline="-25000" dirty="0" err="1"/>
                  <a:t>p.nombre,d.nombre</a:t>
                </a:r>
                <a:endParaRPr lang="es-ES_tradnl" sz="3200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805555" y="4114809"/>
                <a:ext cx="613686" cy="584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3200" dirty="0"/>
                  <a:t>∞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4575641" y="5685074"/>
                <a:ext cx="1622359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/>
                  <a:t>Paciente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318021" y="5675225"/>
                <a:ext cx="1324000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/>
                  <a:t>Doctor</a:t>
                </a:r>
              </a:p>
            </p:txBody>
          </p:sp>
          <p:cxnSp>
            <p:nvCxnSpPr>
              <p:cNvPr id="29" name="Straight Connector 28"/>
              <p:cNvCxnSpPr>
                <a:stCxn id="23" idx="2"/>
                <a:endCxn id="25" idx="0"/>
              </p:cNvCxnSpPr>
              <p:nvPr/>
            </p:nvCxnSpPr>
            <p:spPr>
              <a:xfrm flipH="1">
                <a:off x="5386821" y="4699585"/>
                <a:ext cx="725577" cy="985489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>
                <a:stCxn id="23" idx="2"/>
                <a:endCxn id="27" idx="0"/>
              </p:cNvCxnSpPr>
              <p:nvPr/>
            </p:nvCxnSpPr>
            <p:spPr>
              <a:xfrm>
                <a:off x="6112398" y="4699585"/>
                <a:ext cx="867623" cy="975640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5271981" y="3071393"/>
                <a:ext cx="1678196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 err="1"/>
                  <a:t>σ</a:t>
                </a:r>
                <a:r>
                  <a:rPr lang="es-ES_tradnl" sz="3200" baseline="-25000" dirty="0" err="1"/>
                  <a:t>genero</a:t>
                </a:r>
                <a:r>
                  <a:rPr lang="es-ES_tradnl" sz="3200" baseline="-25000" dirty="0"/>
                  <a:t>=“F”</a:t>
                </a:r>
                <a:endParaRPr lang="es-ES_tradnl" sz="3200" dirty="0"/>
              </a:p>
            </p:txBody>
          </p:sp>
          <p:cxnSp>
            <p:nvCxnSpPr>
              <p:cNvPr id="36" name="Straight Connector 35"/>
              <p:cNvCxnSpPr>
                <a:stCxn id="22" idx="2"/>
                <a:endCxn id="33" idx="0"/>
              </p:cNvCxnSpPr>
              <p:nvPr/>
            </p:nvCxnSpPr>
            <p:spPr>
              <a:xfrm>
                <a:off x="6104431" y="2495763"/>
                <a:ext cx="6648" cy="575630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4" name="Straight Connector 93"/>
            <p:cNvCxnSpPr>
              <a:stCxn id="23" idx="0"/>
              <a:endCxn id="33" idx="2"/>
            </p:cNvCxnSpPr>
            <p:nvPr/>
          </p:nvCxnSpPr>
          <p:spPr>
            <a:xfrm flipH="1" flipV="1">
              <a:off x="5774997" y="3656169"/>
              <a:ext cx="1319" cy="45864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B95B950-4080-5D41-9A55-28FD3D92CDC1}"/>
              </a:ext>
            </a:extLst>
          </p:cNvPr>
          <p:cNvGrpSpPr/>
          <p:nvPr/>
        </p:nvGrpSpPr>
        <p:grpSpPr>
          <a:xfrm>
            <a:off x="7855721" y="1989009"/>
            <a:ext cx="4336279" cy="4356278"/>
            <a:chOff x="7855721" y="1989009"/>
            <a:chExt cx="4336279" cy="4356278"/>
          </a:xfrm>
        </p:grpSpPr>
        <p:grpSp>
          <p:nvGrpSpPr>
            <p:cNvPr id="136" name="Group 135"/>
            <p:cNvGrpSpPr/>
            <p:nvPr/>
          </p:nvGrpSpPr>
          <p:grpSpPr>
            <a:xfrm>
              <a:off x="7855721" y="1989009"/>
              <a:ext cx="4336279" cy="4356278"/>
              <a:chOff x="7855721" y="1989009"/>
              <a:chExt cx="4336279" cy="4356278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7855721" y="1989009"/>
                <a:ext cx="3845002" cy="4356278"/>
                <a:chOff x="8660297" y="1847901"/>
                <a:chExt cx="3845002" cy="4356278"/>
              </a:xfrm>
            </p:grpSpPr>
            <p:sp>
              <p:nvSpPr>
                <p:cNvPr id="55" name="TextBox 54"/>
                <p:cNvSpPr txBox="1"/>
                <p:nvPr/>
              </p:nvSpPr>
              <p:spPr>
                <a:xfrm>
                  <a:off x="9143940" y="1847901"/>
                  <a:ext cx="2697772" cy="58477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l-GR" sz="3200" dirty="0"/>
                    <a:t>Π</a:t>
                  </a:r>
                  <a:r>
                    <a:rPr lang="es-ES_tradnl" sz="3200" baseline="-25000" dirty="0" err="1"/>
                    <a:t>p.nombre,d.nombre</a:t>
                  </a:r>
                  <a:endParaRPr lang="es-ES_tradnl" sz="3200" dirty="0"/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8827552" y="5619403"/>
                  <a:ext cx="1324000" cy="584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3200" dirty="0"/>
                    <a:t>Doctor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10882940" y="4885013"/>
                  <a:ext cx="1622359" cy="584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3200" dirty="0"/>
                    <a:t>Paciente</a:t>
                  </a: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8660297" y="4648247"/>
                  <a:ext cx="1673387" cy="584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3200" dirty="0" err="1"/>
                    <a:t>σ</a:t>
                  </a:r>
                  <a:r>
                    <a:rPr lang="es-ES_tradnl" sz="3200" baseline="-25000" dirty="0" err="1"/>
                    <a:t>genero</a:t>
                  </a:r>
                  <a:r>
                    <a:rPr lang="es-ES_tradnl" sz="3200" baseline="-25000" dirty="0"/>
                    <a:t>=“F”</a:t>
                  </a:r>
                  <a:endParaRPr lang="es-ES_tradnl" sz="3200" dirty="0"/>
                </a:p>
              </p:txBody>
            </p:sp>
            <p:sp>
              <p:nvSpPr>
                <p:cNvPr id="63" name="TextBox 62"/>
                <p:cNvSpPr txBox="1"/>
                <p:nvPr/>
              </p:nvSpPr>
              <p:spPr>
                <a:xfrm>
                  <a:off x="10232067" y="2777168"/>
                  <a:ext cx="494122" cy="576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3200" dirty="0"/>
                    <a:t>∞</a:t>
                  </a:r>
                </a:p>
              </p:txBody>
            </p:sp>
            <p:cxnSp>
              <p:nvCxnSpPr>
                <p:cNvPr id="64" name="Straight Connector 63"/>
                <p:cNvCxnSpPr>
                  <a:stCxn id="55" idx="2"/>
                  <a:endCxn id="63" idx="0"/>
                </p:cNvCxnSpPr>
                <p:nvPr/>
              </p:nvCxnSpPr>
              <p:spPr>
                <a:xfrm flipH="1">
                  <a:off x="10479128" y="2432677"/>
                  <a:ext cx="13698" cy="344491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>
                  <a:stCxn id="69" idx="0"/>
                  <a:endCxn id="63" idx="2"/>
                </p:cNvCxnSpPr>
                <p:nvPr/>
              </p:nvCxnSpPr>
              <p:spPr>
                <a:xfrm flipV="1">
                  <a:off x="9507042" y="3353917"/>
                  <a:ext cx="972086" cy="499755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>
                  <a:stCxn id="63" idx="2"/>
                  <a:endCxn id="128" idx="0"/>
                </p:cNvCxnSpPr>
                <p:nvPr/>
              </p:nvCxnSpPr>
              <p:spPr>
                <a:xfrm>
                  <a:off x="10479128" y="3353917"/>
                  <a:ext cx="1211042" cy="533621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>
                  <a:stCxn id="62" idx="2"/>
                  <a:endCxn id="57" idx="0"/>
                </p:cNvCxnSpPr>
                <p:nvPr/>
              </p:nvCxnSpPr>
              <p:spPr>
                <a:xfrm flipH="1">
                  <a:off x="9489552" y="5233023"/>
                  <a:ext cx="7439" cy="386380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TextBox 68"/>
                <p:cNvSpPr txBox="1"/>
                <p:nvPr/>
              </p:nvSpPr>
              <p:spPr>
                <a:xfrm>
                  <a:off x="8739578" y="3853672"/>
                  <a:ext cx="1534928" cy="58477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l-GR" sz="3200" dirty="0"/>
                    <a:t>Π</a:t>
                  </a:r>
                  <a:r>
                    <a:rPr lang="es-ES_tradnl" sz="3200" baseline="-25000" dirty="0" err="1"/>
                    <a:t>d.nombre</a:t>
                  </a:r>
                  <a:endParaRPr lang="es-ES_tradnl" sz="3200" dirty="0"/>
                </a:p>
              </p:txBody>
            </p:sp>
            <p:cxnSp>
              <p:nvCxnSpPr>
                <p:cNvPr id="70" name="Straight Connector 69"/>
                <p:cNvCxnSpPr>
                  <a:stCxn id="69" idx="2"/>
                  <a:endCxn id="62" idx="0"/>
                </p:cNvCxnSpPr>
                <p:nvPr/>
              </p:nvCxnSpPr>
              <p:spPr>
                <a:xfrm flipH="1">
                  <a:off x="9496991" y="4438448"/>
                  <a:ext cx="10051" cy="209799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8" name="TextBox 127"/>
              <p:cNvSpPr txBox="1"/>
              <p:nvPr/>
            </p:nvSpPr>
            <p:spPr>
              <a:xfrm>
                <a:off x="9579188" y="4028646"/>
                <a:ext cx="2612812" cy="58477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l-GR" sz="3200" dirty="0"/>
                  <a:t>Π</a:t>
                </a:r>
                <a:r>
                  <a:rPr lang="es-ES_tradnl" sz="3200" baseline="-25000" dirty="0" err="1"/>
                  <a:t>p.doctor</a:t>
                </a:r>
                <a:r>
                  <a:rPr lang="es-ES_tradnl" sz="3200" baseline="-25000" dirty="0"/>
                  <a:t>, </a:t>
                </a:r>
                <a:r>
                  <a:rPr lang="es-ES_tradnl" sz="3200" baseline="-25000" dirty="0" err="1"/>
                  <a:t>p.nombre</a:t>
                </a:r>
                <a:endParaRPr lang="es-ES_tradnl" sz="3200" dirty="0"/>
              </a:p>
            </p:txBody>
          </p:sp>
        </p:grpSp>
        <p:cxnSp>
          <p:nvCxnSpPr>
            <p:cNvPr id="131" name="Straight Connector 130"/>
            <p:cNvCxnSpPr>
              <a:stCxn id="128" idx="2"/>
              <a:endCxn id="58" idx="0"/>
            </p:cNvCxnSpPr>
            <p:nvPr/>
          </p:nvCxnSpPr>
          <p:spPr>
            <a:xfrm>
              <a:off x="10885594" y="4613422"/>
              <a:ext cx="3950" cy="41269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Oval 136"/>
          <p:cNvSpPr/>
          <p:nvPr/>
        </p:nvSpPr>
        <p:spPr>
          <a:xfrm>
            <a:off x="152401" y="1473200"/>
            <a:ext cx="541866" cy="5588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8" name="Oval 137"/>
          <p:cNvSpPr/>
          <p:nvPr/>
        </p:nvSpPr>
        <p:spPr>
          <a:xfrm>
            <a:off x="3945468" y="1507067"/>
            <a:ext cx="541866" cy="5588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39" name="Oval 138"/>
          <p:cNvSpPr/>
          <p:nvPr/>
        </p:nvSpPr>
        <p:spPr>
          <a:xfrm>
            <a:off x="7958667" y="1422400"/>
            <a:ext cx="541866" cy="5588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2900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49"/>
          <p:cNvCxnSpPr/>
          <p:nvPr/>
        </p:nvCxnSpPr>
        <p:spPr>
          <a:xfrm flipH="1" flipV="1">
            <a:off x="3481341" y="1754293"/>
            <a:ext cx="56169" cy="4530035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18864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 (COSTO #1)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-6709" y="1903284"/>
            <a:ext cx="3451206" cy="4325702"/>
            <a:chOff x="1093946" y="1869417"/>
            <a:chExt cx="3451206" cy="4325702"/>
          </a:xfrm>
        </p:grpSpPr>
        <p:grpSp>
          <p:nvGrpSpPr>
            <p:cNvPr id="34" name="Group 33"/>
            <p:cNvGrpSpPr/>
            <p:nvPr/>
          </p:nvGrpSpPr>
          <p:grpSpPr>
            <a:xfrm>
              <a:off x="1093946" y="1869417"/>
              <a:ext cx="3451206" cy="4325702"/>
              <a:chOff x="8031125" y="1085421"/>
              <a:chExt cx="3734778" cy="4385902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8557330" y="1085421"/>
                <a:ext cx="2919437" cy="5929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l-GR" sz="3200" dirty="0"/>
                  <a:t>Π</a:t>
                </a:r>
                <a:r>
                  <a:rPr lang="es-ES_tradnl" sz="3200" baseline="-25000" dirty="0" err="1"/>
                  <a:t>p.nombre,d.nombre</a:t>
                </a:r>
                <a:endParaRPr lang="es-ES_tradnl" sz="3200" dirty="0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8031125" y="4877700"/>
                <a:ext cx="1755662" cy="592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/>
                  <a:t>Paciente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0333115" y="4878409"/>
                <a:ext cx="1432788" cy="592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/>
                  <a:t>Doctor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9006289" y="1955103"/>
                <a:ext cx="2041164" cy="592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 err="1"/>
                  <a:t>σ</a:t>
                </a:r>
                <a:r>
                  <a:rPr lang="es-ES_tradnl" sz="3200" baseline="-25000" dirty="0" err="1"/>
                  <a:t>d.genero</a:t>
                </a:r>
                <a:r>
                  <a:rPr lang="es-ES_tradnl" sz="3200" baseline="-25000" dirty="0"/>
                  <a:t>=“F”</a:t>
                </a:r>
                <a:endParaRPr lang="es-ES_tradnl" sz="3200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9830927" y="3784016"/>
                <a:ext cx="394127" cy="592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/>
                  <a:t>x</a:t>
                </a:r>
              </a:p>
            </p:txBody>
          </p:sp>
          <p:cxnSp>
            <p:nvCxnSpPr>
              <p:cNvPr id="24" name="Straight Connector 23"/>
              <p:cNvCxnSpPr>
                <a:stCxn id="4" idx="2"/>
                <a:endCxn id="15" idx="0"/>
              </p:cNvCxnSpPr>
              <p:nvPr/>
            </p:nvCxnSpPr>
            <p:spPr>
              <a:xfrm>
                <a:off x="10017048" y="1678335"/>
                <a:ext cx="9823" cy="276768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>
                <a:stCxn id="6" idx="0"/>
                <a:endCxn id="16" idx="2"/>
              </p:cNvCxnSpPr>
              <p:nvPr/>
            </p:nvCxnSpPr>
            <p:spPr>
              <a:xfrm flipV="1">
                <a:off x="8908957" y="4376931"/>
                <a:ext cx="1119034" cy="500769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>
                <a:stCxn id="16" idx="2"/>
                <a:endCxn id="11" idx="0"/>
              </p:cNvCxnSpPr>
              <p:nvPr/>
            </p:nvCxnSpPr>
            <p:spPr>
              <a:xfrm>
                <a:off x="10027991" y="4376931"/>
                <a:ext cx="1021518" cy="501478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stCxn id="71" idx="2"/>
                <a:endCxn id="16" idx="0"/>
              </p:cNvCxnSpPr>
              <p:nvPr/>
            </p:nvCxnSpPr>
            <p:spPr>
              <a:xfrm flipH="1">
                <a:off x="10027991" y="3509481"/>
                <a:ext cx="8604" cy="274535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70"/>
            <p:cNvSpPr txBox="1"/>
            <p:nvPr/>
          </p:nvSpPr>
          <p:spPr>
            <a:xfrm>
              <a:off x="1656401" y="3675429"/>
              <a:ext cx="2581487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 err="1"/>
                <a:t>σ</a:t>
              </a:r>
              <a:r>
                <a:rPr lang="es-ES_tradnl" sz="3200" baseline="-25000" dirty="0" err="1"/>
                <a:t>p.doctor</a:t>
              </a:r>
              <a:r>
                <a:rPr lang="es-ES_tradnl" sz="3200" baseline="-25000" dirty="0"/>
                <a:t>=</a:t>
              </a:r>
              <a:r>
                <a:rPr lang="es-ES_tradnl" sz="3200" baseline="-25000" dirty="0" err="1"/>
                <a:t>d.nombre</a:t>
              </a:r>
              <a:endParaRPr lang="es-ES_tradnl" sz="3200" dirty="0"/>
            </a:p>
          </p:txBody>
        </p:sp>
      </p:grpSp>
      <p:cxnSp>
        <p:nvCxnSpPr>
          <p:cNvPr id="72" name="Straight Connector 71"/>
          <p:cNvCxnSpPr>
            <a:stCxn id="71" idx="0"/>
            <a:endCxn id="15" idx="2"/>
          </p:cNvCxnSpPr>
          <p:nvPr/>
        </p:nvCxnSpPr>
        <p:spPr>
          <a:xfrm flipH="1" flipV="1">
            <a:off x="1837504" y="3345805"/>
            <a:ext cx="8986" cy="363491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152401" y="1473200"/>
            <a:ext cx="541866" cy="5588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89866" y="1831638"/>
            <a:ext cx="8602134" cy="58477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s-ES_tradnl" sz="3200" dirty="0"/>
              <a:t>π</a:t>
            </a:r>
            <a:r>
              <a:rPr lang="es-ES_tradnl" sz="3200" baseline="-25000" dirty="0" err="1"/>
              <a:t>p.nombre</a:t>
            </a:r>
            <a:r>
              <a:rPr lang="es-ES_tradnl" sz="3200" baseline="-25000" dirty="0"/>
              <a:t>, </a:t>
            </a:r>
            <a:r>
              <a:rPr lang="es-ES_tradnl" sz="3200" baseline="-25000" dirty="0" err="1"/>
              <a:t>d.nombre</a:t>
            </a:r>
            <a:r>
              <a:rPr lang="es-ES_tradnl" sz="3200" baseline="-25000" dirty="0"/>
              <a:t> </a:t>
            </a:r>
            <a:r>
              <a:rPr lang="es-ES_tradnl" sz="3200" dirty="0">
                <a:solidFill>
                  <a:srgbClr val="FF0000"/>
                </a:solidFill>
              </a:rPr>
              <a:t>( </a:t>
            </a:r>
            <a:r>
              <a:rPr lang="es-ES_tradnl" sz="3200" dirty="0" err="1"/>
              <a:t>σ</a:t>
            </a:r>
            <a:r>
              <a:rPr lang="es-ES_tradnl" sz="3200" baseline="-25000" dirty="0"/>
              <a:t> </a:t>
            </a:r>
            <a:r>
              <a:rPr lang="es-ES_tradnl" sz="3200" baseline="-25000" dirty="0" err="1"/>
              <a:t>d.genero</a:t>
            </a:r>
            <a:r>
              <a:rPr lang="es-ES_tradnl" sz="3200" baseline="-25000" dirty="0"/>
              <a:t> = “F” ^ </a:t>
            </a:r>
            <a:r>
              <a:rPr lang="es-ES_tradnl" sz="3200" baseline="-25000" dirty="0" err="1"/>
              <a:t>p.doctor</a:t>
            </a:r>
            <a:r>
              <a:rPr lang="es-ES_tradnl" sz="3200" baseline="-25000" dirty="0"/>
              <a:t> = </a:t>
            </a:r>
            <a:r>
              <a:rPr lang="es-ES_tradnl" sz="3200" baseline="-25000" dirty="0" err="1"/>
              <a:t>d.nombre</a:t>
            </a:r>
            <a:r>
              <a:rPr lang="es-ES_tradnl" sz="3200" baseline="-25000" dirty="0"/>
              <a:t> </a:t>
            </a:r>
            <a:r>
              <a:rPr lang="es-ES_tradnl" sz="3200" dirty="0">
                <a:solidFill>
                  <a:srgbClr val="008000"/>
                </a:solidFill>
              </a:rPr>
              <a:t>(</a:t>
            </a:r>
            <a:r>
              <a:rPr lang="es-ES_tradnl" sz="3200" dirty="0" err="1"/>
              <a:t>PxD</a:t>
            </a:r>
            <a:r>
              <a:rPr lang="es-ES_tradnl" sz="3200" dirty="0">
                <a:solidFill>
                  <a:srgbClr val="008000"/>
                </a:solidFill>
              </a:rPr>
              <a:t>)</a:t>
            </a:r>
            <a:r>
              <a:rPr lang="es-ES_tradnl" sz="3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7332" y="2830705"/>
            <a:ext cx="7416802" cy="304698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s-ES_tradnl" sz="3200" dirty="0"/>
              <a:t>T(P) = 20000</a:t>
            </a:r>
          </a:p>
          <a:p>
            <a:r>
              <a:rPr lang="es-ES_tradnl" sz="3200" dirty="0"/>
              <a:t>T(D) = 500</a:t>
            </a:r>
          </a:p>
          <a:p>
            <a:r>
              <a:rPr lang="es-ES_tradnl" sz="3200" dirty="0"/>
              <a:t>T(</a:t>
            </a:r>
            <a:r>
              <a:rPr lang="es-ES_tradnl" sz="3200" dirty="0" err="1"/>
              <a:t>PxD</a:t>
            </a:r>
            <a:r>
              <a:rPr lang="es-ES_tradnl" sz="3200" dirty="0"/>
              <a:t>) = 20000 * 500</a:t>
            </a:r>
          </a:p>
          <a:p>
            <a:r>
              <a:rPr lang="es-ES_tradnl" sz="3200" dirty="0" err="1"/>
              <a:t>σ</a:t>
            </a:r>
            <a:r>
              <a:rPr lang="es-ES_tradnl" sz="3200" dirty="0"/>
              <a:t> T(</a:t>
            </a:r>
            <a:r>
              <a:rPr lang="es-ES_tradnl" sz="3200" dirty="0" err="1"/>
              <a:t>PxD</a:t>
            </a:r>
            <a:r>
              <a:rPr lang="es-ES_tradnl" sz="3200" dirty="0"/>
              <a:t>) = 20000 * 500</a:t>
            </a:r>
          </a:p>
          <a:p>
            <a:r>
              <a:rPr lang="es-ES_tradnl" sz="3200" dirty="0"/>
              <a:t>Resultado = T(P) + T(D) + T(</a:t>
            </a:r>
            <a:r>
              <a:rPr lang="es-ES_tradnl" sz="3200" dirty="0" err="1"/>
              <a:t>PxD</a:t>
            </a:r>
            <a:r>
              <a:rPr lang="es-ES_tradnl" sz="3200" dirty="0"/>
              <a:t>) + </a:t>
            </a:r>
            <a:r>
              <a:rPr lang="es-ES_tradnl" sz="3200" dirty="0" err="1"/>
              <a:t>σT</a:t>
            </a:r>
            <a:r>
              <a:rPr lang="es-ES_tradnl" sz="3200" dirty="0"/>
              <a:t>(</a:t>
            </a:r>
            <a:r>
              <a:rPr lang="es-ES_tradnl" sz="3200" dirty="0" err="1"/>
              <a:t>PxD</a:t>
            </a:r>
            <a:r>
              <a:rPr lang="es-ES_tradnl" sz="3200" dirty="0"/>
              <a:t>)</a:t>
            </a:r>
          </a:p>
          <a:p>
            <a:r>
              <a:rPr lang="es-ES_tradnl" sz="3200" dirty="0"/>
              <a:t>Resultado = 20’020.500 I/O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14289" y="319160"/>
            <a:ext cx="2877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20.000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Paciente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tuplas</a:t>
            </a:r>
            <a:r>
              <a:rPr lang="en-US" dirty="0"/>
              <a:t> en Doctor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300 </a:t>
            </a:r>
            <a:r>
              <a:rPr lang="en-US" dirty="0" err="1"/>
              <a:t>doctores</a:t>
            </a:r>
            <a:r>
              <a:rPr lang="en-US" dirty="0"/>
              <a:t> </a:t>
            </a:r>
            <a:r>
              <a:rPr lang="en-US" dirty="0" err="1"/>
              <a:t>femeninos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43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/>
          <p:cNvCxnSpPr/>
          <p:nvPr/>
        </p:nvCxnSpPr>
        <p:spPr>
          <a:xfrm flipH="1" flipV="1">
            <a:off x="3988411" y="1688623"/>
            <a:ext cx="56169" cy="4530035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0" y="1927921"/>
            <a:ext cx="3851539" cy="4358863"/>
            <a:chOff x="4112216" y="1910987"/>
            <a:chExt cx="3851539" cy="4358863"/>
          </a:xfrm>
        </p:grpSpPr>
        <p:sp>
          <p:nvSpPr>
            <p:cNvPr id="22" name="TextBox 21"/>
            <p:cNvSpPr txBox="1"/>
            <p:nvPr/>
          </p:nvSpPr>
          <p:spPr>
            <a:xfrm>
              <a:off x="4755545" y="1910987"/>
              <a:ext cx="2697772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l-GR" sz="3200" dirty="0"/>
                <a:t>Π</a:t>
              </a:r>
              <a:r>
                <a:rPr lang="es-ES_tradnl" sz="3200" baseline="-25000" dirty="0" err="1"/>
                <a:t>p.nombre,d.nombre</a:t>
              </a:r>
              <a:endParaRPr lang="es-ES_tradnl" sz="3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05555" y="4114809"/>
              <a:ext cx="613686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3200" dirty="0"/>
                <a:t>∞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112216" y="5685074"/>
              <a:ext cx="1622359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Paciente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39755" y="5675225"/>
              <a:ext cx="1324000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/>
                <a:t>Doctor</a:t>
              </a:r>
            </a:p>
          </p:txBody>
        </p:sp>
        <p:cxnSp>
          <p:nvCxnSpPr>
            <p:cNvPr id="29" name="Straight Connector 28"/>
            <p:cNvCxnSpPr>
              <a:stCxn id="23" idx="2"/>
              <a:endCxn id="25" idx="0"/>
            </p:cNvCxnSpPr>
            <p:nvPr/>
          </p:nvCxnSpPr>
          <p:spPr>
            <a:xfrm flipH="1">
              <a:off x="4923396" y="4699585"/>
              <a:ext cx="1189002" cy="98548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23" idx="2"/>
              <a:endCxn id="27" idx="0"/>
            </p:cNvCxnSpPr>
            <p:nvPr/>
          </p:nvCxnSpPr>
          <p:spPr>
            <a:xfrm>
              <a:off x="6112398" y="4699585"/>
              <a:ext cx="1189357" cy="97564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5271981" y="3071393"/>
              <a:ext cx="1678196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 err="1"/>
                <a:t>σ</a:t>
              </a:r>
              <a:r>
                <a:rPr lang="es-ES_tradnl" sz="3200" baseline="-25000" dirty="0" err="1"/>
                <a:t>genero</a:t>
              </a:r>
              <a:r>
                <a:rPr lang="es-ES_tradnl" sz="3200" baseline="-25000" dirty="0"/>
                <a:t>=“F”</a:t>
              </a:r>
              <a:endParaRPr lang="es-ES_tradnl" sz="3200" dirty="0"/>
            </a:p>
          </p:txBody>
        </p:sp>
        <p:cxnSp>
          <p:nvCxnSpPr>
            <p:cNvPr id="36" name="Straight Connector 35"/>
            <p:cNvCxnSpPr>
              <a:stCxn id="22" idx="2"/>
              <a:endCxn id="33" idx="0"/>
            </p:cNvCxnSpPr>
            <p:nvPr/>
          </p:nvCxnSpPr>
          <p:spPr>
            <a:xfrm>
              <a:off x="6104431" y="2495763"/>
              <a:ext cx="6648" cy="57563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18864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 (COSTO #2)</a:t>
            </a:r>
          </a:p>
        </p:txBody>
      </p:sp>
      <p:cxnSp>
        <p:nvCxnSpPr>
          <p:cNvPr id="94" name="Straight Connector 93"/>
          <p:cNvCxnSpPr>
            <a:stCxn id="23" idx="0"/>
            <a:endCxn id="33" idx="2"/>
          </p:cNvCxnSpPr>
          <p:nvPr/>
        </p:nvCxnSpPr>
        <p:spPr>
          <a:xfrm flipH="1" flipV="1">
            <a:off x="1998863" y="3673103"/>
            <a:ext cx="1319" cy="458640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169334" y="1524001"/>
            <a:ext cx="541866" cy="5588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14289" y="319160"/>
            <a:ext cx="2877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20.000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Paciente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tuplas</a:t>
            </a:r>
            <a:r>
              <a:rPr lang="en-US" dirty="0"/>
              <a:t> en Doctor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300 </a:t>
            </a:r>
            <a:r>
              <a:rPr lang="en-US" dirty="0" err="1"/>
              <a:t>doctores</a:t>
            </a:r>
            <a:r>
              <a:rPr lang="en-US" dirty="0"/>
              <a:t> </a:t>
            </a:r>
            <a:r>
              <a:rPr lang="en-US" dirty="0" err="1"/>
              <a:t>femeninos</a:t>
            </a:r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4250267" y="1848571"/>
            <a:ext cx="7670800" cy="58477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s-ES_tradnl" sz="3200" dirty="0"/>
              <a:t>π</a:t>
            </a:r>
            <a:r>
              <a:rPr lang="es-ES_tradnl" sz="3200" baseline="-25000" dirty="0" err="1"/>
              <a:t>p.nombre</a:t>
            </a:r>
            <a:r>
              <a:rPr lang="es-ES_tradnl" sz="3200" baseline="-25000" dirty="0"/>
              <a:t>, </a:t>
            </a:r>
            <a:r>
              <a:rPr lang="es-ES_tradnl" sz="3200" baseline="-25000" dirty="0" err="1"/>
              <a:t>d.nombre</a:t>
            </a:r>
            <a:r>
              <a:rPr lang="es-ES_tradnl" sz="3200" baseline="-25000" dirty="0"/>
              <a:t> </a:t>
            </a:r>
            <a:r>
              <a:rPr lang="es-ES_tradnl" sz="3200" dirty="0">
                <a:solidFill>
                  <a:srgbClr val="FF0000"/>
                </a:solidFill>
              </a:rPr>
              <a:t>( </a:t>
            </a:r>
            <a:r>
              <a:rPr lang="es-ES_tradnl" sz="3200" dirty="0" err="1"/>
              <a:t>σ</a:t>
            </a:r>
            <a:r>
              <a:rPr lang="es-ES_tradnl" sz="3200" baseline="-25000" dirty="0"/>
              <a:t> </a:t>
            </a:r>
            <a:r>
              <a:rPr lang="es-ES_tradnl" sz="3200" baseline="-25000" dirty="0" err="1"/>
              <a:t>d.genero</a:t>
            </a:r>
            <a:r>
              <a:rPr lang="es-ES_tradnl" sz="3200" baseline="-25000" dirty="0"/>
              <a:t> = “F” </a:t>
            </a:r>
            <a:r>
              <a:rPr lang="es-ES_tradnl" sz="3200" dirty="0">
                <a:solidFill>
                  <a:srgbClr val="008000"/>
                </a:solidFill>
              </a:rPr>
              <a:t>(</a:t>
            </a:r>
            <a:r>
              <a:rPr lang="es-ES_tradnl" sz="3200" dirty="0"/>
              <a:t>P∞D</a:t>
            </a:r>
            <a:r>
              <a:rPr lang="es-ES_tradnl" sz="3200" dirty="0">
                <a:solidFill>
                  <a:srgbClr val="008000"/>
                </a:solidFill>
              </a:rPr>
              <a:t>)</a:t>
            </a:r>
            <a:r>
              <a:rPr lang="es-ES_tradnl" sz="32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7332" y="2830705"/>
            <a:ext cx="7416802" cy="32316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s-ES_tradnl" sz="3200" dirty="0"/>
              <a:t>T(P) = 20000</a:t>
            </a:r>
          </a:p>
          <a:p>
            <a:r>
              <a:rPr lang="es-ES_tradnl" sz="3200" dirty="0"/>
              <a:t>T(D) = 500</a:t>
            </a:r>
          </a:p>
          <a:p>
            <a:r>
              <a:rPr lang="es-ES_tradnl" sz="3200" dirty="0"/>
              <a:t>T(P∞D) = 20000</a:t>
            </a:r>
          </a:p>
          <a:p>
            <a:r>
              <a:rPr lang="es-ES_tradnl" sz="3200" dirty="0"/>
              <a:t>T((P∞D) </a:t>
            </a:r>
            <a:r>
              <a:rPr lang="es-ES_tradnl" sz="2000" dirty="0"/>
              <a:t>genero = “F”</a:t>
            </a:r>
            <a:r>
              <a:rPr lang="es-ES_tradnl" sz="3200" dirty="0"/>
              <a:t>) = 20000 </a:t>
            </a:r>
            <a:r>
              <a:rPr lang="es-ES_tradnl" sz="3200" dirty="0" err="1"/>
              <a:t>aprox</a:t>
            </a:r>
            <a:endParaRPr lang="es-ES_tradnl" sz="3200" dirty="0"/>
          </a:p>
          <a:p>
            <a:r>
              <a:rPr lang="es-ES_tradnl" sz="3200" dirty="0"/>
              <a:t>Resultado = T(P)+T(D)+T(P∞D)+T(</a:t>
            </a:r>
            <a:r>
              <a:rPr lang="es-ES_tradnl" sz="3200" dirty="0" err="1"/>
              <a:t>D</a:t>
            </a:r>
            <a:r>
              <a:rPr lang="es-ES_tradnl" dirty="0" err="1"/>
              <a:t>genero</a:t>
            </a:r>
            <a:r>
              <a:rPr lang="es-ES_tradnl" dirty="0"/>
              <a:t> = “F”</a:t>
            </a:r>
            <a:r>
              <a:rPr lang="es-ES_tradnl" sz="3200" dirty="0"/>
              <a:t>)</a:t>
            </a:r>
            <a:r>
              <a:rPr lang="es-ES_tradnl" sz="4400" dirty="0"/>
              <a:t> </a:t>
            </a:r>
            <a:r>
              <a:rPr lang="es-ES_tradnl" sz="3200" dirty="0"/>
              <a:t>Resultado = 60.500 I/O </a:t>
            </a:r>
            <a:r>
              <a:rPr lang="es-ES_tradnl" sz="3200" dirty="0" err="1"/>
              <a:t>aprox</a:t>
            </a:r>
            <a:endParaRPr lang="es-ES_tradnl" sz="3200" dirty="0"/>
          </a:p>
        </p:txBody>
      </p:sp>
    </p:spTree>
    <p:extLst>
      <p:ext uri="{BB962C8B-B14F-4D97-AF65-F5344CB8AC3E}">
        <p14:creationId xmlns:p14="http://schemas.microsoft.com/office/powerpoint/2010/main" val="148074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7"/>
          <p:cNvCxnSpPr/>
          <p:nvPr/>
        </p:nvCxnSpPr>
        <p:spPr>
          <a:xfrm flipH="1" flipV="1">
            <a:off x="4504266" y="1773289"/>
            <a:ext cx="56169" cy="4530035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18864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 (COSTO #3)</a:t>
            </a:r>
          </a:p>
        </p:txBody>
      </p:sp>
      <p:grpSp>
        <p:nvGrpSpPr>
          <p:cNvPr id="136" name="Group 135"/>
          <p:cNvGrpSpPr/>
          <p:nvPr/>
        </p:nvGrpSpPr>
        <p:grpSpPr>
          <a:xfrm>
            <a:off x="91176" y="2022876"/>
            <a:ext cx="4336279" cy="4356278"/>
            <a:chOff x="7855721" y="1989009"/>
            <a:chExt cx="4336279" cy="4356278"/>
          </a:xfrm>
        </p:grpSpPr>
        <p:grpSp>
          <p:nvGrpSpPr>
            <p:cNvPr id="80" name="Group 79"/>
            <p:cNvGrpSpPr/>
            <p:nvPr/>
          </p:nvGrpSpPr>
          <p:grpSpPr>
            <a:xfrm>
              <a:off x="7855721" y="1989009"/>
              <a:ext cx="3845002" cy="4356278"/>
              <a:chOff x="8660297" y="1847901"/>
              <a:chExt cx="3845002" cy="4356278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9143940" y="1847901"/>
                <a:ext cx="2697772" cy="58477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l-GR" sz="3200" dirty="0"/>
                  <a:t>Π</a:t>
                </a:r>
                <a:r>
                  <a:rPr lang="es-ES_tradnl" sz="3200" baseline="-25000" dirty="0" err="1"/>
                  <a:t>p.nombre,d.nombre</a:t>
                </a:r>
                <a:endParaRPr lang="es-ES_tradnl" sz="3200" dirty="0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8827552" y="5619403"/>
                <a:ext cx="1324000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/>
                  <a:t>Doctor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0882940" y="4885013"/>
                <a:ext cx="1622359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/>
                  <a:t>Paciente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8660297" y="4648247"/>
                <a:ext cx="1673387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 err="1"/>
                  <a:t>σ</a:t>
                </a:r>
                <a:r>
                  <a:rPr lang="es-ES_tradnl" sz="3200" baseline="-25000" dirty="0" err="1"/>
                  <a:t>genero</a:t>
                </a:r>
                <a:r>
                  <a:rPr lang="es-ES_tradnl" sz="3200" baseline="-25000" dirty="0"/>
                  <a:t>=“F”</a:t>
                </a:r>
                <a:endParaRPr lang="es-ES_tradnl" sz="3200" dirty="0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10232067" y="2777168"/>
                <a:ext cx="494122" cy="576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3200" dirty="0"/>
                  <a:t>∞</a:t>
                </a:r>
              </a:p>
            </p:txBody>
          </p:sp>
          <p:cxnSp>
            <p:nvCxnSpPr>
              <p:cNvPr id="64" name="Straight Connector 63"/>
              <p:cNvCxnSpPr>
                <a:stCxn id="55" idx="2"/>
                <a:endCxn id="63" idx="0"/>
              </p:cNvCxnSpPr>
              <p:nvPr/>
            </p:nvCxnSpPr>
            <p:spPr>
              <a:xfrm flipH="1">
                <a:off x="10479128" y="2432677"/>
                <a:ext cx="13698" cy="344491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>
                <a:stCxn id="69" idx="0"/>
                <a:endCxn id="63" idx="2"/>
              </p:cNvCxnSpPr>
              <p:nvPr/>
            </p:nvCxnSpPr>
            <p:spPr>
              <a:xfrm flipV="1">
                <a:off x="9507042" y="3353917"/>
                <a:ext cx="972086" cy="499755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>
                <a:stCxn id="63" idx="2"/>
                <a:endCxn id="128" idx="0"/>
              </p:cNvCxnSpPr>
              <p:nvPr/>
            </p:nvCxnSpPr>
            <p:spPr>
              <a:xfrm>
                <a:off x="10479128" y="3353917"/>
                <a:ext cx="1211042" cy="533621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stCxn id="62" idx="2"/>
                <a:endCxn id="57" idx="0"/>
              </p:cNvCxnSpPr>
              <p:nvPr/>
            </p:nvCxnSpPr>
            <p:spPr>
              <a:xfrm flipH="1">
                <a:off x="9489552" y="5233023"/>
                <a:ext cx="7439" cy="386380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/>
              <p:cNvSpPr txBox="1"/>
              <p:nvPr/>
            </p:nvSpPr>
            <p:spPr>
              <a:xfrm>
                <a:off x="8739578" y="3853672"/>
                <a:ext cx="1534928" cy="58477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l-GR" sz="3200" dirty="0"/>
                  <a:t>Π</a:t>
                </a:r>
                <a:r>
                  <a:rPr lang="es-ES_tradnl" sz="3200" baseline="-25000" dirty="0" err="1"/>
                  <a:t>d.nombre</a:t>
                </a:r>
                <a:endParaRPr lang="es-ES_tradnl" sz="3200" dirty="0"/>
              </a:p>
            </p:txBody>
          </p:sp>
          <p:cxnSp>
            <p:nvCxnSpPr>
              <p:cNvPr id="70" name="Straight Connector 69"/>
              <p:cNvCxnSpPr>
                <a:stCxn id="69" idx="2"/>
                <a:endCxn id="62" idx="0"/>
              </p:cNvCxnSpPr>
              <p:nvPr/>
            </p:nvCxnSpPr>
            <p:spPr>
              <a:xfrm flipH="1">
                <a:off x="9496991" y="4438448"/>
                <a:ext cx="10051" cy="209799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TextBox 127"/>
            <p:cNvSpPr txBox="1"/>
            <p:nvPr/>
          </p:nvSpPr>
          <p:spPr>
            <a:xfrm>
              <a:off x="9579188" y="4028646"/>
              <a:ext cx="2612812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l-GR" sz="3200" dirty="0"/>
                <a:t>Π</a:t>
              </a:r>
              <a:r>
                <a:rPr lang="es-ES_tradnl" sz="3200" baseline="-25000" dirty="0" err="1"/>
                <a:t>p.doctor</a:t>
              </a:r>
              <a:r>
                <a:rPr lang="es-ES_tradnl" sz="3200" baseline="-25000" dirty="0"/>
                <a:t>, </a:t>
              </a:r>
              <a:r>
                <a:rPr lang="es-ES_tradnl" sz="3200" baseline="-25000" dirty="0" err="1"/>
                <a:t>p.nombre</a:t>
              </a:r>
              <a:endParaRPr lang="es-ES_tradnl" sz="3200" dirty="0"/>
            </a:p>
          </p:txBody>
        </p:sp>
      </p:grpSp>
      <p:cxnSp>
        <p:nvCxnSpPr>
          <p:cNvPr id="131" name="Straight Connector 130"/>
          <p:cNvCxnSpPr>
            <a:stCxn id="128" idx="2"/>
            <a:endCxn id="58" idx="0"/>
          </p:cNvCxnSpPr>
          <p:nvPr/>
        </p:nvCxnSpPr>
        <p:spPr>
          <a:xfrm>
            <a:off x="3121049" y="4647289"/>
            <a:ext cx="3950" cy="412699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194122" y="1456267"/>
            <a:ext cx="541866" cy="558800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14289" y="319160"/>
            <a:ext cx="2877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20.000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Paciente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tuplas</a:t>
            </a:r>
            <a:r>
              <a:rPr lang="en-US" dirty="0"/>
              <a:t> en Doctor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300 </a:t>
            </a:r>
            <a:r>
              <a:rPr lang="en-US" dirty="0" err="1"/>
              <a:t>doctores</a:t>
            </a:r>
            <a:r>
              <a:rPr lang="en-US" dirty="0"/>
              <a:t> </a:t>
            </a:r>
            <a:r>
              <a:rPr lang="en-US" dirty="0" err="1"/>
              <a:t>femeninos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4656667" y="1848571"/>
            <a:ext cx="7264400" cy="156966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s-ES_tradnl" sz="3200" dirty="0"/>
              <a:t>π</a:t>
            </a:r>
            <a:r>
              <a:rPr lang="es-ES_tradnl" sz="3200" baseline="-25000" dirty="0" err="1"/>
              <a:t>p.nombre</a:t>
            </a:r>
            <a:r>
              <a:rPr lang="es-ES_tradnl" sz="3200" baseline="-25000" dirty="0"/>
              <a:t>, </a:t>
            </a:r>
            <a:r>
              <a:rPr lang="es-ES_tradnl" sz="3200" baseline="-25000" dirty="0" err="1"/>
              <a:t>d.nombre</a:t>
            </a:r>
            <a:r>
              <a:rPr lang="es-ES_tradnl" sz="3200" baseline="-25000" dirty="0"/>
              <a:t> </a:t>
            </a:r>
            <a:r>
              <a:rPr lang="es-ES_tradnl" sz="3200" dirty="0">
                <a:solidFill>
                  <a:srgbClr val="FF0000"/>
                </a:solidFill>
              </a:rPr>
              <a:t>(</a:t>
            </a:r>
            <a:r>
              <a:rPr lang="es-ES_tradnl" sz="3200" dirty="0">
                <a:solidFill>
                  <a:srgbClr val="008000"/>
                </a:solidFill>
              </a:rPr>
              <a:t>(</a:t>
            </a:r>
            <a:r>
              <a:rPr lang="es-ES_tradnl" sz="3200" dirty="0"/>
              <a:t>π</a:t>
            </a:r>
            <a:r>
              <a:rPr lang="es-ES_tradnl" sz="3200" baseline="-25000" dirty="0" err="1"/>
              <a:t>d.nombre</a:t>
            </a:r>
            <a:r>
              <a:rPr lang="es-ES_tradnl" sz="3200" dirty="0"/>
              <a:t> </a:t>
            </a:r>
            <a:r>
              <a:rPr lang="es-ES_tradnl" sz="3200" dirty="0" err="1"/>
              <a:t>σ</a:t>
            </a:r>
            <a:r>
              <a:rPr lang="es-ES_tradnl" sz="3200" baseline="-25000" dirty="0"/>
              <a:t> </a:t>
            </a:r>
            <a:r>
              <a:rPr lang="es-ES_tradnl" sz="3200" baseline="-25000" dirty="0" err="1"/>
              <a:t>d.genero</a:t>
            </a:r>
            <a:r>
              <a:rPr lang="es-ES_tradnl" sz="3200" baseline="-25000" dirty="0"/>
              <a:t> = “F” </a:t>
            </a:r>
            <a:r>
              <a:rPr lang="es-ES_tradnl" sz="3200" dirty="0"/>
              <a:t>D</a:t>
            </a:r>
            <a:r>
              <a:rPr lang="es-ES_tradnl" sz="3200" dirty="0">
                <a:solidFill>
                  <a:srgbClr val="008000"/>
                </a:solidFill>
              </a:rPr>
              <a:t>)</a:t>
            </a:r>
            <a:r>
              <a:rPr lang="es-ES_tradnl" sz="3200" dirty="0"/>
              <a:t>∞</a:t>
            </a:r>
            <a:r>
              <a:rPr lang="es-ES_tradnl" sz="3200" baseline="-25000" dirty="0"/>
              <a:t> </a:t>
            </a:r>
            <a:r>
              <a:rPr lang="es-ES_tradnl" sz="3200" dirty="0">
                <a:solidFill>
                  <a:srgbClr val="008000"/>
                </a:solidFill>
              </a:rPr>
              <a:t>(</a:t>
            </a:r>
            <a:r>
              <a:rPr lang="es-ES_tradnl" sz="3200" dirty="0"/>
              <a:t>π</a:t>
            </a:r>
            <a:r>
              <a:rPr lang="es-ES_tradnl" sz="3200" baseline="-25000" dirty="0" err="1"/>
              <a:t>p.nombre</a:t>
            </a:r>
            <a:r>
              <a:rPr lang="es-ES_tradnl" sz="3200" baseline="-25000" dirty="0"/>
              <a:t>, </a:t>
            </a:r>
            <a:r>
              <a:rPr lang="es-ES_tradnl" sz="3200" baseline="-25000" dirty="0" err="1"/>
              <a:t>p.doctor</a:t>
            </a:r>
            <a:r>
              <a:rPr lang="es-ES_tradnl" sz="3200" baseline="-25000" dirty="0"/>
              <a:t> </a:t>
            </a:r>
            <a:r>
              <a:rPr lang="es-ES_tradnl" sz="3200" dirty="0"/>
              <a:t>P</a:t>
            </a:r>
            <a:r>
              <a:rPr lang="es-ES_tradnl" sz="3200" dirty="0">
                <a:solidFill>
                  <a:srgbClr val="008000"/>
                </a:solidFill>
              </a:rPr>
              <a:t>)</a:t>
            </a:r>
            <a:r>
              <a:rPr lang="es-ES_tradnl" sz="3200" dirty="0">
                <a:solidFill>
                  <a:srgbClr val="FF0000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s-ES_tradnl" sz="3200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645367" y="3067772"/>
            <a:ext cx="7546633" cy="304698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s-ES_tradnl" sz="3200" dirty="0"/>
              <a:t>T(D) = 500</a:t>
            </a:r>
          </a:p>
          <a:p>
            <a:r>
              <a:rPr lang="es-ES_tradnl" sz="3200" dirty="0"/>
              <a:t>T(D </a:t>
            </a:r>
            <a:r>
              <a:rPr lang="es-ES_tradnl" sz="2000" dirty="0"/>
              <a:t>genero = “F”</a:t>
            </a:r>
            <a:r>
              <a:rPr lang="es-ES_tradnl" sz="3200" dirty="0"/>
              <a:t>) = 300</a:t>
            </a:r>
          </a:p>
          <a:p>
            <a:r>
              <a:rPr lang="es-ES_tradnl" sz="3200" dirty="0"/>
              <a:t>T(P) = 20.000</a:t>
            </a:r>
          </a:p>
          <a:p>
            <a:r>
              <a:rPr lang="es-ES_tradnl" sz="3200" dirty="0"/>
              <a:t>T(P∞D) = 20.000</a:t>
            </a:r>
          </a:p>
          <a:p>
            <a:r>
              <a:rPr lang="es-ES_tradnl" sz="3200" dirty="0"/>
              <a:t>Resultado = T(D)+T(D </a:t>
            </a:r>
            <a:r>
              <a:rPr lang="es-ES_tradnl" sz="2000" dirty="0"/>
              <a:t>genero = “F”</a:t>
            </a:r>
            <a:r>
              <a:rPr lang="es-ES_tradnl" sz="3200" dirty="0"/>
              <a:t>)+T(P)+T(P∞D)</a:t>
            </a:r>
          </a:p>
          <a:p>
            <a:r>
              <a:rPr lang="es-ES_tradnl" sz="3200" dirty="0"/>
              <a:t>Resultado = 40.800 I/O</a:t>
            </a:r>
          </a:p>
        </p:txBody>
      </p:sp>
    </p:spTree>
    <p:extLst>
      <p:ext uri="{BB962C8B-B14F-4D97-AF65-F5344CB8AC3E}">
        <p14:creationId xmlns:p14="http://schemas.microsoft.com/office/powerpoint/2010/main" val="385677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lr>
                <a:srgbClr val="0000FF"/>
              </a:buClr>
              <a:buNone/>
            </a:pPr>
            <a:r>
              <a:rPr lang="es-ES_tradnl" sz="2800" dirty="0"/>
              <a:t>SELECT </a:t>
            </a:r>
            <a:r>
              <a:rPr lang="es-ES_tradnl" sz="2800" dirty="0" err="1"/>
              <a:t>p.nombre</a:t>
            </a:r>
            <a:r>
              <a:rPr lang="es-ES_tradnl" sz="2800" dirty="0"/>
              <a:t>, </a:t>
            </a:r>
            <a:r>
              <a:rPr lang="es-ES_tradnl" sz="2800" dirty="0" err="1"/>
              <a:t>d.nombre</a:t>
            </a:r>
            <a:r>
              <a:rPr lang="es-ES_tradnl" sz="2800" dirty="0"/>
              <a:t> FROM paciente p, doctor d WHERE </a:t>
            </a:r>
            <a:r>
              <a:rPr lang="es-ES_tradnl" sz="2800" dirty="0" err="1"/>
              <a:t>p.doctor</a:t>
            </a:r>
            <a:r>
              <a:rPr lang="es-ES_tradnl" sz="2800" dirty="0"/>
              <a:t> = </a:t>
            </a:r>
            <a:r>
              <a:rPr lang="es-ES_tradnl" sz="2800" dirty="0" err="1"/>
              <a:t>d.nombre</a:t>
            </a:r>
            <a:r>
              <a:rPr lang="es-ES_tradnl" sz="2800" dirty="0"/>
              <a:t> AND </a:t>
            </a:r>
            <a:r>
              <a:rPr lang="es-ES_tradnl" sz="2800" dirty="0" err="1"/>
              <a:t>d.genero</a:t>
            </a:r>
            <a:r>
              <a:rPr lang="es-ES_tradnl" sz="2800" dirty="0"/>
              <a:t> </a:t>
            </a:r>
            <a:r>
              <a:rPr lang="es-ES_tradnl" sz="2800"/>
              <a:t>= “F”;</a:t>
            </a:r>
            <a:endParaRPr lang="es-ES_tradnl" sz="2800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sz="2800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</p:txBody>
      </p:sp>
      <p:sp>
        <p:nvSpPr>
          <p:cNvPr id="4" name="Rectangle 3"/>
          <p:cNvSpPr/>
          <p:nvPr/>
        </p:nvSpPr>
        <p:spPr>
          <a:xfrm>
            <a:off x="304805" y="2898438"/>
            <a:ext cx="11633199" cy="3108544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endParaRPr lang="es-ES_tradnl" sz="2800" dirty="0"/>
          </a:p>
          <a:p>
            <a:pPr marL="514350" indent="-514350">
              <a:buFont typeface="+mj-lt"/>
              <a:buAutoNum type="arabicPeriod"/>
            </a:pPr>
            <a:r>
              <a:rPr lang="es-ES_tradnl" sz="2800" dirty="0"/>
              <a:t>π</a:t>
            </a:r>
            <a:r>
              <a:rPr lang="es-ES_tradnl" sz="2800" baseline="-25000" dirty="0" err="1"/>
              <a:t>p.nombre</a:t>
            </a:r>
            <a:r>
              <a:rPr lang="es-ES_tradnl" sz="2800" baseline="-25000" dirty="0"/>
              <a:t>, </a:t>
            </a:r>
            <a:r>
              <a:rPr lang="es-ES_tradnl" sz="2800" baseline="-25000" dirty="0" err="1"/>
              <a:t>d.nombre</a:t>
            </a:r>
            <a:r>
              <a:rPr lang="es-ES_tradnl" sz="2800" baseline="-25000" dirty="0"/>
              <a:t> </a:t>
            </a:r>
            <a:r>
              <a:rPr lang="es-ES_tradnl" sz="2800" dirty="0">
                <a:solidFill>
                  <a:srgbClr val="FF0000"/>
                </a:solidFill>
              </a:rPr>
              <a:t>( </a:t>
            </a:r>
            <a:r>
              <a:rPr lang="es-ES_tradnl" sz="2800" dirty="0" err="1"/>
              <a:t>σ</a:t>
            </a:r>
            <a:r>
              <a:rPr lang="es-ES_tradnl" sz="2800" baseline="-25000" dirty="0"/>
              <a:t> </a:t>
            </a:r>
            <a:r>
              <a:rPr lang="es-ES_tradnl" sz="2800" baseline="-25000" dirty="0" err="1"/>
              <a:t>d.genero</a:t>
            </a:r>
            <a:r>
              <a:rPr lang="es-ES_tradnl" sz="2800" baseline="-25000" dirty="0"/>
              <a:t> = “F” ^ </a:t>
            </a:r>
            <a:r>
              <a:rPr lang="es-ES_tradnl" sz="2800" baseline="-25000" dirty="0" err="1"/>
              <a:t>p.doctor</a:t>
            </a:r>
            <a:r>
              <a:rPr lang="es-ES_tradnl" sz="2800" baseline="-25000" dirty="0"/>
              <a:t> = </a:t>
            </a:r>
            <a:r>
              <a:rPr lang="es-ES_tradnl" sz="2800" baseline="-25000" dirty="0" err="1"/>
              <a:t>d.nombre</a:t>
            </a:r>
            <a:r>
              <a:rPr lang="es-ES_tradnl" sz="2800" baseline="-25000" dirty="0"/>
              <a:t> </a:t>
            </a:r>
            <a:r>
              <a:rPr lang="es-ES_tradnl" sz="2800" dirty="0">
                <a:solidFill>
                  <a:srgbClr val="008000"/>
                </a:solidFill>
              </a:rPr>
              <a:t>(</a:t>
            </a:r>
            <a:r>
              <a:rPr lang="es-ES_tradnl" sz="2800" dirty="0" err="1"/>
              <a:t>PxD</a:t>
            </a:r>
            <a:r>
              <a:rPr lang="es-ES_tradnl" sz="2800" dirty="0">
                <a:solidFill>
                  <a:srgbClr val="008000"/>
                </a:solidFill>
              </a:rPr>
              <a:t>)</a:t>
            </a:r>
            <a:r>
              <a:rPr lang="es-ES_tradnl" sz="2800" dirty="0">
                <a:solidFill>
                  <a:srgbClr val="FF0000"/>
                </a:solidFill>
              </a:rPr>
              <a:t>) </a:t>
            </a:r>
            <a:r>
              <a:rPr lang="es-ES_tradnl" sz="2800" dirty="0"/>
              <a:t>= 20’020.500 I/O</a:t>
            </a:r>
          </a:p>
          <a:p>
            <a:pPr marL="514350" indent="-514350">
              <a:buFont typeface="+mj-lt"/>
              <a:buAutoNum type="arabicPeriod"/>
            </a:pPr>
            <a:endParaRPr lang="es-ES_tradnl" sz="28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s-ES_tradnl" sz="2800" dirty="0"/>
              <a:t>π</a:t>
            </a:r>
            <a:r>
              <a:rPr lang="es-ES_tradnl" sz="2800" baseline="-25000" dirty="0" err="1"/>
              <a:t>p.nombre</a:t>
            </a:r>
            <a:r>
              <a:rPr lang="es-ES_tradnl" sz="2800" baseline="-25000" dirty="0"/>
              <a:t>, </a:t>
            </a:r>
            <a:r>
              <a:rPr lang="es-ES_tradnl" sz="2800" baseline="-25000" dirty="0" err="1"/>
              <a:t>d.nombre</a:t>
            </a:r>
            <a:r>
              <a:rPr lang="es-ES_tradnl" sz="2800" baseline="-25000" dirty="0"/>
              <a:t> </a:t>
            </a:r>
            <a:r>
              <a:rPr lang="es-ES_tradnl" sz="2800" dirty="0">
                <a:solidFill>
                  <a:srgbClr val="FF0000"/>
                </a:solidFill>
              </a:rPr>
              <a:t>( </a:t>
            </a:r>
            <a:r>
              <a:rPr lang="es-ES_tradnl" sz="2800" dirty="0" err="1"/>
              <a:t>σ</a:t>
            </a:r>
            <a:r>
              <a:rPr lang="es-ES_tradnl" sz="2800" baseline="-25000" dirty="0"/>
              <a:t> </a:t>
            </a:r>
            <a:r>
              <a:rPr lang="es-ES_tradnl" sz="2800" baseline="-25000" dirty="0" err="1"/>
              <a:t>d.genero</a:t>
            </a:r>
            <a:r>
              <a:rPr lang="es-ES_tradnl" sz="2800" baseline="-25000" dirty="0"/>
              <a:t> = “F” </a:t>
            </a:r>
            <a:r>
              <a:rPr lang="es-ES_tradnl" sz="2800" dirty="0">
                <a:solidFill>
                  <a:srgbClr val="008000"/>
                </a:solidFill>
              </a:rPr>
              <a:t>(</a:t>
            </a:r>
            <a:r>
              <a:rPr lang="es-ES_tradnl" sz="2800" dirty="0"/>
              <a:t>P∞D</a:t>
            </a:r>
            <a:r>
              <a:rPr lang="es-ES_tradnl" sz="2800" dirty="0">
                <a:solidFill>
                  <a:srgbClr val="008000"/>
                </a:solidFill>
              </a:rPr>
              <a:t>)</a:t>
            </a:r>
            <a:r>
              <a:rPr lang="es-ES_tradnl" sz="2800" dirty="0">
                <a:solidFill>
                  <a:srgbClr val="FF0000"/>
                </a:solidFill>
              </a:rPr>
              <a:t>) </a:t>
            </a:r>
            <a:r>
              <a:rPr lang="es-ES_tradnl" sz="2800" dirty="0"/>
              <a:t>= 60.500 I/O</a:t>
            </a:r>
            <a:endParaRPr lang="es-ES_tradnl" sz="28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ES_tradnl" sz="28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s-ES_tradnl" sz="2800" dirty="0"/>
              <a:t>π</a:t>
            </a:r>
            <a:r>
              <a:rPr lang="es-ES_tradnl" sz="2800" baseline="-25000" dirty="0" err="1"/>
              <a:t>p.nombre</a:t>
            </a:r>
            <a:r>
              <a:rPr lang="es-ES_tradnl" sz="2800" baseline="-25000" dirty="0"/>
              <a:t>, </a:t>
            </a:r>
            <a:r>
              <a:rPr lang="es-ES_tradnl" sz="2800" baseline="-25000" dirty="0" err="1"/>
              <a:t>d.nombre</a:t>
            </a:r>
            <a:r>
              <a:rPr lang="es-ES_tradnl" sz="2800" baseline="-25000" dirty="0"/>
              <a:t> </a:t>
            </a:r>
            <a:r>
              <a:rPr lang="es-ES_tradnl" sz="2800" dirty="0">
                <a:solidFill>
                  <a:srgbClr val="FF0000"/>
                </a:solidFill>
              </a:rPr>
              <a:t>(</a:t>
            </a:r>
            <a:r>
              <a:rPr lang="es-ES_tradnl" sz="2800" dirty="0">
                <a:solidFill>
                  <a:srgbClr val="008000"/>
                </a:solidFill>
              </a:rPr>
              <a:t>(</a:t>
            </a:r>
            <a:r>
              <a:rPr lang="es-ES_tradnl" sz="2800" dirty="0"/>
              <a:t>π</a:t>
            </a:r>
            <a:r>
              <a:rPr lang="es-ES_tradnl" sz="2800" baseline="-25000" dirty="0" err="1"/>
              <a:t>d.nombre</a:t>
            </a:r>
            <a:r>
              <a:rPr lang="es-ES_tradnl" sz="2800" dirty="0"/>
              <a:t> </a:t>
            </a:r>
            <a:r>
              <a:rPr lang="es-ES_tradnl" sz="2800" dirty="0" err="1"/>
              <a:t>σ</a:t>
            </a:r>
            <a:r>
              <a:rPr lang="es-ES_tradnl" sz="2800" baseline="-25000" dirty="0"/>
              <a:t> </a:t>
            </a:r>
            <a:r>
              <a:rPr lang="es-ES_tradnl" sz="2800" baseline="-25000" dirty="0" err="1"/>
              <a:t>d.genero</a:t>
            </a:r>
            <a:r>
              <a:rPr lang="es-ES_tradnl" sz="2800" baseline="-25000" dirty="0"/>
              <a:t> = “F” </a:t>
            </a:r>
            <a:r>
              <a:rPr lang="es-ES_tradnl" sz="2800" dirty="0"/>
              <a:t>D</a:t>
            </a:r>
            <a:r>
              <a:rPr lang="es-ES_tradnl" sz="2800" dirty="0">
                <a:solidFill>
                  <a:srgbClr val="008000"/>
                </a:solidFill>
              </a:rPr>
              <a:t>)</a:t>
            </a:r>
            <a:r>
              <a:rPr lang="es-ES_tradnl" sz="2800" dirty="0"/>
              <a:t>∞</a:t>
            </a:r>
            <a:r>
              <a:rPr lang="es-ES_tradnl" sz="2800" baseline="-25000" dirty="0"/>
              <a:t> </a:t>
            </a:r>
            <a:r>
              <a:rPr lang="es-ES_tradnl" sz="2800" dirty="0">
                <a:solidFill>
                  <a:srgbClr val="008000"/>
                </a:solidFill>
              </a:rPr>
              <a:t>(</a:t>
            </a:r>
            <a:r>
              <a:rPr lang="es-ES_tradnl" sz="2800" dirty="0"/>
              <a:t>π</a:t>
            </a:r>
            <a:r>
              <a:rPr lang="es-ES_tradnl" sz="2800" baseline="-25000" dirty="0" err="1"/>
              <a:t>p.nombre</a:t>
            </a:r>
            <a:r>
              <a:rPr lang="es-ES_tradnl" sz="2800" baseline="-25000" dirty="0"/>
              <a:t>, </a:t>
            </a:r>
            <a:r>
              <a:rPr lang="es-ES_tradnl" sz="2800" baseline="-25000" dirty="0" err="1"/>
              <a:t>p.doctor</a:t>
            </a:r>
            <a:r>
              <a:rPr lang="es-ES_tradnl" sz="2800" baseline="-25000" dirty="0"/>
              <a:t> </a:t>
            </a:r>
            <a:r>
              <a:rPr lang="es-ES_tradnl" sz="2800" dirty="0"/>
              <a:t>P</a:t>
            </a:r>
            <a:r>
              <a:rPr lang="es-ES_tradnl" sz="2800" dirty="0">
                <a:solidFill>
                  <a:srgbClr val="008000"/>
                </a:solidFill>
              </a:rPr>
              <a:t>)</a:t>
            </a:r>
            <a:r>
              <a:rPr lang="es-ES_tradnl" sz="2800" dirty="0">
                <a:solidFill>
                  <a:srgbClr val="FF0000"/>
                </a:solidFill>
              </a:rPr>
              <a:t>) </a:t>
            </a:r>
            <a:r>
              <a:rPr lang="es-ES_tradnl" sz="2800" dirty="0"/>
              <a:t>= 40.800 I/O</a:t>
            </a:r>
          </a:p>
          <a:p>
            <a:pPr marL="514350" indent="-514350">
              <a:buFont typeface="+mj-lt"/>
              <a:buAutoNum type="arabicPeriod"/>
            </a:pPr>
            <a:endParaRPr lang="es-ES_tradnl" sz="28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36211" y="251426"/>
            <a:ext cx="28777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20.000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Paciente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tuplas</a:t>
            </a:r>
            <a:r>
              <a:rPr lang="en-US" dirty="0"/>
              <a:t> en Doctor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300 </a:t>
            </a:r>
            <a:r>
              <a:rPr lang="en-US" dirty="0" err="1"/>
              <a:t>doctores</a:t>
            </a:r>
            <a:r>
              <a:rPr lang="en-US" dirty="0"/>
              <a:t> </a:t>
            </a:r>
            <a:r>
              <a:rPr lang="en-US" dirty="0" err="1"/>
              <a:t>femeninos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2399" y="5113867"/>
            <a:ext cx="11921067" cy="508000"/>
          </a:xfrm>
          <a:prstGeom prst="rect">
            <a:avLst/>
          </a:prstGeom>
          <a:solidFill>
            <a:srgbClr val="FF0000">
              <a:alpha val="1800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EJERCICIO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Clr>
                <a:srgbClr val="0000FF"/>
              </a:buClr>
              <a:buNone/>
            </a:pPr>
            <a:r>
              <a:rPr lang="es-ES_tradnl" sz="2800" dirty="0"/>
              <a:t>Se tiene el siguiente esquema y </a:t>
            </a:r>
            <a:r>
              <a:rPr lang="es-ES_tradnl" sz="2800" dirty="0" err="1"/>
              <a:t>query</a:t>
            </a:r>
            <a:r>
              <a:rPr lang="es-ES_tradnl" sz="2800" dirty="0"/>
              <a:t>: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b="1" dirty="0"/>
              <a:t>Estudiante</a:t>
            </a:r>
            <a:r>
              <a:rPr lang="es-ES_tradnl" sz="2800" dirty="0"/>
              <a:t>(</a:t>
            </a:r>
            <a:r>
              <a:rPr lang="es-ES_tradnl" sz="2800" u="sng" dirty="0" err="1"/>
              <a:t>eId</a:t>
            </a:r>
            <a:r>
              <a:rPr lang="es-ES_tradnl" sz="2800" dirty="0"/>
              <a:t>, nombre, edad, </a:t>
            </a:r>
            <a:r>
              <a:rPr lang="es-ES_tradnl" sz="2800" dirty="0" err="1"/>
              <a:t>direccion</a:t>
            </a:r>
            <a:r>
              <a:rPr lang="es-ES_tradnl" sz="2800" dirty="0"/>
              <a:t>)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b="1" dirty="0"/>
              <a:t>Libro</a:t>
            </a:r>
            <a:r>
              <a:rPr lang="es-ES_tradnl" sz="2800" dirty="0"/>
              <a:t>(</a:t>
            </a:r>
            <a:r>
              <a:rPr lang="es-ES_tradnl" sz="2800" u="sng" dirty="0" err="1"/>
              <a:t>lId</a:t>
            </a:r>
            <a:r>
              <a:rPr lang="es-ES_tradnl" sz="2800" dirty="0"/>
              <a:t>, titulo, autor)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b="1" dirty="0" err="1"/>
              <a:t>SalidaLibro</a:t>
            </a:r>
            <a:r>
              <a:rPr lang="es-ES_tradnl" sz="2800" dirty="0"/>
              <a:t>(</a:t>
            </a:r>
            <a:r>
              <a:rPr lang="es-ES_tradnl" sz="2800" u="sng" dirty="0" err="1"/>
              <a:t>eId</a:t>
            </a:r>
            <a:r>
              <a:rPr lang="es-ES_tradnl" sz="2800" dirty="0"/>
              <a:t>, </a:t>
            </a:r>
            <a:r>
              <a:rPr lang="es-ES_tradnl" sz="2800" u="sng" dirty="0" err="1"/>
              <a:t>lId</a:t>
            </a:r>
            <a:r>
              <a:rPr lang="es-ES_tradnl" sz="2800" dirty="0"/>
              <a:t>, fecha)</a:t>
            </a:r>
          </a:p>
          <a:p>
            <a:pPr marL="0" indent="0">
              <a:buClr>
                <a:srgbClr val="0000FF"/>
              </a:buClr>
              <a:buNone/>
            </a:pPr>
            <a:endParaRPr lang="es-ES_tradnl" sz="2800" dirty="0"/>
          </a:p>
          <a:p>
            <a:pPr marL="0" indent="0">
              <a:buClr>
                <a:srgbClr val="0000FF"/>
              </a:buClr>
              <a:buNone/>
            </a:pPr>
            <a:r>
              <a:rPr lang="es-ES_tradnl" sz="2800" b="1" dirty="0"/>
              <a:t>SELECT</a:t>
            </a:r>
            <a:r>
              <a:rPr lang="es-ES_tradnl" sz="2800" dirty="0"/>
              <a:t> </a:t>
            </a:r>
            <a:r>
              <a:rPr lang="es-ES_tradnl" sz="2800" dirty="0" err="1"/>
              <a:t>e.nombre</a:t>
            </a:r>
            <a:r>
              <a:rPr lang="es-ES_tradnl" sz="2800" dirty="0"/>
              <a:t> </a:t>
            </a:r>
            <a:r>
              <a:rPr lang="es-ES_tradnl" sz="2800" b="1" dirty="0"/>
              <a:t>FROM</a:t>
            </a:r>
            <a:r>
              <a:rPr lang="es-ES_tradnl" sz="2800" dirty="0"/>
              <a:t> Estudiante E, Libro L, </a:t>
            </a:r>
            <a:r>
              <a:rPr lang="es-ES_tradnl" sz="2800" dirty="0" err="1"/>
              <a:t>SalidLibro</a:t>
            </a:r>
            <a:r>
              <a:rPr lang="es-ES_tradnl" sz="2800" dirty="0"/>
              <a:t> SL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2800" b="1" dirty="0"/>
              <a:t>WHERE</a:t>
            </a:r>
            <a:r>
              <a:rPr lang="es-ES_tradnl" sz="2800" dirty="0"/>
              <a:t> </a:t>
            </a:r>
            <a:r>
              <a:rPr lang="es-ES_tradnl" sz="2800" dirty="0" err="1"/>
              <a:t>E.eId</a:t>
            </a:r>
            <a:r>
              <a:rPr lang="es-ES_tradnl" sz="2800" dirty="0"/>
              <a:t> = </a:t>
            </a:r>
            <a:r>
              <a:rPr lang="es-ES_tradnl" sz="2800" dirty="0" err="1"/>
              <a:t>SL.eId</a:t>
            </a:r>
            <a:r>
              <a:rPr lang="es-ES_tradnl" sz="2800" dirty="0"/>
              <a:t> </a:t>
            </a:r>
            <a:r>
              <a:rPr lang="es-ES_tradnl" sz="2800" b="1" dirty="0"/>
              <a:t>AND</a:t>
            </a:r>
            <a:r>
              <a:rPr lang="es-ES_tradnl" sz="2800" dirty="0"/>
              <a:t> </a:t>
            </a:r>
            <a:r>
              <a:rPr lang="es-ES_tradnl" sz="2800" dirty="0" err="1"/>
              <a:t>L.lId</a:t>
            </a:r>
            <a:r>
              <a:rPr lang="es-ES_tradnl" sz="2800" dirty="0"/>
              <a:t> = </a:t>
            </a:r>
            <a:r>
              <a:rPr lang="es-ES_tradnl" sz="2800" dirty="0" err="1"/>
              <a:t>SL.lId</a:t>
            </a:r>
            <a:r>
              <a:rPr lang="es-ES_tradnl" sz="2800" dirty="0"/>
              <a:t> 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2800" b="1" dirty="0"/>
              <a:t>AND</a:t>
            </a:r>
            <a:r>
              <a:rPr lang="es-ES_tradnl" sz="2800" dirty="0"/>
              <a:t> </a:t>
            </a:r>
            <a:r>
              <a:rPr lang="es-ES_tradnl" sz="2800" dirty="0" err="1"/>
              <a:t>L.autor</a:t>
            </a:r>
            <a:r>
              <a:rPr lang="es-ES_tradnl" sz="2800" dirty="0"/>
              <a:t> = ‘Gabriel García </a:t>
            </a:r>
            <a:r>
              <a:rPr lang="es-ES_tradnl" sz="2800" dirty="0" err="1"/>
              <a:t>Marquez</a:t>
            </a:r>
            <a:r>
              <a:rPr lang="es-ES_tradnl" sz="2800" dirty="0"/>
              <a:t>’ 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sz="2800" b="1" dirty="0"/>
              <a:t>AND</a:t>
            </a:r>
            <a:r>
              <a:rPr lang="es-ES_tradnl" sz="2800" dirty="0"/>
              <a:t> </a:t>
            </a:r>
            <a:r>
              <a:rPr lang="es-ES_tradnl" sz="2800" dirty="0" err="1"/>
              <a:t>E.edad</a:t>
            </a:r>
            <a:r>
              <a:rPr lang="es-ES_tradnl" sz="2800" dirty="0"/>
              <a:t> &gt; 12 </a:t>
            </a:r>
            <a:r>
              <a:rPr lang="es-ES_tradnl" sz="2800" b="1" dirty="0"/>
              <a:t>AND</a:t>
            </a:r>
            <a:r>
              <a:rPr lang="es-ES_tradnl" sz="2800" dirty="0"/>
              <a:t> </a:t>
            </a:r>
            <a:r>
              <a:rPr lang="es-ES_tradnl" sz="2800" dirty="0" err="1"/>
              <a:t>E.edad</a:t>
            </a:r>
            <a:r>
              <a:rPr lang="es-ES_tradnl" sz="2800" dirty="0"/>
              <a:t> &lt; 20;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sz="2800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00951" y="1605061"/>
            <a:ext cx="53910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existen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1.000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15.000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Salida</a:t>
            </a:r>
            <a:r>
              <a:rPr lang="en-US" dirty="0"/>
              <a:t> de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autores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800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r>
              <a:rPr lang="en-US" dirty="0"/>
              <a:t> con </a:t>
            </a:r>
            <a:r>
              <a:rPr lang="en-US" dirty="0" err="1"/>
              <a:t>rango</a:t>
            </a:r>
            <a:r>
              <a:rPr lang="en-US" dirty="0"/>
              <a:t> de </a:t>
            </a:r>
            <a:r>
              <a:rPr lang="en-US" dirty="0" err="1"/>
              <a:t>edad</a:t>
            </a:r>
            <a:r>
              <a:rPr lang="en-US" dirty="0"/>
              <a:t> entre 12 y 20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libros</a:t>
            </a:r>
            <a:r>
              <a:rPr lang="en-US" dirty="0"/>
              <a:t> </a:t>
            </a:r>
            <a:r>
              <a:rPr lang="en-US" dirty="0" err="1"/>
              <a:t>escritos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Gabriel </a:t>
            </a:r>
            <a:r>
              <a:rPr lang="en-US" dirty="0" err="1"/>
              <a:t>García</a:t>
            </a:r>
            <a:r>
              <a:rPr lang="en-US" dirty="0"/>
              <a:t> Marquez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55905" y="4765539"/>
            <a:ext cx="4824612" cy="120032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dirty="0" err="1"/>
              <a:t>Diseñe</a:t>
            </a:r>
            <a:r>
              <a:rPr lang="en-US" dirty="0"/>
              <a:t> el plan AR </a:t>
            </a:r>
            <a:r>
              <a:rPr lang="en-US" dirty="0" err="1"/>
              <a:t>optimizado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Genere</a:t>
            </a:r>
            <a:r>
              <a:rPr lang="en-US" dirty="0"/>
              <a:t> la </a:t>
            </a:r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costos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 </a:t>
            </a:r>
            <a:r>
              <a:rPr lang="en-US" dirty="0" err="1"/>
              <a:t>descrito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Recomendaciones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optimizar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86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4068" y="286603"/>
            <a:ext cx="7011611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EJERCICIO 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8092" y="1855734"/>
            <a:ext cx="49039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existen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1.000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15.000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Salida</a:t>
            </a:r>
            <a:r>
              <a:rPr lang="en-US" dirty="0"/>
              <a:t> de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autores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800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r>
              <a:rPr lang="en-US" dirty="0"/>
              <a:t> con </a:t>
            </a:r>
            <a:r>
              <a:rPr lang="en-US" dirty="0" err="1"/>
              <a:t>rango</a:t>
            </a:r>
            <a:r>
              <a:rPr lang="en-US" dirty="0"/>
              <a:t> de </a:t>
            </a:r>
            <a:r>
              <a:rPr lang="en-US" dirty="0" err="1"/>
              <a:t>edad</a:t>
            </a:r>
            <a:r>
              <a:rPr lang="en-US" dirty="0"/>
              <a:t> entre 12 y 20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libros</a:t>
            </a:r>
            <a:r>
              <a:rPr lang="en-US" dirty="0"/>
              <a:t> </a:t>
            </a:r>
            <a:r>
              <a:rPr lang="en-US" dirty="0" err="1"/>
              <a:t>escritos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Gabriel </a:t>
            </a:r>
            <a:r>
              <a:rPr lang="en-US" dirty="0" err="1"/>
              <a:t>García</a:t>
            </a:r>
            <a:r>
              <a:rPr lang="en-US" dirty="0"/>
              <a:t> Marquez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7388" y="5116481"/>
            <a:ext cx="4824612" cy="120032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dirty="0" err="1"/>
              <a:t>Diseñe</a:t>
            </a:r>
            <a:r>
              <a:rPr lang="en-US" dirty="0"/>
              <a:t> el plan AR </a:t>
            </a:r>
            <a:r>
              <a:rPr lang="en-US" dirty="0" err="1"/>
              <a:t>optimizado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Genere</a:t>
            </a:r>
            <a:r>
              <a:rPr lang="en-US" dirty="0"/>
              <a:t> la </a:t>
            </a:r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costos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 </a:t>
            </a:r>
            <a:r>
              <a:rPr lang="en-US" dirty="0" err="1"/>
              <a:t>descrito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Recomendaciones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optimizar</a:t>
            </a:r>
            <a:endParaRPr lang="en-US" dirty="0"/>
          </a:p>
        </p:txBody>
      </p:sp>
      <p:grpSp>
        <p:nvGrpSpPr>
          <p:cNvPr id="71" name="Group 70"/>
          <p:cNvGrpSpPr/>
          <p:nvPr/>
        </p:nvGrpSpPr>
        <p:grpSpPr>
          <a:xfrm>
            <a:off x="0" y="1057295"/>
            <a:ext cx="8295928" cy="5369914"/>
            <a:chOff x="0" y="1057295"/>
            <a:chExt cx="8295928" cy="5369914"/>
          </a:xfrm>
        </p:grpSpPr>
        <p:sp>
          <p:nvSpPr>
            <p:cNvPr id="22" name="TextBox 21"/>
            <p:cNvSpPr txBox="1"/>
            <p:nvPr/>
          </p:nvSpPr>
          <p:spPr>
            <a:xfrm>
              <a:off x="3422163" y="1057295"/>
              <a:ext cx="1531321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e.Nombre</a:t>
              </a:r>
              <a:endParaRPr lang="es-EC" sz="3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18349" y="2011795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∞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26194" y="5903989"/>
              <a:ext cx="1740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Estudiante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02889" y="5104672"/>
              <a:ext cx="9212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Libro</a:t>
              </a:r>
            </a:p>
          </p:txBody>
        </p:sp>
        <p:cxnSp>
          <p:nvCxnSpPr>
            <p:cNvPr id="26" name="Straight Connector 25"/>
            <p:cNvCxnSpPr>
              <a:stCxn id="42" idx="2"/>
              <a:endCxn id="33" idx="0"/>
            </p:cNvCxnSpPr>
            <p:nvPr/>
          </p:nvCxnSpPr>
          <p:spPr>
            <a:xfrm flipH="1">
              <a:off x="1381513" y="3825685"/>
              <a:ext cx="929675" cy="443953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3" idx="2"/>
              <a:endCxn id="35" idx="0"/>
            </p:cNvCxnSpPr>
            <p:nvPr/>
          </p:nvCxnSpPr>
          <p:spPr>
            <a:xfrm>
              <a:off x="4185710" y="2596571"/>
              <a:ext cx="2075256" cy="589148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230930" y="4092064"/>
              <a:ext cx="4064998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autor</a:t>
              </a:r>
              <a:r>
                <a:rPr lang="es-EC" sz="3200" dirty="0"/>
                <a:t> </a:t>
              </a:r>
              <a:r>
                <a:rPr lang="es-EC" sz="3200" baseline="-25000" dirty="0"/>
                <a:t>= ‘Gabriel García Marquez’</a:t>
              </a:r>
              <a:endParaRPr lang="es-EC" sz="3200" dirty="0"/>
            </a:p>
          </p:txBody>
        </p:sp>
        <p:cxnSp>
          <p:nvCxnSpPr>
            <p:cNvPr id="29" name="Straight Connector 28"/>
            <p:cNvCxnSpPr>
              <a:stCxn id="31" idx="2"/>
              <a:endCxn id="24" idx="0"/>
            </p:cNvCxnSpPr>
            <p:nvPr/>
          </p:nvCxnSpPr>
          <p:spPr>
            <a:xfrm>
              <a:off x="1392401" y="5633062"/>
              <a:ext cx="3796" cy="27092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8" idx="0"/>
              <a:endCxn id="35" idx="2"/>
            </p:cNvCxnSpPr>
            <p:nvPr/>
          </p:nvCxnSpPr>
          <p:spPr>
            <a:xfrm flipH="1" flipV="1">
              <a:off x="6260966" y="3770495"/>
              <a:ext cx="2463" cy="32156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0" y="5048286"/>
              <a:ext cx="278480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edad &gt;12 ^ edad &lt; 20</a:t>
              </a:r>
              <a:endParaRPr lang="es-EC" sz="3200" dirty="0"/>
            </a:p>
          </p:txBody>
        </p:sp>
        <p:cxnSp>
          <p:nvCxnSpPr>
            <p:cNvPr id="32" name="Straight Connector 31"/>
            <p:cNvCxnSpPr>
              <a:stCxn id="23" idx="0"/>
              <a:endCxn id="22" idx="2"/>
            </p:cNvCxnSpPr>
            <p:nvPr/>
          </p:nvCxnSpPr>
          <p:spPr>
            <a:xfrm flipV="1">
              <a:off x="4185710" y="1642071"/>
              <a:ext cx="2114" cy="369724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273812" y="4269638"/>
              <a:ext cx="2215402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e.Nombre, e.eId</a:t>
              </a:r>
              <a:endParaRPr lang="es-EC" sz="3200" dirty="0"/>
            </a:p>
          </p:txBody>
        </p:sp>
        <p:cxnSp>
          <p:nvCxnSpPr>
            <p:cNvPr id="34" name="Straight Connector 33"/>
            <p:cNvCxnSpPr>
              <a:stCxn id="33" idx="2"/>
              <a:endCxn id="31" idx="0"/>
            </p:cNvCxnSpPr>
            <p:nvPr/>
          </p:nvCxnSpPr>
          <p:spPr>
            <a:xfrm>
              <a:off x="1381513" y="4854414"/>
              <a:ext cx="10888" cy="19387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851572" y="3185719"/>
              <a:ext cx="818787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l.lId</a:t>
              </a:r>
              <a:endParaRPr lang="es-EC" sz="3200" dirty="0"/>
            </a:p>
          </p:txBody>
        </p:sp>
        <p:cxnSp>
          <p:nvCxnSpPr>
            <p:cNvPr id="36" name="Straight Connector 35"/>
            <p:cNvCxnSpPr>
              <a:stCxn id="28" idx="2"/>
              <a:endCxn id="25" idx="0"/>
            </p:cNvCxnSpPr>
            <p:nvPr/>
          </p:nvCxnSpPr>
          <p:spPr>
            <a:xfrm>
              <a:off x="6263429" y="4676840"/>
              <a:ext cx="71" cy="42783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208856" y="5807263"/>
              <a:ext cx="17836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SalidaLibro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67706" y="4938116"/>
              <a:ext cx="1664236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sl.eId, sl.lId</a:t>
              </a:r>
              <a:endParaRPr lang="es-EC" sz="3200" dirty="0"/>
            </a:p>
          </p:txBody>
        </p:sp>
        <p:cxnSp>
          <p:nvCxnSpPr>
            <p:cNvPr id="41" name="Straight Connector 40"/>
            <p:cNvCxnSpPr>
              <a:stCxn id="40" idx="2"/>
              <a:endCxn id="37" idx="0"/>
            </p:cNvCxnSpPr>
            <p:nvPr/>
          </p:nvCxnSpPr>
          <p:spPr>
            <a:xfrm>
              <a:off x="4099824" y="5522892"/>
              <a:ext cx="863" cy="28437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2043827" y="3240909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/>
                <a:t>∞</a:t>
              </a:r>
            </a:p>
          </p:txBody>
        </p:sp>
        <p:cxnSp>
          <p:nvCxnSpPr>
            <p:cNvPr id="43" name="Straight Connector 42"/>
            <p:cNvCxnSpPr>
              <a:stCxn id="42" idx="2"/>
              <a:endCxn id="40" idx="0"/>
            </p:cNvCxnSpPr>
            <p:nvPr/>
          </p:nvCxnSpPr>
          <p:spPr>
            <a:xfrm>
              <a:off x="2311188" y="3825685"/>
              <a:ext cx="1788636" cy="111243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23" idx="2"/>
              <a:endCxn id="42" idx="0"/>
            </p:cNvCxnSpPr>
            <p:nvPr/>
          </p:nvCxnSpPr>
          <p:spPr>
            <a:xfrm flipH="1">
              <a:off x="2311188" y="2596571"/>
              <a:ext cx="1874522" cy="644338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3564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4068" y="286603"/>
            <a:ext cx="7011611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EJERCICIO (b)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8092" y="1855734"/>
            <a:ext cx="49039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existen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1.000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15.000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Salida</a:t>
            </a:r>
            <a:r>
              <a:rPr lang="en-US" dirty="0"/>
              <a:t> de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autores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800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r>
              <a:rPr lang="en-US" dirty="0"/>
              <a:t> con </a:t>
            </a:r>
            <a:r>
              <a:rPr lang="en-US" dirty="0" err="1"/>
              <a:t>rango</a:t>
            </a:r>
            <a:r>
              <a:rPr lang="en-US" dirty="0"/>
              <a:t> de </a:t>
            </a:r>
            <a:r>
              <a:rPr lang="en-US" dirty="0" err="1"/>
              <a:t>edad</a:t>
            </a:r>
            <a:r>
              <a:rPr lang="en-US" dirty="0"/>
              <a:t> entre 12 y 20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libros</a:t>
            </a:r>
            <a:r>
              <a:rPr lang="en-US" dirty="0"/>
              <a:t> </a:t>
            </a:r>
            <a:r>
              <a:rPr lang="en-US" dirty="0" err="1"/>
              <a:t>escritos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Gabriel </a:t>
            </a:r>
            <a:r>
              <a:rPr lang="en-US" dirty="0" err="1"/>
              <a:t>García</a:t>
            </a:r>
            <a:r>
              <a:rPr lang="en-US" dirty="0"/>
              <a:t> Marquez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7388" y="5116481"/>
            <a:ext cx="4824612" cy="120032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dirty="0" err="1"/>
              <a:t>Diseñe</a:t>
            </a:r>
            <a:r>
              <a:rPr lang="en-US" dirty="0"/>
              <a:t> el plan AR </a:t>
            </a:r>
            <a:r>
              <a:rPr lang="en-US" dirty="0" err="1"/>
              <a:t>optimizado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Genere</a:t>
            </a:r>
            <a:r>
              <a:rPr lang="en-US" dirty="0"/>
              <a:t> la </a:t>
            </a:r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costos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 </a:t>
            </a:r>
            <a:r>
              <a:rPr lang="en-US" dirty="0" err="1"/>
              <a:t>descrito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Recomendaciones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optimizar</a:t>
            </a:r>
            <a:endParaRPr lang="en-US" dirty="0"/>
          </a:p>
        </p:txBody>
      </p:sp>
      <p:grpSp>
        <p:nvGrpSpPr>
          <p:cNvPr id="71" name="Group 70"/>
          <p:cNvGrpSpPr/>
          <p:nvPr/>
        </p:nvGrpSpPr>
        <p:grpSpPr>
          <a:xfrm>
            <a:off x="0" y="1057295"/>
            <a:ext cx="8295928" cy="5369914"/>
            <a:chOff x="0" y="1057295"/>
            <a:chExt cx="8295928" cy="5369914"/>
          </a:xfrm>
        </p:grpSpPr>
        <p:sp>
          <p:nvSpPr>
            <p:cNvPr id="22" name="TextBox 21"/>
            <p:cNvSpPr txBox="1"/>
            <p:nvPr/>
          </p:nvSpPr>
          <p:spPr>
            <a:xfrm>
              <a:off x="3422163" y="1057295"/>
              <a:ext cx="1531321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e.Nombre</a:t>
              </a:r>
              <a:endParaRPr lang="es-EC" sz="3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18349" y="2011795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∞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26194" y="5903989"/>
              <a:ext cx="1740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Estudiante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02889" y="5104672"/>
              <a:ext cx="9212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Libro</a:t>
              </a:r>
            </a:p>
          </p:txBody>
        </p:sp>
        <p:cxnSp>
          <p:nvCxnSpPr>
            <p:cNvPr id="26" name="Straight Connector 25"/>
            <p:cNvCxnSpPr>
              <a:stCxn id="42" idx="2"/>
              <a:endCxn id="33" idx="0"/>
            </p:cNvCxnSpPr>
            <p:nvPr/>
          </p:nvCxnSpPr>
          <p:spPr>
            <a:xfrm flipH="1">
              <a:off x="1381513" y="3825685"/>
              <a:ext cx="929675" cy="443953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3" idx="2"/>
              <a:endCxn id="35" idx="0"/>
            </p:cNvCxnSpPr>
            <p:nvPr/>
          </p:nvCxnSpPr>
          <p:spPr>
            <a:xfrm>
              <a:off x="4185710" y="2596571"/>
              <a:ext cx="2075256" cy="589148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230930" y="4092064"/>
              <a:ext cx="4064998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autor</a:t>
              </a:r>
              <a:r>
                <a:rPr lang="es-EC" sz="3200" dirty="0"/>
                <a:t> </a:t>
              </a:r>
              <a:r>
                <a:rPr lang="es-EC" sz="3200" baseline="-25000" dirty="0"/>
                <a:t>= ‘Gabriel García Marquez’</a:t>
              </a:r>
              <a:endParaRPr lang="es-EC" sz="3200" dirty="0"/>
            </a:p>
          </p:txBody>
        </p:sp>
        <p:cxnSp>
          <p:nvCxnSpPr>
            <p:cNvPr id="29" name="Straight Connector 28"/>
            <p:cNvCxnSpPr>
              <a:stCxn id="31" idx="2"/>
              <a:endCxn id="24" idx="0"/>
            </p:cNvCxnSpPr>
            <p:nvPr/>
          </p:nvCxnSpPr>
          <p:spPr>
            <a:xfrm>
              <a:off x="1392401" y="5633062"/>
              <a:ext cx="3796" cy="27092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8" idx="0"/>
              <a:endCxn id="35" idx="2"/>
            </p:cNvCxnSpPr>
            <p:nvPr/>
          </p:nvCxnSpPr>
          <p:spPr>
            <a:xfrm flipH="1" flipV="1">
              <a:off x="6260966" y="3770495"/>
              <a:ext cx="2463" cy="32156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0" y="5048286"/>
              <a:ext cx="278480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edad &gt;12 ^ edad &lt; 20</a:t>
              </a:r>
              <a:endParaRPr lang="es-EC" sz="3200" dirty="0"/>
            </a:p>
          </p:txBody>
        </p:sp>
        <p:cxnSp>
          <p:nvCxnSpPr>
            <p:cNvPr id="32" name="Straight Connector 31"/>
            <p:cNvCxnSpPr>
              <a:stCxn id="23" idx="0"/>
              <a:endCxn id="22" idx="2"/>
            </p:cNvCxnSpPr>
            <p:nvPr/>
          </p:nvCxnSpPr>
          <p:spPr>
            <a:xfrm flipV="1">
              <a:off x="4185710" y="1642071"/>
              <a:ext cx="2114" cy="369724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273812" y="4269638"/>
              <a:ext cx="2215402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e.Nombre, e.eId</a:t>
              </a:r>
              <a:endParaRPr lang="es-EC" sz="3200" dirty="0"/>
            </a:p>
          </p:txBody>
        </p:sp>
        <p:cxnSp>
          <p:nvCxnSpPr>
            <p:cNvPr id="34" name="Straight Connector 33"/>
            <p:cNvCxnSpPr>
              <a:stCxn id="33" idx="2"/>
              <a:endCxn id="31" idx="0"/>
            </p:cNvCxnSpPr>
            <p:nvPr/>
          </p:nvCxnSpPr>
          <p:spPr>
            <a:xfrm>
              <a:off x="1381513" y="4854414"/>
              <a:ext cx="10888" cy="19387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851572" y="3185719"/>
              <a:ext cx="818787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l.lId</a:t>
              </a:r>
              <a:endParaRPr lang="es-EC" sz="3200" dirty="0"/>
            </a:p>
          </p:txBody>
        </p:sp>
        <p:cxnSp>
          <p:nvCxnSpPr>
            <p:cNvPr id="36" name="Straight Connector 35"/>
            <p:cNvCxnSpPr>
              <a:stCxn id="28" idx="2"/>
              <a:endCxn id="25" idx="0"/>
            </p:cNvCxnSpPr>
            <p:nvPr/>
          </p:nvCxnSpPr>
          <p:spPr>
            <a:xfrm>
              <a:off x="6263429" y="4676840"/>
              <a:ext cx="71" cy="42783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208856" y="5807263"/>
              <a:ext cx="17836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SalidaLibro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67706" y="4938116"/>
              <a:ext cx="1664236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sl.eId, sl.lId</a:t>
              </a:r>
              <a:endParaRPr lang="es-EC" sz="3200" dirty="0"/>
            </a:p>
          </p:txBody>
        </p:sp>
        <p:cxnSp>
          <p:nvCxnSpPr>
            <p:cNvPr id="41" name="Straight Connector 40"/>
            <p:cNvCxnSpPr>
              <a:stCxn id="40" idx="2"/>
              <a:endCxn id="37" idx="0"/>
            </p:cNvCxnSpPr>
            <p:nvPr/>
          </p:nvCxnSpPr>
          <p:spPr>
            <a:xfrm>
              <a:off x="4099824" y="5522892"/>
              <a:ext cx="863" cy="28437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2043827" y="3240909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/>
                <a:t>∞</a:t>
              </a:r>
            </a:p>
          </p:txBody>
        </p:sp>
        <p:cxnSp>
          <p:nvCxnSpPr>
            <p:cNvPr id="43" name="Straight Connector 42"/>
            <p:cNvCxnSpPr>
              <a:stCxn id="42" idx="2"/>
              <a:endCxn id="40" idx="0"/>
            </p:cNvCxnSpPr>
            <p:nvPr/>
          </p:nvCxnSpPr>
          <p:spPr>
            <a:xfrm>
              <a:off x="2311188" y="3825685"/>
              <a:ext cx="1788636" cy="111243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23" idx="2"/>
              <a:endCxn id="42" idx="0"/>
            </p:cNvCxnSpPr>
            <p:nvPr/>
          </p:nvCxnSpPr>
          <p:spPr>
            <a:xfrm flipH="1">
              <a:off x="2311188" y="2596571"/>
              <a:ext cx="1874522" cy="644338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2152049" y="5867368"/>
            <a:ext cx="85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(1.000)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0309" y="3668118"/>
            <a:ext cx="67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(800)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3642" y="3703393"/>
            <a:ext cx="96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(15.000)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7492" y="2456561"/>
            <a:ext cx="96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(15.000)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1755" y="5548981"/>
            <a:ext cx="85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(5.000)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02085" y="2620719"/>
            <a:ext cx="67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(500)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37945" y="1750608"/>
            <a:ext cx="96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(15.000)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72997" y="938832"/>
            <a:ext cx="96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60066"/>
                </a:solidFill>
              </a:rPr>
              <a:t>(52.300)</a:t>
            </a:r>
          </a:p>
        </p:txBody>
      </p:sp>
    </p:spTree>
    <p:extLst>
      <p:ext uri="{BB962C8B-B14F-4D97-AF65-F5344CB8AC3E}">
        <p14:creationId xmlns:p14="http://schemas.microsoft.com/office/powerpoint/2010/main" val="183223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/>
      <p:bldP spid="47" grpId="0"/>
      <p:bldP spid="48" grpId="0"/>
      <p:bldP spid="49" grpId="0"/>
      <p:bldP spid="50" grpId="0"/>
      <p:bldP spid="51" grpId="0"/>
      <p:bldP spid="5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4068" y="286603"/>
            <a:ext cx="7011611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EJERCICIO 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8092" y="1855734"/>
            <a:ext cx="49039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existen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1.000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15.000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Salida</a:t>
            </a:r>
            <a:r>
              <a:rPr lang="en-US" dirty="0"/>
              <a:t> de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autores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800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r>
              <a:rPr lang="en-US" dirty="0"/>
              <a:t> con </a:t>
            </a:r>
            <a:r>
              <a:rPr lang="en-US" dirty="0" err="1"/>
              <a:t>rango</a:t>
            </a:r>
            <a:r>
              <a:rPr lang="en-US" dirty="0"/>
              <a:t> de </a:t>
            </a:r>
            <a:r>
              <a:rPr lang="en-US" dirty="0" err="1"/>
              <a:t>edad</a:t>
            </a:r>
            <a:r>
              <a:rPr lang="en-US" dirty="0"/>
              <a:t> entre 12 y 20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libros</a:t>
            </a:r>
            <a:r>
              <a:rPr lang="en-US" dirty="0"/>
              <a:t> </a:t>
            </a:r>
            <a:r>
              <a:rPr lang="en-US" dirty="0" err="1"/>
              <a:t>escritos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Gabriel </a:t>
            </a:r>
            <a:r>
              <a:rPr lang="en-US" dirty="0" err="1"/>
              <a:t>García</a:t>
            </a:r>
            <a:r>
              <a:rPr lang="en-US" dirty="0"/>
              <a:t> Marquez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7388" y="5116481"/>
            <a:ext cx="4824612" cy="120032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dirty="0" err="1"/>
              <a:t>Diseñe</a:t>
            </a:r>
            <a:r>
              <a:rPr lang="en-US" dirty="0"/>
              <a:t> el plan AR </a:t>
            </a:r>
            <a:r>
              <a:rPr lang="en-US" dirty="0" err="1"/>
              <a:t>optimizado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Genere</a:t>
            </a:r>
            <a:r>
              <a:rPr lang="en-US" dirty="0"/>
              <a:t> la </a:t>
            </a:r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costos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 </a:t>
            </a:r>
            <a:r>
              <a:rPr lang="en-US" dirty="0" err="1"/>
              <a:t>descrito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Recomendaciones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optimizar</a:t>
            </a:r>
            <a:endParaRPr lang="en-US" dirty="0"/>
          </a:p>
        </p:txBody>
      </p:sp>
      <p:grpSp>
        <p:nvGrpSpPr>
          <p:cNvPr id="71" name="Group 70"/>
          <p:cNvGrpSpPr/>
          <p:nvPr/>
        </p:nvGrpSpPr>
        <p:grpSpPr>
          <a:xfrm>
            <a:off x="-11760" y="857409"/>
            <a:ext cx="7037637" cy="5440705"/>
            <a:chOff x="-11760" y="1186633"/>
            <a:chExt cx="7037637" cy="5440705"/>
          </a:xfrm>
        </p:grpSpPr>
        <p:sp>
          <p:nvSpPr>
            <p:cNvPr id="22" name="TextBox 21"/>
            <p:cNvSpPr txBox="1"/>
            <p:nvPr/>
          </p:nvSpPr>
          <p:spPr>
            <a:xfrm>
              <a:off x="3422163" y="1186633"/>
              <a:ext cx="1531321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e.Nombre</a:t>
              </a:r>
              <a:endParaRPr lang="es-EC" sz="3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18349" y="1976521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∞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2674" y="6056843"/>
              <a:ext cx="1740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Estudiante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32831" y="6104118"/>
              <a:ext cx="9212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Libro</a:t>
              </a:r>
            </a:p>
          </p:txBody>
        </p:sp>
        <p:cxnSp>
          <p:nvCxnSpPr>
            <p:cNvPr id="26" name="Straight Connector 25"/>
            <p:cNvCxnSpPr>
              <a:stCxn id="42" idx="2"/>
              <a:endCxn id="33" idx="0"/>
            </p:cNvCxnSpPr>
            <p:nvPr/>
          </p:nvCxnSpPr>
          <p:spPr>
            <a:xfrm flipH="1">
              <a:off x="1381513" y="3390629"/>
              <a:ext cx="1811662" cy="87900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3" idx="2"/>
              <a:endCxn id="40" idx="0"/>
            </p:cNvCxnSpPr>
            <p:nvPr/>
          </p:nvCxnSpPr>
          <p:spPr>
            <a:xfrm>
              <a:off x="4185710" y="2561297"/>
              <a:ext cx="1725126" cy="26033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960879" y="5197332"/>
              <a:ext cx="4064998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autor</a:t>
              </a:r>
              <a:r>
                <a:rPr lang="es-EC" sz="3200" dirty="0"/>
                <a:t> </a:t>
              </a:r>
              <a:r>
                <a:rPr lang="es-EC" sz="3200" baseline="-25000" dirty="0"/>
                <a:t>= ‘Gabriel García Marquez’</a:t>
              </a:r>
              <a:endParaRPr lang="es-EC" sz="3200" dirty="0"/>
            </a:p>
          </p:txBody>
        </p:sp>
        <p:cxnSp>
          <p:nvCxnSpPr>
            <p:cNvPr id="29" name="Straight Connector 28"/>
            <p:cNvCxnSpPr>
              <a:stCxn id="31" idx="2"/>
              <a:endCxn id="24" idx="0"/>
            </p:cNvCxnSpPr>
            <p:nvPr/>
          </p:nvCxnSpPr>
          <p:spPr>
            <a:xfrm flipH="1">
              <a:off x="1372677" y="5750642"/>
              <a:ext cx="7964" cy="30620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8" idx="0"/>
              <a:endCxn id="35" idx="2"/>
            </p:cNvCxnSpPr>
            <p:nvPr/>
          </p:nvCxnSpPr>
          <p:spPr>
            <a:xfrm flipH="1" flipV="1">
              <a:off x="4990915" y="4946311"/>
              <a:ext cx="2463" cy="25102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-11760" y="5165866"/>
              <a:ext cx="278480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edad &gt;12 ^ edad &lt; 20</a:t>
              </a:r>
              <a:endParaRPr lang="es-EC" sz="3200" dirty="0"/>
            </a:p>
          </p:txBody>
        </p:sp>
        <p:cxnSp>
          <p:nvCxnSpPr>
            <p:cNvPr id="32" name="Straight Connector 31"/>
            <p:cNvCxnSpPr>
              <a:stCxn id="23" idx="0"/>
              <a:endCxn id="22" idx="2"/>
            </p:cNvCxnSpPr>
            <p:nvPr/>
          </p:nvCxnSpPr>
          <p:spPr>
            <a:xfrm flipV="1">
              <a:off x="4185710" y="1771409"/>
              <a:ext cx="2114" cy="20511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273812" y="4269638"/>
              <a:ext cx="2215402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e.Nombre, e.eId</a:t>
              </a:r>
              <a:endParaRPr lang="es-EC" sz="3200" dirty="0"/>
            </a:p>
          </p:txBody>
        </p:sp>
        <p:cxnSp>
          <p:nvCxnSpPr>
            <p:cNvPr id="34" name="Straight Connector 33"/>
            <p:cNvCxnSpPr>
              <a:stCxn id="33" idx="2"/>
              <a:endCxn id="31" idx="0"/>
            </p:cNvCxnSpPr>
            <p:nvPr/>
          </p:nvCxnSpPr>
          <p:spPr>
            <a:xfrm flipH="1">
              <a:off x="1380641" y="4854414"/>
              <a:ext cx="872" cy="31145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4581521" y="4361535"/>
              <a:ext cx="818787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l.lId</a:t>
              </a:r>
              <a:endParaRPr lang="es-EC" sz="3200" dirty="0"/>
            </a:p>
          </p:txBody>
        </p:sp>
        <p:cxnSp>
          <p:nvCxnSpPr>
            <p:cNvPr id="36" name="Straight Connector 35"/>
            <p:cNvCxnSpPr>
              <a:stCxn id="28" idx="2"/>
              <a:endCxn id="25" idx="0"/>
            </p:cNvCxnSpPr>
            <p:nvPr/>
          </p:nvCxnSpPr>
          <p:spPr>
            <a:xfrm>
              <a:off x="4993378" y="5782108"/>
              <a:ext cx="64" cy="32201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5019866" y="3561444"/>
              <a:ext cx="17836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SalidaLibro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078718" y="2821636"/>
              <a:ext cx="1664236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sl.eId, sl.lId</a:t>
              </a:r>
              <a:endParaRPr lang="es-EC" sz="3200" dirty="0"/>
            </a:p>
          </p:txBody>
        </p:sp>
        <p:cxnSp>
          <p:nvCxnSpPr>
            <p:cNvPr id="41" name="Straight Connector 40"/>
            <p:cNvCxnSpPr>
              <a:stCxn id="40" idx="2"/>
              <a:endCxn id="37" idx="0"/>
            </p:cNvCxnSpPr>
            <p:nvPr/>
          </p:nvCxnSpPr>
          <p:spPr>
            <a:xfrm>
              <a:off x="5910836" y="3406412"/>
              <a:ext cx="861" cy="15503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2925814" y="2805853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∞</a:t>
              </a:r>
            </a:p>
          </p:txBody>
        </p:sp>
        <p:cxnSp>
          <p:nvCxnSpPr>
            <p:cNvPr id="43" name="Straight Connector 42"/>
            <p:cNvCxnSpPr>
              <a:stCxn id="42" idx="2"/>
              <a:endCxn id="35" idx="0"/>
            </p:cNvCxnSpPr>
            <p:nvPr/>
          </p:nvCxnSpPr>
          <p:spPr>
            <a:xfrm>
              <a:off x="3193175" y="3390629"/>
              <a:ext cx="1797740" cy="970906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23" idx="2"/>
              <a:endCxn id="42" idx="0"/>
            </p:cNvCxnSpPr>
            <p:nvPr/>
          </p:nvCxnSpPr>
          <p:spPr>
            <a:xfrm flipH="1">
              <a:off x="3193175" y="2561297"/>
              <a:ext cx="992535" cy="244556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2996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4068" y="286603"/>
            <a:ext cx="7011611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EJERCICIO (b)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8092" y="1855734"/>
            <a:ext cx="49039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existen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1.000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15.000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Salida</a:t>
            </a:r>
            <a:r>
              <a:rPr lang="en-US" dirty="0"/>
              <a:t> de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autores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800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r>
              <a:rPr lang="en-US" dirty="0"/>
              <a:t> con </a:t>
            </a:r>
            <a:r>
              <a:rPr lang="en-US" dirty="0" err="1"/>
              <a:t>rango</a:t>
            </a:r>
            <a:r>
              <a:rPr lang="en-US" dirty="0"/>
              <a:t> de </a:t>
            </a:r>
            <a:r>
              <a:rPr lang="en-US" dirty="0" err="1"/>
              <a:t>edad</a:t>
            </a:r>
            <a:r>
              <a:rPr lang="en-US" dirty="0"/>
              <a:t> entre 12 y 20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libros</a:t>
            </a:r>
            <a:r>
              <a:rPr lang="en-US" dirty="0"/>
              <a:t> </a:t>
            </a:r>
            <a:r>
              <a:rPr lang="en-US" dirty="0" err="1"/>
              <a:t>escritos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Gabriel </a:t>
            </a:r>
            <a:r>
              <a:rPr lang="en-US" dirty="0" err="1"/>
              <a:t>García</a:t>
            </a:r>
            <a:r>
              <a:rPr lang="en-US" dirty="0"/>
              <a:t> Marquez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7388" y="5116481"/>
            <a:ext cx="4824612" cy="120032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dirty="0" err="1"/>
              <a:t>Diseñe</a:t>
            </a:r>
            <a:r>
              <a:rPr lang="en-US" dirty="0"/>
              <a:t> el plan AR </a:t>
            </a:r>
            <a:r>
              <a:rPr lang="en-US" dirty="0" err="1"/>
              <a:t>optimizado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Genere</a:t>
            </a:r>
            <a:r>
              <a:rPr lang="en-US" dirty="0"/>
              <a:t> la </a:t>
            </a:r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costos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 </a:t>
            </a:r>
            <a:r>
              <a:rPr lang="en-US" dirty="0" err="1"/>
              <a:t>descrito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Recomendaciones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optimizar</a:t>
            </a:r>
            <a:endParaRPr lang="en-US" dirty="0"/>
          </a:p>
        </p:txBody>
      </p:sp>
      <p:grpSp>
        <p:nvGrpSpPr>
          <p:cNvPr id="71" name="Group 70"/>
          <p:cNvGrpSpPr/>
          <p:nvPr/>
        </p:nvGrpSpPr>
        <p:grpSpPr>
          <a:xfrm>
            <a:off x="-11760" y="857409"/>
            <a:ext cx="7037637" cy="5440705"/>
            <a:chOff x="-11760" y="1186633"/>
            <a:chExt cx="7037637" cy="5440705"/>
          </a:xfrm>
        </p:grpSpPr>
        <p:sp>
          <p:nvSpPr>
            <p:cNvPr id="22" name="TextBox 21"/>
            <p:cNvSpPr txBox="1"/>
            <p:nvPr/>
          </p:nvSpPr>
          <p:spPr>
            <a:xfrm>
              <a:off x="3422163" y="1186633"/>
              <a:ext cx="1531321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e.Nombre</a:t>
              </a:r>
              <a:endParaRPr lang="es-EC" sz="3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18349" y="1976521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∞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2674" y="6056843"/>
              <a:ext cx="1740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Estudiante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32831" y="6104118"/>
              <a:ext cx="9212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Libro</a:t>
              </a:r>
            </a:p>
          </p:txBody>
        </p:sp>
        <p:cxnSp>
          <p:nvCxnSpPr>
            <p:cNvPr id="26" name="Straight Connector 25"/>
            <p:cNvCxnSpPr>
              <a:stCxn id="42" idx="2"/>
              <a:endCxn id="33" idx="0"/>
            </p:cNvCxnSpPr>
            <p:nvPr/>
          </p:nvCxnSpPr>
          <p:spPr>
            <a:xfrm flipH="1">
              <a:off x="1381513" y="3390629"/>
              <a:ext cx="1811662" cy="87900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3" idx="2"/>
              <a:endCxn id="40" idx="0"/>
            </p:cNvCxnSpPr>
            <p:nvPr/>
          </p:nvCxnSpPr>
          <p:spPr>
            <a:xfrm>
              <a:off x="4185710" y="2561297"/>
              <a:ext cx="1725126" cy="26033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960879" y="5197332"/>
              <a:ext cx="4064998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autor</a:t>
              </a:r>
              <a:r>
                <a:rPr lang="es-EC" sz="3200" dirty="0"/>
                <a:t> </a:t>
              </a:r>
              <a:r>
                <a:rPr lang="es-EC" sz="3200" baseline="-25000" dirty="0"/>
                <a:t>= ‘Gabriel García Marquez’</a:t>
              </a:r>
              <a:endParaRPr lang="es-EC" sz="3200" dirty="0"/>
            </a:p>
          </p:txBody>
        </p:sp>
        <p:cxnSp>
          <p:nvCxnSpPr>
            <p:cNvPr id="29" name="Straight Connector 28"/>
            <p:cNvCxnSpPr>
              <a:stCxn id="31" idx="2"/>
              <a:endCxn id="24" idx="0"/>
            </p:cNvCxnSpPr>
            <p:nvPr/>
          </p:nvCxnSpPr>
          <p:spPr>
            <a:xfrm flipH="1">
              <a:off x="1372677" y="5750642"/>
              <a:ext cx="7964" cy="30620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8" idx="0"/>
              <a:endCxn id="35" idx="2"/>
            </p:cNvCxnSpPr>
            <p:nvPr/>
          </p:nvCxnSpPr>
          <p:spPr>
            <a:xfrm flipH="1" flipV="1">
              <a:off x="4990915" y="4946311"/>
              <a:ext cx="2463" cy="25102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-11760" y="5165866"/>
              <a:ext cx="278480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edad &gt;12 ^ edad &lt; 20</a:t>
              </a:r>
              <a:endParaRPr lang="es-EC" sz="3200" dirty="0"/>
            </a:p>
          </p:txBody>
        </p:sp>
        <p:cxnSp>
          <p:nvCxnSpPr>
            <p:cNvPr id="32" name="Straight Connector 31"/>
            <p:cNvCxnSpPr>
              <a:stCxn id="23" idx="0"/>
              <a:endCxn id="22" idx="2"/>
            </p:cNvCxnSpPr>
            <p:nvPr/>
          </p:nvCxnSpPr>
          <p:spPr>
            <a:xfrm flipV="1">
              <a:off x="4185710" y="1771409"/>
              <a:ext cx="2114" cy="20511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273812" y="4269638"/>
              <a:ext cx="2215402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e.Nombre, e.eId</a:t>
              </a:r>
              <a:endParaRPr lang="es-EC" sz="3200" dirty="0"/>
            </a:p>
          </p:txBody>
        </p:sp>
        <p:cxnSp>
          <p:nvCxnSpPr>
            <p:cNvPr id="34" name="Straight Connector 33"/>
            <p:cNvCxnSpPr>
              <a:stCxn id="33" idx="2"/>
              <a:endCxn id="31" idx="0"/>
            </p:cNvCxnSpPr>
            <p:nvPr/>
          </p:nvCxnSpPr>
          <p:spPr>
            <a:xfrm flipH="1">
              <a:off x="1380641" y="4854414"/>
              <a:ext cx="872" cy="31145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4581521" y="4361535"/>
              <a:ext cx="818787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l.lId</a:t>
              </a:r>
              <a:endParaRPr lang="es-EC" sz="3200" dirty="0"/>
            </a:p>
          </p:txBody>
        </p:sp>
        <p:cxnSp>
          <p:nvCxnSpPr>
            <p:cNvPr id="36" name="Straight Connector 35"/>
            <p:cNvCxnSpPr>
              <a:stCxn id="28" idx="2"/>
              <a:endCxn id="25" idx="0"/>
            </p:cNvCxnSpPr>
            <p:nvPr/>
          </p:nvCxnSpPr>
          <p:spPr>
            <a:xfrm>
              <a:off x="4993378" y="5782108"/>
              <a:ext cx="64" cy="322010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5019866" y="3561444"/>
              <a:ext cx="17836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SalidaLibro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078718" y="2821636"/>
              <a:ext cx="1664236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sl.eId, sl.lId</a:t>
              </a:r>
              <a:endParaRPr lang="es-EC" sz="3200" dirty="0"/>
            </a:p>
          </p:txBody>
        </p:sp>
        <p:cxnSp>
          <p:nvCxnSpPr>
            <p:cNvPr id="41" name="Straight Connector 40"/>
            <p:cNvCxnSpPr>
              <a:stCxn id="40" idx="2"/>
              <a:endCxn id="37" idx="0"/>
            </p:cNvCxnSpPr>
            <p:nvPr/>
          </p:nvCxnSpPr>
          <p:spPr>
            <a:xfrm>
              <a:off x="5910836" y="3406412"/>
              <a:ext cx="861" cy="15503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2925814" y="2805853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∞</a:t>
              </a:r>
            </a:p>
          </p:txBody>
        </p:sp>
        <p:cxnSp>
          <p:nvCxnSpPr>
            <p:cNvPr id="43" name="Straight Connector 42"/>
            <p:cNvCxnSpPr>
              <a:stCxn id="42" idx="2"/>
              <a:endCxn id="35" idx="0"/>
            </p:cNvCxnSpPr>
            <p:nvPr/>
          </p:nvCxnSpPr>
          <p:spPr>
            <a:xfrm>
              <a:off x="3193175" y="3390629"/>
              <a:ext cx="1797740" cy="970906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23" idx="2"/>
              <a:endCxn id="42" idx="0"/>
            </p:cNvCxnSpPr>
            <p:nvPr/>
          </p:nvCxnSpPr>
          <p:spPr>
            <a:xfrm flipH="1">
              <a:off x="3193175" y="2561297"/>
              <a:ext cx="992535" cy="244556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1622857" y="5561654"/>
            <a:ext cx="85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(1.000)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16541" y="3103722"/>
            <a:ext cx="67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(800)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6331" y="5631289"/>
            <a:ext cx="85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(5.000)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55792" y="3091049"/>
            <a:ext cx="67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(500)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21404" y="1997989"/>
            <a:ext cx="67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(800)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5690" y="1951413"/>
            <a:ext cx="96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(15.000)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80517" y="1351745"/>
            <a:ext cx="96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(15.000)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477" y="844766"/>
            <a:ext cx="975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60066"/>
                </a:solidFill>
              </a:rPr>
              <a:t>(38.100)</a:t>
            </a:r>
          </a:p>
        </p:txBody>
      </p:sp>
    </p:spTree>
    <p:extLst>
      <p:ext uri="{BB962C8B-B14F-4D97-AF65-F5344CB8AC3E}">
        <p14:creationId xmlns:p14="http://schemas.microsoft.com/office/powerpoint/2010/main" val="413236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4068" y="286603"/>
            <a:ext cx="7011611" cy="1450757"/>
          </a:xfrm>
        </p:spPr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EJERCICIO (c)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8092" y="1855734"/>
            <a:ext cx="49039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Asuma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existen</a:t>
            </a:r>
            <a:r>
              <a:rPr lang="en-US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1.000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15.000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Salida</a:t>
            </a:r>
            <a:r>
              <a:rPr lang="en-US" dirty="0"/>
              <a:t> de </a:t>
            </a:r>
            <a:r>
              <a:rPr lang="en-US" dirty="0" err="1"/>
              <a:t>Libros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autores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800 </a:t>
            </a:r>
            <a:r>
              <a:rPr lang="en-US" dirty="0" err="1"/>
              <a:t>tuplas</a:t>
            </a:r>
            <a:r>
              <a:rPr lang="en-US" dirty="0"/>
              <a:t> en </a:t>
            </a:r>
            <a:r>
              <a:rPr lang="en-US" dirty="0" err="1"/>
              <a:t>estudiantes</a:t>
            </a:r>
            <a:r>
              <a:rPr lang="en-US" dirty="0"/>
              <a:t> con </a:t>
            </a:r>
            <a:r>
              <a:rPr lang="en-US" dirty="0" err="1"/>
              <a:t>rango</a:t>
            </a:r>
            <a:r>
              <a:rPr lang="en-US" dirty="0"/>
              <a:t> de </a:t>
            </a:r>
            <a:r>
              <a:rPr lang="en-US" dirty="0" err="1"/>
              <a:t>edad</a:t>
            </a:r>
            <a:r>
              <a:rPr lang="en-US" dirty="0"/>
              <a:t> entre 12 y 20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500 </a:t>
            </a:r>
            <a:r>
              <a:rPr lang="en-US" dirty="0" err="1"/>
              <a:t>libros</a:t>
            </a:r>
            <a:r>
              <a:rPr lang="en-US" dirty="0"/>
              <a:t> </a:t>
            </a:r>
            <a:r>
              <a:rPr lang="en-US" dirty="0" err="1"/>
              <a:t>escritos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Gabriel </a:t>
            </a:r>
            <a:r>
              <a:rPr lang="en-US" dirty="0" err="1"/>
              <a:t>García</a:t>
            </a:r>
            <a:r>
              <a:rPr lang="en-US" dirty="0"/>
              <a:t> Marquez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7388" y="5116481"/>
            <a:ext cx="4824612" cy="120032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dirty="0" err="1"/>
              <a:t>Diseñe</a:t>
            </a:r>
            <a:r>
              <a:rPr lang="en-US" dirty="0"/>
              <a:t> el plan AR </a:t>
            </a:r>
            <a:r>
              <a:rPr lang="en-US" dirty="0" err="1"/>
              <a:t>optimizado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Genere</a:t>
            </a:r>
            <a:r>
              <a:rPr lang="en-US" dirty="0"/>
              <a:t> la </a:t>
            </a:r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costos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 </a:t>
            </a:r>
            <a:r>
              <a:rPr lang="en-US" dirty="0" err="1"/>
              <a:t>descrito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Recomendaciones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optimizar</a:t>
            </a:r>
            <a:endParaRPr lang="en-US" dirty="0"/>
          </a:p>
        </p:txBody>
      </p:sp>
      <p:grpSp>
        <p:nvGrpSpPr>
          <p:cNvPr id="71" name="Group 70"/>
          <p:cNvGrpSpPr/>
          <p:nvPr/>
        </p:nvGrpSpPr>
        <p:grpSpPr>
          <a:xfrm>
            <a:off x="0" y="1057295"/>
            <a:ext cx="8295928" cy="5369914"/>
            <a:chOff x="0" y="1057295"/>
            <a:chExt cx="8295928" cy="5369914"/>
          </a:xfrm>
        </p:grpSpPr>
        <p:sp>
          <p:nvSpPr>
            <p:cNvPr id="22" name="TextBox 21"/>
            <p:cNvSpPr txBox="1"/>
            <p:nvPr/>
          </p:nvSpPr>
          <p:spPr>
            <a:xfrm>
              <a:off x="3422163" y="1057295"/>
              <a:ext cx="1531321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e.Nombre</a:t>
              </a:r>
              <a:endParaRPr lang="es-EC" sz="3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18349" y="2011795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∞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26194" y="5903989"/>
              <a:ext cx="17400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Estudiante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02889" y="5104672"/>
              <a:ext cx="9212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Libro</a:t>
              </a:r>
            </a:p>
          </p:txBody>
        </p:sp>
        <p:cxnSp>
          <p:nvCxnSpPr>
            <p:cNvPr id="26" name="Straight Connector 25"/>
            <p:cNvCxnSpPr>
              <a:stCxn id="42" idx="2"/>
              <a:endCxn id="33" idx="0"/>
            </p:cNvCxnSpPr>
            <p:nvPr/>
          </p:nvCxnSpPr>
          <p:spPr>
            <a:xfrm flipH="1">
              <a:off x="1381513" y="3825685"/>
              <a:ext cx="929675" cy="443953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3" idx="2"/>
              <a:endCxn id="35" idx="0"/>
            </p:cNvCxnSpPr>
            <p:nvPr/>
          </p:nvCxnSpPr>
          <p:spPr>
            <a:xfrm>
              <a:off x="4185710" y="2596571"/>
              <a:ext cx="2075256" cy="589148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230930" y="4092064"/>
              <a:ext cx="4064998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autor</a:t>
              </a:r>
              <a:r>
                <a:rPr lang="es-EC" sz="3200" dirty="0"/>
                <a:t> </a:t>
              </a:r>
              <a:r>
                <a:rPr lang="es-EC" sz="3200" baseline="-25000" dirty="0"/>
                <a:t>= ‘Gabriel García Marquez’</a:t>
              </a:r>
              <a:endParaRPr lang="es-EC" sz="3200" dirty="0"/>
            </a:p>
          </p:txBody>
        </p:sp>
        <p:cxnSp>
          <p:nvCxnSpPr>
            <p:cNvPr id="29" name="Straight Connector 28"/>
            <p:cNvCxnSpPr>
              <a:stCxn id="31" idx="2"/>
              <a:endCxn id="24" idx="0"/>
            </p:cNvCxnSpPr>
            <p:nvPr/>
          </p:nvCxnSpPr>
          <p:spPr>
            <a:xfrm>
              <a:off x="1392401" y="5633062"/>
              <a:ext cx="3796" cy="27092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8" idx="0"/>
              <a:endCxn id="35" idx="2"/>
            </p:cNvCxnSpPr>
            <p:nvPr/>
          </p:nvCxnSpPr>
          <p:spPr>
            <a:xfrm flipH="1" flipV="1">
              <a:off x="6260966" y="3770495"/>
              <a:ext cx="2463" cy="32156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0" y="5048286"/>
              <a:ext cx="278480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edad &gt;12 ^ edad &lt; 20</a:t>
              </a:r>
              <a:endParaRPr lang="es-EC" sz="3200" dirty="0"/>
            </a:p>
          </p:txBody>
        </p:sp>
        <p:cxnSp>
          <p:nvCxnSpPr>
            <p:cNvPr id="32" name="Straight Connector 31"/>
            <p:cNvCxnSpPr>
              <a:stCxn id="23" idx="0"/>
              <a:endCxn id="22" idx="2"/>
            </p:cNvCxnSpPr>
            <p:nvPr/>
          </p:nvCxnSpPr>
          <p:spPr>
            <a:xfrm flipV="1">
              <a:off x="4185710" y="1642071"/>
              <a:ext cx="2114" cy="369724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273812" y="4269638"/>
              <a:ext cx="2215402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e.Nombre, e.eId</a:t>
              </a:r>
              <a:endParaRPr lang="es-EC" sz="3200" dirty="0"/>
            </a:p>
          </p:txBody>
        </p:sp>
        <p:cxnSp>
          <p:nvCxnSpPr>
            <p:cNvPr id="34" name="Straight Connector 33"/>
            <p:cNvCxnSpPr>
              <a:stCxn id="33" idx="2"/>
              <a:endCxn id="31" idx="0"/>
            </p:cNvCxnSpPr>
            <p:nvPr/>
          </p:nvCxnSpPr>
          <p:spPr>
            <a:xfrm>
              <a:off x="1381513" y="4854414"/>
              <a:ext cx="10888" cy="19387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851572" y="3185719"/>
              <a:ext cx="818787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l.lId</a:t>
              </a:r>
              <a:endParaRPr lang="es-EC" sz="3200" dirty="0"/>
            </a:p>
          </p:txBody>
        </p:sp>
        <p:cxnSp>
          <p:nvCxnSpPr>
            <p:cNvPr id="36" name="Straight Connector 35"/>
            <p:cNvCxnSpPr>
              <a:stCxn id="28" idx="2"/>
              <a:endCxn id="25" idx="0"/>
            </p:cNvCxnSpPr>
            <p:nvPr/>
          </p:nvCxnSpPr>
          <p:spPr>
            <a:xfrm>
              <a:off x="6263429" y="4676840"/>
              <a:ext cx="71" cy="427832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208856" y="5807263"/>
              <a:ext cx="17836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SalidaLibro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67706" y="4938116"/>
              <a:ext cx="1664236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sl.eId, sl.lId</a:t>
              </a:r>
              <a:endParaRPr lang="es-EC" sz="3200" dirty="0"/>
            </a:p>
          </p:txBody>
        </p:sp>
        <p:cxnSp>
          <p:nvCxnSpPr>
            <p:cNvPr id="41" name="Straight Connector 40"/>
            <p:cNvCxnSpPr>
              <a:stCxn id="40" idx="2"/>
              <a:endCxn id="37" idx="0"/>
            </p:cNvCxnSpPr>
            <p:nvPr/>
          </p:nvCxnSpPr>
          <p:spPr>
            <a:xfrm>
              <a:off x="4099824" y="5522892"/>
              <a:ext cx="863" cy="28437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2043827" y="3240909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/>
                <a:t>∞</a:t>
              </a:r>
            </a:p>
          </p:txBody>
        </p:sp>
        <p:cxnSp>
          <p:nvCxnSpPr>
            <p:cNvPr id="43" name="Straight Connector 42"/>
            <p:cNvCxnSpPr>
              <a:stCxn id="42" idx="2"/>
              <a:endCxn id="40" idx="0"/>
            </p:cNvCxnSpPr>
            <p:nvPr/>
          </p:nvCxnSpPr>
          <p:spPr>
            <a:xfrm>
              <a:off x="2311188" y="3825685"/>
              <a:ext cx="1788636" cy="111243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23" idx="2"/>
              <a:endCxn id="42" idx="0"/>
            </p:cNvCxnSpPr>
            <p:nvPr/>
          </p:nvCxnSpPr>
          <p:spPr>
            <a:xfrm flipH="1">
              <a:off x="2311188" y="2596571"/>
              <a:ext cx="1874522" cy="644338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B189C27A-D2A7-D04D-8738-FA795166858B}"/>
              </a:ext>
            </a:extLst>
          </p:cNvPr>
          <p:cNvSpPr/>
          <p:nvPr/>
        </p:nvSpPr>
        <p:spPr>
          <a:xfrm>
            <a:off x="0" y="5048286"/>
            <a:ext cx="2740432" cy="601481"/>
          </a:xfrm>
          <a:prstGeom prst="rect">
            <a:avLst/>
          </a:prstGeom>
          <a:solidFill>
            <a:srgbClr val="FF0000">
              <a:alpha val="1800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8EC2657-57AE-844D-881C-88687AD9E2A9}"/>
              </a:ext>
            </a:extLst>
          </p:cNvPr>
          <p:cNvSpPr/>
          <p:nvPr/>
        </p:nvSpPr>
        <p:spPr>
          <a:xfrm>
            <a:off x="4063140" y="4226894"/>
            <a:ext cx="4142057" cy="599486"/>
          </a:xfrm>
          <a:prstGeom prst="rect">
            <a:avLst/>
          </a:prstGeom>
          <a:solidFill>
            <a:srgbClr val="FF0000">
              <a:alpha val="1800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8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EJERCICIO EXAMEN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396" y="1898657"/>
            <a:ext cx="11654718" cy="4023360"/>
          </a:xfrm>
        </p:spPr>
        <p:txBody>
          <a:bodyPr>
            <a:normAutofit fontScale="77500" lnSpcReduction="20000"/>
          </a:bodyPr>
          <a:lstStyle/>
          <a:p>
            <a:pPr marL="0" indent="0">
              <a:buClr>
                <a:srgbClr val="0000FF"/>
              </a:buClr>
              <a:buNone/>
            </a:pPr>
            <a:r>
              <a:rPr lang="es-ES_tradnl" sz="2800" dirty="0"/>
              <a:t>Se tiene el siguiente esquema y </a:t>
            </a:r>
            <a:r>
              <a:rPr lang="es-ES_tradnl" sz="2800" dirty="0" err="1"/>
              <a:t>query</a:t>
            </a:r>
            <a:r>
              <a:rPr lang="es-ES_tradnl" sz="2800" dirty="0"/>
              <a:t>: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b="1" dirty="0"/>
              <a:t>Ciudad</a:t>
            </a:r>
            <a:r>
              <a:rPr lang="es-ES_tradnl" sz="2800" dirty="0"/>
              <a:t>(</a:t>
            </a:r>
            <a:r>
              <a:rPr lang="es-ES_tradnl" sz="2800" u="sng" dirty="0" err="1"/>
              <a:t>id_ciudad</a:t>
            </a:r>
            <a:r>
              <a:rPr lang="es-ES_tradnl" sz="2800" dirty="0"/>
              <a:t>, nombre, </a:t>
            </a:r>
            <a:r>
              <a:rPr lang="es-ES_tradnl" sz="2800" dirty="0" err="1"/>
              <a:t>codigo</a:t>
            </a:r>
            <a:r>
              <a:rPr lang="es-ES_tradnl" sz="2800" dirty="0"/>
              <a:t>, provincia (</a:t>
            </a:r>
            <a:r>
              <a:rPr lang="es-ES_tradnl" sz="2800" dirty="0" err="1"/>
              <a:t>fk</a:t>
            </a:r>
            <a:r>
              <a:rPr lang="es-ES_tradnl" sz="2800" dirty="0"/>
              <a:t>))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b="1" dirty="0"/>
              <a:t>Sucursal</a:t>
            </a:r>
            <a:r>
              <a:rPr lang="es-ES_tradnl" sz="2800" dirty="0"/>
              <a:t>(</a:t>
            </a:r>
            <a:r>
              <a:rPr lang="es-ES_tradnl" sz="2800" u="sng" dirty="0" err="1"/>
              <a:t>id_sucursal</a:t>
            </a:r>
            <a:r>
              <a:rPr lang="es-ES_tradnl" sz="2800" dirty="0"/>
              <a:t>, </a:t>
            </a:r>
            <a:r>
              <a:rPr lang="es-ES_tradnl" sz="2800" dirty="0" err="1"/>
              <a:t>direccion</a:t>
            </a:r>
            <a:r>
              <a:rPr lang="es-ES_tradnl" sz="2800" dirty="0"/>
              <a:t>, </a:t>
            </a:r>
            <a:r>
              <a:rPr lang="es-ES_tradnl" sz="2800" dirty="0" err="1"/>
              <a:t>telefono</a:t>
            </a:r>
            <a:r>
              <a:rPr lang="es-ES_tradnl" sz="2800" dirty="0"/>
              <a:t>, </a:t>
            </a:r>
            <a:r>
              <a:rPr lang="es-ES_tradnl" sz="2800" dirty="0" err="1"/>
              <a:t>id_rest</a:t>
            </a:r>
            <a:r>
              <a:rPr lang="es-ES_tradnl" sz="2800" dirty="0"/>
              <a:t>(</a:t>
            </a:r>
            <a:r>
              <a:rPr lang="es-ES_tradnl" sz="2800" dirty="0" err="1"/>
              <a:t>fk</a:t>
            </a:r>
            <a:r>
              <a:rPr lang="es-ES_tradnl" sz="2800" dirty="0"/>
              <a:t>), ciudad(</a:t>
            </a:r>
            <a:r>
              <a:rPr lang="es-ES_tradnl" sz="2800" dirty="0" err="1"/>
              <a:t>fk</a:t>
            </a:r>
            <a:r>
              <a:rPr lang="es-ES_tradnl" sz="2800" dirty="0"/>
              <a:t>), horario, </a:t>
            </a:r>
            <a:r>
              <a:rPr lang="es-ES_tradnl" sz="2800" dirty="0" err="1"/>
              <a:t>esMatriz</a:t>
            </a:r>
            <a:r>
              <a:rPr lang="es-ES_tradnl" sz="2800" dirty="0"/>
              <a:t>, </a:t>
            </a:r>
            <a:r>
              <a:rPr lang="es-ES_tradnl" sz="2800" dirty="0" err="1"/>
              <a:t>tiene_areaFumadores</a:t>
            </a:r>
            <a:r>
              <a:rPr lang="es-ES_tradnl" sz="2800" dirty="0"/>
              <a:t>)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b="1" dirty="0"/>
              <a:t>Restaurante</a:t>
            </a:r>
            <a:r>
              <a:rPr lang="es-ES_tradnl" sz="2800" dirty="0"/>
              <a:t>(</a:t>
            </a:r>
            <a:r>
              <a:rPr lang="es-ES_tradnl" sz="2800" u="sng" dirty="0" err="1"/>
              <a:t>id_restaurante</a:t>
            </a:r>
            <a:r>
              <a:rPr lang="es-ES_tradnl" sz="2800" dirty="0"/>
              <a:t>, nombre, </a:t>
            </a:r>
            <a:r>
              <a:rPr lang="es-ES_tradnl" sz="2800" dirty="0" err="1"/>
              <a:t>descripcion</a:t>
            </a:r>
            <a:r>
              <a:rPr lang="es-ES_tradnl" sz="2800" dirty="0"/>
              <a:t>, ranking)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b="1" dirty="0"/>
              <a:t>Comentario</a:t>
            </a:r>
            <a:r>
              <a:rPr lang="es-ES_tradnl" sz="2800" dirty="0"/>
              <a:t>(</a:t>
            </a:r>
            <a:r>
              <a:rPr lang="es-ES_tradnl" sz="2800" u="sng" dirty="0" err="1"/>
              <a:t>id_coment</a:t>
            </a:r>
            <a:r>
              <a:rPr lang="es-ES_tradnl" sz="2800" dirty="0" err="1"/>
              <a:t>,texto</a:t>
            </a:r>
            <a:r>
              <a:rPr lang="es-ES_tradnl" sz="2800" dirty="0"/>
              <a:t>, fecha, autor, restaurante(</a:t>
            </a:r>
            <a:r>
              <a:rPr lang="es-ES_tradnl" sz="2800" dirty="0" err="1"/>
              <a:t>fk</a:t>
            </a:r>
            <a:r>
              <a:rPr lang="es-ES_tradnl" sz="2800" dirty="0"/>
              <a:t>), </a:t>
            </a:r>
            <a:r>
              <a:rPr lang="es-ES_tradnl" sz="2800" dirty="0" err="1"/>
              <a:t>calificacion</a:t>
            </a:r>
            <a:r>
              <a:rPr lang="es-ES_tradnl" sz="2800" dirty="0"/>
              <a:t>)</a:t>
            </a:r>
          </a:p>
          <a:p>
            <a:pPr marL="0" indent="0">
              <a:buClr>
                <a:srgbClr val="0000FF"/>
              </a:buClr>
              <a:buNone/>
            </a:pPr>
            <a:endParaRPr lang="es-ES_tradnl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None/>
              <a:defRPr/>
            </a:pPr>
            <a:r>
              <a:rPr lang="es-ES_tradnl" sz="2800" b="1" i="1" dirty="0">
                <a:solidFill>
                  <a:schemeClr val="tx1"/>
                </a:solidFill>
              </a:rPr>
              <a:t>SELECT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  <a:r>
              <a:rPr lang="es-ES_tradnl" sz="2800" i="1" dirty="0" err="1">
                <a:solidFill>
                  <a:schemeClr val="tx1"/>
                </a:solidFill>
              </a:rPr>
              <a:t>r.nombre</a:t>
            </a:r>
            <a:r>
              <a:rPr lang="es-ES_tradnl" sz="2800" i="1" dirty="0">
                <a:solidFill>
                  <a:schemeClr val="tx1"/>
                </a:solidFill>
              </a:rPr>
              <a:t>, </a:t>
            </a:r>
            <a:r>
              <a:rPr lang="es-ES_tradnl" sz="2800" i="1" dirty="0" err="1">
                <a:solidFill>
                  <a:schemeClr val="tx1"/>
                </a:solidFill>
              </a:rPr>
              <a:t>s.direccion</a:t>
            </a:r>
            <a:r>
              <a:rPr lang="es-ES_tradnl" sz="2800" i="1" dirty="0">
                <a:solidFill>
                  <a:schemeClr val="tx1"/>
                </a:solidFill>
              </a:rPr>
              <a:t>, </a:t>
            </a:r>
            <a:r>
              <a:rPr lang="es-ES_tradnl" sz="2800" i="1" dirty="0" err="1">
                <a:solidFill>
                  <a:schemeClr val="tx1"/>
                </a:solidFill>
              </a:rPr>
              <a:t>c.nombre</a:t>
            </a:r>
            <a:r>
              <a:rPr lang="es-ES_tradnl" sz="2800" i="1" dirty="0">
                <a:solidFill>
                  <a:schemeClr val="tx1"/>
                </a:solidFill>
              </a:rPr>
              <a:t>, </a:t>
            </a:r>
            <a:r>
              <a:rPr lang="es-ES_tradnl" sz="2800" i="1" dirty="0" err="1">
                <a:solidFill>
                  <a:schemeClr val="tx1"/>
                </a:solidFill>
              </a:rPr>
              <a:t>co.calificacion</a:t>
            </a:r>
            <a:r>
              <a:rPr lang="es-ES_tradnl" sz="2800" i="1" dirty="0">
                <a:solidFill>
                  <a:schemeClr val="tx1"/>
                </a:solidFill>
              </a:rPr>
              <a:t>, </a:t>
            </a:r>
            <a:r>
              <a:rPr lang="es-ES_tradnl" sz="2800" i="1" dirty="0" err="1">
                <a:solidFill>
                  <a:schemeClr val="tx1"/>
                </a:solidFill>
              </a:rPr>
              <a:t>co.texto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None/>
              <a:defRPr/>
            </a:pPr>
            <a:r>
              <a:rPr lang="es-ES_tradnl" sz="2800" b="1" i="1" dirty="0">
                <a:solidFill>
                  <a:schemeClr val="tx1"/>
                </a:solidFill>
              </a:rPr>
              <a:t>FROM</a:t>
            </a:r>
            <a:r>
              <a:rPr lang="es-ES_tradnl" sz="2800" i="1" dirty="0">
                <a:solidFill>
                  <a:schemeClr val="tx1"/>
                </a:solidFill>
              </a:rPr>
              <a:t> restaurante r, ciudad c, sucursal s, comentario </a:t>
            </a:r>
            <a:r>
              <a:rPr lang="es-ES_tradnl" sz="2800" i="1" dirty="0" err="1">
                <a:solidFill>
                  <a:schemeClr val="tx1"/>
                </a:solidFill>
              </a:rPr>
              <a:t>co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None/>
              <a:defRPr/>
            </a:pPr>
            <a:r>
              <a:rPr lang="es-ES_tradnl" sz="2800" b="1" i="1" dirty="0">
                <a:solidFill>
                  <a:schemeClr val="tx1"/>
                </a:solidFill>
              </a:rPr>
              <a:t>WHERE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  <a:r>
              <a:rPr lang="es-ES_tradnl" sz="2800" i="1" dirty="0" err="1">
                <a:solidFill>
                  <a:schemeClr val="tx1"/>
                </a:solidFill>
              </a:rPr>
              <a:t>r.id_restaurante</a:t>
            </a:r>
            <a:r>
              <a:rPr lang="es-ES_tradnl" sz="2800" i="1" dirty="0">
                <a:solidFill>
                  <a:schemeClr val="tx1"/>
                </a:solidFill>
              </a:rPr>
              <a:t>=</a:t>
            </a:r>
            <a:r>
              <a:rPr lang="es-ES_tradnl" sz="2800" i="1" dirty="0" err="1">
                <a:solidFill>
                  <a:schemeClr val="tx1"/>
                </a:solidFill>
              </a:rPr>
              <a:t>s.id_rest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  <a:r>
              <a:rPr lang="es-ES_tradnl" sz="2800" b="1" i="1" dirty="0">
                <a:solidFill>
                  <a:schemeClr val="tx1"/>
                </a:solidFill>
              </a:rPr>
              <a:t>AND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  <a:r>
              <a:rPr lang="es-ES_tradnl" sz="2800" i="1" dirty="0" err="1">
                <a:solidFill>
                  <a:schemeClr val="tx1"/>
                </a:solidFill>
              </a:rPr>
              <a:t>s.ciudad</a:t>
            </a:r>
            <a:r>
              <a:rPr lang="es-ES_tradnl" sz="2800" i="1" dirty="0">
                <a:solidFill>
                  <a:schemeClr val="tx1"/>
                </a:solidFill>
              </a:rPr>
              <a:t>=</a:t>
            </a:r>
            <a:r>
              <a:rPr lang="es-ES_tradnl" sz="2800" i="1" dirty="0" err="1">
                <a:solidFill>
                  <a:schemeClr val="tx1"/>
                </a:solidFill>
              </a:rPr>
              <a:t>c.id_ciudad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None/>
              <a:defRPr/>
            </a:pPr>
            <a:r>
              <a:rPr lang="es-ES_tradnl" sz="2800" b="1" i="1" dirty="0">
                <a:solidFill>
                  <a:schemeClr val="tx1"/>
                </a:solidFill>
              </a:rPr>
              <a:t>AND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  <a:r>
              <a:rPr lang="es-ES_tradnl" sz="2800" i="1" dirty="0" err="1">
                <a:solidFill>
                  <a:schemeClr val="tx1"/>
                </a:solidFill>
              </a:rPr>
              <a:t>s.id_sucursal</a:t>
            </a:r>
            <a:r>
              <a:rPr lang="es-ES_tradnl" sz="2800" i="1" dirty="0">
                <a:solidFill>
                  <a:schemeClr val="tx1"/>
                </a:solidFill>
              </a:rPr>
              <a:t>=</a:t>
            </a:r>
            <a:r>
              <a:rPr lang="es-ES_tradnl" sz="2800" i="1" dirty="0" err="1">
                <a:solidFill>
                  <a:schemeClr val="tx1"/>
                </a:solidFill>
              </a:rPr>
              <a:t>co.restaurante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  <a:r>
              <a:rPr lang="es-ES_tradnl" sz="2800" b="1" i="1" dirty="0">
                <a:solidFill>
                  <a:schemeClr val="tx1"/>
                </a:solidFill>
              </a:rPr>
              <a:t>AND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  <a:r>
              <a:rPr lang="es-ES_tradnl" sz="2800" i="1" dirty="0" err="1">
                <a:solidFill>
                  <a:schemeClr val="tx1"/>
                </a:solidFill>
              </a:rPr>
              <a:t>r.ranking</a:t>
            </a:r>
            <a:r>
              <a:rPr lang="es-ES_tradnl" sz="2800" i="1" dirty="0">
                <a:solidFill>
                  <a:schemeClr val="tx1"/>
                </a:solidFill>
              </a:rPr>
              <a:t> &gt;=3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None/>
              <a:defRPr/>
            </a:pPr>
            <a:r>
              <a:rPr lang="es-ES_tradnl" sz="2800" i="1" dirty="0">
                <a:solidFill>
                  <a:schemeClr val="tx1"/>
                </a:solidFill>
              </a:rPr>
              <a:t> </a:t>
            </a:r>
            <a:r>
              <a:rPr lang="es-ES_tradnl" sz="2800" b="1" i="1" dirty="0">
                <a:solidFill>
                  <a:schemeClr val="tx1"/>
                </a:solidFill>
              </a:rPr>
              <a:t>AND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  <a:r>
              <a:rPr lang="es-ES_tradnl" sz="2800" i="1" dirty="0" err="1">
                <a:solidFill>
                  <a:schemeClr val="tx1"/>
                </a:solidFill>
              </a:rPr>
              <a:t>c.nombre</a:t>
            </a:r>
            <a:r>
              <a:rPr lang="es-ES_tradnl" sz="2800" i="1" dirty="0">
                <a:solidFill>
                  <a:schemeClr val="tx1"/>
                </a:solidFill>
              </a:rPr>
              <a:t> = “Guayaquil” </a:t>
            </a:r>
            <a:r>
              <a:rPr lang="es-ES_tradnl" sz="2800" b="1" i="1" dirty="0">
                <a:solidFill>
                  <a:schemeClr val="tx1"/>
                </a:solidFill>
              </a:rPr>
              <a:t>AND</a:t>
            </a:r>
            <a:r>
              <a:rPr lang="es-ES_tradnl" sz="2800" i="1" dirty="0">
                <a:solidFill>
                  <a:schemeClr val="tx1"/>
                </a:solidFill>
              </a:rPr>
              <a:t> </a:t>
            </a:r>
            <a:r>
              <a:rPr lang="es-ES_tradnl" sz="2800" i="1" dirty="0" err="1">
                <a:solidFill>
                  <a:schemeClr val="tx1"/>
                </a:solidFill>
              </a:rPr>
              <a:t>co.autor</a:t>
            </a:r>
            <a:r>
              <a:rPr lang="es-ES_tradnl" sz="2800" i="1" dirty="0">
                <a:solidFill>
                  <a:schemeClr val="tx1"/>
                </a:solidFill>
              </a:rPr>
              <a:t> &lt;&gt; “Anónimo”;</a:t>
            </a:r>
            <a:endParaRPr lang="en-GB" sz="2800" dirty="0">
              <a:solidFill>
                <a:schemeClr val="tx1"/>
              </a:solidFill>
            </a:endParaRPr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sz="2800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332112" y="4994875"/>
            <a:ext cx="4824612" cy="120032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dirty="0" err="1"/>
              <a:t>Diseñe</a:t>
            </a:r>
            <a:r>
              <a:rPr lang="en-US" dirty="0"/>
              <a:t> el plan AR </a:t>
            </a:r>
            <a:r>
              <a:rPr lang="en-US" dirty="0" err="1"/>
              <a:t>optimizado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Genere</a:t>
            </a:r>
            <a:r>
              <a:rPr lang="en-US" dirty="0"/>
              <a:t> la </a:t>
            </a:r>
            <a:r>
              <a:rPr lang="en-US" dirty="0" err="1"/>
              <a:t>estimación</a:t>
            </a:r>
            <a:r>
              <a:rPr lang="en-US" dirty="0"/>
              <a:t> de </a:t>
            </a:r>
            <a:r>
              <a:rPr lang="en-US" dirty="0" err="1"/>
              <a:t>costos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el query </a:t>
            </a:r>
            <a:r>
              <a:rPr lang="en-US" dirty="0" err="1"/>
              <a:t>descrito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 err="1"/>
              <a:t>Recomendaciones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optimizar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41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51"/>
          <p:cNvSpPr/>
          <p:nvPr/>
        </p:nvSpPr>
        <p:spPr>
          <a:xfrm>
            <a:off x="-200352" y="1334358"/>
            <a:ext cx="12663807" cy="9879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-246927" y="5997994"/>
            <a:ext cx="12663807" cy="9879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1" name="Group 150"/>
          <p:cNvGrpSpPr/>
          <p:nvPr/>
        </p:nvGrpSpPr>
        <p:grpSpPr>
          <a:xfrm>
            <a:off x="573229" y="0"/>
            <a:ext cx="11460032" cy="6858000"/>
            <a:chOff x="731968" y="-466033"/>
            <a:chExt cx="11460032" cy="6858000"/>
          </a:xfrm>
        </p:grpSpPr>
        <p:sp>
          <p:nvSpPr>
            <p:cNvPr id="5" name="Rectangle 4"/>
            <p:cNvSpPr/>
            <p:nvPr/>
          </p:nvSpPr>
          <p:spPr>
            <a:xfrm>
              <a:off x="776055" y="1340728"/>
              <a:ext cx="11415945" cy="776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731968" y="-466033"/>
              <a:ext cx="11271199" cy="6858000"/>
              <a:chOff x="731968" y="-466033"/>
              <a:chExt cx="11271199" cy="6858000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731968" y="-466033"/>
                <a:ext cx="11271199" cy="6858000"/>
                <a:chOff x="590864" y="-136809"/>
                <a:chExt cx="11271199" cy="6858000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5150644" y="-136809"/>
                  <a:ext cx="6711419" cy="58477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s-EC" sz="3200" dirty="0"/>
                    <a:t>π</a:t>
                  </a:r>
                  <a:r>
                    <a:rPr lang="es-EC" sz="3200" baseline="-25000" dirty="0"/>
                    <a:t>r.nombre, s.direccion, c.nombre, co.calificacion, co.texto</a:t>
                  </a:r>
                  <a:endParaRPr lang="es-EC" sz="3200" dirty="0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3353945" y="4763821"/>
                  <a:ext cx="397665" cy="584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C" sz="3200" dirty="0"/>
                    <a:t>X</a:t>
                  </a: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590864" y="6197971"/>
                  <a:ext cx="196442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C" sz="2800" dirty="0">
                      <a:solidFill>
                        <a:srgbClr val="0000FF"/>
                      </a:solidFill>
                    </a:rPr>
                    <a:t>Restaurante</a:t>
                  </a:r>
                </a:p>
              </p:txBody>
            </p:sp>
            <p:cxnSp>
              <p:nvCxnSpPr>
                <p:cNvPr id="26" name="Straight Connector 25"/>
                <p:cNvCxnSpPr>
                  <a:stCxn id="42" idx="2"/>
                  <a:endCxn id="24" idx="0"/>
                </p:cNvCxnSpPr>
                <p:nvPr/>
              </p:nvCxnSpPr>
              <p:spPr>
                <a:xfrm flipH="1">
                  <a:off x="1573077" y="5983877"/>
                  <a:ext cx="1092990" cy="214094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>
                  <a:stCxn id="23" idx="2"/>
                  <a:endCxn id="25" idx="0"/>
                </p:cNvCxnSpPr>
                <p:nvPr/>
              </p:nvCxnSpPr>
              <p:spPr>
                <a:xfrm>
                  <a:off x="3552778" y="5348597"/>
                  <a:ext cx="572980" cy="191007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>
                  <a:stCxn id="28" idx="0"/>
                  <a:endCxn id="53" idx="2"/>
                </p:cNvCxnSpPr>
                <p:nvPr/>
              </p:nvCxnSpPr>
              <p:spPr>
                <a:xfrm flipV="1">
                  <a:off x="6508734" y="1841760"/>
                  <a:ext cx="658679" cy="56672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6761087" y="629121"/>
                  <a:ext cx="1870155" cy="584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C" sz="3200" dirty="0"/>
                    <a:t>σ</a:t>
                  </a:r>
                  <a:r>
                    <a:rPr lang="es-EC" sz="3200" baseline="-25000" dirty="0"/>
                    <a:t>r.ranking &gt;=3</a:t>
                  </a:r>
                  <a:endParaRPr lang="es-EC" sz="3200" dirty="0"/>
                </a:p>
              </p:txBody>
            </p:sp>
            <p:cxnSp>
              <p:nvCxnSpPr>
                <p:cNvPr id="32" name="Straight Connector 31"/>
                <p:cNvCxnSpPr>
                  <a:stCxn id="31" idx="0"/>
                  <a:endCxn id="22" idx="2"/>
                </p:cNvCxnSpPr>
                <p:nvPr/>
              </p:nvCxnSpPr>
              <p:spPr>
                <a:xfrm flipV="1">
                  <a:off x="7696165" y="447967"/>
                  <a:ext cx="810189" cy="181154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TextBox 36"/>
                <p:cNvSpPr txBox="1"/>
                <p:nvPr/>
              </p:nvSpPr>
              <p:spPr>
                <a:xfrm>
                  <a:off x="2903353" y="6189977"/>
                  <a:ext cx="1398815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C" sz="2800" dirty="0">
                      <a:solidFill>
                        <a:srgbClr val="0000FF"/>
                      </a:solidFill>
                    </a:rPr>
                    <a:t>Sucursal</a:t>
                  </a:r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2467234" y="5399101"/>
                  <a:ext cx="397665" cy="584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C" sz="3200" dirty="0"/>
                    <a:t>X</a:t>
                  </a:r>
                </a:p>
              </p:txBody>
            </p:sp>
            <p:cxnSp>
              <p:nvCxnSpPr>
                <p:cNvPr id="43" name="Straight Connector 42"/>
                <p:cNvCxnSpPr>
                  <a:stCxn id="42" idx="2"/>
                  <a:endCxn id="37" idx="0"/>
                </p:cNvCxnSpPr>
                <p:nvPr/>
              </p:nvCxnSpPr>
              <p:spPr>
                <a:xfrm>
                  <a:off x="2666067" y="5983877"/>
                  <a:ext cx="936694" cy="206100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>
                  <a:stCxn id="23" idx="2"/>
                  <a:endCxn id="42" idx="0"/>
                </p:cNvCxnSpPr>
                <p:nvPr/>
              </p:nvCxnSpPr>
              <p:spPr>
                <a:xfrm flipH="1">
                  <a:off x="2666067" y="5348597"/>
                  <a:ext cx="886711" cy="50504"/>
                </a:xfrm>
                <a:prstGeom prst="line">
                  <a:avLst/>
                </a:prstGeom>
                <a:ln w="38100" cmpd="sng">
                  <a:solidFill>
                    <a:srgbClr val="8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3527515" y="5539604"/>
                  <a:ext cx="119648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C" sz="2800" dirty="0">
                      <a:solidFill>
                        <a:srgbClr val="0000FF"/>
                      </a:solidFill>
                    </a:rPr>
                    <a:t>Ciudad</a:t>
                  </a: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5095060" y="1898432"/>
                  <a:ext cx="2827348" cy="584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C" sz="3200" dirty="0"/>
                    <a:t>σ</a:t>
                  </a:r>
                  <a:r>
                    <a:rPr lang="es-EC" sz="3200" baseline="-25000" dirty="0"/>
                    <a:t>nombre</a:t>
                  </a:r>
                  <a:r>
                    <a:rPr lang="es-EC" sz="3200" dirty="0"/>
                    <a:t> </a:t>
                  </a:r>
                  <a:r>
                    <a:rPr lang="es-EC" sz="3200" baseline="-25000" dirty="0"/>
                    <a:t>= ‘Guayaquil’</a:t>
                  </a:r>
                  <a:endParaRPr lang="es-EC" sz="3200" dirty="0"/>
                </a:p>
              </p:txBody>
            </p:sp>
          </p:grpSp>
          <p:sp>
            <p:nvSpPr>
              <p:cNvPr id="38" name="TextBox 37"/>
              <p:cNvSpPr txBox="1"/>
              <p:nvPr/>
            </p:nvSpPr>
            <p:spPr>
              <a:xfrm>
                <a:off x="4378589" y="4619502"/>
                <a:ext cx="190884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C" sz="2800" dirty="0">
                    <a:solidFill>
                      <a:srgbClr val="0000FF"/>
                    </a:solidFill>
                  </a:rPr>
                  <a:t>Comentario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5970585" y="927760"/>
                <a:ext cx="2675864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C" sz="3200" dirty="0"/>
                  <a:t>σ</a:t>
                </a:r>
                <a:r>
                  <a:rPr lang="es-EC" sz="3200" baseline="-25000" dirty="0"/>
                  <a:t>autor</a:t>
                </a:r>
                <a:r>
                  <a:rPr lang="es-EC" sz="3200" dirty="0"/>
                  <a:t> </a:t>
                </a:r>
                <a:r>
                  <a:rPr lang="es-EC" sz="3200" baseline="-25000" dirty="0"/>
                  <a:t>&lt;&gt; “Anónimo”</a:t>
                </a:r>
                <a:endParaRPr lang="es-EC" sz="3200" dirty="0"/>
              </a:p>
            </p:txBody>
          </p:sp>
          <p:cxnSp>
            <p:nvCxnSpPr>
              <p:cNvPr id="66" name="Straight Connector 65"/>
              <p:cNvCxnSpPr>
                <a:stCxn id="53" idx="0"/>
                <a:endCxn id="31" idx="2"/>
              </p:cNvCxnSpPr>
              <p:nvPr/>
            </p:nvCxnSpPr>
            <p:spPr>
              <a:xfrm flipV="1">
                <a:off x="7308517" y="884673"/>
                <a:ext cx="528752" cy="43087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/>
              <p:cNvSpPr txBox="1"/>
              <p:nvPr/>
            </p:nvSpPr>
            <p:spPr>
              <a:xfrm>
                <a:off x="4300038" y="3740223"/>
                <a:ext cx="397665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C" sz="3200" dirty="0"/>
                  <a:t>X</a:t>
                </a:r>
              </a:p>
            </p:txBody>
          </p:sp>
          <p:cxnSp>
            <p:nvCxnSpPr>
              <p:cNvPr id="72" name="Straight Connector 71"/>
              <p:cNvCxnSpPr>
                <a:stCxn id="70" idx="2"/>
                <a:endCxn id="38" idx="0"/>
              </p:cNvCxnSpPr>
              <p:nvPr/>
            </p:nvCxnSpPr>
            <p:spPr>
              <a:xfrm>
                <a:off x="4498871" y="4324999"/>
                <a:ext cx="834141" cy="294503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>
                <a:stCxn id="70" idx="2"/>
                <a:endCxn id="23" idx="0"/>
              </p:cNvCxnSpPr>
              <p:nvPr/>
            </p:nvCxnSpPr>
            <p:spPr>
              <a:xfrm flipH="1">
                <a:off x="3693882" y="4324999"/>
                <a:ext cx="804989" cy="109598"/>
              </a:xfrm>
              <a:prstGeom prst="line">
                <a:avLst/>
              </a:prstGeom>
              <a:ln w="38100" cmpd="sng">
                <a:solidFill>
                  <a:srgbClr val="8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TextBox 87"/>
            <p:cNvSpPr txBox="1"/>
            <p:nvPr/>
          </p:nvSpPr>
          <p:spPr>
            <a:xfrm>
              <a:off x="3183863" y="3203466"/>
              <a:ext cx="3203651" cy="420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baseline="-25000" dirty="0"/>
                <a:t>r.id_restaurante = s.id_rest</a:t>
              </a:r>
              <a:endParaRPr lang="es-EC" sz="3200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077042" y="2703144"/>
              <a:ext cx="2629644" cy="420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baseline="-25000" dirty="0"/>
                <a:t>s.ciudad = c.id_ciudad</a:t>
              </a:r>
              <a:endParaRPr lang="es-EC" sz="3200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299994" y="2202821"/>
              <a:ext cx="3501676" cy="420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baseline="-25000" dirty="0"/>
                <a:t>s.id_sucursal = co.restaurante</a:t>
              </a:r>
              <a:endParaRPr lang="es-EC" sz="3200" dirty="0"/>
            </a:p>
          </p:txBody>
        </p:sp>
        <p:cxnSp>
          <p:nvCxnSpPr>
            <p:cNvPr id="101" name="Straight Connector 100"/>
            <p:cNvCxnSpPr>
              <a:stCxn id="28" idx="2"/>
              <a:endCxn id="97" idx="0"/>
            </p:cNvCxnSpPr>
            <p:nvPr/>
          </p:nvCxnSpPr>
          <p:spPr>
            <a:xfrm flipH="1">
              <a:off x="6050832" y="2153984"/>
              <a:ext cx="599006" cy="4883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97" idx="2"/>
              <a:endCxn id="89" idx="0"/>
            </p:cNvCxnSpPr>
            <p:nvPr/>
          </p:nvCxnSpPr>
          <p:spPr>
            <a:xfrm flipH="1">
              <a:off x="5391864" y="2623449"/>
              <a:ext cx="658968" cy="7969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88" idx="0"/>
              <a:endCxn id="89" idx="2"/>
            </p:cNvCxnSpPr>
            <p:nvPr/>
          </p:nvCxnSpPr>
          <p:spPr>
            <a:xfrm flipV="1">
              <a:off x="4785689" y="3123772"/>
              <a:ext cx="606175" cy="79694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70" idx="0"/>
              <a:endCxn id="88" idx="2"/>
            </p:cNvCxnSpPr>
            <p:nvPr/>
          </p:nvCxnSpPr>
          <p:spPr>
            <a:xfrm flipV="1">
              <a:off x="4498871" y="3624094"/>
              <a:ext cx="286818" cy="116129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00230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/>
          <p:cNvGrpSpPr/>
          <p:nvPr/>
        </p:nvGrpSpPr>
        <p:grpSpPr>
          <a:xfrm>
            <a:off x="150348" y="-141128"/>
            <a:ext cx="10494724" cy="6533095"/>
            <a:chOff x="9244" y="188096"/>
            <a:chExt cx="10494724" cy="6533095"/>
          </a:xfrm>
        </p:grpSpPr>
        <p:sp>
          <p:nvSpPr>
            <p:cNvPr id="22" name="TextBox 21"/>
            <p:cNvSpPr txBox="1"/>
            <p:nvPr/>
          </p:nvSpPr>
          <p:spPr>
            <a:xfrm>
              <a:off x="3792549" y="188096"/>
              <a:ext cx="6711419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r.nombre, s.direccion, c.nombre, co.calificacion, co.texto</a:t>
              </a:r>
              <a:endParaRPr lang="es-EC" sz="3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82592" y="1764827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∞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0864" y="6197971"/>
              <a:ext cx="19644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Restaurante</a:t>
              </a:r>
            </a:p>
          </p:txBody>
        </p:sp>
        <p:cxnSp>
          <p:nvCxnSpPr>
            <p:cNvPr id="26" name="Straight Connector 25"/>
            <p:cNvCxnSpPr>
              <a:stCxn id="42" idx="2"/>
              <a:endCxn id="33" idx="0"/>
            </p:cNvCxnSpPr>
            <p:nvPr/>
          </p:nvCxnSpPr>
          <p:spPr>
            <a:xfrm flipH="1">
              <a:off x="1577875" y="4060993"/>
              <a:ext cx="1509474" cy="49090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3" idx="2"/>
              <a:endCxn id="35" idx="0"/>
            </p:cNvCxnSpPr>
            <p:nvPr/>
          </p:nvCxnSpPr>
          <p:spPr>
            <a:xfrm>
              <a:off x="5049953" y="2349603"/>
              <a:ext cx="1878559" cy="37130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31" idx="2"/>
              <a:endCxn id="24" idx="0"/>
            </p:cNvCxnSpPr>
            <p:nvPr/>
          </p:nvCxnSpPr>
          <p:spPr>
            <a:xfrm flipH="1">
              <a:off x="1573077" y="5944694"/>
              <a:ext cx="8802" cy="253277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8" idx="0"/>
              <a:endCxn id="35" idx="2"/>
            </p:cNvCxnSpPr>
            <p:nvPr/>
          </p:nvCxnSpPr>
          <p:spPr>
            <a:xfrm flipH="1" flipV="1">
              <a:off x="6928512" y="3305684"/>
              <a:ext cx="3524" cy="162816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729022" y="5359918"/>
              <a:ext cx="1705714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ranking &gt;=3</a:t>
              </a:r>
              <a:endParaRPr lang="es-EC" sz="3200" dirty="0"/>
            </a:p>
          </p:txBody>
        </p:sp>
        <p:cxnSp>
          <p:nvCxnSpPr>
            <p:cNvPr id="32" name="Straight Connector 31"/>
            <p:cNvCxnSpPr>
              <a:stCxn id="70" idx="0"/>
              <a:endCxn id="22" idx="2"/>
            </p:cNvCxnSpPr>
            <p:nvPr/>
          </p:nvCxnSpPr>
          <p:spPr>
            <a:xfrm flipV="1">
              <a:off x="7142487" y="772872"/>
              <a:ext cx="5772" cy="262298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9244" y="4551894"/>
              <a:ext cx="3137261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id_restaurante, nombre</a:t>
              </a:r>
              <a:endParaRPr lang="es-EC" sz="3200" dirty="0"/>
            </a:p>
          </p:txBody>
        </p:sp>
        <p:cxnSp>
          <p:nvCxnSpPr>
            <p:cNvPr id="34" name="Straight Connector 33"/>
            <p:cNvCxnSpPr>
              <a:stCxn id="33" idx="2"/>
              <a:endCxn id="31" idx="0"/>
            </p:cNvCxnSpPr>
            <p:nvPr/>
          </p:nvCxnSpPr>
          <p:spPr>
            <a:xfrm>
              <a:off x="1577875" y="5136670"/>
              <a:ext cx="4004" cy="223248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675071" y="2720908"/>
              <a:ext cx="2506881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id_ciudad, nombre</a:t>
              </a:r>
              <a:endParaRPr lang="es-EC" sz="3200" dirty="0"/>
            </a:p>
          </p:txBody>
        </p:sp>
        <p:cxnSp>
          <p:nvCxnSpPr>
            <p:cNvPr id="36" name="Straight Connector 35"/>
            <p:cNvCxnSpPr>
              <a:stCxn id="28" idx="2"/>
              <a:endCxn id="25" idx="0"/>
            </p:cNvCxnSpPr>
            <p:nvPr/>
          </p:nvCxnSpPr>
          <p:spPr>
            <a:xfrm flipH="1">
              <a:off x="6930139" y="4053276"/>
              <a:ext cx="1897" cy="216164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4843498" y="5554895"/>
              <a:ext cx="139881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Sucursal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26765" y="4673958"/>
              <a:ext cx="4621841" cy="58477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π</a:t>
              </a:r>
              <a:r>
                <a:rPr lang="es-EC" sz="3200" baseline="-25000" dirty="0"/>
                <a:t>Id_rest,</a:t>
              </a:r>
              <a:r>
                <a:rPr lang="es-EC" sz="3200" dirty="0"/>
                <a:t> </a:t>
              </a:r>
              <a:r>
                <a:rPr lang="es-EC" sz="3200" baseline="-25000" dirty="0"/>
                <a:t>ciudad, id_sucursal, direccion</a:t>
              </a:r>
              <a:endParaRPr lang="es-EC" sz="3200" dirty="0"/>
            </a:p>
          </p:txBody>
        </p:sp>
        <p:cxnSp>
          <p:nvCxnSpPr>
            <p:cNvPr id="41" name="Straight Connector 40"/>
            <p:cNvCxnSpPr>
              <a:stCxn id="40" idx="2"/>
              <a:endCxn id="37" idx="0"/>
            </p:cNvCxnSpPr>
            <p:nvPr/>
          </p:nvCxnSpPr>
          <p:spPr>
            <a:xfrm>
              <a:off x="5537686" y="5258734"/>
              <a:ext cx="5220" cy="296161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2819988" y="3476217"/>
              <a:ext cx="534722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∞</a:t>
              </a:r>
            </a:p>
          </p:txBody>
        </p:sp>
        <p:cxnSp>
          <p:nvCxnSpPr>
            <p:cNvPr id="43" name="Straight Connector 42"/>
            <p:cNvCxnSpPr>
              <a:stCxn id="42" idx="2"/>
              <a:endCxn id="40" idx="0"/>
            </p:cNvCxnSpPr>
            <p:nvPr/>
          </p:nvCxnSpPr>
          <p:spPr>
            <a:xfrm>
              <a:off x="3087349" y="4060993"/>
              <a:ext cx="2450337" cy="612965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23" idx="2"/>
              <a:endCxn id="42" idx="0"/>
            </p:cNvCxnSpPr>
            <p:nvPr/>
          </p:nvCxnSpPr>
          <p:spPr>
            <a:xfrm flipH="1">
              <a:off x="3087349" y="2349603"/>
              <a:ext cx="1962604" cy="1126614"/>
            </a:xfrm>
            <a:prstGeom prst="line">
              <a:avLst/>
            </a:prstGeom>
            <a:ln w="38100" cmpd="sng">
              <a:solidFill>
                <a:srgbClr val="8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6331896" y="4269440"/>
              <a:ext cx="119648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2800" dirty="0">
                  <a:solidFill>
                    <a:srgbClr val="0000FF"/>
                  </a:solidFill>
                </a:rPr>
                <a:t>Ciudad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518362" y="3468500"/>
              <a:ext cx="2827348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C" sz="3200" dirty="0"/>
                <a:t>σ</a:t>
              </a:r>
              <a:r>
                <a:rPr lang="es-EC" sz="3200" baseline="-25000" dirty="0"/>
                <a:t>nombre</a:t>
              </a:r>
              <a:r>
                <a:rPr lang="es-EC" sz="3200" dirty="0"/>
                <a:t> </a:t>
              </a:r>
              <a:r>
                <a:rPr lang="es-EC" sz="3200" baseline="-25000" dirty="0"/>
                <a:t>= ‘Guayaquil’</a:t>
              </a:r>
              <a:endParaRPr lang="es-EC" sz="3200" dirty="0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9246570" y="3296418"/>
            <a:ext cx="1908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2800" dirty="0">
                <a:solidFill>
                  <a:srgbClr val="0000FF"/>
                </a:solidFill>
              </a:rPr>
              <a:t>Comentario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98272" y="2480186"/>
            <a:ext cx="267586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200" dirty="0"/>
              <a:t>σ</a:t>
            </a:r>
            <a:r>
              <a:rPr lang="es-EC" sz="3200" baseline="-25000" dirty="0"/>
              <a:t>autor</a:t>
            </a:r>
            <a:r>
              <a:rPr lang="es-EC" sz="3200" dirty="0"/>
              <a:t> </a:t>
            </a:r>
            <a:r>
              <a:rPr lang="es-EC" sz="3200" baseline="-25000" dirty="0"/>
              <a:t>&lt;&gt; “Anónimo”</a:t>
            </a:r>
            <a:endParaRPr lang="es-EC" sz="3200" dirty="0"/>
          </a:p>
        </p:txBody>
      </p:sp>
      <p:cxnSp>
        <p:nvCxnSpPr>
          <p:cNvPr id="62" name="Straight Connector 61"/>
          <p:cNvCxnSpPr>
            <a:stCxn id="53" idx="2"/>
            <a:endCxn id="38" idx="0"/>
          </p:cNvCxnSpPr>
          <p:nvPr/>
        </p:nvCxnSpPr>
        <p:spPr>
          <a:xfrm flipH="1">
            <a:off x="10200993" y="3064962"/>
            <a:ext cx="335211" cy="231456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53" idx="0"/>
            <a:endCxn id="67" idx="2"/>
          </p:cNvCxnSpPr>
          <p:nvPr/>
        </p:nvCxnSpPr>
        <p:spPr>
          <a:xfrm flipH="1" flipV="1">
            <a:off x="10207889" y="2282089"/>
            <a:ext cx="328315" cy="198097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314383" y="1697313"/>
            <a:ext cx="3787011" cy="58477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C" sz="3200" dirty="0"/>
              <a:t>π</a:t>
            </a:r>
            <a:r>
              <a:rPr lang="es-EC" sz="3200" baseline="-25000" dirty="0"/>
              <a:t>restaurante, calificacion, texto</a:t>
            </a:r>
            <a:endParaRPr lang="es-EC" sz="3200" dirty="0"/>
          </a:p>
        </p:txBody>
      </p:sp>
      <p:sp>
        <p:nvSpPr>
          <p:cNvPr id="70" name="TextBox 69"/>
          <p:cNvSpPr txBox="1"/>
          <p:nvPr/>
        </p:nvSpPr>
        <p:spPr>
          <a:xfrm>
            <a:off x="7016230" y="705946"/>
            <a:ext cx="5347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C" sz="3200" dirty="0"/>
              <a:t>∞</a:t>
            </a:r>
          </a:p>
        </p:txBody>
      </p:sp>
      <p:cxnSp>
        <p:nvCxnSpPr>
          <p:cNvPr id="72" name="Straight Connector 71"/>
          <p:cNvCxnSpPr>
            <a:stCxn id="70" idx="2"/>
            <a:endCxn id="67" idx="0"/>
          </p:cNvCxnSpPr>
          <p:nvPr/>
        </p:nvCxnSpPr>
        <p:spPr>
          <a:xfrm>
            <a:off x="7283591" y="1290722"/>
            <a:ext cx="2924298" cy="406591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70" idx="2"/>
            <a:endCxn id="23" idx="0"/>
          </p:cNvCxnSpPr>
          <p:nvPr/>
        </p:nvCxnSpPr>
        <p:spPr>
          <a:xfrm flipH="1">
            <a:off x="5191057" y="1290722"/>
            <a:ext cx="2092534" cy="144881"/>
          </a:xfrm>
          <a:prstGeom prst="line">
            <a:avLst/>
          </a:prstGeom>
          <a:ln w="3810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2610563" y="5843912"/>
            <a:ext cx="85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(1.200)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46481" y="3621127"/>
            <a:ext cx="85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(1.020)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21059" y="3579475"/>
            <a:ext cx="85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(3.350)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68115" y="2126530"/>
            <a:ext cx="85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(3.350)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00629" y="3866635"/>
            <a:ext cx="675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(250)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24382" y="1796249"/>
            <a:ext cx="441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37029" y="938202"/>
            <a:ext cx="850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(3.350)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86860" y="3913187"/>
            <a:ext cx="96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(23.256)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16439" y="1119513"/>
            <a:ext cx="96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(17.316)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05238" y="460420"/>
            <a:ext cx="96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8000"/>
                </a:solidFill>
              </a:rPr>
              <a:t>(17.316)</a:t>
            </a:r>
          </a:p>
        </p:txBody>
      </p:sp>
    </p:spTree>
    <p:extLst>
      <p:ext uri="{BB962C8B-B14F-4D97-AF65-F5344CB8AC3E}">
        <p14:creationId xmlns:p14="http://schemas.microsoft.com/office/powerpoint/2010/main" val="341787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  <p:bldP spid="92" grpId="0"/>
      <p:bldP spid="93" grpId="0"/>
      <p:bldP spid="94" grpId="0"/>
      <p:bldP spid="95" grpId="0"/>
      <p:bldP spid="96" grpId="0"/>
      <p:bldP spid="98" grpId="0"/>
      <p:bldP spid="99" grpId="0"/>
      <p:bldP spid="10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ORDEN OPERADORES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32" y="2370668"/>
            <a:ext cx="3010747" cy="402336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S_tradnl" sz="2800" dirty="0"/>
              <a:t>FROM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S_tradnl" sz="2800" dirty="0"/>
              <a:t>ON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S_tradnl" sz="2800" dirty="0"/>
              <a:t>JOIN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S_tradnl" sz="2800" dirty="0"/>
              <a:t>WHERE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S_tradnl" sz="2800" dirty="0"/>
              <a:t>GROUP BY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S_tradnl" sz="2800" dirty="0"/>
              <a:t>HAVING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S_tradnl" sz="2800" dirty="0"/>
              <a:t>SELECT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S_tradnl" sz="2800" dirty="0"/>
              <a:t>DISTINCT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S_tradnl" sz="2800" dirty="0"/>
              <a:t>ORDER BY</a:t>
            </a:r>
          </a:p>
          <a:p>
            <a:pPr marL="514350" indent="-514350">
              <a:buClr>
                <a:srgbClr val="0000FF"/>
              </a:buClr>
              <a:buFont typeface="+mj-lt"/>
              <a:buAutoNum type="arabicPeriod"/>
            </a:pPr>
            <a:r>
              <a:rPr lang="es-ES_tradnl" sz="2800" dirty="0"/>
              <a:t>TOP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219198" y="1845734"/>
            <a:ext cx="8923869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00FF"/>
              </a:buClr>
              <a:buNone/>
            </a:pPr>
            <a:r>
              <a:rPr lang="es-ES_tradnl" sz="2800" dirty="0"/>
              <a:t>El orden en el que se ejecutan los operadores es el siguiente: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</p:txBody>
      </p:sp>
    </p:spTree>
    <p:extLst>
      <p:ext uri="{BB962C8B-B14F-4D97-AF65-F5344CB8AC3E}">
        <p14:creationId xmlns:p14="http://schemas.microsoft.com/office/powerpoint/2010/main" val="8131969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PLAN DE EJECUCIÓN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674015"/>
            <a:ext cx="10058400" cy="1332404"/>
          </a:xfrm>
        </p:spPr>
        <p:txBody>
          <a:bodyPr>
            <a:norm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Utilizando </a:t>
            </a:r>
            <a:r>
              <a:rPr lang="es-E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WorkBench</a:t>
            </a: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243055" y="5548328"/>
            <a:ext cx="10058400" cy="752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4375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-643467" y="2791637"/>
            <a:ext cx="6862317" cy="160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PROCEDIMIENTO</a:t>
            </a:r>
          </a:p>
        </p:txBody>
      </p:sp>
      <p:pic>
        <p:nvPicPr>
          <p:cNvPr id="4" name="Picture 3" descr="Optimizacion de B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13" y="152400"/>
            <a:ext cx="5107460" cy="65024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9939867" y="4250266"/>
            <a:ext cx="1744133" cy="508001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84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PLAN DE EJECUCIÓN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219198" y="1845734"/>
            <a:ext cx="9262535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dirty="0"/>
              <a:t> La mayoría de los RDBMS tienen una vista del plan de ejecución.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dirty="0"/>
              <a:t> Se visualiza el costo y </a:t>
            </a:r>
            <a:r>
              <a:rPr lang="es-ES_tradnl" sz="2800" dirty="0" err="1"/>
              <a:t>tuplas</a:t>
            </a:r>
            <a:r>
              <a:rPr lang="es-ES_tradnl" sz="2800" dirty="0"/>
              <a:t> para cada operación.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dirty="0"/>
              <a:t> Ayuda a identificar donde crear los índices para minimizar el costo y tiempo de ejecución.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r>
              <a:rPr lang="es-ES_tradnl" sz="2800" dirty="0"/>
              <a:t> Al ejecutar el </a:t>
            </a:r>
            <a:r>
              <a:rPr lang="es-ES_tradnl" sz="2800" dirty="0" err="1"/>
              <a:t>query</a:t>
            </a:r>
            <a:r>
              <a:rPr lang="es-ES_tradnl" sz="2800" dirty="0"/>
              <a:t>, es posible ver el plan de ejecución.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</p:txBody>
      </p:sp>
      <p:pic>
        <p:nvPicPr>
          <p:cNvPr id="5" name="Picture 4" descr="Screen Shot 2018-01-22 at 16.21.2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99745"/>
            <a:ext cx="988483" cy="625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764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PLAN DE EJECUCIÓN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219198" y="1845734"/>
            <a:ext cx="8703735" cy="4351866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00FF"/>
              </a:buClr>
              <a:buNone/>
            </a:pPr>
            <a:r>
              <a:rPr lang="es-ES_tradnl" b="1" dirty="0">
                <a:solidFill>
                  <a:srgbClr val="0000FF"/>
                </a:solidFill>
              </a:rPr>
              <a:t>SELECT</a:t>
            </a:r>
            <a:r>
              <a:rPr lang="es-ES_tradnl" dirty="0">
                <a:solidFill>
                  <a:srgbClr val="0000FF"/>
                </a:solidFill>
              </a:rPr>
              <a:t>  </a:t>
            </a:r>
            <a:r>
              <a:rPr lang="es-ES_tradnl" dirty="0" err="1"/>
              <a:t>c.name</a:t>
            </a:r>
            <a:r>
              <a:rPr lang="es-ES_tradnl" dirty="0"/>
              <a:t>, COUNT(</a:t>
            </a:r>
            <a:r>
              <a:rPr lang="es-ES_tradnl" dirty="0" err="1"/>
              <a:t>fc.film_id</a:t>
            </a:r>
            <a:r>
              <a:rPr lang="es-ES_tradnl" dirty="0"/>
              <a:t>)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b="1" dirty="0">
                <a:solidFill>
                  <a:srgbClr val="0000FF"/>
                </a:solidFill>
              </a:rPr>
              <a:t>FROM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dirty="0" err="1"/>
              <a:t>film_category</a:t>
            </a:r>
            <a:r>
              <a:rPr lang="es-ES_tradnl" dirty="0"/>
              <a:t> </a:t>
            </a:r>
            <a:r>
              <a:rPr lang="es-ES_tradnl" dirty="0" err="1"/>
              <a:t>fc</a:t>
            </a:r>
            <a:r>
              <a:rPr lang="es-ES_tradnl" dirty="0"/>
              <a:t>, </a:t>
            </a:r>
            <a:r>
              <a:rPr lang="es-ES_tradnl" dirty="0" err="1"/>
              <a:t>category</a:t>
            </a:r>
            <a:r>
              <a:rPr lang="es-ES_tradnl" dirty="0"/>
              <a:t> c, film f, </a:t>
            </a:r>
            <a:r>
              <a:rPr lang="es-ES_tradnl" dirty="0" err="1"/>
              <a:t>language</a:t>
            </a:r>
            <a:r>
              <a:rPr lang="es-ES_tradnl" dirty="0"/>
              <a:t> l, </a:t>
            </a:r>
            <a:r>
              <a:rPr lang="es-ES_tradnl" dirty="0" err="1"/>
              <a:t>inventory</a:t>
            </a:r>
            <a:r>
              <a:rPr lang="es-ES_tradnl" dirty="0"/>
              <a:t> i, </a:t>
            </a:r>
            <a:r>
              <a:rPr lang="es-ES_tradnl" dirty="0" err="1"/>
              <a:t>rental</a:t>
            </a:r>
            <a:r>
              <a:rPr lang="es-ES_tradnl" dirty="0"/>
              <a:t> r, </a:t>
            </a:r>
            <a:r>
              <a:rPr lang="es-ES_tradnl" dirty="0" err="1"/>
              <a:t>customer</a:t>
            </a:r>
            <a:r>
              <a:rPr lang="es-ES_tradnl" dirty="0"/>
              <a:t> </a:t>
            </a:r>
            <a:r>
              <a:rPr lang="es-ES_tradnl" dirty="0" err="1"/>
              <a:t>cu</a:t>
            </a:r>
            <a:r>
              <a:rPr lang="es-ES_tradnl" dirty="0"/>
              <a:t>, </a:t>
            </a:r>
            <a:r>
              <a:rPr lang="es-ES_tradnl" dirty="0" err="1"/>
              <a:t>payment</a:t>
            </a:r>
            <a:r>
              <a:rPr lang="es-ES_tradnl" dirty="0"/>
              <a:t> p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b="1" dirty="0">
                <a:solidFill>
                  <a:srgbClr val="0000FF"/>
                </a:solidFill>
              </a:rPr>
              <a:t>WHERE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dirty="0" err="1"/>
              <a:t>c.category_id</a:t>
            </a:r>
            <a:r>
              <a:rPr lang="es-ES_tradnl" dirty="0"/>
              <a:t> = </a:t>
            </a:r>
            <a:r>
              <a:rPr lang="es-ES_tradnl" dirty="0" err="1"/>
              <a:t>fc.category_id</a:t>
            </a:r>
            <a:endParaRPr lang="es-ES_tradnl" dirty="0"/>
          </a:p>
          <a:p>
            <a:pPr marL="0" indent="0">
              <a:buClr>
                <a:srgbClr val="0000FF"/>
              </a:buClr>
              <a:buNone/>
            </a:pPr>
            <a:r>
              <a:rPr lang="es-ES_tradnl" dirty="0"/>
              <a:t>   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fc.film_id</a:t>
            </a:r>
            <a:r>
              <a:rPr lang="es-ES_tradnl" dirty="0"/>
              <a:t> = </a:t>
            </a:r>
            <a:r>
              <a:rPr lang="es-ES_tradnl" dirty="0" err="1"/>
              <a:t>f.film_id</a:t>
            </a:r>
            <a:endParaRPr lang="es-ES_tradnl" dirty="0"/>
          </a:p>
          <a:p>
            <a:pPr marL="0" indent="0">
              <a:buClr>
                <a:srgbClr val="0000FF"/>
              </a:buClr>
              <a:buNone/>
            </a:pPr>
            <a:r>
              <a:rPr lang="es-ES_tradnl" dirty="0"/>
              <a:t>   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f.language_id</a:t>
            </a:r>
            <a:r>
              <a:rPr lang="es-ES_tradnl" dirty="0"/>
              <a:t> = </a:t>
            </a:r>
            <a:r>
              <a:rPr lang="es-ES_tradnl" dirty="0" err="1"/>
              <a:t>l.language_id</a:t>
            </a:r>
            <a:endParaRPr lang="es-ES_tradnl" dirty="0"/>
          </a:p>
          <a:p>
            <a:pPr marL="0" indent="0">
              <a:buClr>
                <a:srgbClr val="0000FF"/>
              </a:buClr>
              <a:buNone/>
            </a:pPr>
            <a:r>
              <a:rPr lang="es-ES_tradnl" dirty="0"/>
              <a:t>   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f.film_id</a:t>
            </a:r>
            <a:r>
              <a:rPr lang="es-ES_tradnl" dirty="0"/>
              <a:t> = </a:t>
            </a:r>
            <a:r>
              <a:rPr lang="es-ES_tradnl" dirty="0" err="1"/>
              <a:t>i.film_id</a:t>
            </a:r>
            <a:endParaRPr lang="es-ES_tradnl" dirty="0"/>
          </a:p>
          <a:p>
            <a:pPr marL="0" indent="0">
              <a:buClr>
                <a:srgbClr val="0000FF"/>
              </a:buClr>
              <a:buNone/>
            </a:pPr>
            <a:r>
              <a:rPr lang="es-ES_tradnl" dirty="0"/>
              <a:t>   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i.inventory_id</a:t>
            </a:r>
            <a:r>
              <a:rPr lang="es-ES_tradnl" dirty="0"/>
              <a:t> = </a:t>
            </a:r>
            <a:r>
              <a:rPr lang="es-ES_tradnl" dirty="0" err="1"/>
              <a:t>r.inventory_id</a:t>
            </a:r>
            <a:endParaRPr lang="es-ES_tradnl" dirty="0"/>
          </a:p>
          <a:p>
            <a:pPr marL="0" indent="0">
              <a:buClr>
                <a:srgbClr val="0000FF"/>
              </a:buClr>
              <a:buNone/>
            </a:pPr>
            <a:r>
              <a:rPr lang="es-ES_tradnl" dirty="0"/>
              <a:t>   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r.customer_id</a:t>
            </a:r>
            <a:r>
              <a:rPr lang="es-ES_tradnl" dirty="0"/>
              <a:t> = </a:t>
            </a:r>
            <a:r>
              <a:rPr lang="es-ES_tradnl" dirty="0" err="1"/>
              <a:t>cu.customer_id</a:t>
            </a:r>
            <a:endParaRPr lang="es-ES_tradnl" dirty="0"/>
          </a:p>
          <a:p>
            <a:pPr marL="0" indent="0">
              <a:buClr>
                <a:srgbClr val="0000FF"/>
              </a:buClr>
              <a:buNone/>
            </a:pPr>
            <a:r>
              <a:rPr lang="es-ES_tradnl" dirty="0"/>
              <a:t>   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r.customer_id</a:t>
            </a:r>
            <a:r>
              <a:rPr lang="es-ES_tradnl" dirty="0"/>
              <a:t> = </a:t>
            </a:r>
            <a:r>
              <a:rPr lang="es-ES_tradnl" dirty="0" err="1"/>
              <a:t>p.customer_id</a:t>
            </a:r>
            <a:endParaRPr lang="es-ES_tradnl" dirty="0"/>
          </a:p>
          <a:p>
            <a:pPr marL="0" indent="0">
              <a:buClr>
                <a:srgbClr val="0000FF"/>
              </a:buClr>
              <a:buNone/>
            </a:pPr>
            <a:r>
              <a:rPr lang="es-ES_tradnl" dirty="0"/>
              <a:t>   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l.name</a:t>
            </a:r>
            <a:r>
              <a:rPr lang="es-ES_tradnl" dirty="0"/>
              <a:t> = "English"</a:t>
            </a:r>
          </a:p>
          <a:p>
            <a:pPr marL="0" indent="0">
              <a:buClr>
                <a:srgbClr val="0000FF"/>
              </a:buClr>
              <a:buNone/>
            </a:pPr>
            <a:r>
              <a:rPr lang="es-ES_tradnl" b="1" dirty="0">
                <a:solidFill>
                  <a:srgbClr val="0000FF"/>
                </a:solidFill>
              </a:rPr>
              <a:t>GROUP BY</a:t>
            </a:r>
            <a:r>
              <a:rPr lang="es-ES_tradnl" dirty="0"/>
              <a:t> </a:t>
            </a:r>
            <a:r>
              <a:rPr lang="es-ES_tradnl" dirty="0" err="1"/>
              <a:t>c.name</a:t>
            </a:r>
            <a:endParaRPr lang="es-ES_tradnl" dirty="0"/>
          </a:p>
          <a:p>
            <a:pPr marL="0" indent="0">
              <a:buClr>
                <a:srgbClr val="0000FF"/>
              </a:buClr>
              <a:buNone/>
            </a:pPr>
            <a:r>
              <a:rPr lang="es-ES_tradnl" b="1" dirty="0">
                <a:solidFill>
                  <a:srgbClr val="0000FF"/>
                </a:solidFill>
              </a:rPr>
              <a:t>HAVING</a:t>
            </a:r>
            <a:r>
              <a:rPr lang="es-ES_tradnl" dirty="0"/>
              <a:t> SUM(</a:t>
            </a:r>
            <a:r>
              <a:rPr lang="es-ES_tradnl" dirty="0" err="1"/>
              <a:t>p.amount</a:t>
            </a:r>
            <a:r>
              <a:rPr lang="es-ES_tradnl" dirty="0"/>
              <a:t>) &gt; 100;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</p:txBody>
      </p:sp>
      <p:pic>
        <p:nvPicPr>
          <p:cNvPr id="5" name="Picture 4" descr="Screen Shot 2018-01-22 at 16.21.2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99745"/>
            <a:ext cx="988483" cy="625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96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PLAN DE EJECUCIÓN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41867" y="1845734"/>
            <a:ext cx="9821333" cy="435186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0000FF"/>
              </a:buClr>
              <a:buNone/>
            </a:pPr>
            <a:r>
              <a:rPr lang="es-ES_tradnl" b="1" dirty="0">
                <a:solidFill>
                  <a:srgbClr val="0000FF"/>
                </a:solidFill>
              </a:rPr>
              <a:t>SELECT</a:t>
            </a:r>
            <a:r>
              <a:rPr lang="es-ES_tradnl" dirty="0">
                <a:solidFill>
                  <a:srgbClr val="0000FF"/>
                </a:solidFill>
              </a:rPr>
              <a:t>  </a:t>
            </a:r>
            <a:r>
              <a:rPr lang="es-ES_tradnl" dirty="0" err="1"/>
              <a:t>c.name</a:t>
            </a:r>
            <a:r>
              <a:rPr lang="es-ES_tradnl" dirty="0"/>
              <a:t>, COUNT(</a:t>
            </a:r>
            <a:r>
              <a:rPr lang="es-ES_tradnl" dirty="0" err="1"/>
              <a:t>fc.film_id</a:t>
            </a:r>
            <a:r>
              <a:rPr lang="es-ES_tradnl" dirty="0"/>
              <a:t>) </a:t>
            </a:r>
            <a:r>
              <a:rPr lang="es-ES_tradnl" b="1" dirty="0">
                <a:solidFill>
                  <a:srgbClr val="0000FF"/>
                </a:solidFill>
              </a:rPr>
              <a:t>FROM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dirty="0" err="1"/>
              <a:t>film_category</a:t>
            </a:r>
            <a:r>
              <a:rPr lang="es-ES_tradnl" dirty="0"/>
              <a:t> </a:t>
            </a:r>
            <a:r>
              <a:rPr lang="es-ES_tradnl" dirty="0" err="1"/>
              <a:t>fc</a:t>
            </a:r>
            <a:r>
              <a:rPr lang="es-ES_tradnl" dirty="0"/>
              <a:t>, </a:t>
            </a:r>
            <a:r>
              <a:rPr lang="es-ES_tradnl" dirty="0" err="1"/>
              <a:t>category</a:t>
            </a:r>
            <a:r>
              <a:rPr lang="es-ES_tradnl" dirty="0"/>
              <a:t> c, film f, </a:t>
            </a:r>
            <a:r>
              <a:rPr lang="es-ES_tradnl" dirty="0" err="1"/>
              <a:t>language</a:t>
            </a:r>
            <a:r>
              <a:rPr lang="es-ES_tradnl" dirty="0"/>
              <a:t> l, </a:t>
            </a:r>
            <a:r>
              <a:rPr lang="es-ES_tradnl" dirty="0" err="1"/>
              <a:t>inventory</a:t>
            </a:r>
            <a:r>
              <a:rPr lang="es-ES_tradnl" dirty="0"/>
              <a:t> i, </a:t>
            </a:r>
            <a:r>
              <a:rPr lang="es-ES_tradnl" dirty="0" err="1"/>
              <a:t>rental</a:t>
            </a:r>
            <a:r>
              <a:rPr lang="es-ES_tradnl" dirty="0"/>
              <a:t> r, </a:t>
            </a:r>
            <a:r>
              <a:rPr lang="es-ES_tradnl" dirty="0" err="1"/>
              <a:t>customer</a:t>
            </a:r>
            <a:r>
              <a:rPr lang="es-ES_tradnl" dirty="0"/>
              <a:t> </a:t>
            </a:r>
            <a:r>
              <a:rPr lang="es-ES_tradnl" dirty="0" err="1"/>
              <a:t>cu</a:t>
            </a:r>
            <a:r>
              <a:rPr lang="es-ES_tradnl" dirty="0"/>
              <a:t>, </a:t>
            </a:r>
            <a:r>
              <a:rPr lang="es-ES_tradnl" dirty="0" err="1"/>
              <a:t>payment</a:t>
            </a:r>
            <a:r>
              <a:rPr lang="es-ES_tradnl" dirty="0"/>
              <a:t> p </a:t>
            </a:r>
            <a:r>
              <a:rPr lang="es-ES_tradnl" b="1" dirty="0">
                <a:solidFill>
                  <a:srgbClr val="0000FF"/>
                </a:solidFill>
              </a:rPr>
              <a:t>WHERE</a:t>
            </a:r>
            <a:r>
              <a:rPr lang="es-ES_tradnl" dirty="0">
                <a:solidFill>
                  <a:srgbClr val="0000FF"/>
                </a:solidFill>
              </a:rPr>
              <a:t> </a:t>
            </a:r>
            <a:r>
              <a:rPr lang="es-ES_tradnl" dirty="0" err="1"/>
              <a:t>c.category_id</a:t>
            </a:r>
            <a:r>
              <a:rPr lang="es-ES_tradnl" dirty="0"/>
              <a:t> = </a:t>
            </a:r>
            <a:r>
              <a:rPr lang="es-ES_tradnl" dirty="0" err="1"/>
              <a:t>fc.category_id</a:t>
            </a:r>
            <a:r>
              <a:rPr lang="es-ES_tradnl" dirty="0"/>
              <a:t>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fc.film_id</a:t>
            </a:r>
            <a:r>
              <a:rPr lang="es-ES_tradnl" dirty="0"/>
              <a:t> = </a:t>
            </a:r>
            <a:r>
              <a:rPr lang="es-ES_tradnl" dirty="0" err="1"/>
              <a:t>f.film_id</a:t>
            </a:r>
            <a:r>
              <a:rPr lang="es-ES_tradnl" dirty="0"/>
              <a:t>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f.language_id</a:t>
            </a:r>
            <a:r>
              <a:rPr lang="es-ES_tradnl" dirty="0"/>
              <a:t> = </a:t>
            </a:r>
            <a:r>
              <a:rPr lang="es-ES_tradnl" dirty="0" err="1"/>
              <a:t>l.language_id</a:t>
            </a:r>
            <a:r>
              <a:rPr lang="es-ES_tradnl" dirty="0"/>
              <a:t>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f.film_id</a:t>
            </a:r>
            <a:r>
              <a:rPr lang="es-ES_tradnl" dirty="0"/>
              <a:t> = </a:t>
            </a:r>
            <a:r>
              <a:rPr lang="es-ES_tradnl" dirty="0" err="1"/>
              <a:t>i.film_id</a:t>
            </a:r>
            <a:r>
              <a:rPr lang="es-ES_tradnl" dirty="0"/>
              <a:t>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i.inventory_id</a:t>
            </a:r>
            <a:r>
              <a:rPr lang="es-ES_tradnl" dirty="0"/>
              <a:t> = </a:t>
            </a:r>
            <a:r>
              <a:rPr lang="es-ES_tradnl" dirty="0" err="1"/>
              <a:t>r.inventory_id</a:t>
            </a:r>
            <a:r>
              <a:rPr lang="es-ES_tradnl" dirty="0"/>
              <a:t>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r.customer_id</a:t>
            </a:r>
            <a:r>
              <a:rPr lang="es-ES_tradnl" dirty="0"/>
              <a:t> = </a:t>
            </a:r>
            <a:r>
              <a:rPr lang="es-ES_tradnl" dirty="0" err="1"/>
              <a:t>cu.customer_id</a:t>
            </a:r>
            <a:r>
              <a:rPr lang="es-ES_tradnl" dirty="0"/>
              <a:t>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r.customer_id</a:t>
            </a:r>
            <a:r>
              <a:rPr lang="es-ES_tradnl" dirty="0"/>
              <a:t> = </a:t>
            </a:r>
            <a:r>
              <a:rPr lang="es-ES_tradnl" dirty="0" err="1"/>
              <a:t>p.customer_id</a:t>
            </a:r>
            <a:r>
              <a:rPr lang="es-ES_tradnl" dirty="0"/>
              <a:t> </a:t>
            </a:r>
            <a:r>
              <a:rPr lang="es-ES_tradnl" b="1" dirty="0">
                <a:solidFill>
                  <a:srgbClr val="0000FF"/>
                </a:solidFill>
              </a:rPr>
              <a:t>AND</a:t>
            </a:r>
            <a:r>
              <a:rPr lang="es-ES_tradnl" dirty="0"/>
              <a:t> </a:t>
            </a:r>
            <a:r>
              <a:rPr lang="es-ES_tradnl" dirty="0" err="1"/>
              <a:t>l.name</a:t>
            </a:r>
            <a:r>
              <a:rPr lang="es-ES_tradnl" dirty="0"/>
              <a:t> = "English” </a:t>
            </a:r>
            <a:r>
              <a:rPr lang="es-ES_tradnl" b="1" dirty="0">
                <a:solidFill>
                  <a:srgbClr val="0000FF"/>
                </a:solidFill>
              </a:rPr>
              <a:t>GROUP BY</a:t>
            </a:r>
            <a:r>
              <a:rPr lang="es-ES_tradnl" dirty="0"/>
              <a:t> </a:t>
            </a:r>
            <a:r>
              <a:rPr lang="es-ES_tradnl" dirty="0" err="1"/>
              <a:t>c.name</a:t>
            </a:r>
            <a:r>
              <a:rPr lang="es-ES_tradnl" dirty="0"/>
              <a:t> </a:t>
            </a:r>
            <a:r>
              <a:rPr lang="es-ES_tradnl" b="1" dirty="0">
                <a:solidFill>
                  <a:srgbClr val="0000FF"/>
                </a:solidFill>
              </a:rPr>
              <a:t>HAVING</a:t>
            </a:r>
            <a:r>
              <a:rPr lang="es-ES_tradnl" dirty="0"/>
              <a:t> SUM(</a:t>
            </a:r>
            <a:r>
              <a:rPr lang="es-ES_tradnl" dirty="0" err="1"/>
              <a:t>p.amount</a:t>
            </a:r>
            <a:r>
              <a:rPr lang="es-ES_tradnl" dirty="0"/>
              <a:t>) &gt; 100;</a:t>
            </a:r>
          </a:p>
          <a:p>
            <a:pPr>
              <a:buClr>
                <a:srgbClr val="0000FF"/>
              </a:buClr>
              <a:buFont typeface="Wingdings" charset="2"/>
              <a:buChar char="Ø"/>
            </a:pPr>
            <a:endParaRPr lang="es-ES_tradnl" b="1" dirty="0"/>
          </a:p>
        </p:txBody>
      </p:sp>
      <p:pic>
        <p:nvPicPr>
          <p:cNvPr id="3" name="Picture 2" descr="Screen Shot 2018-01-22 at 16.25.5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64"/>
          <a:stretch/>
        </p:blipFill>
        <p:spPr>
          <a:xfrm>
            <a:off x="254000" y="4030134"/>
            <a:ext cx="10176933" cy="1964250"/>
          </a:xfrm>
          <a:prstGeom prst="rect">
            <a:avLst/>
          </a:prstGeom>
        </p:spPr>
      </p:pic>
      <p:pic>
        <p:nvPicPr>
          <p:cNvPr id="4" name="Picture 3" descr="Screen Shot 2018-01-22 at 16.25.59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9"/>
          <a:stretch/>
        </p:blipFill>
        <p:spPr>
          <a:xfrm>
            <a:off x="10414000" y="2573850"/>
            <a:ext cx="1778000" cy="36893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0602" y="5094911"/>
            <a:ext cx="2521092" cy="809437"/>
          </a:xfrm>
          <a:prstGeom prst="rect">
            <a:avLst/>
          </a:prstGeom>
          <a:solidFill>
            <a:srgbClr val="FF0000">
              <a:alpha val="1800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1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b="1" dirty="0">
                <a:latin typeface="Arial"/>
                <a:cs typeface="Arial"/>
              </a:rPr>
              <a:t>PLAN DE EJECUCIÓN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41867" y="1845734"/>
            <a:ext cx="9821333" cy="435186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>
                <a:srgbClr val="0000FF"/>
              </a:buClr>
              <a:buNone/>
            </a:pPr>
            <a:r>
              <a:rPr lang="es-ES_tradnl" b="1" dirty="0" err="1">
                <a:solidFill>
                  <a:srgbClr val="0000FF"/>
                </a:solidFill>
              </a:rPr>
              <a:t>create</a:t>
            </a:r>
            <a:r>
              <a:rPr lang="es-ES_tradnl" b="1" dirty="0">
                <a:solidFill>
                  <a:srgbClr val="0000FF"/>
                </a:solidFill>
              </a:rPr>
              <a:t> </a:t>
            </a:r>
            <a:r>
              <a:rPr lang="es-ES_tradnl" b="1" dirty="0" err="1">
                <a:solidFill>
                  <a:srgbClr val="0000FF"/>
                </a:solidFill>
              </a:rPr>
              <a:t>index</a:t>
            </a:r>
            <a:r>
              <a:rPr lang="es-ES_tradnl" b="1" dirty="0">
                <a:solidFill>
                  <a:srgbClr val="0000FF"/>
                </a:solidFill>
              </a:rPr>
              <a:t> </a:t>
            </a:r>
            <a:r>
              <a:rPr lang="es-ES_tradnl" dirty="0" err="1">
                <a:solidFill>
                  <a:schemeClr val="tx1"/>
                </a:solidFill>
              </a:rPr>
              <a:t>idx</a:t>
            </a:r>
            <a:r>
              <a:rPr lang="es-ES_tradnl" b="1" dirty="0">
                <a:solidFill>
                  <a:schemeClr val="tx1"/>
                </a:solidFill>
              </a:rPr>
              <a:t> </a:t>
            </a:r>
            <a:r>
              <a:rPr lang="es-ES_tradnl" b="1" dirty="0" err="1">
                <a:solidFill>
                  <a:srgbClr val="0000FF"/>
                </a:solidFill>
              </a:rPr>
              <a:t>on</a:t>
            </a:r>
            <a:r>
              <a:rPr lang="es-ES_tradnl" b="1" dirty="0">
                <a:solidFill>
                  <a:srgbClr val="0000FF"/>
                </a:solidFill>
              </a:rPr>
              <a:t> </a:t>
            </a:r>
            <a:r>
              <a:rPr lang="es-ES_tradnl" dirty="0" err="1">
                <a:solidFill>
                  <a:srgbClr val="000000"/>
                </a:solidFill>
              </a:rPr>
              <a:t>language</a:t>
            </a:r>
            <a:r>
              <a:rPr lang="es-ES_tradnl" dirty="0">
                <a:solidFill>
                  <a:srgbClr val="000000"/>
                </a:solidFill>
              </a:rPr>
              <a:t>(</a:t>
            </a:r>
            <a:r>
              <a:rPr lang="es-ES_tradnl" dirty="0" err="1">
                <a:solidFill>
                  <a:srgbClr val="000000"/>
                </a:solidFill>
              </a:rPr>
              <a:t>name</a:t>
            </a:r>
            <a:r>
              <a:rPr lang="es-ES_tradnl" dirty="0">
                <a:solidFill>
                  <a:srgbClr val="000000"/>
                </a:solidFill>
              </a:rPr>
              <a:t>);</a:t>
            </a:r>
          </a:p>
        </p:txBody>
      </p:sp>
      <p:pic>
        <p:nvPicPr>
          <p:cNvPr id="5" name="Picture 4" descr="Screen Shot 2018-01-22 at 16.29.0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34" y="3111473"/>
            <a:ext cx="10200901" cy="2165286"/>
          </a:xfrm>
          <a:prstGeom prst="rect">
            <a:avLst/>
          </a:prstGeom>
        </p:spPr>
      </p:pic>
      <p:pic>
        <p:nvPicPr>
          <p:cNvPr id="6" name="Picture 5" descr="Screen Shot 2018-01-22 at 16.29.16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1527" y="1771423"/>
            <a:ext cx="1820473" cy="389378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1647" y="4422024"/>
            <a:ext cx="1592267" cy="809437"/>
          </a:xfrm>
          <a:prstGeom prst="rect">
            <a:avLst/>
          </a:prstGeom>
          <a:solidFill>
            <a:srgbClr val="FF0000">
              <a:alpha val="1800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6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A8DFF3"/>
      </a:accent1>
      <a:accent2>
        <a:srgbClr val="2C8ED5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21315</TotalTime>
  <Words>5528</Words>
  <Application>Microsoft Macintosh PowerPoint</Application>
  <PresentationFormat>Widescreen</PresentationFormat>
  <Paragraphs>789</Paragraphs>
  <Slides>47</Slides>
  <Notes>37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ＭＳ ゴシック</vt:lpstr>
      <vt:lpstr>Arial</vt:lpstr>
      <vt:lpstr>Calibri</vt:lpstr>
      <vt:lpstr>Calibri Light</vt:lpstr>
      <vt:lpstr>Wingdings</vt:lpstr>
      <vt:lpstr>Retrospect</vt:lpstr>
      <vt:lpstr>SISTEMAS DE  BASES DE DATOS  TICG1001</vt:lpstr>
      <vt:lpstr>PowerPoint Presentation</vt:lpstr>
      <vt:lpstr>PowerPoint Presentation</vt:lpstr>
      <vt:lpstr>TRANSFORMACIÓN  QUERY-AR</vt:lpstr>
      <vt:lpstr>PowerPoint Presentation</vt:lpstr>
      <vt:lpstr>PowerPoint Presentation</vt:lpstr>
      <vt:lpstr>Generando el plan….</vt:lpstr>
      <vt:lpstr>Desplazando la proyección…</vt:lpstr>
      <vt:lpstr>Mecanismos básicos</vt:lpstr>
      <vt:lpstr>EJEMPLO #1</vt:lpstr>
      <vt:lpstr>EJEMPLO #1</vt:lpstr>
      <vt:lpstr>EJEMPLO #1</vt:lpstr>
      <vt:lpstr>EJEMPLO #2</vt:lpstr>
      <vt:lpstr>EJEMPLO #2</vt:lpstr>
      <vt:lpstr>EJEMPLO #2</vt:lpstr>
      <vt:lpstr>EJERCICIO</vt:lpstr>
      <vt:lpstr>PowerPoint Presentation</vt:lpstr>
      <vt:lpstr>ESTIMACIÓN DE COSTOS</vt:lpstr>
      <vt:lpstr>PowerPoint Presentation</vt:lpstr>
      <vt:lpstr>PLAN DE COSTOS</vt:lpstr>
      <vt:lpstr>PowerPoint Presentation</vt:lpstr>
      <vt:lpstr>PowerPoint Presentation</vt:lpstr>
      <vt:lpstr>PowerPoint Presentation</vt:lpstr>
      <vt:lpstr>PowerPoint Presentation</vt:lpstr>
      <vt:lpstr>PLAN AR Y COSTOS</vt:lpstr>
      <vt:lpstr>EJEMPLO</vt:lpstr>
      <vt:lpstr>EJEMPLO (PLAN AR)</vt:lpstr>
      <vt:lpstr>EJEMPLO (COSTO #1)</vt:lpstr>
      <vt:lpstr>EJEMPLO (COSTO #2)</vt:lpstr>
      <vt:lpstr>EJEMPLO (COSTO #3)</vt:lpstr>
      <vt:lpstr>EJEMPLO</vt:lpstr>
      <vt:lpstr>EJERCICIO</vt:lpstr>
      <vt:lpstr>EJERCICIO (a)</vt:lpstr>
      <vt:lpstr>EJERCICIO (b)</vt:lpstr>
      <vt:lpstr>EJERCICIO (a)</vt:lpstr>
      <vt:lpstr>EJERCICIO (b)</vt:lpstr>
      <vt:lpstr>EJERCICIO (c)</vt:lpstr>
      <vt:lpstr>EJERCICIO EXAMEN</vt:lpstr>
      <vt:lpstr>PowerPoint Presentation</vt:lpstr>
      <vt:lpstr>PowerPoint Presentation</vt:lpstr>
      <vt:lpstr>ORDEN OPERADORES</vt:lpstr>
      <vt:lpstr>PLAN DE EJECUCIÓN</vt:lpstr>
      <vt:lpstr>PowerPoint Presentation</vt:lpstr>
      <vt:lpstr>PLAN DE EJECUCIÓN</vt:lpstr>
      <vt:lpstr>PLAN DE EJECUCIÓN</vt:lpstr>
      <vt:lpstr>PLAN DE EJECUCIÓN</vt:lpstr>
      <vt:lpstr>PLAN DE EJECUCIÓN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</dc:title>
  <dc:creator>paolis</dc:creator>
  <cp:lastModifiedBy>Vanessa Ines Cedeno Mieles</cp:lastModifiedBy>
  <cp:revision>339</cp:revision>
  <cp:lastPrinted>2018-07-31T20:24:12Z</cp:lastPrinted>
  <dcterms:created xsi:type="dcterms:W3CDTF">2016-04-18T15:18:48Z</dcterms:created>
  <dcterms:modified xsi:type="dcterms:W3CDTF">2020-01-13T13:39:10Z</dcterms:modified>
</cp:coreProperties>
</file>
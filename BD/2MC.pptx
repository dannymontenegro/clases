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6" r:id="rId4"/>
    <p:sldId id="267" r:id="rId5"/>
    <p:sldId id="258" r:id="rId6"/>
    <p:sldId id="268" r:id="rId7"/>
    <p:sldId id="259" r:id="rId8"/>
    <p:sldId id="260" r:id="rId9"/>
    <p:sldId id="261" r:id="rId10"/>
    <p:sldId id="264" r:id="rId11"/>
    <p:sldId id="269" r:id="rId12"/>
    <p:sldId id="265" r:id="rId13"/>
    <p:sldId id="277" r:id="rId14"/>
    <p:sldId id="270" r:id="rId15"/>
    <p:sldId id="276" r:id="rId16"/>
    <p:sldId id="27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487" autoAdjust="0"/>
    <p:restoredTop sz="94593" autoAdjust="0"/>
  </p:normalViewPr>
  <p:slideViewPr>
    <p:cSldViewPr>
      <p:cViewPr varScale="1">
        <p:scale>
          <a:sx n="110" d="100"/>
          <a:sy n="110" d="100"/>
        </p:scale>
        <p:origin x="21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50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FC7AB8-CE09-4438-8879-C6BCABE059CD}" type="datetimeFigureOut">
              <a:rPr lang="es-EC" smtClean="0"/>
              <a:pPr/>
              <a:t>1/10/19</a:t>
            </a:fld>
            <a:endParaRPr lang="es-EC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DCD09-5CD2-411B-B498-9715035FE01C}" type="slidenum">
              <a:rPr lang="es-EC" smtClean="0"/>
              <a:pPr/>
              <a:t>‹#›</a:t>
            </a:fld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523217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C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BDCD09-5CD2-411B-B498-9715035FE01C}" type="slidenum">
              <a:rPr lang="es-EC" smtClean="0"/>
              <a:pPr/>
              <a:t>1</a:t>
            </a:fld>
            <a:endParaRPr lang="es-EC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C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BDCD09-5CD2-411B-B498-9715035FE01C}" type="slidenum">
              <a:rPr lang="es-EC" smtClean="0"/>
              <a:pPr/>
              <a:t>5</a:t>
            </a:fld>
            <a:endParaRPr lang="es-EC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C" dirty="0"/>
              <a:t>Capitulo 2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C" dirty="0"/>
              <a:t>Modelo Conceptual: Entidad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Objetivos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C" dirty="0"/>
              <a:t>Características de la Entidad</a:t>
            </a:r>
          </a:p>
          <a:p>
            <a:r>
              <a:rPr lang="es-EC" dirty="0"/>
              <a:t>Atributos</a:t>
            </a:r>
          </a:p>
          <a:p>
            <a:r>
              <a:rPr lang="es-EC" dirty="0"/>
              <a:t>Clave Primaria:</a:t>
            </a:r>
          </a:p>
          <a:p>
            <a:pPr lvl="1"/>
            <a:r>
              <a:rPr lang="es-EC" dirty="0"/>
              <a:t>Simple</a:t>
            </a:r>
          </a:p>
          <a:p>
            <a:pPr lvl="1"/>
            <a:r>
              <a:rPr lang="es-EC" dirty="0"/>
              <a:t>Compuesta</a:t>
            </a:r>
          </a:p>
          <a:p>
            <a:pPr lvl="1"/>
            <a:r>
              <a:rPr lang="es-EC" dirty="0"/>
              <a:t>Artificial</a:t>
            </a:r>
          </a:p>
          <a:p>
            <a:r>
              <a:rPr lang="es-EC" dirty="0"/>
              <a:t>Cardinalidad de los Atributos</a:t>
            </a:r>
          </a:p>
          <a:p>
            <a:r>
              <a:rPr lang="es-EC" dirty="0"/>
              <a:t>Dominios y Restricciones de los Atributos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Desarrollando una base de datos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s-EC" dirty="0"/>
              <a:t>3 Pasos</a:t>
            </a:r>
          </a:p>
          <a:p>
            <a:r>
              <a:rPr lang="es-EC" b="1" dirty="0"/>
              <a:t>Requerimientos</a:t>
            </a:r>
            <a:r>
              <a:rPr lang="en-US" b="1" dirty="0"/>
              <a:t>: </a:t>
            </a:r>
            <a:r>
              <a:rPr lang="en-US" dirty="0"/>
              <a:t>un </a:t>
            </a: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desarrollado</a:t>
            </a:r>
            <a:endParaRPr lang="en-US" dirty="0"/>
          </a:p>
          <a:p>
            <a:pPr lvl="1"/>
            <a:r>
              <a:rPr lang="en-US" b="1" dirty="0" err="1"/>
              <a:t>Modelo</a:t>
            </a:r>
            <a:r>
              <a:rPr lang="en-US" b="1" dirty="0"/>
              <a:t> de </a:t>
            </a:r>
            <a:r>
              <a:rPr lang="en-US" b="1" dirty="0" err="1"/>
              <a:t>Datos</a:t>
            </a:r>
            <a:r>
              <a:rPr lang="en-US" b="1" dirty="0"/>
              <a:t>: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representacion</a:t>
            </a:r>
            <a:r>
              <a:rPr lang="en-US" dirty="0"/>
              <a:t> </a:t>
            </a:r>
            <a:r>
              <a:rPr lang="en-US" dirty="0" err="1"/>
              <a:t>logica</a:t>
            </a:r>
            <a:r>
              <a:rPr lang="en-US" dirty="0"/>
              <a:t> de la </a:t>
            </a:r>
            <a:r>
              <a:rPr lang="en-US" dirty="0" err="1"/>
              <a:t>estructura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base de </a:t>
            </a:r>
            <a:r>
              <a:rPr lang="en-US" dirty="0" err="1"/>
              <a:t>datos</a:t>
            </a:r>
            <a:r>
              <a:rPr lang="en-US" dirty="0"/>
              <a:t>  </a:t>
            </a:r>
          </a:p>
          <a:p>
            <a:r>
              <a:rPr lang="es-EC" b="1" dirty="0"/>
              <a:t>Diseño</a:t>
            </a:r>
            <a:r>
              <a:rPr lang="en-US" b="1" dirty="0"/>
              <a:t>:</a:t>
            </a:r>
            <a:r>
              <a:rPr lang="en-US" dirty="0"/>
              <a:t> El </a:t>
            </a: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transformado</a:t>
            </a:r>
            <a:r>
              <a:rPr lang="en-US" dirty="0"/>
              <a:t> en </a:t>
            </a:r>
            <a:r>
              <a:rPr lang="en-US" dirty="0" err="1"/>
              <a:t>tablas</a:t>
            </a:r>
            <a:r>
              <a:rPr lang="en-US" dirty="0"/>
              <a:t> y </a:t>
            </a:r>
            <a:r>
              <a:rPr lang="en-US" dirty="0" err="1"/>
              <a:t>relaciones</a:t>
            </a:r>
            <a:r>
              <a:rPr lang="en-US" dirty="0"/>
              <a:t> </a:t>
            </a:r>
          </a:p>
          <a:p>
            <a:r>
              <a:rPr lang="es-EC" b="1" dirty="0"/>
              <a:t>Implementación:</a:t>
            </a:r>
          </a:p>
          <a:p>
            <a:pPr>
              <a:buNone/>
            </a:pPr>
            <a:r>
              <a:rPr lang="en-US" dirty="0"/>
              <a:t>		– Tablas, </a:t>
            </a:r>
            <a:r>
              <a:rPr lang="en-US" dirty="0" err="1"/>
              <a:t>relaciones</a:t>
            </a:r>
            <a:r>
              <a:rPr lang="en-US" dirty="0"/>
              <a:t> y </a:t>
            </a:r>
            <a:r>
              <a:rPr lang="en-US" dirty="0" err="1"/>
              <a:t>restricciones</a:t>
            </a:r>
            <a:r>
              <a:rPr lang="en-US" dirty="0"/>
              <a:t> son </a:t>
            </a:r>
            <a:r>
              <a:rPr lang="en-US" dirty="0" err="1"/>
              <a:t>creadas</a:t>
            </a:r>
            <a:endParaRPr lang="en-US" dirty="0"/>
          </a:p>
          <a:p>
            <a:pPr>
              <a:buNone/>
            </a:pPr>
            <a:r>
              <a:rPr lang="en-US" dirty="0"/>
              <a:t>		– </a:t>
            </a:r>
            <a:r>
              <a:rPr lang="en-US" dirty="0" err="1"/>
              <a:t>Procedimientos</a:t>
            </a:r>
            <a:r>
              <a:rPr lang="en-US" dirty="0"/>
              <a:t> y triggers son </a:t>
            </a:r>
            <a:r>
              <a:rPr lang="en-US" dirty="0" err="1"/>
              <a:t>escritos</a:t>
            </a:r>
            <a:endParaRPr lang="en-US" dirty="0"/>
          </a:p>
          <a:p>
            <a:pPr>
              <a:buNone/>
            </a:pPr>
            <a:r>
              <a:rPr lang="en-US" dirty="0"/>
              <a:t>		– Se </a:t>
            </a:r>
            <a:r>
              <a:rPr lang="en-US" dirty="0" err="1"/>
              <a:t>llena</a:t>
            </a:r>
            <a:r>
              <a:rPr lang="en-US" dirty="0"/>
              <a:t> la base de </a:t>
            </a:r>
            <a:r>
              <a:rPr lang="en-US" dirty="0" err="1"/>
              <a:t>datos</a:t>
            </a:r>
            <a:r>
              <a:rPr lang="en-US" dirty="0"/>
              <a:t> y los </a:t>
            </a:r>
            <a:r>
              <a:rPr lang="en-US" dirty="0" err="1"/>
              <a:t>sistemas</a:t>
            </a:r>
            <a:r>
              <a:rPr lang="en-US" dirty="0"/>
              <a:t> son </a:t>
            </a:r>
            <a:r>
              <a:rPr lang="en-US" dirty="0" err="1"/>
              <a:t>evaluados</a:t>
            </a:r>
            <a:endParaRPr lang="en-US" dirty="0"/>
          </a:p>
          <a:p>
            <a:r>
              <a:rPr lang="es-EC" dirty="0"/>
              <a:t>Se modifica la base de datos a través de estos tres pasos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Ejemplo: Modelo de Datos</a:t>
            </a:r>
          </a:p>
        </p:txBody>
      </p:sp>
      <p:sp>
        <p:nvSpPr>
          <p:cNvPr id="6" name="5 Rectángulo"/>
          <p:cNvSpPr/>
          <p:nvPr/>
        </p:nvSpPr>
        <p:spPr>
          <a:xfrm>
            <a:off x="609600" y="2286000"/>
            <a:ext cx="21336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C" dirty="0"/>
              <a:t>Nombre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09600" y="2286000"/>
            <a:ext cx="2133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/>
              <a:t>Cliente</a:t>
            </a:r>
          </a:p>
        </p:txBody>
      </p:sp>
      <p:sp>
        <p:nvSpPr>
          <p:cNvPr id="9" name="8 Rectángulo"/>
          <p:cNvSpPr/>
          <p:nvPr/>
        </p:nvSpPr>
        <p:spPr>
          <a:xfrm>
            <a:off x="3733800" y="3962400"/>
            <a:ext cx="2133600" cy="2133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C" dirty="0" err="1"/>
              <a:t>FechaInicio</a:t>
            </a:r>
            <a:endParaRPr lang="es-EC" dirty="0"/>
          </a:p>
          <a:p>
            <a:r>
              <a:rPr lang="es-EC" dirty="0" err="1"/>
              <a:t>FechaTermina</a:t>
            </a:r>
            <a:endParaRPr lang="es-EC" dirty="0"/>
          </a:p>
          <a:p>
            <a:r>
              <a:rPr lang="es-EC" dirty="0" err="1"/>
              <a:t>Dias</a:t>
            </a:r>
            <a:endParaRPr lang="es-EC" dirty="0"/>
          </a:p>
          <a:p>
            <a:r>
              <a:rPr lang="es-EC" dirty="0"/>
              <a:t>Precio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3733800" y="3962400"/>
            <a:ext cx="2133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/>
              <a:t>Renta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6553200" y="2286000"/>
            <a:ext cx="2133600" cy="19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C" dirty="0"/>
              <a:t>Tipo</a:t>
            </a:r>
          </a:p>
          <a:p>
            <a:r>
              <a:rPr lang="es-EC" dirty="0"/>
              <a:t>Matricula</a:t>
            </a:r>
          </a:p>
          <a:p>
            <a:r>
              <a:rPr lang="es-EC" dirty="0" err="1"/>
              <a:t>PrecioRenta</a:t>
            </a:r>
            <a:endParaRPr lang="es-EC" dirty="0"/>
          </a:p>
        </p:txBody>
      </p:sp>
      <p:sp>
        <p:nvSpPr>
          <p:cNvPr id="12" name="11 Rectángulo"/>
          <p:cNvSpPr/>
          <p:nvPr/>
        </p:nvSpPr>
        <p:spPr>
          <a:xfrm>
            <a:off x="6553200" y="2286000"/>
            <a:ext cx="2133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/>
              <a:t>Auto</a:t>
            </a:r>
          </a:p>
        </p:txBody>
      </p:sp>
      <p:sp>
        <p:nvSpPr>
          <p:cNvPr id="13" name="12 Rombo"/>
          <p:cNvSpPr/>
          <p:nvPr/>
        </p:nvSpPr>
        <p:spPr>
          <a:xfrm>
            <a:off x="3429000" y="2362200"/>
            <a:ext cx="1143000" cy="9906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/>
              <a:t>1:N</a:t>
            </a:r>
          </a:p>
        </p:txBody>
      </p:sp>
      <p:sp>
        <p:nvSpPr>
          <p:cNvPr id="14" name="13 Rombo"/>
          <p:cNvSpPr/>
          <p:nvPr/>
        </p:nvSpPr>
        <p:spPr>
          <a:xfrm>
            <a:off x="4876800" y="2362200"/>
            <a:ext cx="1143000" cy="9906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/>
              <a:t>N:1</a:t>
            </a:r>
          </a:p>
        </p:txBody>
      </p:sp>
      <p:cxnSp>
        <p:nvCxnSpPr>
          <p:cNvPr id="16" name="15 Conector recto"/>
          <p:cNvCxnSpPr>
            <a:stCxn id="13" idx="1"/>
            <a:endCxn id="6" idx="3"/>
          </p:cNvCxnSpPr>
          <p:nvPr/>
        </p:nvCxnSpPr>
        <p:spPr>
          <a:xfrm rot="10800000" flipV="1">
            <a:off x="2743200" y="2857500"/>
            <a:ext cx="685800" cy="38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 rot="5400000">
            <a:off x="2705100" y="2857500"/>
            <a:ext cx="381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>
            <a:stCxn id="13" idx="2"/>
          </p:cNvCxnSpPr>
          <p:nvPr/>
        </p:nvCxnSpPr>
        <p:spPr>
          <a:xfrm rot="16200000" flipH="1">
            <a:off x="3714750" y="3638550"/>
            <a:ext cx="609600" cy="38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22 Elipse"/>
          <p:cNvSpPr/>
          <p:nvPr/>
        </p:nvSpPr>
        <p:spPr>
          <a:xfrm>
            <a:off x="3962400" y="3733800"/>
            <a:ext cx="152400" cy="152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cxnSp>
        <p:nvCxnSpPr>
          <p:cNvPr id="24" name="23 Conector recto"/>
          <p:cNvCxnSpPr/>
          <p:nvPr/>
        </p:nvCxnSpPr>
        <p:spPr>
          <a:xfrm rot="16200000" flipH="1">
            <a:off x="5162550" y="3638550"/>
            <a:ext cx="609600" cy="38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24 Elipse"/>
          <p:cNvSpPr/>
          <p:nvPr/>
        </p:nvSpPr>
        <p:spPr>
          <a:xfrm>
            <a:off x="5410200" y="3733800"/>
            <a:ext cx="152400" cy="152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cxnSp>
        <p:nvCxnSpPr>
          <p:cNvPr id="26" name="25 Conector recto"/>
          <p:cNvCxnSpPr/>
          <p:nvPr/>
        </p:nvCxnSpPr>
        <p:spPr>
          <a:xfrm rot="10800000" flipV="1">
            <a:off x="6019800" y="2819400"/>
            <a:ext cx="685800" cy="38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 rot="5400000">
            <a:off x="6211094" y="2856706"/>
            <a:ext cx="381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27 CuadroTexto"/>
          <p:cNvSpPr txBox="1"/>
          <p:nvPr/>
        </p:nvSpPr>
        <p:spPr>
          <a:xfrm>
            <a:off x="533400" y="1535668"/>
            <a:ext cx="66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/>
              <a:t>Diagrama Entidad-Relación de Servicio de Renta de autos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C" dirty="0"/>
              <a:t>Características de la Entidad</a:t>
            </a:r>
            <a:br>
              <a:rPr lang="es-EC" dirty="0"/>
            </a:br>
            <a:endParaRPr lang="es-EC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C" b="1" dirty="0"/>
              <a:t>Entidad: </a:t>
            </a:r>
            <a:r>
              <a:rPr lang="es-EC" dirty="0"/>
              <a:t>Algo que puede ser identificado y que los usuarios deseen consultar.</a:t>
            </a:r>
          </a:p>
          <a:p>
            <a:pPr lvl="1"/>
            <a:r>
              <a:rPr lang="es-EC" b="1" dirty="0"/>
              <a:t>Clase de Entidad: </a:t>
            </a:r>
            <a:r>
              <a:rPr lang="es-EC" dirty="0"/>
              <a:t>Colección de entidades descritas por el formato de entidad en esa clase</a:t>
            </a:r>
          </a:p>
          <a:p>
            <a:pPr lvl="1"/>
            <a:r>
              <a:rPr lang="es-EC" b="1" dirty="0"/>
              <a:t>Instancia de entidad: </a:t>
            </a:r>
            <a:r>
              <a:rPr lang="es-EC" dirty="0"/>
              <a:t>Representación de una entidad en particular</a:t>
            </a:r>
          </a:p>
          <a:p>
            <a:r>
              <a:rPr lang="es-EC" dirty="0"/>
              <a:t>Usualmente hay muchas instancias de entidad en una clase de entidad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3 Rectángulo"/>
          <p:cNvSpPr/>
          <p:nvPr/>
        </p:nvSpPr>
        <p:spPr>
          <a:xfrm>
            <a:off x="3200400" y="1219200"/>
            <a:ext cx="2133600" cy="2590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C" dirty="0"/>
              <a:t>Cedula</a:t>
            </a:r>
          </a:p>
          <a:p>
            <a:r>
              <a:rPr lang="es-EC" dirty="0"/>
              <a:t>Nombre</a:t>
            </a:r>
          </a:p>
          <a:p>
            <a:r>
              <a:rPr lang="es-EC" dirty="0"/>
              <a:t>Dirección</a:t>
            </a:r>
          </a:p>
          <a:p>
            <a:r>
              <a:rPr lang="es-EC" dirty="0"/>
              <a:t>Ciudad</a:t>
            </a:r>
          </a:p>
          <a:p>
            <a:r>
              <a:rPr lang="es-EC" dirty="0"/>
              <a:t>Teléfono</a:t>
            </a:r>
          </a:p>
          <a:p>
            <a:r>
              <a:rPr lang="es-EC" dirty="0"/>
              <a:t>Título</a:t>
            </a:r>
          </a:p>
        </p:txBody>
      </p:sp>
      <p:sp>
        <p:nvSpPr>
          <p:cNvPr id="5" name="4 Rectángulo"/>
          <p:cNvSpPr/>
          <p:nvPr/>
        </p:nvSpPr>
        <p:spPr>
          <a:xfrm>
            <a:off x="3200400" y="1219200"/>
            <a:ext cx="2133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/>
              <a:t>CLIENTE</a:t>
            </a:r>
          </a:p>
        </p:txBody>
      </p:sp>
      <p:sp>
        <p:nvSpPr>
          <p:cNvPr id="6" name="5 Rectángulo"/>
          <p:cNvSpPr/>
          <p:nvPr/>
        </p:nvSpPr>
        <p:spPr>
          <a:xfrm>
            <a:off x="762000" y="4191000"/>
            <a:ext cx="2133600" cy="228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C" dirty="0"/>
              <a:t>123</a:t>
            </a:r>
          </a:p>
          <a:p>
            <a:r>
              <a:rPr lang="es-EC" dirty="0"/>
              <a:t>Pedro</a:t>
            </a:r>
          </a:p>
          <a:p>
            <a:r>
              <a:rPr lang="es-EC" dirty="0"/>
              <a:t>Calle 5</a:t>
            </a:r>
          </a:p>
          <a:p>
            <a:r>
              <a:rPr lang="es-EC" dirty="0"/>
              <a:t>Guayaquil</a:t>
            </a:r>
          </a:p>
          <a:p>
            <a:r>
              <a:rPr lang="es-EC" dirty="0"/>
              <a:t>123456</a:t>
            </a:r>
          </a:p>
        </p:txBody>
      </p:sp>
      <p:sp>
        <p:nvSpPr>
          <p:cNvPr id="7" name="6 Rectángulo"/>
          <p:cNvSpPr/>
          <p:nvPr/>
        </p:nvSpPr>
        <p:spPr>
          <a:xfrm>
            <a:off x="3733800" y="4191000"/>
            <a:ext cx="2133600" cy="228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C" dirty="0"/>
              <a:t>124</a:t>
            </a:r>
          </a:p>
          <a:p>
            <a:r>
              <a:rPr lang="es-EC" dirty="0"/>
              <a:t>Juan</a:t>
            </a:r>
          </a:p>
          <a:p>
            <a:r>
              <a:rPr lang="es-EC" dirty="0"/>
              <a:t>Calle 2</a:t>
            </a:r>
          </a:p>
          <a:p>
            <a:r>
              <a:rPr lang="es-EC" dirty="0"/>
              <a:t>Quito</a:t>
            </a:r>
          </a:p>
          <a:p>
            <a:r>
              <a:rPr lang="es-EC" dirty="0"/>
              <a:t>456788</a:t>
            </a:r>
          </a:p>
        </p:txBody>
      </p:sp>
      <p:sp>
        <p:nvSpPr>
          <p:cNvPr id="11" name="10 Flecha derecha"/>
          <p:cNvSpPr/>
          <p:nvPr/>
        </p:nvSpPr>
        <p:spPr>
          <a:xfrm flipH="1">
            <a:off x="5715000" y="1828800"/>
            <a:ext cx="609600" cy="609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2" name="11 CuadroTexto"/>
          <p:cNvSpPr txBox="1"/>
          <p:nvPr/>
        </p:nvSpPr>
        <p:spPr>
          <a:xfrm>
            <a:off x="6553200" y="1676400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CLIENTE: Ejemplo de entidad</a:t>
            </a:r>
          </a:p>
        </p:txBody>
      </p:sp>
      <p:sp>
        <p:nvSpPr>
          <p:cNvPr id="13" name="12 Flecha derecha"/>
          <p:cNvSpPr/>
          <p:nvPr/>
        </p:nvSpPr>
        <p:spPr>
          <a:xfrm flipH="1">
            <a:off x="6019800" y="4800600"/>
            <a:ext cx="609600" cy="609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4" name="13 CuadroTexto"/>
          <p:cNvSpPr txBox="1"/>
          <p:nvPr/>
        </p:nvSpPr>
        <p:spPr>
          <a:xfrm>
            <a:off x="6781800" y="4648200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Dos instancias de CLIENTE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C" dirty="0"/>
              <a:t>Atributos</a:t>
            </a:r>
            <a:br>
              <a:rPr lang="es-EC" dirty="0"/>
            </a:br>
            <a:endParaRPr lang="es-EC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dirty="0"/>
              <a:t>Descripción de las características de la entidad</a:t>
            </a:r>
          </a:p>
          <a:p>
            <a:r>
              <a:rPr lang="es-EC" dirty="0"/>
              <a:t>Todas las instancias de una clase de entidad tienen los mismos atributos</a:t>
            </a:r>
          </a:p>
          <a:p>
            <a:pPr lvl="1"/>
            <a:r>
              <a:rPr lang="es-EC" dirty="0"/>
              <a:t>Atributo Compuesto: Consiste en un grupo de atributos</a:t>
            </a:r>
          </a:p>
          <a:p>
            <a:pPr lvl="1"/>
            <a:r>
              <a:rPr lang="es-EC" dirty="0"/>
              <a:t>Atributos de </a:t>
            </a:r>
            <a:r>
              <a:rPr lang="es-EC" dirty="0" err="1"/>
              <a:t>multi</a:t>
            </a:r>
            <a:r>
              <a:rPr lang="es-EC" dirty="0"/>
              <a:t>-valor: Atributos con más de un valor posible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Clave Primaria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C" dirty="0"/>
              <a:t>Atributos que identifican instancias de una entidad</a:t>
            </a:r>
          </a:p>
          <a:p>
            <a:r>
              <a:rPr lang="es-EC" dirty="0"/>
              <a:t>Consiste de uno o más atributos de una entidad</a:t>
            </a:r>
          </a:p>
          <a:p>
            <a:r>
              <a:rPr lang="es-EC" dirty="0"/>
              <a:t>Una clave puede ser única o no-única  </a:t>
            </a:r>
          </a:p>
          <a:p>
            <a:pPr lvl="1"/>
            <a:r>
              <a:rPr lang="es-EC" dirty="0"/>
              <a:t>Única: El valor identifica una y solo una de las instancias de entidad</a:t>
            </a:r>
          </a:p>
          <a:p>
            <a:pPr lvl="1"/>
            <a:r>
              <a:rPr lang="es-EC" dirty="0"/>
              <a:t>No-Única: El valor identifica un grupo de instancias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Clave Primaria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b="1" dirty="0"/>
              <a:t>Simple</a:t>
            </a:r>
            <a:r>
              <a:rPr lang="es-EC" dirty="0"/>
              <a:t>: Clave que consiste  de un solo atributo representa a la instancia de entidad</a:t>
            </a:r>
          </a:p>
          <a:p>
            <a:r>
              <a:rPr lang="es-EC" b="1" dirty="0"/>
              <a:t>Compuesta:  </a:t>
            </a:r>
            <a:r>
              <a:rPr lang="es-EC" dirty="0"/>
              <a:t>Clave que consiste de dos o más atributos</a:t>
            </a:r>
          </a:p>
          <a:p>
            <a:r>
              <a:rPr lang="es-EC" b="1" dirty="0"/>
              <a:t>Artificial: </a:t>
            </a:r>
            <a:r>
              <a:rPr lang="es-EC" dirty="0"/>
              <a:t>Clave que hace uso de un valor incremental para su definición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dirty="0"/>
              <a:t>Cardinalidad de los Atributos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b="1" dirty="0" err="1"/>
              <a:t>Mín</a:t>
            </a:r>
            <a:r>
              <a:rPr lang="es-EC" b="1" dirty="0"/>
              <a:t>:  </a:t>
            </a:r>
            <a:r>
              <a:rPr lang="es-EC" dirty="0"/>
              <a:t>Número mínimo de valores de atributos asociados con cada caso de entidad o interrelación.</a:t>
            </a:r>
          </a:p>
          <a:p>
            <a:pPr lvl="1"/>
            <a:r>
              <a:rPr lang="es-EC" dirty="0" err="1"/>
              <a:t>Card</a:t>
            </a:r>
            <a:r>
              <a:rPr lang="es-EC" dirty="0"/>
              <a:t>-Min(A,E)=0      atributo Opcional</a:t>
            </a:r>
          </a:p>
          <a:p>
            <a:pPr lvl="2"/>
            <a:r>
              <a:rPr lang="es-EC" dirty="0"/>
              <a:t>Ejemplo: atributo Título de la entidad CLIENTE</a:t>
            </a:r>
          </a:p>
          <a:p>
            <a:pPr lvl="1"/>
            <a:r>
              <a:rPr lang="es-EC" dirty="0" err="1"/>
              <a:t>Card</a:t>
            </a:r>
            <a:r>
              <a:rPr lang="es-EC" dirty="0"/>
              <a:t>-Min(A,E)=1      atributo Obligatorio</a:t>
            </a:r>
          </a:p>
          <a:p>
            <a:pPr lvl="2"/>
            <a:r>
              <a:rPr lang="es-EC" dirty="0"/>
              <a:t>Ejemplo: atributo Cedula de la entidad CLIENTE</a:t>
            </a:r>
          </a:p>
          <a:p>
            <a:pPr lvl="2">
              <a:buNone/>
            </a:pPr>
            <a:endParaRPr lang="es-EC" dirty="0"/>
          </a:p>
        </p:txBody>
      </p:sp>
      <p:sp>
        <p:nvSpPr>
          <p:cNvPr id="6" name="5 Flecha derecha"/>
          <p:cNvSpPr/>
          <p:nvPr/>
        </p:nvSpPr>
        <p:spPr>
          <a:xfrm>
            <a:off x="3733800" y="3276600"/>
            <a:ext cx="304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7" name="6 Flecha derecha"/>
          <p:cNvSpPr/>
          <p:nvPr/>
        </p:nvSpPr>
        <p:spPr>
          <a:xfrm>
            <a:off x="3733800" y="4267200"/>
            <a:ext cx="304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dirty="0"/>
              <a:t>Cardinalidad de los Atributos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b="1" dirty="0" err="1"/>
              <a:t>Máx</a:t>
            </a:r>
            <a:r>
              <a:rPr lang="es-EC" b="1" dirty="0"/>
              <a:t>:  </a:t>
            </a:r>
            <a:r>
              <a:rPr lang="es-EC" dirty="0"/>
              <a:t>Número máximo de valores de atributos asociados con cada caso de entidad o interrelación.</a:t>
            </a:r>
          </a:p>
          <a:p>
            <a:pPr lvl="1"/>
            <a:r>
              <a:rPr lang="es-EC" dirty="0" err="1"/>
              <a:t>Card</a:t>
            </a:r>
            <a:r>
              <a:rPr lang="es-EC" dirty="0"/>
              <a:t>-Max(A,E)=1      atributo Monovalente</a:t>
            </a:r>
          </a:p>
          <a:p>
            <a:pPr lvl="2"/>
            <a:r>
              <a:rPr lang="es-EC" dirty="0"/>
              <a:t>Ejemplo: atributo Cedula de la entidad CLIENTE</a:t>
            </a:r>
          </a:p>
          <a:p>
            <a:pPr lvl="1"/>
            <a:r>
              <a:rPr lang="es-EC" dirty="0" err="1"/>
              <a:t>Card</a:t>
            </a:r>
            <a:r>
              <a:rPr lang="es-EC" dirty="0"/>
              <a:t>-Max(A,E)&gt;1      atributo Polivalente</a:t>
            </a:r>
          </a:p>
          <a:p>
            <a:pPr lvl="2"/>
            <a:r>
              <a:rPr lang="es-EC" dirty="0"/>
              <a:t>Ejemplo: atributo Título de la entidad CLIENTE</a:t>
            </a:r>
          </a:p>
          <a:p>
            <a:pPr lvl="2"/>
            <a:endParaRPr lang="es-EC" dirty="0"/>
          </a:p>
          <a:p>
            <a:pPr lvl="2">
              <a:buNone/>
            </a:pPr>
            <a:endParaRPr lang="es-EC" dirty="0"/>
          </a:p>
        </p:txBody>
      </p:sp>
      <p:sp>
        <p:nvSpPr>
          <p:cNvPr id="6" name="5 Flecha derecha"/>
          <p:cNvSpPr/>
          <p:nvPr/>
        </p:nvSpPr>
        <p:spPr>
          <a:xfrm>
            <a:off x="3886200" y="3276600"/>
            <a:ext cx="304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7" name="6 Flecha derecha"/>
          <p:cNvSpPr/>
          <p:nvPr/>
        </p:nvSpPr>
        <p:spPr>
          <a:xfrm>
            <a:off x="3886200" y="4267200"/>
            <a:ext cx="304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C" dirty="0"/>
              <a:t>Dominios y Restricciones de los Atributos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C" dirty="0"/>
              <a:t>Conjunto de valores legítimos para un atributo</a:t>
            </a:r>
          </a:p>
          <a:p>
            <a:r>
              <a:rPr lang="es-EC" dirty="0"/>
              <a:t>Se asemejan a las declaraciones de tipo en los lenguajes convencionales de programación </a:t>
            </a:r>
          </a:p>
          <a:p>
            <a:endParaRPr lang="es-EC" dirty="0"/>
          </a:p>
          <a:p>
            <a:r>
              <a:rPr lang="es-EC" dirty="0"/>
              <a:t>Ejemplo: El dominio del atributo </a:t>
            </a:r>
            <a:r>
              <a:rPr lang="es-EC" dirty="0" err="1"/>
              <a:t>ColorDeParte</a:t>
            </a:r>
            <a:r>
              <a:rPr lang="es-EC" dirty="0"/>
              <a:t> puede ser la lista numerada Azul, Amarillo y Rojo</a:t>
            </a:r>
          </a:p>
          <a:p>
            <a:r>
              <a:rPr lang="es-EC" dirty="0"/>
              <a:t>Ejemplo: Si las edades de los empleados pueden variar entre 16 y 70, entonces el dominio de Edad es {x | N / 16 &lt;= x &lt;= 70}. </a:t>
            </a:r>
          </a:p>
          <a:p>
            <a:r>
              <a:rPr lang="es-EC" dirty="0"/>
              <a:t>Los dominios no se muestran en los diagramas.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Club de Tenis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562600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s-ES" sz="3800" dirty="0"/>
              <a:t>El Club de Tenis, </a:t>
            </a:r>
            <a:r>
              <a:rPr lang="es-ES" sz="3800" dirty="0" err="1"/>
              <a:t>Vall</a:t>
            </a:r>
            <a:r>
              <a:rPr lang="es-ES" sz="3800" dirty="0"/>
              <a:t> </a:t>
            </a:r>
            <a:r>
              <a:rPr lang="es-ES" sz="3800" dirty="0" err="1"/>
              <a:t>Parc</a:t>
            </a:r>
            <a:r>
              <a:rPr lang="es-ES" sz="3800" dirty="0"/>
              <a:t>, fundado en 1913  desea una base de datos diseñada por usted. La información que le proporciona el administrador del club es la siguiente:</a:t>
            </a:r>
            <a:endParaRPr lang="es-EC" sz="3800" dirty="0"/>
          </a:p>
          <a:p>
            <a:pPr>
              <a:buNone/>
            </a:pPr>
            <a:r>
              <a:rPr lang="es-ES" sz="3800" dirty="0"/>
              <a:t>-El club posee miembros y cada uno de ellos pertenece a una categoría dependiendo de su juego, por ejemplo principiante, profesional, etc. </a:t>
            </a:r>
            <a:endParaRPr lang="es-EC" sz="3800" dirty="0"/>
          </a:p>
          <a:p>
            <a:pPr>
              <a:buNone/>
            </a:pPr>
            <a:r>
              <a:rPr lang="es-ES" sz="3800" dirty="0"/>
              <a:t>-Se necesita guardar la siguiente información de los miembros:</a:t>
            </a:r>
            <a:endParaRPr lang="es-EC" sz="3800" dirty="0"/>
          </a:p>
          <a:p>
            <a:r>
              <a:rPr lang="es-ES" sz="3800" dirty="0"/>
              <a:t>Nombre </a:t>
            </a:r>
            <a:endParaRPr lang="es-EC" sz="3800" dirty="0"/>
          </a:p>
          <a:p>
            <a:r>
              <a:rPr lang="es-ES" sz="3800" dirty="0"/>
              <a:t>Género </a:t>
            </a:r>
            <a:endParaRPr lang="es-EC" sz="3800" dirty="0"/>
          </a:p>
          <a:p>
            <a:r>
              <a:rPr lang="es-ES" sz="3800" dirty="0"/>
              <a:t>Fecha de Nacimiento</a:t>
            </a:r>
            <a:endParaRPr lang="es-EC" sz="3800" dirty="0"/>
          </a:p>
          <a:p>
            <a:r>
              <a:rPr lang="es-ES" sz="3800" dirty="0"/>
              <a:t>Ocupación</a:t>
            </a:r>
            <a:endParaRPr lang="es-EC" sz="3800" dirty="0"/>
          </a:p>
          <a:p>
            <a:r>
              <a:rPr lang="es-ES" sz="3800" dirty="0"/>
              <a:t>Teléfono</a:t>
            </a:r>
            <a:endParaRPr lang="es-EC" sz="3800" dirty="0"/>
          </a:p>
          <a:p>
            <a:r>
              <a:rPr lang="es-ES" sz="3800" dirty="0"/>
              <a:t>Email</a:t>
            </a:r>
            <a:endParaRPr lang="es-EC" sz="3800" dirty="0"/>
          </a:p>
          <a:p>
            <a:r>
              <a:rPr lang="es-ES" sz="3800" dirty="0"/>
              <a:t>Direcciones (para enviar material promocional)</a:t>
            </a:r>
            <a:endParaRPr lang="es-EC" sz="3800" dirty="0"/>
          </a:p>
          <a:p>
            <a:r>
              <a:rPr lang="es-ES" sz="3800" dirty="0"/>
              <a:t>Número de hijos</a:t>
            </a:r>
            <a:endParaRPr lang="es-EC" sz="3800" dirty="0"/>
          </a:p>
          <a:p>
            <a:pPr>
              <a:buNone/>
            </a:pPr>
            <a:r>
              <a:rPr lang="es-ES" sz="3800" dirty="0"/>
              <a:t> </a:t>
            </a:r>
            <a:endParaRPr lang="es-EC" sz="3800" dirty="0"/>
          </a:p>
          <a:p>
            <a:pPr>
              <a:buNone/>
            </a:pPr>
            <a:r>
              <a:rPr lang="es-ES" sz="3800" dirty="0"/>
              <a:t>-Para pertenecer al club el miembro debe pagar una membrecía, la cual tiene un costo anual.</a:t>
            </a:r>
            <a:endParaRPr lang="es-EC" sz="3800" dirty="0"/>
          </a:p>
          <a:p>
            <a:pPr>
              <a:buNone/>
            </a:pPr>
            <a:r>
              <a:rPr lang="es-ES" sz="3800" dirty="0"/>
              <a:t>-El club tiene a disposición entrenadores para que los miembros mejoren o practiquen su juego. </a:t>
            </a:r>
            <a:endParaRPr lang="es-EC" sz="3800" dirty="0"/>
          </a:p>
          <a:p>
            <a:pPr>
              <a:buNone/>
            </a:pPr>
            <a:r>
              <a:rPr lang="es-ES" sz="3800" dirty="0"/>
              <a:t>-Se necesita llevar un registro del entrenamiento y de si éste se llevó a cabo.</a:t>
            </a:r>
            <a:endParaRPr lang="es-EC" sz="3800" dirty="0"/>
          </a:p>
          <a:p>
            <a:pPr>
              <a:buNone/>
            </a:pPr>
            <a:r>
              <a:rPr lang="es-ES" sz="3800" dirty="0"/>
              <a:t>-El miembro puede elegir a un entrenador dependiendo de sus cualidades, como género, edad o cuánto torneos ha ganado y en qué año.</a:t>
            </a:r>
            <a:endParaRPr lang="es-EC" sz="3800" dirty="0"/>
          </a:p>
          <a:p>
            <a:pPr>
              <a:buNone/>
            </a:pPr>
            <a:r>
              <a:rPr lang="es-ES" sz="3800" dirty="0"/>
              <a:t>-Los miembros pueden participar en competiciones con otros miembros del club.</a:t>
            </a:r>
            <a:endParaRPr lang="es-EC" sz="3800" dirty="0"/>
          </a:p>
          <a:p>
            <a:pPr>
              <a:buNone/>
            </a:pPr>
            <a:r>
              <a:rPr lang="es-ES" sz="3800" dirty="0"/>
              <a:t>-Las competiciones tienen un costo extra para el miembro.</a:t>
            </a:r>
            <a:endParaRPr lang="es-EC" sz="3800" dirty="0"/>
          </a:p>
          <a:p>
            <a:pPr>
              <a:buNone/>
            </a:pPr>
            <a:r>
              <a:rPr lang="es-ES" sz="3800" dirty="0"/>
              <a:t>-Se necesita llevar un registro de los pagos realizados y un miembro puede realizar cuantos pagos desee.</a:t>
            </a:r>
            <a:endParaRPr lang="es-EC" sz="3800" dirty="0"/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008153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6705600" cy="1143000"/>
          </a:xfrm>
        </p:spPr>
        <p:txBody>
          <a:bodyPr>
            <a:normAutofit fontScale="90000"/>
          </a:bodyPr>
          <a:lstStyle/>
          <a:p>
            <a:r>
              <a:rPr lang="es-EC" dirty="0"/>
              <a:t>Tienda en línea y fisíca de alquiler de películas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562600"/>
          </a:xfrm>
        </p:spPr>
        <p:txBody>
          <a:bodyPr>
            <a:normAutofit fontScale="85000" lnSpcReduction="10000"/>
          </a:bodyPr>
          <a:lstStyle/>
          <a:p>
            <a:pPr algn="just"/>
            <a:endParaRPr lang="es-EC" dirty="0"/>
          </a:p>
          <a:p>
            <a:pPr marL="0" indent="0" algn="just">
              <a:buNone/>
            </a:pPr>
            <a:r>
              <a:rPr lang="es-EC" dirty="0"/>
              <a:t>Para usar el servicio el cliente debe contar con una cuenta. El precio de renta de una película varía, dependiendo de su popularidad o reciente estreno.</a:t>
            </a:r>
          </a:p>
          <a:p>
            <a:pPr marL="0" indent="0" algn="just">
              <a:buNone/>
            </a:pPr>
            <a:r>
              <a:rPr lang="es-EC" dirty="0"/>
              <a:t>Las películas tienen id, categorías, título, descripción, año de estreno, lenguaje, rating, actores, stock, precio.</a:t>
            </a:r>
          </a:p>
          <a:p>
            <a:pPr marL="0" indent="0" algn="just">
              <a:buNone/>
            </a:pPr>
            <a:r>
              <a:rPr lang="es-EC" dirty="0"/>
              <a:t>Cada actor tiene un id, nombre, apellido. </a:t>
            </a:r>
          </a:p>
          <a:p>
            <a:pPr marL="0" indent="0" algn="just">
              <a:buNone/>
            </a:pPr>
            <a:r>
              <a:rPr lang="es-EC" dirty="0"/>
              <a:t>Una tienda tiene id, manager, dirección.</a:t>
            </a:r>
          </a:p>
          <a:p>
            <a:pPr marL="0" indent="0" algn="just">
              <a:buNone/>
            </a:pPr>
            <a:r>
              <a:rPr lang="es-EC" dirty="0"/>
              <a:t>Un cliente tiene id, nombre apellido, email, dirección, ciudad, país, código postal, teléfono.</a:t>
            </a:r>
          </a:p>
          <a:p>
            <a:pPr marL="0" indent="0" algn="just">
              <a:buNone/>
            </a:pPr>
            <a:r>
              <a:rPr lang="es-EC" dirty="0"/>
              <a:t>Un empleado tiene id, nombre apellido, email, dirección, email, tienda donde trabaja, user password.</a:t>
            </a:r>
          </a:p>
          <a:p>
            <a:pPr algn="just"/>
            <a:endParaRPr lang="es-EC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E0E08D-463F-414A-8F49-3043C055E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650" y="1073150"/>
            <a:ext cx="6108700" cy="471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320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Resumen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dirty="0"/>
              <a:t>Clase de Entidad e Instancia de Entidad</a:t>
            </a:r>
          </a:p>
          <a:p>
            <a:r>
              <a:rPr lang="es-EC" dirty="0"/>
              <a:t>Atributos: Carácterísticas de la entidad</a:t>
            </a:r>
          </a:p>
          <a:p>
            <a:r>
              <a:rPr lang="es-EC" dirty="0"/>
              <a:t>Clave Primaria:</a:t>
            </a:r>
          </a:p>
          <a:p>
            <a:pPr lvl="1"/>
            <a:r>
              <a:rPr lang="es-EC" dirty="0"/>
              <a:t>Simple</a:t>
            </a:r>
          </a:p>
          <a:p>
            <a:pPr lvl="1"/>
            <a:r>
              <a:rPr lang="es-EC" dirty="0"/>
              <a:t>Compuesta</a:t>
            </a:r>
          </a:p>
          <a:p>
            <a:pPr lvl="1"/>
            <a:r>
              <a:rPr lang="es-EC" dirty="0"/>
              <a:t>Artificial</a:t>
            </a:r>
          </a:p>
          <a:p>
            <a:r>
              <a:rPr lang="es-EC" dirty="0"/>
              <a:t>Cardinalidad de los Atributos: Min, Max</a:t>
            </a:r>
          </a:p>
          <a:p>
            <a:r>
              <a:rPr lang="es-EC" dirty="0"/>
              <a:t>Dominios y Restricciones de los Atributos</a:t>
            </a:r>
          </a:p>
        </p:txBody>
      </p:sp>
    </p:spTree>
    <p:extLst>
      <p:ext uri="{BB962C8B-B14F-4D97-AF65-F5344CB8AC3E}">
        <p14:creationId xmlns:p14="http://schemas.microsoft.com/office/powerpoint/2010/main" val="707660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1442</TotalTime>
  <Words>654</Words>
  <Application>Microsoft Macintosh PowerPoint</Application>
  <PresentationFormat>On-screen Show (4:3)</PresentationFormat>
  <Paragraphs>133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Capitulo 2</vt:lpstr>
      <vt:lpstr>Objetivos</vt:lpstr>
      <vt:lpstr>Desarrollando una base de datos</vt:lpstr>
      <vt:lpstr>Ejemplo: Modelo de Datos</vt:lpstr>
      <vt:lpstr>Características de la Entidad </vt:lpstr>
      <vt:lpstr>PowerPoint Presentation</vt:lpstr>
      <vt:lpstr>Atributos </vt:lpstr>
      <vt:lpstr>Clave Primaria</vt:lpstr>
      <vt:lpstr>Clave Primaria</vt:lpstr>
      <vt:lpstr>Cardinalidad de los Atributos</vt:lpstr>
      <vt:lpstr>Cardinalidad de los Atributos</vt:lpstr>
      <vt:lpstr>Dominios y Restricciones de los Atributos</vt:lpstr>
      <vt:lpstr>Club de Tenis</vt:lpstr>
      <vt:lpstr>Tienda en línea y fisíca de alquiler de películas</vt:lpstr>
      <vt:lpstr>PowerPoint Presentation</vt:lpstr>
      <vt:lpstr>Resumen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Capitulo 2</dc:title>
  <dc:creator>vanessa</dc:creator>
  <cp:lastModifiedBy>Vanessa Ines Cedeno Mieles</cp:lastModifiedBy>
  <cp:revision>62</cp:revision>
  <dcterms:created xsi:type="dcterms:W3CDTF">2006-08-16T00:00:00Z</dcterms:created>
  <dcterms:modified xsi:type="dcterms:W3CDTF">2019-10-02T13:29:15Z</dcterms:modified>
</cp:coreProperties>
</file>
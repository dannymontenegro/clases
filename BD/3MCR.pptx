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2" r:id="rId6"/>
    <p:sldId id="267" r:id="rId7"/>
    <p:sldId id="260" r:id="rId8"/>
    <p:sldId id="264" r:id="rId9"/>
    <p:sldId id="263" r:id="rId10"/>
    <p:sldId id="261" r:id="rId11"/>
    <p:sldId id="266" r:id="rId12"/>
    <p:sldId id="269" r:id="rId13"/>
    <p:sldId id="268" r:id="rId14"/>
    <p:sldId id="270" r:id="rId15"/>
    <p:sldId id="271" r:id="rId16"/>
    <p:sldId id="277" r:id="rId17"/>
    <p:sldId id="283" r:id="rId18"/>
    <p:sldId id="284" r:id="rId19"/>
    <p:sldId id="282" r:id="rId20"/>
    <p:sldId id="275" r:id="rId21"/>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63"/>
    <p:restoredTop sz="76531" autoAdjust="0"/>
  </p:normalViewPr>
  <p:slideViewPr>
    <p:cSldViewPr>
      <p:cViewPr varScale="1">
        <p:scale>
          <a:sx n="96" d="100"/>
          <a:sy n="96" d="100"/>
        </p:scale>
        <p:origin x="1672"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C"/>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4B7E642-4FF0-4C8A-B0D8-7E25111D530C}" type="datetimeFigureOut">
              <a:rPr lang="es-EC" smtClean="0"/>
              <a:pPr/>
              <a:t>1/10/19</a:t>
            </a:fld>
            <a:endParaRPr lang="es-EC"/>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C"/>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C"/>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A105648-3333-4985-9BBD-84121C208D34}" type="slidenum">
              <a:rPr lang="es-EC" smtClean="0"/>
              <a:pPr/>
              <a:t>‹#›</a:t>
            </a:fld>
            <a:endParaRPr lang="es-EC"/>
          </a:p>
        </p:txBody>
      </p:sp>
    </p:spTree>
    <p:extLst>
      <p:ext uri="{BB962C8B-B14F-4D97-AF65-F5344CB8AC3E}">
        <p14:creationId xmlns:p14="http://schemas.microsoft.com/office/powerpoint/2010/main" val="2772477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C" sz="1200" kern="1200" baseline="0" dirty="0">
                <a:solidFill>
                  <a:schemeClr val="tx1"/>
                </a:solidFill>
                <a:latin typeface="+mn-lt"/>
                <a:ea typeface="+mn-ea"/>
                <a:cs typeface="+mn-cs"/>
              </a:rPr>
              <a:t>La relación representa las ternas que se pueden dar durante un curso académico, relacionando los profesores que imparten ciertas asignaturas, con los estudiantes matriculados en dichas asignaturas, y por consiguiente, los profesores que tienen asignados ciertos estudiantes. </a:t>
            </a:r>
          </a:p>
          <a:p>
            <a:r>
              <a:rPr lang="es-EC" sz="1200" kern="1200" baseline="0" dirty="0">
                <a:solidFill>
                  <a:schemeClr val="tx1"/>
                </a:solidFill>
                <a:latin typeface="+mn-lt"/>
                <a:ea typeface="+mn-ea"/>
                <a:cs typeface="+mn-cs"/>
              </a:rPr>
              <a:t>Es evidente que esta relación se podría descomponer en tres relaciones binarias, de modo que los profesores estuviesen relacionados con los alumnos a los que les imparten clase, los alumnos estuviesen relacionados con las asignaturas en las que están matriculados, y las asignaturas estuviesen relacionadas con los profesores que las imparten. </a:t>
            </a:r>
            <a:endParaRPr lang="es-EC" dirty="0"/>
          </a:p>
        </p:txBody>
      </p:sp>
      <p:sp>
        <p:nvSpPr>
          <p:cNvPr id="4" name="3 Marcador de número de diapositiva"/>
          <p:cNvSpPr>
            <a:spLocks noGrp="1"/>
          </p:cNvSpPr>
          <p:nvPr>
            <p:ph type="sldNum" sz="quarter" idx="10"/>
          </p:nvPr>
        </p:nvSpPr>
        <p:spPr/>
        <p:txBody>
          <a:bodyPr/>
          <a:lstStyle/>
          <a:p>
            <a:fld id="{EA105648-3333-4985-9BBD-84121C208D34}" type="slidenum">
              <a:rPr lang="es-EC" smtClean="0"/>
              <a:pPr/>
              <a:t>15</a:t>
            </a:fld>
            <a:endParaRPr lang="es-EC"/>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pPr/>
              <a:t>1/10/19</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7A847CFC-816F-41D0-AAC0-9BF4FEBC753E}" type="datetimeFigureOut">
              <a:rPr lang="es-ES" smtClean="0"/>
              <a:pPr/>
              <a:t>1/10/19</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pPr/>
              <a:t>1/10/19</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fecha"/>
          <p:cNvSpPr>
            <a:spLocks noGrp="1"/>
          </p:cNvSpPr>
          <p:nvPr>
            <p:ph type="dt" sz="half" idx="10"/>
          </p:nvPr>
        </p:nvSpPr>
        <p:spPr/>
        <p:txBody>
          <a:bodyPr/>
          <a:lstStyle/>
          <a:p>
            <a:fld id="{7A847CFC-816F-41D0-AAC0-9BF4FEBC753E}" type="datetimeFigureOut">
              <a:rPr lang="es-ES" smtClean="0"/>
              <a:pPr/>
              <a:t>1/10/19</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6 Marcador de fecha"/>
          <p:cNvSpPr>
            <a:spLocks noGrp="1"/>
          </p:cNvSpPr>
          <p:nvPr>
            <p:ph type="dt" sz="half" idx="10"/>
          </p:nvPr>
        </p:nvSpPr>
        <p:spPr/>
        <p:txBody>
          <a:bodyPr/>
          <a:lstStyle/>
          <a:p>
            <a:fld id="{7A847CFC-816F-41D0-AAC0-9BF4FEBC753E}" type="datetimeFigureOut">
              <a:rPr lang="es-ES" smtClean="0"/>
              <a:pPr/>
              <a:t>1/10/19</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fecha"/>
          <p:cNvSpPr>
            <a:spLocks noGrp="1"/>
          </p:cNvSpPr>
          <p:nvPr>
            <p:ph type="dt" sz="half" idx="10"/>
          </p:nvPr>
        </p:nvSpPr>
        <p:spPr/>
        <p:txBody>
          <a:bodyPr/>
          <a:lstStyle/>
          <a:p>
            <a:fld id="{7A847CFC-816F-41D0-AAC0-9BF4FEBC753E}" type="datetimeFigureOut">
              <a:rPr lang="es-ES" smtClean="0"/>
              <a:pPr/>
              <a:t>1/10/19</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pPr/>
              <a:t>1/10/19</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1/10/19</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1/10/19</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7A847CFC-816F-41D0-AAC0-9BF4FEBC753E}" type="datetimeFigureOut">
              <a:rPr lang="es-ES" smtClean="0"/>
              <a:pPr/>
              <a:t>1/10/19</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7A847CFC-816F-41D0-AAC0-9BF4FEBC753E}" type="datetimeFigureOut">
              <a:rPr lang="es-ES" smtClean="0"/>
              <a:pPr/>
              <a:t>1/10/19</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847CFC-816F-41D0-AAC0-9BF4FEBC753E}" type="datetimeFigureOut">
              <a:rPr lang="es-ES" smtClean="0"/>
              <a:pPr/>
              <a:t>1/10/19</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2FADFE-3B8F-471C-ABF0-DBC7717ECBBC}" type="slidenum">
              <a:rPr lang="es-ES" smtClean="0"/>
              <a:pPr/>
              <a:t>‹#›</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EC" dirty="0"/>
              <a:t>Capítulo 3</a:t>
            </a:r>
          </a:p>
        </p:txBody>
      </p:sp>
      <p:sp>
        <p:nvSpPr>
          <p:cNvPr id="3" name="2 Subtítulo"/>
          <p:cNvSpPr>
            <a:spLocks noGrp="1"/>
          </p:cNvSpPr>
          <p:nvPr>
            <p:ph type="subTitle" idx="1"/>
          </p:nvPr>
        </p:nvSpPr>
        <p:spPr/>
        <p:txBody>
          <a:bodyPr/>
          <a:lstStyle/>
          <a:p>
            <a:r>
              <a:rPr lang="es-EC" dirty="0"/>
              <a:t>Modelo Conceptual: Relación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Objetivos</a:t>
            </a:r>
          </a:p>
        </p:txBody>
      </p:sp>
      <p:sp>
        <p:nvSpPr>
          <p:cNvPr id="3" name="2 Marcador de contenido"/>
          <p:cNvSpPr>
            <a:spLocks noGrp="1"/>
          </p:cNvSpPr>
          <p:nvPr>
            <p:ph idx="1"/>
          </p:nvPr>
        </p:nvSpPr>
        <p:spPr>
          <a:xfrm>
            <a:off x="457200" y="1600200"/>
            <a:ext cx="8229600" cy="4972072"/>
          </a:xfrm>
        </p:spPr>
        <p:txBody>
          <a:bodyPr>
            <a:normAutofit fontScale="92500" lnSpcReduction="20000"/>
          </a:bodyPr>
          <a:lstStyle/>
          <a:p>
            <a:r>
              <a:rPr lang="es-EC" dirty="0"/>
              <a:t>Definición de relación</a:t>
            </a:r>
          </a:p>
          <a:p>
            <a:r>
              <a:rPr lang="es-EC" dirty="0"/>
              <a:t>Cardinalidad de la relación</a:t>
            </a:r>
          </a:p>
          <a:p>
            <a:pPr lvl="1"/>
            <a:r>
              <a:rPr lang="es-EC" dirty="0"/>
              <a:t>Relación de 1:1</a:t>
            </a:r>
          </a:p>
          <a:p>
            <a:pPr lvl="1"/>
            <a:r>
              <a:rPr lang="es-EC" dirty="0"/>
              <a:t>Relación de 1:M</a:t>
            </a:r>
          </a:p>
          <a:p>
            <a:pPr lvl="1"/>
            <a:r>
              <a:rPr lang="es-EC" dirty="0"/>
              <a:t>Relación de M:M</a:t>
            </a:r>
          </a:p>
          <a:p>
            <a:r>
              <a:rPr lang="es-EC" dirty="0"/>
              <a:t>Relación de supertipo-subtipo</a:t>
            </a:r>
          </a:p>
          <a:p>
            <a:r>
              <a:rPr lang="es-EC" dirty="0"/>
              <a:t>Relación de dependencia</a:t>
            </a:r>
          </a:p>
          <a:p>
            <a:r>
              <a:rPr lang="es-EC" dirty="0"/>
              <a:t>Relación recursiva</a:t>
            </a:r>
          </a:p>
          <a:p>
            <a:r>
              <a:rPr lang="es-EC" dirty="0"/>
              <a:t>Relación Ternaria</a:t>
            </a:r>
          </a:p>
          <a:p>
            <a:r>
              <a:rPr lang="es-EC" dirty="0"/>
              <a:t>Atributos de las relaciones: 1:1, 1:M, M:M y ternaria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Relaciones</a:t>
            </a:r>
          </a:p>
        </p:txBody>
      </p:sp>
      <p:sp>
        <p:nvSpPr>
          <p:cNvPr id="3" name="2 Marcador de contenido"/>
          <p:cNvSpPr>
            <a:spLocks noGrp="1"/>
          </p:cNvSpPr>
          <p:nvPr>
            <p:ph idx="1"/>
          </p:nvPr>
        </p:nvSpPr>
        <p:spPr>
          <a:xfrm>
            <a:off x="457200" y="1600200"/>
            <a:ext cx="8229600" cy="4829196"/>
          </a:xfrm>
        </p:spPr>
        <p:txBody>
          <a:bodyPr>
            <a:normAutofit/>
          </a:bodyPr>
          <a:lstStyle/>
          <a:p>
            <a:r>
              <a:rPr lang="es-EC" dirty="0"/>
              <a:t>Las entidades pueden asociarse unas con otras con relaciones</a:t>
            </a:r>
          </a:p>
          <a:p>
            <a:pPr lvl="1"/>
            <a:r>
              <a:rPr lang="es-EC" b="1" dirty="0"/>
              <a:t>Clases de relación: </a:t>
            </a:r>
            <a:r>
              <a:rPr lang="es-EC" dirty="0"/>
              <a:t>asociaciones entre clases de entidad.</a:t>
            </a:r>
          </a:p>
          <a:p>
            <a:pPr lvl="1"/>
            <a:r>
              <a:rPr lang="es-EC" b="1" dirty="0"/>
              <a:t>Instancias de relación: </a:t>
            </a:r>
            <a:r>
              <a:rPr lang="es-EC" dirty="0"/>
              <a:t>asociaciones entre instancias de entidad.</a:t>
            </a:r>
          </a:p>
          <a:p>
            <a:r>
              <a:rPr lang="es-EC" dirty="0"/>
              <a:t>Las relaciones pueden tener atributos</a:t>
            </a:r>
          </a:p>
          <a:p>
            <a:r>
              <a:rPr lang="es-EC" dirty="0"/>
              <a:t>Una clase de relación puede incluir muchas tablas (entidades)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Grado de la relación</a:t>
            </a:r>
          </a:p>
        </p:txBody>
      </p:sp>
      <p:sp>
        <p:nvSpPr>
          <p:cNvPr id="3" name="2 Marcador de contenido"/>
          <p:cNvSpPr>
            <a:spLocks noGrp="1"/>
          </p:cNvSpPr>
          <p:nvPr>
            <p:ph idx="1"/>
          </p:nvPr>
        </p:nvSpPr>
        <p:spPr>
          <a:xfrm>
            <a:off x="457200" y="1214422"/>
            <a:ext cx="8229600" cy="4525963"/>
          </a:xfrm>
        </p:spPr>
        <p:txBody>
          <a:bodyPr/>
          <a:lstStyle/>
          <a:p>
            <a:r>
              <a:rPr lang="es-EC" dirty="0"/>
              <a:t>El numero de tablas en la relación</a:t>
            </a:r>
          </a:p>
          <a:p>
            <a:r>
              <a:rPr lang="es-EC" dirty="0"/>
              <a:t>Ejemplo:</a:t>
            </a:r>
          </a:p>
          <a:p>
            <a:pPr>
              <a:buNone/>
            </a:pPr>
            <a:endParaRPr lang="es-EC" dirty="0"/>
          </a:p>
        </p:txBody>
      </p:sp>
      <p:sp>
        <p:nvSpPr>
          <p:cNvPr id="4" name="3 Rectángulo"/>
          <p:cNvSpPr/>
          <p:nvPr/>
        </p:nvSpPr>
        <p:spPr>
          <a:xfrm>
            <a:off x="1357290" y="2500306"/>
            <a:ext cx="2143140" cy="714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3200" dirty="0"/>
              <a:t>Vendedor</a:t>
            </a:r>
          </a:p>
        </p:txBody>
      </p:sp>
      <p:sp>
        <p:nvSpPr>
          <p:cNvPr id="5" name="4 Rectángulo"/>
          <p:cNvSpPr/>
          <p:nvPr/>
        </p:nvSpPr>
        <p:spPr>
          <a:xfrm>
            <a:off x="1357290" y="4357694"/>
            <a:ext cx="2143140" cy="714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3200" dirty="0"/>
              <a:t>Orden</a:t>
            </a:r>
          </a:p>
        </p:txBody>
      </p:sp>
      <p:cxnSp>
        <p:nvCxnSpPr>
          <p:cNvPr id="8" name="7 Conector recto"/>
          <p:cNvCxnSpPr>
            <a:endCxn id="5" idx="0"/>
          </p:cNvCxnSpPr>
          <p:nvPr/>
        </p:nvCxnSpPr>
        <p:spPr>
          <a:xfrm rot="5400000">
            <a:off x="1858547" y="3785793"/>
            <a:ext cx="1142214" cy="1588"/>
          </a:xfrm>
          <a:prstGeom prst="line">
            <a:avLst/>
          </a:prstGeom>
        </p:spPr>
        <p:style>
          <a:lnRef idx="1">
            <a:schemeClr val="accent1"/>
          </a:lnRef>
          <a:fillRef idx="0">
            <a:schemeClr val="accent1"/>
          </a:fillRef>
          <a:effectRef idx="0">
            <a:schemeClr val="accent1"/>
          </a:effectRef>
          <a:fontRef idx="minor">
            <a:schemeClr val="tx1"/>
          </a:fontRef>
        </p:style>
      </p:cxnSp>
      <p:sp>
        <p:nvSpPr>
          <p:cNvPr id="10" name="9 Rectángulo"/>
          <p:cNvSpPr/>
          <p:nvPr/>
        </p:nvSpPr>
        <p:spPr>
          <a:xfrm>
            <a:off x="4857752" y="2500306"/>
            <a:ext cx="1500198" cy="714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3200" dirty="0"/>
              <a:t>Madre</a:t>
            </a:r>
          </a:p>
        </p:txBody>
      </p:sp>
      <p:sp>
        <p:nvSpPr>
          <p:cNvPr id="11" name="10 Rectángulo"/>
          <p:cNvSpPr/>
          <p:nvPr/>
        </p:nvSpPr>
        <p:spPr>
          <a:xfrm>
            <a:off x="6786578" y="2500306"/>
            <a:ext cx="1571636" cy="714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3200" dirty="0"/>
              <a:t>Padre</a:t>
            </a:r>
          </a:p>
        </p:txBody>
      </p:sp>
      <p:sp>
        <p:nvSpPr>
          <p:cNvPr id="12" name="11 Rectángulo"/>
          <p:cNvSpPr/>
          <p:nvPr/>
        </p:nvSpPr>
        <p:spPr>
          <a:xfrm>
            <a:off x="5786446" y="4357694"/>
            <a:ext cx="1571636" cy="714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3200" dirty="0"/>
              <a:t>Hijo</a:t>
            </a:r>
          </a:p>
        </p:txBody>
      </p:sp>
      <p:sp>
        <p:nvSpPr>
          <p:cNvPr id="13" name="12 Rombo"/>
          <p:cNvSpPr/>
          <p:nvPr/>
        </p:nvSpPr>
        <p:spPr>
          <a:xfrm>
            <a:off x="6215074" y="3357562"/>
            <a:ext cx="714380" cy="642942"/>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cxnSp>
        <p:nvCxnSpPr>
          <p:cNvPr id="18" name="17 Conector recto"/>
          <p:cNvCxnSpPr>
            <a:stCxn id="13" idx="1"/>
            <a:endCxn id="10" idx="2"/>
          </p:cNvCxnSpPr>
          <p:nvPr/>
        </p:nvCxnSpPr>
        <p:spPr>
          <a:xfrm rot="10800000">
            <a:off x="5607852" y="3214687"/>
            <a:ext cx="607223" cy="464347"/>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20 Conector recto"/>
          <p:cNvCxnSpPr>
            <a:stCxn id="11" idx="2"/>
            <a:endCxn id="13" idx="3"/>
          </p:cNvCxnSpPr>
          <p:nvPr/>
        </p:nvCxnSpPr>
        <p:spPr>
          <a:xfrm rot="5400000">
            <a:off x="7018752" y="3125388"/>
            <a:ext cx="464347" cy="6429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23 Conector recto"/>
          <p:cNvCxnSpPr>
            <a:stCxn id="13" idx="2"/>
            <a:endCxn id="12" idx="0"/>
          </p:cNvCxnSpPr>
          <p:nvPr/>
        </p:nvCxnSpPr>
        <p:spPr>
          <a:xfrm rot="5400000">
            <a:off x="6393669" y="4179099"/>
            <a:ext cx="35719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6" name="25 CuadroTexto"/>
          <p:cNvSpPr txBox="1"/>
          <p:nvPr/>
        </p:nvSpPr>
        <p:spPr>
          <a:xfrm>
            <a:off x="1071538" y="5689603"/>
            <a:ext cx="8501090" cy="954107"/>
          </a:xfrm>
          <a:prstGeom prst="rect">
            <a:avLst/>
          </a:prstGeom>
          <a:noFill/>
        </p:spPr>
        <p:txBody>
          <a:bodyPr wrap="square" rtlCol="0">
            <a:spAutoFit/>
          </a:bodyPr>
          <a:lstStyle/>
          <a:p>
            <a:r>
              <a:rPr lang="es-EC" sz="2800" dirty="0"/>
              <a:t>Las relaciones de grado 2 son muy comunes y usualmente se les llama  relaciones binarias.</a:t>
            </a:r>
          </a:p>
        </p:txBody>
      </p:sp>
      <p:sp>
        <p:nvSpPr>
          <p:cNvPr id="27" name="26 CuadroTexto"/>
          <p:cNvSpPr txBox="1"/>
          <p:nvPr/>
        </p:nvSpPr>
        <p:spPr>
          <a:xfrm>
            <a:off x="642910" y="5131370"/>
            <a:ext cx="3929090" cy="369332"/>
          </a:xfrm>
          <a:prstGeom prst="rect">
            <a:avLst/>
          </a:prstGeom>
          <a:noFill/>
        </p:spPr>
        <p:txBody>
          <a:bodyPr wrap="square" rtlCol="0">
            <a:spAutoFit/>
          </a:bodyPr>
          <a:lstStyle/>
          <a:p>
            <a:r>
              <a:rPr lang="es-EC" dirty="0"/>
              <a:t>Relación de grado 2 – Relación Binaria</a:t>
            </a:r>
          </a:p>
        </p:txBody>
      </p:sp>
      <p:sp>
        <p:nvSpPr>
          <p:cNvPr id="28" name="27 CuadroTexto"/>
          <p:cNvSpPr txBox="1"/>
          <p:nvPr/>
        </p:nvSpPr>
        <p:spPr>
          <a:xfrm>
            <a:off x="4786314" y="5131370"/>
            <a:ext cx="4000528" cy="369332"/>
          </a:xfrm>
          <a:prstGeom prst="rect">
            <a:avLst/>
          </a:prstGeom>
          <a:noFill/>
        </p:spPr>
        <p:txBody>
          <a:bodyPr wrap="square" rtlCol="0">
            <a:spAutoFit/>
          </a:bodyPr>
          <a:lstStyle/>
          <a:p>
            <a:r>
              <a:rPr lang="es-EC" dirty="0"/>
              <a:t>Relación de grado 3 – Relación Ternaria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Cardinalidad</a:t>
            </a:r>
          </a:p>
        </p:txBody>
      </p:sp>
      <p:sp>
        <p:nvSpPr>
          <p:cNvPr id="3" name="2 Marcador de contenido"/>
          <p:cNvSpPr>
            <a:spLocks noGrp="1"/>
          </p:cNvSpPr>
          <p:nvPr>
            <p:ph idx="1"/>
          </p:nvPr>
        </p:nvSpPr>
        <p:spPr/>
        <p:txBody>
          <a:bodyPr/>
          <a:lstStyle/>
          <a:p>
            <a:r>
              <a:rPr lang="es-EC" b="1" dirty="0"/>
              <a:t>Cardinalidad Máxima: </a:t>
            </a:r>
            <a:r>
              <a:rPr lang="es-EC" dirty="0"/>
              <a:t>Indica el numero máximo de instancias que pueden estar en una relación.</a:t>
            </a:r>
          </a:p>
          <a:p>
            <a:r>
              <a:rPr lang="es-EC" b="1" dirty="0"/>
              <a:t>Cardinalidad Mínima: </a:t>
            </a:r>
            <a:r>
              <a:rPr lang="es-EC" dirty="0"/>
              <a:t>Indica que puede existir o no una instancia en una relación.</a:t>
            </a:r>
          </a:p>
          <a:p>
            <a:endParaRPr lang="es-EC" dirty="0"/>
          </a:p>
        </p:txBody>
      </p:sp>
      <p:sp>
        <p:nvSpPr>
          <p:cNvPr id="4" name="3 Rectángulo"/>
          <p:cNvSpPr/>
          <p:nvPr/>
        </p:nvSpPr>
        <p:spPr>
          <a:xfrm>
            <a:off x="1000100" y="4869160"/>
            <a:ext cx="2071702"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Cliente</a:t>
            </a:r>
          </a:p>
        </p:txBody>
      </p:sp>
      <p:sp>
        <p:nvSpPr>
          <p:cNvPr id="5" name="4 Rectángulo"/>
          <p:cNvSpPr/>
          <p:nvPr/>
        </p:nvSpPr>
        <p:spPr>
          <a:xfrm>
            <a:off x="5357818" y="4869160"/>
            <a:ext cx="1857388"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Pedido</a:t>
            </a:r>
          </a:p>
        </p:txBody>
      </p:sp>
      <p:cxnSp>
        <p:nvCxnSpPr>
          <p:cNvPr id="7" name="6 Conector recto"/>
          <p:cNvCxnSpPr/>
          <p:nvPr/>
        </p:nvCxnSpPr>
        <p:spPr>
          <a:xfrm>
            <a:off x="3071802" y="5085184"/>
            <a:ext cx="2286016" cy="357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a:off x="4968044" y="5121188"/>
            <a:ext cx="3600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5400000">
            <a:off x="5148064" y="4869160"/>
            <a:ext cx="216024" cy="216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148064" y="5085185"/>
            <a:ext cx="288032" cy="2880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5400000">
            <a:off x="3167844" y="5121188"/>
            <a:ext cx="36004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EC"/>
          </a:p>
        </p:txBody>
      </p:sp>
      <p:pic>
        <p:nvPicPr>
          <p:cNvPr id="1026" name="Picture 2"/>
          <p:cNvPicPr>
            <a:picLocks noGrp="1" noChangeAspect="1" noChangeArrowheads="1"/>
          </p:cNvPicPr>
          <p:nvPr>
            <p:ph idx="1"/>
          </p:nvPr>
        </p:nvPicPr>
        <p:blipFill>
          <a:blip r:embed="rId2" cstate="print"/>
          <a:srcRect/>
          <a:stretch>
            <a:fillRect/>
          </a:stretch>
        </p:blipFill>
        <p:spPr bwMode="auto">
          <a:xfrm>
            <a:off x="2115523" y="1633538"/>
            <a:ext cx="4912954" cy="4457700"/>
          </a:xfrm>
          <a:prstGeom prst="rect">
            <a:avLst/>
          </a:prstGeom>
          <a:noFill/>
          <a:ln w="9525">
            <a:noFill/>
            <a:miter lim="800000"/>
            <a:headEnd/>
            <a:tailEnd/>
          </a:ln>
        </p:spPr>
      </p:pic>
      <p:sp>
        <p:nvSpPr>
          <p:cNvPr id="5" name="TextBox 4"/>
          <p:cNvSpPr txBox="1"/>
          <p:nvPr/>
        </p:nvSpPr>
        <p:spPr>
          <a:xfrm>
            <a:off x="3563888" y="4077072"/>
            <a:ext cx="936104" cy="369332"/>
          </a:xfrm>
          <a:prstGeom prst="rect">
            <a:avLst/>
          </a:prstGeom>
          <a:noFill/>
        </p:spPr>
        <p:txBody>
          <a:bodyPr wrap="square" rtlCol="0">
            <a:spAutoFit/>
          </a:bodyPr>
          <a:lstStyle/>
          <a:p>
            <a:r>
              <a:rPr lang="es-EC" dirty="0"/>
              <a:t>juega</a:t>
            </a:r>
          </a:p>
        </p:txBody>
      </p:sp>
      <p:sp>
        <p:nvSpPr>
          <p:cNvPr id="6" name="TextBox 5"/>
          <p:cNvSpPr txBox="1"/>
          <p:nvPr/>
        </p:nvSpPr>
        <p:spPr>
          <a:xfrm>
            <a:off x="4932040" y="3717032"/>
            <a:ext cx="936104" cy="369332"/>
          </a:xfrm>
          <a:prstGeom prst="rect">
            <a:avLst/>
          </a:prstGeom>
          <a:noFill/>
        </p:spPr>
        <p:txBody>
          <a:bodyPr wrap="square" rtlCol="0">
            <a:spAutoFit/>
          </a:bodyPr>
          <a:lstStyle/>
          <a:p>
            <a:r>
              <a:rPr lang="es-EC" dirty="0"/>
              <a:t>juegan</a:t>
            </a:r>
          </a:p>
        </p:txBody>
      </p:sp>
      <p:sp>
        <p:nvSpPr>
          <p:cNvPr id="7" name="TextBox 6"/>
          <p:cNvSpPr txBox="1"/>
          <p:nvPr/>
        </p:nvSpPr>
        <p:spPr>
          <a:xfrm>
            <a:off x="6372200" y="4365104"/>
            <a:ext cx="936104" cy="369332"/>
          </a:xfrm>
          <a:prstGeom prst="rect">
            <a:avLst/>
          </a:prstGeom>
          <a:noFill/>
        </p:spPr>
        <p:txBody>
          <a:bodyPr wrap="square" rtlCol="0">
            <a:spAutoFit/>
          </a:bodyPr>
          <a:lstStyle/>
          <a:p>
            <a:r>
              <a:rPr lang="es-EC" dirty="0"/>
              <a:t>tiene</a:t>
            </a:r>
          </a:p>
        </p:txBody>
      </p:sp>
      <p:sp>
        <p:nvSpPr>
          <p:cNvPr id="8" name="TextBox 7"/>
          <p:cNvSpPr txBox="1"/>
          <p:nvPr/>
        </p:nvSpPr>
        <p:spPr>
          <a:xfrm>
            <a:off x="6372200" y="5229200"/>
            <a:ext cx="936104" cy="369332"/>
          </a:xfrm>
          <a:prstGeom prst="rect">
            <a:avLst/>
          </a:prstGeom>
          <a:noFill/>
        </p:spPr>
        <p:txBody>
          <a:bodyPr wrap="square" rtlCol="0">
            <a:spAutoFit/>
          </a:bodyPr>
          <a:lstStyle/>
          <a:p>
            <a:r>
              <a:rPr lang="es-EC" dirty="0"/>
              <a:t>entrena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285728"/>
            <a:ext cx="8229600" cy="1143000"/>
          </a:xfrm>
        </p:spPr>
        <p:txBody>
          <a:bodyPr/>
          <a:lstStyle/>
          <a:p>
            <a:r>
              <a:rPr lang="es-EC" dirty="0"/>
              <a:t>Relaciones Binarias</a:t>
            </a:r>
          </a:p>
        </p:txBody>
      </p:sp>
      <p:sp>
        <p:nvSpPr>
          <p:cNvPr id="3" name="2 Marcador de contenido"/>
          <p:cNvSpPr>
            <a:spLocks noGrp="1"/>
          </p:cNvSpPr>
          <p:nvPr>
            <p:ph idx="1"/>
          </p:nvPr>
        </p:nvSpPr>
        <p:spPr>
          <a:xfrm>
            <a:off x="2857488" y="2500306"/>
            <a:ext cx="3471858" cy="785818"/>
          </a:xfrm>
        </p:spPr>
        <p:txBody>
          <a:bodyPr/>
          <a:lstStyle/>
          <a:p>
            <a:r>
              <a:rPr lang="es-EC" dirty="0"/>
              <a:t>Relación de 1:1</a:t>
            </a:r>
          </a:p>
        </p:txBody>
      </p:sp>
      <p:sp>
        <p:nvSpPr>
          <p:cNvPr id="4" name="3 Rectángulo"/>
          <p:cNvSpPr/>
          <p:nvPr/>
        </p:nvSpPr>
        <p:spPr>
          <a:xfrm>
            <a:off x="1285852" y="1785926"/>
            <a:ext cx="207170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Empleado</a:t>
            </a:r>
          </a:p>
        </p:txBody>
      </p:sp>
      <p:sp>
        <p:nvSpPr>
          <p:cNvPr id="6" name="5 Rectángulo"/>
          <p:cNvSpPr/>
          <p:nvPr/>
        </p:nvSpPr>
        <p:spPr>
          <a:xfrm>
            <a:off x="5643570" y="1785926"/>
            <a:ext cx="1857388"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Vehículo</a:t>
            </a:r>
          </a:p>
        </p:txBody>
      </p:sp>
      <p:cxnSp>
        <p:nvCxnSpPr>
          <p:cNvPr id="9" name="8 Conector recto"/>
          <p:cNvCxnSpPr>
            <a:stCxn id="4" idx="3"/>
            <a:endCxn id="6" idx="1"/>
          </p:cNvCxnSpPr>
          <p:nvPr/>
        </p:nvCxnSpPr>
        <p:spPr>
          <a:xfrm flipV="1">
            <a:off x="3357554" y="2035959"/>
            <a:ext cx="2286016" cy="35719"/>
          </a:xfrm>
          <a:prstGeom prst="line">
            <a:avLst/>
          </a:prstGeom>
        </p:spPr>
        <p:style>
          <a:lnRef idx="1">
            <a:schemeClr val="accent1"/>
          </a:lnRef>
          <a:fillRef idx="0">
            <a:schemeClr val="accent1"/>
          </a:fillRef>
          <a:effectRef idx="0">
            <a:schemeClr val="accent1"/>
          </a:effectRef>
          <a:fontRef idx="minor">
            <a:schemeClr val="tx1"/>
          </a:fontRef>
        </p:style>
      </p:cxnSp>
      <p:sp>
        <p:nvSpPr>
          <p:cNvPr id="17" name="2 Marcador de contenido"/>
          <p:cNvSpPr txBox="1">
            <a:spLocks/>
          </p:cNvSpPr>
          <p:nvPr/>
        </p:nvSpPr>
        <p:spPr>
          <a:xfrm>
            <a:off x="2857488" y="4143380"/>
            <a:ext cx="3471858" cy="785818"/>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EC" sz="3200" b="0" i="0" u="none" strike="noStrike" kern="1200" cap="none" spc="0" normalizeH="0" baseline="0" noProof="0" dirty="0">
                <a:ln>
                  <a:noFill/>
                </a:ln>
                <a:solidFill>
                  <a:schemeClr val="tx1"/>
                </a:solidFill>
                <a:effectLst/>
                <a:uLnTx/>
                <a:uFillTx/>
                <a:latin typeface="+mn-lt"/>
                <a:ea typeface="+mn-ea"/>
                <a:cs typeface="+mn-cs"/>
              </a:rPr>
              <a:t>Relación de 1:M</a:t>
            </a:r>
          </a:p>
        </p:txBody>
      </p:sp>
      <p:sp>
        <p:nvSpPr>
          <p:cNvPr id="18" name="17 Rectángulo"/>
          <p:cNvSpPr/>
          <p:nvPr/>
        </p:nvSpPr>
        <p:spPr>
          <a:xfrm>
            <a:off x="1285852" y="3500438"/>
            <a:ext cx="2071702"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Cliente</a:t>
            </a:r>
          </a:p>
        </p:txBody>
      </p:sp>
      <p:sp>
        <p:nvSpPr>
          <p:cNvPr id="19" name="18 Rectángulo"/>
          <p:cNvSpPr/>
          <p:nvPr/>
        </p:nvSpPr>
        <p:spPr>
          <a:xfrm>
            <a:off x="5643570" y="3500438"/>
            <a:ext cx="1857388"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Pedido</a:t>
            </a:r>
          </a:p>
        </p:txBody>
      </p:sp>
      <p:cxnSp>
        <p:nvCxnSpPr>
          <p:cNvPr id="21" name="20 Conector recto"/>
          <p:cNvCxnSpPr>
            <a:stCxn id="18" idx="3"/>
            <a:endCxn id="19" idx="1"/>
          </p:cNvCxnSpPr>
          <p:nvPr/>
        </p:nvCxnSpPr>
        <p:spPr>
          <a:xfrm>
            <a:off x="3357554" y="3750471"/>
            <a:ext cx="2286016" cy="35719"/>
          </a:xfrm>
          <a:prstGeom prst="line">
            <a:avLst/>
          </a:prstGeom>
        </p:spPr>
        <p:style>
          <a:lnRef idx="1">
            <a:schemeClr val="accent1"/>
          </a:lnRef>
          <a:fillRef idx="0">
            <a:schemeClr val="accent1"/>
          </a:fillRef>
          <a:effectRef idx="0">
            <a:schemeClr val="accent1"/>
          </a:effectRef>
          <a:fontRef idx="minor">
            <a:schemeClr val="tx1"/>
          </a:fontRef>
        </p:style>
      </p:cxnSp>
      <p:sp>
        <p:nvSpPr>
          <p:cNvPr id="25" name="2 Marcador de contenido"/>
          <p:cNvSpPr txBox="1">
            <a:spLocks/>
          </p:cNvSpPr>
          <p:nvPr/>
        </p:nvSpPr>
        <p:spPr>
          <a:xfrm>
            <a:off x="2857488" y="5857892"/>
            <a:ext cx="3471858" cy="785818"/>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EC" sz="3200" b="0" i="0" u="none" strike="noStrike" kern="1200" cap="none" spc="0" normalizeH="0" baseline="0" noProof="0" dirty="0">
                <a:ln>
                  <a:noFill/>
                </a:ln>
                <a:solidFill>
                  <a:schemeClr val="tx1"/>
                </a:solidFill>
                <a:effectLst/>
                <a:uLnTx/>
                <a:uFillTx/>
                <a:latin typeface="+mn-lt"/>
                <a:ea typeface="+mn-ea"/>
                <a:cs typeface="+mn-cs"/>
              </a:rPr>
              <a:t>Relación de M:M</a:t>
            </a:r>
          </a:p>
        </p:txBody>
      </p:sp>
      <p:sp>
        <p:nvSpPr>
          <p:cNvPr id="26" name="25 Rectángulo"/>
          <p:cNvSpPr/>
          <p:nvPr/>
        </p:nvSpPr>
        <p:spPr>
          <a:xfrm>
            <a:off x="1000100" y="5143512"/>
            <a:ext cx="2071702"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Estudiante</a:t>
            </a:r>
          </a:p>
        </p:txBody>
      </p:sp>
      <p:sp>
        <p:nvSpPr>
          <p:cNvPr id="27" name="26 Rectángulo"/>
          <p:cNvSpPr/>
          <p:nvPr/>
        </p:nvSpPr>
        <p:spPr>
          <a:xfrm>
            <a:off x="5929322" y="5214950"/>
            <a:ext cx="1857388"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Materia</a:t>
            </a:r>
          </a:p>
        </p:txBody>
      </p:sp>
      <p:cxnSp>
        <p:nvCxnSpPr>
          <p:cNvPr id="29" name="28 Conector recto"/>
          <p:cNvCxnSpPr>
            <a:stCxn id="26" idx="3"/>
            <a:endCxn id="27" idx="1"/>
          </p:cNvCxnSpPr>
          <p:nvPr/>
        </p:nvCxnSpPr>
        <p:spPr>
          <a:xfrm>
            <a:off x="3071802" y="5393545"/>
            <a:ext cx="2857520" cy="107157"/>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43 Conector recto"/>
          <p:cNvCxnSpPr/>
          <p:nvPr/>
        </p:nvCxnSpPr>
        <p:spPr>
          <a:xfrm rot="5400000">
            <a:off x="3393273" y="2107397"/>
            <a:ext cx="35719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44 Conector recto"/>
          <p:cNvCxnSpPr/>
          <p:nvPr/>
        </p:nvCxnSpPr>
        <p:spPr>
          <a:xfrm rot="5400000">
            <a:off x="5251455" y="2106603"/>
            <a:ext cx="357190" cy="1588"/>
          </a:xfrm>
          <a:prstGeom prst="line">
            <a:avLst/>
          </a:prstGeom>
        </p:spPr>
        <p:style>
          <a:lnRef idx="1">
            <a:schemeClr val="accent1"/>
          </a:lnRef>
          <a:fillRef idx="0">
            <a:schemeClr val="accent1"/>
          </a:fillRef>
          <a:effectRef idx="0">
            <a:schemeClr val="accent1"/>
          </a:effectRef>
          <a:fontRef idx="minor">
            <a:schemeClr val="tx1"/>
          </a:fontRef>
        </p:style>
      </p:cxnSp>
      <p:sp>
        <p:nvSpPr>
          <p:cNvPr id="47" name="46 Elipse"/>
          <p:cNvSpPr/>
          <p:nvPr/>
        </p:nvSpPr>
        <p:spPr>
          <a:xfrm>
            <a:off x="5500694" y="5357826"/>
            <a:ext cx="214314" cy="2143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cxnSp>
        <p:nvCxnSpPr>
          <p:cNvPr id="49" name="48 Conector recto"/>
          <p:cNvCxnSpPr/>
          <p:nvPr/>
        </p:nvCxnSpPr>
        <p:spPr>
          <a:xfrm flipV="1">
            <a:off x="5715008" y="5357826"/>
            <a:ext cx="214314" cy="142876"/>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49 Conector recto"/>
          <p:cNvCxnSpPr>
            <a:stCxn id="47" idx="6"/>
          </p:cNvCxnSpPr>
          <p:nvPr/>
        </p:nvCxnSpPr>
        <p:spPr>
          <a:xfrm>
            <a:off x="5715008" y="5464983"/>
            <a:ext cx="214314" cy="250033"/>
          </a:xfrm>
          <a:prstGeom prst="line">
            <a:avLst/>
          </a:prstGeom>
        </p:spPr>
        <p:style>
          <a:lnRef idx="1">
            <a:schemeClr val="accent1"/>
          </a:lnRef>
          <a:fillRef idx="0">
            <a:schemeClr val="accent1"/>
          </a:fillRef>
          <a:effectRef idx="0">
            <a:schemeClr val="accent1"/>
          </a:effectRef>
          <a:fontRef idx="minor">
            <a:schemeClr val="tx1"/>
          </a:fontRef>
        </p:style>
      </p:cxnSp>
      <p:sp>
        <p:nvSpPr>
          <p:cNvPr id="53" name="52 Elipse"/>
          <p:cNvSpPr/>
          <p:nvPr/>
        </p:nvSpPr>
        <p:spPr>
          <a:xfrm>
            <a:off x="3286116" y="5286388"/>
            <a:ext cx="214314" cy="2143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cxnSp>
        <p:nvCxnSpPr>
          <p:cNvPr id="54" name="53 Conector recto"/>
          <p:cNvCxnSpPr/>
          <p:nvPr/>
        </p:nvCxnSpPr>
        <p:spPr>
          <a:xfrm>
            <a:off x="3071802" y="5214950"/>
            <a:ext cx="214314" cy="2500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55 Conector recto"/>
          <p:cNvCxnSpPr/>
          <p:nvPr/>
        </p:nvCxnSpPr>
        <p:spPr>
          <a:xfrm flipV="1">
            <a:off x="3071802" y="5429264"/>
            <a:ext cx="214314" cy="142876"/>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56 Conector recto"/>
          <p:cNvCxnSpPr/>
          <p:nvPr/>
        </p:nvCxnSpPr>
        <p:spPr>
          <a:xfrm rot="5400000">
            <a:off x="3322629" y="3749677"/>
            <a:ext cx="35719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57 Conector recto"/>
          <p:cNvCxnSpPr/>
          <p:nvPr/>
        </p:nvCxnSpPr>
        <p:spPr>
          <a:xfrm rot="5400000">
            <a:off x="5251455" y="3825675"/>
            <a:ext cx="35719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58 Conector recto"/>
          <p:cNvCxnSpPr/>
          <p:nvPr/>
        </p:nvCxnSpPr>
        <p:spPr>
          <a:xfrm flipV="1">
            <a:off x="5429256" y="3643314"/>
            <a:ext cx="214314" cy="142876"/>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59 Conector recto"/>
          <p:cNvCxnSpPr/>
          <p:nvPr/>
        </p:nvCxnSpPr>
        <p:spPr>
          <a:xfrm>
            <a:off x="5429256" y="3786190"/>
            <a:ext cx="214314" cy="250033"/>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3347864" y="1700808"/>
            <a:ext cx="1008112" cy="369332"/>
          </a:xfrm>
          <a:prstGeom prst="rect">
            <a:avLst/>
          </a:prstGeom>
          <a:noFill/>
        </p:spPr>
        <p:txBody>
          <a:bodyPr wrap="square" rtlCol="0">
            <a:spAutoFit/>
          </a:bodyPr>
          <a:lstStyle/>
          <a:p>
            <a:r>
              <a:rPr lang="es-EC" dirty="0"/>
              <a:t>asigna</a:t>
            </a:r>
          </a:p>
        </p:txBody>
      </p:sp>
      <p:sp>
        <p:nvSpPr>
          <p:cNvPr id="38" name="TextBox 37"/>
          <p:cNvSpPr txBox="1"/>
          <p:nvPr/>
        </p:nvSpPr>
        <p:spPr>
          <a:xfrm>
            <a:off x="3491880" y="3861048"/>
            <a:ext cx="1008112" cy="369332"/>
          </a:xfrm>
          <a:prstGeom prst="rect">
            <a:avLst/>
          </a:prstGeom>
          <a:noFill/>
        </p:spPr>
        <p:txBody>
          <a:bodyPr wrap="square" rtlCol="0">
            <a:spAutoFit/>
          </a:bodyPr>
          <a:lstStyle/>
          <a:p>
            <a:r>
              <a:rPr lang="es-EC" dirty="0"/>
              <a:t>realiza</a:t>
            </a:r>
          </a:p>
        </p:txBody>
      </p:sp>
      <p:sp>
        <p:nvSpPr>
          <p:cNvPr id="39" name="TextBox 38"/>
          <p:cNvSpPr txBox="1"/>
          <p:nvPr/>
        </p:nvSpPr>
        <p:spPr>
          <a:xfrm>
            <a:off x="4499992" y="3356992"/>
            <a:ext cx="1224136" cy="369332"/>
          </a:xfrm>
          <a:prstGeom prst="rect">
            <a:avLst/>
          </a:prstGeom>
          <a:noFill/>
        </p:spPr>
        <p:txBody>
          <a:bodyPr wrap="square" rtlCol="0">
            <a:spAutoFit/>
          </a:bodyPr>
          <a:lstStyle/>
          <a:p>
            <a:r>
              <a:rPr lang="es-EC" dirty="0"/>
              <a:t>pertenece</a:t>
            </a:r>
          </a:p>
        </p:txBody>
      </p:sp>
      <p:sp>
        <p:nvSpPr>
          <p:cNvPr id="41" name="TextBox 40"/>
          <p:cNvSpPr txBox="1"/>
          <p:nvPr/>
        </p:nvSpPr>
        <p:spPr>
          <a:xfrm>
            <a:off x="3131840" y="5445224"/>
            <a:ext cx="1224136" cy="369332"/>
          </a:xfrm>
          <a:prstGeom prst="rect">
            <a:avLst/>
          </a:prstGeom>
          <a:noFill/>
        </p:spPr>
        <p:txBody>
          <a:bodyPr wrap="square" rtlCol="0">
            <a:spAutoFit/>
          </a:bodyPr>
          <a:lstStyle/>
          <a:p>
            <a:r>
              <a:rPr lang="es-EC" dirty="0"/>
              <a:t>registra</a:t>
            </a:r>
          </a:p>
        </p:txBody>
      </p:sp>
      <p:sp>
        <p:nvSpPr>
          <p:cNvPr id="42" name="TextBox 41"/>
          <p:cNvSpPr txBox="1"/>
          <p:nvPr/>
        </p:nvSpPr>
        <p:spPr>
          <a:xfrm>
            <a:off x="4716016" y="5085184"/>
            <a:ext cx="1512168" cy="369332"/>
          </a:xfrm>
          <a:prstGeom prst="rect">
            <a:avLst/>
          </a:prstGeom>
          <a:noFill/>
        </p:spPr>
        <p:txBody>
          <a:bodyPr wrap="square" rtlCol="0">
            <a:spAutoFit/>
          </a:bodyPr>
          <a:lstStyle/>
          <a:p>
            <a:r>
              <a:rPr lang="es-EC" dirty="0"/>
              <a:t>se registran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Relación de supertipo-subtipo</a:t>
            </a:r>
          </a:p>
        </p:txBody>
      </p:sp>
      <p:sp>
        <p:nvSpPr>
          <p:cNvPr id="3" name="2 Marcador de contenido"/>
          <p:cNvSpPr>
            <a:spLocks noGrp="1"/>
          </p:cNvSpPr>
          <p:nvPr>
            <p:ph idx="1"/>
          </p:nvPr>
        </p:nvSpPr>
        <p:spPr>
          <a:xfrm>
            <a:off x="457200" y="1285860"/>
            <a:ext cx="8229600" cy="2257428"/>
          </a:xfrm>
        </p:spPr>
        <p:txBody>
          <a:bodyPr/>
          <a:lstStyle/>
          <a:p>
            <a:r>
              <a:rPr lang="es-EC" b="1" dirty="0"/>
              <a:t>Subtipo</a:t>
            </a:r>
            <a:r>
              <a:rPr lang="es-EC" dirty="0"/>
              <a:t>: Entidad que representa un caso especial de otra entidad llamada </a:t>
            </a:r>
            <a:r>
              <a:rPr lang="es-EC" b="1" dirty="0"/>
              <a:t>supertipo</a:t>
            </a:r>
          </a:p>
          <a:p>
            <a:r>
              <a:rPr lang="es-EC" dirty="0"/>
              <a:t>Las entidades con esta relación deben tener el mismo identificador</a:t>
            </a:r>
          </a:p>
        </p:txBody>
      </p:sp>
      <p:sp>
        <p:nvSpPr>
          <p:cNvPr id="4" name="3 Rectángulo"/>
          <p:cNvSpPr/>
          <p:nvPr/>
        </p:nvSpPr>
        <p:spPr>
          <a:xfrm>
            <a:off x="785786" y="3786190"/>
            <a:ext cx="2428892" cy="29289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dirty="0" err="1"/>
              <a:t>idCliente</a:t>
            </a:r>
            <a:endParaRPr lang="es-EC" dirty="0"/>
          </a:p>
          <a:p>
            <a:r>
              <a:rPr lang="es-EC" dirty="0"/>
              <a:t>Cedula</a:t>
            </a:r>
          </a:p>
          <a:p>
            <a:r>
              <a:rPr lang="es-EC" dirty="0"/>
              <a:t>Nombre</a:t>
            </a:r>
          </a:p>
          <a:p>
            <a:r>
              <a:rPr lang="es-EC" dirty="0"/>
              <a:t>Estado civil</a:t>
            </a:r>
          </a:p>
          <a:p>
            <a:r>
              <a:rPr lang="es-EC" dirty="0" err="1"/>
              <a:t>Direccion</a:t>
            </a:r>
            <a:endParaRPr lang="es-EC" dirty="0"/>
          </a:p>
          <a:p>
            <a:r>
              <a:rPr lang="es-EC" dirty="0" err="1"/>
              <a:t>Telefono</a:t>
            </a:r>
            <a:endParaRPr lang="es-EC" dirty="0"/>
          </a:p>
          <a:p>
            <a:r>
              <a:rPr lang="es-EC" dirty="0"/>
              <a:t>Ciudad</a:t>
            </a:r>
          </a:p>
          <a:p>
            <a:r>
              <a:rPr lang="es-EC" dirty="0"/>
              <a:t>RUC</a:t>
            </a:r>
          </a:p>
          <a:p>
            <a:r>
              <a:rPr lang="es-EC" dirty="0" err="1"/>
              <a:t>Razon</a:t>
            </a:r>
            <a:r>
              <a:rPr lang="es-EC" dirty="0"/>
              <a:t> social</a:t>
            </a:r>
          </a:p>
          <a:p>
            <a:endParaRPr lang="es-EC" dirty="0"/>
          </a:p>
        </p:txBody>
      </p:sp>
      <p:sp>
        <p:nvSpPr>
          <p:cNvPr id="5" name="4 Rectángulo"/>
          <p:cNvSpPr/>
          <p:nvPr/>
        </p:nvSpPr>
        <p:spPr>
          <a:xfrm>
            <a:off x="785786" y="3500438"/>
            <a:ext cx="2428892" cy="642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CLIENTE</a:t>
            </a:r>
          </a:p>
        </p:txBody>
      </p:sp>
      <p:sp>
        <p:nvSpPr>
          <p:cNvPr id="7" name="6 Rectángulo"/>
          <p:cNvSpPr/>
          <p:nvPr/>
        </p:nvSpPr>
        <p:spPr>
          <a:xfrm>
            <a:off x="5286380" y="3000372"/>
            <a:ext cx="2428892" cy="1857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dirty="0" err="1"/>
              <a:t>idCliente</a:t>
            </a:r>
            <a:endParaRPr lang="es-EC" dirty="0"/>
          </a:p>
          <a:p>
            <a:r>
              <a:rPr lang="es-EC" dirty="0"/>
              <a:t>Nombre</a:t>
            </a:r>
          </a:p>
          <a:p>
            <a:r>
              <a:rPr lang="es-EC" dirty="0" err="1"/>
              <a:t>Direccion</a:t>
            </a:r>
            <a:endParaRPr lang="es-EC" dirty="0"/>
          </a:p>
          <a:p>
            <a:r>
              <a:rPr lang="es-EC" dirty="0" err="1"/>
              <a:t>Telefono</a:t>
            </a:r>
            <a:endParaRPr lang="es-EC" dirty="0"/>
          </a:p>
          <a:p>
            <a:r>
              <a:rPr lang="es-EC" dirty="0"/>
              <a:t>Ciudad</a:t>
            </a:r>
          </a:p>
          <a:p>
            <a:endParaRPr lang="es-EC" dirty="0"/>
          </a:p>
        </p:txBody>
      </p:sp>
      <p:sp>
        <p:nvSpPr>
          <p:cNvPr id="8" name="7 Rectángulo"/>
          <p:cNvSpPr/>
          <p:nvPr/>
        </p:nvSpPr>
        <p:spPr>
          <a:xfrm>
            <a:off x="5286380" y="3000372"/>
            <a:ext cx="2428892"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CLIENTE</a:t>
            </a:r>
          </a:p>
        </p:txBody>
      </p:sp>
      <p:sp>
        <p:nvSpPr>
          <p:cNvPr id="9" name="8 Rectángulo"/>
          <p:cNvSpPr/>
          <p:nvPr/>
        </p:nvSpPr>
        <p:spPr>
          <a:xfrm>
            <a:off x="3929058" y="5572092"/>
            <a:ext cx="2428892" cy="1143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dirty="0"/>
              <a:t>RUC</a:t>
            </a:r>
          </a:p>
          <a:p>
            <a:r>
              <a:rPr lang="es-EC" dirty="0" err="1"/>
              <a:t>Razon</a:t>
            </a:r>
            <a:r>
              <a:rPr lang="es-EC" dirty="0"/>
              <a:t> social</a:t>
            </a:r>
          </a:p>
          <a:p>
            <a:endParaRPr lang="es-EC" dirty="0"/>
          </a:p>
        </p:txBody>
      </p:sp>
      <p:sp>
        <p:nvSpPr>
          <p:cNvPr id="10" name="9 Rectángulo"/>
          <p:cNvSpPr/>
          <p:nvPr/>
        </p:nvSpPr>
        <p:spPr>
          <a:xfrm>
            <a:off x="3929058" y="5500702"/>
            <a:ext cx="2428892" cy="4285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Empresa</a:t>
            </a:r>
          </a:p>
        </p:txBody>
      </p:sp>
      <p:sp>
        <p:nvSpPr>
          <p:cNvPr id="11" name="10 Rectángulo"/>
          <p:cNvSpPr/>
          <p:nvPr/>
        </p:nvSpPr>
        <p:spPr>
          <a:xfrm>
            <a:off x="6572264" y="5643578"/>
            <a:ext cx="2428892" cy="1071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C" dirty="0"/>
          </a:p>
          <a:p>
            <a:endParaRPr lang="es-EC" dirty="0"/>
          </a:p>
          <a:p>
            <a:r>
              <a:rPr lang="es-EC" dirty="0"/>
              <a:t>Cedula</a:t>
            </a:r>
          </a:p>
          <a:p>
            <a:r>
              <a:rPr lang="es-EC" dirty="0"/>
              <a:t>Estado civil</a:t>
            </a:r>
          </a:p>
          <a:p>
            <a:endParaRPr lang="es-EC" dirty="0"/>
          </a:p>
        </p:txBody>
      </p:sp>
      <p:sp>
        <p:nvSpPr>
          <p:cNvPr id="12" name="11 Rectángulo"/>
          <p:cNvSpPr/>
          <p:nvPr/>
        </p:nvSpPr>
        <p:spPr>
          <a:xfrm>
            <a:off x="6572264" y="5500702"/>
            <a:ext cx="2428892"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Persona</a:t>
            </a:r>
          </a:p>
        </p:txBody>
      </p:sp>
      <p:cxnSp>
        <p:nvCxnSpPr>
          <p:cNvPr id="15" name="14 Conector recto"/>
          <p:cNvCxnSpPr/>
          <p:nvPr/>
        </p:nvCxnSpPr>
        <p:spPr>
          <a:xfrm rot="5400000">
            <a:off x="6286511" y="5000637"/>
            <a:ext cx="4286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17 Conector recto"/>
          <p:cNvCxnSpPr/>
          <p:nvPr/>
        </p:nvCxnSpPr>
        <p:spPr>
          <a:xfrm rot="10800000">
            <a:off x="5143504" y="5213362"/>
            <a:ext cx="1357322" cy="15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20 Conector recto"/>
          <p:cNvCxnSpPr/>
          <p:nvPr/>
        </p:nvCxnSpPr>
        <p:spPr>
          <a:xfrm rot="5400000">
            <a:off x="4893471" y="5464189"/>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22 Conector recto"/>
          <p:cNvCxnSpPr/>
          <p:nvPr/>
        </p:nvCxnSpPr>
        <p:spPr>
          <a:xfrm rot="10800000" flipV="1">
            <a:off x="6500826" y="5214948"/>
            <a:ext cx="1285884"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23 Conector recto"/>
          <p:cNvCxnSpPr/>
          <p:nvPr/>
        </p:nvCxnSpPr>
        <p:spPr>
          <a:xfrm rot="5400000">
            <a:off x="7537471" y="5464189"/>
            <a:ext cx="500066" cy="1588"/>
          </a:xfrm>
          <a:prstGeom prst="line">
            <a:avLst/>
          </a:prstGeom>
        </p:spPr>
        <p:style>
          <a:lnRef idx="1">
            <a:schemeClr val="accent1"/>
          </a:lnRef>
          <a:fillRef idx="0">
            <a:schemeClr val="accent1"/>
          </a:fillRef>
          <a:effectRef idx="0">
            <a:schemeClr val="accent1"/>
          </a:effectRef>
          <a:fontRef idx="minor">
            <a:schemeClr val="tx1"/>
          </a:fontRef>
        </p:style>
      </p:cxnSp>
      <p:sp>
        <p:nvSpPr>
          <p:cNvPr id="19" name="Isosceles Triangle 18"/>
          <p:cNvSpPr/>
          <p:nvPr/>
        </p:nvSpPr>
        <p:spPr>
          <a:xfrm>
            <a:off x="6357950" y="4857760"/>
            <a:ext cx="357190" cy="142876"/>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71414"/>
            <a:ext cx="8229600" cy="1143000"/>
          </a:xfrm>
        </p:spPr>
        <p:txBody>
          <a:bodyPr/>
          <a:lstStyle/>
          <a:p>
            <a:r>
              <a:rPr lang="es-EC" dirty="0"/>
              <a:t>Relación de dependencia</a:t>
            </a:r>
          </a:p>
        </p:txBody>
      </p:sp>
      <p:sp>
        <p:nvSpPr>
          <p:cNvPr id="3" name="2 Marcador de contenido"/>
          <p:cNvSpPr>
            <a:spLocks noGrp="1"/>
          </p:cNvSpPr>
          <p:nvPr>
            <p:ph idx="1"/>
          </p:nvPr>
        </p:nvSpPr>
        <p:spPr>
          <a:xfrm>
            <a:off x="457200" y="1214422"/>
            <a:ext cx="8229600" cy="2786082"/>
          </a:xfrm>
        </p:spPr>
        <p:txBody>
          <a:bodyPr>
            <a:normAutofit fontScale="92500" lnSpcReduction="10000"/>
          </a:bodyPr>
          <a:lstStyle/>
          <a:p>
            <a:r>
              <a:rPr lang="es-EC" dirty="0"/>
              <a:t>Entidad Débil: Dependen de otra entidad</a:t>
            </a:r>
          </a:p>
          <a:p>
            <a:r>
              <a:rPr lang="es-EC" dirty="0"/>
              <a:t>No pueden existir en la base de datos a menos que otro tipo de entidad (entidad fuerte) también exista en la base de datos</a:t>
            </a:r>
          </a:p>
          <a:p>
            <a:pPr lvl="1"/>
            <a:r>
              <a:rPr lang="es-EC" dirty="0"/>
              <a:t>Entidad dependiente de ID: El identificador de una entidad incluye el identificar de otra entidad.</a:t>
            </a:r>
          </a:p>
        </p:txBody>
      </p:sp>
      <p:sp>
        <p:nvSpPr>
          <p:cNvPr id="5" name="4 Rectángulo"/>
          <p:cNvSpPr/>
          <p:nvPr/>
        </p:nvSpPr>
        <p:spPr>
          <a:xfrm>
            <a:off x="1000100" y="4143380"/>
            <a:ext cx="2071702"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Empleado</a:t>
            </a:r>
          </a:p>
        </p:txBody>
      </p:sp>
      <p:sp>
        <p:nvSpPr>
          <p:cNvPr id="6" name="5 Rectángulo"/>
          <p:cNvSpPr/>
          <p:nvPr/>
        </p:nvSpPr>
        <p:spPr>
          <a:xfrm>
            <a:off x="5357818" y="4143380"/>
            <a:ext cx="2357454"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Dependiente</a:t>
            </a:r>
          </a:p>
        </p:txBody>
      </p:sp>
      <p:cxnSp>
        <p:nvCxnSpPr>
          <p:cNvPr id="8" name="7 Conector recto"/>
          <p:cNvCxnSpPr>
            <a:stCxn id="5" idx="3"/>
          </p:cNvCxnSpPr>
          <p:nvPr/>
        </p:nvCxnSpPr>
        <p:spPr>
          <a:xfrm>
            <a:off x="3071802" y="4393413"/>
            <a:ext cx="2436302" cy="43699"/>
          </a:xfrm>
          <a:prstGeom prst="line">
            <a:avLst/>
          </a:prstGeom>
        </p:spPr>
        <p:style>
          <a:lnRef idx="1">
            <a:schemeClr val="accent1"/>
          </a:lnRef>
          <a:fillRef idx="0">
            <a:schemeClr val="accent1"/>
          </a:fillRef>
          <a:effectRef idx="0">
            <a:schemeClr val="accent1"/>
          </a:effectRef>
          <a:fontRef idx="minor">
            <a:schemeClr val="tx1"/>
          </a:fontRef>
        </p:style>
      </p:cxnSp>
      <p:sp>
        <p:nvSpPr>
          <p:cNvPr id="11" name="10 CuadroTexto"/>
          <p:cNvSpPr txBox="1"/>
          <p:nvPr/>
        </p:nvSpPr>
        <p:spPr>
          <a:xfrm>
            <a:off x="785786" y="4786322"/>
            <a:ext cx="2571768" cy="369332"/>
          </a:xfrm>
          <a:prstGeom prst="rect">
            <a:avLst/>
          </a:prstGeom>
          <a:noFill/>
        </p:spPr>
        <p:txBody>
          <a:bodyPr wrap="square" rtlCol="0">
            <a:spAutoFit/>
          </a:bodyPr>
          <a:lstStyle/>
          <a:p>
            <a:r>
              <a:rPr lang="es-EC" dirty="0"/>
              <a:t>Identificador: #empleado</a:t>
            </a:r>
          </a:p>
        </p:txBody>
      </p:sp>
      <p:sp>
        <p:nvSpPr>
          <p:cNvPr id="12" name="11 CuadroTexto"/>
          <p:cNvSpPr txBox="1"/>
          <p:nvPr/>
        </p:nvSpPr>
        <p:spPr>
          <a:xfrm>
            <a:off x="5357818" y="4857760"/>
            <a:ext cx="2571768" cy="369332"/>
          </a:xfrm>
          <a:prstGeom prst="rect">
            <a:avLst/>
          </a:prstGeom>
          <a:noFill/>
        </p:spPr>
        <p:txBody>
          <a:bodyPr wrap="square" rtlCol="0">
            <a:spAutoFit/>
          </a:bodyPr>
          <a:lstStyle/>
          <a:p>
            <a:r>
              <a:rPr lang="es-EC" dirty="0"/>
              <a:t>Identificador: Cédula</a:t>
            </a:r>
          </a:p>
        </p:txBody>
      </p:sp>
      <p:sp>
        <p:nvSpPr>
          <p:cNvPr id="14" name="13 Rectángulo"/>
          <p:cNvSpPr/>
          <p:nvPr/>
        </p:nvSpPr>
        <p:spPr>
          <a:xfrm>
            <a:off x="1000100" y="5559998"/>
            <a:ext cx="2071702"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Edificio</a:t>
            </a:r>
          </a:p>
        </p:txBody>
      </p:sp>
      <p:sp>
        <p:nvSpPr>
          <p:cNvPr id="15" name="14 Rectángulo"/>
          <p:cNvSpPr/>
          <p:nvPr/>
        </p:nvSpPr>
        <p:spPr>
          <a:xfrm>
            <a:off x="5357818" y="5559998"/>
            <a:ext cx="2357454"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Departamento</a:t>
            </a:r>
          </a:p>
        </p:txBody>
      </p:sp>
      <p:cxnSp>
        <p:nvCxnSpPr>
          <p:cNvPr id="17" name="16 Conector recto"/>
          <p:cNvCxnSpPr>
            <a:stCxn id="14" idx="3"/>
            <a:endCxn id="15" idx="1"/>
          </p:cNvCxnSpPr>
          <p:nvPr/>
        </p:nvCxnSpPr>
        <p:spPr>
          <a:xfrm>
            <a:off x="3071802" y="5810031"/>
            <a:ext cx="2286016" cy="35719"/>
          </a:xfrm>
          <a:prstGeom prst="line">
            <a:avLst/>
          </a:prstGeom>
        </p:spPr>
        <p:style>
          <a:lnRef idx="1">
            <a:schemeClr val="accent1"/>
          </a:lnRef>
          <a:fillRef idx="0">
            <a:schemeClr val="accent1"/>
          </a:fillRef>
          <a:effectRef idx="0">
            <a:schemeClr val="accent1"/>
          </a:effectRef>
          <a:fontRef idx="minor">
            <a:schemeClr val="tx1"/>
          </a:fontRef>
        </p:style>
      </p:cxnSp>
      <p:sp>
        <p:nvSpPr>
          <p:cNvPr id="19" name="18 CuadroTexto"/>
          <p:cNvSpPr txBox="1"/>
          <p:nvPr/>
        </p:nvSpPr>
        <p:spPr>
          <a:xfrm>
            <a:off x="785786" y="6202940"/>
            <a:ext cx="2571768" cy="646331"/>
          </a:xfrm>
          <a:prstGeom prst="rect">
            <a:avLst/>
          </a:prstGeom>
          <a:noFill/>
        </p:spPr>
        <p:txBody>
          <a:bodyPr wrap="square" rtlCol="0">
            <a:spAutoFit/>
          </a:bodyPr>
          <a:lstStyle/>
          <a:p>
            <a:r>
              <a:rPr lang="es-EC" dirty="0"/>
              <a:t>Identificador: Nombre del edificio</a:t>
            </a:r>
          </a:p>
        </p:txBody>
      </p:sp>
      <p:sp>
        <p:nvSpPr>
          <p:cNvPr id="20" name="19 CuadroTexto"/>
          <p:cNvSpPr txBox="1"/>
          <p:nvPr/>
        </p:nvSpPr>
        <p:spPr>
          <a:xfrm>
            <a:off x="5286380" y="6215082"/>
            <a:ext cx="3786182" cy="646331"/>
          </a:xfrm>
          <a:prstGeom prst="rect">
            <a:avLst/>
          </a:prstGeom>
          <a:noFill/>
        </p:spPr>
        <p:txBody>
          <a:bodyPr wrap="square" rtlCol="0">
            <a:spAutoFit/>
          </a:bodyPr>
          <a:lstStyle/>
          <a:p>
            <a:r>
              <a:rPr lang="es-EC" dirty="0"/>
              <a:t>Identificador: Nombre del edificio-#departamento</a:t>
            </a:r>
          </a:p>
        </p:txBody>
      </p:sp>
      <p:cxnSp>
        <p:nvCxnSpPr>
          <p:cNvPr id="25" name="Straight Connector 24"/>
          <p:cNvCxnSpPr/>
          <p:nvPr/>
        </p:nvCxnSpPr>
        <p:spPr>
          <a:xfrm rot="10800000" flipV="1">
            <a:off x="5148064" y="4293096"/>
            <a:ext cx="216024"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148064" y="4437112"/>
            <a:ext cx="288032"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5400000">
            <a:off x="3167844" y="4401108"/>
            <a:ext cx="216024"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Oval 29"/>
          <p:cNvSpPr/>
          <p:nvPr/>
        </p:nvSpPr>
        <p:spPr>
          <a:xfrm>
            <a:off x="4932040" y="4365104"/>
            <a:ext cx="216024" cy="21602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1" name="TextBox 30"/>
          <p:cNvSpPr txBox="1"/>
          <p:nvPr/>
        </p:nvSpPr>
        <p:spPr>
          <a:xfrm>
            <a:off x="3131840" y="4437112"/>
            <a:ext cx="1008112" cy="369332"/>
          </a:xfrm>
          <a:prstGeom prst="rect">
            <a:avLst/>
          </a:prstGeom>
          <a:noFill/>
        </p:spPr>
        <p:txBody>
          <a:bodyPr wrap="square" rtlCol="0">
            <a:spAutoFit/>
          </a:bodyPr>
          <a:lstStyle/>
          <a:p>
            <a:r>
              <a:rPr lang="es-EC" dirty="0"/>
              <a:t>posee</a:t>
            </a:r>
          </a:p>
        </p:txBody>
      </p:sp>
      <p:sp>
        <p:nvSpPr>
          <p:cNvPr id="32" name="TextBox 31"/>
          <p:cNvSpPr txBox="1"/>
          <p:nvPr/>
        </p:nvSpPr>
        <p:spPr>
          <a:xfrm>
            <a:off x="4211960" y="4005064"/>
            <a:ext cx="1512168" cy="369332"/>
          </a:xfrm>
          <a:prstGeom prst="rect">
            <a:avLst/>
          </a:prstGeom>
          <a:noFill/>
        </p:spPr>
        <p:txBody>
          <a:bodyPr wrap="square" rtlCol="0">
            <a:spAutoFit/>
          </a:bodyPr>
          <a:lstStyle/>
          <a:p>
            <a:r>
              <a:rPr lang="es-EC" dirty="0"/>
              <a:t>pertenece</a:t>
            </a:r>
          </a:p>
        </p:txBody>
      </p:sp>
      <p:cxnSp>
        <p:nvCxnSpPr>
          <p:cNvPr id="35" name="Straight Connector 34"/>
          <p:cNvCxnSpPr/>
          <p:nvPr/>
        </p:nvCxnSpPr>
        <p:spPr>
          <a:xfrm rot="5400000">
            <a:off x="5040052" y="5841268"/>
            <a:ext cx="2160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10800000" flipV="1">
            <a:off x="5148064" y="5733256"/>
            <a:ext cx="216024"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5148064" y="5877272"/>
            <a:ext cx="288032"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5400000">
            <a:off x="3095836" y="5841268"/>
            <a:ext cx="216024" cy="0"/>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3131840" y="5877272"/>
            <a:ext cx="1512168" cy="369332"/>
          </a:xfrm>
          <a:prstGeom prst="rect">
            <a:avLst/>
          </a:prstGeom>
          <a:noFill/>
        </p:spPr>
        <p:txBody>
          <a:bodyPr wrap="square" rtlCol="0">
            <a:spAutoFit/>
          </a:bodyPr>
          <a:lstStyle/>
          <a:p>
            <a:r>
              <a:rPr lang="es-EC" dirty="0"/>
              <a:t>tiene</a:t>
            </a:r>
          </a:p>
        </p:txBody>
      </p:sp>
      <p:sp>
        <p:nvSpPr>
          <p:cNvPr id="40" name="TextBox 39"/>
          <p:cNvSpPr txBox="1"/>
          <p:nvPr/>
        </p:nvSpPr>
        <p:spPr>
          <a:xfrm>
            <a:off x="4139952" y="5445224"/>
            <a:ext cx="1512168" cy="369332"/>
          </a:xfrm>
          <a:prstGeom prst="rect">
            <a:avLst/>
          </a:prstGeom>
          <a:noFill/>
        </p:spPr>
        <p:txBody>
          <a:bodyPr wrap="square" rtlCol="0">
            <a:spAutoFit/>
          </a:bodyPr>
          <a:lstStyle/>
          <a:p>
            <a:r>
              <a:rPr lang="es-EC" dirty="0"/>
              <a:t>pertenece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Relación Recursiva</a:t>
            </a:r>
          </a:p>
        </p:txBody>
      </p:sp>
      <p:sp>
        <p:nvSpPr>
          <p:cNvPr id="3" name="2 Marcador de contenido"/>
          <p:cNvSpPr>
            <a:spLocks noGrp="1"/>
          </p:cNvSpPr>
          <p:nvPr>
            <p:ph idx="1"/>
          </p:nvPr>
        </p:nvSpPr>
        <p:spPr>
          <a:xfrm>
            <a:off x="285720" y="1357298"/>
            <a:ext cx="8401080" cy="1071570"/>
          </a:xfrm>
        </p:spPr>
        <p:txBody>
          <a:bodyPr>
            <a:normAutofit fontScale="92500" lnSpcReduction="10000"/>
          </a:bodyPr>
          <a:lstStyle/>
          <a:p>
            <a:r>
              <a:rPr lang="es-EC" dirty="0"/>
              <a:t>Relaciones entre entidades de una misma clase</a:t>
            </a:r>
          </a:p>
          <a:p>
            <a:r>
              <a:rPr lang="es-EC" dirty="0"/>
              <a:t>Una tabla se relaciona consigo misma</a:t>
            </a:r>
          </a:p>
        </p:txBody>
      </p:sp>
      <p:sp>
        <p:nvSpPr>
          <p:cNvPr id="4" name="3 Rectángulo"/>
          <p:cNvSpPr/>
          <p:nvPr/>
        </p:nvSpPr>
        <p:spPr>
          <a:xfrm>
            <a:off x="2143108" y="3071810"/>
            <a:ext cx="2071702" cy="714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Empleado</a:t>
            </a:r>
          </a:p>
        </p:txBody>
      </p:sp>
      <p:cxnSp>
        <p:nvCxnSpPr>
          <p:cNvPr id="7" name="6 Conector recto"/>
          <p:cNvCxnSpPr/>
          <p:nvPr/>
        </p:nvCxnSpPr>
        <p:spPr>
          <a:xfrm>
            <a:off x="4211960" y="3429000"/>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curvado"/>
          <p:cNvCxnSpPr/>
          <p:nvPr/>
        </p:nvCxnSpPr>
        <p:spPr>
          <a:xfrm rot="10800000" flipV="1">
            <a:off x="3250967" y="3431849"/>
            <a:ext cx="1681073" cy="357190"/>
          </a:xfrm>
          <a:prstGeom prst="curvedConnector4">
            <a:avLst>
              <a:gd name="adj1" fmla="val -9517"/>
              <a:gd name="adj2" fmla="val 164000"/>
            </a:avLst>
          </a:prstGeom>
        </p:spPr>
        <p:style>
          <a:lnRef idx="1">
            <a:schemeClr val="accent1"/>
          </a:lnRef>
          <a:fillRef idx="0">
            <a:schemeClr val="accent1"/>
          </a:fillRef>
          <a:effectRef idx="0">
            <a:schemeClr val="accent1"/>
          </a:effectRef>
          <a:fontRef idx="minor">
            <a:schemeClr val="tx1"/>
          </a:fontRef>
        </p:style>
      </p:cxnSp>
      <p:sp>
        <p:nvSpPr>
          <p:cNvPr id="42" name="41 CuadroTexto"/>
          <p:cNvSpPr txBox="1"/>
          <p:nvPr/>
        </p:nvSpPr>
        <p:spPr>
          <a:xfrm>
            <a:off x="571472" y="4643446"/>
            <a:ext cx="7786742" cy="1200329"/>
          </a:xfrm>
          <a:prstGeom prst="rect">
            <a:avLst/>
          </a:prstGeom>
          <a:noFill/>
        </p:spPr>
        <p:txBody>
          <a:bodyPr wrap="square" rtlCol="0">
            <a:spAutoFit/>
          </a:bodyPr>
          <a:lstStyle/>
          <a:p>
            <a:r>
              <a:rPr lang="es-EC" sz="2400" dirty="0"/>
              <a:t>En este caso, la tabla de empleados desempeña una función de supervisor en uno de los lados de la relación y una función de supervisado en el otro lado.</a:t>
            </a:r>
          </a:p>
        </p:txBody>
      </p:sp>
      <p:sp>
        <p:nvSpPr>
          <p:cNvPr id="49" name="48 Elipse"/>
          <p:cNvSpPr/>
          <p:nvPr/>
        </p:nvSpPr>
        <p:spPr>
          <a:xfrm>
            <a:off x="3214678" y="3929066"/>
            <a:ext cx="214314" cy="2143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cxnSp>
        <p:nvCxnSpPr>
          <p:cNvPr id="52" name="51 Conector recto"/>
          <p:cNvCxnSpPr/>
          <p:nvPr/>
        </p:nvCxnSpPr>
        <p:spPr>
          <a:xfrm rot="5400000">
            <a:off x="4251323" y="3463925"/>
            <a:ext cx="35719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54 Conector recto"/>
          <p:cNvCxnSpPr>
            <a:endCxn id="49" idx="7"/>
          </p:cNvCxnSpPr>
          <p:nvPr/>
        </p:nvCxnSpPr>
        <p:spPr>
          <a:xfrm>
            <a:off x="3000365" y="3786189"/>
            <a:ext cx="397241" cy="174263"/>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60 Conector recto"/>
          <p:cNvCxnSpPr>
            <a:endCxn id="49" idx="0"/>
          </p:cNvCxnSpPr>
          <p:nvPr/>
        </p:nvCxnSpPr>
        <p:spPr>
          <a:xfrm rot="10800000" flipV="1">
            <a:off x="3321835" y="3786188"/>
            <a:ext cx="178596" cy="142877"/>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4283968" y="3068960"/>
            <a:ext cx="1296144" cy="369332"/>
          </a:xfrm>
          <a:prstGeom prst="rect">
            <a:avLst/>
          </a:prstGeom>
          <a:noFill/>
        </p:spPr>
        <p:txBody>
          <a:bodyPr wrap="square" rtlCol="0">
            <a:spAutoFit/>
          </a:bodyPr>
          <a:lstStyle/>
          <a:p>
            <a:r>
              <a:rPr lang="es-EC" dirty="0"/>
              <a:t>supervisa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Atributos de las relaciones</a:t>
            </a:r>
          </a:p>
        </p:txBody>
      </p:sp>
      <p:sp>
        <p:nvSpPr>
          <p:cNvPr id="3" name="2 Marcador de contenido"/>
          <p:cNvSpPr>
            <a:spLocks noGrp="1"/>
          </p:cNvSpPr>
          <p:nvPr>
            <p:ph idx="1"/>
          </p:nvPr>
        </p:nvSpPr>
        <p:spPr>
          <a:xfrm>
            <a:off x="457200" y="1285860"/>
            <a:ext cx="8229600" cy="4525963"/>
          </a:xfrm>
        </p:spPr>
        <p:txBody>
          <a:bodyPr>
            <a:normAutofit fontScale="85000" lnSpcReduction="10000"/>
          </a:bodyPr>
          <a:lstStyle/>
          <a:p>
            <a:r>
              <a:rPr lang="es-EC" dirty="0"/>
              <a:t>Las relaciones también pueden tener atributos asociados. </a:t>
            </a:r>
          </a:p>
          <a:p>
            <a:r>
              <a:rPr lang="es-EC" dirty="0"/>
              <a:t>Se representan igual que los atributos de las entidades.</a:t>
            </a:r>
          </a:p>
          <a:p>
            <a:r>
              <a:rPr lang="es-EC" dirty="0"/>
              <a:t>Un ejemplo típico son las relaciones de tipo "histórico" donde debe constar una fecha o una hora. </a:t>
            </a:r>
          </a:p>
          <a:p>
            <a:r>
              <a:rPr lang="es-EC" b="1" dirty="0"/>
              <a:t>Ejemplo: </a:t>
            </a:r>
            <a:r>
              <a:rPr lang="es-EC" dirty="0"/>
              <a:t>supongamos que es necesario hacer constar la fecha de emisión de una factura a un cliente, y que es posible emitir duplicados de la factura (con distinta fecha). En tal caso, el atributo "Fecha de emisión" de la factura debería colocarse en la relación "se emite".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Atributos de las relaciones 1:M</a:t>
            </a:r>
          </a:p>
        </p:txBody>
      </p:sp>
      <p:sp>
        <p:nvSpPr>
          <p:cNvPr id="5" name="4 Rectángulo"/>
          <p:cNvSpPr/>
          <p:nvPr/>
        </p:nvSpPr>
        <p:spPr>
          <a:xfrm>
            <a:off x="1000100" y="3286124"/>
            <a:ext cx="2071702"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Cliente</a:t>
            </a:r>
          </a:p>
        </p:txBody>
      </p:sp>
      <p:sp>
        <p:nvSpPr>
          <p:cNvPr id="6" name="5 Rectángulo"/>
          <p:cNvSpPr/>
          <p:nvPr/>
        </p:nvSpPr>
        <p:spPr>
          <a:xfrm>
            <a:off x="6000760" y="3286124"/>
            <a:ext cx="1857388"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Factura</a:t>
            </a:r>
          </a:p>
        </p:txBody>
      </p:sp>
      <p:cxnSp>
        <p:nvCxnSpPr>
          <p:cNvPr id="8" name="7 Conector recto"/>
          <p:cNvCxnSpPr/>
          <p:nvPr/>
        </p:nvCxnSpPr>
        <p:spPr>
          <a:xfrm>
            <a:off x="3059832" y="3536728"/>
            <a:ext cx="3384376" cy="36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9 Conector recto"/>
          <p:cNvCxnSpPr/>
          <p:nvPr/>
        </p:nvCxnSpPr>
        <p:spPr>
          <a:xfrm rot="5400000">
            <a:off x="3036877" y="3535363"/>
            <a:ext cx="35719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flipV="1">
            <a:off x="5786446" y="3429000"/>
            <a:ext cx="214314" cy="1428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12 Conector recto"/>
          <p:cNvCxnSpPr/>
          <p:nvPr/>
        </p:nvCxnSpPr>
        <p:spPr>
          <a:xfrm>
            <a:off x="5786446" y="3571876"/>
            <a:ext cx="214314" cy="250033"/>
          </a:xfrm>
          <a:prstGeom prst="line">
            <a:avLst/>
          </a:prstGeom>
        </p:spPr>
        <p:style>
          <a:lnRef idx="1">
            <a:schemeClr val="accent1"/>
          </a:lnRef>
          <a:fillRef idx="0">
            <a:schemeClr val="accent1"/>
          </a:fillRef>
          <a:effectRef idx="0">
            <a:schemeClr val="accent1"/>
          </a:effectRef>
          <a:fontRef idx="minor">
            <a:schemeClr val="tx1"/>
          </a:fontRef>
        </p:style>
      </p:cxnSp>
      <p:sp>
        <p:nvSpPr>
          <p:cNvPr id="16" name="15 Elipse"/>
          <p:cNvSpPr/>
          <p:nvPr/>
        </p:nvSpPr>
        <p:spPr>
          <a:xfrm>
            <a:off x="5643570" y="3429000"/>
            <a:ext cx="214314" cy="2143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7" name="16 Rectángulo"/>
          <p:cNvSpPr/>
          <p:nvPr/>
        </p:nvSpPr>
        <p:spPr>
          <a:xfrm>
            <a:off x="1000100" y="3786190"/>
            <a:ext cx="2071702" cy="7858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8" name="17 Rectángulo"/>
          <p:cNvSpPr/>
          <p:nvPr/>
        </p:nvSpPr>
        <p:spPr>
          <a:xfrm>
            <a:off x="6000760" y="3857628"/>
            <a:ext cx="1857388" cy="7858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9" name="18 Rectángulo"/>
          <p:cNvSpPr/>
          <p:nvPr/>
        </p:nvSpPr>
        <p:spPr>
          <a:xfrm>
            <a:off x="3923928" y="3933056"/>
            <a:ext cx="1423630" cy="4983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err="1"/>
              <a:t>fechaEmision</a:t>
            </a:r>
            <a:endParaRPr lang="es-EC" dirty="0"/>
          </a:p>
        </p:txBody>
      </p:sp>
      <p:sp>
        <p:nvSpPr>
          <p:cNvPr id="20" name="TextBox 19"/>
          <p:cNvSpPr txBox="1"/>
          <p:nvPr/>
        </p:nvSpPr>
        <p:spPr>
          <a:xfrm>
            <a:off x="3203848" y="3717032"/>
            <a:ext cx="864096" cy="369332"/>
          </a:xfrm>
          <a:prstGeom prst="rect">
            <a:avLst/>
          </a:prstGeom>
          <a:noFill/>
        </p:spPr>
        <p:txBody>
          <a:bodyPr wrap="square" rtlCol="0">
            <a:spAutoFit/>
          </a:bodyPr>
          <a:lstStyle/>
          <a:p>
            <a:r>
              <a:rPr lang="es-EC" dirty="0"/>
              <a:t>posee</a:t>
            </a:r>
          </a:p>
        </p:txBody>
      </p:sp>
      <p:sp>
        <p:nvSpPr>
          <p:cNvPr id="21" name="TextBox 20"/>
          <p:cNvSpPr txBox="1"/>
          <p:nvPr/>
        </p:nvSpPr>
        <p:spPr>
          <a:xfrm>
            <a:off x="4788024" y="3140968"/>
            <a:ext cx="1224136" cy="369332"/>
          </a:xfrm>
          <a:prstGeom prst="rect">
            <a:avLst/>
          </a:prstGeom>
          <a:noFill/>
        </p:spPr>
        <p:txBody>
          <a:bodyPr wrap="square" rtlCol="0">
            <a:spAutoFit/>
          </a:bodyPr>
          <a:lstStyle/>
          <a:p>
            <a:r>
              <a:rPr lang="es-EC" dirty="0"/>
              <a:t>pertenece</a:t>
            </a:r>
          </a:p>
        </p:txBody>
      </p:sp>
      <p:sp>
        <p:nvSpPr>
          <p:cNvPr id="23" name="Flowchart: Delay 22"/>
          <p:cNvSpPr/>
          <p:nvPr/>
        </p:nvSpPr>
        <p:spPr>
          <a:xfrm rot="5400000">
            <a:off x="4391980" y="3537012"/>
            <a:ext cx="360040" cy="432048"/>
          </a:xfrm>
          <a:prstGeom prst="flowChartDelay">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Atributos de las relaciones 1:1</a:t>
            </a:r>
          </a:p>
        </p:txBody>
      </p:sp>
      <p:sp>
        <p:nvSpPr>
          <p:cNvPr id="4" name="3 Rectángulo"/>
          <p:cNvSpPr/>
          <p:nvPr/>
        </p:nvSpPr>
        <p:spPr>
          <a:xfrm>
            <a:off x="1142976" y="3286124"/>
            <a:ext cx="207170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Empleado</a:t>
            </a:r>
          </a:p>
        </p:txBody>
      </p:sp>
      <p:sp>
        <p:nvSpPr>
          <p:cNvPr id="5" name="4 Rectángulo"/>
          <p:cNvSpPr/>
          <p:nvPr/>
        </p:nvSpPr>
        <p:spPr>
          <a:xfrm>
            <a:off x="5500694" y="3286124"/>
            <a:ext cx="1857388"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Vehículo</a:t>
            </a:r>
          </a:p>
        </p:txBody>
      </p:sp>
      <p:cxnSp>
        <p:nvCxnSpPr>
          <p:cNvPr id="7" name="6 Conector recto"/>
          <p:cNvCxnSpPr>
            <a:stCxn id="4" idx="3"/>
            <a:endCxn id="5" idx="1"/>
          </p:cNvCxnSpPr>
          <p:nvPr/>
        </p:nvCxnSpPr>
        <p:spPr>
          <a:xfrm flipV="1">
            <a:off x="3214678" y="3536157"/>
            <a:ext cx="2286016" cy="35719"/>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rot="5400000">
            <a:off x="3250397" y="3607595"/>
            <a:ext cx="35719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9 Conector recto"/>
          <p:cNvCxnSpPr/>
          <p:nvPr/>
        </p:nvCxnSpPr>
        <p:spPr>
          <a:xfrm rot="5400000">
            <a:off x="5108579" y="3606801"/>
            <a:ext cx="35719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1" name="10 Rectángulo"/>
          <p:cNvSpPr/>
          <p:nvPr/>
        </p:nvSpPr>
        <p:spPr>
          <a:xfrm>
            <a:off x="3635896" y="3933056"/>
            <a:ext cx="1718502" cy="4223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err="1"/>
              <a:t>fechaAsignacion</a:t>
            </a:r>
            <a:endParaRPr lang="es-EC" dirty="0"/>
          </a:p>
        </p:txBody>
      </p:sp>
      <p:sp>
        <p:nvSpPr>
          <p:cNvPr id="13" name="Flowchart: Delay 12"/>
          <p:cNvSpPr/>
          <p:nvPr/>
        </p:nvSpPr>
        <p:spPr>
          <a:xfrm rot="5400000">
            <a:off x="4175956" y="3537012"/>
            <a:ext cx="360040" cy="432048"/>
          </a:xfrm>
          <a:prstGeom prst="flowChartDelay">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4" name="TextBox 13"/>
          <p:cNvSpPr txBox="1"/>
          <p:nvPr/>
        </p:nvSpPr>
        <p:spPr>
          <a:xfrm>
            <a:off x="3203848" y="3068960"/>
            <a:ext cx="1296144" cy="369332"/>
          </a:xfrm>
          <a:prstGeom prst="rect">
            <a:avLst/>
          </a:prstGeom>
          <a:noFill/>
        </p:spPr>
        <p:txBody>
          <a:bodyPr wrap="square" rtlCol="0">
            <a:spAutoFit/>
          </a:bodyPr>
          <a:lstStyle/>
          <a:p>
            <a:r>
              <a:rPr lang="es-EC" dirty="0"/>
              <a:t>asigna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Atributos de las relaciones M:M</a:t>
            </a:r>
          </a:p>
        </p:txBody>
      </p:sp>
      <p:sp>
        <p:nvSpPr>
          <p:cNvPr id="4" name="3 Rectángulo"/>
          <p:cNvSpPr/>
          <p:nvPr/>
        </p:nvSpPr>
        <p:spPr>
          <a:xfrm>
            <a:off x="1000100" y="3286124"/>
            <a:ext cx="2071702"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Estudiante</a:t>
            </a:r>
          </a:p>
        </p:txBody>
      </p:sp>
      <p:sp>
        <p:nvSpPr>
          <p:cNvPr id="5" name="4 Rectángulo"/>
          <p:cNvSpPr/>
          <p:nvPr/>
        </p:nvSpPr>
        <p:spPr>
          <a:xfrm>
            <a:off x="6000760" y="3286124"/>
            <a:ext cx="1857388"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Curso</a:t>
            </a:r>
          </a:p>
        </p:txBody>
      </p:sp>
      <p:cxnSp>
        <p:nvCxnSpPr>
          <p:cNvPr id="7" name="6 Conector recto"/>
          <p:cNvCxnSpPr>
            <a:stCxn id="4" idx="3"/>
            <a:endCxn id="5" idx="1"/>
          </p:cNvCxnSpPr>
          <p:nvPr/>
        </p:nvCxnSpPr>
        <p:spPr>
          <a:xfrm>
            <a:off x="3071802" y="3536157"/>
            <a:ext cx="2928958" cy="357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9 Conector recto"/>
          <p:cNvCxnSpPr/>
          <p:nvPr/>
        </p:nvCxnSpPr>
        <p:spPr>
          <a:xfrm flipV="1">
            <a:off x="5786446" y="3429000"/>
            <a:ext cx="214314" cy="1428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a:off x="5786446" y="3571876"/>
            <a:ext cx="214314" cy="250033"/>
          </a:xfrm>
          <a:prstGeom prst="line">
            <a:avLst/>
          </a:prstGeom>
        </p:spPr>
        <p:style>
          <a:lnRef idx="1">
            <a:schemeClr val="accent1"/>
          </a:lnRef>
          <a:fillRef idx="0">
            <a:schemeClr val="accent1"/>
          </a:fillRef>
          <a:effectRef idx="0">
            <a:schemeClr val="accent1"/>
          </a:effectRef>
          <a:fontRef idx="minor">
            <a:schemeClr val="tx1"/>
          </a:fontRef>
        </p:style>
      </p:cxnSp>
      <p:sp>
        <p:nvSpPr>
          <p:cNvPr id="12" name="11 Elipse"/>
          <p:cNvSpPr/>
          <p:nvPr/>
        </p:nvSpPr>
        <p:spPr>
          <a:xfrm>
            <a:off x="5643570" y="3429000"/>
            <a:ext cx="214314" cy="2143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3" name="12 Rectángulo"/>
          <p:cNvSpPr/>
          <p:nvPr/>
        </p:nvSpPr>
        <p:spPr>
          <a:xfrm>
            <a:off x="1000100" y="3786190"/>
            <a:ext cx="2071702" cy="7858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4" name="13 Rectángulo"/>
          <p:cNvSpPr/>
          <p:nvPr/>
        </p:nvSpPr>
        <p:spPr>
          <a:xfrm>
            <a:off x="6000760" y="3857628"/>
            <a:ext cx="1857388" cy="7858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5" name="14 Rectángulo"/>
          <p:cNvSpPr/>
          <p:nvPr/>
        </p:nvSpPr>
        <p:spPr>
          <a:xfrm>
            <a:off x="3851920" y="2708920"/>
            <a:ext cx="1142438" cy="4949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Nota</a:t>
            </a:r>
          </a:p>
        </p:txBody>
      </p:sp>
      <p:sp>
        <p:nvSpPr>
          <p:cNvPr id="16" name="15 Elipse"/>
          <p:cNvSpPr/>
          <p:nvPr/>
        </p:nvSpPr>
        <p:spPr>
          <a:xfrm>
            <a:off x="3286116" y="3429000"/>
            <a:ext cx="214314" cy="2143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cxnSp>
        <p:nvCxnSpPr>
          <p:cNvPr id="17" name="16 Conector recto"/>
          <p:cNvCxnSpPr/>
          <p:nvPr/>
        </p:nvCxnSpPr>
        <p:spPr>
          <a:xfrm>
            <a:off x="3071802" y="3357562"/>
            <a:ext cx="214314" cy="2500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17 Conector recto"/>
          <p:cNvCxnSpPr/>
          <p:nvPr/>
        </p:nvCxnSpPr>
        <p:spPr>
          <a:xfrm flipV="1">
            <a:off x="3071802" y="3571876"/>
            <a:ext cx="214314" cy="142876"/>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059832" y="3645024"/>
            <a:ext cx="1296144" cy="369332"/>
          </a:xfrm>
          <a:prstGeom prst="rect">
            <a:avLst/>
          </a:prstGeom>
          <a:noFill/>
        </p:spPr>
        <p:txBody>
          <a:bodyPr wrap="square" rtlCol="0">
            <a:spAutoFit/>
          </a:bodyPr>
          <a:lstStyle/>
          <a:p>
            <a:r>
              <a:rPr lang="es-EC" dirty="0"/>
              <a:t>se registra</a:t>
            </a:r>
          </a:p>
        </p:txBody>
      </p:sp>
      <p:sp>
        <p:nvSpPr>
          <p:cNvPr id="22" name="Flowchart: Delay 21"/>
          <p:cNvSpPr/>
          <p:nvPr/>
        </p:nvSpPr>
        <p:spPr>
          <a:xfrm rot="16200000">
            <a:off x="4247964" y="3176972"/>
            <a:ext cx="360040" cy="432048"/>
          </a:xfrm>
          <a:prstGeom prst="flowChartDelay">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Atributos de las relaciones ternaria</a:t>
            </a:r>
          </a:p>
        </p:txBody>
      </p:sp>
      <p:sp>
        <p:nvSpPr>
          <p:cNvPr id="4" name="3 Rectángulo"/>
          <p:cNvSpPr/>
          <p:nvPr/>
        </p:nvSpPr>
        <p:spPr>
          <a:xfrm>
            <a:off x="857224" y="2285992"/>
            <a:ext cx="2071702"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Profesor</a:t>
            </a:r>
          </a:p>
        </p:txBody>
      </p:sp>
      <p:sp>
        <p:nvSpPr>
          <p:cNvPr id="5" name="4 Rectángulo"/>
          <p:cNvSpPr/>
          <p:nvPr/>
        </p:nvSpPr>
        <p:spPr>
          <a:xfrm>
            <a:off x="6000760" y="2285992"/>
            <a:ext cx="1857388"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Asignatura</a:t>
            </a:r>
          </a:p>
        </p:txBody>
      </p:sp>
      <p:sp>
        <p:nvSpPr>
          <p:cNvPr id="6" name="5 Rombo"/>
          <p:cNvSpPr/>
          <p:nvPr/>
        </p:nvSpPr>
        <p:spPr>
          <a:xfrm>
            <a:off x="3714744" y="2000240"/>
            <a:ext cx="1357322" cy="1000132"/>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sz="1600" dirty="0"/>
          </a:p>
        </p:txBody>
      </p:sp>
      <p:cxnSp>
        <p:nvCxnSpPr>
          <p:cNvPr id="7" name="6 Conector recto"/>
          <p:cNvCxnSpPr/>
          <p:nvPr/>
        </p:nvCxnSpPr>
        <p:spPr>
          <a:xfrm flipV="1">
            <a:off x="2928926" y="2500306"/>
            <a:ext cx="785818" cy="35719"/>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7 Conector recto"/>
          <p:cNvCxnSpPr>
            <a:stCxn id="6" idx="3"/>
            <a:endCxn id="5" idx="1"/>
          </p:cNvCxnSpPr>
          <p:nvPr/>
        </p:nvCxnSpPr>
        <p:spPr>
          <a:xfrm>
            <a:off x="5072066" y="2500306"/>
            <a:ext cx="928694"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flipV="1">
            <a:off x="5786446" y="2428868"/>
            <a:ext cx="214314" cy="1428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9 Conector recto"/>
          <p:cNvCxnSpPr/>
          <p:nvPr/>
        </p:nvCxnSpPr>
        <p:spPr>
          <a:xfrm>
            <a:off x="5786446" y="2571744"/>
            <a:ext cx="214314" cy="250033"/>
          </a:xfrm>
          <a:prstGeom prst="line">
            <a:avLst/>
          </a:prstGeom>
        </p:spPr>
        <p:style>
          <a:lnRef idx="1">
            <a:schemeClr val="accent1"/>
          </a:lnRef>
          <a:fillRef idx="0">
            <a:schemeClr val="accent1"/>
          </a:fillRef>
          <a:effectRef idx="0">
            <a:schemeClr val="accent1"/>
          </a:effectRef>
          <a:fontRef idx="minor">
            <a:schemeClr val="tx1"/>
          </a:fontRef>
        </p:style>
      </p:cxnSp>
      <p:sp>
        <p:nvSpPr>
          <p:cNvPr id="12" name="11 Rectángulo"/>
          <p:cNvSpPr/>
          <p:nvPr/>
        </p:nvSpPr>
        <p:spPr>
          <a:xfrm>
            <a:off x="857224" y="2786058"/>
            <a:ext cx="2071702"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3" name="12 Rectángulo"/>
          <p:cNvSpPr/>
          <p:nvPr/>
        </p:nvSpPr>
        <p:spPr>
          <a:xfrm>
            <a:off x="6000760" y="2857496"/>
            <a:ext cx="1857388"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4" name="13 Rectángulo"/>
          <p:cNvSpPr/>
          <p:nvPr/>
        </p:nvSpPr>
        <p:spPr>
          <a:xfrm>
            <a:off x="3923928" y="1268760"/>
            <a:ext cx="926414" cy="342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dirty="0"/>
              <a:t>Nota</a:t>
            </a:r>
          </a:p>
        </p:txBody>
      </p:sp>
      <p:sp>
        <p:nvSpPr>
          <p:cNvPr id="15" name="14 Elipse"/>
          <p:cNvSpPr/>
          <p:nvPr/>
        </p:nvSpPr>
        <p:spPr>
          <a:xfrm>
            <a:off x="3143240" y="2428868"/>
            <a:ext cx="214314" cy="2143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8" name="17 Rectángulo"/>
          <p:cNvSpPr/>
          <p:nvPr/>
        </p:nvSpPr>
        <p:spPr>
          <a:xfrm>
            <a:off x="3500430" y="3786190"/>
            <a:ext cx="1857388"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sz="2800" dirty="0"/>
              <a:t>Estudiante</a:t>
            </a:r>
          </a:p>
        </p:txBody>
      </p:sp>
      <p:sp>
        <p:nvSpPr>
          <p:cNvPr id="19" name="18 Rectángulo"/>
          <p:cNvSpPr/>
          <p:nvPr/>
        </p:nvSpPr>
        <p:spPr>
          <a:xfrm>
            <a:off x="3500430" y="4357694"/>
            <a:ext cx="1857388"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cxnSp>
        <p:nvCxnSpPr>
          <p:cNvPr id="22" name="21 Conector recto"/>
          <p:cNvCxnSpPr>
            <a:stCxn id="6" idx="2"/>
          </p:cNvCxnSpPr>
          <p:nvPr/>
        </p:nvCxnSpPr>
        <p:spPr>
          <a:xfrm rot="16200000" flipH="1">
            <a:off x="3875479" y="3518297"/>
            <a:ext cx="1071572" cy="35721"/>
          </a:xfrm>
          <a:prstGeom prst="line">
            <a:avLst/>
          </a:prstGeom>
        </p:spPr>
        <p:style>
          <a:lnRef idx="1">
            <a:schemeClr val="accent1"/>
          </a:lnRef>
          <a:fillRef idx="0">
            <a:schemeClr val="accent1"/>
          </a:fillRef>
          <a:effectRef idx="0">
            <a:schemeClr val="accent1"/>
          </a:effectRef>
          <a:fontRef idx="minor">
            <a:schemeClr val="tx1"/>
          </a:fontRef>
        </p:style>
      </p:cxnSp>
      <p:sp>
        <p:nvSpPr>
          <p:cNvPr id="25" name="24 Elipse"/>
          <p:cNvSpPr/>
          <p:nvPr/>
        </p:nvSpPr>
        <p:spPr>
          <a:xfrm>
            <a:off x="4286248" y="3429000"/>
            <a:ext cx="214314" cy="2143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cxnSp>
        <p:nvCxnSpPr>
          <p:cNvPr id="26" name="25 Conector recto"/>
          <p:cNvCxnSpPr/>
          <p:nvPr/>
        </p:nvCxnSpPr>
        <p:spPr>
          <a:xfrm flipV="1">
            <a:off x="4143372" y="3643314"/>
            <a:ext cx="214314" cy="14287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26 Conector recto"/>
          <p:cNvCxnSpPr/>
          <p:nvPr/>
        </p:nvCxnSpPr>
        <p:spPr>
          <a:xfrm>
            <a:off x="4429124" y="3607595"/>
            <a:ext cx="214314" cy="2500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27 Conector recto"/>
          <p:cNvCxnSpPr/>
          <p:nvPr/>
        </p:nvCxnSpPr>
        <p:spPr>
          <a:xfrm rot="5400000">
            <a:off x="2822563" y="2535231"/>
            <a:ext cx="35719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9" name="28 Elipse"/>
          <p:cNvSpPr/>
          <p:nvPr/>
        </p:nvSpPr>
        <p:spPr>
          <a:xfrm>
            <a:off x="5572132" y="2428868"/>
            <a:ext cx="214314" cy="2143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0" name="29 CuadroTexto"/>
          <p:cNvSpPr txBox="1"/>
          <p:nvPr/>
        </p:nvSpPr>
        <p:spPr>
          <a:xfrm>
            <a:off x="571472" y="4857760"/>
            <a:ext cx="8001056" cy="1938992"/>
          </a:xfrm>
          <a:prstGeom prst="rect">
            <a:avLst/>
          </a:prstGeom>
          <a:noFill/>
        </p:spPr>
        <p:txBody>
          <a:bodyPr wrap="square" rtlCol="0">
            <a:spAutoFit/>
          </a:bodyPr>
          <a:lstStyle/>
          <a:p>
            <a:pPr>
              <a:buFont typeface="Arial" pitchFamily="34" charset="0"/>
              <a:buChar char="•"/>
            </a:pPr>
            <a:r>
              <a:rPr lang="es-EC" sz="2000" dirty="0"/>
              <a:t>Esta relación se podría descomponer en tres relaciones binarias</a:t>
            </a:r>
          </a:p>
          <a:p>
            <a:pPr>
              <a:buFont typeface="Arial" pitchFamily="34" charset="0"/>
              <a:buChar char="•"/>
            </a:pPr>
            <a:r>
              <a:rPr lang="es-EC" sz="2000" dirty="0"/>
              <a:t>La información que se podría extraer de ambos diagramas E/R sería la misma, sólo que quizás se encontraría de forma más compacta en la representación tabular correspondiente al diagrama con la relación ternaria. No obstante, es mucho más fácil de interpretar el diagrama E/R con relaciones binarias. </a:t>
            </a:r>
          </a:p>
        </p:txBody>
      </p:sp>
      <p:sp>
        <p:nvSpPr>
          <p:cNvPr id="23" name="Flowchart: Delay 22"/>
          <p:cNvSpPr/>
          <p:nvPr/>
        </p:nvSpPr>
        <p:spPr>
          <a:xfrm rot="16200000">
            <a:off x="4175956" y="1592796"/>
            <a:ext cx="360040" cy="432048"/>
          </a:xfrm>
          <a:prstGeom prst="flowChartDelay">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3" name="TextBox 32"/>
          <p:cNvSpPr txBox="1"/>
          <p:nvPr/>
        </p:nvSpPr>
        <p:spPr>
          <a:xfrm>
            <a:off x="2987824" y="2708920"/>
            <a:ext cx="1296144" cy="369332"/>
          </a:xfrm>
          <a:prstGeom prst="rect">
            <a:avLst/>
          </a:prstGeom>
          <a:noFill/>
        </p:spPr>
        <p:txBody>
          <a:bodyPr wrap="square" rtlCol="0">
            <a:spAutoFit/>
          </a:bodyPr>
          <a:lstStyle/>
          <a:p>
            <a:r>
              <a:rPr lang="es-EC" dirty="0"/>
              <a:t>dicta</a:t>
            </a:r>
          </a:p>
        </p:txBody>
      </p:sp>
      <p:sp>
        <p:nvSpPr>
          <p:cNvPr id="34" name="TextBox 33"/>
          <p:cNvSpPr txBox="1"/>
          <p:nvPr/>
        </p:nvSpPr>
        <p:spPr>
          <a:xfrm>
            <a:off x="4427984" y="3284984"/>
            <a:ext cx="1296144" cy="369332"/>
          </a:xfrm>
          <a:prstGeom prst="rect">
            <a:avLst/>
          </a:prstGeom>
          <a:noFill/>
        </p:spPr>
        <p:txBody>
          <a:bodyPr wrap="square" rtlCol="0">
            <a:spAutoFit/>
          </a:bodyPr>
          <a:lstStyle/>
          <a:p>
            <a:r>
              <a:rPr lang="es-EC" dirty="0"/>
              <a:t>asiste</a:t>
            </a:r>
          </a:p>
        </p:txBody>
      </p:sp>
      <p:sp>
        <p:nvSpPr>
          <p:cNvPr id="35" name="TextBox 34"/>
          <p:cNvSpPr txBox="1"/>
          <p:nvPr/>
        </p:nvSpPr>
        <p:spPr>
          <a:xfrm>
            <a:off x="5148064" y="2132856"/>
            <a:ext cx="1296144" cy="369332"/>
          </a:xfrm>
          <a:prstGeom prst="rect">
            <a:avLst/>
          </a:prstGeom>
          <a:noFill/>
        </p:spPr>
        <p:txBody>
          <a:bodyPr wrap="square" rtlCol="0">
            <a:spAutoFit/>
          </a:bodyPr>
          <a:lstStyle/>
          <a:p>
            <a:r>
              <a:rPr lang="es-EC" dirty="0"/>
              <a:t>dictada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C" dirty="0"/>
              <a:t>Club de Tenis</a:t>
            </a:r>
          </a:p>
        </p:txBody>
      </p:sp>
      <p:sp>
        <p:nvSpPr>
          <p:cNvPr id="3" name="Content Placeholder 2"/>
          <p:cNvSpPr>
            <a:spLocks noGrp="1"/>
          </p:cNvSpPr>
          <p:nvPr>
            <p:ph idx="1"/>
          </p:nvPr>
        </p:nvSpPr>
        <p:spPr>
          <a:xfrm>
            <a:off x="457200" y="1219200"/>
            <a:ext cx="8229600" cy="5562600"/>
          </a:xfrm>
        </p:spPr>
        <p:txBody>
          <a:bodyPr>
            <a:normAutofit fontScale="40000" lnSpcReduction="20000"/>
          </a:bodyPr>
          <a:lstStyle/>
          <a:p>
            <a:pPr>
              <a:buNone/>
            </a:pPr>
            <a:r>
              <a:rPr lang="es-ES" sz="3800" dirty="0"/>
              <a:t>El Club de Tenis, </a:t>
            </a:r>
            <a:r>
              <a:rPr lang="es-ES" sz="3800" dirty="0" err="1"/>
              <a:t>Vall</a:t>
            </a:r>
            <a:r>
              <a:rPr lang="es-ES" sz="3800" dirty="0"/>
              <a:t> </a:t>
            </a:r>
            <a:r>
              <a:rPr lang="es-ES" sz="3800" dirty="0" err="1"/>
              <a:t>Parc</a:t>
            </a:r>
            <a:r>
              <a:rPr lang="es-ES" sz="3800" dirty="0"/>
              <a:t>, fundado en 1913  desea una base de datos diseñada por usted. La información que le proporciona el administrador del club es la siguiente:</a:t>
            </a:r>
            <a:endParaRPr lang="es-EC" sz="3800" dirty="0"/>
          </a:p>
          <a:p>
            <a:pPr>
              <a:buNone/>
            </a:pPr>
            <a:r>
              <a:rPr lang="es-ES" sz="3800" dirty="0"/>
              <a:t>-El club posee miembros y cada uno de ellos pertenece a una categoría dependiendo de su juego, por ejemplo principiante, profesional, etc. </a:t>
            </a:r>
            <a:endParaRPr lang="es-EC" sz="3800" dirty="0"/>
          </a:p>
          <a:p>
            <a:pPr>
              <a:buNone/>
            </a:pPr>
            <a:r>
              <a:rPr lang="es-ES" sz="3800" dirty="0"/>
              <a:t>-Se necesita guardar la siguiente información de los miembros:</a:t>
            </a:r>
            <a:endParaRPr lang="es-EC" sz="3800" dirty="0"/>
          </a:p>
          <a:p>
            <a:r>
              <a:rPr lang="es-ES" sz="3800" dirty="0"/>
              <a:t>Nombre </a:t>
            </a:r>
            <a:endParaRPr lang="es-EC" sz="3800" dirty="0"/>
          </a:p>
          <a:p>
            <a:r>
              <a:rPr lang="es-ES" sz="3800" dirty="0"/>
              <a:t>Género </a:t>
            </a:r>
            <a:endParaRPr lang="es-EC" sz="3800" dirty="0"/>
          </a:p>
          <a:p>
            <a:r>
              <a:rPr lang="es-ES" sz="3800" dirty="0"/>
              <a:t>Fecha de Nacimiento</a:t>
            </a:r>
            <a:endParaRPr lang="es-EC" sz="3800" dirty="0"/>
          </a:p>
          <a:p>
            <a:r>
              <a:rPr lang="es-ES" sz="3800" dirty="0"/>
              <a:t>Ocupación</a:t>
            </a:r>
            <a:endParaRPr lang="es-EC" sz="3800" dirty="0"/>
          </a:p>
          <a:p>
            <a:r>
              <a:rPr lang="es-ES" sz="3800" dirty="0"/>
              <a:t>Teléfono</a:t>
            </a:r>
            <a:endParaRPr lang="es-EC" sz="3800" dirty="0"/>
          </a:p>
          <a:p>
            <a:r>
              <a:rPr lang="es-ES" sz="3800" dirty="0"/>
              <a:t>Email</a:t>
            </a:r>
            <a:endParaRPr lang="es-EC" sz="3800" dirty="0"/>
          </a:p>
          <a:p>
            <a:r>
              <a:rPr lang="es-ES" sz="3800" dirty="0"/>
              <a:t>Direcciones (para enviar material promocional)</a:t>
            </a:r>
            <a:endParaRPr lang="es-EC" sz="3800" dirty="0"/>
          </a:p>
          <a:p>
            <a:r>
              <a:rPr lang="es-ES" sz="3800" dirty="0"/>
              <a:t>Número de hijos</a:t>
            </a:r>
            <a:endParaRPr lang="es-EC" sz="3800" dirty="0"/>
          </a:p>
          <a:p>
            <a:pPr>
              <a:buNone/>
            </a:pPr>
            <a:r>
              <a:rPr lang="es-ES" sz="3800" dirty="0"/>
              <a:t> </a:t>
            </a:r>
            <a:endParaRPr lang="es-EC" sz="3800" dirty="0"/>
          </a:p>
          <a:p>
            <a:pPr>
              <a:buNone/>
            </a:pPr>
            <a:r>
              <a:rPr lang="es-ES" sz="3800" dirty="0"/>
              <a:t>-Para pertenecer al club el miembro debe pagar una membrecía, la cual tiene un costo anual.</a:t>
            </a:r>
            <a:endParaRPr lang="es-EC" sz="3800" dirty="0"/>
          </a:p>
          <a:p>
            <a:pPr>
              <a:buNone/>
            </a:pPr>
            <a:r>
              <a:rPr lang="es-ES" sz="3800" dirty="0"/>
              <a:t>-El club tiene a disposición entrenadores para que los miembros mejoren o practiquen su juego. </a:t>
            </a:r>
            <a:endParaRPr lang="es-EC" sz="3800" dirty="0"/>
          </a:p>
          <a:p>
            <a:pPr>
              <a:buNone/>
            </a:pPr>
            <a:r>
              <a:rPr lang="es-ES" sz="3800" dirty="0"/>
              <a:t>-Se necesita llevar un registro del entrenamiento y de si éste se llevó a cabo.</a:t>
            </a:r>
            <a:endParaRPr lang="es-EC" sz="3800" dirty="0"/>
          </a:p>
          <a:p>
            <a:pPr>
              <a:buNone/>
            </a:pPr>
            <a:r>
              <a:rPr lang="es-ES" sz="3800" dirty="0"/>
              <a:t>-El miembro puede elegir a un entrenador dependiendo de sus cualidades, como género, edad o cuánto torneos ha ganado y en qué año.</a:t>
            </a:r>
            <a:endParaRPr lang="es-EC" sz="3800" dirty="0"/>
          </a:p>
          <a:p>
            <a:pPr>
              <a:buNone/>
            </a:pPr>
            <a:r>
              <a:rPr lang="es-ES" sz="3800" dirty="0"/>
              <a:t>-Los miembros pueden participar en competiciones con otros miembros del club.</a:t>
            </a:r>
            <a:endParaRPr lang="es-EC" sz="3800" dirty="0"/>
          </a:p>
          <a:p>
            <a:pPr>
              <a:buNone/>
            </a:pPr>
            <a:r>
              <a:rPr lang="es-ES" sz="3800" dirty="0"/>
              <a:t>-Las competiciones tienen un costo extra para el miembro.</a:t>
            </a:r>
            <a:endParaRPr lang="es-EC" sz="3800" dirty="0"/>
          </a:p>
          <a:p>
            <a:pPr>
              <a:buNone/>
            </a:pPr>
            <a:r>
              <a:rPr lang="es-ES" sz="3800" dirty="0"/>
              <a:t>-Se necesita llevar un registro de los pagos realizados y un miembro puede realizar cuantos pagos desee.</a:t>
            </a:r>
            <a:endParaRPr lang="es-EC" sz="3800" dirty="0"/>
          </a:p>
          <a:p>
            <a:endParaRPr lang="es-EC" dirty="0"/>
          </a:p>
        </p:txBody>
      </p:sp>
    </p:spTree>
    <p:extLst>
      <p:ext uri="{BB962C8B-B14F-4D97-AF65-F5344CB8AC3E}">
        <p14:creationId xmlns:p14="http://schemas.microsoft.com/office/powerpoint/2010/main" val="4168763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304800"/>
            <a:ext cx="6705600" cy="1143000"/>
          </a:xfrm>
        </p:spPr>
        <p:txBody>
          <a:bodyPr>
            <a:normAutofit fontScale="90000"/>
          </a:bodyPr>
          <a:lstStyle/>
          <a:p>
            <a:r>
              <a:rPr lang="es-EC" dirty="0"/>
              <a:t>Tienda en línea y fisíca de alquiler de películas</a:t>
            </a:r>
          </a:p>
        </p:txBody>
      </p:sp>
      <p:sp>
        <p:nvSpPr>
          <p:cNvPr id="3" name="Content Placeholder 2"/>
          <p:cNvSpPr>
            <a:spLocks noGrp="1"/>
          </p:cNvSpPr>
          <p:nvPr>
            <p:ph idx="1"/>
          </p:nvPr>
        </p:nvSpPr>
        <p:spPr>
          <a:xfrm>
            <a:off x="457200" y="1219200"/>
            <a:ext cx="8229600" cy="5562600"/>
          </a:xfrm>
        </p:spPr>
        <p:txBody>
          <a:bodyPr>
            <a:normAutofit fontScale="85000" lnSpcReduction="10000"/>
          </a:bodyPr>
          <a:lstStyle/>
          <a:p>
            <a:pPr algn="just"/>
            <a:endParaRPr lang="es-EC" dirty="0"/>
          </a:p>
          <a:p>
            <a:pPr marL="0" indent="0" algn="just">
              <a:buNone/>
            </a:pPr>
            <a:r>
              <a:rPr lang="es-EC" dirty="0"/>
              <a:t>Para usar el servicio el cliente debe contar con una cuenta. El precio de renta de una película varía, dependiendo de su popularidad o reciente estreno.</a:t>
            </a:r>
          </a:p>
          <a:p>
            <a:pPr marL="0" indent="0" algn="just">
              <a:buNone/>
            </a:pPr>
            <a:r>
              <a:rPr lang="es-EC" dirty="0"/>
              <a:t>Las películas tienen id, categorías, título, descripción, año de estreno, lenguaje, rating, actores, stock, precio.</a:t>
            </a:r>
          </a:p>
          <a:p>
            <a:pPr marL="0" indent="0" algn="just">
              <a:buNone/>
            </a:pPr>
            <a:r>
              <a:rPr lang="es-EC" dirty="0"/>
              <a:t>Cada actor tiene un id, nombre, apellido. </a:t>
            </a:r>
          </a:p>
          <a:p>
            <a:pPr marL="0" indent="0" algn="just">
              <a:buNone/>
            </a:pPr>
            <a:r>
              <a:rPr lang="es-EC" dirty="0"/>
              <a:t>Una tienda tiene id, manager, dirección.</a:t>
            </a:r>
          </a:p>
          <a:p>
            <a:pPr marL="0" indent="0" algn="just">
              <a:buNone/>
            </a:pPr>
            <a:r>
              <a:rPr lang="es-EC" dirty="0"/>
              <a:t>Un cliente tiene id, nombre apellido, email, dirección, ciudad, país, código postal, teléfono.</a:t>
            </a:r>
          </a:p>
          <a:p>
            <a:pPr marL="0" indent="0" algn="just">
              <a:buNone/>
            </a:pPr>
            <a:r>
              <a:rPr lang="es-EC" dirty="0"/>
              <a:t>Un empleado tiene id, nombre apellido, email, dirección, email, tienda donde trabaja, user password.</a:t>
            </a:r>
          </a:p>
          <a:p>
            <a:pPr algn="just"/>
            <a:endParaRPr lang="es-EC" dirty="0"/>
          </a:p>
        </p:txBody>
      </p:sp>
    </p:spTree>
    <p:extLst>
      <p:ext uri="{BB962C8B-B14F-4D97-AF65-F5344CB8AC3E}">
        <p14:creationId xmlns:p14="http://schemas.microsoft.com/office/powerpoint/2010/main" val="1401350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9C7FC5-48BE-C149-9A89-C43CFCD507E1}"/>
              </a:ext>
            </a:extLst>
          </p:cNvPr>
          <p:cNvPicPr>
            <a:picLocks noChangeAspect="1"/>
          </p:cNvPicPr>
          <p:nvPr/>
        </p:nvPicPr>
        <p:blipFill>
          <a:blip r:embed="rId2"/>
          <a:stretch>
            <a:fillRect/>
          </a:stretch>
        </p:blipFill>
        <p:spPr>
          <a:xfrm>
            <a:off x="1537804" y="260648"/>
            <a:ext cx="6068392" cy="5871169"/>
          </a:xfrm>
          <a:prstGeom prst="rect">
            <a:avLst/>
          </a:prstGeom>
        </p:spPr>
      </p:pic>
    </p:spTree>
    <p:extLst>
      <p:ext uri="{BB962C8B-B14F-4D97-AF65-F5344CB8AC3E}">
        <p14:creationId xmlns:p14="http://schemas.microsoft.com/office/powerpoint/2010/main" val="3778155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Resumen</a:t>
            </a:r>
            <a:endParaRPr lang="en-US" dirty="0"/>
          </a:p>
        </p:txBody>
      </p:sp>
      <p:sp>
        <p:nvSpPr>
          <p:cNvPr id="3" name="Content Placeholder 2"/>
          <p:cNvSpPr>
            <a:spLocks noGrp="1"/>
          </p:cNvSpPr>
          <p:nvPr>
            <p:ph idx="1"/>
          </p:nvPr>
        </p:nvSpPr>
        <p:spPr/>
        <p:txBody>
          <a:bodyPr>
            <a:normAutofit fontScale="85000" lnSpcReduction="20000"/>
          </a:bodyPr>
          <a:lstStyle/>
          <a:p>
            <a:r>
              <a:rPr lang="es-EC" dirty="0"/>
              <a:t>Las entidades pueden asociarse unas con otras con relaciones</a:t>
            </a:r>
          </a:p>
          <a:p>
            <a:r>
              <a:rPr lang="es-EC" dirty="0"/>
              <a:t>Cardinalidad de la relación</a:t>
            </a:r>
          </a:p>
          <a:p>
            <a:pPr lvl="1"/>
            <a:r>
              <a:rPr lang="es-EC" dirty="0"/>
              <a:t>Relación de 1:1</a:t>
            </a:r>
          </a:p>
          <a:p>
            <a:pPr lvl="1"/>
            <a:r>
              <a:rPr lang="es-EC" dirty="0"/>
              <a:t>Relación de 1:M</a:t>
            </a:r>
          </a:p>
          <a:p>
            <a:pPr lvl="1"/>
            <a:r>
              <a:rPr lang="es-EC" dirty="0"/>
              <a:t>Relación de M:M</a:t>
            </a:r>
          </a:p>
          <a:p>
            <a:r>
              <a:rPr lang="es-EC" dirty="0"/>
              <a:t>Relación de supertipo-subtipo</a:t>
            </a:r>
          </a:p>
          <a:p>
            <a:r>
              <a:rPr lang="es-EC" dirty="0"/>
              <a:t>Relación de dependencia</a:t>
            </a:r>
          </a:p>
          <a:p>
            <a:r>
              <a:rPr lang="es-EC" dirty="0"/>
              <a:t>Relación recursiva</a:t>
            </a:r>
          </a:p>
          <a:p>
            <a:r>
              <a:rPr lang="es-EC" dirty="0"/>
              <a:t>Relación Ternaria</a:t>
            </a:r>
          </a:p>
          <a:p>
            <a:r>
              <a:rPr lang="es-EC" dirty="0"/>
              <a:t>Atributos de las relaciones: 1:1, 1:M, M:M y ternaria</a:t>
            </a:r>
          </a:p>
          <a:p>
            <a:endParaRPr lang="en-US" dirty="0"/>
          </a:p>
        </p:txBody>
      </p:sp>
    </p:spTree>
    <p:extLst>
      <p:ext uri="{BB962C8B-B14F-4D97-AF65-F5344CB8AC3E}">
        <p14:creationId xmlns:p14="http://schemas.microsoft.com/office/powerpoint/2010/main" val="2755521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C" dirty="0"/>
              <a:t>Proyecto: Tarea</a:t>
            </a:r>
          </a:p>
        </p:txBody>
      </p:sp>
      <p:sp>
        <p:nvSpPr>
          <p:cNvPr id="3" name="Content Placeholder 2"/>
          <p:cNvSpPr>
            <a:spLocks noGrp="1"/>
          </p:cNvSpPr>
          <p:nvPr>
            <p:ph idx="1"/>
          </p:nvPr>
        </p:nvSpPr>
        <p:spPr/>
        <p:txBody>
          <a:bodyPr>
            <a:normAutofit/>
          </a:bodyPr>
          <a:lstStyle/>
          <a:p>
            <a:r>
              <a:rPr lang="es-EC" dirty="0"/>
              <a:t>Selección de un modelo de negocios real:</a:t>
            </a:r>
          </a:p>
          <a:p>
            <a:endParaRPr lang="es-ES_tradnl" b="1" dirty="0"/>
          </a:p>
          <a:p>
            <a:pPr lvl="1"/>
            <a:r>
              <a:rPr lang="es-ES_tradnl" b="1" dirty="0"/>
              <a:t>Titulo</a:t>
            </a:r>
            <a:endParaRPr lang="es-EC" dirty="0"/>
          </a:p>
          <a:p>
            <a:pPr lvl="1"/>
            <a:r>
              <a:rPr lang="es-ES_tradnl" b="1" dirty="0"/>
              <a:t>Objetivo</a:t>
            </a:r>
            <a:r>
              <a:rPr lang="es-ES_tradnl" dirty="0"/>
              <a:t> </a:t>
            </a:r>
            <a:endParaRPr lang="es-EC" dirty="0"/>
          </a:p>
          <a:p>
            <a:pPr lvl="1"/>
            <a:r>
              <a:rPr lang="es-ES_tradnl" b="1" dirty="0"/>
              <a:t>Objetivos específicos</a:t>
            </a:r>
            <a:r>
              <a:rPr lang="es-ES_tradnl" dirty="0"/>
              <a:t> </a:t>
            </a:r>
            <a:endParaRPr lang="es-EC" dirty="0"/>
          </a:p>
          <a:p>
            <a:pPr lvl="1"/>
            <a:r>
              <a:rPr lang="es-ES_tradnl" b="1" dirty="0"/>
              <a:t>Descripción General</a:t>
            </a:r>
            <a:endParaRPr lang="es-EC" dirty="0"/>
          </a:p>
          <a:p>
            <a:endParaRPr lang="es-EC" dirty="0"/>
          </a:p>
        </p:txBody>
      </p:sp>
    </p:spTree>
  </p:cSld>
  <p:clrMapOvr>
    <a:masterClrMapping/>
  </p:clrMapOvr>
</p:sld>
</file>

<file path=ppt/theme/theme1.xml><?xml version="1.0" encoding="utf-8"?>
<a:theme xmlns:a="http://schemas.openxmlformats.org/drawingml/2006/main" name="Tema de Office">
  <a:themeElements>
    <a:clrScheme name="Oficin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cin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cin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586</TotalTime>
  <Words>874</Words>
  <Application>Microsoft Macintosh PowerPoint</Application>
  <PresentationFormat>On-screen Show (4:3)</PresentationFormat>
  <Paragraphs>189</Paragraphs>
  <Slides>20</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Tema de Office</vt:lpstr>
      <vt:lpstr>Capítulo 3</vt:lpstr>
      <vt:lpstr>Objetivos</vt:lpstr>
      <vt:lpstr>Relaciones</vt:lpstr>
      <vt:lpstr>Grado de la relación</vt:lpstr>
      <vt:lpstr>Cardinalidad</vt:lpstr>
      <vt:lpstr>PowerPoint Presentation</vt:lpstr>
      <vt:lpstr>Relaciones Binarias</vt:lpstr>
      <vt:lpstr>Relación de supertipo-subtipo</vt:lpstr>
      <vt:lpstr>Relación de dependencia</vt:lpstr>
      <vt:lpstr>Relación Recursiva</vt:lpstr>
      <vt:lpstr>Atributos de las relaciones</vt:lpstr>
      <vt:lpstr>Atributos de las relaciones 1:M</vt:lpstr>
      <vt:lpstr>Atributos de las relaciones 1:1</vt:lpstr>
      <vt:lpstr>Atributos de las relaciones M:M</vt:lpstr>
      <vt:lpstr>Atributos de las relaciones ternaria</vt:lpstr>
      <vt:lpstr>Club de Tenis</vt:lpstr>
      <vt:lpstr>Tienda en línea y fisíca de alquiler de películas</vt:lpstr>
      <vt:lpstr>PowerPoint Presentation</vt:lpstr>
      <vt:lpstr>Resumen</vt:lpstr>
      <vt:lpstr>Proyecto: Tarea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Capítulo 3</dc:title>
  <dc:creator>vanessa</dc:creator>
  <cp:lastModifiedBy>Vanessa Ines Cedeno Mieles</cp:lastModifiedBy>
  <cp:revision>150</cp:revision>
  <dcterms:created xsi:type="dcterms:W3CDTF">2010-05-25T03:44:54Z</dcterms:created>
  <dcterms:modified xsi:type="dcterms:W3CDTF">2019-10-01T20:24:30Z</dcterms:modified>
</cp:coreProperties>
</file>
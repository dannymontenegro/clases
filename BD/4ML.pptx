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62" r:id="rId4"/>
    <p:sldId id="258" r:id="rId5"/>
    <p:sldId id="259" r:id="rId6"/>
    <p:sldId id="260" r:id="rId7"/>
    <p:sldId id="261" r:id="rId8"/>
    <p:sldId id="264" r:id="rId9"/>
    <p:sldId id="263" r:id="rId10"/>
    <p:sldId id="266" r:id="rId11"/>
    <p:sldId id="267" r:id="rId12"/>
    <p:sldId id="274" r:id="rId13"/>
    <p:sldId id="273" r:id="rId14"/>
    <p:sldId id="275" r:id="rId15"/>
    <p:sldId id="277" r:id="rId16"/>
    <p:sldId id="278" r:id="rId17"/>
    <p:sldId id="270" r:id="rId18"/>
    <p:sldId id="271" r:id="rId19"/>
    <p:sldId id="272" r:id="rId20"/>
    <p:sldId id="276" r:id="rId21"/>
    <p:sldId id="287" r:id="rId22"/>
    <p:sldId id="279" r:id="rId23"/>
    <p:sldId id="280" r:id="rId24"/>
    <p:sldId id="281" r:id="rId25"/>
    <p:sldId id="282" r:id="rId26"/>
    <p:sldId id="283" r:id="rId27"/>
    <p:sldId id="284" r:id="rId28"/>
    <p:sldId id="285" r:id="rId29"/>
    <p:sldId id="286" r:id="rId30"/>
    <p:sldId id="288" r:id="rId31"/>
    <p:sldId id="289" r:id="rId32"/>
    <p:sldId id="290" r:id="rId33"/>
  </p:sldIdLst>
  <p:sldSz cx="9144000" cy="6858000" type="screen4x3"/>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366"/>
    <p:restoredTop sz="71978" autoAdjust="0"/>
  </p:normalViewPr>
  <p:slideViewPr>
    <p:cSldViewPr>
      <p:cViewPr varScale="1">
        <p:scale>
          <a:sx n="73" d="100"/>
          <a:sy n="73" d="100"/>
        </p:scale>
        <p:origin x="200" y="5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68A58D-7639-4DCB-B31A-09EEAF467807}" type="datetimeFigureOut">
              <a:rPr lang="es-EC" smtClean="0"/>
              <a:pPr/>
              <a:t>15/10/19</a:t>
            </a:fld>
            <a:endParaRPr lang="es-EC"/>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C"/>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5775CB-877C-4EB6-AC59-DCC30885A21B}" type="slidenum">
              <a:rPr lang="es-EC" smtClean="0"/>
              <a:pPr/>
              <a:t>‹#›</a:t>
            </a:fld>
            <a:endParaRPr lang="es-EC"/>
          </a:p>
        </p:txBody>
      </p:sp>
    </p:spTree>
    <p:extLst>
      <p:ext uri="{BB962C8B-B14F-4D97-AF65-F5344CB8AC3E}">
        <p14:creationId xmlns:p14="http://schemas.microsoft.com/office/powerpoint/2010/main" val="248647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C" dirty="0"/>
              <a:t>-Una tabla que carece de una clave primaria. Esta tabla podría acomodar filas duplicadas, en violación de la condición 3. </a:t>
            </a:r>
          </a:p>
          <a:p>
            <a:pPr marL="0" marR="0" indent="0" algn="l" defTabSz="914400" rtl="0" eaLnBrk="1" fontAlgn="auto" latinLnBrk="0" hangingPunct="1">
              <a:lnSpc>
                <a:spcPct val="100000"/>
              </a:lnSpc>
              <a:spcBef>
                <a:spcPts val="0"/>
              </a:spcBef>
              <a:spcAft>
                <a:spcPts val="0"/>
              </a:spcAft>
              <a:buClrTx/>
              <a:buSzTx/>
              <a:buFontTx/>
              <a:buNone/>
              <a:tabLst/>
              <a:defRPr/>
            </a:pPr>
            <a:r>
              <a:rPr lang="es-EC" dirty="0"/>
              <a:t>-Una vista cuya definición exige que los resultados sean retornados en un orden particular, de modo que el orden de la fila sea un aspecto intrínseco y significativo de la vista. Esto viola la condición 1. Las </a:t>
            </a:r>
            <a:r>
              <a:rPr lang="es-EC" dirty="0" err="1"/>
              <a:t>tuplas</a:t>
            </a:r>
            <a:r>
              <a:rPr lang="es-EC" dirty="0"/>
              <a:t> en relaciones verdaderas no están ordenadas una con respecto de la otra. </a:t>
            </a:r>
          </a:p>
          <a:p>
            <a:pPr marL="0" marR="0" indent="0" algn="l" defTabSz="914400" rtl="0" eaLnBrk="1" fontAlgn="auto" latinLnBrk="0" hangingPunct="1">
              <a:lnSpc>
                <a:spcPct val="100000"/>
              </a:lnSpc>
              <a:spcBef>
                <a:spcPts val="0"/>
              </a:spcBef>
              <a:spcAft>
                <a:spcPts val="0"/>
              </a:spcAft>
              <a:buClrTx/>
              <a:buSzTx/>
              <a:buFontTx/>
              <a:buNone/>
              <a:tabLst/>
              <a:defRPr/>
            </a:pPr>
            <a:r>
              <a:rPr lang="es-EC" dirty="0"/>
              <a:t>-Una tabla con por lo menos un atributo que pueda ser nulo. Un atributo que pueda ser nulo estaría en violación de la condición 4, que requiere a cada campo contener exactamente un valor de su dominio de columna. Sin embargo, debe ser observado que este aspecto de la condición 4 es controvertido. Muchos autores consideran que una tabla está en 1FN si ninguna clave candidata puede contener valores nulos, pero se aceptan éstos para atributos (campos) que no sean clave, según el modelo original de </a:t>
            </a:r>
            <a:r>
              <a:rPr lang="es-EC" dirty="0" err="1"/>
              <a:t>Codd</a:t>
            </a:r>
            <a:r>
              <a:rPr lang="es-EC" dirty="0"/>
              <a:t> sobre el modelo relacional, el cual hizo disposición explícita para los nulos.</a:t>
            </a:r>
          </a:p>
        </p:txBody>
      </p:sp>
      <p:sp>
        <p:nvSpPr>
          <p:cNvPr id="4" name="3 Marcador de número de diapositiva"/>
          <p:cNvSpPr>
            <a:spLocks noGrp="1"/>
          </p:cNvSpPr>
          <p:nvPr>
            <p:ph type="sldNum" sz="quarter" idx="10"/>
          </p:nvPr>
        </p:nvSpPr>
        <p:spPr/>
        <p:txBody>
          <a:bodyPr/>
          <a:lstStyle/>
          <a:p>
            <a:fld id="{1E5775CB-877C-4EB6-AC59-DCC30885A21B}" type="slidenum">
              <a:rPr lang="es-EC" smtClean="0"/>
              <a:pPr/>
              <a:t>7</a:t>
            </a:fld>
            <a:endParaRPr lang="es-EC"/>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C" dirty="0"/>
              <a:t>Por ejemplo, el id de departamento puede ser una clave foránea en la tabla de empleados, obviamente se permite que haya varios empleados en un mismo departamento, pero existirá sólo un departamento.</a:t>
            </a:r>
          </a:p>
        </p:txBody>
      </p:sp>
      <p:sp>
        <p:nvSpPr>
          <p:cNvPr id="4" name="3 Marcador de número de diapositiva"/>
          <p:cNvSpPr>
            <a:spLocks noGrp="1"/>
          </p:cNvSpPr>
          <p:nvPr>
            <p:ph type="sldNum" sz="quarter" idx="10"/>
          </p:nvPr>
        </p:nvSpPr>
        <p:spPr/>
        <p:txBody>
          <a:bodyPr/>
          <a:lstStyle/>
          <a:p>
            <a:fld id="{1E5775CB-877C-4EB6-AC59-DCC30885A21B}" type="slidenum">
              <a:rPr lang="es-EC" smtClean="0"/>
              <a:pPr/>
              <a:t>10</a:t>
            </a:fld>
            <a:endParaRPr lang="es-EC"/>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s-EC"/>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s-EC"/>
          </a:p>
        </p:txBody>
      </p:sp>
      <p:sp>
        <p:nvSpPr>
          <p:cNvPr id="4" name="Date Placeholder 3"/>
          <p:cNvSpPr>
            <a:spLocks noGrp="1"/>
          </p:cNvSpPr>
          <p:nvPr>
            <p:ph type="dt" sz="half" idx="10"/>
          </p:nvPr>
        </p:nvSpPr>
        <p:spPr/>
        <p:txBody>
          <a:bodyPr/>
          <a:lstStyle/>
          <a:p>
            <a:fld id="{5E749D6E-247D-404F-8928-281DD20655EF}" type="datetimeFigureOut">
              <a:rPr lang="es-EC" smtClean="0"/>
              <a:pPr/>
              <a:t>15/10/19</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E7F6D5BB-FDEB-4DE4-BE0B-4D9F57A02254}" type="slidenum">
              <a:rPr lang="es-EC" smtClean="0"/>
              <a:pPr/>
              <a:t>‹#›</a:t>
            </a:fld>
            <a:endParaRPr lang="es-EC"/>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C"/>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sp>
        <p:nvSpPr>
          <p:cNvPr id="4" name="Date Placeholder 3"/>
          <p:cNvSpPr>
            <a:spLocks noGrp="1"/>
          </p:cNvSpPr>
          <p:nvPr>
            <p:ph type="dt" sz="half" idx="10"/>
          </p:nvPr>
        </p:nvSpPr>
        <p:spPr/>
        <p:txBody>
          <a:bodyPr/>
          <a:lstStyle/>
          <a:p>
            <a:fld id="{5E749D6E-247D-404F-8928-281DD20655EF}" type="datetimeFigureOut">
              <a:rPr lang="es-EC" smtClean="0"/>
              <a:pPr/>
              <a:t>15/10/19</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E7F6D5BB-FDEB-4DE4-BE0B-4D9F57A02254}" type="slidenum">
              <a:rPr lang="es-EC" smtClean="0"/>
              <a:pPr/>
              <a:t>‹#›</a:t>
            </a:fld>
            <a:endParaRPr lang="es-EC"/>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s-EC"/>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749D6E-247D-404F-8928-281DD20655EF}" type="datetimeFigureOut">
              <a:rPr lang="es-EC" smtClean="0"/>
              <a:pPr/>
              <a:t>15/10/19</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E7F6D5BB-FDEB-4DE4-BE0B-4D9F57A02254}" type="slidenum">
              <a:rPr lang="es-EC" smtClean="0"/>
              <a:pPr/>
              <a:t>‹#›</a:t>
            </a:fld>
            <a:endParaRPr lang="es-EC"/>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C"/>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sp>
        <p:nvSpPr>
          <p:cNvPr id="5" name="Date Placeholder 4"/>
          <p:cNvSpPr>
            <a:spLocks noGrp="1"/>
          </p:cNvSpPr>
          <p:nvPr>
            <p:ph type="dt" sz="half" idx="10"/>
          </p:nvPr>
        </p:nvSpPr>
        <p:spPr/>
        <p:txBody>
          <a:bodyPr/>
          <a:lstStyle/>
          <a:p>
            <a:fld id="{5E749D6E-247D-404F-8928-281DD20655EF}" type="datetimeFigureOut">
              <a:rPr lang="es-EC" smtClean="0"/>
              <a:pPr/>
              <a:t>15/10/19</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E7F6D5BB-FDEB-4DE4-BE0B-4D9F57A02254}" type="slidenum">
              <a:rPr lang="es-EC" smtClean="0"/>
              <a:pPr/>
              <a:t>‹#›</a:t>
            </a:fld>
            <a:endParaRPr lang="es-EC"/>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s-EC"/>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sp>
        <p:nvSpPr>
          <p:cNvPr id="7" name="Date Placeholder 6"/>
          <p:cNvSpPr>
            <a:spLocks noGrp="1"/>
          </p:cNvSpPr>
          <p:nvPr>
            <p:ph type="dt" sz="half" idx="10"/>
          </p:nvPr>
        </p:nvSpPr>
        <p:spPr/>
        <p:txBody>
          <a:bodyPr/>
          <a:lstStyle/>
          <a:p>
            <a:fld id="{5E749D6E-247D-404F-8928-281DD20655EF}" type="datetimeFigureOut">
              <a:rPr lang="es-EC" smtClean="0"/>
              <a:pPr/>
              <a:t>15/10/19</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E7F6D5BB-FDEB-4DE4-BE0B-4D9F57A02254}" type="slidenum">
              <a:rPr lang="es-EC" smtClean="0"/>
              <a:pPr/>
              <a:t>‹#›</a:t>
            </a:fld>
            <a:endParaRPr lang="es-EC"/>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C"/>
          </a:p>
        </p:txBody>
      </p:sp>
      <p:sp>
        <p:nvSpPr>
          <p:cNvPr id="3" name="Date Placeholder 2"/>
          <p:cNvSpPr>
            <a:spLocks noGrp="1"/>
          </p:cNvSpPr>
          <p:nvPr>
            <p:ph type="dt" sz="half" idx="10"/>
          </p:nvPr>
        </p:nvSpPr>
        <p:spPr/>
        <p:txBody>
          <a:bodyPr/>
          <a:lstStyle/>
          <a:p>
            <a:fld id="{5E749D6E-247D-404F-8928-281DD20655EF}" type="datetimeFigureOut">
              <a:rPr lang="es-EC" smtClean="0"/>
              <a:pPr/>
              <a:t>15/10/19</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E7F6D5BB-FDEB-4DE4-BE0B-4D9F57A02254}" type="slidenum">
              <a:rPr lang="es-EC" smtClean="0"/>
              <a:pPr/>
              <a:t>‹#›</a:t>
            </a:fld>
            <a:endParaRPr lang="es-EC"/>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749D6E-247D-404F-8928-281DD20655EF}" type="datetimeFigureOut">
              <a:rPr lang="es-EC" smtClean="0"/>
              <a:pPr/>
              <a:t>15/10/19</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E7F6D5BB-FDEB-4DE4-BE0B-4D9F57A02254}" type="slidenum">
              <a:rPr lang="es-EC" smtClean="0"/>
              <a:pPr/>
              <a:t>‹#›</a:t>
            </a:fld>
            <a:endParaRPr lang="es-EC"/>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s-EC"/>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749D6E-247D-404F-8928-281DD20655EF}" type="datetimeFigureOut">
              <a:rPr lang="es-EC" smtClean="0"/>
              <a:pPr/>
              <a:t>15/10/19</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E7F6D5BB-FDEB-4DE4-BE0B-4D9F57A02254}" type="slidenum">
              <a:rPr lang="es-EC" smtClean="0"/>
              <a:pPr/>
              <a:t>‹#›</a:t>
            </a:fld>
            <a:endParaRPr lang="es-EC"/>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s-EC"/>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749D6E-247D-404F-8928-281DD20655EF}" type="datetimeFigureOut">
              <a:rPr lang="es-EC" smtClean="0"/>
              <a:pPr/>
              <a:t>15/10/19</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E7F6D5BB-FDEB-4DE4-BE0B-4D9F57A02254}" type="slidenum">
              <a:rPr lang="es-EC" smtClean="0"/>
              <a:pPr/>
              <a:t>‹#›</a:t>
            </a:fld>
            <a:endParaRPr lang="es-EC"/>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C"/>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sp>
        <p:nvSpPr>
          <p:cNvPr id="4" name="Date Placeholder 3"/>
          <p:cNvSpPr>
            <a:spLocks noGrp="1"/>
          </p:cNvSpPr>
          <p:nvPr>
            <p:ph type="dt" sz="half" idx="10"/>
          </p:nvPr>
        </p:nvSpPr>
        <p:spPr/>
        <p:txBody>
          <a:bodyPr/>
          <a:lstStyle/>
          <a:p>
            <a:fld id="{5E749D6E-247D-404F-8928-281DD20655EF}" type="datetimeFigureOut">
              <a:rPr lang="es-EC" smtClean="0"/>
              <a:pPr/>
              <a:t>15/10/19</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E7F6D5BB-FDEB-4DE4-BE0B-4D9F57A02254}" type="slidenum">
              <a:rPr lang="es-EC" smtClean="0"/>
              <a:pPr/>
              <a:t>‹#›</a:t>
            </a:fld>
            <a:endParaRPr lang="es-EC"/>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s-EC"/>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sp>
        <p:nvSpPr>
          <p:cNvPr id="4" name="Date Placeholder 3"/>
          <p:cNvSpPr>
            <a:spLocks noGrp="1"/>
          </p:cNvSpPr>
          <p:nvPr>
            <p:ph type="dt" sz="half" idx="10"/>
          </p:nvPr>
        </p:nvSpPr>
        <p:spPr/>
        <p:txBody>
          <a:bodyPr/>
          <a:lstStyle/>
          <a:p>
            <a:fld id="{5E749D6E-247D-404F-8928-281DD20655EF}" type="datetimeFigureOut">
              <a:rPr lang="es-EC" smtClean="0"/>
              <a:pPr/>
              <a:t>15/10/19</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E7F6D5BB-FDEB-4DE4-BE0B-4D9F57A02254}" type="slidenum">
              <a:rPr lang="es-EC" smtClean="0"/>
              <a:pPr/>
              <a:t>‹#›</a:t>
            </a:fld>
            <a:endParaRPr lang="es-EC"/>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s-EC"/>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749D6E-247D-404F-8928-281DD20655EF}" type="datetimeFigureOut">
              <a:rPr lang="es-EC" smtClean="0"/>
              <a:pPr/>
              <a:t>15/10/19</a:t>
            </a:fld>
            <a:endParaRPr lang="es-EC"/>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F6D5BB-FDEB-4DE4-BE0B-4D9F57A02254}" type="slidenum">
              <a:rPr lang="es-EC" smtClean="0"/>
              <a:pPr/>
              <a:t>‹#›</a:t>
            </a:fld>
            <a:endParaRPr lang="es-EC"/>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s-EC" dirty="0"/>
              <a:t>Capítulo 4</a:t>
            </a:r>
          </a:p>
        </p:txBody>
      </p:sp>
      <p:sp>
        <p:nvSpPr>
          <p:cNvPr id="3" name="Subtitle 2"/>
          <p:cNvSpPr>
            <a:spLocks noGrp="1"/>
          </p:cNvSpPr>
          <p:nvPr>
            <p:ph type="subTitle" idx="1"/>
          </p:nvPr>
        </p:nvSpPr>
        <p:spPr/>
        <p:txBody>
          <a:bodyPr/>
          <a:lstStyle/>
          <a:p>
            <a:r>
              <a:rPr lang="es-EC" dirty="0"/>
              <a:t>Modelo Lógico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C" dirty="0"/>
              <a:t>Objetivos</a:t>
            </a:r>
          </a:p>
        </p:txBody>
      </p:sp>
      <p:sp>
        <p:nvSpPr>
          <p:cNvPr id="3" name="Content Placeholder 2"/>
          <p:cNvSpPr>
            <a:spLocks noGrp="1"/>
          </p:cNvSpPr>
          <p:nvPr>
            <p:ph idx="1"/>
          </p:nvPr>
        </p:nvSpPr>
        <p:spPr/>
        <p:txBody>
          <a:bodyPr>
            <a:normAutofit fontScale="70000" lnSpcReduction="20000"/>
          </a:bodyPr>
          <a:lstStyle/>
          <a:p>
            <a:r>
              <a:rPr lang="es-EC" dirty="0"/>
              <a:t>Tablas, Columnas, Filas y Campos(Primera Forma Normal)</a:t>
            </a:r>
          </a:p>
          <a:p>
            <a:r>
              <a:rPr lang="es-EC" dirty="0"/>
              <a:t>Definición de Primary Key y Foreign Key</a:t>
            </a:r>
          </a:p>
          <a:p>
            <a:r>
              <a:rPr lang="es-EC" dirty="0"/>
              <a:t>Conversión de Entidades del Modelo Conceptual</a:t>
            </a:r>
          </a:p>
          <a:p>
            <a:r>
              <a:rPr lang="es-EC" dirty="0"/>
              <a:t>Conversión de Relaciones:</a:t>
            </a:r>
          </a:p>
          <a:p>
            <a:pPr lvl="1"/>
            <a:r>
              <a:rPr lang="es-EC" dirty="0"/>
              <a:t>1:1</a:t>
            </a:r>
          </a:p>
          <a:p>
            <a:pPr lvl="1"/>
            <a:r>
              <a:rPr lang="es-EC" dirty="0"/>
              <a:t>1:M</a:t>
            </a:r>
          </a:p>
          <a:p>
            <a:pPr lvl="1"/>
            <a:r>
              <a:rPr lang="es-EC" dirty="0"/>
              <a:t>M:M</a:t>
            </a:r>
          </a:p>
          <a:p>
            <a:pPr lvl="1"/>
            <a:r>
              <a:rPr lang="es-EC" dirty="0"/>
              <a:t>Ternaria</a:t>
            </a:r>
          </a:p>
          <a:p>
            <a:r>
              <a:rPr lang="es-EC" dirty="0"/>
              <a:t>Conversión de Relaciones Especiales</a:t>
            </a:r>
          </a:p>
          <a:p>
            <a:pPr lvl="1"/>
            <a:r>
              <a:rPr lang="es-EC" dirty="0" err="1"/>
              <a:t>Supertipo</a:t>
            </a:r>
            <a:r>
              <a:rPr lang="es-EC" dirty="0"/>
              <a:t>-Subtipo</a:t>
            </a:r>
          </a:p>
          <a:p>
            <a:pPr lvl="1"/>
            <a:r>
              <a:rPr lang="es-EC" dirty="0"/>
              <a:t>Dependencia</a:t>
            </a:r>
          </a:p>
          <a:p>
            <a:pPr lvl="1"/>
            <a:r>
              <a:rPr lang="es-EC" dirty="0"/>
              <a:t>Recursiva</a:t>
            </a:r>
          </a:p>
          <a:p>
            <a:r>
              <a:rPr lang="es-EC" dirty="0"/>
              <a:t>Resolución de la Ubicación de los Atributos de la Relación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Modelo Lógico</a:t>
            </a:r>
          </a:p>
        </p:txBody>
      </p:sp>
      <p:sp>
        <p:nvSpPr>
          <p:cNvPr id="3" name="2 Marcador de contenido"/>
          <p:cNvSpPr>
            <a:spLocks noGrp="1"/>
          </p:cNvSpPr>
          <p:nvPr>
            <p:ph idx="1"/>
          </p:nvPr>
        </p:nvSpPr>
        <p:spPr/>
        <p:txBody>
          <a:bodyPr/>
          <a:lstStyle/>
          <a:p>
            <a:r>
              <a:rPr lang="es-EC" dirty="0"/>
              <a:t>El modelo lógico es el refinamiento del Modelo Conceptual</a:t>
            </a:r>
          </a:p>
          <a:p>
            <a:r>
              <a:rPr lang="es-EC" dirty="0"/>
              <a:t>Aquí se reducen y/o aumentan entidades y solo quedan aquellas que van a ser diseñadas como tablas de la Base de Datos</a:t>
            </a:r>
          </a:p>
          <a:p>
            <a:endParaRPr lang="es-EC"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7166"/>
            <a:ext cx="8229600" cy="1143000"/>
          </a:xfrm>
        </p:spPr>
        <p:txBody>
          <a:bodyPr>
            <a:normAutofit/>
          </a:bodyPr>
          <a:lstStyle/>
          <a:p>
            <a:r>
              <a:rPr lang="es-EC" dirty="0"/>
              <a:t>Formas Normales (FN)</a:t>
            </a:r>
          </a:p>
        </p:txBody>
      </p:sp>
      <p:sp>
        <p:nvSpPr>
          <p:cNvPr id="3" name="Content Placeholder 2"/>
          <p:cNvSpPr>
            <a:spLocks noGrp="1"/>
          </p:cNvSpPr>
          <p:nvPr>
            <p:ph idx="1"/>
          </p:nvPr>
        </p:nvSpPr>
        <p:spPr/>
        <p:txBody>
          <a:bodyPr>
            <a:normAutofit/>
          </a:bodyPr>
          <a:lstStyle/>
          <a:p>
            <a:r>
              <a:rPr lang="es-EC" dirty="0"/>
              <a:t>En la teoría de bases de datos relacionales, las formas normales (FN) proporcionan los criterios para determinar el grado de vulnerabilidad de una tabla a inconsistencias y anomalías lógicas.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C" dirty="0"/>
              <a:t>Tablas, Columnas, Filas y Campos(Primera Forma Normal)</a:t>
            </a:r>
          </a:p>
        </p:txBody>
      </p:sp>
      <p:sp>
        <p:nvSpPr>
          <p:cNvPr id="3" name="Content Placeholder 2"/>
          <p:cNvSpPr>
            <a:spLocks noGrp="1"/>
          </p:cNvSpPr>
          <p:nvPr>
            <p:ph idx="1"/>
          </p:nvPr>
        </p:nvSpPr>
        <p:spPr/>
        <p:txBody>
          <a:bodyPr/>
          <a:lstStyle/>
          <a:p>
            <a:r>
              <a:rPr lang="es-EC" dirty="0"/>
              <a:t>Una tabla de base de datos relacional que se adhiere a la 1FN es una que satisface cierto conjunto mínimo de criterios.</a:t>
            </a:r>
          </a:p>
          <a:p>
            <a:r>
              <a:rPr lang="es-EC" dirty="0"/>
              <a:t>Estos criterios se refieren básicamente a asegurarse que la tabla es una representación fiel de una relación y está libre de "grupos repetitivos".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1143000"/>
          </a:xfrm>
        </p:spPr>
        <p:txBody>
          <a:bodyPr>
            <a:normAutofit fontScale="90000"/>
          </a:bodyPr>
          <a:lstStyle/>
          <a:p>
            <a:r>
              <a:rPr lang="es-EC" dirty="0"/>
              <a:t>Tablas, Columnas, Filas y Campos(Primera Forma Normal)</a:t>
            </a:r>
          </a:p>
        </p:txBody>
      </p:sp>
      <p:sp>
        <p:nvSpPr>
          <p:cNvPr id="3" name="Content Placeholder 2"/>
          <p:cNvSpPr>
            <a:spLocks noGrp="1"/>
          </p:cNvSpPr>
          <p:nvPr>
            <p:ph idx="1"/>
          </p:nvPr>
        </p:nvSpPr>
        <p:spPr>
          <a:xfrm>
            <a:off x="457200" y="3760440"/>
            <a:ext cx="8229600" cy="2980928"/>
          </a:xfrm>
        </p:spPr>
        <p:txBody>
          <a:bodyPr>
            <a:normAutofit fontScale="70000" lnSpcReduction="20000"/>
          </a:bodyPr>
          <a:lstStyle/>
          <a:p>
            <a:r>
              <a:rPr lang="es-EC" dirty="0"/>
              <a:t>Una tabla está en 1FN si satisface las siguientes cinco condiciones:</a:t>
            </a:r>
          </a:p>
          <a:p>
            <a:pPr marL="514350" indent="-514350">
              <a:buFont typeface="+mj-lt"/>
              <a:buAutoNum type="arabicPeriod"/>
            </a:pPr>
            <a:r>
              <a:rPr lang="es-EC" dirty="0"/>
              <a:t>No hay orden de arriba-a-abajo en las filas.</a:t>
            </a:r>
          </a:p>
          <a:p>
            <a:pPr marL="514350" indent="-514350">
              <a:buFont typeface="+mj-lt"/>
              <a:buAutoNum type="arabicPeriod"/>
            </a:pPr>
            <a:r>
              <a:rPr lang="es-EC" dirty="0"/>
              <a:t>No hay orden de izquierda-a-derecha en las columnas.</a:t>
            </a:r>
          </a:p>
          <a:p>
            <a:pPr marL="514350" indent="-514350">
              <a:buFont typeface="+mj-lt"/>
              <a:buAutoNum type="arabicPeriod"/>
            </a:pPr>
            <a:r>
              <a:rPr lang="es-EC" dirty="0"/>
              <a:t>No hay filas duplicadas.</a:t>
            </a:r>
          </a:p>
          <a:p>
            <a:pPr marL="514350" indent="-514350">
              <a:buFont typeface="+mj-lt"/>
              <a:buAutoNum type="arabicPeriod"/>
            </a:pPr>
            <a:r>
              <a:rPr lang="es-EC" dirty="0"/>
              <a:t>Cada intersección de fila-y-columna contiene exactamente un valor del dominio aplicable y nada más. </a:t>
            </a:r>
          </a:p>
          <a:p>
            <a:pPr marL="514350" indent="-514350">
              <a:buFont typeface="+mj-lt"/>
              <a:buAutoNum type="arabicPeriod"/>
            </a:pPr>
            <a:r>
              <a:rPr lang="es-EC" dirty="0"/>
              <a:t>Todas las columnas son regulares es decir, las filas no tienen componentes como </a:t>
            </a:r>
            <a:r>
              <a:rPr lang="es-EC" dirty="0" err="1"/>
              <a:t>IDs</a:t>
            </a:r>
            <a:r>
              <a:rPr lang="es-EC" dirty="0"/>
              <a:t> de fila, </a:t>
            </a:r>
            <a:r>
              <a:rPr lang="es-EC" dirty="0" err="1"/>
              <a:t>IDs</a:t>
            </a:r>
            <a:r>
              <a:rPr lang="es-EC" dirty="0"/>
              <a:t> de objeto, o </a:t>
            </a:r>
            <a:r>
              <a:rPr lang="es-EC" dirty="0" err="1"/>
              <a:t>timestamps</a:t>
            </a:r>
            <a:r>
              <a:rPr lang="es-EC" dirty="0"/>
              <a:t> ocultos. </a:t>
            </a:r>
          </a:p>
        </p:txBody>
      </p:sp>
      <p:graphicFrame>
        <p:nvGraphicFramePr>
          <p:cNvPr id="4" name="3 Tabla"/>
          <p:cNvGraphicFramePr>
            <a:graphicFrameLocks noGrp="1"/>
          </p:cNvGraphicFramePr>
          <p:nvPr/>
        </p:nvGraphicFramePr>
        <p:xfrm>
          <a:off x="3071802" y="1715626"/>
          <a:ext cx="5524496" cy="1697676"/>
        </p:xfrm>
        <a:graphic>
          <a:graphicData uri="http://schemas.openxmlformats.org/drawingml/2006/table">
            <a:tbl>
              <a:tblPr firstRow="1" bandRow="1">
                <a:tableStyleId>{5C22544A-7EE6-4342-B048-85BDC9FD1C3A}</a:tableStyleId>
              </a:tblPr>
              <a:tblGrid>
                <a:gridCol w="1381124">
                  <a:extLst>
                    <a:ext uri="{9D8B030D-6E8A-4147-A177-3AD203B41FA5}">
                      <a16:colId xmlns:a16="http://schemas.microsoft.com/office/drawing/2014/main" val="20000"/>
                    </a:ext>
                  </a:extLst>
                </a:gridCol>
                <a:gridCol w="1476396">
                  <a:extLst>
                    <a:ext uri="{9D8B030D-6E8A-4147-A177-3AD203B41FA5}">
                      <a16:colId xmlns:a16="http://schemas.microsoft.com/office/drawing/2014/main" val="20001"/>
                    </a:ext>
                  </a:extLst>
                </a:gridCol>
                <a:gridCol w="1285852">
                  <a:extLst>
                    <a:ext uri="{9D8B030D-6E8A-4147-A177-3AD203B41FA5}">
                      <a16:colId xmlns:a16="http://schemas.microsoft.com/office/drawing/2014/main" val="20002"/>
                    </a:ext>
                  </a:extLst>
                </a:gridCol>
                <a:gridCol w="1381124">
                  <a:extLst>
                    <a:ext uri="{9D8B030D-6E8A-4147-A177-3AD203B41FA5}">
                      <a16:colId xmlns:a16="http://schemas.microsoft.com/office/drawing/2014/main" val="20003"/>
                    </a:ext>
                  </a:extLst>
                </a:gridCol>
              </a:tblGrid>
              <a:tr h="424419">
                <a:tc>
                  <a:txBody>
                    <a:bodyPr/>
                    <a:lstStyle/>
                    <a:p>
                      <a:r>
                        <a:rPr lang="es-EC" dirty="0"/>
                        <a:t>Cedula</a:t>
                      </a:r>
                    </a:p>
                  </a:txBody>
                  <a:tcPr/>
                </a:tc>
                <a:tc>
                  <a:txBody>
                    <a:bodyPr/>
                    <a:lstStyle/>
                    <a:p>
                      <a:r>
                        <a:rPr lang="es-EC" dirty="0"/>
                        <a:t>Nombre</a:t>
                      </a:r>
                    </a:p>
                  </a:txBody>
                  <a:tcPr/>
                </a:tc>
                <a:tc>
                  <a:txBody>
                    <a:bodyPr/>
                    <a:lstStyle/>
                    <a:p>
                      <a:r>
                        <a:rPr lang="es-EC" dirty="0"/>
                        <a:t>Dirección</a:t>
                      </a:r>
                    </a:p>
                  </a:txBody>
                  <a:tcPr/>
                </a:tc>
                <a:tc>
                  <a:txBody>
                    <a:bodyPr/>
                    <a:lstStyle/>
                    <a:p>
                      <a:r>
                        <a:rPr lang="es-EC" dirty="0"/>
                        <a:t>Teléfono</a:t>
                      </a:r>
                    </a:p>
                  </a:txBody>
                  <a:tcPr/>
                </a:tc>
                <a:extLst>
                  <a:ext uri="{0D108BD9-81ED-4DB2-BD59-A6C34878D82A}">
                    <a16:rowId xmlns:a16="http://schemas.microsoft.com/office/drawing/2014/main" val="10000"/>
                  </a:ext>
                </a:extLst>
              </a:tr>
              <a:tr h="424419">
                <a:tc>
                  <a:txBody>
                    <a:bodyPr/>
                    <a:lstStyle/>
                    <a:p>
                      <a:r>
                        <a:rPr lang="es-EC" dirty="0"/>
                        <a:t>0876456324</a:t>
                      </a:r>
                    </a:p>
                  </a:txBody>
                  <a:tcPr/>
                </a:tc>
                <a:tc>
                  <a:txBody>
                    <a:bodyPr/>
                    <a:lstStyle/>
                    <a:p>
                      <a:r>
                        <a:rPr lang="es-EC" dirty="0"/>
                        <a:t>Jorge Santos</a:t>
                      </a:r>
                    </a:p>
                  </a:txBody>
                  <a:tcPr/>
                </a:tc>
                <a:tc>
                  <a:txBody>
                    <a:bodyPr/>
                    <a:lstStyle/>
                    <a:p>
                      <a:r>
                        <a:rPr lang="es-EC" dirty="0"/>
                        <a:t>1234 Av.</a:t>
                      </a:r>
                      <a:r>
                        <a:rPr lang="es-EC" baseline="0" dirty="0"/>
                        <a:t> 10</a:t>
                      </a:r>
                      <a:endParaRPr lang="es-EC" dirty="0"/>
                    </a:p>
                  </a:txBody>
                  <a:tcPr/>
                </a:tc>
                <a:tc>
                  <a:txBody>
                    <a:bodyPr/>
                    <a:lstStyle/>
                    <a:p>
                      <a:r>
                        <a:rPr lang="es-EC" dirty="0"/>
                        <a:t>2345678</a:t>
                      </a:r>
                    </a:p>
                  </a:txBody>
                  <a:tcPr/>
                </a:tc>
                <a:extLst>
                  <a:ext uri="{0D108BD9-81ED-4DB2-BD59-A6C34878D82A}">
                    <a16:rowId xmlns:a16="http://schemas.microsoft.com/office/drawing/2014/main" val="10001"/>
                  </a:ext>
                </a:extLst>
              </a:tr>
              <a:tr h="424419">
                <a:tc>
                  <a:txBody>
                    <a:bodyPr/>
                    <a:lstStyle/>
                    <a:p>
                      <a:r>
                        <a:rPr lang="es-EC" dirty="0"/>
                        <a:t>0964532748</a:t>
                      </a:r>
                    </a:p>
                  </a:txBody>
                  <a:tcPr/>
                </a:tc>
                <a:tc>
                  <a:txBody>
                    <a:bodyPr/>
                    <a:lstStyle/>
                    <a:p>
                      <a:r>
                        <a:rPr lang="es-EC" dirty="0"/>
                        <a:t>Luis</a:t>
                      </a:r>
                      <a:r>
                        <a:rPr lang="es-EC" baseline="0" dirty="0"/>
                        <a:t> Tinoco</a:t>
                      </a:r>
                      <a:endParaRPr lang="es-EC"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C" dirty="0"/>
                        <a:t>6543 Av.</a:t>
                      </a:r>
                      <a:r>
                        <a:rPr lang="es-EC" baseline="0" dirty="0"/>
                        <a:t> 4</a:t>
                      </a:r>
                      <a:endParaRPr lang="es-EC" dirty="0"/>
                    </a:p>
                  </a:txBody>
                  <a:tcPr/>
                </a:tc>
                <a:tc>
                  <a:txBody>
                    <a:bodyPr/>
                    <a:lstStyle/>
                    <a:p>
                      <a:r>
                        <a:rPr lang="es-EC" dirty="0"/>
                        <a:t>2654345</a:t>
                      </a:r>
                    </a:p>
                  </a:txBody>
                  <a:tcPr/>
                </a:tc>
                <a:extLst>
                  <a:ext uri="{0D108BD9-81ED-4DB2-BD59-A6C34878D82A}">
                    <a16:rowId xmlns:a16="http://schemas.microsoft.com/office/drawing/2014/main" val="10002"/>
                  </a:ext>
                </a:extLst>
              </a:tr>
              <a:tr h="424419">
                <a:tc>
                  <a:txBody>
                    <a:bodyPr/>
                    <a:lstStyle/>
                    <a:p>
                      <a:r>
                        <a:rPr lang="es-EC" dirty="0"/>
                        <a:t>1345234567</a:t>
                      </a:r>
                    </a:p>
                  </a:txBody>
                  <a:tcPr/>
                </a:tc>
                <a:tc>
                  <a:txBody>
                    <a:bodyPr/>
                    <a:lstStyle/>
                    <a:p>
                      <a:r>
                        <a:rPr lang="es-EC" dirty="0"/>
                        <a:t>Ana</a:t>
                      </a:r>
                      <a:r>
                        <a:rPr lang="es-EC" baseline="0" dirty="0"/>
                        <a:t>  Ramírez</a:t>
                      </a:r>
                      <a:endParaRPr lang="es-EC"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C" dirty="0"/>
                        <a:t>34 Av.</a:t>
                      </a:r>
                      <a:r>
                        <a:rPr lang="es-EC" baseline="0" dirty="0"/>
                        <a:t> 6</a:t>
                      </a:r>
                      <a:endParaRPr lang="es-EC" dirty="0"/>
                    </a:p>
                  </a:txBody>
                  <a:tcPr/>
                </a:tc>
                <a:tc>
                  <a:txBody>
                    <a:bodyPr/>
                    <a:lstStyle/>
                    <a:p>
                      <a:r>
                        <a:rPr lang="es-EC" dirty="0"/>
                        <a:t>2654567</a:t>
                      </a:r>
                    </a:p>
                  </a:txBody>
                  <a:tcPr/>
                </a:tc>
                <a:extLst>
                  <a:ext uri="{0D108BD9-81ED-4DB2-BD59-A6C34878D82A}">
                    <a16:rowId xmlns:a16="http://schemas.microsoft.com/office/drawing/2014/main" val="10003"/>
                  </a:ext>
                </a:extLst>
              </a:tr>
            </a:tbl>
          </a:graphicData>
        </a:graphic>
      </p:graphicFrame>
      <p:sp>
        <p:nvSpPr>
          <p:cNvPr id="5" name="4 Rectángulo"/>
          <p:cNvSpPr/>
          <p:nvPr/>
        </p:nvSpPr>
        <p:spPr>
          <a:xfrm>
            <a:off x="571472" y="1358438"/>
            <a:ext cx="2133600" cy="22145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dirty="0"/>
              <a:t>Cedula</a:t>
            </a:r>
          </a:p>
          <a:p>
            <a:r>
              <a:rPr lang="es-EC" dirty="0"/>
              <a:t>Nombre</a:t>
            </a:r>
          </a:p>
          <a:p>
            <a:r>
              <a:rPr lang="es-EC" dirty="0"/>
              <a:t>Dirección</a:t>
            </a:r>
          </a:p>
          <a:p>
            <a:r>
              <a:rPr lang="es-EC" dirty="0"/>
              <a:t>Teléfono</a:t>
            </a:r>
          </a:p>
        </p:txBody>
      </p:sp>
      <p:sp>
        <p:nvSpPr>
          <p:cNvPr id="6" name="5 Rectángulo"/>
          <p:cNvSpPr/>
          <p:nvPr/>
        </p:nvSpPr>
        <p:spPr>
          <a:xfrm>
            <a:off x="571472" y="1358438"/>
            <a:ext cx="2133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CLIENTE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C" dirty="0"/>
              <a:t>Tablas, Columnas, Filas y Campos(Primera Forma Normal)</a:t>
            </a:r>
          </a:p>
        </p:txBody>
      </p:sp>
      <p:sp>
        <p:nvSpPr>
          <p:cNvPr id="3" name="2 Marcador de contenido"/>
          <p:cNvSpPr>
            <a:spLocks noGrp="1"/>
          </p:cNvSpPr>
          <p:nvPr>
            <p:ph idx="1"/>
          </p:nvPr>
        </p:nvSpPr>
        <p:spPr>
          <a:xfrm>
            <a:off x="457200" y="1600201"/>
            <a:ext cx="8229600" cy="1685923"/>
          </a:xfrm>
        </p:spPr>
        <p:txBody>
          <a:bodyPr>
            <a:normAutofit fontScale="92500"/>
          </a:bodyPr>
          <a:lstStyle/>
          <a:p>
            <a:r>
              <a:rPr lang="es-EC" dirty="0"/>
              <a:t>La violación de cualesquiera de estas condiciones significaría que la tabla no es estrictamente relacional, y por lo tanto no está en 1FN. </a:t>
            </a:r>
          </a:p>
          <a:p>
            <a:endParaRPr lang="es-EC" dirty="0"/>
          </a:p>
        </p:txBody>
      </p:sp>
      <p:graphicFrame>
        <p:nvGraphicFramePr>
          <p:cNvPr id="4" name="3 Tabla"/>
          <p:cNvGraphicFramePr>
            <a:graphicFrameLocks noGrp="1"/>
          </p:cNvGraphicFramePr>
          <p:nvPr/>
        </p:nvGraphicFramePr>
        <p:xfrm>
          <a:off x="2339751" y="3140968"/>
          <a:ext cx="5904656" cy="2416668"/>
        </p:xfrm>
        <a:graphic>
          <a:graphicData uri="http://schemas.openxmlformats.org/drawingml/2006/table">
            <a:tbl>
              <a:tblPr firstRow="1" bandRow="1">
                <a:tableStyleId>{5C22544A-7EE6-4342-B048-85BDC9FD1C3A}</a:tableStyleId>
              </a:tblPr>
              <a:tblGrid>
                <a:gridCol w="1345365">
                  <a:extLst>
                    <a:ext uri="{9D8B030D-6E8A-4147-A177-3AD203B41FA5}">
                      <a16:colId xmlns:a16="http://schemas.microsoft.com/office/drawing/2014/main" val="20000"/>
                    </a:ext>
                  </a:extLst>
                </a:gridCol>
                <a:gridCol w="1046394">
                  <a:extLst>
                    <a:ext uri="{9D8B030D-6E8A-4147-A177-3AD203B41FA5}">
                      <a16:colId xmlns:a16="http://schemas.microsoft.com/office/drawing/2014/main" val="20001"/>
                    </a:ext>
                  </a:extLst>
                </a:gridCol>
                <a:gridCol w="1046395">
                  <a:extLst>
                    <a:ext uri="{9D8B030D-6E8A-4147-A177-3AD203B41FA5}">
                      <a16:colId xmlns:a16="http://schemas.microsoft.com/office/drawing/2014/main" val="20002"/>
                    </a:ext>
                  </a:extLst>
                </a:gridCol>
                <a:gridCol w="1345365">
                  <a:extLst>
                    <a:ext uri="{9D8B030D-6E8A-4147-A177-3AD203B41FA5}">
                      <a16:colId xmlns:a16="http://schemas.microsoft.com/office/drawing/2014/main" val="20003"/>
                    </a:ext>
                  </a:extLst>
                </a:gridCol>
                <a:gridCol w="1121137">
                  <a:extLst>
                    <a:ext uri="{9D8B030D-6E8A-4147-A177-3AD203B41FA5}">
                      <a16:colId xmlns:a16="http://schemas.microsoft.com/office/drawing/2014/main" val="20004"/>
                    </a:ext>
                  </a:extLst>
                </a:gridCol>
              </a:tblGrid>
              <a:tr h="437454">
                <a:tc>
                  <a:txBody>
                    <a:bodyPr/>
                    <a:lstStyle/>
                    <a:p>
                      <a:r>
                        <a:rPr lang="es-EC" dirty="0"/>
                        <a:t>Cedula</a:t>
                      </a:r>
                    </a:p>
                  </a:txBody>
                  <a:tcPr/>
                </a:tc>
                <a:tc>
                  <a:txBody>
                    <a:bodyPr/>
                    <a:lstStyle/>
                    <a:p>
                      <a:r>
                        <a:rPr lang="es-EC" dirty="0"/>
                        <a:t>Nombre</a:t>
                      </a:r>
                    </a:p>
                  </a:txBody>
                  <a:tcPr/>
                </a:tc>
                <a:tc>
                  <a:txBody>
                    <a:bodyPr/>
                    <a:lstStyle/>
                    <a:p>
                      <a:r>
                        <a:rPr lang="es-EC" dirty="0"/>
                        <a:t>Apellido</a:t>
                      </a:r>
                    </a:p>
                  </a:txBody>
                  <a:tcPr/>
                </a:tc>
                <a:tc>
                  <a:txBody>
                    <a:bodyPr/>
                    <a:lstStyle/>
                    <a:p>
                      <a:r>
                        <a:rPr lang="es-EC" dirty="0"/>
                        <a:t>Dirección</a:t>
                      </a:r>
                    </a:p>
                  </a:txBody>
                  <a:tcPr/>
                </a:tc>
                <a:tc>
                  <a:txBody>
                    <a:bodyPr/>
                    <a:lstStyle/>
                    <a:p>
                      <a:r>
                        <a:rPr lang="es-EC" dirty="0"/>
                        <a:t>Teléfono</a:t>
                      </a:r>
                    </a:p>
                  </a:txBody>
                  <a:tcPr/>
                </a:tc>
                <a:extLst>
                  <a:ext uri="{0D108BD9-81ED-4DB2-BD59-A6C34878D82A}">
                    <a16:rowId xmlns:a16="http://schemas.microsoft.com/office/drawing/2014/main" val="10000"/>
                  </a:ext>
                </a:extLst>
              </a:tr>
              <a:tr h="659738">
                <a:tc>
                  <a:txBody>
                    <a:bodyPr/>
                    <a:lstStyle/>
                    <a:p>
                      <a:r>
                        <a:rPr lang="es-EC" dirty="0"/>
                        <a:t>0876456324</a:t>
                      </a:r>
                    </a:p>
                  </a:txBody>
                  <a:tcPr/>
                </a:tc>
                <a:tc>
                  <a:txBody>
                    <a:bodyPr/>
                    <a:lstStyle/>
                    <a:p>
                      <a:r>
                        <a:rPr lang="es-EC" dirty="0"/>
                        <a:t>Jorge</a:t>
                      </a:r>
                    </a:p>
                  </a:txBody>
                  <a:tcPr/>
                </a:tc>
                <a:tc>
                  <a:txBody>
                    <a:bodyPr/>
                    <a:lstStyle/>
                    <a:p>
                      <a:r>
                        <a:rPr lang="es-EC" dirty="0"/>
                        <a:t>Santos</a:t>
                      </a:r>
                    </a:p>
                  </a:txBody>
                  <a:tcPr/>
                </a:tc>
                <a:tc>
                  <a:txBody>
                    <a:bodyPr/>
                    <a:lstStyle/>
                    <a:p>
                      <a:r>
                        <a:rPr lang="es-EC" dirty="0"/>
                        <a:t>1234 Av.</a:t>
                      </a:r>
                      <a:r>
                        <a:rPr lang="es-EC" baseline="0" dirty="0"/>
                        <a:t> 10</a:t>
                      </a:r>
                      <a:endParaRPr lang="es-EC" dirty="0"/>
                    </a:p>
                  </a:txBody>
                  <a:tcPr/>
                </a:tc>
                <a:tc>
                  <a:txBody>
                    <a:bodyPr/>
                    <a:lstStyle/>
                    <a:p>
                      <a:r>
                        <a:rPr lang="es-EC" dirty="0"/>
                        <a:t>2345678</a:t>
                      </a:r>
                    </a:p>
                  </a:txBody>
                  <a:tcPr/>
                </a:tc>
                <a:extLst>
                  <a:ext uri="{0D108BD9-81ED-4DB2-BD59-A6C34878D82A}">
                    <a16:rowId xmlns:a16="http://schemas.microsoft.com/office/drawing/2014/main" val="10001"/>
                  </a:ext>
                </a:extLst>
              </a:tr>
              <a:tr h="659738">
                <a:tc>
                  <a:txBody>
                    <a:bodyPr/>
                    <a:lstStyle/>
                    <a:p>
                      <a:r>
                        <a:rPr lang="es-EC" dirty="0"/>
                        <a:t>0964532748</a:t>
                      </a:r>
                    </a:p>
                  </a:txBody>
                  <a:tcPr/>
                </a:tc>
                <a:tc>
                  <a:txBody>
                    <a:bodyPr/>
                    <a:lstStyle/>
                    <a:p>
                      <a:r>
                        <a:rPr lang="es-EC" dirty="0"/>
                        <a:t>Luis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C" baseline="0" dirty="0"/>
                        <a:t>Tinoco</a:t>
                      </a:r>
                      <a:endParaRPr lang="es-EC"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C" dirty="0"/>
                        <a:t>6543 Av.</a:t>
                      </a:r>
                      <a:r>
                        <a:rPr lang="es-EC" baseline="0" dirty="0"/>
                        <a:t> 4</a:t>
                      </a:r>
                      <a:endParaRPr lang="es-EC" dirty="0"/>
                    </a:p>
                  </a:txBody>
                  <a:tcPr/>
                </a:tc>
                <a:tc>
                  <a:txBody>
                    <a:bodyPr/>
                    <a:lstStyle/>
                    <a:p>
                      <a:r>
                        <a:rPr lang="es-EC" dirty="0"/>
                        <a:t>2654345</a:t>
                      </a:r>
                    </a:p>
                  </a:txBody>
                  <a:tcPr/>
                </a:tc>
                <a:extLst>
                  <a:ext uri="{0D108BD9-81ED-4DB2-BD59-A6C34878D82A}">
                    <a16:rowId xmlns:a16="http://schemas.microsoft.com/office/drawing/2014/main" val="10002"/>
                  </a:ext>
                </a:extLst>
              </a:tr>
              <a:tr h="659738">
                <a:tc>
                  <a:txBody>
                    <a:bodyPr/>
                    <a:lstStyle/>
                    <a:p>
                      <a:r>
                        <a:rPr lang="es-EC" dirty="0"/>
                        <a:t>1345234567</a:t>
                      </a:r>
                    </a:p>
                  </a:txBody>
                  <a:tcPr/>
                </a:tc>
                <a:tc>
                  <a:txBody>
                    <a:bodyPr/>
                    <a:lstStyle/>
                    <a:p>
                      <a:r>
                        <a:rPr lang="es-EC" dirty="0"/>
                        <a:t>Ana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C" baseline="0" dirty="0"/>
                        <a:t>Ramírez</a:t>
                      </a:r>
                      <a:endParaRPr lang="es-EC"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C" dirty="0"/>
                        <a:t>34 Av.</a:t>
                      </a:r>
                      <a:r>
                        <a:rPr lang="es-EC" baseline="0" dirty="0"/>
                        <a:t> 6</a:t>
                      </a:r>
                      <a:endParaRPr lang="es-EC" dirty="0"/>
                    </a:p>
                  </a:txBody>
                  <a:tcPr/>
                </a:tc>
                <a:tc>
                  <a:txBody>
                    <a:bodyPr/>
                    <a:lstStyle/>
                    <a:p>
                      <a:r>
                        <a:rPr lang="es-EC" dirty="0"/>
                        <a:t>2654567</a:t>
                      </a:r>
                    </a:p>
                  </a:txBody>
                  <a:tcPr/>
                </a:tc>
                <a:extLst>
                  <a:ext uri="{0D108BD9-81ED-4DB2-BD59-A6C34878D82A}">
                    <a16:rowId xmlns:a16="http://schemas.microsoft.com/office/drawing/2014/main" val="10003"/>
                  </a:ext>
                </a:extLst>
              </a:tr>
            </a:tbl>
          </a:graphicData>
        </a:graphic>
      </p:graphicFrame>
      <p:sp>
        <p:nvSpPr>
          <p:cNvPr id="5" name="4 Rectángulo"/>
          <p:cNvSpPr/>
          <p:nvPr/>
        </p:nvSpPr>
        <p:spPr>
          <a:xfrm>
            <a:off x="107504" y="3214686"/>
            <a:ext cx="1656184" cy="22145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u="sng" dirty="0"/>
              <a:t>Cedula</a:t>
            </a:r>
          </a:p>
          <a:p>
            <a:r>
              <a:rPr lang="es-EC" dirty="0"/>
              <a:t>Nombre</a:t>
            </a:r>
          </a:p>
          <a:p>
            <a:r>
              <a:rPr lang="es-EC" dirty="0"/>
              <a:t>Apellido</a:t>
            </a:r>
          </a:p>
          <a:p>
            <a:r>
              <a:rPr lang="es-EC" dirty="0"/>
              <a:t>Dirección</a:t>
            </a:r>
          </a:p>
          <a:p>
            <a:r>
              <a:rPr lang="es-EC" dirty="0"/>
              <a:t>Teléfono</a:t>
            </a:r>
          </a:p>
        </p:txBody>
      </p:sp>
      <p:sp>
        <p:nvSpPr>
          <p:cNvPr id="6" name="5 Rectángulo"/>
          <p:cNvSpPr/>
          <p:nvPr/>
        </p:nvSpPr>
        <p:spPr>
          <a:xfrm>
            <a:off x="107504" y="3214686"/>
            <a:ext cx="1656184"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CLIENTE</a:t>
            </a:r>
          </a:p>
        </p:txBody>
      </p:sp>
      <p:sp>
        <p:nvSpPr>
          <p:cNvPr id="7" name="6 CuadroTexto"/>
          <p:cNvSpPr txBox="1"/>
          <p:nvPr/>
        </p:nvSpPr>
        <p:spPr>
          <a:xfrm>
            <a:off x="0" y="5824855"/>
            <a:ext cx="9144000" cy="461665"/>
          </a:xfrm>
          <a:prstGeom prst="rect">
            <a:avLst/>
          </a:prstGeom>
          <a:noFill/>
        </p:spPr>
        <p:txBody>
          <a:bodyPr wrap="square" rtlCol="0">
            <a:spAutoFit/>
          </a:bodyPr>
          <a:lstStyle/>
          <a:p>
            <a:r>
              <a:rPr lang="es-EC" sz="2400" b="1" dirty="0"/>
              <a:t>Tabla/fila/columna = archivo/registro/campo = relación/</a:t>
            </a:r>
            <a:r>
              <a:rPr lang="es-EC" sz="2400" b="1" dirty="0" err="1"/>
              <a:t>tupla</a:t>
            </a:r>
            <a:r>
              <a:rPr lang="es-EC" sz="2400" b="1" dirty="0"/>
              <a:t>/atributo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Tipos de Claves</a:t>
            </a:r>
          </a:p>
        </p:txBody>
      </p:sp>
      <p:sp>
        <p:nvSpPr>
          <p:cNvPr id="3" name="2 Marcador de contenido"/>
          <p:cNvSpPr>
            <a:spLocks noGrp="1"/>
          </p:cNvSpPr>
          <p:nvPr>
            <p:ph idx="1"/>
          </p:nvPr>
        </p:nvSpPr>
        <p:spPr/>
        <p:txBody>
          <a:bodyPr>
            <a:normAutofit lnSpcReduction="10000"/>
          </a:bodyPr>
          <a:lstStyle/>
          <a:p>
            <a:r>
              <a:rPr lang="es-EC" dirty="0"/>
              <a:t>Una clave es una o más columnas de una tabla que identifica una fila.</a:t>
            </a:r>
          </a:p>
          <a:p>
            <a:r>
              <a:rPr lang="es-EC" dirty="0"/>
              <a:t>Una clave única identifica una sola fila, una no única identifica a varias filas.</a:t>
            </a:r>
          </a:p>
          <a:p>
            <a:r>
              <a:rPr lang="es-EC" dirty="0"/>
              <a:t>Una clave compuesta es una clave que contiene dos o más atributos.</a:t>
            </a:r>
          </a:p>
          <a:p>
            <a:r>
              <a:rPr lang="es-EC" dirty="0"/>
              <a:t>Una tabla tiene una clave primaria única y puede tener claves únicas adicionales llamadas claves candidatas.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Primary Key – Clave primaria</a:t>
            </a:r>
          </a:p>
        </p:txBody>
      </p:sp>
      <p:sp>
        <p:nvSpPr>
          <p:cNvPr id="3" name="2 Marcador de contenido"/>
          <p:cNvSpPr>
            <a:spLocks noGrp="1"/>
          </p:cNvSpPr>
          <p:nvPr>
            <p:ph idx="1"/>
          </p:nvPr>
        </p:nvSpPr>
        <p:spPr/>
        <p:txBody>
          <a:bodyPr/>
          <a:lstStyle/>
          <a:p>
            <a:r>
              <a:rPr lang="es-EC" dirty="0"/>
              <a:t>Es usada para:</a:t>
            </a:r>
          </a:p>
          <a:p>
            <a:pPr lvl="1"/>
            <a:r>
              <a:rPr lang="es-EC" dirty="0"/>
              <a:t>Representar la tabla en las relaciones</a:t>
            </a:r>
          </a:p>
          <a:p>
            <a:pPr lvl="1"/>
            <a:r>
              <a:rPr lang="es-EC" dirty="0"/>
              <a:t>Organizar el almacenamiento de tabla</a:t>
            </a:r>
          </a:p>
          <a:p>
            <a:pPr lvl="1"/>
            <a:r>
              <a:rPr lang="es-EC" dirty="0"/>
              <a:t>Generar índices</a:t>
            </a:r>
          </a:p>
          <a:p>
            <a:endParaRPr lang="es-EC"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Foreign Key – Clave Foránea</a:t>
            </a:r>
          </a:p>
        </p:txBody>
      </p:sp>
      <p:sp>
        <p:nvSpPr>
          <p:cNvPr id="3" name="2 Marcador de contenido"/>
          <p:cNvSpPr>
            <a:spLocks noGrp="1"/>
          </p:cNvSpPr>
          <p:nvPr>
            <p:ph idx="1"/>
          </p:nvPr>
        </p:nvSpPr>
        <p:spPr/>
        <p:txBody>
          <a:bodyPr/>
          <a:lstStyle/>
          <a:p>
            <a:r>
              <a:rPr lang="es-EC" dirty="0"/>
              <a:t>Una clave foránea es una referencia a una clave en otra tabla. </a:t>
            </a:r>
          </a:p>
          <a:p>
            <a:r>
              <a:rPr lang="es-EC" dirty="0"/>
              <a:t>Las claves foráneas no necesitan ser claves únicas en la tabla donde están y sí a donde están referenciadas.</a:t>
            </a:r>
          </a:p>
        </p:txBody>
      </p:sp>
      <p:sp>
        <p:nvSpPr>
          <p:cNvPr id="5" name="4 Rectángulo"/>
          <p:cNvSpPr/>
          <p:nvPr/>
        </p:nvSpPr>
        <p:spPr>
          <a:xfrm>
            <a:off x="285720" y="4286280"/>
            <a:ext cx="2276476" cy="2285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dirty="0" err="1"/>
              <a:t>idEmpleado</a:t>
            </a:r>
            <a:r>
              <a:rPr lang="es-EC" sz="2000" dirty="0"/>
              <a:t> (</a:t>
            </a:r>
            <a:r>
              <a:rPr lang="es-EC" sz="2000" dirty="0" err="1"/>
              <a:t>pk</a:t>
            </a:r>
            <a:r>
              <a:rPr lang="es-EC" sz="2000" dirty="0"/>
              <a:t>)</a:t>
            </a:r>
          </a:p>
          <a:p>
            <a:r>
              <a:rPr lang="es-EC" sz="2000" dirty="0"/>
              <a:t>Nombre</a:t>
            </a:r>
          </a:p>
          <a:p>
            <a:r>
              <a:rPr lang="es-EC" sz="2000" dirty="0"/>
              <a:t>Dirección</a:t>
            </a:r>
          </a:p>
          <a:p>
            <a:r>
              <a:rPr lang="es-EC" sz="2000" dirty="0"/>
              <a:t>Teléfono</a:t>
            </a:r>
          </a:p>
          <a:p>
            <a:r>
              <a:rPr lang="es-EC" sz="2000" dirty="0" err="1"/>
              <a:t>idDepartamento</a:t>
            </a:r>
            <a:r>
              <a:rPr lang="es-EC" sz="2000" dirty="0"/>
              <a:t>(</a:t>
            </a:r>
            <a:r>
              <a:rPr lang="es-EC" sz="2000" dirty="0" err="1"/>
              <a:t>fk</a:t>
            </a:r>
            <a:r>
              <a:rPr lang="es-EC" sz="2000" dirty="0"/>
              <a:t>)</a:t>
            </a:r>
          </a:p>
        </p:txBody>
      </p:sp>
      <p:sp>
        <p:nvSpPr>
          <p:cNvPr id="6" name="5 Rectángulo"/>
          <p:cNvSpPr/>
          <p:nvPr/>
        </p:nvSpPr>
        <p:spPr>
          <a:xfrm>
            <a:off x="285720" y="4286256"/>
            <a:ext cx="2276476" cy="385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EMPLEADO</a:t>
            </a:r>
          </a:p>
        </p:txBody>
      </p:sp>
      <p:sp>
        <p:nvSpPr>
          <p:cNvPr id="7" name="6 Rectángulo"/>
          <p:cNvSpPr/>
          <p:nvPr/>
        </p:nvSpPr>
        <p:spPr>
          <a:xfrm>
            <a:off x="6224614" y="4572008"/>
            <a:ext cx="2419352" cy="16430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dirty="0" err="1"/>
              <a:t>idDepartamento</a:t>
            </a:r>
            <a:r>
              <a:rPr lang="es-EC" sz="2000" dirty="0"/>
              <a:t>(</a:t>
            </a:r>
            <a:r>
              <a:rPr lang="es-EC" sz="2000" dirty="0" err="1"/>
              <a:t>pk</a:t>
            </a:r>
            <a:r>
              <a:rPr lang="es-EC" sz="2000" dirty="0"/>
              <a:t>)</a:t>
            </a:r>
          </a:p>
          <a:p>
            <a:r>
              <a:rPr lang="es-EC" sz="2000" dirty="0"/>
              <a:t>Nombre</a:t>
            </a:r>
          </a:p>
        </p:txBody>
      </p:sp>
      <p:sp>
        <p:nvSpPr>
          <p:cNvPr id="8" name="7 Rectángulo"/>
          <p:cNvSpPr/>
          <p:nvPr/>
        </p:nvSpPr>
        <p:spPr>
          <a:xfrm>
            <a:off x="6224614" y="4572008"/>
            <a:ext cx="2419352"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DEPARTAMENTO</a:t>
            </a:r>
          </a:p>
        </p:txBody>
      </p:sp>
      <p:sp>
        <p:nvSpPr>
          <p:cNvPr id="9" name="8 Rombo"/>
          <p:cNvSpPr/>
          <p:nvPr/>
        </p:nvSpPr>
        <p:spPr>
          <a:xfrm>
            <a:off x="3571868" y="4857760"/>
            <a:ext cx="1714512" cy="107157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trabaja</a:t>
            </a:r>
          </a:p>
        </p:txBody>
      </p:sp>
      <p:cxnSp>
        <p:nvCxnSpPr>
          <p:cNvPr id="11" name="10 Conector recto"/>
          <p:cNvCxnSpPr>
            <a:stCxn id="9" idx="3"/>
            <a:endCxn id="7" idx="1"/>
          </p:cNvCxnSpPr>
          <p:nvPr/>
        </p:nvCxnSpPr>
        <p:spPr>
          <a:xfrm>
            <a:off x="5286380" y="5393545"/>
            <a:ext cx="93823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3 Conector recto"/>
          <p:cNvCxnSpPr>
            <a:stCxn id="9" idx="1"/>
            <a:endCxn id="5" idx="3"/>
          </p:cNvCxnSpPr>
          <p:nvPr/>
        </p:nvCxnSpPr>
        <p:spPr>
          <a:xfrm rot="10800000" flipV="1">
            <a:off x="2562196" y="5393544"/>
            <a:ext cx="1009672" cy="357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rot="5400000">
            <a:off x="2678893" y="5464983"/>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a:off x="2571736" y="5143512"/>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20 Conector recto"/>
          <p:cNvCxnSpPr/>
          <p:nvPr/>
        </p:nvCxnSpPr>
        <p:spPr>
          <a:xfrm rot="10800000" flipV="1">
            <a:off x="2571737" y="5429264"/>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21 Conector recto"/>
          <p:cNvCxnSpPr/>
          <p:nvPr/>
        </p:nvCxnSpPr>
        <p:spPr>
          <a:xfrm rot="5400000">
            <a:off x="5751521" y="5464189"/>
            <a:ext cx="500066"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C" dirty="0"/>
              <a:t>Conversión de entidades </a:t>
            </a:r>
            <a:br>
              <a:rPr lang="es-EC" dirty="0"/>
            </a:br>
            <a:r>
              <a:rPr lang="es-EC" dirty="0"/>
              <a:t>del modelo conceptual</a:t>
            </a:r>
          </a:p>
        </p:txBody>
      </p:sp>
      <p:sp>
        <p:nvSpPr>
          <p:cNvPr id="3" name="2 Marcador de contenido"/>
          <p:cNvSpPr>
            <a:spLocks noGrp="1"/>
          </p:cNvSpPr>
          <p:nvPr>
            <p:ph idx="1"/>
          </p:nvPr>
        </p:nvSpPr>
        <p:spPr>
          <a:xfrm>
            <a:off x="457200" y="1600201"/>
            <a:ext cx="8229600" cy="2257428"/>
          </a:xfrm>
        </p:spPr>
        <p:txBody>
          <a:bodyPr>
            <a:normAutofit/>
          </a:bodyPr>
          <a:lstStyle/>
          <a:p>
            <a:r>
              <a:rPr lang="es-EC" dirty="0"/>
              <a:t>Cada entidad del modelo conceptual se transforma directamente en una tabla. </a:t>
            </a:r>
          </a:p>
          <a:p>
            <a:r>
              <a:rPr lang="es-EC" dirty="0"/>
              <a:t>Los atributos de la entidad pasan a ser automáticamente las columnas de la tabla.</a:t>
            </a:r>
          </a:p>
        </p:txBody>
      </p:sp>
      <p:sp>
        <p:nvSpPr>
          <p:cNvPr id="9" name="Text Box 4"/>
          <p:cNvSpPr txBox="1">
            <a:spLocks noChangeArrowheads="1"/>
          </p:cNvSpPr>
          <p:nvPr/>
        </p:nvSpPr>
        <p:spPr bwMode="auto">
          <a:xfrm>
            <a:off x="715935" y="4292600"/>
            <a:ext cx="1193800" cy="457200"/>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2400" b="0" i="0" u="none" strike="noStrike" kern="0" cap="none" spc="0" normalizeH="0" baseline="0" noProof="0" dirty="0">
                <a:ln>
                  <a:noFill/>
                </a:ln>
                <a:solidFill>
                  <a:sysClr val="windowText" lastClr="000000"/>
                </a:solidFill>
                <a:effectLst/>
                <a:uLnTx/>
                <a:uFillTx/>
              </a:rPr>
              <a:t>Entidad</a:t>
            </a:r>
          </a:p>
        </p:txBody>
      </p:sp>
      <p:sp>
        <p:nvSpPr>
          <p:cNvPr id="10" name="Text Box 5"/>
          <p:cNvSpPr txBox="1">
            <a:spLocks noChangeArrowheads="1"/>
          </p:cNvSpPr>
          <p:nvPr/>
        </p:nvSpPr>
        <p:spPr bwMode="auto">
          <a:xfrm>
            <a:off x="2819372" y="4292600"/>
            <a:ext cx="920750" cy="457200"/>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2400" b="0" i="0" u="none" strike="noStrike" kern="0" cap="none" spc="0" normalizeH="0" baseline="0" noProof="0">
                <a:ln>
                  <a:noFill/>
                </a:ln>
                <a:solidFill>
                  <a:sysClr val="windowText" lastClr="000000"/>
                </a:solidFill>
                <a:effectLst/>
                <a:uLnTx/>
                <a:uFillTx/>
              </a:rPr>
              <a:t>Tabla</a:t>
            </a:r>
          </a:p>
        </p:txBody>
      </p:sp>
      <p:sp>
        <p:nvSpPr>
          <p:cNvPr id="11" name="Text Box 7"/>
          <p:cNvSpPr txBox="1">
            <a:spLocks noChangeArrowheads="1"/>
          </p:cNvSpPr>
          <p:nvPr/>
        </p:nvSpPr>
        <p:spPr bwMode="auto">
          <a:xfrm>
            <a:off x="571472" y="5084763"/>
            <a:ext cx="1389063" cy="457200"/>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2400" b="0" i="0" u="none" strike="noStrike" kern="0" cap="none" spc="0" normalizeH="0" baseline="0" noProof="0">
                <a:ln>
                  <a:noFill/>
                </a:ln>
                <a:solidFill>
                  <a:sysClr val="windowText" lastClr="000000"/>
                </a:solidFill>
                <a:effectLst/>
                <a:uLnTx/>
                <a:uFillTx/>
              </a:rPr>
              <a:t>Atributos</a:t>
            </a:r>
          </a:p>
        </p:txBody>
      </p:sp>
      <p:sp>
        <p:nvSpPr>
          <p:cNvPr id="12" name="Text Box 8"/>
          <p:cNvSpPr txBox="1">
            <a:spLocks noChangeArrowheads="1"/>
          </p:cNvSpPr>
          <p:nvPr/>
        </p:nvSpPr>
        <p:spPr bwMode="auto">
          <a:xfrm>
            <a:off x="2890810" y="5084763"/>
            <a:ext cx="1493837" cy="457200"/>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2400" b="0" i="0" u="none" strike="noStrike" kern="0" cap="none" spc="0" normalizeH="0" baseline="0" noProof="0">
                <a:ln>
                  <a:noFill/>
                </a:ln>
                <a:solidFill>
                  <a:sysClr val="windowText" lastClr="000000"/>
                </a:solidFill>
                <a:effectLst/>
                <a:uLnTx/>
                <a:uFillTx/>
              </a:rPr>
              <a:t>Columnas</a:t>
            </a:r>
          </a:p>
        </p:txBody>
      </p:sp>
      <p:sp>
        <p:nvSpPr>
          <p:cNvPr id="13" name="Line 9"/>
          <p:cNvSpPr>
            <a:spLocks noChangeShapeType="1"/>
          </p:cNvSpPr>
          <p:nvPr/>
        </p:nvSpPr>
        <p:spPr bwMode="auto">
          <a:xfrm>
            <a:off x="1944655" y="5373688"/>
            <a:ext cx="863600" cy="0"/>
          </a:xfrm>
          <a:prstGeom prst="line">
            <a:avLst/>
          </a:prstGeom>
          <a:noFill/>
          <a:ln w="9525">
            <a:solidFill>
              <a:srgbClr val="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C" sz="1800" b="0" i="0" u="none" strike="noStrike" kern="0" cap="none" spc="0" normalizeH="0" baseline="0" noProof="0">
              <a:ln>
                <a:noFill/>
              </a:ln>
              <a:solidFill>
                <a:sysClr val="windowText" lastClr="000000"/>
              </a:solidFill>
              <a:effectLst/>
              <a:uLnTx/>
              <a:uFillTx/>
            </a:endParaRPr>
          </a:p>
        </p:txBody>
      </p:sp>
      <p:sp>
        <p:nvSpPr>
          <p:cNvPr id="15" name="Line 9"/>
          <p:cNvSpPr>
            <a:spLocks noChangeShapeType="1"/>
          </p:cNvSpPr>
          <p:nvPr/>
        </p:nvSpPr>
        <p:spPr bwMode="auto">
          <a:xfrm>
            <a:off x="1938311" y="4572008"/>
            <a:ext cx="863600" cy="0"/>
          </a:xfrm>
          <a:prstGeom prst="line">
            <a:avLst/>
          </a:prstGeom>
          <a:noFill/>
          <a:ln w="9525">
            <a:solidFill>
              <a:srgbClr val="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C" sz="1800" b="0" i="0" u="none" strike="noStrike" kern="0" cap="none" spc="0" normalizeH="0" baseline="0" noProof="0">
              <a:ln>
                <a:noFill/>
              </a:ln>
              <a:solidFill>
                <a:sysClr val="windowText" lastClr="000000"/>
              </a:solidFill>
              <a:effectLst/>
              <a:uLnTx/>
              <a:uFillTx/>
            </a:endParaRPr>
          </a:p>
        </p:txBody>
      </p:sp>
      <p:sp>
        <p:nvSpPr>
          <p:cNvPr id="16" name="15 Rectángulo"/>
          <p:cNvSpPr/>
          <p:nvPr/>
        </p:nvSpPr>
        <p:spPr>
          <a:xfrm>
            <a:off x="6643702" y="4357694"/>
            <a:ext cx="2133600" cy="22145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u="sng" dirty="0" err="1"/>
              <a:t>idCliente</a:t>
            </a:r>
            <a:r>
              <a:rPr lang="es-EC" dirty="0"/>
              <a:t>   </a:t>
            </a:r>
            <a:r>
              <a:rPr lang="es-EC" dirty="0" err="1"/>
              <a:t>int</a:t>
            </a:r>
            <a:r>
              <a:rPr lang="es-EC" dirty="0"/>
              <a:t> (</a:t>
            </a:r>
            <a:r>
              <a:rPr lang="es-EC" dirty="0" err="1"/>
              <a:t>pk</a:t>
            </a:r>
            <a:r>
              <a:rPr lang="es-EC" dirty="0"/>
              <a:t>)</a:t>
            </a:r>
          </a:p>
          <a:p>
            <a:r>
              <a:rPr lang="es-EC" dirty="0"/>
              <a:t>Nombre    </a:t>
            </a:r>
            <a:r>
              <a:rPr lang="es-EC" dirty="0" err="1"/>
              <a:t>char</a:t>
            </a:r>
            <a:r>
              <a:rPr lang="es-EC" dirty="0"/>
              <a:t>(30)</a:t>
            </a:r>
          </a:p>
          <a:p>
            <a:r>
              <a:rPr lang="es-EC" dirty="0"/>
              <a:t>Dirección  </a:t>
            </a:r>
            <a:r>
              <a:rPr lang="es-EC" dirty="0" err="1"/>
              <a:t>char</a:t>
            </a:r>
            <a:r>
              <a:rPr lang="es-EC" dirty="0"/>
              <a:t>(50)</a:t>
            </a:r>
          </a:p>
          <a:p>
            <a:r>
              <a:rPr lang="es-EC" dirty="0"/>
              <a:t>Teléfono    </a:t>
            </a:r>
            <a:r>
              <a:rPr lang="es-EC" dirty="0" err="1"/>
              <a:t>int</a:t>
            </a:r>
            <a:endParaRPr lang="es-EC" dirty="0"/>
          </a:p>
        </p:txBody>
      </p:sp>
      <p:sp>
        <p:nvSpPr>
          <p:cNvPr id="17" name="16 Rectángulo"/>
          <p:cNvSpPr/>
          <p:nvPr/>
        </p:nvSpPr>
        <p:spPr>
          <a:xfrm>
            <a:off x="6643702" y="4357694"/>
            <a:ext cx="2133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CLIENTE</a:t>
            </a:r>
          </a:p>
        </p:txBody>
      </p:sp>
      <p:sp>
        <p:nvSpPr>
          <p:cNvPr id="18" name="17 Rectángulo"/>
          <p:cNvSpPr/>
          <p:nvPr/>
        </p:nvSpPr>
        <p:spPr>
          <a:xfrm>
            <a:off x="4572000" y="4357694"/>
            <a:ext cx="1285884" cy="22145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dirty="0" err="1"/>
              <a:t>idCliente</a:t>
            </a:r>
            <a:r>
              <a:rPr lang="es-EC" dirty="0"/>
              <a:t> </a:t>
            </a:r>
          </a:p>
          <a:p>
            <a:r>
              <a:rPr lang="es-EC" dirty="0"/>
              <a:t>Nombre   </a:t>
            </a:r>
          </a:p>
          <a:p>
            <a:r>
              <a:rPr lang="es-EC" dirty="0"/>
              <a:t>Dirección </a:t>
            </a:r>
          </a:p>
          <a:p>
            <a:r>
              <a:rPr lang="es-EC" dirty="0"/>
              <a:t>Teléfono    </a:t>
            </a:r>
          </a:p>
        </p:txBody>
      </p:sp>
      <p:sp>
        <p:nvSpPr>
          <p:cNvPr id="19" name="18 Rectángulo"/>
          <p:cNvSpPr/>
          <p:nvPr/>
        </p:nvSpPr>
        <p:spPr>
          <a:xfrm>
            <a:off x="4572000" y="4357694"/>
            <a:ext cx="1285884"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CLIENTE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Conversión de Relaciones</a:t>
            </a:r>
          </a:p>
        </p:txBody>
      </p:sp>
      <p:sp>
        <p:nvSpPr>
          <p:cNvPr id="3" name="2 Marcador de contenido"/>
          <p:cNvSpPr>
            <a:spLocks noGrp="1"/>
          </p:cNvSpPr>
          <p:nvPr>
            <p:ph idx="1"/>
          </p:nvPr>
        </p:nvSpPr>
        <p:spPr/>
        <p:txBody>
          <a:bodyPr/>
          <a:lstStyle/>
          <a:p>
            <a:r>
              <a:rPr lang="es-EC" dirty="0"/>
              <a:t>Cada relación de un modelo conceptual se transforma directamente en una tabla. </a:t>
            </a:r>
          </a:p>
          <a:p>
            <a:r>
              <a:rPr lang="es-EC" dirty="0"/>
              <a:t>Los campos de esta tabla son las claves primarias de todas las entidades que participen en la relación más todos aquellos atributos que pudiera tener la relación.</a:t>
            </a:r>
          </a:p>
          <a:p>
            <a:endParaRPr lang="es-EC" dirty="0"/>
          </a:p>
        </p:txBody>
      </p:sp>
      <p:sp>
        <p:nvSpPr>
          <p:cNvPr id="7" name="Text Box 5"/>
          <p:cNvSpPr txBox="1">
            <a:spLocks noChangeArrowheads="1"/>
          </p:cNvSpPr>
          <p:nvPr/>
        </p:nvSpPr>
        <p:spPr bwMode="auto">
          <a:xfrm>
            <a:off x="2555875" y="5084763"/>
            <a:ext cx="1309688" cy="457200"/>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2400" b="0" i="0" u="none" strike="noStrike" kern="0" cap="none" spc="0" normalizeH="0" baseline="0" noProof="0">
                <a:ln>
                  <a:noFill/>
                </a:ln>
                <a:solidFill>
                  <a:sysClr val="windowText" lastClr="000000"/>
                </a:solidFill>
                <a:effectLst/>
                <a:uLnTx/>
                <a:uFillTx/>
              </a:rPr>
              <a:t>Relación</a:t>
            </a:r>
          </a:p>
        </p:txBody>
      </p:sp>
      <p:sp>
        <p:nvSpPr>
          <p:cNvPr id="8" name="Text Box 6"/>
          <p:cNvSpPr txBox="1">
            <a:spLocks noChangeArrowheads="1"/>
          </p:cNvSpPr>
          <p:nvPr/>
        </p:nvSpPr>
        <p:spPr bwMode="auto">
          <a:xfrm>
            <a:off x="4875213" y="5084763"/>
            <a:ext cx="920750" cy="457200"/>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2400" b="0" i="0" u="none" strike="noStrike" kern="0" cap="none" spc="0" normalizeH="0" baseline="0" noProof="0">
                <a:ln>
                  <a:noFill/>
                </a:ln>
                <a:solidFill>
                  <a:sysClr val="windowText" lastClr="000000"/>
                </a:solidFill>
                <a:effectLst/>
                <a:uLnTx/>
                <a:uFillTx/>
              </a:rPr>
              <a:t>Tabla</a:t>
            </a:r>
          </a:p>
        </p:txBody>
      </p:sp>
      <p:sp>
        <p:nvSpPr>
          <p:cNvPr id="9" name="Line 7"/>
          <p:cNvSpPr>
            <a:spLocks noChangeShapeType="1"/>
          </p:cNvSpPr>
          <p:nvPr/>
        </p:nvSpPr>
        <p:spPr bwMode="auto">
          <a:xfrm>
            <a:off x="3995738" y="5373688"/>
            <a:ext cx="863600" cy="0"/>
          </a:xfrm>
          <a:prstGeom prst="line">
            <a:avLst/>
          </a:prstGeom>
          <a:noFill/>
          <a:ln w="9525">
            <a:solidFill>
              <a:srgbClr val="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C" sz="1800" b="0" i="0" u="none" strike="noStrike" kern="0" cap="none" spc="0" normalizeH="0" baseline="0" noProof="0">
              <a:ln>
                <a:noFill/>
              </a:ln>
              <a:solidFill>
                <a:sysClr val="windowText" lastClr="000000"/>
              </a:solidFill>
              <a:effectLst/>
              <a:uLnTx/>
              <a:uFillTx/>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Simplificación del modelo lógico </a:t>
            </a:r>
          </a:p>
        </p:txBody>
      </p:sp>
      <p:sp>
        <p:nvSpPr>
          <p:cNvPr id="3" name="2 Marcador de contenido"/>
          <p:cNvSpPr>
            <a:spLocks noGrp="1"/>
          </p:cNvSpPr>
          <p:nvPr>
            <p:ph idx="1"/>
          </p:nvPr>
        </p:nvSpPr>
        <p:spPr/>
        <p:txBody>
          <a:bodyPr/>
          <a:lstStyle/>
          <a:p>
            <a:r>
              <a:rPr lang="es-EC" dirty="0"/>
              <a:t>El número de tablas que componen la base de datos debe mantenerse en el mínimo posible.</a:t>
            </a:r>
          </a:p>
          <a:p>
            <a:r>
              <a:rPr lang="es-EC" dirty="0"/>
              <a:t>Esto mismo es aplicable a las relaciones binarias con cardinalidad uno a uno.</a:t>
            </a:r>
          </a:p>
          <a:p>
            <a:r>
              <a:rPr lang="es-EC" dirty="0"/>
              <a:t>Las tablas con un único atributo se pueden eliminar.</a:t>
            </a:r>
          </a:p>
          <a:p>
            <a:endParaRPr lang="es-EC"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1414"/>
            <a:ext cx="8229600" cy="1143000"/>
          </a:xfrm>
        </p:spPr>
        <p:txBody>
          <a:bodyPr/>
          <a:lstStyle/>
          <a:p>
            <a:r>
              <a:rPr lang="es-EC" dirty="0"/>
              <a:t>Relaciones 1:1</a:t>
            </a:r>
          </a:p>
        </p:txBody>
      </p:sp>
      <p:sp>
        <p:nvSpPr>
          <p:cNvPr id="3" name="2 Marcador de contenido"/>
          <p:cNvSpPr>
            <a:spLocks noGrp="1"/>
          </p:cNvSpPr>
          <p:nvPr>
            <p:ph idx="1"/>
          </p:nvPr>
        </p:nvSpPr>
        <p:spPr>
          <a:xfrm>
            <a:off x="457200" y="1000108"/>
            <a:ext cx="8229600" cy="2286016"/>
          </a:xfrm>
        </p:spPr>
        <p:txBody>
          <a:bodyPr>
            <a:normAutofit lnSpcReduction="10000"/>
          </a:bodyPr>
          <a:lstStyle/>
          <a:p>
            <a:r>
              <a:rPr lang="es-EC" dirty="0"/>
              <a:t>Si las entidades que se asocian poseen </a:t>
            </a:r>
            <a:r>
              <a:rPr lang="es-EC" dirty="0" err="1"/>
              <a:t>cardinalidades</a:t>
            </a:r>
            <a:r>
              <a:rPr lang="es-EC" dirty="0"/>
              <a:t> (0,1), entonces la relación se transforma en una tabla, además de las dos tablas a las que se transforman cada una de las entidades:</a:t>
            </a:r>
          </a:p>
        </p:txBody>
      </p:sp>
      <p:sp>
        <p:nvSpPr>
          <p:cNvPr id="4" name="3 Rectángulo"/>
          <p:cNvSpPr/>
          <p:nvPr/>
        </p:nvSpPr>
        <p:spPr>
          <a:xfrm>
            <a:off x="1285852" y="3643314"/>
            <a:ext cx="1571636" cy="128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err="1"/>
              <a:t>idHombre</a:t>
            </a:r>
            <a:endParaRPr lang="es-EC" dirty="0"/>
          </a:p>
          <a:p>
            <a:pPr algn="ctr"/>
            <a:r>
              <a:rPr lang="es-EC" dirty="0"/>
              <a:t>Nombre</a:t>
            </a:r>
          </a:p>
        </p:txBody>
      </p:sp>
      <p:sp>
        <p:nvSpPr>
          <p:cNvPr id="5" name="4 Rectángulo"/>
          <p:cNvSpPr/>
          <p:nvPr/>
        </p:nvSpPr>
        <p:spPr>
          <a:xfrm>
            <a:off x="1285852" y="3500438"/>
            <a:ext cx="1571636" cy="4905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HOMBRE</a:t>
            </a:r>
          </a:p>
        </p:txBody>
      </p:sp>
      <p:sp>
        <p:nvSpPr>
          <p:cNvPr id="6" name="5 Rectángulo"/>
          <p:cNvSpPr/>
          <p:nvPr/>
        </p:nvSpPr>
        <p:spPr>
          <a:xfrm>
            <a:off x="5715008" y="3643314"/>
            <a:ext cx="1571636" cy="128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err="1"/>
              <a:t>idMujer</a:t>
            </a:r>
            <a:endParaRPr lang="es-EC" dirty="0"/>
          </a:p>
          <a:p>
            <a:pPr algn="ctr"/>
            <a:r>
              <a:rPr lang="es-EC" dirty="0"/>
              <a:t>Nombre</a:t>
            </a:r>
          </a:p>
        </p:txBody>
      </p:sp>
      <p:sp>
        <p:nvSpPr>
          <p:cNvPr id="7" name="6 Rectángulo"/>
          <p:cNvSpPr/>
          <p:nvPr/>
        </p:nvSpPr>
        <p:spPr>
          <a:xfrm>
            <a:off x="5715008" y="3500438"/>
            <a:ext cx="1571636" cy="4905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MUJER</a:t>
            </a:r>
          </a:p>
        </p:txBody>
      </p:sp>
      <p:cxnSp>
        <p:nvCxnSpPr>
          <p:cNvPr id="8" name="7 Conector recto"/>
          <p:cNvCxnSpPr/>
          <p:nvPr/>
        </p:nvCxnSpPr>
        <p:spPr>
          <a:xfrm flipV="1">
            <a:off x="2786050" y="4179099"/>
            <a:ext cx="2928958" cy="35731"/>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rot="5400000">
            <a:off x="2894001" y="4250537"/>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rot="5400000">
            <a:off x="5178429" y="4249743"/>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13" name="12 Rombo"/>
          <p:cNvSpPr/>
          <p:nvPr/>
        </p:nvSpPr>
        <p:spPr>
          <a:xfrm>
            <a:off x="3286116" y="3714752"/>
            <a:ext cx="1928826" cy="107157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1200" dirty="0"/>
              <a:t>matrimonio</a:t>
            </a:r>
          </a:p>
        </p:txBody>
      </p:sp>
      <p:sp>
        <p:nvSpPr>
          <p:cNvPr id="14" name="13 Elipse"/>
          <p:cNvSpPr/>
          <p:nvPr/>
        </p:nvSpPr>
        <p:spPr>
          <a:xfrm>
            <a:off x="5429256" y="4071942"/>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5" name="14 Elipse"/>
          <p:cNvSpPr/>
          <p:nvPr/>
        </p:nvSpPr>
        <p:spPr>
          <a:xfrm>
            <a:off x="2857488" y="4071942"/>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6" name="15 Rectángulo"/>
          <p:cNvSpPr/>
          <p:nvPr/>
        </p:nvSpPr>
        <p:spPr>
          <a:xfrm>
            <a:off x="71406" y="5214950"/>
            <a:ext cx="1928826" cy="128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u="sng" dirty="0" err="1"/>
              <a:t>idHombre</a:t>
            </a:r>
            <a:r>
              <a:rPr lang="es-EC" dirty="0"/>
              <a:t> </a:t>
            </a:r>
            <a:r>
              <a:rPr lang="es-EC" dirty="0" err="1"/>
              <a:t>int</a:t>
            </a:r>
            <a:r>
              <a:rPr lang="es-EC" dirty="0"/>
              <a:t> (</a:t>
            </a:r>
            <a:r>
              <a:rPr lang="es-EC" dirty="0" err="1"/>
              <a:t>pk</a:t>
            </a:r>
            <a:r>
              <a:rPr lang="es-EC" dirty="0"/>
              <a:t>)</a:t>
            </a:r>
          </a:p>
          <a:p>
            <a:pPr algn="ctr"/>
            <a:r>
              <a:rPr lang="es-EC" dirty="0"/>
              <a:t>Nombre </a:t>
            </a:r>
            <a:r>
              <a:rPr lang="es-EC" dirty="0" err="1"/>
              <a:t>char</a:t>
            </a:r>
            <a:r>
              <a:rPr lang="es-EC" dirty="0"/>
              <a:t>(30)</a:t>
            </a:r>
          </a:p>
        </p:txBody>
      </p:sp>
      <p:sp>
        <p:nvSpPr>
          <p:cNvPr id="17" name="16 Rectángulo"/>
          <p:cNvSpPr/>
          <p:nvPr/>
        </p:nvSpPr>
        <p:spPr>
          <a:xfrm>
            <a:off x="71406" y="5072074"/>
            <a:ext cx="1928826" cy="4905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HOMBRE</a:t>
            </a:r>
          </a:p>
        </p:txBody>
      </p:sp>
      <p:sp>
        <p:nvSpPr>
          <p:cNvPr id="18" name="17 Rectángulo"/>
          <p:cNvSpPr/>
          <p:nvPr/>
        </p:nvSpPr>
        <p:spPr>
          <a:xfrm>
            <a:off x="6929454" y="5214950"/>
            <a:ext cx="2071702" cy="128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u="sng" dirty="0" err="1"/>
              <a:t>idMujer</a:t>
            </a:r>
            <a:r>
              <a:rPr lang="es-EC" dirty="0"/>
              <a:t> </a:t>
            </a:r>
            <a:r>
              <a:rPr lang="es-EC" dirty="0" err="1"/>
              <a:t>int</a:t>
            </a:r>
            <a:r>
              <a:rPr lang="es-EC" dirty="0"/>
              <a:t> (</a:t>
            </a:r>
            <a:r>
              <a:rPr lang="es-EC" dirty="0" err="1"/>
              <a:t>pk</a:t>
            </a:r>
            <a:r>
              <a:rPr lang="es-EC" dirty="0"/>
              <a:t>)</a:t>
            </a:r>
          </a:p>
          <a:p>
            <a:pPr algn="ctr"/>
            <a:r>
              <a:rPr lang="es-EC" dirty="0"/>
              <a:t>Nombre </a:t>
            </a:r>
            <a:r>
              <a:rPr lang="es-EC" dirty="0" err="1"/>
              <a:t>char</a:t>
            </a:r>
            <a:r>
              <a:rPr lang="es-EC" dirty="0"/>
              <a:t>(30)</a:t>
            </a:r>
          </a:p>
        </p:txBody>
      </p:sp>
      <p:sp>
        <p:nvSpPr>
          <p:cNvPr id="19" name="18 Rectángulo"/>
          <p:cNvSpPr/>
          <p:nvPr/>
        </p:nvSpPr>
        <p:spPr>
          <a:xfrm>
            <a:off x="6929454" y="5072074"/>
            <a:ext cx="2071702" cy="4905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MUJER</a:t>
            </a:r>
          </a:p>
        </p:txBody>
      </p:sp>
      <p:cxnSp>
        <p:nvCxnSpPr>
          <p:cNvPr id="20" name="19 Conector recto"/>
          <p:cNvCxnSpPr>
            <a:stCxn id="16" idx="3"/>
            <a:endCxn id="18" idx="1"/>
          </p:cNvCxnSpPr>
          <p:nvPr/>
        </p:nvCxnSpPr>
        <p:spPr>
          <a:xfrm>
            <a:off x="2000232" y="5857892"/>
            <a:ext cx="492922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20 Conector recto"/>
          <p:cNvCxnSpPr/>
          <p:nvPr/>
        </p:nvCxnSpPr>
        <p:spPr>
          <a:xfrm rot="5400000">
            <a:off x="2036745" y="5822173"/>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21 Conector recto"/>
          <p:cNvCxnSpPr/>
          <p:nvPr/>
        </p:nvCxnSpPr>
        <p:spPr>
          <a:xfrm rot="5400000">
            <a:off x="6392875" y="5821379"/>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24" name="23 Elipse"/>
          <p:cNvSpPr/>
          <p:nvPr/>
        </p:nvSpPr>
        <p:spPr>
          <a:xfrm>
            <a:off x="5572132" y="5715016"/>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5" name="24 Elipse"/>
          <p:cNvSpPr/>
          <p:nvPr/>
        </p:nvSpPr>
        <p:spPr>
          <a:xfrm>
            <a:off x="3500430" y="5715016"/>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6" name="25 Rectángulo"/>
          <p:cNvSpPr/>
          <p:nvPr/>
        </p:nvSpPr>
        <p:spPr>
          <a:xfrm>
            <a:off x="3786182" y="5214950"/>
            <a:ext cx="1785950" cy="128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err="1"/>
              <a:t>idMujer</a:t>
            </a:r>
            <a:r>
              <a:rPr lang="es-EC" dirty="0"/>
              <a:t> </a:t>
            </a:r>
            <a:r>
              <a:rPr lang="es-EC" dirty="0" err="1"/>
              <a:t>int</a:t>
            </a:r>
            <a:r>
              <a:rPr lang="es-EC" dirty="0"/>
              <a:t> (</a:t>
            </a:r>
            <a:r>
              <a:rPr lang="es-EC" dirty="0" err="1"/>
              <a:t>fk</a:t>
            </a:r>
            <a:r>
              <a:rPr lang="es-EC" dirty="0"/>
              <a:t>)</a:t>
            </a:r>
          </a:p>
          <a:p>
            <a:pPr algn="ctr"/>
            <a:r>
              <a:rPr lang="es-EC" dirty="0" err="1"/>
              <a:t>idHombre</a:t>
            </a:r>
            <a:r>
              <a:rPr lang="es-EC" dirty="0"/>
              <a:t> </a:t>
            </a:r>
            <a:r>
              <a:rPr lang="es-EC" dirty="0" err="1"/>
              <a:t>int</a:t>
            </a:r>
            <a:r>
              <a:rPr lang="es-EC" dirty="0"/>
              <a:t> (</a:t>
            </a:r>
            <a:r>
              <a:rPr lang="es-EC" dirty="0" err="1"/>
              <a:t>fk</a:t>
            </a:r>
            <a:r>
              <a:rPr lang="es-EC" dirty="0"/>
              <a:t>)</a:t>
            </a:r>
          </a:p>
        </p:txBody>
      </p:sp>
      <p:sp>
        <p:nvSpPr>
          <p:cNvPr id="27" name="26 Rectángulo"/>
          <p:cNvSpPr/>
          <p:nvPr/>
        </p:nvSpPr>
        <p:spPr>
          <a:xfrm>
            <a:off x="3786182" y="5072074"/>
            <a:ext cx="1785950" cy="4905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MATRIMONIO</a:t>
            </a:r>
          </a:p>
        </p:txBody>
      </p:sp>
      <p:cxnSp>
        <p:nvCxnSpPr>
          <p:cNvPr id="28" name="27 Conector recto"/>
          <p:cNvCxnSpPr/>
          <p:nvPr/>
        </p:nvCxnSpPr>
        <p:spPr>
          <a:xfrm rot="5400000">
            <a:off x="2035157" y="5821379"/>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28 Conector recto"/>
          <p:cNvCxnSpPr/>
          <p:nvPr/>
        </p:nvCxnSpPr>
        <p:spPr>
          <a:xfrm rot="5400000">
            <a:off x="3251191" y="5821379"/>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29 Conector recto"/>
          <p:cNvCxnSpPr/>
          <p:nvPr/>
        </p:nvCxnSpPr>
        <p:spPr>
          <a:xfrm rot="5400000">
            <a:off x="5608645" y="5821379"/>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31" name="30 CuadroTexto"/>
          <p:cNvSpPr txBox="1"/>
          <p:nvPr/>
        </p:nvSpPr>
        <p:spPr>
          <a:xfrm>
            <a:off x="5500694" y="6072206"/>
            <a:ext cx="1571636" cy="307777"/>
          </a:xfrm>
          <a:prstGeom prst="rect">
            <a:avLst/>
          </a:prstGeom>
          <a:noFill/>
        </p:spPr>
        <p:txBody>
          <a:bodyPr wrap="square" rtlCol="0">
            <a:spAutoFit/>
          </a:bodyPr>
          <a:lstStyle/>
          <a:p>
            <a:r>
              <a:rPr lang="es-EC" sz="1400" dirty="0" err="1"/>
              <a:t>idMujer</a:t>
            </a:r>
            <a:r>
              <a:rPr lang="es-EC" sz="1400" dirty="0"/>
              <a:t>= </a:t>
            </a:r>
            <a:r>
              <a:rPr lang="es-EC" sz="1400" dirty="0" err="1"/>
              <a:t>idMujer</a:t>
            </a:r>
            <a:endParaRPr lang="es-EC" sz="1400" dirty="0"/>
          </a:p>
        </p:txBody>
      </p:sp>
      <p:sp>
        <p:nvSpPr>
          <p:cNvPr id="32" name="31 CuadroTexto"/>
          <p:cNvSpPr txBox="1"/>
          <p:nvPr/>
        </p:nvSpPr>
        <p:spPr>
          <a:xfrm>
            <a:off x="2000232" y="6072206"/>
            <a:ext cx="1785950" cy="307777"/>
          </a:xfrm>
          <a:prstGeom prst="rect">
            <a:avLst/>
          </a:prstGeom>
          <a:noFill/>
        </p:spPr>
        <p:txBody>
          <a:bodyPr wrap="square" rtlCol="0">
            <a:spAutoFit/>
          </a:bodyPr>
          <a:lstStyle/>
          <a:p>
            <a:r>
              <a:rPr lang="es-EC" sz="1400" dirty="0" err="1"/>
              <a:t>idHombre</a:t>
            </a:r>
            <a:r>
              <a:rPr lang="es-EC" sz="1400" dirty="0"/>
              <a:t>= </a:t>
            </a:r>
            <a:r>
              <a:rPr lang="es-EC" sz="1400" dirty="0" err="1"/>
              <a:t>idHombre</a:t>
            </a:r>
            <a:endParaRPr lang="es-EC"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4"/>
            <a:ext cx="8229600" cy="1143000"/>
          </a:xfrm>
        </p:spPr>
        <p:txBody>
          <a:bodyPr/>
          <a:lstStyle/>
          <a:p>
            <a:r>
              <a:rPr lang="es-EC" dirty="0"/>
              <a:t>Relaciones 1:1</a:t>
            </a:r>
          </a:p>
        </p:txBody>
      </p:sp>
      <p:sp>
        <p:nvSpPr>
          <p:cNvPr id="3" name="2 Marcador de contenido"/>
          <p:cNvSpPr>
            <a:spLocks noGrp="1"/>
          </p:cNvSpPr>
          <p:nvPr>
            <p:ph idx="1"/>
          </p:nvPr>
        </p:nvSpPr>
        <p:spPr>
          <a:xfrm>
            <a:off x="457200" y="857232"/>
            <a:ext cx="8229600" cy="1571636"/>
          </a:xfrm>
        </p:spPr>
        <p:txBody>
          <a:bodyPr>
            <a:normAutofit fontScale="70000" lnSpcReduction="20000"/>
          </a:bodyPr>
          <a:lstStyle/>
          <a:p>
            <a:r>
              <a:rPr lang="es-EC" dirty="0"/>
              <a:t>Si una de las entidades que participa en la </a:t>
            </a:r>
            <a:r>
              <a:rPr lang="es-EC" dirty="0" err="1"/>
              <a:t>relacion</a:t>
            </a:r>
            <a:r>
              <a:rPr lang="es-EC" dirty="0"/>
              <a:t> posee cardinalidad (0,1), mientras que en la otra es (1,1), conviene propagar la clave de la entidad con cardinalidad (1,1) a la tabla resultante de la entidad de  </a:t>
            </a:r>
            <a:r>
              <a:rPr lang="es-EC" dirty="0" err="1"/>
              <a:t>cardinalidades</a:t>
            </a:r>
            <a:r>
              <a:rPr lang="es-EC" dirty="0"/>
              <a:t> (0,1) con el fin de evitar que aparezcan valores nulos.</a:t>
            </a:r>
          </a:p>
        </p:txBody>
      </p:sp>
      <p:sp>
        <p:nvSpPr>
          <p:cNvPr id="4" name="3 Rectángulo"/>
          <p:cNvSpPr/>
          <p:nvPr/>
        </p:nvSpPr>
        <p:spPr>
          <a:xfrm>
            <a:off x="285720" y="2500306"/>
            <a:ext cx="2276476" cy="185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dirty="0" err="1"/>
              <a:t>idEmpleado</a:t>
            </a:r>
            <a:r>
              <a:rPr lang="es-EC" sz="2000" dirty="0"/>
              <a:t> </a:t>
            </a:r>
          </a:p>
          <a:p>
            <a:r>
              <a:rPr lang="es-EC" sz="2000" dirty="0"/>
              <a:t>Nombre</a:t>
            </a:r>
          </a:p>
          <a:p>
            <a:r>
              <a:rPr lang="es-EC" sz="2000" dirty="0"/>
              <a:t>Dirección</a:t>
            </a:r>
          </a:p>
          <a:p>
            <a:r>
              <a:rPr lang="es-EC" sz="2000" dirty="0"/>
              <a:t>Teléfono</a:t>
            </a:r>
          </a:p>
          <a:p>
            <a:endParaRPr lang="es-EC" sz="2000" dirty="0"/>
          </a:p>
        </p:txBody>
      </p:sp>
      <p:sp>
        <p:nvSpPr>
          <p:cNvPr id="5" name="4 Rectángulo"/>
          <p:cNvSpPr/>
          <p:nvPr/>
        </p:nvSpPr>
        <p:spPr>
          <a:xfrm>
            <a:off x="285720" y="2285992"/>
            <a:ext cx="2276476" cy="385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EMPLEADO</a:t>
            </a:r>
          </a:p>
        </p:txBody>
      </p:sp>
      <p:sp>
        <p:nvSpPr>
          <p:cNvPr id="6" name="5 Rectángulo"/>
          <p:cNvSpPr/>
          <p:nvPr/>
        </p:nvSpPr>
        <p:spPr>
          <a:xfrm>
            <a:off x="6224614" y="2571744"/>
            <a:ext cx="2419352" cy="16430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dirty="0" err="1"/>
              <a:t>idDepartamento</a:t>
            </a:r>
            <a:endParaRPr lang="es-EC" sz="2000" dirty="0"/>
          </a:p>
          <a:p>
            <a:r>
              <a:rPr lang="es-EC" sz="2000" dirty="0"/>
              <a:t>Nombre</a:t>
            </a:r>
          </a:p>
        </p:txBody>
      </p:sp>
      <p:sp>
        <p:nvSpPr>
          <p:cNvPr id="7" name="6 Rectángulo"/>
          <p:cNvSpPr/>
          <p:nvPr/>
        </p:nvSpPr>
        <p:spPr>
          <a:xfrm>
            <a:off x="6224614" y="2571744"/>
            <a:ext cx="2419352"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DEPARTAMENTO</a:t>
            </a:r>
          </a:p>
        </p:txBody>
      </p:sp>
      <p:sp>
        <p:nvSpPr>
          <p:cNvPr id="8" name="7 Rombo"/>
          <p:cNvSpPr/>
          <p:nvPr/>
        </p:nvSpPr>
        <p:spPr>
          <a:xfrm>
            <a:off x="3571868" y="2857496"/>
            <a:ext cx="1714512" cy="107157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dirige</a:t>
            </a:r>
          </a:p>
        </p:txBody>
      </p:sp>
      <p:cxnSp>
        <p:nvCxnSpPr>
          <p:cNvPr id="9" name="8 Conector recto"/>
          <p:cNvCxnSpPr>
            <a:stCxn id="8" idx="3"/>
            <a:endCxn id="6" idx="1"/>
          </p:cNvCxnSpPr>
          <p:nvPr/>
        </p:nvCxnSpPr>
        <p:spPr>
          <a:xfrm>
            <a:off x="5286380" y="3393281"/>
            <a:ext cx="93823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a:stCxn id="8" idx="1"/>
            <a:endCxn id="4" idx="3"/>
          </p:cNvCxnSpPr>
          <p:nvPr/>
        </p:nvCxnSpPr>
        <p:spPr>
          <a:xfrm rot="10800000" flipV="1">
            <a:off x="2562196" y="3393280"/>
            <a:ext cx="1009672" cy="357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rot="5400000">
            <a:off x="2678893" y="3464719"/>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rot="5400000">
            <a:off x="5680083" y="3392487"/>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15" name="14 Elipse"/>
          <p:cNvSpPr/>
          <p:nvPr/>
        </p:nvSpPr>
        <p:spPr>
          <a:xfrm>
            <a:off x="5929322" y="3214686"/>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6" name="15 Rectángulo"/>
          <p:cNvSpPr/>
          <p:nvPr/>
        </p:nvSpPr>
        <p:spPr>
          <a:xfrm>
            <a:off x="323528" y="4786916"/>
            <a:ext cx="2571768" cy="16664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u="sng" dirty="0" err="1"/>
              <a:t>idEmpleado</a:t>
            </a:r>
            <a:r>
              <a:rPr lang="es-EC" sz="2000" dirty="0"/>
              <a:t> </a:t>
            </a:r>
            <a:r>
              <a:rPr lang="es-EC" sz="2000" dirty="0" err="1"/>
              <a:t>int</a:t>
            </a:r>
            <a:r>
              <a:rPr lang="es-EC" sz="2000" dirty="0"/>
              <a:t> (</a:t>
            </a:r>
            <a:r>
              <a:rPr lang="es-EC" sz="2000" dirty="0" err="1"/>
              <a:t>pk</a:t>
            </a:r>
            <a:r>
              <a:rPr lang="es-EC" sz="2000" dirty="0"/>
              <a:t>)</a:t>
            </a:r>
          </a:p>
          <a:p>
            <a:r>
              <a:rPr lang="es-EC" sz="2000" dirty="0"/>
              <a:t>Nombre </a:t>
            </a:r>
            <a:r>
              <a:rPr lang="es-EC" sz="2000" dirty="0" err="1"/>
              <a:t>char</a:t>
            </a:r>
            <a:r>
              <a:rPr lang="es-EC" sz="2000" dirty="0"/>
              <a:t>(30)</a:t>
            </a:r>
          </a:p>
          <a:p>
            <a:r>
              <a:rPr lang="es-EC" sz="2000" dirty="0"/>
              <a:t>Dirección   </a:t>
            </a:r>
            <a:r>
              <a:rPr lang="es-EC" sz="2000" dirty="0" err="1"/>
              <a:t>char</a:t>
            </a:r>
            <a:r>
              <a:rPr lang="es-EC" sz="2000" dirty="0"/>
              <a:t>(50)</a:t>
            </a:r>
          </a:p>
          <a:p>
            <a:r>
              <a:rPr lang="es-EC" sz="2000" dirty="0"/>
              <a:t>Teléfono  </a:t>
            </a:r>
            <a:r>
              <a:rPr lang="es-EC" sz="2000" dirty="0" err="1"/>
              <a:t>int</a:t>
            </a:r>
            <a:endParaRPr lang="es-EC" sz="2000" dirty="0"/>
          </a:p>
        </p:txBody>
      </p:sp>
      <p:sp>
        <p:nvSpPr>
          <p:cNvPr id="17" name="16 Rectángulo"/>
          <p:cNvSpPr/>
          <p:nvPr/>
        </p:nvSpPr>
        <p:spPr>
          <a:xfrm>
            <a:off x="323528" y="4615444"/>
            <a:ext cx="2571768" cy="3143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EMPLEADO</a:t>
            </a:r>
          </a:p>
        </p:txBody>
      </p:sp>
      <p:sp>
        <p:nvSpPr>
          <p:cNvPr id="18" name="17 Rectángulo"/>
          <p:cNvSpPr/>
          <p:nvPr/>
        </p:nvSpPr>
        <p:spPr>
          <a:xfrm>
            <a:off x="6224614" y="4786322"/>
            <a:ext cx="2633666" cy="17145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u="sng" dirty="0" err="1"/>
              <a:t>idDepartamento</a:t>
            </a:r>
            <a:r>
              <a:rPr lang="es-EC" sz="2000" dirty="0"/>
              <a:t> </a:t>
            </a:r>
            <a:r>
              <a:rPr lang="es-EC" sz="2000" dirty="0" err="1"/>
              <a:t>int</a:t>
            </a:r>
            <a:r>
              <a:rPr lang="es-EC" sz="2000" dirty="0"/>
              <a:t>(</a:t>
            </a:r>
            <a:r>
              <a:rPr lang="es-EC" sz="2000" dirty="0" err="1"/>
              <a:t>pk</a:t>
            </a:r>
            <a:r>
              <a:rPr lang="es-EC" sz="2000" dirty="0"/>
              <a:t>)</a:t>
            </a:r>
          </a:p>
          <a:p>
            <a:r>
              <a:rPr lang="es-EC" sz="2000" dirty="0"/>
              <a:t>Nombre </a:t>
            </a:r>
            <a:r>
              <a:rPr lang="es-EC" sz="2000" dirty="0" err="1"/>
              <a:t>char</a:t>
            </a:r>
            <a:r>
              <a:rPr lang="es-EC" sz="2000" dirty="0"/>
              <a:t>(30)</a:t>
            </a:r>
          </a:p>
          <a:p>
            <a:r>
              <a:rPr lang="es-EC" sz="2000" dirty="0" err="1"/>
              <a:t>idEmpleado</a:t>
            </a:r>
            <a:r>
              <a:rPr lang="es-EC" sz="2000" dirty="0"/>
              <a:t> </a:t>
            </a:r>
            <a:r>
              <a:rPr lang="es-EC" sz="2000" dirty="0" err="1"/>
              <a:t>int</a:t>
            </a:r>
            <a:r>
              <a:rPr lang="es-EC" sz="2000" dirty="0"/>
              <a:t> (</a:t>
            </a:r>
            <a:r>
              <a:rPr lang="es-EC" sz="2000" dirty="0" err="1"/>
              <a:t>fk</a:t>
            </a:r>
            <a:r>
              <a:rPr lang="es-EC" sz="2000" dirty="0"/>
              <a:t>)</a:t>
            </a:r>
          </a:p>
        </p:txBody>
      </p:sp>
      <p:sp>
        <p:nvSpPr>
          <p:cNvPr id="19" name="18 Rectángulo"/>
          <p:cNvSpPr/>
          <p:nvPr/>
        </p:nvSpPr>
        <p:spPr>
          <a:xfrm>
            <a:off x="6224614" y="4786322"/>
            <a:ext cx="2633666"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DEPARTAMENTO</a:t>
            </a:r>
          </a:p>
        </p:txBody>
      </p:sp>
      <p:cxnSp>
        <p:nvCxnSpPr>
          <p:cNvPr id="21" name="20 Conector recto"/>
          <p:cNvCxnSpPr>
            <a:stCxn id="16" idx="3"/>
            <a:endCxn id="18" idx="1"/>
          </p:cNvCxnSpPr>
          <p:nvPr/>
        </p:nvCxnSpPr>
        <p:spPr>
          <a:xfrm>
            <a:off x="2895296" y="5620126"/>
            <a:ext cx="3329318" cy="234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22 Conector recto"/>
          <p:cNvCxnSpPr/>
          <p:nvPr/>
        </p:nvCxnSpPr>
        <p:spPr>
          <a:xfrm rot="5400000">
            <a:off x="2892413" y="5679297"/>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23 Conector recto"/>
          <p:cNvCxnSpPr/>
          <p:nvPr/>
        </p:nvCxnSpPr>
        <p:spPr>
          <a:xfrm rot="5400000">
            <a:off x="5680083" y="5607065"/>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25" name="24 Elipse"/>
          <p:cNvSpPr/>
          <p:nvPr/>
        </p:nvSpPr>
        <p:spPr>
          <a:xfrm>
            <a:off x="5929322" y="5429264"/>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6" name="35 CuadroTexto"/>
          <p:cNvSpPr txBox="1"/>
          <p:nvPr/>
        </p:nvSpPr>
        <p:spPr>
          <a:xfrm>
            <a:off x="3500430" y="5264363"/>
            <a:ext cx="2786082" cy="307777"/>
          </a:xfrm>
          <a:prstGeom prst="rect">
            <a:avLst/>
          </a:prstGeom>
          <a:noFill/>
        </p:spPr>
        <p:txBody>
          <a:bodyPr wrap="square" rtlCol="0">
            <a:spAutoFit/>
          </a:bodyPr>
          <a:lstStyle/>
          <a:p>
            <a:r>
              <a:rPr lang="es-EC" sz="1400" dirty="0" err="1"/>
              <a:t>idEmpleado</a:t>
            </a:r>
            <a:r>
              <a:rPr lang="es-EC" sz="1400" dirty="0"/>
              <a:t>= </a:t>
            </a:r>
            <a:r>
              <a:rPr lang="es-EC" sz="1400" dirty="0" err="1"/>
              <a:t>idEmpleado</a:t>
            </a:r>
            <a:endParaRPr lang="es-EC"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14338"/>
            <a:ext cx="8229600" cy="1143000"/>
          </a:xfrm>
        </p:spPr>
        <p:txBody>
          <a:bodyPr/>
          <a:lstStyle/>
          <a:p>
            <a:r>
              <a:rPr lang="es-EC" dirty="0"/>
              <a:t>Relaciones 1:1</a:t>
            </a:r>
          </a:p>
        </p:txBody>
      </p:sp>
      <p:sp>
        <p:nvSpPr>
          <p:cNvPr id="3" name="2 Marcador de contenido"/>
          <p:cNvSpPr>
            <a:spLocks noGrp="1"/>
          </p:cNvSpPr>
          <p:nvPr>
            <p:ph idx="1"/>
          </p:nvPr>
        </p:nvSpPr>
        <p:spPr>
          <a:xfrm>
            <a:off x="457200" y="600068"/>
            <a:ext cx="8229600" cy="1328734"/>
          </a:xfrm>
        </p:spPr>
        <p:txBody>
          <a:bodyPr>
            <a:normAutofit fontScale="70000" lnSpcReduction="20000"/>
          </a:bodyPr>
          <a:lstStyle/>
          <a:p>
            <a:r>
              <a:rPr lang="es-EC" dirty="0"/>
              <a:t>En el caso de que ambas entidades presenten </a:t>
            </a:r>
            <a:r>
              <a:rPr lang="es-EC" dirty="0" err="1"/>
              <a:t>cardinalidades</a:t>
            </a:r>
            <a:r>
              <a:rPr lang="es-EC" dirty="0"/>
              <a:t> (1,1), se puede propagar la clave de cualquiera de ellas a la tabla resultante de la otra, teniendo en cuenta en este caso los accesos más frecuentes y prioritarios a los datos de las tablas.</a:t>
            </a:r>
          </a:p>
        </p:txBody>
      </p:sp>
      <p:sp>
        <p:nvSpPr>
          <p:cNvPr id="4" name="3 Rectángulo"/>
          <p:cNvSpPr/>
          <p:nvPr/>
        </p:nvSpPr>
        <p:spPr>
          <a:xfrm>
            <a:off x="642910" y="2097898"/>
            <a:ext cx="2276476" cy="128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sz="2000" dirty="0"/>
          </a:p>
          <a:p>
            <a:r>
              <a:rPr lang="es-EC" sz="2000" dirty="0" err="1"/>
              <a:t>codigo</a:t>
            </a:r>
            <a:endParaRPr lang="es-EC" sz="2000" dirty="0"/>
          </a:p>
          <a:p>
            <a:r>
              <a:rPr lang="es-EC" sz="2000" dirty="0"/>
              <a:t>Nombre</a:t>
            </a:r>
          </a:p>
          <a:p>
            <a:r>
              <a:rPr lang="es-EC" sz="2000" dirty="0" err="1"/>
              <a:t>añoFundacion</a:t>
            </a:r>
            <a:endParaRPr lang="es-EC" sz="2000" dirty="0"/>
          </a:p>
          <a:p>
            <a:endParaRPr lang="es-EC" sz="2000" dirty="0"/>
          </a:p>
          <a:p>
            <a:endParaRPr lang="es-EC" sz="2000" dirty="0"/>
          </a:p>
        </p:txBody>
      </p:sp>
      <p:sp>
        <p:nvSpPr>
          <p:cNvPr id="5" name="4 Rectángulo"/>
          <p:cNvSpPr/>
          <p:nvPr/>
        </p:nvSpPr>
        <p:spPr>
          <a:xfrm>
            <a:off x="642910" y="1740708"/>
            <a:ext cx="2276476" cy="385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EQUIPO</a:t>
            </a:r>
          </a:p>
        </p:txBody>
      </p:sp>
      <p:sp>
        <p:nvSpPr>
          <p:cNvPr id="6" name="5 Rectángulo"/>
          <p:cNvSpPr/>
          <p:nvPr/>
        </p:nvSpPr>
        <p:spPr>
          <a:xfrm>
            <a:off x="6581804" y="1812146"/>
            <a:ext cx="1633534" cy="15001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sz="2000" dirty="0"/>
          </a:p>
          <a:p>
            <a:r>
              <a:rPr lang="es-EC" sz="2000" dirty="0"/>
              <a:t>cedula</a:t>
            </a:r>
          </a:p>
          <a:p>
            <a:r>
              <a:rPr lang="es-EC" sz="2000" dirty="0"/>
              <a:t>Nombre</a:t>
            </a:r>
          </a:p>
          <a:p>
            <a:r>
              <a:rPr lang="es-EC" sz="2000" dirty="0"/>
              <a:t>Apellido</a:t>
            </a:r>
          </a:p>
        </p:txBody>
      </p:sp>
      <p:sp>
        <p:nvSpPr>
          <p:cNvPr id="7" name="6 Rectángulo"/>
          <p:cNvSpPr/>
          <p:nvPr/>
        </p:nvSpPr>
        <p:spPr>
          <a:xfrm>
            <a:off x="6581804" y="1812146"/>
            <a:ext cx="1633534"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PRESIDENTE</a:t>
            </a:r>
          </a:p>
        </p:txBody>
      </p:sp>
      <p:sp>
        <p:nvSpPr>
          <p:cNvPr id="8" name="7 Rombo"/>
          <p:cNvSpPr/>
          <p:nvPr/>
        </p:nvSpPr>
        <p:spPr>
          <a:xfrm>
            <a:off x="3929058" y="2169336"/>
            <a:ext cx="1714512" cy="107157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tiene</a:t>
            </a:r>
          </a:p>
        </p:txBody>
      </p:sp>
      <p:cxnSp>
        <p:nvCxnSpPr>
          <p:cNvPr id="9" name="8 Conector recto"/>
          <p:cNvCxnSpPr>
            <a:stCxn id="8" idx="3"/>
            <a:endCxn id="6" idx="1"/>
          </p:cNvCxnSpPr>
          <p:nvPr/>
        </p:nvCxnSpPr>
        <p:spPr>
          <a:xfrm flipV="1">
            <a:off x="5643570" y="2562245"/>
            <a:ext cx="938234" cy="142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a:stCxn id="8" idx="1"/>
            <a:endCxn id="4" idx="3"/>
          </p:cNvCxnSpPr>
          <p:nvPr/>
        </p:nvCxnSpPr>
        <p:spPr>
          <a:xfrm rot="10800000" flipV="1">
            <a:off x="2919386" y="2705120"/>
            <a:ext cx="1009672" cy="357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rot="5400000">
            <a:off x="3036083" y="2704327"/>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rot="5400000">
            <a:off x="6037273" y="2704327"/>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p:cNvCxnSpPr>
            <a:endCxn id="24" idx="1"/>
          </p:cNvCxnSpPr>
          <p:nvPr/>
        </p:nvCxnSpPr>
        <p:spPr>
          <a:xfrm flipV="1">
            <a:off x="2857488" y="4312476"/>
            <a:ext cx="3429024" cy="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rot="5400000">
            <a:off x="2892413" y="4348195"/>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19 Conector recto"/>
          <p:cNvCxnSpPr/>
          <p:nvPr/>
        </p:nvCxnSpPr>
        <p:spPr>
          <a:xfrm rot="5400000">
            <a:off x="5680083" y="4275963"/>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22" name="21 CuadroTexto"/>
          <p:cNvSpPr txBox="1"/>
          <p:nvPr/>
        </p:nvSpPr>
        <p:spPr>
          <a:xfrm>
            <a:off x="3500430" y="3933261"/>
            <a:ext cx="2786082" cy="307777"/>
          </a:xfrm>
          <a:prstGeom prst="rect">
            <a:avLst/>
          </a:prstGeom>
          <a:noFill/>
        </p:spPr>
        <p:txBody>
          <a:bodyPr wrap="square" rtlCol="0">
            <a:spAutoFit/>
          </a:bodyPr>
          <a:lstStyle/>
          <a:p>
            <a:r>
              <a:rPr lang="es-EC" sz="1400" dirty="0" err="1"/>
              <a:t>codigo</a:t>
            </a:r>
            <a:r>
              <a:rPr lang="es-EC" sz="1400" dirty="0"/>
              <a:t>= </a:t>
            </a:r>
            <a:r>
              <a:rPr lang="es-EC" sz="1400" dirty="0" err="1"/>
              <a:t>codigo</a:t>
            </a:r>
            <a:endParaRPr lang="es-EC" sz="1400" dirty="0"/>
          </a:p>
        </p:txBody>
      </p:sp>
      <p:sp>
        <p:nvSpPr>
          <p:cNvPr id="24" name="23 Rectángulo"/>
          <p:cNvSpPr/>
          <p:nvPr/>
        </p:nvSpPr>
        <p:spPr>
          <a:xfrm>
            <a:off x="6286512" y="3455220"/>
            <a:ext cx="2419352" cy="17145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sz="2000" dirty="0"/>
          </a:p>
          <a:p>
            <a:endParaRPr lang="es-EC" sz="2000" dirty="0"/>
          </a:p>
          <a:p>
            <a:r>
              <a:rPr lang="es-EC" sz="2000" u="sng" dirty="0"/>
              <a:t>Cedula</a:t>
            </a:r>
            <a:r>
              <a:rPr lang="es-EC" sz="2000" dirty="0"/>
              <a:t>  </a:t>
            </a:r>
            <a:r>
              <a:rPr lang="es-EC" sz="2000" dirty="0" err="1"/>
              <a:t>char</a:t>
            </a:r>
            <a:r>
              <a:rPr lang="es-EC" sz="2000" dirty="0"/>
              <a:t> (12) (</a:t>
            </a:r>
            <a:r>
              <a:rPr lang="es-EC" sz="2000" dirty="0" err="1"/>
              <a:t>pk</a:t>
            </a:r>
            <a:r>
              <a:rPr lang="es-EC" sz="2000" dirty="0"/>
              <a:t>)</a:t>
            </a:r>
          </a:p>
          <a:p>
            <a:r>
              <a:rPr lang="es-EC" sz="2000" dirty="0"/>
              <a:t>Nombre </a:t>
            </a:r>
            <a:r>
              <a:rPr lang="es-EC" sz="2000" dirty="0" err="1"/>
              <a:t>char</a:t>
            </a:r>
            <a:r>
              <a:rPr lang="es-EC" sz="2000" dirty="0"/>
              <a:t>(30)</a:t>
            </a:r>
          </a:p>
          <a:p>
            <a:r>
              <a:rPr lang="es-EC" sz="2000" dirty="0"/>
              <a:t>Apellido  </a:t>
            </a:r>
            <a:r>
              <a:rPr lang="es-EC" sz="2000" dirty="0" err="1"/>
              <a:t>char</a:t>
            </a:r>
            <a:r>
              <a:rPr lang="es-EC" sz="2000" dirty="0"/>
              <a:t>(30)</a:t>
            </a:r>
          </a:p>
          <a:p>
            <a:r>
              <a:rPr lang="es-EC" sz="2000" dirty="0"/>
              <a:t>Codigo int (fk)</a:t>
            </a:r>
          </a:p>
        </p:txBody>
      </p:sp>
      <p:sp>
        <p:nvSpPr>
          <p:cNvPr id="25" name="24 Rectángulo"/>
          <p:cNvSpPr/>
          <p:nvPr/>
        </p:nvSpPr>
        <p:spPr>
          <a:xfrm>
            <a:off x="6286512" y="3455220"/>
            <a:ext cx="2419352"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PRESIDENTE</a:t>
            </a:r>
          </a:p>
        </p:txBody>
      </p:sp>
      <p:sp>
        <p:nvSpPr>
          <p:cNvPr id="26" name="25 Rectángulo"/>
          <p:cNvSpPr/>
          <p:nvPr/>
        </p:nvSpPr>
        <p:spPr>
          <a:xfrm>
            <a:off x="571472" y="3883848"/>
            <a:ext cx="2276476" cy="11430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sz="2000" dirty="0"/>
          </a:p>
          <a:p>
            <a:endParaRPr lang="es-EC" sz="2000" dirty="0"/>
          </a:p>
          <a:p>
            <a:r>
              <a:rPr lang="es-EC" sz="2000" u="sng" dirty="0" err="1"/>
              <a:t>Codigo</a:t>
            </a:r>
            <a:r>
              <a:rPr lang="es-EC" sz="2000" dirty="0"/>
              <a:t>  </a:t>
            </a:r>
            <a:r>
              <a:rPr lang="es-EC" sz="2000" dirty="0" err="1"/>
              <a:t>int</a:t>
            </a:r>
            <a:r>
              <a:rPr lang="es-EC" sz="2000" dirty="0"/>
              <a:t> (</a:t>
            </a:r>
            <a:r>
              <a:rPr lang="es-EC" sz="2000" dirty="0" err="1"/>
              <a:t>pk</a:t>
            </a:r>
            <a:r>
              <a:rPr lang="es-EC" sz="2000" dirty="0"/>
              <a:t>)</a:t>
            </a:r>
          </a:p>
          <a:p>
            <a:r>
              <a:rPr lang="es-EC" sz="2000" dirty="0"/>
              <a:t>Nombre  </a:t>
            </a:r>
            <a:r>
              <a:rPr lang="es-EC" sz="2000" dirty="0" err="1"/>
              <a:t>char</a:t>
            </a:r>
            <a:r>
              <a:rPr lang="es-EC" sz="2000" dirty="0"/>
              <a:t>(50)</a:t>
            </a:r>
          </a:p>
          <a:p>
            <a:r>
              <a:rPr lang="es-EC" sz="2000" dirty="0" err="1"/>
              <a:t>añoFundacion</a:t>
            </a:r>
            <a:r>
              <a:rPr lang="es-EC" sz="2000" dirty="0"/>
              <a:t>  </a:t>
            </a:r>
            <a:r>
              <a:rPr lang="es-EC" sz="2000" dirty="0" err="1"/>
              <a:t>int</a:t>
            </a:r>
            <a:endParaRPr lang="es-EC" sz="2000" dirty="0"/>
          </a:p>
          <a:p>
            <a:endParaRPr lang="es-EC" sz="2000" dirty="0"/>
          </a:p>
          <a:p>
            <a:endParaRPr lang="es-EC" sz="2000" dirty="0"/>
          </a:p>
        </p:txBody>
      </p:sp>
      <p:sp>
        <p:nvSpPr>
          <p:cNvPr id="27" name="26 Rectángulo"/>
          <p:cNvSpPr/>
          <p:nvPr/>
        </p:nvSpPr>
        <p:spPr>
          <a:xfrm>
            <a:off x="571472" y="3598096"/>
            <a:ext cx="2276476" cy="385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EQUIPO</a:t>
            </a:r>
          </a:p>
        </p:txBody>
      </p:sp>
      <p:cxnSp>
        <p:nvCxnSpPr>
          <p:cNvPr id="29" name="28 Conector recto"/>
          <p:cNvCxnSpPr>
            <a:endCxn id="33" idx="1"/>
          </p:cNvCxnSpPr>
          <p:nvPr/>
        </p:nvCxnSpPr>
        <p:spPr>
          <a:xfrm>
            <a:off x="2786050" y="5955550"/>
            <a:ext cx="3429024"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29 Conector recto"/>
          <p:cNvCxnSpPr/>
          <p:nvPr/>
        </p:nvCxnSpPr>
        <p:spPr>
          <a:xfrm rot="5400000">
            <a:off x="2820975" y="5991269"/>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30 Conector recto"/>
          <p:cNvCxnSpPr/>
          <p:nvPr/>
        </p:nvCxnSpPr>
        <p:spPr>
          <a:xfrm rot="5400000">
            <a:off x="5537207" y="5990475"/>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32" name="31 CuadroTexto"/>
          <p:cNvSpPr txBox="1"/>
          <p:nvPr/>
        </p:nvSpPr>
        <p:spPr>
          <a:xfrm>
            <a:off x="3428992" y="5669798"/>
            <a:ext cx="1857388" cy="307777"/>
          </a:xfrm>
          <a:prstGeom prst="rect">
            <a:avLst/>
          </a:prstGeom>
          <a:noFill/>
        </p:spPr>
        <p:txBody>
          <a:bodyPr wrap="square" rtlCol="0">
            <a:spAutoFit/>
          </a:bodyPr>
          <a:lstStyle/>
          <a:p>
            <a:r>
              <a:rPr lang="es-EC" sz="1400" dirty="0"/>
              <a:t>cedula= cedula</a:t>
            </a:r>
          </a:p>
        </p:txBody>
      </p:sp>
      <p:sp>
        <p:nvSpPr>
          <p:cNvPr id="33" name="32 Rectángulo"/>
          <p:cNvSpPr/>
          <p:nvPr/>
        </p:nvSpPr>
        <p:spPr>
          <a:xfrm>
            <a:off x="6215074" y="5384046"/>
            <a:ext cx="2419352" cy="128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sz="2000" dirty="0"/>
          </a:p>
          <a:p>
            <a:r>
              <a:rPr lang="es-EC" sz="2000" u="sng" dirty="0"/>
              <a:t>Cedula</a:t>
            </a:r>
            <a:r>
              <a:rPr lang="es-EC" sz="2000" dirty="0"/>
              <a:t>  </a:t>
            </a:r>
            <a:r>
              <a:rPr lang="es-EC" sz="2000" dirty="0" err="1"/>
              <a:t>char</a:t>
            </a:r>
            <a:r>
              <a:rPr lang="es-EC" sz="2000" dirty="0"/>
              <a:t> (12) (</a:t>
            </a:r>
            <a:r>
              <a:rPr lang="es-EC" sz="2000" dirty="0" err="1"/>
              <a:t>pk</a:t>
            </a:r>
            <a:r>
              <a:rPr lang="es-EC" sz="2000" dirty="0"/>
              <a:t>)</a:t>
            </a:r>
          </a:p>
          <a:p>
            <a:r>
              <a:rPr lang="es-EC" sz="2000" dirty="0"/>
              <a:t>Nombre </a:t>
            </a:r>
            <a:r>
              <a:rPr lang="es-EC" sz="2000" dirty="0" err="1"/>
              <a:t>char</a:t>
            </a:r>
            <a:r>
              <a:rPr lang="es-EC" sz="2000" dirty="0"/>
              <a:t>(30)</a:t>
            </a:r>
          </a:p>
          <a:p>
            <a:r>
              <a:rPr lang="es-EC" sz="2000" dirty="0"/>
              <a:t>Apellido  </a:t>
            </a:r>
            <a:r>
              <a:rPr lang="es-EC" sz="2000" dirty="0" err="1"/>
              <a:t>char</a:t>
            </a:r>
            <a:r>
              <a:rPr lang="es-EC" sz="2000" dirty="0"/>
              <a:t>(30)</a:t>
            </a:r>
          </a:p>
        </p:txBody>
      </p:sp>
      <p:sp>
        <p:nvSpPr>
          <p:cNvPr id="34" name="33 Rectángulo"/>
          <p:cNvSpPr/>
          <p:nvPr/>
        </p:nvSpPr>
        <p:spPr>
          <a:xfrm>
            <a:off x="6215074" y="5241170"/>
            <a:ext cx="2419352"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PRESIDENTE</a:t>
            </a:r>
          </a:p>
        </p:txBody>
      </p:sp>
      <p:sp>
        <p:nvSpPr>
          <p:cNvPr id="35" name="34 Rectángulo"/>
          <p:cNvSpPr/>
          <p:nvPr/>
        </p:nvSpPr>
        <p:spPr>
          <a:xfrm>
            <a:off x="500034" y="5526922"/>
            <a:ext cx="2276476" cy="1214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sz="2000" dirty="0"/>
          </a:p>
          <a:p>
            <a:endParaRPr lang="es-EC" sz="2000" dirty="0"/>
          </a:p>
          <a:p>
            <a:r>
              <a:rPr lang="es-EC" sz="2000" u="sng" dirty="0" err="1"/>
              <a:t>Codigo</a:t>
            </a:r>
            <a:r>
              <a:rPr lang="es-EC" sz="2000" dirty="0"/>
              <a:t>  </a:t>
            </a:r>
            <a:r>
              <a:rPr lang="es-EC" sz="2000" dirty="0" err="1"/>
              <a:t>int</a:t>
            </a:r>
            <a:r>
              <a:rPr lang="es-EC" sz="2000" dirty="0"/>
              <a:t> (</a:t>
            </a:r>
            <a:r>
              <a:rPr lang="es-EC" sz="2000" dirty="0" err="1"/>
              <a:t>pk</a:t>
            </a:r>
            <a:r>
              <a:rPr lang="es-EC" sz="2000" dirty="0"/>
              <a:t>)</a:t>
            </a:r>
          </a:p>
          <a:p>
            <a:r>
              <a:rPr lang="es-EC" sz="2000" dirty="0"/>
              <a:t>Nombre  </a:t>
            </a:r>
            <a:r>
              <a:rPr lang="es-EC" sz="2000" dirty="0" err="1"/>
              <a:t>char</a:t>
            </a:r>
            <a:r>
              <a:rPr lang="es-EC" sz="2000" dirty="0"/>
              <a:t>(50)</a:t>
            </a:r>
          </a:p>
          <a:p>
            <a:r>
              <a:rPr lang="es-EC" sz="2000" dirty="0" err="1"/>
              <a:t>añoFundacion</a:t>
            </a:r>
            <a:r>
              <a:rPr lang="es-EC" sz="2000" dirty="0"/>
              <a:t>  </a:t>
            </a:r>
            <a:r>
              <a:rPr lang="es-EC" sz="2000" dirty="0" err="1"/>
              <a:t>int</a:t>
            </a:r>
            <a:endParaRPr lang="es-EC" sz="2000" dirty="0"/>
          </a:p>
          <a:p>
            <a:r>
              <a:rPr lang="es-EC" sz="2000" dirty="0"/>
              <a:t>Cedula </a:t>
            </a:r>
            <a:r>
              <a:rPr lang="es-EC" sz="2000" dirty="0" err="1"/>
              <a:t>char</a:t>
            </a:r>
            <a:r>
              <a:rPr lang="es-EC" sz="2000" dirty="0"/>
              <a:t>(12) (</a:t>
            </a:r>
            <a:r>
              <a:rPr lang="es-EC" sz="2000" dirty="0" err="1"/>
              <a:t>fk</a:t>
            </a:r>
            <a:r>
              <a:rPr lang="es-EC" sz="2000" dirty="0"/>
              <a:t>)</a:t>
            </a:r>
          </a:p>
          <a:p>
            <a:endParaRPr lang="es-EC" sz="2000" dirty="0"/>
          </a:p>
          <a:p>
            <a:endParaRPr lang="es-EC" sz="2000" dirty="0"/>
          </a:p>
        </p:txBody>
      </p:sp>
      <p:sp>
        <p:nvSpPr>
          <p:cNvPr id="36" name="35 Rectángulo"/>
          <p:cNvSpPr/>
          <p:nvPr/>
        </p:nvSpPr>
        <p:spPr>
          <a:xfrm>
            <a:off x="500034" y="5141160"/>
            <a:ext cx="2276476" cy="385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EQUIPO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dirty="0"/>
              <a:t>Relaciones 1:M</a:t>
            </a:r>
          </a:p>
        </p:txBody>
      </p:sp>
      <p:sp>
        <p:nvSpPr>
          <p:cNvPr id="3" name="2 Marcador de contenido"/>
          <p:cNvSpPr>
            <a:spLocks noGrp="1"/>
          </p:cNvSpPr>
          <p:nvPr>
            <p:ph idx="1"/>
          </p:nvPr>
        </p:nvSpPr>
        <p:spPr/>
        <p:txBody>
          <a:bodyPr>
            <a:normAutofit fontScale="92500"/>
          </a:bodyPr>
          <a:lstStyle/>
          <a:p>
            <a:r>
              <a:rPr lang="es-EC" dirty="0"/>
              <a:t>Las tablas obtenidas como transformación de relaciones binarias con cardinalidad uno a varios se pueden eliminar.</a:t>
            </a:r>
          </a:p>
          <a:p>
            <a:r>
              <a:rPr lang="es-EC" dirty="0"/>
              <a:t>Los atributos que formaban parte de la tabla pasan a formar parte de la tabla que representa la entidad con cardinalidad “varios”. </a:t>
            </a:r>
          </a:p>
          <a:p>
            <a:r>
              <a:rPr lang="es-EC" dirty="0"/>
              <a:t>Asimismo, si la relación tuviera atributos propios, también pasarían a la tabla que representa la entidad con cardinalidad “varios”.</a:t>
            </a:r>
          </a:p>
          <a:p>
            <a:endParaRPr lang="es-EC"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4"/>
            <a:ext cx="8229600" cy="1143000"/>
          </a:xfrm>
        </p:spPr>
        <p:txBody>
          <a:bodyPr/>
          <a:lstStyle/>
          <a:p>
            <a:r>
              <a:rPr lang="es-EC" dirty="0"/>
              <a:t>Relaciones 1:M</a:t>
            </a:r>
          </a:p>
        </p:txBody>
      </p:sp>
      <p:sp>
        <p:nvSpPr>
          <p:cNvPr id="4" name="3 Rectángulo"/>
          <p:cNvSpPr/>
          <p:nvPr/>
        </p:nvSpPr>
        <p:spPr>
          <a:xfrm>
            <a:off x="285752" y="4143404"/>
            <a:ext cx="2786050" cy="2285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u="sng" dirty="0" err="1"/>
              <a:t>idEmpleado</a:t>
            </a:r>
            <a:r>
              <a:rPr lang="es-EC" sz="2000" dirty="0"/>
              <a:t> </a:t>
            </a:r>
            <a:r>
              <a:rPr lang="es-EC" sz="2000" dirty="0" err="1"/>
              <a:t>int</a:t>
            </a:r>
            <a:r>
              <a:rPr lang="es-EC" sz="2000" dirty="0"/>
              <a:t> (</a:t>
            </a:r>
            <a:r>
              <a:rPr lang="es-EC" sz="2000" dirty="0" err="1"/>
              <a:t>pk</a:t>
            </a:r>
            <a:r>
              <a:rPr lang="es-EC" sz="2000" dirty="0"/>
              <a:t>)</a:t>
            </a:r>
          </a:p>
          <a:p>
            <a:r>
              <a:rPr lang="es-EC" sz="2000" dirty="0"/>
              <a:t>Nombre    </a:t>
            </a:r>
            <a:r>
              <a:rPr lang="es-EC" sz="2000" dirty="0" err="1"/>
              <a:t>char</a:t>
            </a:r>
            <a:r>
              <a:rPr lang="es-EC" sz="2000" dirty="0"/>
              <a:t>(30)</a:t>
            </a:r>
          </a:p>
          <a:p>
            <a:r>
              <a:rPr lang="es-EC" sz="2000" dirty="0"/>
              <a:t>Dirección  </a:t>
            </a:r>
            <a:r>
              <a:rPr lang="es-EC" sz="2000" dirty="0" err="1"/>
              <a:t>char</a:t>
            </a:r>
            <a:r>
              <a:rPr lang="es-EC" sz="2000" dirty="0"/>
              <a:t>(50)</a:t>
            </a:r>
          </a:p>
          <a:p>
            <a:r>
              <a:rPr lang="es-EC" sz="2000" dirty="0"/>
              <a:t>Teléfono    </a:t>
            </a:r>
            <a:r>
              <a:rPr lang="es-EC" sz="2000" dirty="0" err="1"/>
              <a:t>int</a:t>
            </a:r>
            <a:endParaRPr lang="es-EC" sz="2000" dirty="0"/>
          </a:p>
          <a:p>
            <a:r>
              <a:rPr lang="es-EC" sz="2000" dirty="0" err="1"/>
              <a:t>idDepartamento</a:t>
            </a:r>
            <a:r>
              <a:rPr lang="es-EC" sz="2000" dirty="0"/>
              <a:t> </a:t>
            </a:r>
            <a:r>
              <a:rPr lang="es-EC" sz="2000" dirty="0" err="1"/>
              <a:t>int</a:t>
            </a:r>
            <a:r>
              <a:rPr lang="es-EC" sz="2000" dirty="0"/>
              <a:t>(</a:t>
            </a:r>
            <a:r>
              <a:rPr lang="es-EC" sz="2000" dirty="0" err="1"/>
              <a:t>fk</a:t>
            </a:r>
            <a:r>
              <a:rPr lang="es-EC" sz="2000" dirty="0"/>
              <a:t>)</a:t>
            </a:r>
          </a:p>
        </p:txBody>
      </p:sp>
      <p:sp>
        <p:nvSpPr>
          <p:cNvPr id="5" name="4 Rectángulo"/>
          <p:cNvSpPr/>
          <p:nvPr/>
        </p:nvSpPr>
        <p:spPr>
          <a:xfrm>
            <a:off x="285720" y="4000504"/>
            <a:ext cx="278608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EMPLEADO</a:t>
            </a:r>
          </a:p>
        </p:txBody>
      </p:sp>
      <p:sp>
        <p:nvSpPr>
          <p:cNvPr id="6" name="5 Rectángulo"/>
          <p:cNvSpPr/>
          <p:nvPr/>
        </p:nvSpPr>
        <p:spPr>
          <a:xfrm>
            <a:off x="6000760" y="4429132"/>
            <a:ext cx="2786082" cy="16430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u="sng" dirty="0" err="1"/>
              <a:t>idDepartamento</a:t>
            </a:r>
            <a:r>
              <a:rPr lang="es-EC" sz="2000" dirty="0"/>
              <a:t> </a:t>
            </a:r>
            <a:r>
              <a:rPr lang="es-EC" sz="2000" dirty="0" err="1"/>
              <a:t>int</a:t>
            </a:r>
            <a:r>
              <a:rPr lang="es-EC" sz="2000" dirty="0"/>
              <a:t> (</a:t>
            </a:r>
            <a:r>
              <a:rPr lang="es-EC" sz="2000" dirty="0" err="1"/>
              <a:t>pk</a:t>
            </a:r>
            <a:r>
              <a:rPr lang="es-EC" sz="2000" dirty="0"/>
              <a:t>)</a:t>
            </a:r>
          </a:p>
          <a:p>
            <a:r>
              <a:rPr lang="es-EC" sz="2000" dirty="0"/>
              <a:t>Nombre  </a:t>
            </a:r>
            <a:r>
              <a:rPr lang="es-EC" sz="2000" dirty="0" err="1"/>
              <a:t>char</a:t>
            </a:r>
            <a:r>
              <a:rPr lang="es-EC" sz="2000" dirty="0"/>
              <a:t>(30)</a:t>
            </a:r>
          </a:p>
        </p:txBody>
      </p:sp>
      <p:sp>
        <p:nvSpPr>
          <p:cNvPr id="7" name="6 Rectángulo"/>
          <p:cNvSpPr/>
          <p:nvPr/>
        </p:nvSpPr>
        <p:spPr>
          <a:xfrm>
            <a:off x="6000760" y="4429132"/>
            <a:ext cx="2786082"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DEPARTAMENTO</a:t>
            </a:r>
          </a:p>
        </p:txBody>
      </p:sp>
      <p:cxnSp>
        <p:nvCxnSpPr>
          <p:cNvPr id="9" name="8 Conector recto"/>
          <p:cNvCxnSpPr>
            <a:stCxn id="4" idx="3"/>
            <a:endCxn id="6" idx="1"/>
          </p:cNvCxnSpPr>
          <p:nvPr/>
        </p:nvCxnSpPr>
        <p:spPr>
          <a:xfrm flipV="1">
            <a:off x="3071802" y="5250669"/>
            <a:ext cx="2928958" cy="357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rot="5400000">
            <a:off x="3106727" y="5322107"/>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a:off x="3000364" y="5000636"/>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2 Conector recto"/>
          <p:cNvCxnSpPr/>
          <p:nvPr/>
        </p:nvCxnSpPr>
        <p:spPr>
          <a:xfrm rot="10800000" flipV="1">
            <a:off x="3000364" y="5286388"/>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rot="5400000">
            <a:off x="5608645" y="5321313"/>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23" name="22 CuadroTexto"/>
          <p:cNvSpPr txBox="1"/>
          <p:nvPr/>
        </p:nvSpPr>
        <p:spPr>
          <a:xfrm>
            <a:off x="3143240" y="4786322"/>
            <a:ext cx="3714776" cy="307777"/>
          </a:xfrm>
          <a:prstGeom prst="rect">
            <a:avLst/>
          </a:prstGeom>
          <a:noFill/>
        </p:spPr>
        <p:txBody>
          <a:bodyPr wrap="square" rtlCol="0">
            <a:spAutoFit/>
          </a:bodyPr>
          <a:lstStyle/>
          <a:p>
            <a:r>
              <a:rPr lang="es-EC" sz="1400" dirty="0" err="1"/>
              <a:t>idDepartamento</a:t>
            </a:r>
            <a:r>
              <a:rPr lang="es-EC" sz="1400" dirty="0"/>
              <a:t> = </a:t>
            </a:r>
            <a:r>
              <a:rPr lang="es-EC" sz="1400" dirty="0" err="1"/>
              <a:t>idDepartamento</a:t>
            </a:r>
            <a:endParaRPr lang="es-EC" sz="1400" dirty="0"/>
          </a:p>
        </p:txBody>
      </p:sp>
      <p:sp>
        <p:nvSpPr>
          <p:cNvPr id="24" name="23 Rectángulo"/>
          <p:cNvSpPr/>
          <p:nvPr/>
        </p:nvSpPr>
        <p:spPr>
          <a:xfrm>
            <a:off x="714348" y="1143008"/>
            <a:ext cx="2357454" cy="2285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dirty="0" err="1"/>
              <a:t>idEmpleado</a:t>
            </a:r>
            <a:r>
              <a:rPr lang="es-EC" sz="2000" dirty="0"/>
              <a:t> </a:t>
            </a:r>
          </a:p>
          <a:p>
            <a:r>
              <a:rPr lang="es-EC" sz="2000" dirty="0"/>
              <a:t>Nombre    </a:t>
            </a:r>
          </a:p>
          <a:p>
            <a:r>
              <a:rPr lang="es-EC" sz="2000" dirty="0"/>
              <a:t>Dirección  </a:t>
            </a:r>
          </a:p>
          <a:p>
            <a:r>
              <a:rPr lang="es-EC" sz="2000" dirty="0"/>
              <a:t>Teléfono   </a:t>
            </a:r>
          </a:p>
          <a:p>
            <a:endParaRPr lang="es-EC" sz="2000" dirty="0"/>
          </a:p>
        </p:txBody>
      </p:sp>
      <p:sp>
        <p:nvSpPr>
          <p:cNvPr id="25" name="24 Rectángulo"/>
          <p:cNvSpPr/>
          <p:nvPr/>
        </p:nvSpPr>
        <p:spPr>
          <a:xfrm>
            <a:off x="714348" y="1000108"/>
            <a:ext cx="2357454"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EMPLEADO</a:t>
            </a:r>
          </a:p>
        </p:txBody>
      </p:sp>
      <p:sp>
        <p:nvSpPr>
          <p:cNvPr id="26" name="25 Rectángulo"/>
          <p:cNvSpPr/>
          <p:nvPr/>
        </p:nvSpPr>
        <p:spPr>
          <a:xfrm>
            <a:off x="6000760" y="1428736"/>
            <a:ext cx="2357454" cy="16430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dirty="0" err="1"/>
              <a:t>idDepartamento</a:t>
            </a:r>
            <a:r>
              <a:rPr lang="es-EC" sz="2000" dirty="0"/>
              <a:t> </a:t>
            </a:r>
          </a:p>
          <a:p>
            <a:r>
              <a:rPr lang="es-EC" sz="2000" dirty="0"/>
              <a:t>Nombre  </a:t>
            </a:r>
          </a:p>
        </p:txBody>
      </p:sp>
      <p:sp>
        <p:nvSpPr>
          <p:cNvPr id="27" name="26 Rectángulo"/>
          <p:cNvSpPr/>
          <p:nvPr/>
        </p:nvSpPr>
        <p:spPr>
          <a:xfrm>
            <a:off x="6000760" y="1428736"/>
            <a:ext cx="2357454"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DEPARTAMENTO</a:t>
            </a:r>
          </a:p>
        </p:txBody>
      </p:sp>
      <p:cxnSp>
        <p:nvCxnSpPr>
          <p:cNvPr id="28" name="27 Conector recto"/>
          <p:cNvCxnSpPr>
            <a:stCxn id="24" idx="3"/>
            <a:endCxn id="26" idx="1"/>
          </p:cNvCxnSpPr>
          <p:nvPr/>
        </p:nvCxnSpPr>
        <p:spPr>
          <a:xfrm flipV="1">
            <a:off x="3071802" y="2250273"/>
            <a:ext cx="2928958" cy="3573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28 Conector recto"/>
          <p:cNvCxnSpPr/>
          <p:nvPr/>
        </p:nvCxnSpPr>
        <p:spPr>
          <a:xfrm rot="5400000">
            <a:off x="3106727" y="2321711"/>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29 Conector recto"/>
          <p:cNvCxnSpPr/>
          <p:nvPr/>
        </p:nvCxnSpPr>
        <p:spPr>
          <a:xfrm>
            <a:off x="3000364" y="2000240"/>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30 Conector recto"/>
          <p:cNvCxnSpPr/>
          <p:nvPr/>
        </p:nvCxnSpPr>
        <p:spPr>
          <a:xfrm rot="10800000" flipV="1">
            <a:off x="3000364" y="2285992"/>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31 Conector recto"/>
          <p:cNvCxnSpPr/>
          <p:nvPr/>
        </p:nvCxnSpPr>
        <p:spPr>
          <a:xfrm rot="5400000">
            <a:off x="5608645" y="2320917"/>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36" name="35 Rombo"/>
          <p:cNvSpPr/>
          <p:nvPr/>
        </p:nvSpPr>
        <p:spPr>
          <a:xfrm>
            <a:off x="3786182" y="1785926"/>
            <a:ext cx="1714512" cy="107157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trabaja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42900"/>
            <a:ext cx="8229600" cy="1143000"/>
          </a:xfrm>
        </p:spPr>
        <p:txBody>
          <a:bodyPr/>
          <a:lstStyle/>
          <a:p>
            <a:r>
              <a:rPr lang="es-EC" dirty="0"/>
              <a:t>Relaciones 1:M</a:t>
            </a:r>
          </a:p>
        </p:txBody>
      </p:sp>
      <p:cxnSp>
        <p:nvCxnSpPr>
          <p:cNvPr id="8" name="7 Conector recto"/>
          <p:cNvCxnSpPr>
            <a:stCxn id="26" idx="3"/>
          </p:cNvCxnSpPr>
          <p:nvPr/>
        </p:nvCxnSpPr>
        <p:spPr>
          <a:xfrm flipV="1">
            <a:off x="3000364" y="5322107"/>
            <a:ext cx="3000396" cy="35731"/>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rot="5400000">
            <a:off x="3106727" y="5393545"/>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a:off x="5715008" y="5286388"/>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rot="10800000" flipV="1">
            <a:off x="5715008" y="5072073"/>
            <a:ext cx="357190" cy="214314"/>
          </a:xfrm>
          <a:prstGeom prst="line">
            <a:avLst/>
          </a:prstGeom>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3571868" y="4907173"/>
            <a:ext cx="1857388" cy="307777"/>
          </a:xfrm>
          <a:prstGeom prst="rect">
            <a:avLst/>
          </a:prstGeom>
          <a:noFill/>
        </p:spPr>
        <p:txBody>
          <a:bodyPr wrap="square" rtlCol="0">
            <a:spAutoFit/>
          </a:bodyPr>
          <a:lstStyle/>
          <a:p>
            <a:r>
              <a:rPr lang="es-EC" sz="1400" dirty="0" err="1"/>
              <a:t>idUsuario</a:t>
            </a:r>
            <a:r>
              <a:rPr lang="es-EC" sz="1400" dirty="0"/>
              <a:t>= </a:t>
            </a:r>
            <a:r>
              <a:rPr lang="es-EC" sz="1400" dirty="0" err="1"/>
              <a:t>idUsusario</a:t>
            </a:r>
            <a:endParaRPr lang="es-EC" sz="1400" dirty="0"/>
          </a:p>
        </p:txBody>
      </p:sp>
      <p:sp>
        <p:nvSpPr>
          <p:cNvPr id="14" name="13 Rectángulo"/>
          <p:cNvSpPr/>
          <p:nvPr/>
        </p:nvSpPr>
        <p:spPr>
          <a:xfrm>
            <a:off x="714348" y="1214446"/>
            <a:ext cx="2357454" cy="2285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dirty="0" err="1"/>
              <a:t>idUsuario</a:t>
            </a:r>
            <a:endParaRPr lang="es-EC" sz="2000" dirty="0"/>
          </a:p>
          <a:p>
            <a:r>
              <a:rPr lang="es-EC" sz="2000" dirty="0" err="1"/>
              <a:t>password</a:t>
            </a:r>
            <a:endParaRPr lang="es-EC" sz="2000" dirty="0"/>
          </a:p>
          <a:p>
            <a:r>
              <a:rPr lang="es-EC" sz="2000" dirty="0"/>
              <a:t>nombre</a:t>
            </a:r>
          </a:p>
          <a:p>
            <a:r>
              <a:rPr lang="es-EC" sz="2000" dirty="0"/>
              <a:t>apellido</a:t>
            </a:r>
          </a:p>
          <a:p>
            <a:endParaRPr lang="es-EC" sz="2000" dirty="0"/>
          </a:p>
        </p:txBody>
      </p:sp>
      <p:sp>
        <p:nvSpPr>
          <p:cNvPr id="15" name="14 Rectángulo"/>
          <p:cNvSpPr/>
          <p:nvPr/>
        </p:nvSpPr>
        <p:spPr>
          <a:xfrm>
            <a:off x="714348" y="1071546"/>
            <a:ext cx="2357454"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USUARIO</a:t>
            </a:r>
          </a:p>
        </p:txBody>
      </p:sp>
      <p:sp>
        <p:nvSpPr>
          <p:cNvPr id="16" name="15 Rectángulo"/>
          <p:cNvSpPr/>
          <p:nvPr/>
        </p:nvSpPr>
        <p:spPr>
          <a:xfrm>
            <a:off x="6000760" y="1428736"/>
            <a:ext cx="2357454" cy="185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dirty="0" err="1"/>
              <a:t>idReservacion</a:t>
            </a:r>
            <a:endParaRPr lang="es-EC" sz="2000" dirty="0"/>
          </a:p>
          <a:p>
            <a:r>
              <a:rPr lang="es-EC" sz="2000" dirty="0" err="1"/>
              <a:t>fechaLlegada</a:t>
            </a:r>
            <a:endParaRPr lang="es-EC" sz="2000" dirty="0"/>
          </a:p>
          <a:p>
            <a:r>
              <a:rPr lang="es-EC" sz="2000" dirty="0" err="1"/>
              <a:t>horaLlegada</a:t>
            </a:r>
            <a:endParaRPr lang="es-EC" sz="2000" dirty="0"/>
          </a:p>
          <a:p>
            <a:r>
              <a:rPr lang="es-EC" sz="2000" dirty="0" err="1"/>
              <a:t>diasPermanencia</a:t>
            </a:r>
            <a:endParaRPr lang="es-EC" sz="2000" dirty="0"/>
          </a:p>
        </p:txBody>
      </p:sp>
      <p:sp>
        <p:nvSpPr>
          <p:cNvPr id="17" name="16 Rectángulo"/>
          <p:cNvSpPr/>
          <p:nvPr/>
        </p:nvSpPr>
        <p:spPr>
          <a:xfrm>
            <a:off x="6000760" y="1071546"/>
            <a:ext cx="2357454"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RESERVACION</a:t>
            </a:r>
          </a:p>
        </p:txBody>
      </p:sp>
      <p:cxnSp>
        <p:nvCxnSpPr>
          <p:cNvPr id="18" name="17 Conector recto"/>
          <p:cNvCxnSpPr>
            <a:stCxn id="14" idx="3"/>
            <a:endCxn id="16" idx="1"/>
          </p:cNvCxnSpPr>
          <p:nvPr/>
        </p:nvCxnSpPr>
        <p:spPr>
          <a:xfrm flipV="1">
            <a:off x="3071802" y="2357430"/>
            <a:ext cx="2928958" cy="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rot="5400000">
            <a:off x="3106727" y="2393149"/>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19 Conector recto"/>
          <p:cNvCxnSpPr/>
          <p:nvPr/>
        </p:nvCxnSpPr>
        <p:spPr>
          <a:xfrm>
            <a:off x="5715008" y="2357430"/>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20 Conector recto"/>
          <p:cNvCxnSpPr/>
          <p:nvPr/>
        </p:nvCxnSpPr>
        <p:spPr>
          <a:xfrm rot="10800000" flipV="1">
            <a:off x="5715008" y="2143116"/>
            <a:ext cx="357190" cy="214314"/>
          </a:xfrm>
          <a:prstGeom prst="line">
            <a:avLst/>
          </a:prstGeom>
        </p:spPr>
        <p:style>
          <a:lnRef idx="1">
            <a:schemeClr val="accent1"/>
          </a:lnRef>
          <a:fillRef idx="0">
            <a:schemeClr val="accent1"/>
          </a:fillRef>
          <a:effectRef idx="0">
            <a:schemeClr val="accent1"/>
          </a:effectRef>
          <a:fontRef idx="minor">
            <a:schemeClr val="tx1"/>
          </a:fontRef>
        </p:style>
      </p:cxnSp>
      <p:sp>
        <p:nvSpPr>
          <p:cNvPr id="23" name="22 Rombo"/>
          <p:cNvSpPr/>
          <p:nvPr/>
        </p:nvSpPr>
        <p:spPr>
          <a:xfrm>
            <a:off x="3571868" y="1857364"/>
            <a:ext cx="1785950" cy="107157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registra</a:t>
            </a:r>
          </a:p>
        </p:txBody>
      </p:sp>
      <p:sp>
        <p:nvSpPr>
          <p:cNvPr id="25" name="24 Rectángulo"/>
          <p:cNvSpPr/>
          <p:nvPr/>
        </p:nvSpPr>
        <p:spPr>
          <a:xfrm>
            <a:off x="3500430" y="857232"/>
            <a:ext cx="1928826"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err="1"/>
              <a:t>fechaReservacion</a:t>
            </a:r>
            <a:endParaRPr lang="es-EC" dirty="0"/>
          </a:p>
          <a:p>
            <a:pPr algn="ctr"/>
            <a:r>
              <a:rPr lang="es-EC" dirty="0" err="1"/>
              <a:t>horaReservacion</a:t>
            </a:r>
            <a:endParaRPr lang="es-EC" dirty="0"/>
          </a:p>
        </p:txBody>
      </p:sp>
      <p:sp>
        <p:nvSpPr>
          <p:cNvPr id="26" name="25 Rectángulo"/>
          <p:cNvSpPr/>
          <p:nvPr/>
        </p:nvSpPr>
        <p:spPr>
          <a:xfrm>
            <a:off x="428596" y="4214842"/>
            <a:ext cx="2571768" cy="2285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u="sng" dirty="0" err="1"/>
              <a:t>idUsuario</a:t>
            </a:r>
            <a:r>
              <a:rPr lang="es-EC" sz="2000" dirty="0"/>
              <a:t> </a:t>
            </a:r>
            <a:r>
              <a:rPr lang="es-EC" sz="2000" dirty="0" err="1"/>
              <a:t>char</a:t>
            </a:r>
            <a:r>
              <a:rPr lang="es-EC" sz="2000" dirty="0"/>
              <a:t>(30)(</a:t>
            </a:r>
            <a:r>
              <a:rPr lang="es-EC" sz="2000" dirty="0" err="1"/>
              <a:t>pk</a:t>
            </a:r>
            <a:r>
              <a:rPr lang="es-EC" sz="2000" dirty="0"/>
              <a:t>)</a:t>
            </a:r>
          </a:p>
          <a:p>
            <a:r>
              <a:rPr lang="es-EC" sz="2000" dirty="0" err="1"/>
              <a:t>Password</a:t>
            </a:r>
            <a:r>
              <a:rPr lang="es-EC" sz="2000" dirty="0"/>
              <a:t> </a:t>
            </a:r>
            <a:r>
              <a:rPr lang="es-EC" sz="2000" dirty="0" err="1"/>
              <a:t>char</a:t>
            </a:r>
            <a:r>
              <a:rPr lang="es-EC" sz="2000" dirty="0"/>
              <a:t>(30)</a:t>
            </a:r>
          </a:p>
          <a:p>
            <a:r>
              <a:rPr lang="es-EC" sz="2000" dirty="0"/>
              <a:t>Nombre    </a:t>
            </a:r>
            <a:r>
              <a:rPr lang="es-EC" sz="2000" dirty="0" err="1"/>
              <a:t>char</a:t>
            </a:r>
            <a:r>
              <a:rPr lang="es-EC" sz="2000" dirty="0"/>
              <a:t>(30)</a:t>
            </a:r>
          </a:p>
          <a:p>
            <a:r>
              <a:rPr lang="es-EC" sz="2000" dirty="0"/>
              <a:t>Apellido    </a:t>
            </a:r>
            <a:r>
              <a:rPr lang="es-EC" sz="2000" dirty="0" err="1"/>
              <a:t>char</a:t>
            </a:r>
            <a:r>
              <a:rPr lang="es-EC" sz="2000" dirty="0"/>
              <a:t>(30)</a:t>
            </a:r>
          </a:p>
          <a:p>
            <a:endParaRPr lang="es-EC" sz="2000" dirty="0"/>
          </a:p>
        </p:txBody>
      </p:sp>
      <p:sp>
        <p:nvSpPr>
          <p:cNvPr id="27" name="26 Rectángulo"/>
          <p:cNvSpPr/>
          <p:nvPr/>
        </p:nvSpPr>
        <p:spPr>
          <a:xfrm>
            <a:off x="428596" y="4071918"/>
            <a:ext cx="257176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USUARIO</a:t>
            </a:r>
          </a:p>
        </p:txBody>
      </p:sp>
      <p:sp>
        <p:nvSpPr>
          <p:cNvPr id="31" name="30 Elipse"/>
          <p:cNvSpPr/>
          <p:nvPr/>
        </p:nvSpPr>
        <p:spPr>
          <a:xfrm>
            <a:off x="5429256" y="2214554"/>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2" name="31 Elipse"/>
          <p:cNvSpPr/>
          <p:nvPr/>
        </p:nvSpPr>
        <p:spPr>
          <a:xfrm>
            <a:off x="5429256" y="5143512"/>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5" name="34 Rectángulo"/>
          <p:cNvSpPr/>
          <p:nvPr/>
        </p:nvSpPr>
        <p:spPr>
          <a:xfrm>
            <a:off x="6072198" y="4357694"/>
            <a:ext cx="2714644" cy="22860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u="sng" dirty="0" err="1"/>
              <a:t>idReservacion</a:t>
            </a:r>
            <a:r>
              <a:rPr lang="es-EC" sz="2000" dirty="0"/>
              <a:t> </a:t>
            </a:r>
            <a:r>
              <a:rPr lang="es-EC" sz="2000" dirty="0" err="1"/>
              <a:t>int</a:t>
            </a:r>
            <a:r>
              <a:rPr lang="es-EC" sz="2000" dirty="0"/>
              <a:t> (</a:t>
            </a:r>
            <a:r>
              <a:rPr lang="es-EC" sz="2000" dirty="0" err="1"/>
              <a:t>pk</a:t>
            </a:r>
            <a:r>
              <a:rPr lang="es-EC" sz="2000" dirty="0"/>
              <a:t>)</a:t>
            </a:r>
          </a:p>
          <a:p>
            <a:r>
              <a:rPr lang="es-EC" sz="2000" dirty="0" err="1"/>
              <a:t>fechaLlegada</a:t>
            </a:r>
            <a:r>
              <a:rPr lang="es-EC" sz="2000" dirty="0"/>
              <a:t>   date</a:t>
            </a:r>
          </a:p>
          <a:p>
            <a:r>
              <a:rPr lang="es-EC" sz="2000" dirty="0" err="1"/>
              <a:t>horaLlegada</a:t>
            </a:r>
            <a:r>
              <a:rPr lang="es-EC" sz="2000" dirty="0"/>
              <a:t>   time</a:t>
            </a:r>
          </a:p>
          <a:p>
            <a:r>
              <a:rPr lang="es-EC" sz="2000" dirty="0" err="1"/>
              <a:t>diasPermanencia</a:t>
            </a:r>
            <a:r>
              <a:rPr lang="es-EC" sz="2000" dirty="0"/>
              <a:t>  </a:t>
            </a:r>
            <a:r>
              <a:rPr lang="es-EC" sz="2000" dirty="0" err="1"/>
              <a:t>int</a:t>
            </a:r>
            <a:endParaRPr lang="es-EC" sz="2000" dirty="0"/>
          </a:p>
          <a:p>
            <a:r>
              <a:rPr lang="es-EC" sz="2000" dirty="0" err="1"/>
              <a:t>fechaReservacion</a:t>
            </a:r>
            <a:r>
              <a:rPr lang="es-EC" sz="2000" dirty="0"/>
              <a:t> date</a:t>
            </a:r>
          </a:p>
          <a:p>
            <a:r>
              <a:rPr lang="es-EC" sz="2000" dirty="0" err="1"/>
              <a:t>horaReservacion</a:t>
            </a:r>
            <a:r>
              <a:rPr lang="es-EC" sz="2000" dirty="0"/>
              <a:t> time</a:t>
            </a:r>
          </a:p>
          <a:p>
            <a:r>
              <a:rPr lang="es-EC" sz="2000" dirty="0" err="1"/>
              <a:t>idUsuario</a:t>
            </a:r>
            <a:r>
              <a:rPr lang="es-EC" sz="2000" dirty="0"/>
              <a:t> </a:t>
            </a:r>
            <a:r>
              <a:rPr lang="es-EC" sz="2000" dirty="0" err="1"/>
              <a:t>char</a:t>
            </a:r>
            <a:r>
              <a:rPr lang="es-EC" sz="2000" dirty="0"/>
              <a:t>(30) (</a:t>
            </a:r>
            <a:r>
              <a:rPr lang="es-EC" sz="2000" dirty="0" err="1"/>
              <a:t>fk</a:t>
            </a:r>
            <a:r>
              <a:rPr lang="es-EC" sz="2000" dirty="0"/>
              <a:t>)</a:t>
            </a:r>
          </a:p>
        </p:txBody>
      </p:sp>
      <p:sp>
        <p:nvSpPr>
          <p:cNvPr id="36" name="35 Rectángulo"/>
          <p:cNvSpPr/>
          <p:nvPr/>
        </p:nvSpPr>
        <p:spPr>
          <a:xfrm>
            <a:off x="6072198" y="3929066"/>
            <a:ext cx="2714644"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RESERVACION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Relaciones M:M</a:t>
            </a:r>
          </a:p>
        </p:txBody>
      </p:sp>
      <p:sp>
        <p:nvSpPr>
          <p:cNvPr id="4" name="3 Rectángulo"/>
          <p:cNvSpPr/>
          <p:nvPr/>
        </p:nvSpPr>
        <p:spPr>
          <a:xfrm>
            <a:off x="285720" y="1285884"/>
            <a:ext cx="2276476" cy="2285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dirty="0" err="1"/>
              <a:t>idcliente</a:t>
            </a:r>
            <a:endParaRPr lang="es-EC" sz="2000" dirty="0"/>
          </a:p>
          <a:p>
            <a:r>
              <a:rPr lang="es-EC" sz="2000" dirty="0"/>
              <a:t>Nombre</a:t>
            </a:r>
          </a:p>
          <a:p>
            <a:r>
              <a:rPr lang="es-EC" sz="2000" dirty="0"/>
              <a:t>Apellido</a:t>
            </a:r>
          </a:p>
          <a:p>
            <a:r>
              <a:rPr lang="es-EC" sz="2000" dirty="0"/>
              <a:t>Dirección</a:t>
            </a:r>
          </a:p>
          <a:p>
            <a:r>
              <a:rPr lang="es-EC" sz="2000" dirty="0"/>
              <a:t>Teléfono</a:t>
            </a:r>
          </a:p>
        </p:txBody>
      </p:sp>
      <p:sp>
        <p:nvSpPr>
          <p:cNvPr id="5" name="4 Rectángulo"/>
          <p:cNvSpPr/>
          <p:nvPr/>
        </p:nvSpPr>
        <p:spPr>
          <a:xfrm>
            <a:off x="285720" y="1285860"/>
            <a:ext cx="2276476" cy="385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CLIENTE</a:t>
            </a:r>
          </a:p>
        </p:txBody>
      </p:sp>
      <p:sp>
        <p:nvSpPr>
          <p:cNvPr id="6" name="5 Rectángulo"/>
          <p:cNvSpPr/>
          <p:nvPr/>
        </p:nvSpPr>
        <p:spPr>
          <a:xfrm>
            <a:off x="6224614" y="1571612"/>
            <a:ext cx="2419352" cy="16430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dirty="0" err="1"/>
              <a:t>codProducto</a:t>
            </a:r>
            <a:endParaRPr lang="es-EC" sz="2000" dirty="0"/>
          </a:p>
          <a:p>
            <a:r>
              <a:rPr lang="es-EC" sz="2000" dirty="0" err="1"/>
              <a:t>Descripcion</a:t>
            </a:r>
            <a:endParaRPr lang="es-EC" sz="2000" dirty="0"/>
          </a:p>
        </p:txBody>
      </p:sp>
      <p:sp>
        <p:nvSpPr>
          <p:cNvPr id="7" name="6 Rectángulo"/>
          <p:cNvSpPr/>
          <p:nvPr/>
        </p:nvSpPr>
        <p:spPr>
          <a:xfrm>
            <a:off x="6224614" y="1571612"/>
            <a:ext cx="2419352"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PRODUCTOS</a:t>
            </a:r>
          </a:p>
        </p:txBody>
      </p:sp>
      <p:sp>
        <p:nvSpPr>
          <p:cNvPr id="8" name="7 Rombo"/>
          <p:cNvSpPr/>
          <p:nvPr/>
        </p:nvSpPr>
        <p:spPr>
          <a:xfrm>
            <a:off x="3428992" y="1857364"/>
            <a:ext cx="1857388" cy="107157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compra</a:t>
            </a:r>
          </a:p>
        </p:txBody>
      </p:sp>
      <p:cxnSp>
        <p:nvCxnSpPr>
          <p:cNvPr id="9" name="8 Conector recto"/>
          <p:cNvCxnSpPr>
            <a:stCxn id="8" idx="3"/>
            <a:endCxn id="6" idx="1"/>
          </p:cNvCxnSpPr>
          <p:nvPr/>
        </p:nvCxnSpPr>
        <p:spPr>
          <a:xfrm>
            <a:off x="5286380" y="2393149"/>
            <a:ext cx="93823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a:stCxn id="8" idx="1"/>
            <a:endCxn id="4" idx="3"/>
          </p:cNvCxnSpPr>
          <p:nvPr/>
        </p:nvCxnSpPr>
        <p:spPr>
          <a:xfrm rot="10800000" flipV="1">
            <a:off x="2562196" y="2393148"/>
            <a:ext cx="866796" cy="357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a:off x="2571736" y="2143116"/>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2 Conector recto"/>
          <p:cNvCxnSpPr/>
          <p:nvPr/>
        </p:nvCxnSpPr>
        <p:spPr>
          <a:xfrm rot="10800000" flipV="1">
            <a:off x="2571737" y="2428868"/>
            <a:ext cx="357190" cy="214314"/>
          </a:xfrm>
          <a:prstGeom prst="line">
            <a:avLst/>
          </a:prstGeom>
        </p:spPr>
        <p:style>
          <a:lnRef idx="1">
            <a:schemeClr val="accent1"/>
          </a:lnRef>
          <a:fillRef idx="0">
            <a:schemeClr val="accent1"/>
          </a:fillRef>
          <a:effectRef idx="0">
            <a:schemeClr val="accent1"/>
          </a:effectRef>
          <a:fontRef idx="minor">
            <a:schemeClr val="tx1"/>
          </a:fontRef>
        </p:style>
      </p:cxnSp>
      <p:sp>
        <p:nvSpPr>
          <p:cNvPr id="18" name="17 Rectángulo"/>
          <p:cNvSpPr/>
          <p:nvPr/>
        </p:nvSpPr>
        <p:spPr>
          <a:xfrm>
            <a:off x="3571868" y="1142984"/>
            <a:ext cx="1571636" cy="7858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dirty="0" err="1"/>
              <a:t>fechaCompra</a:t>
            </a:r>
            <a:endParaRPr lang="es-EC" sz="2000" dirty="0"/>
          </a:p>
        </p:txBody>
      </p:sp>
      <p:cxnSp>
        <p:nvCxnSpPr>
          <p:cNvPr id="19" name="18 Conector recto"/>
          <p:cNvCxnSpPr/>
          <p:nvPr/>
        </p:nvCxnSpPr>
        <p:spPr>
          <a:xfrm rot="10800000" flipV="1">
            <a:off x="5857884" y="2143116"/>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19 Conector recto"/>
          <p:cNvCxnSpPr/>
          <p:nvPr/>
        </p:nvCxnSpPr>
        <p:spPr>
          <a:xfrm>
            <a:off x="5857884" y="2428868"/>
            <a:ext cx="357190" cy="214314"/>
          </a:xfrm>
          <a:prstGeom prst="line">
            <a:avLst/>
          </a:prstGeom>
        </p:spPr>
        <p:style>
          <a:lnRef idx="1">
            <a:schemeClr val="accent1"/>
          </a:lnRef>
          <a:fillRef idx="0">
            <a:schemeClr val="accent1"/>
          </a:fillRef>
          <a:effectRef idx="0">
            <a:schemeClr val="accent1"/>
          </a:effectRef>
          <a:fontRef idx="minor">
            <a:schemeClr val="tx1"/>
          </a:fontRef>
        </p:style>
      </p:cxnSp>
      <p:sp>
        <p:nvSpPr>
          <p:cNvPr id="21" name="20 Elipse"/>
          <p:cNvSpPr/>
          <p:nvPr/>
        </p:nvSpPr>
        <p:spPr>
          <a:xfrm>
            <a:off x="5572132" y="2214554"/>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3" name="22 Elipse"/>
          <p:cNvSpPr/>
          <p:nvPr/>
        </p:nvSpPr>
        <p:spPr>
          <a:xfrm>
            <a:off x="2928926" y="2214554"/>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4" name="23 Rectángulo"/>
          <p:cNvSpPr/>
          <p:nvPr/>
        </p:nvSpPr>
        <p:spPr>
          <a:xfrm>
            <a:off x="71406" y="3786190"/>
            <a:ext cx="2143140" cy="2285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u="sng" dirty="0" err="1"/>
              <a:t>Idcliente</a:t>
            </a:r>
            <a:r>
              <a:rPr lang="es-EC" sz="2000" dirty="0"/>
              <a:t> </a:t>
            </a:r>
            <a:r>
              <a:rPr lang="es-EC" sz="2000" dirty="0" err="1"/>
              <a:t>int</a:t>
            </a:r>
            <a:r>
              <a:rPr lang="es-EC" sz="2000" dirty="0"/>
              <a:t> (</a:t>
            </a:r>
            <a:r>
              <a:rPr lang="es-EC" sz="2000" dirty="0" err="1"/>
              <a:t>pk</a:t>
            </a:r>
            <a:r>
              <a:rPr lang="es-EC" sz="2000" dirty="0"/>
              <a:t>)</a:t>
            </a:r>
          </a:p>
          <a:p>
            <a:r>
              <a:rPr lang="es-EC" sz="2000" dirty="0"/>
              <a:t>Nombre  </a:t>
            </a:r>
            <a:r>
              <a:rPr lang="es-EC" sz="2000" dirty="0" err="1"/>
              <a:t>char</a:t>
            </a:r>
            <a:r>
              <a:rPr lang="es-EC" sz="2000" dirty="0"/>
              <a:t>(30)</a:t>
            </a:r>
          </a:p>
          <a:p>
            <a:r>
              <a:rPr lang="es-EC" sz="2000" dirty="0"/>
              <a:t>Apellido  </a:t>
            </a:r>
            <a:r>
              <a:rPr lang="es-EC" sz="2000" dirty="0" err="1"/>
              <a:t>char</a:t>
            </a:r>
            <a:r>
              <a:rPr lang="es-EC" sz="2000" dirty="0"/>
              <a:t>(30)</a:t>
            </a:r>
          </a:p>
          <a:p>
            <a:r>
              <a:rPr lang="es-EC" sz="2000" dirty="0"/>
              <a:t>Dirección  </a:t>
            </a:r>
            <a:r>
              <a:rPr lang="es-EC" sz="2000" dirty="0" err="1"/>
              <a:t>char</a:t>
            </a:r>
            <a:r>
              <a:rPr lang="es-EC" sz="2000" dirty="0"/>
              <a:t>(50)</a:t>
            </a:r>
          </a:p>
          <a:p>
            <a:r>
              <a:rPr lang="es-EC" sz="2000" dirty="0"/>
              <a:t>Teléfono    </a:t>
            </a:r>
            <a:r>
              <a:rPr lang="es-EC" sz="2000" dirty="0" err="1"/>
              <a:t>int</a:t>
            </a:r>
            <a:endParaRPr lang="es-EC" sz="2000" dirty="0"/>
          </a:p>
        </p:txBody>
      </p:sp>
      <p:sp>
        <p:nvSpPr>
          <p:cNvPr id="25" name="24 Rectángulo"/>
          <p:cNvSpPr/>
          <p:nvPr/>
        </p:nvSpPr>
        <p:spPr>
          <a:xfrm>
            <a:off x="71406" y="3786166"/>
            <a:ext cx="2143140" cy="385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CLIENTE</a:t>
            </a:r>
          </a:p>
        </p:txBody>
      </p:sp>
      <p:sp>
        <p:nvSpPr>
          <p:cNvPr id="26" name="25 Rectángulo"/>
          <p:cNvSpPr/>
          <p:nvPr/>
        </p:nvSpPr>
        <p:spPr>
          <a:xfrm>
            <a:off x="6715140" y="4071918"/>
            <a:ext cx="2357454" cy="16430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u="sng" dirty="0" err="1"/>
              <a:t>codProducto</a:t>
            </a:r>
            <a:r>
              <a:rPr lang="es-EC" sz="2000" dirty="0"/>
              <a:t> </a:t>
            </a:r>
            <a:r>
              <a:rPr lang="es-EC" sz="2000" dirty="0" err="1"/>
              <a:t>int</a:t>
            </a:r>
            <a:r>
              <a:rPr lang="es-EC" sz="2000" dirty="0"/>
              <a:t> (</a:t>
            </a:r>
            <a:r>
              <a:rPr lang="es-EC" sz="2000" dirty="0" err="1"/>
              <a:t>pk</a:t>
            </a:r>
            <a:r>
              <a:rPr lang="es-EC" sz="2000" dirty="0"/>
              <a:t>)</a:t>
            </a:r>
          </a:p>
          <a:p>
            <a:r>
              <a:rPr lang="es-EC" sz="2000" dirty="0" err="1"/>
              <a:t>Descripcion</a:t>
            </a:r>
            <a:r>
              <a:rPr lang="es-EC" sz="2000" dirty="0"/>
              <a:t> </a:t>
            </a:r>
            <a:r>
              <a:rPr lang="es-EC" sz="2000" dirty="0" err="1"/>
              <a:t>char</a:t>
            </a:r>
            <a:r>
              <a:rPr lang="es-EC" sz="2000" dirty="0"/>
              <a:t>(50)</a:t>
            </a:r>
          </a:p>
        </p:txBody>
      </p:sp>
      <p:sp>
        <p:nvSpPr>
          <p:cNvPr id="27" name="26 Rectángulo"/>
          <p:cNvSpPr/>
          <p:nvPr/>
        </p:nvSpPr>
        <p:spPr>
          <a:xfrm>
            <a:off x="6715140" y="4071918"/>
            <a:ext cx="2357454"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PRODUCTOS</a:t>
            </a:r>
          </a:p>
        </p:txBody>
      </p:sp>
      <p:cxnSp>
        <p:nvCxnSpPr>
          <p:cNvPr id="29" name="28 Conector recto"/>
          <p:cNvCxnSpPr/>
          <p:nvPr/>
        </p:nvCxnSpPr>
        <p:spPr>
          <a:xfrm>
            <a:off x="5643570" y="4857760"/>
            <a:ext cx="1071570"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29 Conector recto"/>
          <p:cNvCxnSpPr>
            <a:endCxn id="24" idx="3"/>
          </p:cNvCxnSpPr>
          <p:nvPr/>
        </p:nvCxnSpPr>
        <p:spPr>
          <a:xfrm rot="10800000">
            <a:off x="2214546" y="4929186"/>
            <a:ext cx="1285884" cy="1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30 Conector recto"/>
          <p:cNvCxnSpPr/>
          <p:nvPr/>
        </p:nvCxnSpPr>
        <p:spPr>
          <a:xfrm>
            <a:off x="5643570" y="4643446"/>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31 Conector recto"/>
          <p:cNvCxnSpPr/>
          <p:nvPr/>
        </p:nvCxnSpPr>
        <p:spPr>
          <a:xfrm rot="10800000" flipV="1">
            <a:off x="5643571" y="4929198"/>
            <a:ext cx="357190" cy="214314"/>
          </a:xfrm>
          <a:prstGeom prst="line">
            <a:avLst/>
          </a:prstGeom>
        </p:spPr>
        <p:style>
          <a:lnRef idx="1">
            <a:schemeClr val="accent1"/>
          </a:lnRef>
          <a:fillRef idx="0">
            <a:schemeClr val="accent1"/>
          </a:fillRef>
          <a:effectRef idx="0">
            <a:schemeClr val="accent1"/>
          </a:effectRef>
          <a:fontRef idx="minor">
            <a:schemeClr val="tx1"/>
          </a:fontRef>
        </p:style>
      </p:cxnSp>
      <p:sp>
        <p:nvSpPr>
          <p:cNvPr id="33" name="32 Rectángulo"/>
          <p:cNvSpPr/>
          <p:nvPr/>
        </p:nvSpPr>
        <p:spPr>
          <a:xfrm>
            <a:off x="3357554" y="4572008"/>
            <a:ext cx="2286016" cy="17373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dirty="0"/>
              <a:t>idCompra (pk)</a:t>
            </a:r>
          </a:p>
          <a:p>
            <a:r>
              <a:rPr lang="es-EC" sz="2000" dirty="0"/>
              <a:t>idCliente int (fk)</a:t>
            </a:r>
          </a:p>
          <a:p>
            <a:r>
              <a:rPr lang="es-EC" sz="2000" dirty="0" err="1"/>
              <a:t>codProducto</a:t>
            </a:r>
            <a:r>
              <a:rPr lang="es-EC" sz="2000" dirty="0"/>
              <a:t> </a:t>
            </a:r>
            <a:r>
              <a:rPr lang="es-EC" sz="2000" dirty="0" err="1"/>
              <a:t>int</a:t>
            </a:r>
            <a:r>
              <a:rPr lang="es-EC" sz="2000" dirty="0"/>
              <a:t>(</a:t>
            </a:r>
            <a:r>
              <a:rPr lang="es-EC" sz="2000" dirty="0" err="1"/>
              <a:t>fk</a:t>
            </a:r>
            <a:r>
              <a:rPr lang="es-EC" sz="2000" dirty="0"/>
              <a:t>)</a:t>
            </a:r>
          </a:p>
          <a:p>
            <a:r>
              <a:rPr lang="es-EC" sz="2000" dirty="0" err="1"/>
              <a:t>fechaCompra</a:t>
            </a:r>
            <a:r>
              <a:rPr lang="es-EC" sz="2000" dirty="0"/>
              <a:t> date</a:t>
            </a:r>
          </a:p>
        </p:txBody>
      </p:sp>
      <p:cxnSp>
        <p:nvCxnSpPr>
          <p:cNvPr id="34" name="33 Conector recto"/>
          <p:cNvCxnSpPr/>
          <p:nvPr/>
        </p:nvCxnSpPr>
        <p:spPr>
          <a:xfrm rot="10800000" flipV="1">
            <a:off x="3000364" y="4714884"/>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34 Conector recto"/>
          <p:cNvCxnSpPr/>
          <p:nvPr/>
        </p:nvCxnSpPr>
        <p:spPr>
          <a:xfrm>
            <a:off x="3000364" y="5000636"/>
            <a:ext cx="357190" cy="214314"/>
          </a:xfrm>
          <a:prstGeom prst="line">
            <a:avLst/>
          </a:prstGeom>
        </p:spPr>
        <p:style>
          <a:lnRef idx="1">
            <a:schemeClr val="accent1"/>
          </a:lnRef>
          <a:fillRef idx="0">
            <a:schemeClr val="accent1"/>
          </a:fillRef>
          <a:effectRef idx="0">
            <a:schemeClr val="accent1"/>
          </a:effectRef>
          <a:fontRef idx="minor">
            <a:schemeClr val="tx1"/>
          </a:fontRef>
        </p:style>
      </p:cxnSp>
      <p:sp>
        <p:nvSpPr>
          <p:cNvPr id="36" name="35 Elipse"/>
          <p:cNvSpPr/>
          <p:nvPr/>
        </p:nvSpPr>
        <p:spPr>
          <a:xfrm>
            <a:off x="2714612" y="4786322"/>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7" name="36 Elipse"/>
          <p:cNvSpPr/>
          <p:nvPr/>
        </p:nvSpPr>
        <p:spPr>
          <a:xfrm>
            <a:off x="6000760" y="4714884"/>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8" name="37 Rectángulo"/>
          <p:cNvSpPr/>
          <p:nvPr/>
        </p:nvSpPr>
        <p:spPr>
          <a:xfrm>
            <a:off x="3357554" y="4214818"/>
            <a:ext cx="2286016"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000" dirty="0"/>
              <a:t>COMPRA</a:t>
            </a:r>
          </a:p>
        </p:txBody>
      </p:sp>
      <p:cxnSp>
        <p:nvCxnSpPr>
          <p:cNvPr id="44" name="43 Conector recto"/>
          <p:cNvCxnSpPr/>
          <p:nvPr/>
        </p:nvCxnSpPr>
        <p:spPr>
          <a:xfrm rot="5400000">
            <a:off x="2106595" y="5035561"/>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44 Conector recto"/>
          <p:cNvCxnSpPr/>
          <p:nvPr/>
        </p:nvCxnSpPr>
        <p:spPr>
          <a:xfrm rot="5400000">
            <a:off x="6323025" y="4892685"/>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39" name="38 CuadroTexto"/>
          <p:cNvSpPr txBox="1"/>
          <p:nvPr/>
        </p:nvSpPr>
        <p:spPr>
          <a:xfrm rot="16200000">
            <a:off x="1618336" y="4811028"/>
            <a:ext cx="1785950" cy="307777"/>
          </a:xfrm>
          <a:prstGeom prst="rect">
            <a:avLst/>
          </a:prstGeom>
          <a:noFill/>
        </p:spPr>
        <p:txBody>
          <a:bodyPr wrap="square" rtlCol="0">
            <a:spAutoFit/>
          </a:bodyPr>
          <a:lstStyle/>
          <a:p>
            <a:r>
              <a:rPr lang="es-EC" sz="1400" dirty="0" err="1"/>
              <a:t>idCliente</a:t>
            </a:r>
            <a:r>
              <a:rPr lang="es-EC" sz="1400" dirty="0"/>
              <a:t>= </a:t>
            </a:r>
            <a:r>
              <a:rPr lang="es-EC" sz="1400" dirty="0" err="1"/>
              <a:t>idCliente</a:t>
            </a:r>
            <a:endParaRPr lang="es-EC" sz="1400" dirty="0"/>
          </a:p>
        </p:txBody>
      </p:sp>
      <p:sp>
        <p:nvSpPr>
          <p:cNvPr id="40" name="39 CuadroTexto"/>
          <p:cNvSpPr txBox="1"/>
          <p:nvPr/>
        </p:nvSpPr>
        <p:spPr>
          <a:xfrm rot="16200000">
            <a:off x="5132491" y="4846748"/>
            <a:ext cx="2571768" cy="307777"/>
          </a:xfrm>
          <a:prstGeom prst="rect">
            <a:avLst/>
          </a:prstGeom>
          <a:noFill/>
        </p:spPr>
        <p:txBody>
          <a:bodyPr wrap="square" rtlCol="0">
            <a:spAutoFit/>
          </a:bodyPr>
          <a:lstStyle/>
          <a:p>
            <a:r>
              <a:rPr lang="es-EC" sz="1400" dirty="0" err="1"/>
              <a:t>codProducto</a:t>
            </a:r>
            <a:r>
              <a:rPr lang="es-EC" sz="1400" dirty="0"/>
              <a:t>= </a:t>
            </a:r>
            <a:r>
              <a:rPr lang="es-EC" sz="1400" dirty="0" err="1"/>
              <a:t>codProducto</a:t>
            </a:r>
            <a:endParaRPr lang="es-EC"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14338"/>
            <a:ext cx="8229600" cy="1143000"/>
          </a:xfrm>
        </p:spPr>
        <p:txBody>
          <a:bodyPr/>
          <a:lstStyle/>
          <a:p>
            <a:r>
              <a:rPr lang="es-EC" dirty="0"/>
              <a:t>Relaciones Ternarias</a:t>
            </a:r>
          </a:p>
        </p:txBody>
      </p:sp>
      <p:sp>
        <p:nvSpPr>
          <p:cNvPr id="4" name="3 Rectángulo"/>
          <p:cNvSpPr/>
          <p:nvPr/>
        </p:nvSpPr>
        <p:spPr>
          <a:xfrm>
            <a:off x="857224" y="1571612"/>
            <a:ext cx="1714512" cy="185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err="1"/>
              <a:t>idCliente</a:t>
            </a:r>
            <a:r>
              <a:rPr lang="es-EC" dirty="0"/>
              <a:t> </a:t>
            </a:r>
          </a:p>
          <a:p>
            <a:r>
              <a:rPr lang="es-EC" dirty="0"/>
              <a:t>Nombre  </a:t>
            </a:r>
          </a:p>
          <a:p>
            <a:r>
              <a:rPr lang="es-EC" dirty="0" err="1"/>
              <a:t>Direccion</a:t>
            </a:r>
            <a:r>
              <a:rPr lang="es-EC" dirty="0"/>
              <a:t>  </a:t>
            </a:r>
          </a:p>
          <a:p>
            <a:r>
              <a:rPr lang="es-EC" dirty="0" err="1"/>
              <a:t>Telefono</a:t>
            </a:r>
            <a:r>
              <a:rPr lang="es-EC" dirty="0"/>
              <a:t>  </a:t>
            </a:r>
          </a:p>
          <a:p>
            <a:r>
              <a:rPr lang="es-EC" dirty="0"/>
              <a:t>Ciudad    </a:t>
            </a:r>
          </a:p>
          <a:p>
            <a:endParaRPr lang="es-EC" dirty="0"/>
          </a:p>
          <a:p>
            <a:endParaRPr lang="es-EC" dirty="0"/>
          </a:p>
        </p:txBody>
      </p:sp>
      <p:sp>
        <p:nvSpPr>
          <p:cNvPr id="5" name="4 Rectángulo"/>
          <p:cNvSpPr/>
          <p:nvPr/>
        </p:nvSpPr>
        <p:spPr>
          <a:xfrm>
            <a:off x="857224" y="1357298"/>
            <a:ext cx="1714512"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CLIENTE</a:t>
            </a:r>
          </a:p>
        </p:txBody>
      </p:sp>
      <p:sp>
        <p:nvSpPr>
          <p:cNvPr id="8" name="7 Rectángulo"/>
          <p:cNvSpPr/>
          <p:nvPr/>
        </p:nvSpPr>
        <p:spPr>
          <a:xfrm>
            <a:off x="214282" y="4857760"/>
            <a:ext cx="2000264" cy="185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u="sng" dirty="0" err="1"/>
              <a:t>idCliente</a:t>
            </a:r>
            <a:r>
              <a:rPr lang="es-EC" dirty="0"/>
              <a:t> </a:t>
            </a:r>
            <a:r>
              <a:rPr lang="es-EC" dirty="0" err="1"/>
              <a:t>int</a:t>
            </a:r>
            <a:r>
              <a:rPr lang="es-EC" dirty="0"/>
              <a:t> (</a:t>
            </a:r>
            <a:r>
              <a:rPr lang="es-EC" dirty="0" err="1"/>
              <a:t>pk</a:t>
            </a:r>
            <a:r>
              <a:rPr lang="es-EC" dirty="0"/>
              <a:t>)</a:t>
            </a:r>
          </a:p>
          <a:p>
            <a:r>
              <a:rPr lang="es-EC" dirty="0"/>
              <a:t>Nombre  </a:t>
            </a:r>
            <a:r>
              <a:rPr lang="es-EC" dirty="0" err="1"/>
              <a:t>char</a:t>
            </a:r>
            <a:r>
              <a:rPr lang="es-EC" dirty="0"/>
              <a:t>(30)</a:t>
            </a:r>
          </a:p>
          <a:p>
            <a:r>
              <a:rPr lang="es-EC" dirty="0" err="1"/>
              <a:t>Direccion</a:t>
            </a:r>
            <a:r>
              <a:rPr lang="es-EC" dirty="0"/>
              <a:t>  </a:t>
            </a:r>
            <a:r>
              <a:rPr lang="es-EC" dirty="0" err="1"/>
              <a:t>char</a:t>
            </a:r>
            <a:r>
              <a:rPr lang="es-EC" dirty="0"/>
              <a:t>(50)</a:t>
            </a:r>
          </a:p>
          <a:p>
            <a:r>
              <a:rPr lang="es-EC" dirty="0" err="1"/>
              <a:t>Telefono</a:t>
            </a:r>
            <a:r>
              <a:rPr lang="es-EC" dirty="0"/>
              <a:t>  </a:t>
            </a:r>
            <a:r>
              <a:rPr lang="es-EC" dirty="0" err="1"/>
              <a:t>int</a:t>
            </a:r>
            <a:endParaRPr lang="es-EC" dirty="0"/>
          </a:p>
          <a:p>
            <a:r>
              <a:rPr lang="es-EC" dirty="0"/>
              <a:t>Ciudad    </a:t>
            </a:r>
            <a:r>
              <a:rPr lang="es-EC" dirty="0" err="1"/>
              <a:t>char</a:t>
            </a:r>
            <a:r>
              <a:rPr lang="es-EC" dirty="0"/>
              <a:t>(30)</a:t>
            </a:r>
          </a:p>
          <a:p>
            <a:endParaRPr lang="es-EC" dirty="0"/>
          </a:p>
          <a:p>
            <a:endParaRPr lang="es-EC" dirty="0"/>
          </a:p>
        </p:txBody>
      </p:sp>
      <p:sp>
        <p:nvSpPr>
          <p:cNvPr id="9" name="8 Rectángulo"/>
          <p:cNvSpPr/>
          <p:nvPr/>
        </p:nvSpPr>
        <p:spPr>
          <a:xfrm>
            <a:off x="214282" y="4643446"/>
            <a:ext cx="2000264"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CLIENTE</a:t>
            </a:r>
          </a:p>
        </p:txBody>
      </p:sp>
      <p:sp>
        <p:nvSpPr>
          <p:cNvPr id="10" name="9 Rectángulo"/>
          <p:cNvSpPr/>
          <p:nvPr/>
        </p:nvSpPr>
        <p:spPr>
          <a:xfrm>
            <a:off x="6000760" y="1571612"/>
            <a:ext cx="2747704" cy="9286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err="1"/>
              <a:t>idFormaPago</a:t>
            </a:r>
            <a:endParaRPr lang="es-EC" dirty="0"/>
          </a:p>
          <a:p>
            <a:r>
              <a:rPr lang="es-EC" dirty="0" err="1"/>
              <a:t>descripcion</a:t>
            </a:r>
            <a:endParaRPr lang="es-EC" dirty="0"/>
          </a:p>
          <a:p>
            <a:endParaRPr lang="es-EC" dirty="0"/>
          </a:p>
          <a:p>
            <a:endParaRPr lang="es-EC" dirty="0"/>
          </a:p>
        </p:txBody>
      </p:sp>
      <p:sp>
        <p:nvSpPr>
          <p:cNvPr id="11" name="10 Rectángulo"/>
          <p:cNvSpPr/>
          <p:nvPr/>
        </p:nvSpPr>
        <p:spPr>
          <a:xfrm>
            <a:off x="6000760" y="1052736"/>
            <a:ext cx="2747704" cy="661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FORMADEPAGO</a:t>
            </a:r>
          </a:p>
        </p:txBody>
      </p:sp>
      <p:sp>
        <p:nvSpPr>
          <p:cNvPr id="12" name="11 Rectángulo"/>
          <p:cNvSpPr/>
          <p:nvPr/>
        </p:nvSpPr>
        <p:spPr>
          <a:xfrm>
            <a:off x="3286116" y="3000372"/>
            <a:ext cx="2500330" cy="7858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err="1"/>
              <a:t>numFactura</a:t>
            </a:r>
            <a:endParaRPr lang="es-EC" dirty="0"/>
          </a:p>
          <a:p>
            <a:r>
              <a:rPr lang="es-EC" dirty="0" err="1"/>
              <a:t>montoTotal</a:t>
            </a:r>
            <a:endParaRPr lang="es-EC" dirty="0"/>
          </a:p>
          <a:p>
            <a:endParaRPr lang="es-EC" dirty="0"/>
          </a:p>
          <a:p>
            <a:endParaRPr lang="es-EC" dirty="0"/>
          </a:p>
        </p:txBody>
      </p:sp>
      <p:sp>
        <p:nvSpPr>
          <p:cNvPr id="13" name="12 Rectángulo"/>
          <p:cNvSpPr/>
          <p:nvPr/>
        </p:nvSpPr>
        <p:spPr>
          <a:xfrm>
            <a:off x="3286116" y="2857496"/>
            <a:ext cx="2500330"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FACTURA</a:t>
            </a:r>
          </a:p>
        </p:txBody>
      </p:sp>
      <p:sp>
        <p:nvSpPr>
          <p:cNvPr id="14" name="13 Rombo"/>
          <p:cNvSpPr/>
          <p:nvPr/>
        </p:nvSpPr>
        <p:spPr>
          <a:xfrm>
            <a:off x="3357554" y="1285860"/>
            <a:ext cx="1857388" cy="107157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paga</a:t>
            </a:r>
          </a:p>
        </p:txBody>
      </p:sp>
      <p:cxnSp>
        <p:nvCxnSpPr>
          <p:cNvPr id="16" name="15 Conector recto"/>
          <p:cNvCxnSpPr/>
          <p:nvPr/>
        </p:nvCxnSpPr>
        <p:spPr>
          <a:xfrm rot="10800000" flipV="1">
            <a:off x="2571736" y="1785925"/>
            <a:ext cx="928694" cy="7500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p:cNvCxnSpPr>
            <a:stCxn id="14" idx="2"/>
          </p:cNvCxnSpPr>
          <p:nvPr/>
        </p:nvCxnSpPr>
        <p:spPr>
          <a:xfrm rot="5400000">
            <a:off x="3929058" y="2714620"/>
            <a:ext cx="7143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19 Conector recto"/>
          <p:cNvCxnSpPr>
            <a:stCxn id="14" idx="3"/>
            <a:endCxn id="10" idx="1"/>
          </p:cNvCxnSpPr>
          <p:nvPr/>
        </p:nvCxnSpPr>
        <p:spPr>
          <a:xfrm>
            <a:off x="5214942" y="1821645"/>
            <a:ext cx="785818"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22 Conector recto"/>
          <p:cNvCxnSpPr/>
          <p:nvPr/>
        </p:nvCxnSpPr>
        <p:spPr>
          <a:xfrm rot="10800000" flipV="1">
            <a:off x="5715008" y="1714488"/>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23 Conector recto"/>
          <p:cNvCxnSpPr/>
          <p:nvPr/>
        </p:nvCxnSpPr>
        <p:spPr>
          <a:xfrm>
            <a:off x="5715008" y="2000240"/>
            <a:ext cx="357190" cy="214314"/>
          </a:xfrm>
          <a:prstGeom prst="line">
            <a:avLst/>
          </a:prstGeom>
        </p:spPr>
        <p:style>
          <a:lnRef idx="1">
            <a:schemeClr val="accent1"/>
          </a:lnRef>
          <a:fillRef idx="0">
            <a:schemeClr val="accent1"/>
          </a:fillRef>
          <a:effectRef idx="0">
            <a:schemeClr val="accent1"/>
          </a:effectRef>
          <a:fontRef idx="minor">
            <a:schemeClr val="tx1"/>
          </a:fontRef>
        </p:style>
      </p:cxnSp>
      <p:sp>
        <p:nvSpPr>
          <p:cNvPr id="25" name="24 Elipse"/>
          <p:cNvSpPr/>
          <p:nvPr/>
        </p:nvSpPr>
        <p:spPr>
          <a:xfrm>
            <a:off x="5429256" y="1785926"/>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26" name="25 Conector recto"/>
          <p:cNvCxnSpPr>
            <a:endCxn id="28" idx="3"/>
          </p:cNvCxnSpPr>
          <p:nvPr/>
        </p:nvCxnSpPr>
        <p:spPr>
          <a:xfrm>
            <a:off x="2500298" y="2244145"/>
            <a:ext cx="399037"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26 Conector recto"/>
          <p:cNvCxnSpPr>
            <a:stCxn id="28" idx="3"/>
          </p:cNvCxnSpPr>
          <p:nvPr/>
        </p:nvCxnSpPr>
        <p:spPr>
          <a:xfrm rot="5400000">
            <a:off x="2500299" y="2387021"/>
            <a:ext cx="470475" cy="327599"/>
          </a:xfrm>
          <a:prstGeom prst="line">
            <a:avLst/>
          </a:prstGeom>
        </p:spPr>
        <p:style>
          <a:lnRef idx="1">
            <a:schemeClr val="accent1"/>
          </a:lnRef>
          <a:fillRef idx="0">
            <a:schemeClr val="accent1"/>
          </a:fillRef>
          <a:effectRef idx="0">
            <a:schemeClr val="accent1"/>
          </a:effectRef>
          <a:fontRef idx="minor">
            <a:schemeClr val="tx1"/>
          </a:fontRef>
        </p:style>
      </p:cxnSp>
      <p:sp>
        <p:nvSpPr>
          <p:cNvPr id="28" name="27 Elipse"/>
          <p:cNvSpPr/>
          <p:nvPr/>
        </p:nvSpPr>
        <p:spPr>
          <a:xfrm>
            <a:off x="2857488" y="2071678"/>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4" name="33 Elipse"/>
          <p:cNvSpPr/>
          <p:nvPr/>
        </p:nvSpPr>
        <p:spPr>
          <a:xfrm>
            <a:off x="4143372" y="2428868"/>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39" name="38 Conector recto"/>
          <p:cNvCxnSpPr>
            <a:stCxn id="34" idx="4"/>
          </p:cNvCxnSpPr>
          <p:nvPr/>
        </p:nvCxnSpPr>
        <p:spPr>
          <a:xfrm rot="16200000" flipH="1">
            <a:off x="4429124" y="2571744"/>
            <a:ext cx="142876" cy="428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41 Conector recto"/>
          <p:cNvCxnSpPr>
            <a:stCxn id="34" idx="4"/>
          </p:cNvCxnSpPr>
          <p:nvPr/>
        </p:nvCxnSpPr>
        <p:spPr>
          <a:xfrm rot="5400000">
            <a:off x="4071934" y="2643182"/>
            <a:ext cx="142876" cy="285752"/>
          </a:xfrm>
          <a:prstGeom prst="line">
            <a:avLst/>
          </a:prstGeom>
        </p:spPr>
        <p:style>
          <a:lnRef idx="1">
            <a:schemeClr val="accent1"/>
          </a:lnRef>
          <a:fillRef idx="0">
            <a:schemeClr val="accent1"/>
          </a:fillRef>
          <a:effectRef idx="0">
            <a:schemeClr val="accent1"/>
          </a:effectRef>
          <a:fontRef idx="minor">
            <a:schemeClr val="tx1"/>
          </a:fontRef>
        </p:style>
      </p:cxnSp>
      <p:sp>
        <p:nvSpPr>
          <p:cNvPr id="43" name="42 Rectángulo"/>
          <p:cNvSpPr/>
          <p:nvPr/>
        </p:nvSpPr>
        <p:spPr>
          <a:xfrm>
            <a:off x="3857620" y="642918"/>
            <a:ext cx="785818"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a:t>Fecha</a:t>
            </a:r>
          </a:p>
          <a:p>
            <a:r>
              <a:rPr lang="es-EC" dirty="0"/>
              <a:t>hora</a:t>
            </a:r>
          </a:p>
          <a:p>
            <a:endParaRPr lang="es-EC" dirty="0"/>
          </a:p>
          <a:p>
            <a:endParaRPr lang="es-EC" dirty="0"/>
          </a:p>
        </p:txBody>
      </p:sp>
      <p:sp>
        <p:nvSpPr>
          <p:cNvPr id="46" name="45 Rectángulo"/>
          <p:cNvSpPr/>
          <p:nvPr/>
        </p:nvSpPr>
        <p:spPr>
          <a:xfrm>
            <a:off x="6516216" y="4929198"/>
            <a:ext cx="2627816" cy="9286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u="sng" dirty="0" err="1"/>
              <a:t>idFormaPago</a:t>
            </a:r>
            <a:r>
              <a:rPr lang="es-EC" dirty="0"/>
              <a:t>  </a:t>
            </a:r>
            <a:r>
              <a:rPr lang="es-EC" dirty="0" err="1"/>
              <a:t>int</a:t>
            </a:r>
            <a:r>
              <a:rPr lang="es-EC" dirty="0"/>
              <a:t> (</a:t>
            </a:r>
            <a:r>
              <a:rPr lang="es-EC" dirty="0" err="1"/>
              <a:t>pk</a:t>
            </a:r>
            <a:r>
              <a:rPr lang="es-EC" dirty="0"/>
              <a:t>)</a:t>
            </a:r>
          </a:p>
          <a:p>
            <a:r>
              <a:rPr lang="es-EC" dirty="0" err="1"/>
              <a:t>Descripcion</a:t>
            </a:r>
            <a:r>
              <a:rPr lang="es-EC" dirty="0"/>
              <a:t>  </a:t>
            </a:r>
            <a:r>
              <a:rPr lang="es-EC" dirty="0" err="1"/>
              <a:t>char</a:t>
            </a:r>
            <a:r>
              <a:rPr lang="es-EC" dirty="0"/>
              <a:t>(50)</a:t>
            </a:r>
          </a:p>
          <a:p>
            <a:endParaRPr lang="es-EC" dirty="0"/>
          </a:p>
          <a:p>
            <a:endParaRPr lang="es-EC" dirty="0"/>
          </a:p>
        </p:txBody>
      </p:sp>
      <p:sp>
        <p:nvSpPr>
          <p:cNvPr id="47" name="46 Rectángulo"/>
          <p:cNvSpPr/>
          <p:nvPr/>
        </p:nvSpPr>
        <p:spPr>
          <a:xfrm>
            <a:off x="6516216" y="4509120"/>
            <a:ext cx="2627816" cy="5629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FORMADEPAGO</a:t>
            </a:r>
          </a:p>
        </p:txBody>
      </p:sp>
      <p:sp>
        <p:nvSpPr>
          <p:cNvPr id="48" name="47 Rectángulo"/>
          <p:cNvSpPr/>
          <p:nvPr/>
        </p:nvSpPr>
        <p:spPr>
          <a:xfrm>
            <a:off x="3286116" y="4000504"/>
            <a:ext cx="2500330" cy="15716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err="1"/>
              <a:t>idFormaPago</a:t>
            </a:r>
            <a:r>
              <a:rPr lang="es-EC" dirty="0"/>
              <a:t> </a:t>
            </a:r>
            <a:r>
              <a:rPr lang="es-EC" dirty="0" err="1"/>
              <a:t>int</a:t>
            </a:r>
            <a:r>
              <a:rPr lang="es-EC" dirty="0"/>
              <a:t> (</a:t>
            </a:r>
            <a:r>
              <a:rPr lang="es-EC" dirty="0" err="1"/>
              <a:t>fk</a:t>
            </a:r>
            <a:r>
              <a:rPr lang="es-EC" dirty="0"/>
              <a:t>)</a:t>
            </a:r>
          </a:p>
          <a:p>
            <a:r>
              <a:rPr lang="es-EC" dirty="0" err="1"/>
              <a:t>idCliente</a:t>
            </a:r>
            <a:r>
              <a:rPr lang="es-EC" dirty="0"/>
              <a:t>  </a:t>
            </a:r>
            <a:r>
              <a:rPr lang="es-EC" dirty="0" err="1"/>
              <a:t>int</a:t>
            </a:r>
            <a:r>
              <a:rPr lang="es-EC" dirty="0"/>
              <a:t> (</a:t>
            </a:r>
            <a:r>
              <a:rPr lang="es-EC" dirty="0" err="1"/>
              <a:t>fk</a:t>
            </a:r>
            <a:r>
              <a:rPr lang="es-EC" dirty="0"/>
              <a:t>)</a:t>
            </a:r>
          </a:p>
          <a:p>
            <a:r>
              <a:rPr lang="es-EC" dirty="0" err="1"/>
              <a:t>numFactura</a:t>
            </a:r>
            <a:r>
              <a:rPr lang="es-EC" dirty="0"/>
              <a:t> </a:t>
            </a:r>
            <a:r>
              <a:rPr lang="es-EC" dirty="0" err="1"/>
              <a:t>int</a:t>
            </a:r>
            <a:r>
              <a:rPr lang="es-EC" dirty="0"/>
              <a:t> (</a:t>
            </a:r>
            <a:r>
              <a:rPr lang="es-EC" dirty="0" err="1"/>
              <a:t>fk</a:t>
            </a:r>
            <a:r>
              <a:rPr lang="es-EC" dirty="0"/>
              <a:t>)</a:t>
            </a:r>
          </a:p>
          <a:p>
            <a:r>
              <a:rPr lang="es-EC" dirty="0"/>
              <a:t>Fecha     date</a:t>
            </a:r>
          </a:p>
          <a:p>
            <a:r>
              <a:rPr lang="es-EC" dirty="0"/>
              <a:t>Hora   time</a:t>
            </a:r>
          </a:p>
          <a:p>
            <a:endParaRPr lang="es-EC" dirty="0"/>
          </a:p>
        </p:txBody>
      </p:sp>
      <p:sp>
        <p:nvSpPr>
          <p:cNvPr id="49" name="48 Rectángulo"/>
          <p:cNvSpPr/>
          <p:nvPr/>
        </p:nvSpPr>
        <p:spPr>
          <a:xfrm>
            <a:off x="3286116" y="4000504"/>
            <a:ext cx="2500330"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PAGO</a:t>
            </a:r>
          </a:p>
        </p:txBody>
      </p:sp>
      <p:sp>
        <p:nvSpPr>
          <p:cNvPr id="50" name="49 Rectángulo"/>
          <p:cNvSpPr/>
          <p:nvPr/>
        </p:nvSpPr>
        <p:spPr>
          <a:xfrm>
            <a:off x="3286116" y="6000768"/>
            <a:ext cx="2714644" cy="7858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u="sng" dirty="0" err="1"/>
              <a:t>numFactura</a:t>
            </a:r>
            <a:r>
              <a:rPr lang="es-EC" dirty="0"/>
              <a:t>    </a:t>
            </a:r>
            <a:r>
              <a:rPr lang="es-EC" dirty="0" err="1"/>
              <a:t>int</a:t>
            </a:r>
            <a:r>
              <a:rPr lang="es-EC" dirty="0"/>
              <a:t> (</a:t>
            </a:r>
            <a:r>
              <a:rPr lang="es-EC" dirty="0" err="1"/>
              <a:t>pk</a:t>
            </a:r>
            <a:r>
              <a:rPr lang="es-EC" dirty="0"/>
              <a:t>)</a:t>
            </a:r>
          </a:p>
          <a:p>
            <a:r>
              <a:rPr lang="es-EC" dirty="0" err="1"/>
              <a:t>montoTotal</a:t>
            </a:r>
            <a:r>
              <a:rPr lang="es-EC" dirty="0"/>
              <a:t>  </a:t>
            </a:r>
            <a:r>
              <a:rPr lang="es-EC" dirty="0" err="1"/>
              <a:t>numeric</a:t>
            </a:r>
            <a:r>
              <a:rPr lang="es-EC" dirty="0"/>
              <a:t>(20,2)</a:t>
            </a:r>
          </a:p>
          <a:p>
            <a:endParaRPr lang="es-EC" dirty="0"/>
          </a:p>
          <a:p>
            <a:endParaRPr lang="es-EC" dirty="0"/>
          </a:p>
        </p:txBody>
      </p:sp>
      <p:sp>
        <p:nvSpPr>
          <p:cNvPr id="51" name="50 Rectángulo"/>
          <p:cNvSpPr/>
          <p:nvPr/>
        </p:nvSpPr>
        <p:spPr>
          <a:xfrm>
            <a:off x="3286116" y="5786454"/>
            <a:ext cx="2714644"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FACTURA</a:t>
            </a:r>
          </a:p>
        </p:txBody>
      </p:sp>
      <p:cxnSp>
        <p:nvCxnSpPr>
          <p:cNvPr id="52" name="51 Conector recto"/>
          <p:cNvCxnSpPr/>
          <p:nvPr/>
        </p:nvCxnSpPr>
        <p:spPr>
          <a:xfrm rot="10800000" flipV="1">
            <a:off x="2928926" y="4286256"/>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52 Conector recto"/>
          <p:cNvCxnSpPr/>
          <p:nvPr/>
        </p:nvCxnSpPr>
        <p:spPr>
          <a:xfrm>
            <a:off x="2928926" y="4572008"/>
            <a:ext cx="357190" cy="214314"/>
          </a:xfrm>
          <a:prstGeom prst="line">
            <a:avLst/>
          </a:prstGeom>
        </p:spPr>
        <p:style>
          <a:lnRef idx="1">
            <a:schemeClr val="accent1"/>
          </a:lnRef>
          <a:fillRef idx="0">
            <a:schemeClr val="accent1"/>
          </a:fillRef>
          <a:effectRef idx="0">
            <a:schemeClr val="accent1"/>
          </a:effectRef>
          <a:fontRef idx="minor">
            <a:schemeClr val="tx1"/>
          </a:fontRef>
        </p:style>
      </p:cxnSp>
      <p:sp>
        <p:nvSpPr>
          <p:cNvPr id="54" name="53 Elipse"/>
          <p:cNvSpPr/>
          <p:nvPr/>
        </p:nvSpPr>
        <p:spPr>
          <a:xfrm>
            <a:off x="2643174" y="4357694"/>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55" name="54 Conector recto"/>
          <p:cNvCxnSpPr>
            <a:endCxn id="57" idx="3"/>
          </p:cNvCxnSpPr>
          <p:nvPr/>
        </p:nvCxnSpPr>
        <p:spPr>
          <a:xfrm>
            <a:off x="5643570" y="4429132"/>
            <a:ext cx="399037"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55 Conector recto"/>
          <p:cNvCxnSpPr>
            <a:stCxn id="57" idx="3"/>
          </p:cNvCxnSpPr>
          <p:nvPr/>
        </p:nvCxnSpPr>
        <p:spPr>
          <a:xfrm rot="5400000">
            <a:off x="5643571" y="4572008"/>
            <a:ext cx="470475" cy="327599"/>
          </a:xfrm>
          <a:prstGeom prst="line">
            <a:avLst/>
          </a:prstGeom>
        </p:spPr>
        <p:style>
          <a:lnRef idx="1">
            <a:schemeClr val="accent1"/>
          </a:lnRef>
          <a:fillRef idx="0">
            <a:schemeClr val="accent1"/>
          </a:fillRef>
          <a:effectRef idx="0">
            <a:schemeClr val="accent1"/>
          </a:effectRef>
          <a:fontRef idx="minor">
            <a:schemeClr val="tx1"/>
          </a:fontRef>
        </p:style>
      </p:cxnSp>
      <p:sp>
        <p:nvSpPr>
          <p:cNvPr id="57" name="56 Elipse"/>
          <p:cNvSpPr/>
          <p:nvPr/>
        </p:nvSpPr>
        <p:spPr>
          <a:xfrm>
            <a:off x="6000760" y="4256665"/>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58" name="57 Conector recto"/>
          <p:cNvCxnSpPr/>
          <p:nvPr/>
        </p:nvCxnSpPr>
        <p:spPr>
          <a:xfrm rot="10800000" flipV="1">
            <a:off x="2928926" y="5000636"/>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58 Conector recto"/>
          <p:cNvCxnSpPr/>
          <p:nvPr/>
        </p:nvCxnSpPr>
        <p:spPr>
          <a:xfrm>
            <a:off x="2928926" y="5286388"/>
            <a:ext cx="357190" cy="214314"/>
          </a:xfrm>
          <a:prstGeom prst="line">
            <a:avLst/>
          </a:prstGeom>
        </p:spPr>
        <p:style>
          <a:lnRef idx="1">
            <a:schemeClr val="accent1"/>
          </a:lnRef>
          <a:fillRef idx="0">
            <a:schemeClr val="accent1"/>
          </a:fillRef>
          <a:effectRef idx="0">
            <a:schemeClr val="accent1"/>
          </a:effectRef>
          <a:fontRef idx="minor">
            <a:schemeClr val="tx1"/>
          </a:fontRef>
        </p:style>
      </p:cxnSp>
      <p:sp>
        <p:nvSpPr>
          <p:cNvPr id="60" name="59 Elipse"/>
          <p:cNvSpPr/>
          <p:nvPr/>
        </p:nvSpPr>
        <p:spPr>
          <a:xfrm>
            <a:off x="2643174" y="5072074"/>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61" name="60 Conector recto"/>
          <p:cNvCxnSpPr>
            <a:stCxn id="54" idx="2"/>
            <a:endCxn id="8" idx="3"/>
          </p:cNvCxnSpPr>
          <p:nvPr/>
        </p:nvCxnSpPr>
        <p:spPr>
          <a:xfrm rot="10800000" flipV="1">
            <a:off x="2214546" y="4500570"/>
            <a:ext cx="428628" cy="1285884"/>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66 Conector recto"/>
          <p:cNvCxnSpPr/>
          <p:nvPr/>
        </p:nvCxnSpPr>
        <p:spPr>
          <a:xfrm rot="16200000" flipH="1">
            <a:off x="2143108" y="5357826"/>
            <a:ext cx="428628" cy="142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68 Conector recto"/>
          <p:cNvCxnSpPr>
            <a:stCxn id="57" idx="6"/>
            <a:endCxn id="46" idx="1"/>
          </p:cNvCxnSpPr>
          <p:nvPr/>
        </p:nvCxnSpPr>
        <p:spPr>
          <a:xfrm>
            <a:off x="6286512" y="4399541"/>
            <a:ext cx="229704" cy="994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71 Conector recto"/>
          <p:cNvCxnSpPr/>
          <p:nvPr/>
        </p:nvCxnSpPr>
        <p:spPr>
          <a:xfrm rot="5400000">
            <a:off x="6286511" y="4857759"/>
            <a:ext cx="357191"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78 Conector recto"/>
          <p:cNvCxnSpPr>
            <a:stCxn id="60" idx="4"/>
            <a:endCxn id="50" idx="1"/>
          </p:cNvCxnSpPr>
          <p:nvPr/>
        </p:nvCxnSpPr>
        <p:spPr>
          <a:xfrm rot="16200000" flipH="1">
            <a:off x="2518158" y="5625718"/>
            <a:ext cx="1035851" cy="500066"/>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81 Conector recto"/>
          <p:cNvCxnSpPr/>
          <p:nvPr/>
        </p:nvCxnSpPr>
        <p:spPr>
          <a:xfrm rot="5400000">
            <a:off x="2821769" y="5822173"/>
            <a:ext cx="357190" cy="285752"/>
          </a:xfrm>
          <a:prstGeom prst="line">
            <a:avLst/>
          </a:prstGeom>
        </p:spPr>
        <p:style>
          <a:lnRef idx="1">
            <a:schemeClr val="accent1"/>
          </a:lnRef>
          <a:fillRef idx="0">
            <a:schemeClr val="accent1"/>
          </a:fillRef>
          <a:effectRef idx="0">
            <a:schemeClr val="accent1"/>
          </a:effectRef>
          <a:fontRef idx="minor">
            <a:schemeClr val="tx1"/>
          </a:fontRef>
        </p:style>
      </p:cxnSp>
      <p:sp>
        <p:nvSpPr>
          <p:cNvPr id="63" name="62 CuadroTexto"/>
          <p:cNvSpPr txBox="1"/>
          <p:nvPr/>
        </p:nvSpPr>
        <p:spPr>
          <a:xfrm rot="16200000">
            <a:off x="1618337" y="4382400"/>
            <a:ext cx="1785950" cy="307777"/>
          </a:xfrm>
          <a:prstGeom prst="rect">
            <a:avLst/>
          </a:prstGeom>
          <a:noFill/>
        </p:spPr>
        <p:txBody>
          <a:bodyPr wrap="square" rtlCol="0">
            <a:spAutoFit/>
          </a:bodyPr>
          <a:lstStyle/>
          <a:p>
            <a:r>
              <a:rPr lang="es-EC" sz="1400" dirty="0" err="1"/>
              <a:t>idCliente</a:t>
            </a:r>
            <a:r>
              <a:rPr lang="es-EC" sz="1400" dirty="0"/>
              <a:t>= </a:t>
            </a:r>
            <a:r>
              <a:rPr lang="es-EC" sz="1400" dirty="0" err="1"/>
              <a:t>idCliente</a:t>
            </a:r>
            <a:endParaRPr lang="es-EC" sz="1400" dirty="0"/>
          </a:p>
        </p:txBody>
      </p:sp>
      <p:sp>
        <p:nvSpPr>
          <p:cNvPr id="64" name="63 CuadroTexto"/>
          <p:cNvSpPr txBox="1"/>
          <p:nvPr/>
        </p:nvSpPr>
        <p:spPr>
          <a:xfrm>
            <a:off x="6444208" y="4005064"/>
            <a:ext cx="2357455" cy="307777"/>
          </a:xfrm>
          <a:prstGeom prst="rect">
            <a:avLst/>
          </a:prstGeom>
          <a:noFill/>
        </p:spPr>
        <p:txBody>
          <a:bodyPr wrap="square" rtlCol="0">
            <a:spAutoFit/>
          </a:bodyPr>
          <a:lstStyle/>
          <a:p>
            <a:r>
              <a:rPr lang="es-EC" sz="1400" dirty="0" err="1"/>
              <a:t>idFormaPago</a:t>
            </a:r>
            <a:r>
              <a:rPr lang="es-EC" sz="1400" dirty="0"/>
              <a:t>= </a:t>
            </a:r>
            <a:r>
              <a:rPr lang="es-EC" sz="1400" dirty="0" err="1"/>
              <a:t>idFormaPago</a:t>
            </a:r>
            <a:endParaRPr lang="es-EC" sz="1400" dirty="0"/>
          </a:p>
        </p:txBody>
      </p:sp>
      <p:sp>
        <p:nvSpPr>
          <p:cNvPr id="65" name="64 CuadroTexto"/>
          <p:cNvSpPr txBox="1"/>
          <p:nvPr/>
        </p:nvSpPr>
        <p:spPr>
          <a:xfrm>
            <a:off x="2643173" y="5528469"/>
            <a:ext cx="2357455" cy="307777"/>
          </a:xfrm>
          <a:prstGeom prst="rect">
            <a:avLst/>
          </a:prstGeom>
          <a:noFill/>
        </p:spPr>
        <p:txBody>
          <a:bodyPr wrap="square" rtlCol="0">
            <a:spAutoFit/>
          </a:bodyPr>
          <a:lstStyle/>
          <a:p>
            <a:r>
              <a:rPr lang="es-EC" sz="1400" dirty="0" err="1"/>
              <a:t>numFactura</a:t>
            </a:r>
            <a:r>
              <a:rPr lang="es-EC" sz="1400" dirty="0"/>
              <a:t>= </a:t>
            </a:r>
            <a:r>
              <a:rPr lang="es-EC" sz="1400" dirty="0" err="1"/>
              <a:t>numFactura</a:t>
            </a:r>
            <a:endParaRPr lang="es-EC"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C" dirty="0"/>
              <a:t>Conversión de Relaciones Especiales</a:t>
            </a:r>
          </a:p>
        </p:txBody>
      </p:sp>
      <p:sp>
        <p:nvSpPr>
          <p:cNvPr id="3" name="2 Marcador de contenido"/>
          <p:cNvSpPr>
            <a:spLocks noGrp="1"/>
          </p:cNvSpPr>
          <p:nvPr>
            <p:ph idx="1"/>
          </p:nvPr>
        </p:nvSpPr>
        <p:spPr>
          <a:xfrm>
            <a:off x="457200" y="1285860"/>
            <a:ext cx="8229600" cy="5286412"/>
          </a:xfrm>
        </p:spPr>
        <p:txBody>
          <a:bodyPr>
            <a:normAutofit fontScale="70000" lnSpcReduction="20000"/>
          </a:bodyPr>
          <a:lstStyle/>
          <a:p>
            <a:pPr algn="ctr">
              <a:buNone/>
            </a:pPr>
            <a:r>
              <a:rPr lang="es-EC" b="1" dirty="0"/>
              <a:t>Supertipo –Subtipo</a:t>
            </a:r>
          </a:p>
          <a:p>
            <a:pPr marL="514350" indent="-514350">
              <a:buAutoNum type="alphaLcParenBoth"/>
            </a:pPr>
            <a:r>
              <a:rPr lang="es-EC" dirty="0"/>
              <a:t>Englobar todos los atributos de la entidad y sus subtipos en una sola tabla. (Adoptaremos esta solución cuando los subtipos se diferencien en muy pocos atributos y las relaciones que los asocian con el resto de entidades del modelo conceptual sean las mismas para todos los subtipos.</a:t>
            </a:r>
          </a:p>
          <a:p>
            <a:pPr marL="514350" indent="-514350">
              <a:buAutoNum type="alphaLcParenBoth"/>
            </a:pPr>
            <a:r>
              <a:rPr lang="es-EC" dirty="0"/>
              <a:t>Crear una tabla para el supertipo y tantas tablas como subtipos haya, con sus atributos correspondientes. Esta es la solución cuando existen muchos atributos distintos entre los subtipos y se quieren mantener de todas las maneras los atributos comunes a todos ellos en una tabla.</a:t>
            </a:r>
          </a:p>
          <a:p>
            <a:pPr marL="514350" indent="-514350">
              <a:buAutoNum type="alphaLcParenBoth"/>
            </a:pPr>
            <a:r>
              <a:rPr lang="es-EC" dirty="0"/>
              <a:t>Considerar las tablas distintas para cada subtipo, que contengan además los atributos comunes. Se elegirá esta opción cuando se dieran las mismas condiciones que en el caso anterior (muchos atributos distintos) y los accesos realizados sobre los datos de los distintos subtipos siempre afectan a atributos comunes.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14338"/>
            <a:ext cx="8229600" cy="1143000"/>
          </a:xfrm>
        </p:spPr>
        <p:txBody>
          <a:bodyPr>
            <a:normAutofit/>
          </a:bodyPr>
          <a:lstStyle/>
          <a:p>
            <a:r>
              <a:rPr lang="es-EC" dirty="0"/>
              <a:t>Supertipo –Subtipo</a:t>
            </a:r>
          </a:p>
        </p:txBody>
      </p:sp>
      <p:sp>
        <p:nvSpPr>
          <p:cNvPr id="4" name="3 Rectángulo"/>
          <p:cNvSpPr/>
          <p:nvPr/>
        </p:nvSpPr>
        <p:spPr>
          <a:xfrm>
            <a:off x="1500166" y="1285860"/>
            <a:ext cx="1785950" cy="185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err="1"/>
              <a:t>idCliente</a:t>
            </a:r>
            <a:endParaRPr lang="es-EC" dirty="0"/>
          </a:p>
          <a:p>
            <a:r>
              <a:rPr lang="es-EC" dirty="0"/>
              <a:t>Nombre</a:t>
            </a:r>
          </a:p>
          <a:p>
            <a:r>
              <a:rPr lang="es-EC" dirty="0" err="1"/>
              <a:t>Direccion</a:t>
            </a:r>
            <a:endParaRPr lang="es-EC" dirty="0"/>
          </a:p>
          <a:p>
            <a:r>
              <a:rPr lang="es-EC" dirty="0" err="1"/>
              <a:t>Telefono</a:t>
            </a:r>
            <a:endParaRPr lang="es-EC" dirty="0"/>
          </a:p>
          <a:p>
            <a:r>
              <a:rPr lang="es-EC" dirty="0"/>
              <a:t>Ciudad</a:t>
            </a:r>
          </a:p>
          <a:p>
            <a:endParaRPr lang="es-EC" dirty="0"/>
          </a:p>
        </p:txBody>
      </p:sp>
      <p:sp>
        <p:nvSpPr>
          <p:cNvPr id="5" name="4 Rectángulo"/>
          <p:cNvSpPr/>
          <p:nvPr/>
        </p:nvSpPr>
        <p:spPr>
          <a:xfrm>
            <a:off x="1500166" y="1214422"/>
            <a:ext cx="1785950"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CLIENTE</a:t>
            </a:r>
          </a:p>
        </p:txBody>
      </p:sp>
      <p:sp>
        <p:nvSpPr>
          <p:cNvPr id="6" name="5 Rectángulo"/>
          <p:cNvSpPr/>
          <p:nvPr/>
        </p:nvSpPr>
        <p:spPr>
          <a:xfrm>
            <a:off x="142844" y="3857580"/>
            <a:ext cx="1785950" cy="1143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a:t>RUC</a:t>
            </a:r>
          </a:p>
          <a:p>
            <a:r>
              <a:rPr lang="es-EC" dirty="0" err="1"/>
              <a:t>Razon</a:t>
            </a:r>
            <a:r>
              <a:rPr lang="es-EC" dirty="0"/>
              <a:t> social</a:t>
            </a:r>
          </a:p>
          <a:p>
            <a:endParaRPr lang="es-EC" dirty="0"/>
          </a:p>
        </p:txBody>
      </p:sp>
      <p:sp>
        <p:nvSpPr>
          <p:cNvPr id="7" name="6 Rectángulo"/>
          <p:cNvSpPr/>
          <p:nvPr/>
        </p:nvSpPr>
        <p:spPr>
          <a:xfrm>
            <a:off x="142844" y="3786190"/>
            <a:ext cx="1785950"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Empresa</a:t>
            </a:r>
          </a:p>
        </p:txBody>
      </p:sp>
      <p:sp>
        <p:nvSpPr>
          <p:cNvPr id="8" name="7 Rectángulo"/>
          <p:cNvSpPr/>
          <p:nvPr/>
        </p:nvSpPr>
        <p:spPr>
          <a:xfrm>
            <a:off x="2357422" y="3929066"/>
            <a:ext cx="1643074" cy="1071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a:t>Cedula</a:t>
            </a:r>
          </a:p>
          <a:p>
            <a:r>
              <a:rPr lang="es-EC" dirty="0"/>
              <a:t>Estado civil</a:t>
            </a:r>
          </a:p>
          <a:p>
            <a:endParaRPr lang="es-EC" dirty="0"/>
          </a:p>
        </p:txBody>
      </p:sp>
      <p:sp>
        <p:nvSpPr>
          <p:cNvPr id="9" name="8 Rectángulo"/>
          <p:cNvSpPr/>
          <p:nvPr/>
        </p:nvSpPr>
        <p:spPr>
          <a:xfrm>
            <a:off x="2357422" y="3786190"/>
            <a:ext cx="1643074"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Persona</a:t>
            </a:r>
          </a:p>
        </p:txBody>
      </p:sp>
      <p:cxnSp>
        <p:nvCxnSpPr>
          <p:cNvPr id="10" name="9 Conector recto"/>
          <p:cNvCxnSpPr/>
          <p:nvPr/>
        </p:nvCxnSpPr>
        <p:spPr>
          <a:xfrm rot="5400000">
            <a:off x="2214545" y="3286125"/>
            <a:ext cx="4286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rot="10800000">
            <a:off x="1071538" y="3498850"/>
            <a:ext cx="1357322" cy="15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rot="5400000">
            <a:off x="822299" y="3749677"/>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2 Conector recto"/>
          <p:cNvCxnSpPr/>
          <p:nvPr/>
        </p:nvCxnSpPr>
        <p:spPr>
          <a:xfrm rot="10800000" flipV="1">
            <a:off x="2428861" y="3500436"/>
            <a:ext cx="128588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rot="5400000">
            <a:off x="3465505" y="3749677"/>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15" name="Isosceles Triangle 18"/>
          <p:cNvSpPr/>
          <p:nvPr/>
        </p:nvSpPr>
        <p:spPr>
          <a:xfrm>
            <a:off x="2285984" y="3143248"/>
            <a:ext cx="357190" cy="14287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6" name="15 Rectángulo"/>
          <p:cNvSpPr/>
          <p:nvPr/>
        </p:nvSpPr>
        <p:spPr>
          <a:xfrm>
            <a:off x="5857884" y="1571612"/>
            <a:ext cx="2286016" cy="2857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u="sng" dirty="0" err="1"/>
              <a:t>idCliente</a:t>
            </a:r>
            <a:r>
              <a:rPr lang="es-EC" dirty="0"/>
              <a:t> </a:t>
            </a:r>
            <a:r>
              <a:rPr lang="es-EC" dirty="0" err="1"/>
              <a:t>int</a:t>
            </a:r>
            <a:r>
              <a:rPr lang="es-EC" dirty="0"/>
              <a:t> (</a:t>
            </a:r>
            <a:r>
              <a:rPr lang="es-EC" dirty="0" err="1"/>
              <a:t>pk</a:t>
            </a:r>
            <a:r>
              <a:rPr lang="es-EC" dirty="0"/>
              <a:t>)</a:t>
            </a:r>
          </a:p>
          <a:p>
            <a:r>
              <a:rPr lang="es-EC" dirty="0"/>
              <a:t>Nombre  </a:t>
            </a:r>
            <a:r>
              <a:rPr lang="es-EC" dirty="0" err="1"/>
              <a:t>char</a:t>
            </a:r>
            <a:r>
              <a:rPr lang="es-EC" dirty="0"/>
              <a:t>(30)</a:t>
            </a:r>
          </a:p>
          <a:p>
            <a:r>
              <a:rPr lang="es-EC" dirty="0" err="1"/>
              <a:t>Direccion</a:t>
            </a:r>
            <a:r>
              <a:rPr lang="es-EC" dirty="0"/>
              <a:t>  </a:t>
            </a:r>
            <a:r>
              <a:rPr lang="es-EC" dirty="0" err="1"/>
              <a:t>char</a:t>
            </a:r>
            <a:r>
              <a:rPr lang="es-EC" dirty="0"/>
              <a:t>(50)</a:t>
            </a:r>
          </a:p>
          <a:p>
            <a:r>
              <a:rPr lang="es-EC" dirty="0" err="1"/>
              <a:t>Telefono</a:t>
            </a:r>
            <a:r>
              <a:rPr lang="es-EC" dirty="0"/>
              <a:t>  </a:t>
            </a:r>
            <a:r>
              <a:rPr lang="es-EC" dirty="0" err="1"/>
              <a:t>int</a:t>
            </a:r>
            <a:endParaRPr lang="es-EC" dirty="0"/>
          </a:p>
          <a:p>
            <a:r>
              <a:rPr lang="es-EC" dirty="0"/>
              <a:t>Ciudad    </a:t>
            </a:r>
            <a:r>
              <a:rPr lang="es-EC" dirty="0" err="1"/>
              <a:t>char</a:t>
            </a:r>
            <a:r>
              <a:rPr lang="es-EC" dirty="0"/>
              <a:t>(30)</a:t>
            </a:r>
          </a:p>
          <a:p>
            <a:r>
              <a:rPr lang="es-EC" dirty="0"/>
              <a:t>RUC         </a:t>
            </a:r>
            <a:r>
              <a:rPr lang="es-EC" dirty="0" err="1"/>
              <a:t>char</a:t>
            </a:r>
            <a:r>
              <a:rPr lang="es-EC" dirty="0"/>
              <a:t>(14)</a:t>
            </a:r>
          </a:p>
          <a:p>
            <a:r>
              <a:rPr lang="es-EC" dirty="0" err="1"/>
              <a:t>Razon</a:t>
            </a:r>
            <a:r>
              <a:rPr lang="es-EC" dirty="0"/>
              <a:t> social  </a:t>
            </a:r>
            <a:r>
              <a:rPr lang="es-EC" dirty="0" err="1"/>
              <a:t>char</a:t>
            </a:r>
            <a:r>
              <a:rPr lang="es-EC" dirty="0"/>
              <a:t>(20)</a:t>
            </a:r>
          </a:p>
          <a:p>
            <a:r>
              <a:rPr lang="es-EC" dirty="0"/>
              <a:t>Cedula          </a:t>
            </a:r>
            <a:r>
              <a:rPr lang="es-EC" dirty="0" err="1"/>
              <a:t>char</a:t>
            </a:r>
            <a:r>
              <a:rPr lang="es-EC" dirty="0"/>
              <a:t>(12)</a:t>
            </a:r>
          </a:p>
          <a:p>
            <a:r>
              <a:rPr lang="es-EC" dirty="0" err="1"/>
              <a:t>EstadoCivil</a:t>
            </a:r>
            <a:r>
              <a:rPr lang="es-EC" dirty="0"/>
              <a:t>    </a:t>
            </a:r>
            <a:r>
              <a:rPr lang="es-EC" dirty="0" err="1"/>
              <a:t>char</a:t>
            </a:r>
            <a:r>
              <a:rPr lang="es-EC" dirty="0"/>
              <a:t>(10)</a:t>
            </a:r>
          </a:p>
          <a:p>
            <a:endParaRPr lang="es-EC" dirty="0"/>
          </a:p>
        </p:txBody>
      </p:sp>
      <p:sp>
        <p:nvSpPr>
          <p:cNvPr id="17" name="16 Rectángulo"/>
          <p:cNvSpPr/>
          <p:nvPr/>
        </p:nvSpPr>
        <p:spPr>
          <a:xfrm>
            <a:off x="5857884" y="1500174"/>
            <a:ext cx="228601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CLIENTE</a:t>
            </a:r>
          </a:p>
        </p:txBody>
      </p:sp>
      <p:sp>
        <p:nvSpPr>
          <p:cNvPr id="19" name="18 CuadroTexto"/>
          <p:cNvSpPr txBox="1"/>
          <p:nvPr/>
        </p:nvSpPr>
        <p:spPr>
          <a:xfrm>
            <a:off x="5000628" y="1571612"/>
            <a:ext cx="857256" cy="523220"/>
          </a:xfrm>
          <a:prstGeom prst="rect">
            <a:avLst/>
          </a:prstGeom>
          <a:noFill/>
        </p:spPr>
        <p:txBody>
          <a:bodyPr wrap="square" rtlCol="0">
            <a:spAutoFit/>
          </a:bodyPr>
          <a:lstStyle/>
          <a:p>
            <a:r>
              <a:rPr lang="es-EC" sz="2800" b="1" dirty="0"/>
              <a:t>(a)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Supertipo –Subtipo</a:t>
            </a:r>
          </a:p>
        </p:txBody>
      </p:sp>
      <p:sp>
        <p:nvSpPr>
          <p:cNvPr id="4" name="3 Rectángulo"/>
          <p:cNvSpPr/>
          <p:nvPr/>
        </p:nvSpPr>
        <p:spPr>
          <a:xfrm>
            <a:off x="5357818" y="1857364"/>
            <a:ext cx="2286016" cy="16430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u="sng" dirty="0" err="1"/>
              <a:t>idCliente</a:t>
            </a:r>
            <a:r>
              <a:rPr lang="es-EC" dirty="0"/>
              <a:t> </a:t>
            </a:r>
            <a:r>
              <a:rPr lang="es-EC" dirty="0" err="1"/>
              <a:t>int</a:t>
            </a:r>
            <a:r>
              <a:rPr lang="es-EC" dirty="0"/>
              <a:t> (</a:t>
            </a:r>
            <a:r>
              <a:rPr lang="es-EC" dirty="0" err="1"/>
              <a:t>pk</a:t>
            </a:r>
            <a:r>
              <a:rPr lang="es-EC" dirty="0"/>
              <a:t>)</a:t>
            </a:r>
          </a:p>
          <a:p>
            <a:r>
              <a:rPr lang="es-EC" dirty="0"/>
              <a:t>Nombre  </a:t>
            </a:r>
            <a:r>
              <a:rPr lang="es-EC" dirty="0" err="1"/>
              <a:t>char</a:t>
            </a:r>
            <a:r>
              <a:rPr lang="es-EC" dirty="0"/>
              <a:t>(30)</a:t>
            </a:r>
          </a:p>
          <a:p>
            <a:r>
              <a:rPr lang="es-EC" dirty="0" err="1"/>
              <a:t>Direccion</a:t>
            </a:r>
            <a:r>
              <a:rPr lang="es-EC" dirty="0"/>
              <a:t>  </a:t>
            </a:r>
            <a:r>
              <a:rPr lang="es-EC" dirty="0" err="1"/>
              <a:t>char</a:t>
            </a:r>
            <a:r>
              <a:rPr lang="es-EC" dirty="0"/>
              <a:t>(50)</a:t>
            </a:r>
          </a:p>
          <a:p>
            <a:r>
              <a:rPr lang="es-EC" dirty="0" err="1"/>
              <a:t>Telefono</a:t>
            </a:r>
            <a:r>
              <a:rPr lang="es-EC" dirty="0"/>
              <a:t>  </a:t>
            </a:r>
            <a:r>
              <a:rPr lang="es-EC" dirty="0" err="1"/>
              <a:t>int</a:t>
            </a:r>
            <a:endParaRPr lang="es-EC" dirty="0"/>
          </a:p>
          <a:p>
            <a:r>
              <a:rPr lang="es-EC" dirty="0"/>
              <a:t>Ciudad    </a:t>
            </a:r>
            <a:r>
              <a:rPr lang="es-EC" dirty="0" err="1"/>
              <a:t>char</a:t>
            </a:r>
            <a:r>
              <a:rPr lang="es-EC" dirty="0"/>
              <a:t>(30)</a:t>
            </a:r>
          </a:p>
          <a:p>
            <a:endParaRPr lang="es-EC" dirty="0"/>
          </a:p>
          <a:p>
            <a:endParaRPr lang="es-EC" dirty="0"/>
          </a:p>
        </p:txBody>
      </p:sp>
      <p:sp>
        <p:nvSpPr>
          <p:cNvPr id="5" name="4 Rectángulo"/>
          <p:cNvSpPr/>
          <p:nvPr/>
        </p:nvSpPr>
        <p:spPr>
          <a:xfrm>
            <a:off x="5357818" y="1571612"/>
            <a:ext cx="228601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CLIENTE</a:t>
            </a:r>
          </a:p>
        </p:txBody>
      </p:sp>
      <p:sp>
        <p:nvSpPr>
          <p:cNvPr id="6" name="5 CuadroTexto"/>
          <p:cNvSpPr txBox="1"/>
          <p:nvPr/>
        </p:nvSpPr>
        <p:spPr>
          <a:xfrm>
            <a:off x="4357686" y="1643050"/>
            <a:ext cx="857256" cy="523220"/>
          </a:xfrm>
          <a:prstGeom prst="rect">
            <a:avLst/>
          </a:prstGeom>
          <a:noFill/>
        </p:spPr>
        <p:txBody>
          <a:bodyPr wrap="square" rtlCol="0">
            <a:spAutoFit/>
          </a:bodyPr>
          <a:lstStyle/>
          <a:p>
            <a:r>
              <a:rPr lang="es-EC" sz="2800" b="1" dirty="0"/>
              <a:t>(b)</a:t>
            </a:r>
          </a:p>
        </p:txBody>
      </p:sp>
      <p:sp>
        <p:nvSpPr>
          <p:cNvPr id="7" name="6 Rectángulo"/>
          <p:cNvSpPr/>
          <p:nvPr/>
        </p:nvSpPr>
        <p:spPr>
          <a:xfrm>
            <a:off x="1357322" y="1643050"/>
            <a:ext cx="1785950" cy="185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err="1"/>
              <a:t>idCliente</a:t>
            </a:r>
            <a:endParaRPr lang="es-EC" dirty="0"/>
          </a:p>
          <a:p>
            <a:r>
              <a:rPr lang="es-EC" dirty="0"/>
              <a:t>Nombre</a:t>
            </a:r>
          </a:p>
          <a:p>
            <a:r>
              <a:rPr lang="es-EC" dirty="0" err="1"/>
              <a:t>Direccion</a:t>
            </a:r>
            <a:endParaRPr lang="es-EC" dirty="0"/>
          </a:p>
          <a:p>
            <a:r>
              <a:rPr lang="es-EC" dirty="0" err="1"/>
              <a:t>Telefono</a:t>
            </a:r>
            <a:endParaRPr lang="es-EC" dirty="0"/>
          </a:p>
          <a:p>
            <a:r>
              <a:rPr lang="es-EC" dirty="0"/>
              <a:t>Ciudad</a:t>
            </a:r>
          </a:p>
          <a:p>
            <a:endParaRPr lang="es-EC" dirty="0"/>
          </a:p>
        </p:txBody>
      </p:sp>
      <p:sp>
        <p:nvSpPr>
          <p:cNvPr id="8" name="7 Rectángulo"/>
          <p:cNvSpPr/>
          <p:nvPr/>
        </p:nvSpPr>
        <p:spPr>
          <a:xfrm>
            <a:off x="1357322" y="1571612"/>
            <a:ext cx="1785950"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CLIENTE</a:t>
            </a:r>
          </a:p>
        </p:txBody>
      </p:sp>
      <p:sp>
        <p:nvSpPr>
          <p:cNvPr id="9" name="8 Rectángulo"/>
          <p:cNvSpPr/>
          <p:nvPr/>
        </p:nvSpPr>
        <p:spPr>
          <a:xfrm>
            <a:off x="142844" y="4214770"/>
            <a:ext cx="1785950" cy="1143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a:t>RUC</a:t>
            </a:r>
          </a:p>
          <a:p>
            <a:r>
              <a:rPr lang="es-EC" dirty="0" err="1"/>
              <a:t>Razon</a:t>
            </a:r>
            <a:r>
              <a:rPr lang="es-EC" dirty="0"/>
              <a:t> social</a:t>
            </a:r>
          </a:p>
          <a:p>
            <a:endParaRPr lang="es-EC" dirty="0"/>
          </a:p>
        </p:txBody>
      </p:sp>
      <p:sp>
        <p:nvSpPr>
          <p:cNvPr id="10" name="9 Rectángulo"/>
          <p:cNvSpPr/>
          <p:nvPr/>
        </p:nvSpPr>
        <p:spPr>
          <a:xfrm>
            <a:off x="142844" y="4143380"/>
            <a:ext cx="1785950"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Empresa</a:t>
            </a:r>
          </a:p>
        </p:txBody>
      </p:sp>
      <p:sp>
        <p:nvSpPr>
          <p:cNvPr id="11" name="10 Rectángulo"/>
          <p:cNvSpPr/>
          <p:nvPr/>
        </p:nvSpPr>
        <p:spPr>
          <a:xfrm>
            <a:off x="2214578" y="4286256"/>
            <a:ext cx="1643074" cy="1071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a:t>Cedula</a:t>
            </a:r>
          </a:p>
          <a:p>
            <a:r>
              <a:rPr lang="es-EC" dirty="0"/>
              <a:t>Estado civil</a:t>
            </a:r>
          </a:p>
          <a:p>
            <a:endParaRPr lang="es-EC" dirty="0"/>
          </a:p>
        </p:txBody>
      </p:sp>
      <p:sp>
        <p:nvSpPr>
          <p:cNvPr id="12" name="11 Rectángulo"/>
          <p:cNvSpPr/>
          <p:nvPr/>
        </p:nvSpPr>
        <p:spPr>
          <a:xfrm>
            <a:off x="2214578" y="4143380"/>
            <a:ext cx="1643074"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Persona</a:t>
            </a:r>
          </a:p>
        </p:txBody>
      </p:sp>
      <p:cxnSp>
        <p:nvCxnSpPr>
          <p:cNvPr id="13" name="12 Conector recto"/>
          <p:cNvCxnSpPr/>
          <p:nvPr/>
        </p:nvCxnSpPr>
        <p:spPr>
          <a:xfrm rot="5400000">
            <a:off x="2071701" y="3643315"/>
            <a:ext cx="4286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rot="10800000">
            <a:off x="928694" y="3856040"/>
            <a:ext cx="1357322" cy="15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14 Conector recto"/>
          <p:cNvCxnSpPr/>
          <p:nvPr/>
        </p:nvCxnSpPr>
        <p:spPr>
          <a:xfrm rot="5400000">
            <a:off x="679455" y="4106867"/>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rot="10800000" flipV="1">
            <a:off x="2286017" y="3857626"/>
            <a:ext cx="128588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rot="5400000">
            <a:off x="3322629" y="4106867"/>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18" name="Isosceles Triangle 18"/>
          <p:cNvSpPr/>
          <p:nvPr/>
        </p:nvSpPr>
        <p:spPr>
          <a:xfrm>
            <a:off x="2143140" y="3500438"/>
            <a:ext cx="357190" cy="14287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9" name="18 Rectángulo"/>
          <p:cNvSpPr/>
          <p:nvPr/>
        </p:nvSpPr>
        <p:spPr>
          <a:xfrm>
            <a:off x="4214842" y="4500546"/>
            <a:ext cx="2285984" cy="1143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r>
              <a:rPr lang="es-EC" dirty="0" err="1"/>
              <a:t>idCliente</a:t>
            </a:r>
            <a:r>
              <a:rPr lang="es-EC" dirty="0"/>
              <a:t> </a:t>
            </a:r>
            <a:r>
              <a:rPr lang="es-EC" dirty="0" err="1"/>
              <a:t>int</a:t>
            </a:r>
            <a:r>
              <a:rPr lang="es-EC" dirty="0"/>
              <a:t>(</a:t>
            </a:r>
            <a:r>
              <a:rPr lang="es-EC" dirty="0" err="1"/>
              <a:t>fk</a:t>
            </a:r>
            <a:r>
              <a:rPr lang="es-EC" dirty="0"/>
              <a:t>)</a:t>
            </a:r>
          </a:p>
          <a:p>
            <a:r>
              <a:rPr lang="es-EC" u="sng" dirty="0"/>
              <a:t>RUC</a:t>
            </a:r>
            <a:r>
              <a:rPr lang="es-EC" dirty="0"/>
              <a:t>         </a:t>
            </a:r>
            <a:r>
              <a:rPr lang="es-EC" dirty="0" err="1"/>
              <a:t>char</a:t>
            </a:r>
            <a:r>
              <a:rPr lang="es-EC" dirty="0"/>
              <a:t>(14) (</a:t>
            </a:r>
            <a:r>
              <a:rPr lang="es-EC" dirty="0" err="1"/>
              <a:t>pk</a:t>
            </a:r>
            <a:r>
              <a:rPr lang="es-EC" dirty="0"/>
              <a:t>)</a:t>
            </a:r>
          </a:p>
          <a:p>
            <a:r>
              <a:rPr lang="es-EC" dirty="0" err="1"/>
              <a:t>Razon</a:t>
            </a:r>
            <a:r>
              <a:rPr lang="es-EC" dirty="0"/>
              <a:t> social  </a:t>
            </a:r>
            <a:r>
              <a:rPr lang="es-EC" dirty="0" err="1"/>
              <a:t>char</a:t>
            </a:r>
            <a:r>
              <a:rPr lang="es-EC" dirty="0"/>
              <a:t>(20)</a:t>
            </a:r>
          </a:p>
        </p:txBody>
      </p:sp>
      <p:sp>
        <p:nvSpPr>
          <p:cNvPr id="20" name="19 Rectángulo"/>
          <p:cNvSpPr/>
          <p:nvPr/>
        </p:nvSpPr>
        <p:spPr>
          <a:xfrm>
            <a:off x="4214842" y="4429156"/>
            <a:ext cx="2285984" cy="2857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Empresa</a:t>
            </a:r>
          </a:p>
        </p:txBody>
      </p:sp>
      <p:sp>
        <p:nvSpPr>
          <p:cNvPr id="21" name="20 Rectángulo"/>
          <p:cNvSpPr/>
          <p:nvPr/>
        </p:nvSpPr>
        <p:spPr>
          <a:xfrm>
            <a:off x="6786578" y="4572008"/>
            <a:ext cx="2286016" cy="1071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err="1"/>
              <a:t>idCliente</a:t>
            </a:r>
            <a:r>
              <a:rPr lang="es-EC" dirty="0"/>
              <a:t> </a:t>
            </a:r>
            <a:r>
              <a:rPr lang="es-EC" dirty="0" err="1"/>
              <a:t>int</a:t>
            </a:r>
            <a:r>
              <a:rPr lang="es-EC" dirty="0"/>
              <a:t> (</a:t>
            </a:r>
            <a:r>
              <a:rPr lang="es-EC" dirty="0" err="1"/>
              <a:t>fk</a:t>
            </a:r>
            <a:r>
              <a:rPr lang="es-EC" dirty="0"/>
              <a:t>)</a:t>
            </a:r>
          </a:p>
          <a:p>
            <a:r>
              <a:rPr lang="es-EC" u="sng" dirty="0"/>
              <a:t>Cedula</a:t>
            </a:r>
            <a:r>
              <a:rPr lang="es-EC" dirty="0"/>
              <a:t>     </a:t>
            </a:r>
            <a:r>
              <a:rPr lang="es-EC" dirty="0" err="1"/>
              <a:t>char</a:t>
            </a:r>
            <a:r>
              <a:rPr lang="es-EC" dirty="0"/>
              <a:t>(12) (</a:t>
            </a:r>
            <a:r>
              <a:rPr lang="es-EC" dirty="0" err="1"/>
              <a:t>pk</a:t>
            </a:r>
            <a:r>
              <a:rPr lang="es-EC" dirty="0"/>
              <a:t>)</a:t>
            </a:r>
          </a:p>
          <a:p>
            <a:r>
              <a:rPr lang="es-EC" dirty="0" err="1"/>
              <a:t>EstadoCivil</a:t>
            </a:r>
            <a:r>
              <a:rPr lang="es-EC" dirty="0"/>
              <a:t>    </a:t>
            </a:r>
            <a:r>
              <a:rPr lang="es-EC" dirty="0" err="1"/>
              <a:t>char</a:t>
            </a:r>
            <a:r>
              <a:rPr lang="es-EC" dirty="0"/>
              <a:t>(10)</a:t>
            </a:r>
          </a:p>
          <a:p>
            <a:endParaRPr lang="es-EC" dirty="0"/>
          </a:p>
        </p:txBody>
      </p:sp>
      <p:sp>
        <p:nvSpPr>
          <p:cNvPr id="22" name="21 Rectángulo"/>
          <p:cNvSpPr/>
          <p:nvPr/>
        </p:nvSpPr>
        <p:spPr>
          <a:xfrm>
            <a:off x="6786578" y="4429132"/>
            <a:ext cx="228601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Persona</a:t>
            </a:r>
          </a:p>
        </p:txBody>
      </p:sp>
      <p:cxnSp>
        <p:nvCxnSpPr>
          <p:cNvPr id="24" name="23 Conector recto"/>
          <p:cNvCxnSpPr>
            <a:endCxn id="4" idx="1"/>
          </p:cNvCxnSpPr>
          <p:nvPr/>
        </p:nvCxnSpPr>
        <p:spPr>
          <a:xfrm rot="5400000" flipH="1" flipV="1">
            <a:off x="3911199" y="3053951"/>
            <a:ext cx="1821669" cy="10715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27 Conector recto"/>
          <p:cNvCxnSpPr>
            <a:stCxn id="4" idx="3"/>
          </p:cNvCxnSpPr>
          <p:nvPr/>
        </p:nvCxnSpPr>
        <p:spPr>
          <a:xfrm>
            <a:off x="7643834" y="2678901"/>
            <a:ext cx="857256" cy="1821669"/>
          </a:xfrm>
          <a:prstGeom prst="line">
            <a:avLst/>
          </a:prstGeom>
        </p:spPr>
        <p:style>
          <a:lnRef idx="1">
            <a:schemeClr val="accent1"/>
          </a:lnRef>
          <a:fillRef idx="0">
            <a:schemeClr val="accent1"/>
          </a:fillRef>
          <a:effectRef idx="0">
            <a:schemeClr val="accent1"/>
          </a:effectRef>
          <a:fontRef idx="minor">
            <a:schemeClr val="tx1"/>
          </a:fontRef>
        </p:style>
      </p:cxnSp>
      <p:sp>
        <p:nvSpPr>
          <p:cNvPr id="29" name="28 Elipse"/>
          <p:cNvSpPr/>
          <p:nvPr/>
        </p:nvSpPr>
        <p:spPr>
          <a:xfrm>
            <a:off x="4429124" y="3857628"/>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0" name="29 Elipse"/>
          <p:cNvSpPr/>
          <p:nvPr/>
        </p:nvSpPr>
        <p:spPr>
          <a:xfrm>
            <a:off x="8143900" y="3929066"/>
            <a:ext cx="285752"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32" name="31 Conector recto"/>
          <p:cNvCxnSpPr/>
          <p:nvPr/>
        </p:nvCxnSpPr>
        <p:spPr>
          <a:xfrm rot="16200000" flipH="1">
            <a:off x="5036347" y="2893215"/>
            <a:ext cx="285752"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32 Conector recto"/>
          <p:cNvCxnSpPr/>
          <p:nvPr/>
        </p:nvCxnSpPr>
        <p:spPr>
          <a:xfrm flipV="1">
            <a:off x="7715272" y="2928934"/>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37 Conector recto"/>
          <p:cNvCxnSpPr/>
          <p:nvPr/>
        </p:nvCxnSpPr>
        <p:spPr>
          <a:xfrm rot="16200000" flipH="1">
            <a:off x="4250529" y="4107661"/>
            <a:ext cx="285752"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38 Conector recto"/>
          <p:cNvCxnSpPr/>
          <p:nvPr/>
        </p:nvCxnSpPr>
        <p:spPr>
          <a:xfrm flipV="1">
            <a:off x="8215338" y="4143380"/>
            <a:ext cx="357190" cy="214314"/>
          </a:xfrm>
          <a:prstGeom prst="line">
            <a:avLst/>
          </a:prstGeom>
        </p:spPr>
        <p:style>
          <a:lnRef idx="1">
            <a:schemeClr val="accent1"/>
          </a:lnRef>
          <a:fillRef idx="0">
            <a:schemeClr val="accent1"/>
          </a:fillRef>
          <a:effectRef idx="0">
            <a:schemeClr val="accent1"/>
          </a:effectRef>
          <a:fontRef idx="minor">
            <a:schemeClr val="tx1"/>
          </a:fontRef>
        </p:style>
      </p:cxnSp>
      <p:sp>
        <p:nvSpPr>
          <p:cNvPr id="42" name="41 CuadroTexto"/>
          <p:cNvSpPr txBox="1"/>
          <p:nvPr/>
        </p:nvSpPr>
        <p:spPr>
          <a:xfrm rot="18361758">
            <a:off x="3671073" y="3187985"/>
            <a:ext cx="1857388" cy="307777"/>
          </a:xfrm>
          <a:prstGeom prst="rect">
            <a:avLst/>
          </a:prstGeom>
          <a:noFill/>
        </p:spPr>
        <p:txBody>
          <a:bodyPr wrap="square" rtlCol="0">
            <a:spAutoFit/>
          </a:bodyPr>
          <a:lstStyle/>
          <a:p>
            <a:r>
              <a:rPr lang="es-EC" sz="1400" dirty="0" err="1"/>
              <a:t>idCliente</a:t>
            </a:r>
            <a:r>
              <a:rPr lang="es-EC" sz="1400" dirty="0"/>
              <a:t>= </a:t>
            </a:r>
            <a:r>
              <a:rPr lang="es-EC" sz="1400" dirty="0" err="1"/>
              <a:t>idCliente</a:t>
            </a:r>
            <a:endParaRPr lang="es-EC" sz="1400" dirty="0"/>
          </a:p>
        </p:txBody>
      </p:sp>
      <p:sp>
        <p:nvSpPr>
          <p:cNvPr id="43" name="42 CuadroTexto"/>
          <p:cNvSpPr txBox="1"/>
          <p:nvPr/>
        </p:nvSpPr>
        <p:spPr>
          <a:xfrm rot="3960357">
            <a:off x="7733443" y="3400315"/>
            <a:ext cx="1857388" cy="307777"/>
          </a:xfrm>
          <a:prstGeom prst="rect">
            <a:avLst/>
          </a:prstGeom>
          <a:noFill/>
        </p:spPr>
        <p:txBody>
          <a:bodyPr wrap="square" rtlCol="0">
            <a:spAutoFit/>
          </a:bodyPr>
          <a:lstStyle/>
          <a:p>
            <a:r>
              <a:rPr lang="es-EC" sz="1400" dirty="0" err="1"/>
              <a:t>idCliente</a:t>
            </a:r>
            <a:r>
              <a:rPr lang="es-EC" sz="1400" dirty="0"/>
              <a:t>= </a:t>
            </a:r>
            <a:r>
              <a:rPr lang="es-EC" sz="1400" dirty="0" err="1"/>
              <a:t>idCliente</a:t>
            </a:r>
            <a:endParaRPr lang="es-EC"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Supertipo –Subtipo</a:t>
            </a:r>
          </a:p>
        </p:txBody>
      </p:sp>
      <p:sp>
        <p:nvSpPr>
          <p:cNvPr id="6" name="5 CuadroTexto"/>
          <p:cNvSpPr txBox="1"/>
          <p:nvPr/>
        </p:nvSpPr>
        <p:spPr>
          <a:xfrm>
            <a:off x="5143504" y="1643050"/>
            <a:ext cx="857256" cy="523220"/>
          </a:xfrm>
          <a:prstGeom prst="rect">
            <a:avLst/>
          </a:prstGeom>
          <a:noFill/>
        </p:spPr>
        <p:txBody>
          <a:bodyPr wrap="square" rtlCol="0">
            <a:spAutoFit/>
          </a:bodyPr>
          <a:lstStyle/>
          <a:p>
            <a:r>
              <a:rPr lang="es-EC" sz="2800" b="1" dirty="0"/>
              <a:t>(c)</a:t>
            </a:r>
          </a:p>
        </p:txBody>
      </p:sp>
      <p:sp>
        <p:nvSpPr>
          <p:cNvPr id="7" name="6 Rectángulo"/>
          <p:cNvSpPr/>
          <p:nvPr/>
        </p:nvSpPr>
        <p:spPr>
          <a:xfrm>
            <a:off x="1357322" y="1643050"/>
            <a:ext cx="1785950" cy="185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err="1"/>
              <a:t>idCliente</a:t>
            </a:r>
            <a:endParaRPr lang="es-EC" dirty="0"/>
          </a:p>
          <a:p>
            <a:r>
              <a:rPr lang="es-EC" dirty="0"/>
              <a:t>Nombre</a:t>
            </a:r>
          </a:p>
          <a:p>
            <a:endParaRPr lang="es-EC" dirty="0"/>
          </a:p>
        </p:txBody>
      </p:sp>
      <p:sp>
        <p:nvSpPr>
          <p:cNvPr id="8" name="7 Rectángulo"/>
          <p:cNvSpPr/>
          <p:nvPr/>
        </p:nvSpPr>
        <p:spPr>
          <a:xfrm>
            <a:off x="1357322" y="1571612"/>
            <a:ext cx="1785950"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CLIENTE</a:t>
            </a:r>
          </a:p>
        </p:txBody>
      </p:sp>
      <p:sp>
        <p:nvSpPr>
          <p:cNvPr id="9" name="8 Rectángulo"/>
          <p:cNvSpPr/>
          <p:nvPr/>
        </p:nvSpPr>
        <p:spPr>
          <a:xfrm>
            <a:off x="142844" y="4214770"/>
            <a:ext cx="1785950" cy="1143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a:t>RUC</a:t>
            </a:r>
          </a:p>
          <a:p>
            <a:r>
              <a:rPr lang="es-EC" dirty="0" err="1"/>
              <a:t>Razon</a:t>
            </a:r>
            <a:r>
              <a:rPr lang="es-EC" dirty="0"/>
              <a:t> social</a:t>
            </a:r>
          </a:p>
          <a:p>
            <a:endParaRPr lang="es-EC" dirty="0"/>
          </a:p>
        </p:txBody>
      </p:sp>
      <p:sp>
        <p:nvSpPr>
          <p:cNvPr id="10" name="9 Rectángulo"/>
          <p:cNvSpPr/>
          <p:nvPr/>
        </p:nvSpPr>
        <p:spPr>
          <a:xfrm>
            <a:off x="142844" y="4143380"/>
            <a:ext cx="1785950"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Empresa</a:t>
            </a:r>
          </a:p>
        </p:txBody>
      </p:sp>
      <p:sp>
        <p:nvSpPr>
          <p:cNvPr id="11" name="10 Rectángulo"/>
          <p:cNvSpPr/>
          <p:nvPr/>
        </p:nvSpPr>
        <p:spPr>
          <a:xfrm>
            <a:off x="2214578" y="4286256"/>
            <a:ext cx="1643074" cy="1071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a:t>Cedula</a:t>
            </a:r>
          </a:p>
          <a:p>
            <a:r>
              <a:rPr lang="es-EC" dirty="0"/>
              <a:t>Estado civil</a:t>
            </a:r>
          </a:p>
          <a:p>
            <a:endParaRPr lang="es-EC" dirty="0"/>
          </a:p>
        </p:txBody>
      </p:sp>
      <p:sp>
        <p:nvSpPr>
          <p:cNvPr id="12" name="11 Rectángulo"/>
          <p:cNvSpPr/>
          <p:nvPr/>
        </p:nvSpPr>
        <p:spPr>
          <a:xfrm>
            <a:off x="2214578" y="4143380"/>
            <a:ext cx="1643074"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Persona</a:t>
            </a:r>
          </a:p>
        </p:txBody>
      </p:sp>
      <p:cxnSp>
        <p:nvCxnSpPr>
          <p:cNvPr id="13" name="12 Conector recto"/>
          <p:cNvCxnSpPr/>
          <p:nvPr/>
        </p:nvCxnSpPr>
        <p:spPr>
          <a:xfrm rot="5400000">
            <a:off x="2071701" y="3643315"/>
            <a:ext cx="4286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rot="10800000">
            <a:off x="928694" y="3856040"/>
            <a:ext cx="1357322" cy="15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14 Conector recto"/>
          <p:cNvCxnSpPr/>
          <p:nvPr/>
        </p:nvCxnSpPr>
        <p:spPr>
          <a:xfrm rot="5400000">
            <a:off x="679455" y="4106867"/>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rot="10800000" flipV="1">
            <a:off x="2286017" y="3857626"/>
            <a:ext cx="128588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rot="5400000">
            <a:off x="3322629" y="4106867"/>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18" name="Isosceles Triangle 18"/>
          <p:cNvSpPr/>
          <p:nvPr/>
        </p:nvSpPr>
        <p:spPr>
          <a:xfrm>
            <a:off x="2143140" y="3500438"/>
            <a:ext cx="357190" cy="14287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9" name="18 Rectángulo"/>
          <p:cNvSpPr/>
          <p:nvPr/>
        </p:nvSpPr>
        <p:spPr>
          <a:xfrm>
            <a:off x="4357686" y="2571744"/>
            <a:ext cx="2285984" cy="1785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u="sng" dirty="0"/>
              <a:t>RUC</a:t>
            </a:r>
            <a:r>
              <a:rPr lang="es-EC" dirty="0"/>
              <a:t>         </a:t>
            </a:r>
            <a:r>
              <a:rPr lang="es-EC" dirty="0" err="1"/>
              <a:t>char</a:t>
            </a:r>
            <a:r>
              <a:rPr lang="es-EC" dirty="0"/>
              <a:t>(14) (</a:t>
            </a:r>
            <a:r>
              <a:rPr lang="es-EC" dirty="0" err="1"/>
              <a:t>pk</a:t>
            </a:r>
            <a:r>
              <a:rPr lang="es-EC" dirty="0"/>
              <a:t>)</a:t>
            </a:r>
            <a:endParaRPr lang="es-EC" u="sng" dirty="0"/>
          </a:p>
          <a:p>
            <a:r>
              <a:rPr lang="es-EC" u="sng" dirty="0" err="1"/>
              <a:t>idCliente</a:t>
            </a:r>
            <a:r>
              <a:rPr lang="es-EC" dirty="0"/>
              <a:t> </a:t>
            </a:r>
            <a:r>
              <a:rPr lang="es-EC" dirty="0" err="1"/>
              <a:t>int</a:t>
            </a:r>
            <a:r>
              <a:rPr lang="es-EC" dirty="0"/>
              <a:t> (</a:t>
            </a:r>
            <a:r>
              <a:rPr lang="es-EC" dirty="0" err="1"/>
              <a:t>pk</a:t>
            </a:r>
            <a:r>
              <a:rPr lang="es-EC" dirty="0"/>
              <a:t>)</a:t>
            </a:r>
          </a:p>
          <a:p>
            <a:r>
              <a:rPr lang="es-EC" dirty="0"/>
              <a:t>Nombre  </a:t>
            </a:r>
            <a:r>
              <a:rPr lang="es-EC" dirty="0" err="1"/>
              <a:t>char</a:t>
            </a:r>
            <a:r>
              <a:rPr lang="es-EC" dirty="0"/>
              <a:t>(30)</a:t>
            </a:r>
          </a:p>
          <a:p>
            <a:r>
              <a:rPr lang="es-EC" dirty="0" err="1"/>
              <a:t>Razon</a:t>
            </a:r>
            <a:r>
              <a:rPr lang="es-EC" dirty="0"/>
              <a:t> social  </a:t>
            </a:r>
            <a:r>
              <a:rPr lang="es-EC" dirty="0" err="1"/>
              <a:t>char</a:t>
            </a:r>
            <a:r>
              <a:rPr lang="es-EC" dirty="0"/>
              <a:t>(20)</a:t>
            </a:r>
          </a:p>
        </p:txBody>
      </p:sp>
      <p:sp>
        <p:nvSpPr>
          <p:cNvPr id="20" name="19 Rectángulo"/>
          <p:cNvSpPr/>
          <p:nvPr/>
        </p:nvSpPr>
        <p:spPr>
          <a:xfrm>
            <a:off x="4357686" y="2500354"/>
            <a:ext cx="2285984" cy="2857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Empresa</a:t>
            </a:r>
          </a:p>
        </p:txBody>
      </p:sp>
      <p:sp>
        <p:nvSpPr>
          <p:cNvPr id="21" name="20 Rectángulo"/>
          <p:cNvSpPr/>
          <p:nvPr/>
        </p:nvSpPr>
        <p:spPr>
          <a:xfrm>
            <a:off x="6786578" y="2714620"/>
            <a:ext cx="2286016" cy="17145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r>
              <a:rPr lang="es-EC" u="sng" dirty="0"/>
              <a:t>Cedula</a:t>
            </a:r>
            <a:r>
              <a:rPr lang="es-EC" dirty="0"/>
              <a:t>     </a:t>
            </a:r>
            <a:r>
              <a:rPr lang="es-EC" dirty="0" err="1"/>
              <a:t>char</a:t>
            </a:r>
            <a:r>
              <a:rPr lang="es-EC" dirty="0"/>
              <a:t>(12) (</a:t>
            </a:r>
            <a:r>
              <a:rPr lang="es-EC" dirty="0" err="1"/>
              <a:t>pk</a:t>
            </a:r>
            <a:r>
              <a:rPr lang="es-EC" dirty="0"/>
              <a:t>) </a:t>
            </a:r>
            <a:r>
              <a:rPr lang="es-EC" u="sng" dirty="0" err="1"/>
              <a:t>idCliente</a:t>
            </a:r>
            <a:r>
              <a:rPr lang="es-EC" dirty="0"/>
              <a:t> </a:t>
            </a:r>
            <a:r>
              <a:rPr lang="es-EC" dirty="0" err="1"/>
              <a:t>int</a:t>
            </a:r>
            <a:r>
              <a:rPr lang="es-EC" dirty="0"/>
              <a:t> (</a:t>
            </a:r>
            <a:r>
              <a:rPr lang="es-EC" dirty="0" err="1"/>
              <a:t>pk</a:t>
            </a:r>
            <a:r>
              <a:rPr lang="es-EC" dirty="0"/>
              <a:t>)</a:t>
            </a:r>
          </a:p>
          <a:p>
            <a:r>
              <a:rPr lang="es-EC" dirty="0"/>
              <a:t>Nombre  </a:t>
            </a:r>
            <a:r>
              <a:rPr lang="es-EC" dirty="0" err="1"/>
              <a:t>char</a:t>
            </a:r>
            <a:r>
              <a:rPr lang="es-EC" dirty="0"/>
              <a:t>(30)</a:t>
            </a:r>
          </a:p>
          <a:p>
            <a:r>
              <a:rPr lang="es-EC" dirty="0" err="1"/>
              <a:t>EstadoCivil</a:t>
            </a:r>
            <a:r>
              <a:rPr lang="es-EC" dirty="0"/>
              <a:t>    </a:t>
            </a:r>
            <a:r>
              <a:rPr lang="es-EC" dirty="0" err="1"/>
              <a:t>char</a:t>
            </a:r>
            <a:r>
              <a:rPr lang="es-EC" dirty="0"/>
              <a:t>(10)</a:t>
            </a:r>
          </a:p>
          <a:p>
            <a:endParaRPr lang="es-EC" dirty="0"/>
          </a:p>
        </p:txBody>
      </p:sp>
      <p:sp>
        <p:nvSpPr>
          <p:cNvPr id="22" name="21 Rectángulo"/>
          <p:cNvSpPr/>
          <p:nvPr/>
        </p:nvSpPr>
        <p:spPr>
          <a:xfrm>
            <a:off x="6786578" y="2500306"/>
            <a:ext cx="228601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Persona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Dependencia</a:t>
            </a:r>
          </a:p>
        </p:txBody>
      </p:sp>
      <p:sp>
        <p:nvSpPr>
          <p:cNvPr id="4" name="3 Rectángulo"/>
          <p:cNvSpPr/>
          <p:nvPr/>
        </p:nvSpPr>
        <p:spPr>
          <a:xfrm>
            <a:off x="785786" y="2285992"/>
            <a:ext cx="1928826"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Edificio</a:t>
            </a:r>
          </a:p>
        </p:txBody>
      </p:sp>
      <p:sp>
        <p:nvSpPr>
          <p:cNvPr id="5" name="4 Rectángulo"/>
          <p:cNvSpPr/>
          <p:nvPr/>
        </p:nvSpPr>
        <p:spPr>
          <a:xfrm>
            <a:off x="6072198" y="2214554"/>
            <a:ext cx="2500330"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Departamento</a:t>
            </a:r>
          </a:p>
        </p:txBody>
      </p:sp>
      <p:sp>
        <p:nvSpPr>
          <p:cNvPr id="6" name="5 Rombo"/>
          <p:cNvSpPr/>
          <p:nvPr/>
        </p:nvSpPr>
        <p:spPr>
          <a:xfrm>
            <a:off x="3500430" y="2000240"/>
            <a:ext cx="1500198" cy="1000132"/>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000" dirty="0"/>
              <a:t>tiene</a:t>
            </a:r>
          </a:p>
        </p:txBody>
      </p:sp>
      <p:cxnSp>
        <p:nvCxnSpPr>
          <p:cNvPr id="7" name="6 Conector recto"/>
          <p:cNvCxnSpPr>
            <a:stCxn id="4" idx="3"/>
            <a:endCxn id="6" idx="1"/>
          </p:cNvCxnSpPr>
          <p:nvPr/>
        </p:nvCxnSpPr>
        <p:spPr>
          <a:xfrm flipV="1">
            <a:off x="2714612" y="2500306"/>
            <a:ext cx="785818" cy="35719"/>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7 Conector recto"/>
          <p:cNvCxnSpPr>
            <a:stCxn id="6" idx="3"/>
            <a:endCxn id="5" idx="1"/>
          </p:cNvCxnSpPr>
          <p:nvPr/>
        </p:nvCxnSpPr>
        <p:spPr>
          <a:xfrm>
            <a:off x="5000628" y="2500306"/>
            <a:ext cx="107157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3" name="12 Rectángulo"/>
          <p:cNvSpPr/>
          <p:nvPr/>
        </p:nvSpPr>
        <p:spPr>
          <a:xfrm>
            <a:off x="785786" y="2714620"/>
            <a:ext cx="1928826" cy="1071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dirty="0" err="1"/>
              <a:t>idEdificio</a:t>
            </a:r>
            <a:endParaRPr lang="es-EC" dirty="0"/>
          </a:p>
          <a:p>
            <a:r>
              <a:rPr lang="es-EC" dirty="0"/>
              <a:t>Nombre</a:t>
            </a:r>
          </a:p>
          <a:p>
            <a:r>
              <a:rPr lang="es-EC" dirty="0" err="1"/>
              <a:t>direccion</a:t>
            </a:r>
            <a:endParaRPr lang="es-EC" dirty="0"/>
          </a:p>
        </p:txBody>
      </p:sp>
      <p:cxnSp>
        <p:nvCxnSpPr>
          <p:cNvPr id="19" name="18 Conector recto"/>
          <p:cNvCxnSpPr/>
          <p:nvPr/>
        </p:nvCxnSpPr>
        <p:spPr>
          <a:xfrm rot="10800000" flipV="1">
            <a:off x="5715008" y="2285992"/>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19 Conector recto"/>
          <p:cNvCxnSpPr/>
          <p:nvPr/>
        </p:nvCxnSpPr>
        <p:spPr>
          <a:xfrm>
            <a:off x="5715008" y="2571744"/>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21 Conector recto"/>
          <p:cNvCxnSpPr/>
          <p:nvPr/>
        </p:nvCxnSpPr>
        <p:spPr>
          <a:xfrm rot="5400000">
            <a:off x="5465769" y="2463793"/>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22 Conector recto"/>
          <p:cNvCxnSpPr/>
          <p:nvPr/>
        </p:nvCxnSpPr>
        <p:spPr>
          <a:xfrm rot="5400000">
            <a:off x="2751125" y="2535231"/>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24" name="23 Rectángulo"/>
          <p:cNvSpPr/>
          <p:nvPr/>
        </p:nvSpPr>
        <p:spPr>
          <a:xfrm>
            <a:off x="6072198" y="2786058"/>
            <a:ext cx="2500330" cy="1071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dirty="0" err="1"/>
              <a:t>idDepartamento</a:t>
            </a:r>
            <a:r>
              <a:rPr lang="es-EC" dirty="0"/>
              <a:t> </a:t>
            </a:r>
          </a:p>
          <a:p>
            <a:r>
              <a:rPr lang="es-EC" dirty="0"/>
              <a:t>Numero   </a:t>
            </a:r>
          </a:p>
          <a:p>
            <a:r>
              <a:rPr lang="es-EC" dirty="0"/>
              <a:t>Piso          </a:t>
            </a:r>
          </a:p>
        </p:txBody>
      </p:sp>
      <p:sp>
        <p:nvSpPr>
          <p:cNvPr id="26" name="25 Rectángulo"/>
          <p:cNvSpPr/>
          <p:nvPr/>
        </p:nvSpPr>
        <p:spPr>
          <a:xfrm>
            <a:off x="428596" y="4286256"/>
            <a:ext cx="2357454"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Edificio</a:t>
            </a:r>
          </a:p>
        </p:txBody>
      </p:sp>
      <p:sp>
        <p:nvSpPr>
          <p:cNvPr id="27" name="26 Rectángulo"/>
          <p:cNvSpPr/>
          <p:nvPr/>
        </p:nvSpPr>
        <p:spPr>
          <a:xfrm>
            <a:off x="6143636" y="4214818"/>
            <a:ext cx="2500330"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Departamento</a:t>
            </a:r>
          </a:p>
        </p:txBody>
      </p:sp>
      <p:cxnSp>
        <p:nvCxnSpPr>
          <p:cNvPr id="29" name="28 Conector recto"/>
          <p:cNvCxnSpPr>
            <a:stCxn id="26" idx="3"/>
          </p:cNvCxnSpPr>
          <p:nvPr/>
        </p:nvCxnSpPr>
        <p:spPr>
          <a:xfrm flipV="1">
            <a:off x="2786050" y="4500570"/>
            <a:ext cx="2428892" cy="357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29 Conector recto"/>
          <p:cNvCxnSpPr>
            <a:endCxn id="27" idx="1"/>
          </p:cNvCxnSpPr>
          <p:nvPr/>
        </p:nvCxnSpPr>
        <p:spPr>
          <a:xfrm>
            <a:off x="5072066" y="4500570"/>
            <a:ext cx="107157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1" name="30 Rectángulo"/>
          <p:cNvSpPr/>
          <p:nvPr/>
        </p:nvSpPr>
        <p:spPr>
          <a:xfrm>
            <a:off x="428596" y="4714884"/>
            <a:ext cx="2357454" cy="1071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u="sng" dirty="0" err="1"/>
              <a:t>idEdificio</a:t>
            </a:r>
            <a:r>
              <a:rPr lang="es-EC" dirty="0"/>
              <a:t> </a:t>
            </a:r>
            <a:r>
              <a:rPr lang="es-EC" dirty="0" err="1"/>
              <a:t>int</a:t>
            </a:r>
            <a:r>
              <a:rPr lang="es-EC" dirty="0"/>
              <a:t> (</a:t>
            </a:r>
            <a:r>
              <a:rPr lang="es-EC" dirty="0" err="1"/>
              <a:t>pk</a:t>
            </a:r>
            <a:r>
              <a:rPr lang="es-EC" dirty="0"/>
              <a:t>)</a:t>
            </a:r>
          </a:p>
          <a:p>
            <a:r>
              <a:rPr lang="es-EC" dirty="0"/>
              <a:t>Nombre  </a:t>
            </a:r>
            <a:r>
              <a:rPr lang="es-EC" dirty="0" err="1"/>
              <a:t>char</a:t>
            </a:r>
            <a:r>
              <a:rPr lang="es-EC" dirty="0"/>
              <a:t>(30)</a:t>
            </a:r>
          </a:p>
          <a:p>
            <a:r>
              <a:rPr lang="es-EC" dirty="0" err="1"/>
              <a:t>direccion</a:t>
            </a:r>
            <a:r>
              <a:rPr lang="es-EC" dirty="0"/>
              <a:t>        </a:t>
            </a:r>
            <a:r>
              <a:rPr lang="es-EC" dirty="0" err="1"/>
              <a:t>char</a:t>
            </a:r>
            <a:r>
              <a:rPr lang="es-EC" dirty="0"/>
              <a:t>(50)</a:t>
            </a:r>
          </a:p>
        </p:txBody>
      </p:sp>
      <p:cxnSp>
        <p:nvCxnSpPr>
          <p:cNvPr id="32" name="31 Conector recto"/>
          <p:cNvCxnSpPr/>
          <p:nvPr/>
        </p:nvCxnSpPr>
        <p:spPr>
          <a:xfrm rot="10800000" flipV="1">
            <a:off x="5786446" y="4286256"/>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32 Conector recto"/>
          <p:cNvCxnSpPr/>
          <p:nvPr/>
        </p:nvCxnSpPr>
        <p:spPr>
          <a:xfrm>
            <a:off x="5786446" y="4572008"/>
            <a:ext cx="3571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33 Conector recto"/>
          <p:cNvCxnSpPr/>
          <p:nvPr/>
        </p:nvCxnSpPr>
        <p:spPr>
          <a:xfrm rot="5400000">
            <a:off x="5537207" y="4464057"/>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34 Conector recto"/>
          <p:cNvCxnSpPr/>
          <p:nvPr/>
        </p:nvCxnSpPr>
        <p:spPr>
          <a:xfrm rot="5400000">
            <a:off x="2822563" y="4535495"/>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36" name="35 Rectángulo"/>
          <p:cNvSpPr/>
          <p:nvPr/>
        </p:nvSpPr>
        <p:spPr>
          <a:xfrm>
            <a:off x="6143636" y="4786322"/>
            <a:ext cx="2500330" cy="128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u="sng" dirty="0" err="1"/>
              <a:t>idDepartamento</a:t>
            </a:r>
            <a:r>
              <a:rPr lang="es-EC" dirty="0"/>
              <a:t>  </a:t>
            </a:r>
            <a:r>
              <a:rPr lang="es-EC" dirty="0" err="1"/>
              <a:t>int</a:t>
            </a:r>
            <a:r>
              <a:rPr lang="es-EC" dirty="0"/>
              <a:t> (</a:t>
            </a:r>
            <a:r>
              <a:rPr lang="es-EC" dirty="0" err="1"/>
              <a:t>pk</a:t>
            </a:r>
            <a:r>
              <a:rPr lang="es-EC" dirty="0"/>
              <a:t>)</a:t>
            </a:r>
          </a:p>
          <a:p>
            <a:r>
              <a:rPr lang="es-EC" dirty="0"/>
              <a:t>Numero   </a:t>
            </a:r>
            <a:r>
              <a:rPr lang="es-EC" dirty="0" err="1"/>
              <a:t>int</a:t>
            </a:r>
            <a:endParaRPr lang="es-EC" dirty="0"/>
          </a:p>
          <a:p>
            <a:r>
              <a:rPr lang="es-EC" dirty="0"/>
              <a:t>Piso          </a:t>
            </a:r>
            <a:r>
              <a:rPr lang="es-EC" dirty="0" err="1"/>
              <a:t>int</a:t>
            </a:r>
            <a:endParaRPr lang="es-EC" dirty="0"/>
          </a:p>
          <a:p>
            <a:r>
              <a:rPr lang="es-EC" dirty="0" err="1"/>
              <a:t>idEdificio</a:t>
            </a:r>
            <a:r>
              <a:rPr lang="es-EC" dirty="0"/>
              <a:t> </a:t>
            </a:r>
            <a:r>
              <a:rPr lang="es-EC" dirty="0" err="1"/>
              <a:t>int</a:t>
            </a:r>
            <a:r>
              <a:rPr lang="es-EC" dirty="0"/>
              <a:t> (</a:t>
            </a:r>
            <a:r>
              <a:rPr lang="es-EC" dirty="0" err="1"/>
              <a:t>fk</a:t>
            </a:r>
            <a:r>
              <a:rPr lang="es-EC" dirty="0"/>
              <a:t>)</a:t>
            </a:r>
          </a:p>
        </p:txBody>
      </p:sp>
      <p:sp>
        <p:nvSpPr>
          <p:cNvPr id="28" name="27 CuadroTexto"/>
          <p:cNvSpPr txBox="1"/>
          <p:nvPr/>
        </p:nvSpPr>
        <p:spPr>
          <a:xfrm>
            <a:off x="3571869" y="4143381"/>
            <a:ext cx="1928826" cy="307777"/>
          </a:xfrm>
          <a:prstGeom prst="rect">
            <a:avLst/>
          </a:prstGeom>
          <a:noFill/>
        </p:spPr>
        <p:txBody>
          <a:bodyPr wrap="square" rtlCol="0">
            <a:spAutoFit/>
          </a:bodyPr>
          <a:lstStyle/>
          <a:p>
            <a:r>
              <a:rPr lang="es-EC" sz="1400" dirty="0" err="1"/>
              <a:t>idEdificio</a:t>
            </a:r>
            <a:r>
              <a:rPr lang="es-EC" sz="1400" dirty="0"/>
              <a:t>= </a:t>
            </a:r>
            <a:r>
              <a:rPr lang="es-EC" sz="1400" dirty="0" err="1"/>
              <a:t>idEdificio</a:t>
            </a:r>
            <a:endParaRPr lang="es-EC"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1414"/>
            <a:ext cx="8229600" cy="1143000"/>
          </a:xfrm>
        </p:spPr>
        <p:txBody>
          <a:bodyPr/>
          <a:lstStyle/>
          <a:p>
            <a:r>
              <a:rPr lang="es-EC" dirty="0"/>
              <a:t>Recursiva</a:t>
            </a:r>
          </a:p>
        </p:txBody>
      </p:sp>
      <p:sp>
        <p:nvSpPr>
          <p:cNvPr id="5" name="4 Rombo"/>
          <p:cNvSpPr/>
          <p:nvPr/>
        </p:nvSpPr>
        <p:spPr>
          <a:xfrm>
            <a:off x="4643438" y="1071546"/>
            <a:ext cx="2643206" cy="1000132"/>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000" dirty="0"/>
              <a:t>Supervisa</a:t>
            </a:r>
          </a:p>
        </p:txBody>
      </p:sp>
      <p:cxnSp>
        <p:nvCxnSpPr>
          <p:cNvPr id="6" name="5 Conector recto"/>
          <p:cNvCxnSpPr>
            <a:endCxn id="5" idx="1"/>
          </p:cNvCxnSpPr>
          <p:nvPr/>
        </p:nvCxnSpPr>
        <p:spPr>
          <a:xfrm>
            <a:off x="3643306" y="1571612"/>
            <a:ext cx="100013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10 Conector curvado"/>
          <p:cNvCxnSpPr>
            <a:stCxn id="5" idx="3"/>
            <a:endCxn id="8" idx="5"/>
          </p:cNvCxnSpPr>
          <p:nvPr/>
        </p:nvCxnSpPr>
        <p:spPr>
          <a:xfrm flipH="1">
            <a:off x="2683226" y="1571612"/>
            <a:ext cx="4603418" cy="2040316"/>
          </a:xfrm>
          <a:prstGeom prst="curvedConnector4">
            <a:avLst>
              <a:gd name="adj1" fmla="val -4966"/>
              <a:gd name="adj2" fmla="val 112742"/>
            </a:avLst>
          </a:prstGeom>
        </p:spPr>
        <p:style>
          <a:lnRef idx="1">
            <a:schemeClr val="accent1"/>
          </a:lnRef>
          <a:fillRef idx="0">
            <a:schemeClr val="accent1"/>
          </a:fillRef>
          <a:effectRef idx="0">
            <a:schemeClr val="accent1"/>
          </a:effectRef>
          <a:fontRef idx="minor">
            <a:schemeClr val="tx1"/>
          </a:fontRef>
        </p:style>
      </p:cxnSp>
      <p:sp>
        <p:nvSpPr>
          <p:cNvPr id="8" name="7 Elipse"/>
          <p:cNvSpPr/>
          <p:nvPr/>
        </p:nvSpPr>
        <p:spPr>
          <a:xfrm>
            <a:off x="2500298" y="3429000"/>
            <a:ext cx="214314" cy="2143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9" name="8 Conector recto"/>
          <p:cNvCxnSpPr/>
          <p:nvPr/>
        </p:nvCxnSpPr>
        <p:spPr>
          <a:xfrm rot="5400000">
            <a:off x="3822695" y="1606537"/>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a:off x="2357422" y="3286124"/>
            <a:ext cx="245699" cy="1742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rot="10800000" flipV="1">
            <a:off x="2643174" y="3286124"/>
            <a:ext cx="178596" cy="142877"/>
          </a:xfrm>
          <a:prstGeom prst="line">
            <a:avLst/>
          </a:prstGeom>
        </p:spPr>
        <p:style>
          <a:lnRef idx="1">
            <a:schemeClr val="accent1"/>
          </a:lnRef>
          <a:fillRef idx="0">
            <a:schemeClr val="accent1"/>
          </a:fillRef>
          <a:effectRef idx="0">
            <a:schemeClr val="accent1"/>
          </a:effectRef>
          <a:fontRef idx="minor">
            <a:schemeClr val="tx1"/>
          </a:fontRef>
        </p:style>
      </p:cxnSp>
      <p:sp>
        <p:nvSpPr>
          <p:cNvPr id="12" name="11 Rectángulo"/>
          <p:cNvSpPr/>
          <p:nvPr/>
        </p:nvSpPr>
        <p:spPr>
          <a:xfrm>
            <a:off x="1571604" y="1571612"/>
            <a:ext cx="2071702" cy="17145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dirty="0" err="1"/>
              <a:t>idEmpleado</a:t>
            </a:r>
            <a:endParaRPr lang="es-EC" sz="2000" dirty="0"/>
          </a:p>
          <a:p>
            <a:r>
              <a:rPr lang="es-EC" sz="2000" dirty="0"/>
              <a:t>Nombre</a:t>
            </a:r>
          </a:p>
          <a:p>
            <a:r>
              <a:rPr lang="es-EC" sz="2000" dirty="0"/>
              <a:t>Apellido</a:t>
            </a:r>
          </a:p>
          <a:p>
            <a:r>
              <a:rPr lang="es-EC" sz="2000" dirty="0"/>
              <a:t>Dirección</a:t>
            </a:r>
          </a:p>
          <a:p>
            <a:r>
              <a:rPr lang="es-EC" sz="2000" dirty="0"/>
              <a:t>Teléfono</a:t>
            </a:r>
          </a:p>
        </p:txBody>
      </p:sp>
      <p:sp>
        <p:nvSpPr>
          <p:cNvPr id="22" name="21 Rectángulo"/>
          <p:cNvSpPr/>
          <p:nvPr/>
        </p:nvSpPr>
        <p:spPr>
          <a:xfrm>
            <a:off x="1571604" y="1214422"/>
            <a:ext cx="2071702"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Empleado</a:t>
            </a:r>
          </a:p>
        </p:txBody>
      </p:sp>
      <p:cxnSp>
        <p:nvCxnSpPr>
          <p:cNvPr id="27" name="26 Conector recto"/>
          <p:cNvCxnSpPr/>
          <p:nvPr/>
        </p:nvCxnSpPr>
        <p:spPr>
          <a:xfrm>
            <a:off x="3929058" y="4429132"/>
            <a:ext cx="364333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10 Conector curvado"/>
          <p:cNvCxnSpPr>
            <a:endCxn id="29" idx="5"/>
          </p:cNvCxnSpPr>
          <p:nvPr/>
        </p:nvCxnSpPr>
        <p:spPr>
          <a:xfrm flipH="1">
            <a:off x="2968978" y="4429132"/>
            <a:ext cx="4603418" cy="2040316"/>
          </a:xfrm>
          <a:prstGeom prst="curvedConnector4">
            <a:avLst>
              <a:gd name="adj1" fmla="val -4966"/>
              <a:gd name="adj2" fmla="val 112742"/>
            </a:avLst>
          </a:prstGeom>
        </p:spPr>
        <p:style>
          <a:lnRef idx="1">
            <a:schemeClr val="accent1"/>
          </a:lnRef>
          <a:fillRef idx="0">
            <a:schemeClr val="accent1"/>
          </a:fillRef>
          <a:effectRef idx="0">
            <a:schemeClr val="accent1"/>
          </a:effectRef>
          <a:fontRef idx="minor">
            <a:schemeClr val="tx1"/>
          </a:fontRef>
        </p:style>
      </p:cxnSp>
      <p:sp>
        <p:nvSpPr>
          <p:cNvPr id="29" name="28 Elipse"/>
          <p:cNvSpPr/>
          <p:nvPr/>
        </p:nvSpPr>
        <p:spPr>
          <a:xfrm>
            <a:off x="2786050" y="6286520"/>
            <a:ext cx="214314" cy="2143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30" name="29 Conector recto"/>
          <p:cNvCxnSpPr/>
          <p:nvPr/>
        </p:nvCxnSpPr>
        <p:spPr>
          <a:xfrm rot="5400000">
            <a:off x="4104579" y="4464057"/>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30 Conector recto"/>
          <p:cNvCxnSpPr/>
          <p:nvPr/>
        </p:nvCxnSpPr>
        <p:spPr>
          <a:xfrm>
            <a:off x="2643174" y="6143644"/>
            <a:ext cx="245699" cy="17426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31 Conector recto"/>
          <p:cNvCxnSpPr/>
          <p:nvPr/>
        </p:nvCxnSpPr>
        <p:spPr>
          <a:xfrm rot="10800000" flipV="1">
            <a:off x="2928926" y="6143644"/>
            <a:ext cx="178596" cy="142877"/>
          </a:xfrm>
          <a:prstGeom prst="line">
            <a:avLst/>
          </a:prstGeom>
        </p:spPr>
        <p:style>
          <a:lnRef idx="1">
            <a:schemeClr val="accent1"/>
          </a:lnRef>
          <a:fillRef idx="0">
            <a:schemeClr val="accent1"/>
          </a:fillRef>
          <a:effectRef idx="0">
            <a:schemeClr val="accent1"/>
          </a:effectRef>
          <a:fontRef idx="minor">
            <a:schemeClr val="tx1"/>
          </a:fontRef>
        </p:style>
      </p:cxnSp>
      <p:sp>
        <p:nvSpPr>
          <p:cNvPr id="33" name="32 Rectángulo"/>
          <p:cNvSpPr/>
          <p:nvPr/>
        </p:nvSpPr>
        <p:spPr>
          <a:xfrm>
            <a:off x="1691680" y="4286256"/>
            <a:ext cx="2308816" cy="185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C" sz="2000" u="sng" dirty="0" err="1"/>
              <a:t>idEmpleado</a:t>
            </a:r>
            <a:r>
              <a:rPr lang="es-EC" sz="2000" u="sng" dirty="0"/>
              <a:t> </a:t>
            </a:r>
            <a:r>
              <a:rPr lang="es-EC" sz="2000" dirty="0" err="1"/>
              <a:t>int</a:t>
            </a:r>
            <a:r>
              <a:rPr lang="es-EC" sz="2000" dirty="0"/>
              <a:t> (</a:t>
            </a:r>
            <a:r>
              <a:rPr lang="es-EC" sz="2000" dirty="0" err="1"/>
              <a:t>pk</a:t>
            </a:r>
            <a:r>
              <a:rPr lang="es-EC" sz="2000" dirty="0"/>
              <a:t>)</a:t>
            </a:r>
          </a:p>
          <a:p>
            <a:r>
              <a:rPr lang="es-EC" sz="2000" dirty="0"/>
              <a:t>Nombre  </a:t>
            </a:r>
            <a:r>
              <a:rPr lang="es-EC" sz="2000" dirty="0" err="1"/>
              <a:t>char</a:t>
            </a:r>
            <a:r>
              <a:rPr lang="es-EC" sz="2000" dirty="0"/>
              <a:t>(30)</a:t>
            </a:r>
          </a:p>
          <a:p>
            <a:r>
              <a:rPr lang="es-EC" sz="2000" dirty="0"/>
              <a:t>Apellido  </a:t>
            </a:r>
            <a:r>
              <a:rPr lang="es-EC" sz="2000" dirty="0" err="1"/>
              <a:t>char</a:t>
            </a:r>
            <a:r>
              <a:rPr lang="es-EC" sz="2000" dirty="0"/>
              <a:t>(30)</a:t>
            </a:r>
          </a:p>
          <a:p>
            <a:r>
              <a:rPr lang="es-EC" sz="2000" dirty="0"/>
              <a:t>Dirección </a:t>
            </a:r>
            <a:r>
              <a:rPr lang="es-EC" sz="2000" dirty="0" err="1"/>
              <a:t>char</a:t>
            </a:r>
            <a:r>
              <a:rPr lang="es-EC" sz="2000" dirty="0"/>
              <a:t>(50)</a:t>
            </a:r>
          </a:p>
          <a:p>
            <a:r>
              <a:rPr lang="es-EC" sz="2000" dirty="0"/>
              <a:t>Teléfono   </a:t>
            </a:r>
            <a:r>
              <a:rPr lang="es-EC" sz="2000" dirty="0" err="1"/>
              <a:t>int</a:t>
            </a:r>
            <a:endParaRPr lang="es-EC" sz="2000" dirty="0"/>
          </a:p>
          <a:p>
            <a:r>
              <a:rPr lang="es-EC" sz="2000" dirty="0"/>
              <a:t>idEmpleado2 </a:t>
            </a:r>
            <a:r>
              <a:rPr lang="es-EC" sz="2000" dirty="0" err="1"/>
              <a:t>int</a:t>
            </a:r>
            <a:r>
              <a:rPr lang="es-EC" sz="2000" dirty="0"/>
              <a:t>(</a:t>
            </a:r>
            <a:r>
              <a:rPr lang="es-EC" sz="2000" dirty="0" err="1"/>
              <a:t>fk</a:t>
            </a:r>
            <a:r>
              <a:rPr lang="es-EC" sz="2000" dirty="0"/>
              <a:t>)</a:t>
            </a:r>
          </a:p>
        </p:txBody>
      </p:sp>
      <p:sp>
        <p:nvSpPr>
          <p:cNvPr id="34" name="33 Rectángulo"/>
          <p:cNvSpPr/>
          <p:nvPr/>
        </p:nvSpPr>
        <p:spPr>
          <a:xfrm>
            <a:off x="1691680" y="3929066"/>
            <a:ext cx="230881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Empleado</a:t>
            </a:r>
          </a:p>
        </p:txBody>
      </p:sp>
      <p:sp>
        <p:nvSpPr>
          <p:cNvPr id="35" name="34 CuadroTexto"/>
          <p:cNvSpPr txBox="1"/>
          <p:nvPr/>
        </p:nvSpPr>
        <p:spPr>
          <a:xfrm>
            <a:off x="4929190" y="4572008"/>
            <a:ext cx="2643206" cy="307777"/>
          </a:xfrm>
          <a:prstGeom prst="rect">
            <a:avLst/>
          </a:prstGeom>
          <a:noFill/>
        </p:spPr>
        <p:txBody>
          <a:bodyPr wrap="square" rtlCol="0">
            <a:spAutoFit/>
          </a:bodyPr>
          <a:lstStyle/>
          <a:p>
            <a:r>
              <a:rPr lang="es-EC" sz="1400" dirty="0" err="1"/>
              <a:t>idEmpleado</a:t>
            </a:r>
            <a:r>
              <a:rPr lang="es-EC" sz="1400" dirty="0"/>
              <a:t>= idEmpleado2</a:t>
            </a:r>
          </a:p>
        </p:txBody>
      </p:sp>
      <p:sp>
        <p:nvSpPr>
          <p:cNvPr id="21" name="20 Elipse"/>
          <p:cNvSpPr/>
          <p:nvPr/>
        </p:nvSpPr>
        <p:spPr>
          <a:xfrm>
            <a:off x="3648724" y="1466043"/>
            <a:ext cx="214314" cy="2143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3" name="20 Elipse"/>
          <p:cNvSpPr/>
          <p:nvPr/>
        </p:nvSpPr>
        <p:spPr>
          <a:xfrm>
            <a:off x="3995936" y="4293096"/>
            <a:ext cx="214314" cy="2143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Diccionario de Datos</a:t>
            </a:r>
          </a:p>
        </p:txBody>
      </p:sp>
      <p:sp>
        <p:nvSpPr>
          <p:cNvPr id="3" name="2 Marcador de contenido"/>
          <p:cNvSpPr>
            <a:spLocks noGrp="1"/>
          </p:cNvSpPr>
          <p:nvPr>
            <p:ph idx="1"/>
          </p:nvPr>
        </p:nvSpPr>
        <p:spPr/>
        <p:txBody>
          <a:bodyPr/>
          <a:lstStyle/>
          <a:p>
            <a:r>
              <a:rPr lang="es-EC" dirty="0"/>
              <a:t>Es un documento que muestra una descripción de los elementos que componen cada tabla.</a:t>
            </a:r>
          </a:p>
          <a:p>
            <a:r>
              <a:rPr lang="es-EC" dirty="0"/>
              <a:t>Para cada atributo de la tabla se especifica:</a:t>
            </a:r>
          </a:p>
          <a:p>
            <a:endParaRPr lang="es-EC" dirty="0"/>
          </a:p>
        </p:txBody>
      </p:sp>
      <p:graphicFrame>
        <p:nvGraphicFramePr>
          <p:cNvPr id="4" name="3 Tabla"/>
          <p:cNvGraphicFramePr>
            <a:graphicFrameLocks noGrp="1"/>
          </p:cNvGraphicFramePr>
          <p:nvPr/>
        </p:nvGraphicFramePr>
        <p:xfrm>
          <a:off x="1500166" y="4500570"/>
          <a:ext cx="6096000" cy="3708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r>
                        <a:rPr lang="es-EC" dirty="0"/>
                        <a:t>Atributo</a:t>
                      </a:r>
                    </a:p>
                  </a:txBody>
                  <a:tcPr/>
                </a:tc>
                <a:tc>
                  <a:txBody>
                    <a:bodyPr/>
                    <a:lstStyle/>
                    <a:p>
                      <a:pPr algn="ctr"/>
                      <a:r>
                        <a:rPr lang="es-EC" dirty="0"/>
                        <a:t>Tipo de Dato</a:t>
                      </a:r>
                    </a:p>
                  </a:txBody>
                  <a:tcPr/>
                </a:tc>
                <a:tc>
                  <a:txBody>
                    <a:bodyPr/>
                    <a:lstStyle/>
                    <a:p>
                      <a:pPr algn="ctr"/>
                      <a:r>
                        <a:rPr lang="es-EC" dirty="0"/>
                        <a:t>Dominio</a:t>
                      </a:r>
                    </a:p>
                  </a:txBody>
                  <a:tcPr/>
                </a:tc>
                <a:tc>
                  <a:txBody>
                    <a:bodyPr/>
                    <a:lstStyle/>
                    <a:p>
                      <a:pPr algn="ctr"/>
                      <a:r>
                        <a:rPr lang="es-EC" dirty="0"/>
                        <a:t>Descripción</a:t>
                      </a:r>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Ejemplo de Diccionario de Datos</a:t>
            </a:r>
          </a:p>
        </p:txBody>
      </p:sp>
      <p:pic>
        <p:nvPicPr>
          <p:cNvPr id="1027" name="Picture 3"/>
          <p:cNvPicPr>
            <a:picLocks noChangeAspect="1" noChangeArrowheads="1"/>
          </p:cNvPicPr>
          <p:nvPr/>
        </p:nvPicPr>
        <p:blipFill>
          <a:blip r:embed="rId2" cstate="print"/>
          <a:srcRect/>
          <a:stretch>
            <a:fillRect/>
          </a:stretch>
        </p:blipFill>
        <p:spPr bwMode="auto">
          <a:xfrm>
            <a:off x="2143108" y="1571612"/>
            <a:ext cx="4943475" cy="4543425"/>
          </a:xfrm>
          <a:prstGeom prst="rect">
            <a:avLst/>
          </a:prstGeom>
          <a:noFill/>
          <a:ln w="9525">
            <a:solidFill>
              <a:schemeClr val="tx1"/>
            </a:solid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C" dirty="0"/>
              <a:t>Club de Tenis</a:t>
            </a:r>
          </a:p>
        </p:txBody>
      </p:sp>
      <p:sp>
        <p:nvSpPr>
          <p:cNvPr id="3" name="Content Placeholder 2"/>
          <p:cNvSpPr>
            <a:spLocks noGrp="1"/>
          </p:cNvSpPr>
          <p:nvPr>
            <p:ph idx="1"/>
          </p:nvPr>
        </p:nvSpPr>
        <p:spPr>
          <a:xfrm>
            <a:off x="457200" y="1219200"/>
            <a:ext cx="8229600" cy="5562600"/>
          </a:xfrm>
        </p:spPr>
        <p:txBody>
          <a:bodyPr>
            <a:normAutofit fontScale="40000" lnSpcReduction="20000"/>
          </a:bodyPr>
          <a:lstStyle/>
          <a:p>
            <a:pPr>
              <a:buNone/>
            </a:pPr>
            <a:r>
              <a:rPr lang="es-ES" sz="3800" dirty="0"/>
              <a:t>El Club de Tenis, </a:t>
            </a:r>
            <a:r>
              <a:rPr lang="es-ES" sz="3800" dirty="0" err="1"/>
              <a:t>Vall</a:t>
            </a:r>
            <a:r>
              <a:rPr lang="es-ES" sz="3800" dirty="0"/>
              <a:t> </a:t>
            </a:r>
            <a:r>
              <a:rPr lang="es-ES" sz="3800" dirty="0" err="1"/>
              <a:t>Parc</a:t>
            </a:r>
            <a:r>
              <a:rPr lang="es-ES" sz="3800" dirty="0"/>
              <a:t>, fundado en 1913  desea una base de datos diseñada por usted. La información que le proporciona el administrador del club es la siguiente:</a:t>
            </a:r>
            <a:endParaRPr lang="es-EC" sz="3800" dirty="0"/>
          </a:p>
          <a:p>
            <a:pPr>
              <a:buNone/>
            </a:pPr>
            <a:r>
              <a:rPr lang="es-ES" sz="3800" dirty="0"/>
              <a:t>-El club posee miembros y cada uno de ellos pertenece a una categoría dependiendo de su juego, por ejemplo principiante, profesional, etc. </a:t>
            </a:r>
            <a:endParaRPr lang="es-EC" sz="3800" dirty="0"/>
          </a:p>
          <a:p>
            <a:pPr>
              <a:buNone/>
            </a:pPr>
            <a:r>
              <a:rPr lang="es-ES" sz="3800" dirty="0"/>
              <a:t>-Se necesita guardar la siguiente información de los miembros:</a:t>
            </a:r>
            <a:endParaRPr lang="es-EC" sz="3800" dirty="0"/>
          </a:p>
          <a:p>
            <a:r>
              <a:rPr lang="es-ES" sz="3800" dirty="0"/>
              <a:t>Nombre </a:t>
            </a:r>
            <a:endParaRPr lang="es-EC" sz="3800" dirty="0"/>
          </a:p>
          <a:p>
            <a:r>
              <a:rPr lang="es-ES" sz="3800" dirty="0"/>
              <a:t>Género </a:t>
            </a:r>
            <a:endParaRPr lang="es-EC" sz="3800" dirty="0"/>
          </a:p>
          <a:p>
            <a:r>
              <a:rPr lang="es-ES" sz="3800" dirty="0"/>
              <a:t>Fecha de Nacimiento</a:t>
            </a:r>
            <a:endParaRPr lang="es-EC" sz="3800" dirty="0"/>
          </a:p>
          <a:p>
            <a:r>
              <a:rPr lang="es-ES" sz="3800" dirty="0"/>
              <a:t>Ocupación</a:t>
            </a:r>
            <a:endParaRPr lang="es-EC" sz="3800" dirty="0"/>
          </a:p>
          <a:p>
            <a:r>
              <a:rPr lang="es-ES" sz="3800" dirty="0"/>
              <a:t>Teléfono</a:t>
            </a:r>
            <a:endParaRPr lang="es-EC" sz="3800" dirty="0"/>
          </a:p>
          <a:p>
            <a:r>
              <a:rPr lang="es-ES" sz="3800" dirty="0"/>
              <a:t>Email</a:t>
            </a:r>
            <a:endParaRPr lang="es-EC" sz="3800" dirty="0"/>
          </a:p>
          <a:p>
            <a:r>
              <a:rPr lang="es-ES" sz="3800" dirty="0"/>
              <a:t>Direcciones (para enviar material promocional)</a:t>
            </a:r>
            <a:endParaRPr lang="es-EC" sz="3800" dirty="0"/>
          </a:p>
          <a:p>
            <a:r>
              <a:rPr lang="es-ES" sz="3800" dirty="0"/>
              <a:t>Número de hijos</a:t>
            </a:r>
            <a:endParaRPr lang="es-EC" sz="3800" dirty="0"/>
          </a:p>
          <a:p>
            <a:pPr>
              <a:buNone/>
            </a:pPr>
            <a:r>
              <a:rPr lang="es-ES" sz="3800" dirty="0"/>
              <a:t> </a:t>
            </a:r>
            <a:endParaRPr lang="es-EC" sz="3800" dirty="0"/>
          </a:p>
          <a:p>
            <a:pPr>
              <a:buNone/>
            </a:pPr>
            <a:r>
              <a:rPr lang="es-ES" sz="3800" dirty="0"/>
              <a:t>-Para pertenecer al club el miembro debe pagar una membrecía, la cual tiene un costo anual.</a:t>
            </a:r>
            <a:endParaRPr lang="es-EC" sz="3800" dirty="0"/>
          </a:p>
          <a:p>
            <a:pPr>
              <a:buNone/>
            </a:pPr>
            <a:r>
              <a:rPr lang="es-ES" sz="3800" dirty="0"/>
              <a:t>-El club tiene a disposición entrenadores para que los miembros mejoren o practiquen su juego. </a:t>
            </a:r>
            <a:endParaRPr lang="es-EC" sz="3800" dirty="0"/>
          </a:p>
          <a:p>
            <a:pPr>
              <a:buNone/>
            </a:pPr>
            <a:r>
              <a:rPr lang="es-ES" sz="3800" dirty="0"/>
              <a:t>-Se necesita llevar un registro del entrenamiento y de si éste se llevó a cabo.</a:t>
            </a:r>
            <a:endParaRPr lang="es-EC" sz="3800" dirty="0"/>
          </a:p>
          <a:p>
            <a:pPr>
              <a:buNone/>
            </a:pPr>
            <a:r>
              <a:rPr lang="es-ES" sz="3800" dirty="0"/>
              <a:t>-El miembro puede elegir a un entrenador dependiendo de sus cualidades, como género, edad o cuánto torneos ha ganado y en qué año.</a:t>
            </a:r>
            <a:endParaRPr lang="es-EC" sz="3800" dirty="0"/>
          </a:p>
          <a:p>
            <a:pPr>
              <a:buNone/>
            </a:pPr>
            <a:r>
              <a:rPr lang="es-ES" sz="3800" dirty="0"/>
              <a:t>-Los miembros pueden participar en competiciones con otros miembros del club.</a:t>
            </a:r>
            <a:endParaRPr lang="es-EC" sz="3800" dirty="0"/>
          </a:p>
          <a:p>
            <a:pPr>
              <a:buNone/>
            </a:pPr>
            <a:r>
              <a:rPr lang="es-ES" sz="3800" dirty="0"/>
              <a:t>-Las competiciones tienen un costo extra para el miembro.</a:t>
            </a:r>
            <a:endParaRPr lang="es-EC" sz="3800" dirty="0"/>
          </a:p>
          <a:p>
            <a:pPr>
              <a:buNone/>
            </a:pPr>
            <a:r>
              <a:rPr lang="es-ES" sz="3800" dirty="0"/>
              <a:t>-Se necesita llevar un registro de los pagos realizados y un miembro puede realizar cuantos pagos desee.</a:t>
            </a:r>
            <a:endParaRPr lang="es-EC" sz="3800" dirty="0"/>
          </a:p>
          <a:p>
            <a:endParaRPr lang="es-EC" dirty="0"/>
          </a:p>
        </p:txBody>
      </p:sp>
    </p:spTree>
    <p:extLst>
      <p:ext uri="{BB962C8B-B14F-4D97-AF65-F5344CB8AC3E}">
        <p14:creationId xmlns:p14="http://schemas.microsoft.com/office/powerpoint/2010/main" val="1274972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04800"/>
            <a:ext cx="6705600" cy="1143000"/>
          </a:xfrm>
        </p:spPr>
        <p:txBody>
          <a:bodyPr>
            <a:normAutofit fontScale="90000"/>
          </a:bodyPr>
          <a:lstStyle/>
          <a:p>
            <a:r>
              <a:rPr lang="es-EC" dirty="0"/>
              <a:t>Tienda en línea y fisíca de alquiler de películas</a:t>
            </a:r>
          </a:p>
        </p:txBody>
      </p:sp>
      <p:sp>
        <p:nvSpPr>
          <p:cNvPr id="3" name="Content Placeholder 2"/>
          <p:cNvSpPr>
            <a:spLocks noGrp="1"/>
          </p:cNvSpPr>
          <p:nvPr>
            <p:ph idx="1"/>
          </p:nvPr>
        </p:nvSpPr>
        <p:spPr>
          <a:xfrm>
            <a:off x="457200" y="1219200"/>
            <a:ext cx="8229600" cy="5562600"/>
          </a:xfrm>
        </p:spPr>
        <p:txBody>
          <a:bodyPr>
            <a:normAutofit fontScale="85000" lnSpcReduction="10000"/>
          </a:bodyPr>
          <a:lstStyle/>
          <a:p>
            <a:pPr algn="just"/>
            <a:endParaRPr lang="es-EC" dirty="0"/>
          </a:p>
          <a:p>
            <a:pPr marL="0" indent="0" algn="just">
              <a:buNone/>
            </a:pPr>
            <a:r>
              <a:rPr lang="es-EC" dirty="0"/>
              <a:t>Para usar el servicio el cliente debe contar con una cuenta. El precio de renta de una película varía, dependiendo de su popularidad o reciente estreno.</a:t>
            </a:r>
          </a:p>
          <a:p>
            <a:pPr marL="0" indent="0" algn="just">
              <a:buNone/>
            </a:pPr>
            <a:r>
              <a:rPr lang="es-EC" dirty="0"/>
              <a:t>Las películas tienen id, categorías, título, descripción, año de estreno, lenguaje, rating, actores, stock, precio.</a:t>
            </a:r>
          </a:p>
          <a:p>
            <a:pPr marL="0" indent="0" algn="just">
              <a:buNone/>
            </a:pPr>
            <a:r>
              <a:rPr lang="es-EC" dirty="0"/>
              <a:t>Cada actor tiene un id, nombre, apellido. </a:t>
            </a:r>
          </a:p>
          <a:p>
            <a:pPr marL="0" indent="0" algn="just">
              <a:buNone/>
            </a:pPr>
            <a:r>
              <a:rPr lang="es-EC" dirty="0"/>
              <a:t>Una tienda tiene id, manager, dirección.</a:t>
            </a:r>
          </a:p>
          <a:p>
            <a:pPr marL="0" indent="0" algn="just">
              <a:buNone/>
            </a:pPr>
            <a:r>
              <a:rPr lang="es-EC" dirty="0"/>
              <a:t>Un cliente tiene id, nombre apellido, email, dirección, ciudad, país, código postal, teléfono.</a:t>
            </a:r>
          </a:p>
          <a:p>
            <a:pPr marL="0" indent="0" algn="just">
              <a:buNone/>
            </a:pPr>
            <a:r>
              <a:rPr lang="es-EC" dirty="0"/>
              <a:t>Un empleado tiene id, nombre apellido, email, dirección, email, tienda donde trabaja, user password.</a:t>
            </a:r>
          </a:p>
          <a:p>
            <a:pPr algn="just"/>
            <a:endParaRPr lang="es-EC" dirty="0"/>
          </a:p>
        </p:txBody>
      </p:sp>
    </p:spTree>
    <p:extLst>
      <p:ext uri="{BB962C8B-B14F-4D97-AF65-F5344CB8AC3E}">
        <p14:creationId xmlns:p14="http://schemas.microsoft.com/office/powerpoint/2010/main" val="3380692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9C7FC5-48BE-C149-9A89-C43CFCD507E1}"/>
              </a:ext>
            </a:extLst>
          </p:cNvPr>
          <p:cNvPicPr>
            <a:picLocks noChangeAspect="1"/>
          </p:cNvPicPr>
          <p:nvPr/>
        </p:nvPicPr>
        <p:blipFill>
          <a:blip r:embed="rId2"/>
          <a:stretch>
            <a:fillRect/>
          </a:stretch>
        </p:blipFill>
        <p:spPr>
          <a:xfrm>
            <a:off x="1537804" y="260648"/>
            <a:ext cx="6068392" cy="5871169"/>
          </a:xfrm>
          <a:prstGeom prst="rect">
            <a:avLst/>
          </a:prstGeom>
        </p:spPr>
      </p:pic>
    </p:spTree>
    <p:extLst>
      <p:ext uri="{BB962C8B-B14F-4D97-AF65-F5344CB8AC3E}">
        <p14:creationId xmlns:p14="http://schemas.microsoft.com/office/powerpoint/2010/main" val="20361094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771</TotalTime>
  <Words>2208</Words>
  <Application>Microsoft Macintosh PowerPoint</Application>
  <PresentationFormat>On-screen Show (4:3)</PresentationFormat>
  <Paragraphs>527</Paragraphs>
  <Slides>32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Capítulo 4</vt:lpstr>
      <vt:lpstr>Objetivos</vt:lpstr>
      <vt:lpstr>Modelo Lógico</vt:lpstr>
      <vt:lpstr>Formas Normales (FN)</vt:lpstr>
      <vt:lpstr>Tablas, Columnas, Filas y Campos(Primera Forma Normal)</vt:lpstr>
      <vt:lpstr>Tablas, Columnas, Filas y Campos(Primera Forma Normal)</vt:lpstr>
      <vt:lpstr>Tablas, Columnas, Filas y Campos(Primera Forma Normal)</vt:lpstr>
      <vt:lpstr>Tipos de Claves</vt:lpstr>
      <vt:lpstr>Primary Key – Clave primaria</vt:lpstr>
      <vt:lpstr>Foreign Key – Clave Foránea</vt:lpstr>
      <vt:lpstr>Conversión de entidades  del modelo conceptual</vt:lpstr>
      <vt:lpstr>Conversión de Relaciones</vt:lpstr>
      <vt:lpstr>Simplificación del modelo lógico </vt:lpstr>
      <vt:lpstr>Relaciones 1:1</vt:lpstr>
      <vt:lpstr>Relaciones 1:1</vt:lpstr>
      <vt:lpstr>Relaciones 1:1</vt:lpstr>
      <vt:lpstr>Relaciones 1:M</vt:lpstr>
      <vt:lpstr>Relaciones 1:M</vt:lpstr>
      <vt:lpstr>Relaciones 1:M</vt:lpstr>
      <vt:lpstr>Relaciones M:M</vt:lpstr>
      <vt:lpstr>Relaciones Ternarias</vt:lpstr>
      <vt:lpstr>Conversión de Relaciones Especiales</vt:lpstr>
      <vt:lpstr>Supertipo –Subtipo</vt:lpstr>
      <vt:lpstr>Supertipo –Subtipo</vt:lpstr>
      <vt:lpstr>Supertipo –Subtipo</vt:lpstr>
      <vt:lpstr>Dependencia</vt:lpstr>
      <vt:lpstr>Recursiva</vt:lpstr>
      <vt:lpstr>Diccionario de Datos</vt:lpstr>
      <vt:lpstr>Ejemplo de Diccionario de Datos</vt:lpstr>
      <vt:lpstr>Club de Tenis</vt:lpstr>
      <vt:lpstr>Tienda en línea y fisíca de alquiler de películas</vt:lpstr>
      <vt:lpstr>PowerPoint Presentation</vt:lpstr>
    </vt:vector>
  </TitlesOfParts>
  <Company>FIEC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4</dc:title>
  <dc:creator>Cristina Abad</dc:creator>
  <cp:lastModifiedBy>Vanessa Ines Cedeno Mieles</cp:lastModifiedBy>
  <cp:revision>138</cp:revision>
  <dcterms:created xsi:type="dcterms:W3CDTF">2010-06-07T19:02:00Z</dcterms:created>
  <dcterms:modified xsi:type="dcterms:W3CDTF">2019-10-16T01:20:40Z</dcterms:modified>
</cp:coreProperties>
</file>
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9" r:id="rId4"/>
    <p:sldId id="261" r:id="rId5"/>
    <p:sldId id="258" r:id="rId6"/>
    <p:sldId id="280" r:id="rId7"/>
    <p:sldId id="269" r:id="rId8"/>
    <p:sldId id="283" r:id="rId9"/>
    <p:sldId id="263" r:id="rId10"/>
    <p:sldId id="264" r:id="rId11"/>
    <p:sldId id="281" r:id="rId12"/>
    <p:sldId id="282" r:id="rId13"/>
    <p:sldId id="266" r:id="rId14"/>
    <p:sldId id="267" r:id="rId15"/>
    <p:sldId id="284" r:id="rId16"/>
    <p:sldId id="285" r:id="rId17"/>
    <p:sldId id="286" r:id="rId18"/>
    <p:sldId id="287" r:id="rId19"/>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76"/>
    <p:restoredTop sz="79683" autoAdjust="0"/>
  </p:normalViewPr>
  <p:slideViewPr>
    <p:cSldViewPr>
      <p:cViewPr varScale="1">
        <p:scale>
          <a:sx n="85" d="100"/>
          <a:sy n="85" d="100"/>
        </p:scale>
        <p:origin x="1488"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D9E778-3F26-49AE-A391-D48CD05EBA96}" type="datetimeFigureOut">
              <a:rPr lang="es-EC" smtClean="0"/>
              <a:pPr/>
              <a:t>23/10/19</a:t>
            </a:fld>
            <a:endParaRPr lang="es-EC"/>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C"/>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EC2D05-7F98-49DF-8820-B11CA5462B1E}" type="slidenum">
              <a:rPr lang="es-EC" smtClean="0"/>
              <a:pPr/>
              <a:t>‹#›</a:t>
            </a:fld>
            <a:endParaRPr lang="es-EC"/>
          </a:p>
        </p:txBody>
      </p:sp>
    </p:spTree>
    <p:extLst>
      <p:ext uri="{BB962C8B-B14F-4D97-AF65-F5344CB8AC3E}">
        <p14:creationId xmlns:p14="http://schemas.microsoft.com/office/powerpoint/2010/main" val="456567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s-EC" dirty="0"/>
          </a:p>
        </p:txBody>
      </p:sp>
      <p:sp>
        <p:nvSpPr>
          <p:cNvPr id="4" name="3 Marcador de número de diapositiva"/>
          <p:cNvSpPr>
            <a:spLocks noGrp="1"/>
          </p:cNvSpPr>
          <p:nvPr>
            <p:ph type="sldNum" sz="quarter" idx="10"/>
          </p:nvPr>
        </p:nvSpPr>
        <p:spPr/>
        <p:txBody>
          <a:bodyPr/>
          <a:lstStyle/>
          <a:p>
            <a:fld id="{BDEC2D05-7F98-49DF-8820-B11CA5462B1E}" type="slidenum">
              <a:rPr lang="es-EC" smtClean="0"/>
              <a:pPr/>
              <a:t>3</a:t>
            </a:fld>
            <a:endParaRPr lang="es-EC"/>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s-EC" dirty="0"/>
              <a:t>Cualquier tabla que esté en la segunda forma normal (2NF) o más arriba, también está, por definición, en 1NF (cada forma normal tiene criterios más rigurosos que su precursor). Por una parte, una tabla que está en 1NF puede o no puede estar en 2NF; si está en 2NF, puede o no puede estar en 3NF, y así sucesivamente.</a:t>
            </a:r>
          </a:p>
        </p:txBody>
      </p:sp>
      <p:sp>
        <p:nvSpPr>
          <p:cNvPr id="4" name="Slide Number Placeholder 3"/>
          <p:cNvSpPr>
            <a:spLocks noGrp="1"/>
          </p:cNvSpPr>
          <p:nvPr>
            <p:ph type="sldNum" sz="quarter" idx="10"/>
          </p:nvPr>
        </p:nvSpPr>
        <p:spPr/>
        <p:txBody>
          <a:bodyPr/>
          <a:lstStyle/>
          <a:p>
            <a:fld id="{BDEC2D05-7F98-49DF-8820-B11CA5462B1E}" type="slidenum">
              <a:rPr lang="es-EC" smtClean="0"/>
              <a:pPr/>
              <a:t>4</a:t>
            </a:fld>
            <a:endParaRPr lang="es-EC"/>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EC2D05-7F98-49DF-8820-B11CA5462B1E}" type="slidenum">
              <a:rPr lang="es-EC" smtClean="0"/>
              <a:pPr/>
              <a:t>7</a:t>
            </a:fld>
            <a:endParaRPr lang="es-EC"/>
          </a:p>
        </p:txBody>
      </p:sp>
    </p:spTree>
    <p:extLst>
      <p:ext uri="{BB962C8B-B14F-4D97-AF65-F5344CB8AC3E}">
        <p14:creationId xmlns:p14="http://schemas.microsoft.com/office/powerpoint/2010/main" val="3925349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s-EC" dirty="0"/>
              <a:t>Observe la redundancia de la manera en que son representadas los Lugares actuales de trabajo: nos dicen tres veces que Jones trabaja en la 114 </a:t>
            </a:r>
            <a:r>
              <a:rPr lang="es-EC" dirty="0" err="1"/>
              <a:t>Main</a:t>
            </a:r>
            <a:r>
              <a:rPr lang="es-EC" dirty="0"/>
              <a:t> </a:t>
            </a:r>
            <a:r>
              <a:rPr lang="es-EC" dirty="0" err="1"/>
              <a:t>Street</a:t>
            </a:r>
            <a:r>
              <a:rPr lang="es-EC" dirty="0"/>
              <a:t>, y dos veces que </a:t>
            </a:r>
            <a:r>
              <a:rPr lang="es-EC" dirty="0" err="1"/>
              <a:t>Ellis</a:t>
            </a:r>
            <a:r>
              <a:rPr lang="es-EC" dirty="0"/>
              <a:t> trabaja en 73 Industrial </a:t>
            </a:r>
            <a:r>
              <a:rPr lang="es-EC" dirty="0" err="1"/>
              <a:t>Way</a:t>
            </a:r>
            <a:r>
              <a:rPr lang="es-EC" dirty="0"/>
              <a:t>. Esta redundancia hace a la tabla vulnerable a anomalías de actualización: por ejemplo, es posible actualizar el lugar del trabajo de Jones en sus registros "Mecanografía" y "Taquigrafía" y no actualizar su registro "Tallado". Los datos resultantes implicarían respuestas contradictorias a la pregunta "¿Cuál es el lugar actual de trabajo de Jones?".</a:t>
            </a:r>
          </a:p>
        </p:txBody>
      </p:sp>
      <p:sp>
        <p:nvSpPr>
          <p:cNvPr id="4" name="Slide Number Placeholder 3"/>
          <p:cNvSpPr>
            <a:spLocks noGrp="1"/>
          </p:cNvSpPr>
          <p:nvPr>
            <p:ph type="sldNum" sz="quarter" idx="10"/>
          </p:nvPr>
        </p:nvSpPr>
        <p:spPr/>
        <p:txBody>
          <a:bodyPr/>
          <a:lstStyle/>
          <a:p>
            <a:fld id="{BDEC2D05-7F98-49DF-8820-B11CA5462B1E}" type="slidenum">
              <a:rPr lang="es-EC" smtClean="0"/>
              <a:pPr/>
              <a:t>11</a:t>
            </a:fld>
            <a:endParaRPr lang="es-EC"/>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s-EC" dirty="0"/>
          </a:p>
        </p:txBody>
      </p:sp>
      <p:sp>
        <p:nvSpPr>
          <p:cNvPr id="4" name="Slide Number Placeholder 3"/>
          <p:cNvSpPr>
            <a:spLocks noGrp="1"/>
          </p:cNvSpPr>
          <p:nvPr>
            <p:ph type="sldNum" sz="quarter" idx="10"/>
          </p:nvPr>
        </p:nvSpPr>
        <p:spPr/>
        <p:txBody>
          <a:bodyPr/>
          <a:lstStyle/>
          <a:p>
            <a:fld id="{BDEC2D05-7F98-49DF-8820-B11CA5462B1E}" type="slidenum">
              <a:rPr lang="es-EC" smtClean="0"/>
              <a:pPr/>
              <a:t>17</a:t>
            </a:fld>
            <a:endParaRPr lang="es-EC"/>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C" dirty="0"/>
              <a:t>Ciertos tipos de tablas 3NF, que en la práctica raramente se encuentran, son afectadas por tales anomalías; éstas son tablas que no satisfacen la forma normal de </a:t>
            </a:r>
            <a:r>
              <a:rPr lang="es-EC" dirty="0" err="1"/>
              <a:t>Boyce-Codd</a:t>
            </a:r>
            <a:r>
              <a:rPr lang="es-EC" dirty="0"/>
              <a:t> (BCNF) o, si satisfacen la BCNF, son insuficientes para satisfacer las formas normales más altas 4FN o 5FN.</a:t>
            </a:r>
          </a:p>
        </p:txBody>
      </p:sp>
      <p:sp>
        <p:nvSpPr>
          <p:cNvPr id="4" name="Slide Number Placeholder 3"/>
          <p:cNvSpPr>
            <a:spLocks noGrp="1"/>
          </p:cNvSpPr>
          <p:nvPr>
            <p:ph type="sldNum" sz="quarter" idx="10"/>
          </p:nvPr>
        </p:nvSpPr>
        <p:spPr/>
        <p:txBody>
          <a:bodyPr/>
          <a:lstStyle/>
          <a:p>
            <a:fld id="{2CFD975D-957A-4A67-95F4-336B25EBB76E}" type="slidenum">
              <a:rPr lang="es-EC" smtClean="0"/>
              <a:pPr/>
              <a:t>18</a:t>
            </a:fld>
            <a:endParaRPr lang="es-EC"/>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pPr/>
              <a:t>23/10/19</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pPr/>
              <a:t>23/10/19</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EC" dirty="0"/>
              <a:t>Capítulo 5</a:t>
            </a:r>
          </a:p>
        </p:txBody>
      </p:sp>
      <p:sp>
        <p:nvSpPr>
          <p:cNvPr id="3" name="2 Subtítulo"/>
          <p:cNvSpPr>
            <a:spLocks noGrp="1"/>
          </p:cNvSpPr>
          <p:nvPr>
            <p:ph type="subTitle" idx="1"/>
          </p:nvPr>
        </p:nvSpPr>
        <p:spPr/>
        <p:txBody>
          <a:bodyPr/>
          <a:lstStyle/>
          <a:p>
            <a:r>
              <a:rPr lang="es-EC" dirty="0"/>
              <a:t>Normalización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a:t>Objetivos</a:t>
            </a:r>
          </a:p>
        </p:txBody>
      </p:sp>
      <p:sp>
        <p:nvSpPr>
          <p:cNvPr id="3" name="2 Marcador de contenido"/>
          <p:cNvSpPr>
            <a:spLocks noGrp="1"/>
          </p:cNvSpPr>
          <p:nvPr>
            <p:ph idx="1"/>
          </p:nvPr>
        </p:nvSpPr>
        <p:spPr/>
        <p:txBody>
          <a:bodyPr>
            <a:normAutofit/>
          </a:bodyPr>
          <a:lstStyle/>
          <a:p>
            <a:r>
              <a:rPr lang="es-EC" dirty="0"/>
              <a:t>Dependencia Funcional</a:t>
            </a:r>
          </a:p>
          <a:p>
            <a:r>
              <a:rPr lang="es-EC" dirty="0"/>
              <a:t>Primera Forma Normal</a:t>
            </a:r>
          </a:p>
          <a:p>
            <a:r>
              <a:rPr lang="es-EC" dirty="0"/>
              <a:t>Segunda Forma Normal</a:t>
            </a:r>
          </a:p>
          <a:p>
            <a:r>
              <a:rPr lang="es-EC" dirty="0"/>
              <a:t>Tercera Forma Normal</a:t>
            </a:r>
          </a:p>
          <a:p>
            <a:pPr>
              <a:buNone/>
            </a:pPr>
            <a:endParaRPr lang="es-EC"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Normalización</a:t>
            </a:r>
          </a:p>
        </p:txBody>
      </p:sp>
      <p:sp>
        <p:nvSpPr>
          <p:cNvPr id="3" name="2 Marcador de contenido"/>
          <p:cNvSpPr>
            <a:spLocks noGrp="1"/>
          </p:cNvSpPr>
          <p:nvPr>
            <p:ph idx="1"/>
          </p:nvPr>
        </p:nvSpPr>
        <p:spPr/>
        <p:txBody>
          <a:bodyPr>
            <a:normAutofit fontScale="92500" lnSpcReduction="10000"/>
          </a:bodyPr>
          <a:lstStyle/>
          <a:p>
            <a:r>
              <a:rPr lang="es-EC" dirty="0"/>
              <a:t>El proceso de normalización de bases de datos consiste en aplicar una serie de reglas a las tablas obtenidas tras el paso del modelo conceptual al modelo lógico.</a:t>
            </a:r>
          </a:p>
          <a:p>
            <a:r>
              <a:rPr lang="es-EC" dirty="0"/>
              <a:t>Las bases de datos relacionales se normalizan para:</a:t>
            </a:r>
          </a:p>
          <a:p>
            <a:pPr lvl="1"/>
            <a:r>
              <a:rPr lang="es-EC" dirty="0"/>
              <a:t>Evitar la redundancia de los datos.</a:t>
            </a:r>
          </a:p>
          <a:p>
            <a:pPr lvl="1"/>
            <a:r>
              <a:rPr lang="es-EC" dirty="0"/>
              <a:t>Evitar problemas de actualización de los datos en las tablas.</a:t>
            </a:r>
          </a:p>
          <a:p>
            <a:pPr lvl="1"/>
            <a:r>
              <a:rPr lang="es-EC" dirty="0"/>
              <a:t>Proteger la integridad de los datos.</a:t>
            </a:r>
          </a:p>
          <a:p>
            <a:endParaRPr lang="es-EC"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84"/>
            <a:ext cx="8229600" cy="1143000"/>
          </a:xfrm>
        </p:spPr>
        <p:txBody>
          <a:bodyPr/>
          <a:lstStyle/>
          <a:p>
            <a:r>
              <a:rPr lang="es-EC" dirty="0"/>
              <a:t>Normalización</a:t>
            </a:r>
          </a:p>
        </p:txBody>
      </p:sp>
      <p:sp>
        <p:nvSpPr>
          <p:cNvPr id="3" name="2 Marcador de contenido"/>
          <p:cNvSpPr>
            <a:spLocks noGrp="1"/>
          </p:cNvSpPr>
          <p:nvPr>
            <p:ph idx="1"/>
          </p:nvPr>
        </p:nvSpPr>
        <p:spPr>
          <a:xfrm>
            <a:off x="457200" y="980728"/>
            <a:ext cx="8229600" cy="3312368"/>
          </a:xfrm>
        </p:spPr>
        <p:txBody>
          <a:bodyPr>
            <a:normAutofit fontScale="62500" lnSpcReduction="20000"/>
          </a:bodyPr>
          <a:lstStyle/>
          <a:p>
            <a:r>
              <a:rPr lang="es-EC" dirty="0"/>
              <a:t>Según la propuesta original de </a:t>
            </a:r>
            <a:r>
              <a:rPr lang="es-EC" dirty="0" err="1"/>
              <a:t>Codd</a:t>
            </a:r>
            <a:r>
              <a:rPr lang="es-EC" dirty="0"/>
              <a:t> (1972), se somete un esquema de relación a una serie de pruebas para "certificar” si pertenece o no a una cierta forma normal.</a:t>
            </a:r>
          </a:p>
          <a:p>
            <a:r>
              <a:rPr lang="es-EC" dirty="0"/>
              <a:t>En un principio, </a:t>
            </a:r>
            <a:r>
              <a:rPr lang="es-EC" dirty="0" err="1"/>
              <a:t>Codd</a:t>
            </a:r>
            <a:r>
              <a:rPr lang="es-EC" dirty="0"/>
              <a:t> propuso tres formas normales, a las cuales llamó primera, segunda y tercera formas normales (1FN, 2FN, 3FN).</a:t>
            </a:r>
          </a:p>
          <a:p>
            <a:r>
              <a:rPr lang="es-EC" dirty="0"/>
              <a:t>Posteriormente, </a:t>
            </a:r>
            <a:r>
              <a:rPr lang="es-EC" dirty="0" err="1"/>
              <a:t>Boyce</a:t>
            </a:r>
            <a:r>
              <a:rPr lang="es-EC" dirty="0"/>
              <a:t> y </a:t>
            </a:r>
            <a:r>
              <a:rPr lang="es-EC" dirty="0" err="1"/>
              <a:t>Codd</a:t>
            </a:r>
            <a:r>
              <a:rPr lang="es-EC" dirty="0"/>
              <a:t> propusieron una definición más estricta de 3FN, a  la que se conoce como forma normal de </a:t>
            </a:r>
            <a:r>
              <a:rPr lang="es-EC" dirty="0" err="1"/>
              <a:t>Boyce‑Codd</a:t>
            </a:r>
            <a:r>
              <a:rPr lang="es-EC" dirty="0"/>
              <a:t> (FNBC). </a:t>
            </a:r>
          </a:p>
          <a:p>
            <a:r>
              <a:rPr lang="es-EC" dirty="0"/>
              <a:t>Todas estas formas normales se basan en las dependencias funcionales entre los atributos de una relación. </a:t>
            </a:r>
          </a:p>
          <a:p>
            <a:r>
              <a:rPr lang="es-EC" dirty="0"/>
              <a:t>Más adelante se propusieron una cuarta forma normal (4FN) y una quinta (5FN)</a:t>
            </a:r>
            <a:r>
              <a:rPr lang="es-EC" i="1" dirty="0"/>
              <a:t>, </a:t>
            </a:r>
            <a:r>
              <a:rPr lang="es-EC" dirty="0"/>
              <a:t>con fundamento en los conceptos de dependencias </a:t>
            </a:r>
            <a:r>
              <a:rPr lang="es-EC" dirty="0" err="1"/>
              <a:t>multivaluadas</a:t>
            </a:r>
            <a:r>
              <a:rPr lang="es-EC" dirty="0"/>
              <a:t> y dependencias de reunión, respectivamente.</a:t>
            </a:r>
          </a:p>
        </p:txBody>
      </p:sp>
      <p:pic>
        <p:nvPicPr>
          <p:cNvPr id="4" name="Picture 2"/>
          <p:cNvPicPr>
            <a:picLocks noChangeAspect="1" noChangeArrowheads="1"/>
          </p:cNvPicPr>
          <p:nvPr/>
        </p:nvPicPr>
        <p:blipFill>
          <a:blip r:embed="rId3" cstate="print"/>
          <a:srcRect/>
          <a:stretch>
            <a:fillRect/>
          </a:stretch>
        </p:blipFill>
        <p:spPr bwMode="auto">
          <a:xfrm>
            <a:off x="1619672" y="4221088"/>
            <a:ext cx="5637693" cy="2476506"/>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500050"/>
            <a:ext cx="8229600" cy="1143000"/>
          </a:xfrm>
        </p:spPr>
        <p:txBody>
          <a:bodyPr>
            <a:normAutofit/>
          </a:bodyPr>
          <a:lstStyle/>
          <a:p>
            <a:r>
              <a:rPr lang="es-EC" dirty="0"/>
              <a:t>Dependencia Funcional</a:t>
            </a:r>
          </a:p>
        </p:txBody>
      </p:sp>
      <p:sp>
        <p:nvSpPr>
          <p:cNvPr id="3" name="2 Marcador de contenido"/>
          <p:cNvSpPr>
            <a:spLocks noGrp="1"/>
          </p:cNvSpPr>
          <p:nvPr>
            <p:ph idx="1"/>
          </p:nvPr>
        </p:nvSpPr>
        <p:spPr>
          <a:xfrm>
            <a:off x="457200" y="1600200"/>
            <a:ext cx="8229600" cy="4997152"/>
          </a:xfrm>
        </p:spPr>
        <p:txBody>
          <a:bodyPr>
            <a:normAutofit/>
          </a:bodyPr>
          <a:lstStyle/>
          <a:p>
            <a:r>
              <a:rPr lang="es-EC" dirty="0"/>
              <a:t>Ocurre cuando el valor de un atributo o varios determina el valor de un segundo atributo o varios</a:t>
            </a:r>
          </a:p>
          <a:p>
            <a:r>
              <a:rPr lang="es-EC" dirty="0"/>
              <a:t>A        B   (A determina funcionalmente a B)</a:t>
            </a:r>
          </a:p>
          <a:p>
            <a:r>
              <a:rPr lang="es-EC" dirty="0"/>
              <a:t>El atributo en la parte izquierda de la dependencia funcional es llamado el determinante</a:t>
            </a:r>
          </a:p>
          <a:p>
            <a:r>
              <a:rPr lang="es-ES_tradnl" dirty="0"/>
              <a:t>Si conocemos el valor de A podemos conocer el valor de B. </a:t>
            </a:r>
          </a:p>
          <a:p>
            <a:endParaRPr lang="es-EC" dirty="0"/>
          </a:p>
          <a:p>
            <a:pPr>
              <a:buNone/>
            </a:pPr>
            <a:endParaRPr lang="es-EC" dirty="0"/>
          </a:p>
        </p:txBody>
      </p:sp>
      <p:cxnSp>
        <p:nvCxnSpPr>
          <p:cNvPr id="6" name="4 Conector recto de flecha"/>
          <p:cNvCxnSpPr/>
          <p:nvPr/>
        </p:nvCxnSpPr>
        <p:spPr>
          <a:xfrm>
            <a:off x="1187624" y="3427412"/>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a:t>Dependencia Funcional</a:t>
            </a:r>
          </a:p>
        </p:txBody>
      </p:sp>
      <p:sp>
        <p:nvSpPr>
          <p:cNvPr id="3" name="Content Placeholder 2"/>
          <p:cNvSpPr>
            <a:spLocks noGrp="1"/>
          </p:cNvSpPr>
          <p:nvPr>
            <p:ph idx="1"/>
          </p:nvPr>
        </p:nvSpPr>
        <p:spPr/>
        <p:txBody>
          <a:bodyPr>
            <a:normAutofit fontScale="62500" lnSpcReduction="20000"/>
          </a:bodyPr>
          <a:lstStyle/>
          <a:p>
            <a:r>
              <a:rPr lang="es-EC" dirty="0"/>
              <a:t>Por ejemplo, en una  tabla</a:t>
            </a:r>
          </a:p>
          <a:p>
            <a:pPr>
              <a:buNone/>
            </a:pPr>
            <a:r>
              <a:rPr lang="es-EC" dirty="0"/>
              <a:t>CLIENTE(</a:t>
            </a:r>
            <a:r>
              <a:rPr lang="es-EC" u="sng" dirty="0" err="1"/>
              <a:t>Número_cliente,</a:t>
            </a:r>
            <a:r>
              <a:rPr lang="es-EC" dirty="0" err="1"/>
              <a:t>Nombre,Teléfono,Fecha_Nacimiento,Edad</a:t>
            </a:r>
            <a:r>
              <a:rPr lang="es-EC" dirty="0"/>
              <a:t>)</a:t>
            </a:r>
          </a:p>
          <a:p>
            <a:pPr>
              <a:buNone/>
            </a:pPr>
            <a:r>
              <a:rPr lang="es-EC" dirty="0"/>
              <a:t>Existen las siguientes dependencias funcionales:</a:t>
            </a:r>
          </a:p>
          <a:p>
            <a:r>
              <a:rPr lang="es-EC" dirty="0"/>
              <a:t>DF: </a:t>
            </a:r>
            <a:r>
              <a:rPr lang="es-EC" dirty="0" err="1"/>
              <a:t>Número_cliente</a:t>
            </a:r>
            <a:r>
              <a:rPr lang="es-EC" dirty="0"/>
              <a:t>          Nombre</a:t>
            </a:r>
          </a:p>
          <a:p>
            <a:r>
              <a:rPr lang="es-EC" dirty="0"/>
              <a:t>DF: </a:t>
            </a:r>
            <a:r>
              <a:rPr lang="es-EC" dirty="0" err="1"/>
              <a:t>Número_cliente</a:t>
            </a:r>
            <a:r>
              <a:rPr lang="es-EC" dirty="0"/>
              <a:t>          Teléfono</a:t>
            </a:r>
          </a:p>
          <a:p>
            <a:r>
              <a:rPr lang="es-EC" dirty="0"/>
              <a:t>DF: </a:t>
            </a:r>
            <a:r>
              <a:rPr lang="es-EC" dirty="0" err="1"/>
              <a:t>Número_cliente</a:t>
            </a:r>
            <a:r>
              <a:rPr lang="es-EC" dirty="0"/>
              <a:t>          </a:t>
            </a:r>
            <a:r>
              <a:rPr lang="es-EC" dirty="0" err="1"/>
              <a:t>Fecha_Nacimiento</a:t>
            </a:r>
            <a:r>
              <a:rPr lang="es-EC" dirty="0"/>
              <a:t> </a:t>
            </a:r>
          </a:p>
          <a:p>
            <a:r>
              <a:rPr lang="es-EC" dirty="0"/>
              <a:t>DF: </a:t>
            </a:r>
            <a:r>
              <a:rPr lang="es-EC" dirty="0" err="1"/>
              <a:t>Número_cliente</a:t>
            </a:r>
            <a:r>
              <a:rPr lang="es-EC" dirty="0"/>
              <a:t>          Edad</a:t>
            </a:r>
          </a:p>
          <a:p>
            <a:r>
              <a:rPr lang="es-EC" dirty="0"/>
              <a:t>DF: </a:t>
            </a:r>
            <a:r>
              <a:rPr lang="es-EC" dirty="0" err="1"/>
              <a:t>Fecha_Nacimiento</a:t>
            </a:r>
            <a:r>
              <a:rPr lang="es-EC" dirty="0"/>
              <a:t>         Edad</a:t>
            </a:r>
          </a:p>
          <a:p>
            <a:endParaRPr lang="es-EC" dirty="0"/>
          </a:p>
          <a:p>
            <a:r>
              <a:rPr lang="es-ES_tradnl" dirty="0"/>
              <a:t>Para comenzar el proceso de normalización tenemos que estudiar las propiedades de todos los atributos de la tabla y analizar como están relacionados entre sí, buscando las posibles dependencias funcionales que existan. </a:t>
            </a:r>
          </a:p>
          <a:p>
            <a:r>
              <a:rPr lang="es-ES_tradnl" dirty="0"/>
              <a:t>Otro de los pasos previos al proceso de normalización es decidir cual es la clave primaria de la relación.</a:t>
            </a:r>
            <a:endParaRPr lang="es-EC" dirty="0"/>
          </a:p>
          <a:p>
            <a:endParaRPr lang="es-EC" dirty="0"/>
          </a:p>
        </p:txBody>
      </p:sp>
      <p:cxnSp>
        <p:nvCxnSpPr>
          <p:cNvPr id="4" name="4 Conector recto de flecha"/>
          <p:cNvCxnSpPr/>
          <p:nvPr/>
        </p:nvCxnSpPr>
        <p:spPr>
          <a:xfrm>
            <a:off x="2915816" y="2708920"/>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4 Conector recto de flecha"/>
          <p:cNvCxnSpPr/>
          <p:nvPr/>
        </p:nvCxnSpPr>
        <p:spPr>
          <a:xfrm>
            <a:off x="2987824" y="3284984"/>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 name="4 Conector recto de flecha"/>
          <p:cNvCxnSpPr/>
          <p:nvPr/>
        </p:nvCxnSpPr>
        <p:spPr>
          <a:xfrm>
            <a:off x="2987824" y="2996952"/>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4 Conector recto de flecha"/>
          <p:cNvCxnSpPr/>
          <p:nvPr/>
        </p:nvCxnSpPr>
        <p:spPr>
          <a:xfrm>
            <a:off x="2987824" y="3573016"/>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4 Conector recto de flecha"/>
          <p:cNvCxnSpPr/>
          <p:nvPr/>
        </p:nvCxnSpPr>
        <p:spPr>
          <a:xfrm>
            <a:off x="3203848" y="3861048"/>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Dependencias Funcionales</a:t>
            </a:r>
          </a:p>
        </p:txBody>
      </p:sp>
      <p:sp>
        <p:nvSpPr>
          <p:cNvPr id="3" name="TextBox 2">
            <a:extLst>
              <a:ext uri="{FF2B5EF4-FFF2-40B4-BE49-F238E27FC236}">
                <a16:creationId xmlns:a16="http://schemas.microsoft.com/office/drawing/2014/main" id="{4891A277-3421-4B48-A2E2-B0AEA55501C3}"/>
              </a:ext>
            </a:extLst>
          </p:cNvPr>
          <p:cNvSpPr txBox="1"/>
          <p:nvPr/>
        </p:nvSpPr>
        <p:spPr>
          <a:xfrm>
            <a:off x="1187624" y="1837920"/>
            <a:ext cx="7344816" cy="3970318"/>
          </a:xfrm>
          <a:prstGeom prst="rect">
            <a:avLst/>
          </a:prstGeom>
          <a:noFill/>
        </p:spPr>
        <p:txBody>
          <a:bodyPr wrap="square" rtlCol="0">
            <a:spAutoFit/>
          </a:bodyPr>
          <a:lstStyle/>
          <a:p>
            <a:r>
              <a:rPr lang="en-US" b="1" dirty="0" err="1"/>
              <a:t>Dependencia</a:t>
            </a:r>
            <a:r>
              <a:rPr lang="en-US" b="1" dirty="0"/>
              <a:t> </a:t>
            </a:r>
            <a:r>
              <a:rPr lang="en-US" b="1" dirty="0" err="1"/>
              <a:t>Transitiva</a:t>
            </a:r>
            <a:r>
              <a:rPr lang="en-US" b="1" dirty="0"/>
              <a:t>:</a:t>
            </a:r>
          </a:p>
          <a:p>
            <a:endParaRPr lang="en-US" b="1" dirty="0"/>
          </a:p>
          <a:p>
            <a:r>
              <a:rPr lang="en-US" dirty="0"/>
              <a:t>Sean X, Y, Z </a:t>
            </a:r>
            <a:r>
              <a:rPr lang="en-US" dirty="0" err="1"/>
              <a:t>tres</a:t>
            </a:r>
            <a:r>
              <a:rPr lang="en-US" dirty="0"/>
              <a:t> </a:t>
            </a:r>
            <a:r>
              <a:rPr lang="en-US" dirty="0" err="1"/>
              <a:t>atributos</a:t>
            </a:r>
            <a:r>
              <a:rPr lang="en-US" dirty="0"/>
              <a:t> (o </a:t>
            </a:r>
            <a:r>
              <a:rPr lang="en-US" dirty="0" err="1"/>
              <a:t>grupos</a:t>
            </a:r>
            <a:r>
              <a:rPr lang="en-US" dirty="0"/>
              <a:t> de </a:t>
            </a:r>
            <a:r>
              <a:rPr lang="en-US" dirty="0" err="1"/>
              <a:t>atributos</a:t>
            </a:r>
            <a:r>
              <a:rPr lang="en-US" dirty="0"/>
              <a:t>) de la </a:t>
            </a:r>
            <a:r>
              <a:rPr lang="en-US" dirty="0" err="1"/>
              <a:t>misma</a:t>
            </a:r>
            <a:r>
              <a:rPr lang="en-US" dirty="0"/>
              <a:t> </a:t>
            </a:r>
            <a:r>
              <a:rPr lang="en-US" dirty="0" err="1"/>
              <a:t>entidad</a:t>
            </a:r>
            <a:r>
              <a:rPr lang="en-US" dirty="0"/>
              <a:t>. </a:t>
            </a:r>
          </a:p>
          <a:p>
            <a:r>
              <a:rPr lang="en-US" dirty="0"/>
              <a:t>Si Y </a:t>
            </a:r>
            <a:r>
              <a:rPr lang="en-US" dirty="0" err="1"/>
              <a:t>depende</a:t>
            </a:r>
            <a:r>
              <a:rPr lang="en-US" dirty="0"/>
              <a:t> </a:t>
            </a:r>
            <a:r>
              <a:rPr lang="en-US" dirty="0" err="1"/>
              <a:t>funcionalmente</a:t>
            </a:r>
            <a:r>
              <a:rPr lang="en-US" dirty="0"/>
              <a:t> de X </a:t>
            </a:r>
          </a:p>
          <a:p>
            <a:r>
              <a:rPr lang="en-US" dirty="0"/>
              <a:t>y Z de Y, </a:t>
            </a:r>
            <a:r>
              <a:rPr lang="en-US" dirty="0" err="1"/>
              <a:t>pero</a:t>
            </a:r>
            <a:r>
              <a:rPr lang="en-US" dirty="0"/>
              <a:t> X no </a:t>
            </a:r>
            <a:r>
              <a:rPr lang="en-US" dirty="0" err="1"/>
              <a:t>depende</a:t>
            </a:r>
            <a:r>
              <a:rPr lang="en-US" dirty="0"/>
              <a:t> </a:t>
            </a:r>
            <a:r>
              <a:rPr lang="en-US" dirty="0" err="1"/>
              <a:t>funcionalmente</a:t>
            </a:r>
            <a:r>
              <a:rPr lang="en-US" dirty="0"/>
              <a:t> de Y, </a:t>
            </a:r>
          </a:p>
          <a:p>
            <a:r>
              <a:rPr lang="en-US" dirty="0"/>
              <a:t>se dice que Z </a:t>
            </a:r>
            <a:r>
              <a:rPr lang="en-US" dirty="0" err="1"/>
              <a:t>depende</a:t>
            </a:r>
            <a:r>
              <a:rPr lang="en-US" dirty="0"/>
              <a:t> </a:t>
            </a:r>
            <a:r>
              <a:rPr lang="en-US" dirty="0" err="1"/>
              <a:t>transitivamente</a:t>
            </a:r>
            <a:r>
              <a:rPr lang="en-US" dirty="0"/>
              <a:t> de X.</a:t>
            </a:r>
          </a:p>
          <a:p>
            <a:r>
              <a:rPr lang="en-US" dirty="0" err="1"/>
              <a:t>Simbólicamente</a:t>
            </a:r>
            <a:r>
              <a:rPr lang="en-US" dirty="0"/>
              <a:t> </a:t>
            </a:r>
            <a:r>
              <a:rPr lang="en-US" dirty="0" err="1"/>
              <a:t>sería</a:t>
            </a:r>
            <a:r>
              <a:rPr lang="en-US" dirty="0"/>
              <a:t>:</a:t>
            </a:r>
          </a:p>
          <a:p>
            <a:r>
              <a:rPr lang="en-US" dirty="0"/>
              <a:t>X           Y          Z    </a:t>
            </a:r>
            <a:r>
              <a:rPr lang="en-US" dirty="0" err="1"/>
              <a:t>entonces</a:t>
            </a:r>
            <a:r>
              <a:rPr lang="en-US" dirty="0"/>
              <a:t>      X          Z</a:t>
            </a:r>
          </a:p>
          <a:p>
            <a:r>
              <a:rPr lang="en-US" dirty="0" err="1"/>
              <a:t>FechaDeNacimiento</a:t>
            </a:r>
            <a:r>
              <a:rPr lang="en-US" dirty="0"/>
              <a:t>           </a:t>
            </a:r>
            <a:r>
              <a:rPr lang="en-US" dirty="0" err="1"/>
              <a:t>Edad</a:t>
            </a:r>
            <a:endParaRPr lang="en-US" dirty="0"/>
          </a:p>
          <a:p>
            <a:r>
              <a:rPr lang="en-US" dirty="0" err="1"/>
              <a:t>Edad</a:t>
            </a:r>
            <a:r>
              <a:rPr lang="en-US" dirty="0"/>
              <a:t>            </a:t>
            </a:r>
            <a:r>
              <a:rPr lang="en-US" dirty="0" err="1"/>
              <a:t>Conducir</a:t>
            </a:r>
            <a:endParaRPr lang="en-US" dirty="0"/>
          </a:p>
          <a:p>
            <a:endParaRPr lang="en-US" dirty="0"/>
          </a:p>
          <a:p>
            <a:r>
              <a:rPr lang="en-US" dirty="0" err="1"/>
              <a:t>FechaDeNacimiento</a:t>
            </a:r>
            <a:r>
              <a:rPr lang="en-US" dirty="0"/>
              <a:t>           </a:t>
            </a:r>
            <a:r>
              <a:rPr lang="en-US" dirty="0" err="1"/>
              <a:t>Edad</a:t>
            </a:r>
            <a:r>
              <a:rPr lang="en-US" dirty="0"/>
              <a:t>            </a:t>
            </a:r>
            <a:r>
              <a:rPr lang="en-US" dirty="0" err="1"/>
              <a:t>Conducir</a:t>
            </a:r>
            <a:endParaRPr lang="en-US" dirty="0"/>
          </a:p>
          <a:p>
            <a:endParaRPr lang="en-US" dirty="0"/>
          </a:p>
          <a:p>
            <a:endParaRPr lang="en-US" dirty="0"/>
          </a:p>
        </p:txBody>
      </p:sp>
      <p:sp>
        <p:nvSpPr>
          <p:cNvPr id="5" name="Oval 4">
            <a:extLst>
              <a:ext uri="{FF2B5EF4-FFF2-40B4-BE49-F238E27FC236}">
                <a16:creationId xmlns:a16="http://schemas.microsoft.com/office/drawing/2014/main" id="{A369B6FB-BADA-3C44-A35B-50217AD2E2E7}"/>
              </a:ext>
            </a:extLst>
          </p:cNvPr>
          <p:cNvSpPr/>
          <p:nvPr/>
        </p:nvSpPr>
        <p:spPr>
          <a:xfrm>
            <a:off x="1043608" y="5383212"/>
            <a:ext cx="1872208" cy="102598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Fecha</a:t>
            </a:r>
            <a:r>
              <a:rPr lang="en-US" dirty="0"/>
              <a:t> de </a:t>
            </a:r>
            <a:r>
              <a:rPr lang="en-US" dirty="0" err="1"/>
              <a:t>nacimiento</a:t>
            </a:r>
            <a:endParaRPr lang="en-US" dirty="0"/>
          </a:p>
        </p:txBody>
      </p:sp>
      <p:sp>
        <p:nvSpPr>
          <p:cNvPr id="7" name="Oval 6">
            <a:extLst>
              <a:ext uri="{FF2B5EF4-FFF2-40B4-BE49-F238E27FC236}">
                <a16:creationId xmlns:a16="http://schemas.microsoft.com/office/drawing/2014/main" id="{0B3080A9-F166-B641-A8E8-9C9848906946}"/>
              </a:ext>
            </a:extLst>
          </p:cNvPr>
          <p:cNvSpPr/>
          <p:nvPr/>
        </p:nvSpPr>
        <p:spPr>
          <a:xfrm>
            <a:off x="3732162" y="5383212"/>
            <a:ext cx="1872208" cy="1025982"/>
          </a:xfrm>
          <a:prstGeom prst="ellipse">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Edad</a:t>
            </a:r>
            <a:endParaRPr lang="en-US" dirty="0"/>
          </a:p>
        </p:txBody>
      </p:sp>
      <p:sp>
        <p:nvSpPr>
          <p:cNvPr id="8" name="Oval 7">
            <a:extLst>
              <a:ext uri="{FF2B5EF4-FFF2-40B4-BE49-F238E27FC236}">
                <a16:creationId xmlns:a16="http://schemas.microsoft.com/office/drawing/2014/main" id="{C7923559-8256-8948-9F04-B817E5E998DC}"/>
              </a:ext>
            </a:extLst>
          </p:cNvPr>
          <p:cNvSpPr/>
          <p:nvPr/>
        </p:nvSpPr>
        <p:spPr>
          <a:xfrm>
            <a:off x="6435896" y="5397524"/>
            <a:ext cx="1872208" cy="1025982"/>
          </a:xfrm>
          <a:prstGeom prst="ellipse">
            <a:avLst/>
          </a:prstGeom>
          <a:ln>
            <a:solidFill>
              <a:schemeClr val="accent3"/>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Conducir</a:t>
            </a:r>
            <a:endParaRPr lang="en-US" dirty="0"/>
          </a:p>
        </p:txBody>
      </p:sp>
      <p:cxnSp>
        <p:nvCxnSpPr>
          <p:cNvPr id="9" name="Straight Arrow Connector 8">
            <a:extLst>
              <a:ext uri="{FF2B5EF4-FFF2-40B4-BE49-F238E27FC236}">
                <a16:creationId xmlns:a16="http://schemas.microsoft.com/office/drawing/2014/main" id="{9889649F-066A-7646-9D08-708682AB17DE}"/>
              </a:ext>
            </a:extLst>
          </p:cNvPr>
          <p:cNvCxnSpPr>
            <a:stCxn id="5" idx="6"/>
            <a:endCxn id="7" idx="2"/>
          </p:cNvCxnSpPr>
          <p:nvPr/>
        </p:nvCxnSpPr>
        <p:spPr>
          <a:xfrm>
            <a:off x="2915816" y="5896203"/>
            <a:ext cx="81634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B389523-41E9-1D43-9F41-B01FA7695D2C}"/>
              </a:ext>
            </a:extLst>
          </p:cNvPr>
          <p:cNvCxnSpPr/>
          <p:nvPr/>
        </p:nvCxnSpPr>
        <p:spPr>
          <a:xfrm flipV="1">
            <a:off x="5604370" y="5884619"/>
            <a:ext cx="833858" cy="11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18EF686-5A1B-1D44-B568-CC24F33D9345}"/>
              </a:ext>
            </a:extLst>
          </p:cNvPr>
          <p:cNvCxnSpPr>
            <a:cxnSpLocks/>
          </p:cNvCxnSpPr>
          <p:nvPr/>
        </p:nvCxnSpPr>
        <p:spPr>
          <a:xfrm>
            <a:off x="1475656" y="3933056"/>
            <a:ext cx="4320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5E0175B-B0E3-DE4D-A3D9-3BFC3E001B48}"/>
              </a:ext>
            </a:extLst>
          </p:cNvPr>
          <p:cNvCxnSpPr>
            <a:cxnSpLocks/>
          </p:cNvCxnSpPr>
          <p:nvPr/>
        </p:nvCxnSpPr>
        <p:spPr>
          <a:xfrm>
            <a:off x="2123728" y="3933056"/>
            <a:ext cx="4320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ABBC6DD-3B77-4341-9592-35638E24D8D8}"/>
              </a:ext>
            </a:extLst>
          </p:cNvPr>
          <p:cNvCxnSpPr>
            <a:cxnSpLocks/>
          </p:cNvCxnSpPr>
          <p:nvPr/>
        </p:nvCxnSpPr>
        <p:spPr>
          <a:xfrm>
            <a:off x="4236218" y="3933055"/>
            <a:ext cx="4320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2F3B369-8F44-FB47-8B3B-5E0B6AE31DA7}"/>
              </a:ext>
            </a:extLst>
          </p:cNvPr>
          <p:cNvCxnSpPr>
            <a:cxnSpLocks/>
          </p:cNvCxnSpPr>
          <p:nvPr/>
        </p:nvCxnSpPr>
        <p:spPr>
          <a:xfrm>
            <a:off x="3203848" y="4221088"/>
            <a:ext cx="4320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47F4308-19DF-5248-BBD0-A062EFEA09F8}"/>
              </a:ext>
            </a:extLst>
          </p:cNvPr>
          <p:cNvCxnSpPr>
            <a:cxnSpLocks/>
          </p:cNvCxnSpPr>
          <p:nvPr/>
        </p:nvCxnSpPr>
        <p:spPr>
          <a:xfrm>
            <a:off x="1778968" y="4509120"/>
            <a:ext cx="4320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4AE7F11-AC6D-4B43-99A6-5E5E1BDB170D}"/>
              </a:ext>
            </a:extLst>
          </p:cNvPr>
          <p:cNvCxnSpPr>
            <a:cxnSpLocks/>
          </p:cNvCxnSpPr>
          <p:nvPr/>
        </p:nvCxnSpPr>
        <p:spPr>
          <a:xfrm>
            <a:off x="3245520" y="5085184"/>
            <a:ext cx="4320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7FDB4DF-8F9C-D44C-B83A-9DDCD2ECF596}"/>
              </a:ext>
            </a:extLst>
          </p:cNvPr>
          <p:cNvCxnSpPr>
            <a:cxnSpLocks/>
          </p:cNvCxnSpPr>
          <p:nvPr/>
        </p:nvCxnSpPr>
        <p:spPr>
          <a:xfrm>
            <a:off x="4252490" y="5085184"/>
            <a:ext cx="4320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s-EC" dirty="0"/>
              <a:t>Tablas, Columnas, Filas y Campos(Primera Forma Normal)</a:t>
            </a:r>
          </a:p>
        </p:txBody>
      </p:sp>
      <p:sp>
        <p:nvSpPr>
          <p:cNvPr id="3" name="Content Placeholder 2"/>
          <p:cNvSpPr>
            <a:spLocks noGrp="1"/>
          </p:cNvSpPr>
          <p:nvPr>
            <p:ph idx="1"/>
          </p:nvPr>
        </p:nvSpPr>
        <p:spPr>
          <a:xfrm>
            <a:off x="323528" y="1673424"/>
            <a:ext cx="8686800" cy="3888432"/>
          </a:xfrm>
        </p:spPr>
        <p:txBody>
          <a:bodyPr>
            <a:normAutofit fontScale="77500" lnSpcReduction="20000"/>
          </a:bodyPr>
          <a:lstStyle/>
          <a:p>
            <a:r>
              <a:rPr lang="es-EC" dirty="0"/>
              <a:t>Una tabla está en 1FN si satisface las siguientes cinco condiciones:</a:t>
            </a:r>
          </a:p>
          <a:p>
            <a:pPr marL="514350" indent="-514350">
              <a:buFont typeface="+mj-lt"/>
              <a:buAutoNum type="arabicPeriod"/>
            </a:pPr>
            <a:r>
              <a:rPr lang="es-EC" dirty="0"/>
              <a:t>No hay orden de arriba-a-abajo en las filas.</a:t>
            </a:r>
          </a:p>
          <a:p>
            <a:pPr marL="514350" indent="-514350">
              <a:buFont typeface="+mj-lt"/>
              <a:buAutoNum type="arabicPeriod"/>
            </a:pPr>
            <a:r>
              <a:rPr lang="es-EC" dirty="0"/>
              <a:t>No hay orden de izquierda-a-derecha en las columnas.</a:t>
            </a:r>
          </a:p>
          <a:p>
            <a:pPr marL="514350" indent="-514350">
              <a:buFont typeface="+mj-lt"/>
              <a:buAutoNum type="arabicPeriod"/>
            </a:pPr>
            <a:r>
              <a:rPr lang="es-EC" dirty="0"/>
              <a:t>No hay filas duplicadas.</a:t>
            </a:r>
          </a:p>
          <a:p>
            <a:pPr marL="514350" indent="-514350">
              <a:buFont typeface="+mj-lt"/>
              <a:buAutoNum type="arabicPeriod"/>
            </a:pPr>
            <a:r>
              <a:rPr lang="es-EC" dirty="0"/>
              <a:t>Cada intersección de fila-y-columna contiene exactamente un valor del dominio aplicable y nada más. (valores atómicos)</a:t>
            </a:r>
          </a:p>
          <a:p>
            <a:pPr marL="514350" indent="-514350">
              <a:buFont typeface="+mj-lt"/>
              <a:buAutoNum type="arabicPeriod"/>
            </a:pPr>
            <a:r>
              <a:rPr lang="es-EC" dirty="0"/>
              <a:t>Todas las columnas son regulares es decir, las filas no tienen componentes como </a:t>
            </a:r>
            <a:r>
              <a:rPr lang="es-EC" dirty="0" err="1"/>
              <a:t>IDs</a:t>
            </a:r>
            <a:r>
              <a:rPr lang="es-EC" dirty="0"/>
              <a:t> de fila, </a:t>
            </a:r>
            <a:r>
              <a:rPr lang="es-EC" dirty="0" err="1"/>
              <a:t>IDs</a:t>
            </a:r>
            <a:r>
              <a:rPr lang="es-EC" dirty="0"/>
              <a:t> de objeto, o </a:t>
            </a:r>
            <a:r>
              <a:rPr lang="es-EC" dirty="0" err="1"/>
              <a:t>timestamps</a:t>
            </a:r>
            <a:r>
              <a:rPr lang="es-EC" dirty="0"/>
              <a:t> ocultos. </a:t>
            </a:r>
          </a:p>
        </p:txBody>
      </p:sp>
      <p:sp>
        <p:nvSpPr>
          <p:cNvPr id="4" name="2 Marcador de contenido"/>
          <p:cNvSpPr txBox="1">
            <a:spLocks/>
          </p:cNvSpPr>
          <p:nvPr/>
        </p:nvSpPr>
        <p:spPr>
          <a:xfrm>
            <a:off x="552128" y="5445224"/>
            <a:ext cx="8229600" cy="1296144"/>
          </a:xfrm>
          <a:prstGeom prst="rect">
            <a:avLst/>
          </a:prstGeom>
        </p:spPr>
        <p:txBody>
          <a:bodyPr vert="horz" lIns="91440" tIns="45720" rIns="91440" bIns="45720" rtlCol="0">
            <a:normAutofit fontScale="92500" lnSpcReduction="2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EC" sz="3200" b="0" i="0" u="none" strike="noStrike" kern="1200" cap="none" spc="0" normalizeH="0" baseline="0" noProof="0" dirty="0">
                <a:ln>
                  <a:noFill/>
                </a:ln>
                <a:solidFill>
                  <a:schemeClr val="tx1"/>
                </a:solidFill>
                <a:effectLst/>
                <a:uLnTx/>
                <a:uFillTx/>
                <a:latin typeface="+mn-lt"/>
                <a:ea typeface="+mn-ea"/>
                <a:cs typeface="+mn-cs"/>
              </a:rPr>
              <a:t>La primera forma normal se definió para prohibir los atributos </a:t>
            </a:r>
            <a:r>
              <a:rPr kumimoji="0" lang="es-EC" sz="3200" b="0" i="0" u="none" strike="noStrike" kern="1200" cap="none" spc="0" normalizeH="0" baseline="0" noProof="0" dirty="0" err="1">
                <a:ln>
                  <a:noFill/>
                </a:ln>
                <a:solidFill>
                  <a:schemeClr val="tx1"/>
                </a:solidFill>
                <a:effectLst/>
                <a:uLnTx/>
                <a:uFillTx/>
                <a:latin typeface="+mn-lt"/>
                <a:ea typeface="+mn-ea"/>
                <a:cs typeface="+mn-cs"/>
              </a:rPr>
              <a:t>multivaluados</a:t>
            </a:r>
            <a:r>
              <a:rPr kumimoji="0" lang="es-EC" sz="3200" b="0" i="0" u="none" strike="noStrike" kern="1200" cap="none" spc="0" normalizeH="0" baseline="0" noProof="0" dirty="0">
                <a:ln>
                  <a:noFill/>
                </a:ln>
                <a:solidFill>
                  <a:schemeClr val="tx1"/>
                </a:solidFill>
                <a:effectLst/>
                <a:uLnTx/>
                <a:uFillTx/>
                <a:latin typeface="+mn-lt"/>
                <a:ea typeface="+mn-ea"/>
                <a:cs typeface="+mn-cs"/>
              </a:rPr>
              <a:t>, compuestos y sus combinaciones.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s-EC"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95536" y="3544416"/>
            <a:ext cx="8229600" cy="3124944"/>
          </a:xfrm>
        </p:spPr>
        <p:txBody>
          <a:bodyPr>
            <a:normAutofit fontScale="92500" lnSpcReduction="10000"/>
          </a:bodyPr>
          <a:lstStyle/>
          <a:p>
            <a:r>
              <a:rPr lang="es-ES_tradnl" dirty="0"/>
              <a:t>Cuando una tabla no está en primera forma normal, se divide en otras tablas, repartiendo sus atributos entre las resultantes. Normalmente la idea es eliminar el atributo que viola la 1FN de la relación original y colocarlo en una relación aparte junto con la clave primaría de la relación de partida.</a:t>
            </a:r>
            <a:endParaRPr lang="es-EC" dirty="0"/>
          </a:p>
        </p:txBody>
      </p:sp>
      <p:pic>
        <p:nvPicPr>
          <p:cNvPr id="1026" name="Picture 2"/>
          <p:cNvPicPr>
            <a:picLocks noChangeAspect="1" noChangeArrowheads="1"/>
          </p:cNvPicPr>
          <p:nvPr/>
        </p:nvPicPr>
        <p:blipFill>
          <a:blip r:embed="rId2" cstate="print"/>
          <a:srcRect/>
          <a:stretch>
            <a:fillRect/>
          </a:stretch>
        </p:blipFill>
        <p:spPr bwMode="auto">
          <a:xfrm>
            <a:off x="683568" y="548680"/>
            <a:ext cx="4056432" cy="2192263"/>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5652120" y="0"/>
            <a:ext cx="2900164" cy="3577661"/>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ox(i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blinds(horizontal)">
                                      <p:cBhvr>
                                        <p:cTn id="12"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Segunda Forma Normal</a:t>
            </a:r>
          </a:p>
        </p:txBody>
      </p:sp>
      <p:sp>
        <p:nvSpPr>
          <p:cNvPr id="3" name="2 Marcador de contenido"/>
          <p:cNvSpPr>
            <a:spLocks noGrp="1"/>
          </p:cNvSpPr>
          <p:nvPr>
            <p:ph idx="1"/>
          </p:nvPr>
        </p:nvSpPr>
        <p:spPr/>
        <p:txBody>
          <a:bodyPr>
            <a:normAutofit/>
          </a:bodyPr>
          <a:lstStyle/>
          <a:p>
            <a:r>
              <a:rPr lang="es-EC" dirty="0"/>
              <a:t>Un esquema está en 2FN si:</a:t>
            </a:r>
          </a:p>
          <a:p>
            <a:pPr lvl="1"/>
            <a:r>
              <a:rPr lang="es-EC" dirty="0"/>
              <a:t>Está en 1FN.</a:t>
            </a:r>
          </a:p>
          <a:p>
            <a:pPr lvl="1"/>
            <a:r>
              <a:rPr lang="es-EC" dirty="0"/>
              <a:t>Y si todos los atributos no clave dependen funcionalmente de la clave completa  y no sólo de una parte de esta.</a:t>
            </a:r>
          </a:p>
          <a:p>
            <a:r>
              <a:rPr lang="es-ES_tradnl" dirty="0"/>
              <a:t>Este paso sólo se aplica a relaciones que tienen claves compuestas, es decir, que están formadas por mas de un atributo.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a:t>Segunda Forma Normal</a:t>
            </a:r>
          </a:p>
        </p:txBody>
      </p:sp>
      <p:sp>
        <p:nvSpPr>
          <p:cNvPr id="3" name="Content Placeholder 2"/>
          <p:cNvSpPr>
            <a:spLocks noGrp="1"/>
          </p:cNvSpPr>
          <p:nvPr>
            <p:ph idx="1"/>
          </p:nvPr>
        </p:nvSpPr>
        <p:spPr>
          <a:xfrm>
            <a:off x="179512" y="4120481"/>
            <a:ext cx="4032448" cy="2404863"/>
          </a:xfrm>
        </p:spPr>
        <p:txBody>
          <a:bodyPr>
            <a:normAutofit fontScale="70000" lnSpcReduction="20000"/>
          </a:bodyPr>
          <a:lstStyle/>
          <a:p>
            <a:r>
              <a:rPr lang="es-ES_tradnl" dirty="0"/>
              <a:t>Si una tabla no está en 2FN, se le puede normalizar a varias relaciones en 2FN en las que los atributos que dependen de una parte de la clave formarán una nueva relación que tendrá esa parte de la clave como clave primaria.</a:t>
            </a:r>
            <a:endParaRPr lang="es-EC" dirty="0"/>
          </a:p>
          <a:p>
            <a:endParaRPr lang="es-EC" dirty="0"/>
          </a:p>
        </p:txBody>
      </p:sp>
      <p:pic>
        <p:nvPicPr>
          <p:cNvPr id="2051" name="Picture 3"/>
          <p:cNvPicPr>
            <a:picLocks noChangeAspect="1" noChangeArrowheads="1"/>
          </p:cNvPicPr>
          <p:nvPr/>
        </p:nvPicPr>
        <p:blipFill>
          <a:blip r:embed="rId3" cstate="print"/>
          <a:srcRect/>
          <a:stretch>
            <a:fillRect/>
          </a:stretch>
        </p:blipFill>
        <p:spPr bwMode="auto">
          <a:xfrm>
            <a:off x="107504" y="1124744"/>
            <a:ext cx="3869804" cy="2852096"/>
          </a:xfrm>
          <a:prstGeom prst="rect">
            <a:avLst/>
          </a:prstGeom>
          <a:noFill/>
          <a:ln w="9525">
            <a:noFill/>
            <a:miter lim="800000"/>
            <a:headEnd/>
            <a:tailEnd/>
          </a:ln>
        </p:spPr>
      </p:pic>
      <p:sp>
        <p:nvSpPr>
          <p:cNvPr id="6" name="Rectangle 5"/>
          <p:cNvSpPr/>
          <p:nvPr/>
        </p:nvSpPr>
        <p:spPr>
          <a:xfrm>
            <a:off x="4788024" y="1268761"/>
            <a:ext cx="4320480" cy="1631216"/>
          </a:xfrm>
          <a:prstGeom prst="rect">
            <a:avLst/>
          </a:prstGeom>
        </p:spPr>
        <p:txBody>
          <a:bodyPr wrap="square">
            <a:spAutoFit/>
          </a:bodyPr>
          <a:lstStyle/>
          <a:p>
            <a:r>
              <a:rPr lang="es-EC" sz="2000" dirty="0"/>
              <a:t>El atributo restante, Lugar actual de trabajo, es dependiente solo en parte de la clave candidata, llamada Empleado. Por lo tanto la tabla no está en 2NF. </a:t>
            </a:r>
          </a:p>
        </p:txBody>
      </p:sp>
      <p:pic>
        <p:nvPicPr>
          <p:cNvPr id="2053" name="Picture 5"/>
          <p:cNvPicPr>
            <a:picLocks noChangeAspect="1" noChangeArrowheads="1"/>
          </p:cNvPicPr>
          <p:nvPr/>
        </p:nvPicPr>
        <p:blipFill>
          <a:blip r:embed="rId4" cstate="print"/>
          <a:srcRect/>
          <a:stretch>
            <a:fillRect/>
          </a:stretch>
        </p:blipFill>
        <p:spPr bwMode="auto">
          <a:xfrm>
            <a:off x="5652120" y="2636912"/>
            <a:ext cx="2362200" cy="4057650"/>
          </a:xfrm>
          <a:prstGeom prst="rect">
            <a:avLst/>
          </a:prstGeom>
          <a:noFill/>
          <a:ln w="9525">
            <a:noFill/>
            <a:miter lim="800000"/>
            <a:headEnd/>
            <a:tailEnd/>
          </a:ln>
        </p:spPr>
      </p:pic>
      <p:sp>
        <p:nvSpPr>
          <p:cNvPr id="9" name="Right Arrow 8"/>
          <p:cNvSpPr/>
          <p:nvPr/>
        </p:nvSpPr>
        <p:spPr>
          <a:xfrm>
            <a:off x="4499992" y="5085184"/>
            <a:ext cx="576064"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
        <p:nvSpPr>
          <p:cNvPr id="10" name="Right Arrow 9"/>
          <p:cNvSpPr/>
          <p:nvPr/>
        </p:nvSpPr>
        <p:spPr>
          <a:xfrm rot="10800000">
            <a:off x="4139952" y="1844824"/>
            <a:ext cx="576064"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053"/>
                                        </p:tgtEl>
                                        <p:attrNameLst>
                                          <p:attrName>style.visibility</p:attrName>
                                        </p:attrNameLst>
                                      </p:cBhvr>
                                      <p:to>
                                        <p:strVal val="visible"/>
                                      </p:to>
                                    </p:set>
                                    <p:animEffect transition="in" filter="box(in)">
                                      <p:cBhvr>
                                        <p:cTn id="17" dur="500"/>
                                        <p:tgtEl>
                                          <p:spTgt spid="2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C" dirty="0"/>
              <a:t>Segunda Forma Normal</a:t>
            </a:r>
          </a:p>
        </p:txBody>
      </p:sp>
      <p:sp>
        <p:nvSpPr>
          <p:cNvPr id="3" name="Content Placeholder 2"/>
          <p:cNvSpPr>
            <a:spLocks noGrp="1"/>
          </p:cNvSpPr>
          <p:nvPr>
            <p:ph idx="1"/>
          </p:nvPr>
        </p:nvSpPr>
        <p:spPr>
          <a:xfrm>
            <a:off x="457200" y="1268760"/>
            <a:ext cx="8229600" cy="1296144"/>
          </a:xfrm>
        </p:spPr>
        <p:txBody>
          <a:bodyPr>
            <a:normAutofit fontScale="92500"/>
          </a:bodyPr>
          <a:lstStyle/>
          <a:p>
            <a:r>
              <a:rPr lang="es-EC" dirty="0"/>
              <a:t>Sin embargo, no todas las tablas 2NF están libres de anomalías de actualización. Un ejemplo es:</a:t>
            </a:r>
          </a:p>
        </p:txBody>
      </p:sp>
      <p:pic>
        <p:nvPicPr>
          <p:cNvPr id="3076" name="Picture 4"/>
          <p:cNvPicPr>
            <a:picLocks noChangeAspect="1" noChangeArrowheads="1"/>
          </p:cNvPicPr>
          <p:nvPr/>
        </p:nvPicPr>
        <p:blipFill>
          <a:blip r:embed="rId2" cstate="print"/>
          <a:srcRect/>
          <a:stretch>
            <a:fillRect/>
          </a:stretch>
        </p:blipFill>
        <p:spPr bwMode="auto">
          <a:xfrm>
            <a:off x="1152130" y="2276872"/>
            <a:ext cx="6588222" cy="2689360"/>
          </a:xfrm>
          <a:prstGeom prst="rect">
            <a:avLst/>
          </a:prstGeom>
          <a:noFill/>
          <a:ln w="9525">
            <a:noFill/>
            <a:miter lim="800000"/>
            <a:headEnd/>
            <a:tailEnd/>
          </a:ln>
        </p:spPr>
      </p:pic>
      <p:sp>
        <p:nvSpPr>
          <p:cNvPr id="7" name="Rectangle 6"/>
          <p:cNvSpPr/>
          <p:nvPr/>
        </p:nvSpPr>
        <p:spPr>
          <a:xfrm>
            <a:off x="611560" y="5301208"/>
            <a:ext cx="8316416" cy="1477328"/>
          </a:xfrm>
          <a:prstGeom prst="rect">
            <a:avLst/>
          </a:prstGeom>
        </p:spPr>
        <p:txBody>
          <a:bodyPr wrap="square">
            <a:spAutoFit/>
          </a:bodyPr>
          <a:lstStyle/>
          <a:p>
            <a:r>
              <a:rPr lang="es-EC" dirty="0"/>
              <a:t>Aunque el Ganador y la Fecha de nacimiento del ganador están determinadas por una clave completa {Torneo, Año} y no son partes de ella, particularmente las combinaciones Ganador / Fecha de nacimiento del ganador son mostradas redundantemente en múltiples registros. Este problema es tratado por la tercera forma normal (3NF).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C" dirty="0"/>
              <a:t>2NF y las claves candidatas</a:t>
            </a:r>
          </a:p>
        </p:txBody>
      </p:sp>
      <p:sp>
        <p:nvSpPr>
          <p:cNvPr id="3" name="2 Marcador de contenido"/>
          <p:cNvSpPr>
            <a:spLocks noGrp="1"/>
          </p:cNvSpPr>
          <p:nvPr>
            <p:ph idx="1"/>
          </p:nvPr>
        </p:nvSpPr>
        <p:spPr/>
        <p:txBody>
          <a:bodyPr>
            <a:normAutofit fontScale="92500" lnSpcReduction="10000"/>
          </a:bodyPr>
          <a:lstStyle/>
          <a:p>
            <a:r>
              <a:rPr lang="es-EC" dirty="0"/>
              <a:t>Una tabla para la cual no hay dependencias funcionales parciales en la clave primaria está típicamente, pero no siempre, en 2NF. </a:t>
            </a:r>
          </a:p>
          <a:p>
            <a:r>
              <a:rPr lang="es-EC" dirty="0"/>
              <a:t>Además de la clave principal, la tabla puede contener otras claves candidatas; es necesario establecer que ningún atributo no-principal tienen dependencias de clave parciales en cualesquiera de estas claves candidatas.</a:t>
            </a:r>
          </a:p>
          <a:p>
            <a:r>
              <a:rPr lang="es-EC" dirty="0"/>
              <a:t>Las múltiples claves candidatas ocurren en la siguiente tabla:</a:t>
            </a:r>
          </a:p>
          <a:p>
            <a:endParaRPr lang="es-EC"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EC"/>
          </a:p>
        </p:txBody>
      </p:sp>
      <p:sp>
        <p:nvSpPr>
          <p:cNvPr id="3" name="2 Marcador de contenido"/>
          <p:cNvSpPr>
            <a:spLocks noGrp="1"/>
          </p:cNvSpPr>
          <p:nvPr>
            <p:ph idx="1"/>
          </p:nvPr>
        </p:nvSpPr>
        <p:spPr>
          <a:xfrm>
            <a:off x="457200" y="3643314"/>
            <a:ext cx="8229600" cy="2482849"/>
          </a:xfrm>
        </p:spPr>
        <p:txBody>
          <a:bodyPr>
            <a:normAutofit fontScale="92500" lnSpcReduction="20000"/>
          </a:bodyPr>
          <a:lstStyle/>
          <a:p>
            <a:r>
              <a:rPr lang="es-EC" dirty="0"/>
              <a:t>Aun si el diseñador ha especificado la clave principal como {Nombre completo del modelo}, la tabla no está en 2NF. {Fabricante, Modelo} es también una clave candidata, y País del fabricante es dependiente en un subconjunto apropiado de él: Fabricante.</a:t>
            </a:r>
          </a:p>
        </p:txBody>
      </p:sp>
      <p:pic>
        <p:nvPicPr>
          <p:cNvPr id="5122" name="Picture 2"/>
          <p:cNvPicPr>
            <a:picLocks noChangeAspect="1" noChangeArrowheads="1"/>
          </p:cNvPicPr>
          <p:nvPr/>
        </p:nvPicPr>
        <p:blipFill>
          <a:blip r:embed="rId2" cstate="print"/>
          <a:srcRect/>
          <a:stretch>
            <a:fillRect/>
          </a:stretch>
        </p:blipFill>
        <p:spPr bwMode="auto">
          <a:xfrm>
            <a:off x="1857356" y="500042"/>
            <a:ext cx="5395923" cy="2862874"/>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Tercera Forma Normal</a:t>
            </a:r>
          </a:p>
        </p:txBody>
      </p:sp>
      <p:sp>
        <p:nvSpPr>
          <p:cNvPr id="3" name="2 Marcador de contenido"/>
          <p:cNvSpPr>
            <a:spLocks noGrp="1"/>
          </p:cNvSpPr>
          <p:nvPr>
            <p:ph idx="1"/>
          </p:nvPr>
        </p:nvSpPr>
        <p:spPr/>
        <p:txBody>
          <a:bodyPr>
            <a:normAutofit fontScale="92500" lnSpcReduction="10000"/>
          </a:bodyPr>
          <a:lstStyle/>
          <a:p>
            <a:r>
              <a:rPr lang="es-EC" dirty="0"/>
              <a:t>Una tabla está en 3NF si y solo si las dos condiciones siguientes se mantienen:</a:t>
            </a:r>
          </a:p>
          <a:p>
            <a:pPr marL="514350" indent="-514350">
              <a:buFont typeface="+mj-lt"/>
              <a:buAutoNum type="arabicPeriod"/>
            </a:pPr>
            <a:r>
              <a:rPr lang="es-EC" dirty="0"/>
              <a:t>La tabla está en la segunda forma normal(2FN)</a:t>
            </a:r>
          </a:p>
          <a:p>
            <a:pPr marL="514350" indent="-514350">
              <a:buFont typeface="+mj-lt"/>
              <a:buAutoNum type="arabicPeriod"/>
            </a:pPr>
            <a:r>
              <a:rPr lang="es-EC" dirty="0"/>
              <a:t>Ningún atributo no-primario de la tabla es dependiente transitivamente de una clave candidata</a:t>
            </a:r>
          </a:p>
          <a:p>
            <a:pPr marL="514350" indent="-514350"/>
            <a:r>
              <a:rPr lang="es-EC" dirty="0"/>
              <a:t>Es decir, una relación está en tercera forma normal si todos los atributos de la relación dependen funcionalmente sólo de la clave, y no de ningún otro atributo</a:t>
            </a:r>
          </a:p>
          <a:p>
            <a:endParaRPr lang="es-EC"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44624"/>
            <a:ext cx="8229600" cy="1143000"/>
          </a:xfrm>
        </p:spPr>
        <p:txBody>
          <a:bodyPr/>
          <a:lstStyle/>
          <a:p>
            <a:r>
              <a:rPr lang="es-EC" dirty="0"/>
              <a:t>Tercera Forma Normal</a:t>
            </a:r>
          </a:p>
        </p:txBody>
      </p:sp>
      <p:sp>
        <p:nvSpPr>
          <p:cNvPr id="6" name="5 Marcador de contenido"/>
          <p:cNvSpPr>
            <a:spLocks noGrp="1"/>
          </p:cNvSpPr>
          <p:nvPr>
            <p:ph idx="1"/>
          </p:nvPr>
        </p:nvSpPr>
        <p:spPr>
          <a:xfrm>
            <a:off x="457200" y="4293096"/>
            <a:ext cx="8229600" cy="2664296"/>
          </a:xfrm>
        </p:spPr>
        <p:txBody>
          <a:bodyPr>
            <a:normAutofit fontScale="55000" lnSpcReduction="20000"/>
          </a:bodyPr>
          <a:lstStyle/>
          <a:p>
            <a:r>
              <a:rPr lang="es-EC" dirty="0"/>
              <a:t>La única clave candidata es {Torneo, Año}.</a:t>
            </a:r>
          </a:p>
          <a:p>
            <a:r>
              <a:rPr lang="es-EC" dirty="0"/>
              <a:t>La violación de la 3NF ocurre porque el atributo no primario Fecha de nacimiento del ganador es dependiente transitivamente de {Torneo, Año} vía el atributo no primario Ganador. </a:t>
            </a:r>
          </a:p>
          <a:p>
            <a:r>
              <a:rPr lang="es-EC" dirty="0"/>
              <a:t>El hecho de que la Fecha de nacimiento del ganador es funcionalmente dependiente en el Ganador hace la tabla vulnerable a inconsistencias lógicas, pues no hay nada que impida a la misma persona ser mostrada con diferentes fechas de nacimiento en diversos registros.</a:t>
            </a:r>
          </a:p>
          <a:p>
            <a:r>
              <a:rPr lang="es-EC" dirty="0"/>
              <a:t>Para expresar los mismos hechos sin violar la 3NF, es necesario dividir la tabla en dos:</a:t>
            </a:r>
          </a:p>
          <a:p>
            <a:endParaRPr lang="es-EC" dirty="0"/>
          </a:p>
        </p:txBody>
      </p:sp>
      <p:sp>
        <p:nvSpPr>
          <p:cNvPr id="5" name="Rectangle 4"/>
          <p:cNvSpPr/>
          <p:nvPr/>
        </p:nvSpPr>
        <p:spPr>
          <a:xfrm>
            <a:off x="395536" y="1124744"/>
            <a:ext cx="8208912" cy="369332"/>
          </a:xfrm>
          <a:prstGeom prst="rect">
            <a:avLst/>
          </a:prstGeom>
        </p:spPr>
        <p:txBody>
          <a:bodyPr wrap="square">
            <a:spAutoFit/>
          </a:bodyPr>
          <a:lstStyle/>
          <a:p>
            <a:r>
              <a:rPr lang="es-EC" dirty="0"/>
              <a:t>Un ejemplo de una tabla 2NF que falla en satisfacer los requerimientos de la 3NF es:</a:t>
            </a:r>
          </a:p>
        </p:txBody>
      </p:sp>
      <p:pic>
        <p:nvPicPr>
          <p:cNvPr id="7" name="Picture 4"/>
          <p:cNvPicPr>
            <a:picLocks noChangeAspect="1" noChangeArrowheads="1"/>
          </p:cNvPicPr>
          <p:nvPr/>
        </p:nvPicPr>
        <p:blipFill>
          <a:blip r:embed="rId2" cstate="print"/>
          <a:srcRect/>
          <a:stretch>
            <a:fillRect/>
          </a:stretch>
        </p:blipFill>
        <p:spPr bwMode="auto">
          <a:xfrm>
            <a:off x="1187624" y="1484784"/>
            <a:ext cx="6588222" cy="268936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C" dirty="0"/>
              <a:t>Tercera Forma Normal</a:t>
            </a:r>
          </a:p>
        </p:txBody>
      </p:sp>
      <p:pic>
        <p:nvPicPr>
          <p:cNvPr id="9218" name="Picture 2"/>
          <p:cNvPicPr>
            <a:picLocks noChangeAspect="1" noChangeArrowheads="1"/>
          </p:cNvPicPr>
          <p:nvPr/>
        </p:nvPicPr>
        <p:blipFill>
          <a:blip r:embed="rId3" cstate="print"/>
          <a:srcRect/>
          <a:stretch>
            <a:fillRect/>
          </a:stretch>
        </p:blipFill>
        <p:spPr bwMode="auto">
          <a:xfrm>
            <a:off x="2209800" y="1250037"/>
            <a:ext cx="5610258" cy="4845963"/>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s-EC" dirty="0"/>
              <a:t>Tercera Forma Normal</a:t>
            </a:r>
          </a:p>
        </p:txBody>
      </p:sp>
      <p:graphicFrame>
        <p:nvGraphicFramePr>
          <p:cNvPr id="4" name="Content Placeholder 3"/>
          <p:cNvGraphicFramePr>
            <a:graphicFrameLocks noGrp="1"/>
          </p:cNvGraphicFramePr>
          <p:nvPr>
            <p:ph idx="1"/>
          </p:nvPr>
        </p:nvGraphicFramePr>
        <p:xfrm>
          <a:off x="3581400" y="1066800"/>
          <a:ext cx="5105400" cy="2194560"/>
        </p:xfrm>
        <a:graphic>
          <a:graphicData uri="http://schemas.openxmlformats.org/drawingml/2006/table">
            <a:tbl>
              <a:tblPr firstRow="1" bandRow="1">
                <a:tableStyleId>{5C22544A-7EE6-4342-B048-85BDC9FD1C3A}</a:tableStyleId>
              </a:tblPr>
              <a:tblGrid>
                <a:gridCol w="1701800">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tblGrid>
              <a:tr h="228600">
                <a:tc>
                  <a:txBody>
                    <a:bodyPr/>
                    <a:lstStyle/>
                    <a:p>
                      <a:pPr algn="ctr"/>
                      <a:r>
                        <a:rPr lang="es-EC" u="sng" dirty="0" err="1"/>
                        <a:t>idEmpleado</a:t>
                      </a:r>
                      <a:endParaRPr lang="es-EC" u="sng" dirty="0"/>
                    </a:p>
                  </a:txBody>
                  <a:tcPr/>
                </a:tc>
                <a:tc>
                  <a:txBody>
                    <a:bodyPr/>
                    <a:lstStyle/>
                    <a:p>
                      <a:pPr algn="ctr"/>
                      <a:r>
                        <a:rPr lang="es-EC" dirty="0"/>
                        <a:t>Puesto</a:t>
                      </a:r>
                    </a:p>
                  </a:txBody>
                  <a:tcPr/>
                </a:tc>
                <a:tc>
                  <a:txBody>
                    <a:bodyPr/>
                    <a:lstStyle/>
                    <a:p>
                      <a:pPr algn="ctr"/>
                      <a:r>
                        <a:rPr lang="es-EC" dirty="0"/>
                        <a:t>Salario</a:t>
                      </a:r>
                    </a:p>
                  </a:txBody>
                  <a:tcPr/>
                </a:tc>
                <a:extLst>
                  <a:ext uri="{0D108BD9-81ED-4DB2-BD59-A6C34878D82A}">
                    <a16:rowId xmlns:a16="http://schemas.microsoft.com/office/drawing/2014/main" val="10000"/>
                  </a:ext>
                </a:extLst>
              </a:tr>
              <a:tr h="228600">
                <a:tc>
                  <a:txBody>
                    <a:bodyPr/>
                    <a:lstStyle/>
                    <a:p>
                      <a:pPr algn="ctr"/>
                      <a:r>
                        <a:rPr lang="es-EC" dirty="0"/>
                        <a:t>100</a:t>
                      </a:r>
                    </a:p>
                  </a:txBody>
                  <a:tcPr/>
                </a:tc>
                <a:tc>
                  <a:txBody>
                    <a:bodyPr/>
                    <a:lstStyle/>
                    <a:p>
                      <a:pPr algn="ctr"/>
                      <a:r>
                        <a:rPr lang="es-EC" dirty="0"/>
                        <a:t>Secretaria</a:t>
                      </a:r>
                    </a:p>
                  </a:txBody>
                  <a:tcPr/>
                </a:tc>
                <a:tc>
                  <a:txBody>
                    <a:bodyPr/>
                    <a:lstStyle/>
                    <a:p>
                      <a:pPr algn="ctr"/>
                      <a:r>
                        <a:rPr lang="es-EC" dirty="0"/>
                        <a:t>3100</a:t>
                      </a:r>
                    </a:p>
                  </a:txBody>
                  <a:tcPr/>
                </a:tc>
                <a:extLst>
                  <a:ext uri="{0D108BD9-81ED-4DB2-BD59-A6C34878D82A}">
                    <a16:rowId xmlns:a16="http://schemas.microsoft.com/office/drawing/2014/main" val="10001"/>
                  </a:ext>
                </a:extLst>
              </a:tr>
              <a:tr h="228600">
                <a:tc>
                  <a:txBody>
                    <a:bodyPr/>
                    <a:lstStyle/>
                    <a:p>
                      <a:pPr algn="ctr"/>
                      <a:r>
                        <a:rPr lang="es-EC" dirty="0"/>
                        <a:t>150</a:t>
                      </a:r>
                    </a:p>
                  </a:txBody>
                  <a:tcPr/>
                </a:tc>
                <a:tc>
                  <a:txBody>
                    <a:bodyPr/>
                    <a:lstStyle/>
                    <a:p>
                      <a:pPr algn="ctr"/>
                      <a:r>
                        <a:rPr lang="es-EC" dirty="0"/>
                        <a:t>Gerente</a:t>
                      </a:r>
                    </a:p>
                  </a:txBody>
                  <a:tcPr/>
                </a:tc>
                <a:tc>
                  <a:txBody>
                    <a:bodyPr/>
                    <a:lstStyle/>
                    <a:p>
                      <a:pPr algn="ctr"/>
                      <a:r>
                        <a:rPr lang="es-EC" dirty="0"/>
                        <a:t>3200</a:t>
                      </a:r>
                    </a:p>
                  </a:txBody>
                  <a:tcPr/>
                </a:tc>
                <a:extLst>
                  <a:ext uri="{0D108BD9-81ED-4DB2-BD59-A6C34878D82A}">
                    <a16:rowId xmlns:a16="http://schemas.microsoft.com/office/drawing/2014/main" val="10002"/>
                  </a:ext>
                </a:extLst>
              </a:tr>
              <a:tr h="228600">
                <a:tc>
                  <a:txBody>
                    <a:bodyPr/>
                    <a:lstStyle/>
                    <a:p>
                      <a:pPr algn="ctr"/>
                      <a:r>
                        <a:rPr lang="es-EC" dirty="0"/>
                        <a:t>200</a:t>
                      </a:r>
                    </a:p>
                  </a:txBody>
                  <a:tcPr/>
                </a:tc>
                <a:tc>
                  <a:txBody>
                    <a:bodyPr/>
                    <a:lstStyle/>
                    <a:p>
                      <a:pPr algn="ctr"/>
                      <a:r>
                        <a:rPr lang="es-EC" dirty="0"/>
                        <a:t>Secretaria</a:t>
                      </a:r>
                    </a:p>
                  </a:txBody>
                  <a:tcPr/>
                </a:tc>
                <a:tc>
                  <a:txBody>
                    <a:bodyPr/>
                    <a:lstStyle/>
                    <a:p>
                      <a:pPr algn="ctr"/>
                      <a:r>
                        <a:rPr lang="es-EC" dirty="0"/>
                        <a:t>3100</a:t>
                      </a:r>
                    </a:p>
                  </a:txBody>
                  <a:tcPr/>
                </a:tc>
                <a:extLst>
                  <a:ext uri="{0D108BD9-81ED-4DB2-BD59-A6C34878D82A}">
                    <a16:rowId xmlns:a16="http://schemas.microsoft.com/office/drawing/2014/main" val="10003"/>
                  </a:ext>
                </a:extLst>
              </a:tr>
              <a:tr h="228600">
                <a:tc>
                  <a:txBody>
                    <a:bodyPr/>
                    <a:lstStyle/>
                    <a:p>
                      <a:pPr algn="ctr"/>
                      <a:r>
                        <a:rPr lang="es-EC" dirty="0"/>
                        <a:t>250</a:t>
                      </a:r>
                    </a:p>
                  </a:txBody>
                  <a:tcPr/>
                </a:tc>
                <a:tc>
                  <a:txBody>
                    <a:bodyPr/>
                    <a:lstStyle/>
                    <a:p>
                      <a:pPr algn="ctr"/>
                      <a:r>
                        <a:rPr lang="es-EC" dirty="0"/>
                        <a:t>Subgerente</a:t>
                      </a:r>
                    </a:p>
                  </a:txBody>
                  <a:tcPr/>
                </a:tc>
                <a:tc>
                  <a:txBody>
                    <a:bodyPr/>
                    <a:lstStyle/>
                    <a:p>
                      <a:pPr algn="ctr"/>
                      <a:r>
                        <a:rPr lang="es-EC" dirty="0"/>
                        <a:t>3200</a:t>
                      </a:r>
                    </a:p>
                  </a:txBody>
                  <a:tcPr/>
                </a:tc>
                <a:extLst>
                  <a:ext uri="{0D108BD9-81ED-4DB2-BD59-A6C34878D82A}">
                    <a16:rowId xmlns:a16="http://schemas.microsoft.com/office/drawing/2014/main" val="10004"/>
                  </a:ext>
                </a:extLst>
              </a:tr>
              <a:tr h="228600">
                <a:tc>
                  <a:txBody>
                    <a:bodyPr/>
                    <a:lstStyle/>
                    <a:p>
                      <a:pPr algn="ctr"/>
                      <a:r>
                        <a:rPr lang="es-EC" dirty="0"/>
                        <a:t>300</a:t>
                      </a:r>
                    </a:p>
                  </a:txBody>
                  <a:tcPr/>
                </a:tc>
                <a:tc>
                  <a:txBody>
                    <a:bodyPr/>
                    <a:lstStyle/>
                    <a:p>
                      <a:pPr algn="ctr"/>
                      <a:r>
                        <a:rPr lang="es-EC" dirty="0"/>
                        <a:t>Secretaria</a:t>
                      </a:r>
                    </a:p>
                  </a:txBody>
                  <a:tcPr/>
                </a:tc>
                <a:tc>
                  <a:txBody>
                    <a:bodyPr/>
                    <a:lstStyle/>
                    <a:p>
                      <a:pPr algn="ctr"/>
                      <a:r>
                        <a:rPr lang="es-EC" dirty="0"/>
                        <a:t>3100</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914400" y="3429000"/>
            <a:ext cx="4604787" cy="369332"/>
          </a:xfrm>
          <a:prstGeom prst="rect">
            <a:avLst/>
          </a:prstGeom>
          <a:noFill/>
        </p:spPr>
        <p:txBody>
          <a:bodyPr wrap="none" rtlCol="0">
            <a:spAutoFit/>
          </a:bodyPr>
          <a:lstStyle/>
          <a:p>
            <a:r>
              <a:rPr lang="es-EC" dirty="0"/>
              <a:t>Relación que elimina la dependencia transitiva:</a:t>
            </a:r>
          </a:p>
        </p:txBody>
      </p:sp>
      <p:graphicFrame>
        <p:nvGraphicFramePr>
          <p:cNvPr id="6" name="Table 5"/>
          <p:cNvGraphicFramePr>
            <a:graphicFrameLocks noGrp="1"/>
          </p:cNvGraphicFramePr>
          <p:nvPr/>
        </p:nvGraphicFramePr>
        <p:xfrm>
          <a:off x="533400" y="3962400"/>
          <a:ext cx="2667000" cy="2514598"/>
        </p:xfrm>
        <a:graphic>
          <a:graphicData uri="http://schemas.openxmlformats.org/drawingml/2006/table">
            <a:tbl>
              <a:tblPr firstRow="1" bandRow="1">
                <a:tableStyleId>{5C22544A-7EE6-4342-B048-85BDC9FD1C3A}</a:tableStyleId>
              </a:tblPr>
              <a:tblGrid>
                <a:gridCol w="1333500">
                  <a:extLst>
                    <a:ext uri="{9D8B030D-6E8A-4147-A177-3AD203B41FA5}">
                      <a16:colId xmlns:a16="http://schemas.microsoft.com/office/drawing/2014/main" val="20000"/>
                    </a:ext>
                  </a:extLst>
                </a:gridCol>
                <a:gridCol w="1333500">
                  <a:extLst>
                    <a:ext uri="{9D8B030D-6E8A-4147-A177-3AD203B41FA5}">
                      <a16:colId xmlns:a16="http://schemas.microsoft.com/office/drawing/2014/main" val="20001"/>
                    </a:ext>
                  </a:extLst>
                </a:gridCol>
              </a:tblGrid>
              <a:tr h="651933">
                <a:tc>
                  <a:txBody>
                    <a:bodyPr/>
                    <a:lstStyle/>
                    <a:p>
                      <a:pPr algn="ctr"/>
                      <a:r>
                        <a:rPr lang="es-EC" u="sng" dirty="0" err="1"/>
                        <a:t>idEmpleado</a:t>
                      </a:r>
                      <a:endParaRPr lang="es-EC" u="sng" dirty="0"/>
                    </a:p>
                  </a:txBody>
                  <a:tcPr/>
                </a:tc>
                <a:tc>
                  <a:txBody>
                    <a:bodyPr/>
                    <a:lstStyle/>
                    <a:p>
                      <a:pPr algn="ctr"/>
                      <a:r>
                        <a:rPr lang="es-EC" dirty="0"/>
                        <a:t>Puesto</a:t>
                      </a:r>
                    </a:p>
                  </a:txBody>
                  <a:tcPr/>
                </a:tc>
                <a:extLst>
                  <a:ext uri="{0D108BD9-81ED-4DB2-BD59-A6C34878D82A}">
                    <a16:rowId xmlns:a16="http://schemas.microsoft.com/office/drawing/2014/main" val="10000"/>
                  </a:ext>
                </a:extLst>
              </a:tr>
              <a:tr h="372533">
                <a:tc>
                  <a:txBody>
                    <a:bodyPr/>
                    <a:lstStyle/>
                    <a:p>
                      <a:pPr algn="ctr"/>
                      <a:r>
                        <a:rPr lang="es-EC" dirty="0"/>
                        <a:t>100</a:t>
                      </a:r>
                    </a:p>
                  </a:txBody>
                  <a:tcPr/>
                </a:tc>
                <a:tc>
                  <a:txBody>
                    <a:bodyPr/>
                    <a:lstStyle/>
                    <a:p>
                      <a:pPr algn="ctr"/>
                      <a:r>
                        <a:rPr lang="es-EC" dirty="0"/>
                        <a:t>Secretaria</a:t>
                      </a:r>
                    </a:p>
                  </a:txBody>
                  <a:tcPr/>
                </a:tc>
                <a:extLst>
                  <a:ext uri="{0D108BD9-81ED-4DB2-BD59-A6C34878D82A}">
                    <a16:rowId xmlns:a16="http://schemas.microsoft.com/office/drawing/2014/main" val="10001"/>
                  </a:ext>
                </a:extLst>
              </a:tr>
              <a:tr h="372533">
                <a:tc>
                  <a:txBody>
                    <a:bodyPr/>
                    <a:lstStyle/>
                    <a:p>
                      <a:pPr algn="ctr"/>
                      <a:r>
                        <a:rPr lang="es-EC" dirty="0"/>
                        <a:t>150</a:t>
                      </a:r>
                    </a:p>
                  </a:txBody>
                  <a:tcPr/>
                </a:tc>
                <a:tc>
                  <a:txBody>
                    <a:bodyPr/>
                    <a:lstStyle/>
                    <a:p>
                      <a:pPr algn="ctr"/>
                      <a:r>
                        <a:rPr lang="es-EC" dirty="0"/>
                        <a:t>Gerente</a:t>
                      </a:r>
                    </a:p>
                  </a:txBody>
                  <a:tcPr/>
                </a:tc>
                <a:extLst>
                  <a:ext uri="{0D108BD9-81ED-4DB2-BD59-A6C34878D82A}">
                    <a16:rowId xmlns:a16="http://schemas.microsoft.com/office/drawing/2014/main" val="10002"/>
                  </a:ext>
                </a:extLst>
              </a:tr>
              <a:tr h="372533">
                <a:tc>
                  <a:txBody>
                    <a:bodyPr/>
                    <a:lstStyle/>
                    <a:p>
                      <a:pPr algn="ctr"/>
                      <a:r>
                        <a:rPr lang="es-EC" dirty="0"/>
                        <a:t>200</a:t>
                      </a:r>
                    </a:p>
                  </a:txBody>
                  <a:tcPr/>
                </a:tc>
                <a:tc>
                  <a:txBody>
                    <a:bodyPr/>
                    <a:lstStyle/>
                    <a:p>
                      <a:pPr algn="ctr"/>
                      <a:r>
                        <a:rPr lang="es-EC" dirty="0"/>
                        <a:t>Secretaria</a:t>
                      </a:r>
                    </a:p>
                  </a:txBody>
                  <a:tcPr/>
                </a:tc>
                <a:extLst>
                  <a:ext uri="{0D108BD9-81ED-4DB2-BD59-A6C34878D82A}">
                    <a16:rowId xmlns:a16="http://schemas.microsoft.com/office/drawing/2014/main" val="10003"/>
                  </a:ext>
                </a:extLst>
              </a:tr>
              <a:tr h="372533">
                <a:tc>
                  <a:txBody>
                    <a:bodyPr/>
                    <a:lstStyle/>
                    <a:p>
                      <a:pPr algn="ctr"/>
                      <a:r>
                        <a:rPr lang="es-EC" dirty="0"/>
                        <a:t>250</a:t>
                      </a:r>
                    </a:p>
                  </a:txBody>
                  <a:tcPr/>
                </a:tc>
                <a:tc>
                  <a:txBody>
                    <a:bodyPr/>
                    <a:lstStyle/>
                    <a:p>
                      <a:pPr algn="ctr"/>
                      <a:r>
                        <a:rPr lang="es-EC" dirty="0"/>
                        <a:t>Subgerente</a:t>
                      </a:r>
                    </a:p>
                  </a:txBody>
                  <a:tcPr/>
                </a:tc>
                <a:extLst>
                  <a:ext uri="{0D108BD9-81ED-4DB2-BD59-A6C34878D82A}">
                    <a16:rowId xmlns:a16="http://schemas.microsoft.com/office/drawing/2014/main" val="10004"/>
                  </a:ext>
                </a:extLst>
              </a:tr>
              <a:tr h="372533">
                <a:tc>
                  <a:txBody>
                    <a:bodyPr/>
                    <a:lstStyle/>
                    <a:p>
                      <a:pPr algn="ctr"/>
                      <a:r>
                        <a:rPr lang="es-EC" dirty="0"/>
                        <a:t>300</a:t>
                      </a:r>
                    </a:p>
                  </a:txBody>
                  <a:tcPr/>
                </a:tc>
                <a:tc>
                  <a:txBody>
                    <a:bodyPr/>
                    <a:lstStyle/>
                    <a:p>
                      <a:pPr algn="ctr"/>
                      <a:r>
                        <a:rPr lang="es-EC" dirty="0"/>
                        <a:t>Secretaria</a:t>
                      </a:r>
                    </a:p>
                  </a:txBody>
                  <a:tcPr/>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nvGraphicFramePr>
        <p:xfrm>
          <a:off x="3962400" y="4343400"/>
          <a:ext cx="2590800" cy="146304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23850">
                <a:tc>
                  <a:txBody>
                    <a:bodyPr/>
                    <a:lstStyle/>
                    <a:p>
                      <a:pPr algn="ctr"/>
                      <a:r>
                        <a:rPr lang="es-EC" u="sng" dirty="0"/>
                        <a:t>Puesto</a:t>
                      </a:r>
                    </a:p>
                  </a:txBody>
                  <a:tcPr/>
                </a:tc>
                <a:tc>
                  <a:txBody>
                    <a:bodyPr/>
                    <a:lstStyle/>
                    <a:p>
                      <a:pPr algn="ctr"/>
                      <a:r>
                        <a:rPr lang="es-EC" dirty="0"/>
                        <a:t>Salario</a:t>
                      </a:r>
                    </a:p>
                  </a:txBody>
                  <a:tcPr/>
                </a:tc>
                <a:extLst>
                  <a:ext uri="{0D108BD9-81ED-4DB2-BD59-A6C34878D82A}">
                    <a16:rowId xmlns:a16="http://schemas.microsoft.com/office/drawing/2014/main" val="10000"/>
                  </a:ext>
                </a:extLst>
              </a:tr>
              <a:tr h="323850">
                <a:tc>
                  <a:txBody>
                    <a:bodyPr/>
                    <a:lstStyle/>
                    <a:p>
                      <a:pPr algn="ctr"/>
                      <a:r>
                        <a:rPr lang="es-EC" dirty="0"/>
                        <a:t>Secretaria</a:t>
                      </a:r>
                    </a:p>
                  </a:txBody>
                  <a:tcPr/>
                </a:tc>
                <a:tc>
                  <a:txBody>
                    <a:bodyPr/>
                    <a:lstStyle/>
                    <a:p>
                      <a:pPr algn="ctr"/>
                      <a:r>
                        <a:rPr lang="es-EC" dirty="0"/>
                        <a:t>3100</a:t>
                      </a:r>
                    </a:p>
                  </a:txBody>
                  <a:tcPr/>
                </a:tc>
                <a:extLst>
                  <a:ext uri="{0D108BD9-81ED-4DB2-BD59-A6C34878D82A}">
                    <a16:rowId xmlns:a16="http://schemas.microsoft.com/office/drawing/2014/main" val="10001"/>
                  </a:ext>
                </a:extLst>
              </a:tr>
              <a:tr h="323850">
                <a:tc>
                  <a:txBody>
                    <a:bodyPr/>
                    <a:lstStyle/>
                    <a:p>
                      <a:pPr algn="ctr"/>
                      <a:r>
                        <a:rPr lang="es-EC" dirty="0"/>
                        <a:t>Gerente</a:t>
                      </a:r>
                    </a:p>
                  </a:txBody>
                  <a:tcPr/>
                </a:tc>
                <a:tc>
                  <a:txBody>
                    <a:bodyPr/>
                    <a:lstStyle/>
                    <a:p>
                      <a:pPr algn="ctr"/>
                      <a:r>
                        <a:rPr lang="es-EC" dirty="0"/>
                        <a:t>3200</a:t>
                      </a:r>
                    </a:p>
                  </a:txBody>
                  <a:tcPr/>
                </a:tc>
                <a:extLst>
                  <a:ext uri="{0D108BD9-81ED-4DB2-BD59-A6C34878D82A}">
                    <a16:rowId xmlns:a16="http://schemas.microsoft.com/office/drawing/2014/main" val="10002"/>
                  </a:ext>
                </a:extLst>
              </a:tr>
              <a:tr h="323850">
                <a:tc>
                  <a:txBody>
                    <a:bodyPr/>
                    <a:lstStyle/>
                    <a:p>
                      <a:pPr algn="ctr"/>
                      <a:r>
                        <a:rPr lang="es-EC" dirty="0"/>
                        <a:t>Subgerente</a:t>
                      </a:r>
                    </a:p>
                  </a:txBody>
                  <a:tcPr/>
                </a:tc>
                <a:tc>
                  <a:txBody>
                    <a:bodyPr/>
                    <a:lstStyle/>
                    <a:p>
                      <a:pPr algn="ctr"/>
                      <a:r>
                        <a:rPr lang="es-EC" dirty="0"/>
                        <a:t>3200</a:t>
                      </a:r>
                    </a:p>
                  </a:txBody>
                  <a:tcPr/>
                </a:tc>
                <a:extLst>
                  <a:ext uri="{0D108BD9-81ED-4DB2-BD59-A6C34878D82A}">
                    <a16:rowId xmlns:a16="http://schemas.microsoft.com/office/drawing/2014/main" val="10003"/>
                  </a:ext>
                </a:extLst>
              </a:tr>
            </a:tbl>
          </a:graphicData>
        </a:graphic>
      </p:graphicFrame>
      <p:sp>
        <p:nvSpPr>
          <p:cNvPr id="8" name="2 Marcador de contenido"/>
          <p:cNvSpPr txBox="1">
            <a:spLocks/>
          </p:cNvSpPr>
          <p:nvPr/>
        </p:nvSpPr>
        <p:spPr>
          <a:xfrm>
            <a:off x="6477000" y="3562327"/>
            <a:ext cx="2514600" cy="3143273"/>
          </a:xfrm>
          <a:prstGeom prst="rect">
            <a:avLst/>
          </a:prstGeom>
        </p:spPr>
        <p:txBody>
          <a:bodyPr vert="horz" lIns="91440" tIns="45720" rIns="91440" bIns="45720" rtlCol="0">
            <a:normAutofit fontScale="85000" lnSpcReduction="10000"/>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s-EC" sz="3200" b="0" i="0" u="none" strike="noStrike" kern="1200" cap="none" spc="0" normalizeH="0" baseline="0" noProof="0" dirty="0">
                <a:ln>
                  <a:noFill/>
                </a:ln>
                <a:solidFill>
                  <a:schemeClr val="tx1"/>
                </a:solidFill>
                <a:effectLst/>
                <a:uLnTx/>
                <a:uFillTx/>
                <a:latin typeface="+mn-lt"/>
                <a:ea typeface="+mn-ea"/>
                <a:cs typeface="+mn-cs"/>
              </a:rPr>
              <a:t>La mayoría de las tablas 3NF están libres de anomalías de actualización, inserción, y borrado.</a:t>
            </a:r>
          </a:p>
        </p:txBody>
      </p:sp>
      <p:cxnSp>
        <p:nvCxnSpPr>
          <p:cNvPr id="10" name="Straight Arrow Connector 9"/>
          <p:cNvCxnSpPr/>
          <p:nvPr/>
        </p:nvCxnSpPr>
        <p:spPr>
          <a:xfrm>
            <a:off x="1371600" y="15240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0" y="1371600"/>
            <a:ext cx="2667000" cy="369332"/>
          </a:xfrm>
          <a:prstGeom prst="rect">
            <a:avLst/>
          </a:prstGeom>
          <a:noFill/>
        </p:spPr>
        <p:txBody>
          <a:bodyPr wrap="square" rtlCol="0">
            <a:spAutoFit/>
          </a:bodyPr>
          <a:lstStyle/>
          <a:p>
            <a:r>
              <a:rPr lang="es-EC" dirty="0"/>
              <a:t>         Puesto             Salario</a:t>
            </a:r>
          </a:p>
        </p:txBody>
      </p:sp>
      <p:sp>
        <p:nvSpPr>
          <p:cNvPr id="13" name="TextBox 12"/>
          <p:cNvSpPr txBox="1"/>
          <p:nvPr/>
        </p:nvSpPr>
        <p:spPr>
          <a:xfrm>
            <a:off x="0" y="1905000"/>
            <a:ext cx="3505200" cy="369332"/>
          </a:xfrm>
          <a:prstGeom prst="rect">
            <a:avLst/>
          </a:prstGeom>
          <a:noFill/>
        </p:spPr>
        <p:txBody>
          <a:bodyPr wrap="square" rtlCol="0">
            <a:spAutoFit/>
          </a:bodyPr>
          <a:lstStyle/>
          <a:p>
            <a:r>
              <a:rPr lang="es-EC" dirty="0" err="1"/>
              <a:t>IdEmpleado</a:t>
            </a:r>
            <a:r>
              <a:rPr lang="es-EC" dirty="0"/>
              <a:t>       Puesto          Salario</a:t>
            </a:r>
          </a:p>
        </p:txBody>
      </p:sp>
      <p:cxnSp>
        <p:nvCxnSpPr>
          <p:cNvPr id="15" name="Straight Arrow Connector 14"/>
          <p:cNvCxnSpPr/>
          <p:nvPr/>
        </p:nvCxnSpPr>
        <p:spPr>
          <a:xfrm>
            <a:off x="1219200" y="21336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286000" y="21336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889</TotalTime>
  <Words>1269</Words>
  <Application>Microsoft Macintosh PowerPoint</Application>
  <PresentationFormat>On-screen Show (4:3)</PresentationFormat>
  <Paragraphs>141</Paragraphs>
  <Slides>18</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Tema de Office</vt:lpstr>
      <vt:lpstr>Capítulo 5</vt:lpstr>
      <vt:lpstr>Objetivos</vt:lpstr>
      <vt:lpstr>Normalización</vt:lpstr>
      <vt:lpstr>Normalización</vt:lpstr>
      <vt:lpstr>Dependencia Funcional</vt:lpstr>
      <vt:lpstr>Dependencia Funcional</vt:lpstr>
      <vt:lpstr>Dependencias Funcionales</vt:lpstr>
      <vt:lpstr>Tablas, Columnas, Filas y Campos(Primera Forma Normal)</vt:lpstr>
      <vt:lpstr>PowerPoint Presentation</vt:lpstr>
      <vt:lpstr>Segunda Forma Normal</vt:lpstr>
      <vt:lpstr>Segunda Forma Normal</vt:lpstr>
      <vt:lpstr>Segunda Forma Normal</vt:lpstr>
      <vt:lpstr>2NF y las claves candidatas</vt:lpstr>
      <vt:lpstr>PowerPoint Presentation</vt:lpstr>
      <vt:lpstr>Tercera Forma Normal</vt:lpstr>
      <vt:lpstr>Tercera Forma Normal</vt:lpstr>
      <vt:lpstr>Tercera Forma Normal</vt:lpstr>
      <vt:lpstr>Tercera Forma Normal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Capítulo 5</dc:title>
  <dc:creator>vanessa</dc:creator>
  <cp:lastModifiedBy>Vanessa Ines Cedeno Mieles</cp:lastModifiedBy>
  <cp:revision>99</cp:revision>
  <dcterms:created xsi:type="dcterms:W3CDTF">2010-06-07T23:10:21Z</dcterms:created>
  <dcterms:modified xsi:type="dcterms:W3CDTF">2019-10-23T22:47:22Z</dcterms:modified>
</cp:coreProperties>
</file>
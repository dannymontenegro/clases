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79" r:id="rId5"/>
    <p:sldId id="259" r:id="rId6"/>
    <p:sldId id="260" r:id="rId7"/>
    <p:sldId id="280" r:id="rId8"/>
    <p:sldId id="269" r:id="rId9"/>
    <p:sldId id="261" r:id="rId10"/>
    <p:sldId id="262" r:id="rId11"/>
    <p:sldId id="263" r:id="rId12"/>
    <p:sldId id="281" r:id="rId13"/>
    <p:sldId id="271" r:id="rId14"/>
    <p:sldId id="264" r:id="rId15"/>
    <p:sldId id="272" r:id="rId16"/>
    <p:sldId id="273" r:id="rId17"/>
    <p:sldId id="270" r:id="rId18"/>
    <p:sldId id="275" r:id="rId19"/>
    <p:sldId id="276" r:id="rId20"/>
    <p:sldId id="27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810" autoAdjust="0"/>
  </p:normalViewPr>
  <p:slideViewPr>
    <p:cSldViewPr>
      <p:cViewPr varScale="1">
        <p:scale>
          <a:sx n="106" d="100"/>
          <a:sy n="106" d="100"/>
        </p:scale>
        <p:origin x="23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E446B1-CB68-4104-A3A3-6A8F5BC881F8}" type="datetimeFigureOut">
              <a:rPr lang="es-EC" smtClean="0"/>
              <a:pPr/>
              <a:t>23/10/19</a:t>
            </a:fld>
            <a:endParaRPr lang="es-EC"/>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C"/>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D975D-957A-4A67-95F4-336B25EBB76E}" type="slidenum">
              <a:rPr lang="es-EC" smtClean="0"/>
              <a:pPr/>
              <a:t>‹#›</a:t>
            </a:fld>
            <a:endParaRPr lang="es-EC"/>
          </a:p>
        </p:txBody>
      </p:sp>
    </p:spTree>
    <p:extLst>
      <p:ext uri="{BB962C8B-B14F-4D97-AF65-F5344CB8AC3E}">
        <p14:creationId xmlns:p14="http://schemas.microsoft.com/office/powerpoint/2010/main" val="2688149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C" dirty="0"/>
          </a:p>
        </p:txBody>
      </p:sp>
      <p:sp>
        <p:nvSpPr>
          <p:cNvPr id="4" name="Slide Number Placeholder 3"/>
          <p:cNvSpPr>
            <a:spLocks noGrp="1"/>
          </p:cNvSpPr>
          <p:nvPr>
            <p:ph type="sldNum" sz="quarter" idx="10"/>
          </p:nvPr>
        </p:nvSpPr>
        <p:spPr/>
        <p:txBody>
          <a:bodyPr/>
          <a:lstStyle/>
          <a:p>
            <a:fld id="{BDEC2D05-7F98-49DF-8820-B11CA5462B1E}" type="slidenum">
              <a:rPr lang="es-EC" smtClean="0"/>
              <a:pPr/>
              <a:t>3</a:t>
            </a:fld>
            <a:endParaRPr lang="es-EC"/>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EC" dirty="0"/>
              <a:t>Aquí, el primer determinante sugiere que la clave principal de R</a:t>
            </a:r>
            <a:r>
              <a:rPr lang="es-EC" baseline="0" dirty="0"/>
              <a:t> </a:t>
            </a:r>
            <a:r>
              <a:rPr lang="es-EC" dirty="0"/>
              <a:t>podría ser cambiado de a, b  a  </a:t>
            </a:r>
            <a:r>
              <a:rPr lang="es-EC" dirty="0" err="1"/>
              <a:t>a</a:t>
            </a:r>
            <a:r>
              <a:rPr lang="es-EC" dirty="0"/>
              <a:t>, c. Si este cambio se lleva a cabo todos los atributos no clave presentes en R todavía se pueden determinar, por lo que este cambio es válido. Sin embargo, el segundo determinante indica que a, d determina b, pero a, d, no podría ser la clave de</a:t>
            </a:r>
            <a:r>
              <a:rPr lang="es-EC" baseline="0" dirty="0"/>
              <a:t> R ya que </a:t>
            </a:r>
            <a:r>
              <a:rPr lang="es-EC" dirty="0"/>
              <a:t>a, d no determina todos los atributos no clave de R (no determina c). </a:t>
            </a:r>
          </a:p>
        </p:txBody>
      </p:sp>
      <p:sp>
        <p:nvSpPr>
          <p:cNvPr id="4" name="Slide Number Placeholder 3"/>
          <p:cNvSpPr>
            <a:spLocks noGrp="1"/>
          </p:cNvSpPr>
          <p:nvPr>
            <p:ph type="sldNum" sz="quarter" idx="10"/>
          </p:nvPr>
        </p:nvSpPr>
        <p:spPr/>
        <p:txBody>
          <a:bodyPr/>
          <a:lstStyle/>
          <a:p>
            <a:fld id="{2CFD975D-957A-4A67-95F4-336B25EBB76E}" type="slidenum">
              <a:rPr lang="es-EC" smtClean="0"/>
              <a:pPr/>
              <a:t>4</a:t>
            </a:fld>
            <a:endParaRPr lang="es-EC"/>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C" dirty="0"/>
          </a:p>
        </p:txBody>
      </p:sp>
      <p:sp>
        <p:nvSpPr>
          <p:cNvPr id="4" name="Slide Number Placeholder 3"/>
          <p:cNvSpPr>
            <a:spLocks noGrp="1"/>
          </p:cNvSpPr>
          <p:nvPr>
            <p:ph type="sldNum" sz="quarter" idx="10"/>
          </p:nvPr>
        </p:nvSpPr>
        <p:spPr/>
        <p:txBody>
          <a:bodyPr/>
          <a:lstStyle/>
          <a:p>
            <a:fld id="{2CFD975D-957A-4A67-95F4-336B25EBB76E}" type="slidenum">
              <a:rPr lang="es-EC" smtClean="0"/>
              <a:pPr/>
              <a:t>5</a:t>
            </a:fld>
            <a:endParaRPr lang="es-EC"/>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C" dirty="0"/>
          </a:p>
        </p:txBody>
      </p:sp>
      <p:sp>
        <p:nvSpPr>
          <p:cNvPr id="4" name="Slide Number Placeholder 3"/>
          <p:cNvSpPr>
            <a:spLocks noGrp="1"/>
          </p:cNvSpPr>
          <p:nvPr>
            <p:ph type="sldNum" sz="quarter" idx="10"/>
          </p:nvPr>
        </p:nvSpPr>
        <p:spPr/>
        <p:txBody>
          <a:bodyPr/>
          <a:lstStyle/>
          <a:p>
            <a:fld id="{2CFD975D-957A-4A67-95F4-336B25EBB76E}" type="slidenum">
              <a:rPr lang="es-EC" smtClean="0"/>
              <a:pPr/>
              <a:t>6</a:t>
            </a:fld>
            <a:endParaRPr lang="es-EC"/>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C" dirty="0"/>
          </a:p>
        </p:txBody>
      </p:sp>
      <p:sp>
        <p:nvSpPr>
          <p:cNvPr id="4" name="Slide Number Placeholder 3"/>
          <p:cNvSpPr>
            <a:spLocks noGrp="1"/>
          </p:cNvSpPr>
          <p:nvPr>
            <p:ph type="sldNum" sz="quarter" idx="10"/>
          </p:nvPr>
        </p:nvSpPr>
        <p:spPr/>
        <p:txBody>
          <a:bodyPr/>
          <a:lstStyle/>
          <a:p>
            <a:fld id="{2CFD975D-957A-4A67-95F4-336B25EBB76E}" type="slidenum">
              <a:rPr lang="es-EC" smtClean="0"/>
              <a:pPr/>
              <a:t>7</a:t>
            </a:fld>
            <a:endParaRPr lang="es-EC"/>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C" dirty="0"/>
          </a:p>
        </p:txBody>
      </p:sp>
      <p:sp>
        <p:nvSpPr>
          <p:cNvPr id="4" name="Slide Number Placeholder 3"/>
          <p:cNvSpPr>
            <a:spLocks noGrp="1"/>
          </p:cNvSpPr>
          <p:nvPr>
            <p:ph type="sldNum" sz="quarter" idx="10"/>
          </p:nvPr>
        </p:nvSpPr>
        <p:spPr/>
        <p:txBody>
          <a:bodyPr/>
          <a:lstStyle/>
          <a:p>
            <a:fld id="{2CFD975D-957A-4A67-95F4-336B25EBB76E}" type="slidenum">
              <a:rPr lang="es-EC" smtClean="0"/>
              <a:pPr/>
              <a:t>15</a:t>
            </a:fld>
            <a:endParaRPr lang="es-EC"/>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Esta configuración ayuda a eliminar la redundancia. Supongamos que el Dr. James se convierte en un proveedor de tratamiento para </a:t>
            </a:r>
            <a:r>
              <a:rPr lang="es-EC" dirty="0" err="1"/>
              <a:t>FriendlyCare</a:t>
            </a:r>
            <a:r>
              <a:rPr lang="es-EC" dirty="0"/>
              <a:t>. En la configuración anterior habría que añadir dos nuevas entradas de que el Dr. James es capaz de tratar dos condiciones referidas en </a:t>
            </a:r>
            <a:r>
              <a:rPr lang="es-EC" dirty="0" err="1"/>
              <a:t>FriendlyCare</a:t>
            </a:r>
            <a:r>
              <a:rPr lang="es-EC" dirty="0"/>
              <a:t>: la ansiedad y la depresión. Con la nueva configuración sólo tenemos que añadir una entrada única (en Psiquiatra-para-Asegurador). </a:t>
            </a:r>
            <a:br>
              <a:rPr lang="es-EC" dirty="0"/>
            </a:br>
            <a:endParaRPr lang="es-EC" dirty="0"/>
          </a:p>
          <a:p>
            <a:endParaRPr lang="es-EC" dirty="0"/>
          </a:p>
        </p:txBody>
      </p:sp>
      <p:sp>
        <p:nvSpPr>
          <p:cNvPr id="4" name="Slide Number Placeholder 3"/>
          <p:cNvSpPr>
            <a:spLocks noGrp="1"/>
          </p:cNvSpPr>
          <p:nvPr>
            <p:ph type="sldNum" sz="quarter" idx="10"/>
          </p:nvPr>
        </p:nvSpPr>
        <p:spPr/>
        <p:txBody>
          <a:bodyPr/>
          <a:lstStyle/>
          <a:p>
            <a:fld id="{2CFD975D-957A-4A67-95F4-336B25EBB76E}" type="slidenum">
              <a:rPr lang="es-EC" smtClean="0"/>
              <a:pPr/>
              <a:t>16</a:t>
            </a:fld>
            <a:endParaRPr lang="es-EC"/>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C" dirty="0"/>
              <a:t>Capítulo 5</a:t>
            </a:r>
          </a:p>
        </p:txBody>
      </p:sp>
      <p:sp>
        <p:nvSpPr>
          <p:cNvPr id="3" name="2 Subtítulo"/>
          <p:cNvSpPr>
            <a:spLocks noGrp="1"/>
          </p:cNvSpPr>
          <p:nvPr>
            <p:ph type="subTitle" idx="1"/>
          </p:nvPr>
        </p:nvSpPr>
        <p:spPr/>
        <p:txBody>
          <a:bodyPr/>
          <a:lstStyle/>
          <a:p>
            <a:r>
              <a:rPr lang="es-EC" dirty="0"/>
              <a:t>Normalización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Objetivos</a:t>
            </a:r>
          </a:p>
        </p:txBody>
      </p:sp>
      <p:sp>
        <p:nvSpPr>
          <p:cNvPr id="3" name="2 Marcador de contenido"/>
          <p:cNvSpPr>
            <a:spLocks noGrp="1"/>
          </p:cNvSpPr>
          <p:nvPr>
            <p:ph idx="1"/>
          </p:nvPr>
        </p:nvSpPr>
        <p:spPr/>
        <p:txBody>
          <a:bodyPr>
            <a:normAutofit/>
          </a:bodyPr>
          <a:lstStyle/>
          <a:p>
            <a:r>
              <a:rPr lang="es-EC" dirty="0" err="1"/>
              <a:t>Boyce-Codd</a:t>
            </a:r>
            <a:r>
              <a:rPr lang="es-EC" dirty="0"/>
              <a:t> Normal </a:t>
            </a:r>
            <a:r>
              <a:rPr lang="es-EC" dirty="0" err="1"/>
              <a:t>Form</a:t>
            </a:r>
            <a:endParaRPr lang="es-EC" dirty="0"/>
          </a:p>
          <a:p>
            <a:r>
              <a:rPr lang="es-EC" dirty="0"/>
              <a:t>Cuarta Forma Normal</a:t>
            </a:r>
          </a:p>
          <a:p>
            <a:r>
              <a:rPr lang="es-EC" dirty="0" err="1"/>
              <a:t>Normalizacion</a:t>
            </a:r>
            <a:r>
              <a:rPr lang="es-EC" dirty="0"/>
              <a:t> Avanzada</a:t>
            </a:r>
          </a:p>
          <a:p>
            <a:pPr lvl="1"/>
            <a:r>
              <a:rPr lang="es-EC" dirty="0"/>
              <a:t>Quinta Forma Normal(Project </a:t>
            </a:r>
            <a:r>
              <a:rPr lang="es-EC" dirty="0" err="1"/>
              <a:t>Join</a:t>
            </a:r>
            <a:r>
              <a:rPr lang="es-EC" dirty="0"/>
              <a:t> Normal </a:t>
            </a:r>
            <a:r>
              <a:rPr lang="es-EC" dirty="0" err="1"/>
              <a:t>Form</a:t>
            </a:r>
            <a:r>
              <a:rPr lang="es-EC" dirty="0"/>
              <a:t>-PJNF)</a:t>
            </a:r>
          </a:p>
          <a:p>
            <a:pPr lvl="1"/>
            <a:r>
              <a:rPr lang="es-EC" dirty="0" err="1"/>
              <a:t>Domain</a:t>
            </a:r>
            <a:r>
              <a:rPr lang="es-EC" dirty="0"/>
              <a:t> Key Normal </a:t>
            </a:r>
            <a:r>
              <a:rPr lang="es-EC" dirty="0" err="1"/>
              <a:t>Form</a:t>
            </a:r>
            <a:r>
              <a:rPr lang="es-EC" dirty="0"/>
              <a:t>-DKNF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dirty="0" err="1"/>
              <a:t>Boyce-Codd</a:t>
            </a:r>
            <a:r>
              <a:rPr lang="es-EC" dirty="0"/>
              <a:t> Normal </a:t>
            </a:r>
            <a:r>
              <a:rPr lang="es-EC" dirty="0" err="1"/>
              <a:t>Form</a:t>
            </a:r>
            <a:endParaRPr lang="es-EC" dirty="0"/>
          </a:p>
        </p:txBody>
      </p:sp>
      <p:sp>
        <p:nvSpPr>
          <p:cNvPr id="3" name="2 Marcador de contenido"/>
          <p:cNvSpPr>
            <a:spLocks noGrp="1"/>
          </p:cNvSpPr>
          <p:nvPr>
            <p:ph idx="1"/>
          </p:nvPr>
        </p:nvSpPr>
        <p:spPr>
          <a:xfrm>
            <a:off x="457200" y="1600200"/>
            <a:ext cx="8229600" cy="4829196"/>
          </a:xfrm>
        </p:spPr>
        <p:txBody>
          <a:bodyPr>
            <a:normAutofit/>
          </a:bodyPr>
          <a:lstStyle/>
          <a:p>
            <a:r>
              <a:rPr lang="es-EC" dirty="0"/>
              <a:t>Es una versión ligeramente más fuerte de la Tercera forma normal (3FN).</a:t>
            </a:r>
          </a:p>
          <a:p>
            <a:r>
              <a:rPr lang="es-EC" dirty="0"/>
              <a:t>Una tabla está en BCNF si y solo si :</a:t>
            </a:r>
          </a:p>
          <a:p>
            <a:pPr lvl="1"/>
            <a:r>
              <a:rPr lang="es-EC" dirty="0"/>
              <a:t>Está en 3FN</a:t>
            </a:r>
          </a:p>
          <a:p>
            <a:pPr lvl="1"/>
            <a:r>
              <a:rPr lang="es-ES_tradnl" dirty="0">
                <a:sym typeface="Wingdings" pitchFamily="2" charset="2"/>
              </a:rPr>
              <a:t>Cada atributo determinante es una clave candidata</a:t>
            </a:r>
            <a:endParaRPr lang="es-EC" dirty="0"/>
          </a:p>
        </p:txBody>
      </p:sp>
      <p:sp>
        <p:nvSpPr>
          <p:cNvPr id="4" name="Rectangle 3"/>
          <p:cNvSpPr/>
          <p:nvPr/>
        </p:nvSpPr>
        <p:spPr>
          <a:xfrm>
            <a:off x="990600" y="4953000"/>
            <a:ext cx="7391400" cy="369332"/>
          </a:xfrm>
          <a:prstGeom prst="rect">
            <a:avLst/>
          </a:prstGeom>
        </p:spPr>
        <p:txBody>
          <a:bodyPr wrap="square">
            <a:spAutoFit/>
          </a:bodyPr>
          <a:lstStyle/>
          <a:p>
            <a:pPr>
              <a:defRPr/>
            </a:pPr>
            <a:r>
              <a:rPr lang="es-EC" dirty="0"/>
              <a:t>(X→Y) A X se le denomina </a:t>
            </a:r>
            <a:r>
              <a:rPr lang="es-EC" i="1" dirty="0"/>
              <a:t>determinante</a:t>
            </a:r>
            <a:r>
              <a:rPr lang="es-EC" dirty="0"/>
              <a:t>, ya que determina el valor de 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s-EC"/>
          </a:p>
        </p:txBody>
      </p:sp>
      <p:sp>
        <p:nvSpPr>
          <p:cNvPr id="3" name="Content Placeholder 2"/>
          <p:cNvSpPr>
            <a:spLocks noGrp="1"/>
          </p:cNvSpPr>
          <p:nvPr>
            <p:ph idx="1"/>
          </p:nvPr>
        </p:nvSpPr>
        <p:spPr/>
        <p:txBody>
          <a:bodyPr>
            <a:normAutofit fontScale="92500" lnSpcReduction="20000"/>
          </a:bodyPr>
          <a:lstStyle/>
          <a:p>
            <a:r>
              <a:rPr lang="pt-BR" dirty="0"/>
              <a:t>           R(</a:t>
            </a:r>
            <a:r>
              <a:rPr lang="pt-BR" u="sng" dirty="0"/>
              <a:t>a,b</a:t>
            </a:r>
            <a:r>
              <a:rPr lang="pt-BR" dirty="0"/>
              <a:t>,c,d)   </a:t>
            </a:r>
          </a:p>
          <a:p>
            <a:pPr marL="0" indent="0">
              <a:buNone/>
            </a:pPr>
            <a:r>
              <a:rPr lang="pt-BR" dirty="0"/>
              <a:t>		  a,c -&gt; b,d</a:t>
            </a:r>
            <a:br>
              <a:rPr lang="pt-BR" dirty="0"/>
            </a:br>
            <a:r>
              <a:rPr lang="pt-BR" dirty="0"/>
              <a:t>                       a,d -&gt; b</a:t>
            </a:r>
          </a:p>
          <a:p>
            <a:pPr marL="0" indent="0">
              <a:buNone/>
            </a:pPr>
            <a:r>
              <a:rPr lang="pt-BR" dirty="0"/>
              <a:t>		  a,b -&gt; c,d</a:t>
            </a:r>
          </a:p>
          <a:p>
            <a:endParaRPr lang="pt-BR" dirty="0"/>
          </a:p>
          <a:p>
            <a:pPr>
              <a:buNone/>
            </a:pPr>
            <a:r>
              <a:rPr lang="es-EC" dirty="0"/>
              <a:t>	Diríamos que el primer determinante es una clave candidata, pero el segundo determinante no es una clave candidata, y por lo tanto esta relación no está en FNBC (pero está en tercera forma normal).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6200"/>
            <a:ext cx="8229600" cy="1143000"/>
          </a:xfrm>
        </p:spPr>
        <p:txBody>
          <a:bodyPr/>
          <a:lstStyle/>
          <a:p>
            <a:r>
              <a:rPr lang="es-EC" dirty="0" err="1"/>
              <a:t>Boyce-Codd</a:t>
            </a:r>
            <a:r>
              <a:rPr lang="es-EC" dirty="0"/>
              <a:t> Normal </a:t>
            </a:r>
            <a:r>
              <a:rPr lang="es-EC" dirty="0" err="1"/>
              <a:t>Form</a:t>
            </a:r>
            <a:endParaRPr lang="es-EC" dirty="0"/>
          </a:p>
        </p:txBody>
      </p:sp>
      <p:sp>
        <p:nvSpPr>
          <p:cNvPr id="3" name="2 Marcador de contenido"/>
          <p:cNvSpPr>
            <a:spLocks noGrp="1"/>
          </p:cNvSpPr>
          <p:nvPr>
            <p:ph idx="1"/>
          </p:nvPr>
        </p:nvSpPr>
        <p:spPr>
          <a:xfrm>
            <a:off x="457200" y="3505201"/>
            <a:ext cx="8229600" cy="2133600"/>
          </a:xfrm>
        </p:spPr>
        <p:txBody>
          <a:bodyPr>
            <a:normAutofit fontScale="70000" lnSpcReduction="20000"/>
          </a:bodyPr>
          <a:lstStyle/>
          <a:p>
            <a:r>
              <a:rPr lang="es-EC" dirty="0"/>
              <a:t>Esto representa una clínica de dietas especiales donde cada paciente tiene cuatro citas. No todos los pacientes necesitan las cuatro citas. Si el nombre del paciente comienza con una letra antes de "P" obtiene una cita por la mañana, de lo contrario, consiguen una cita por la tarde. La cita 1 es a las 09:00 o la 13:00, la cita 2 a las 10:00 o las 14:00, y así sucesivamente. A partir de esto podemos extraer los siguientes determinantes:</a:t>
            </a:r>
          </a:p>
          <a:p>
            <a:endParaRPr lang="es-EC" dirty="0"/>
          </a:p>
        </p:txBody>
      </p:sp>
      <p:graphicFrame>
        <p:nvGraphicFramePr>
          <p:cNvPr id="5" name="Table 4"/>
          <p:cNvGraphicFramePr>
            <a:graphicFrameLocks noGrp="1"/>
          </p:cNvGraphicFramePr>
          <p:nvPr/>
        </p:nvGraphicFramePr>
        <p:xfrm>
          <a:off x="1524000" y="1143000"/>
          <a:ext cx="6096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r>
                        <a:rPr lang="es-EC" dirty="0" err="1"/>
                        <a:t>NumPaciente</a:t>
                      </a:r>
                      <a:endParaRPr lang="es-EC" dirty="0"/>
                    </a:p>
                  </a:txBody>
                  <a:tcPr/>
                </a:tc>
                <a:tc>
                  <a:txBody>
                    <a:bodyPr/>
                    <a:lstStyle/>
                    <a:p>
                      <a:r>
                        <a:rPr lang="es-EC" dirty="0"/>
                        <a:t>Nombre</a:t>
                      </a:r>
                    </a:p>
                  </a:txBody>
                  <a:tcPr/>
                </a:tc>
                <a:tc>
                  <a:txBody>
                    <a:bodyPr/>
                    <a:lstStyle/>
                    <a:p>
                      <a:r>
                        <a:rPr lang="es-EC" dirty="0" err="1"/>
                        <a:t>iDCita</a:t>
                      </a:r>
                      <a:endParaRPr lang="es-EC" dirty="0"/>
                    </a:p>
                  </a:txBody>
                  <a:tcPr/>
                </a:tc>
                <a:tc>
                  <a:txBody>
                    <a:bodyPr/>
                    <a:lstStyle/>
                    <a:p>
                      <a:r>
                        <a:rPr lang="es-EC" dirty="0"/>
                        <a:t>Hora</a:t>
                      </a:r>
                    </a:p>
                  </a:txBody>
                  <a:tcPr/>
                </a:tc>
                <a:tc>
                  <a:txBody>
                    <a:bodyPr/>
                    <a:lstStyle/>
                    <a:p>
                      <a:r>
                        <a:rPr lang="es-EC" dirty="0"/>
                        <a:t>Doctor</a:t>
                      </a:r>
                    </a:p>
                  </a:txBody>
                  <a:tcPr/>
                </a:tc>
                <a:extLst>
                  <a:ext uri="{0D108BD9-81ED-4DB2-BD59-A6C34878D82A}">
                    <a16:rowId xmlns:a16="http://schemas.microsoft.com/office/drawing/2014/main" val="10000"/>
                  </a:ext>
                </a:extLst>
              </a:tr>
              <a:tr h="370840">
                <a:tc>
                  <a:txBody>
                    <a:bodyPr/>
                    <a:lstStyle/>
                    <a:p>
                      <a:r>
                        <a:rPr lang="es-EC" dirty="0"/>
                        <a:t>1</a:t>
                      </a:r>
                    </a:p>
                  </a:txBody>
                  <a:tcPr/>
                </a:tc>
                <a:tc>
                  <a:txBody>
                    <a:bodyPr/>
                    <a:lstStyle/>
                    <a:p>
                      <a:r>
                        <a:rPr lang="es-EC" dirty="0"/>
                        <a:t>Luis</a:t>
                      </a:r>
                    </a:p>
                  </a:txBody>
                  <a:tcPr/>
                </a:tc>
                <a:tc>
                  <a:txBody>
                    <a:bodyPr/>
                    <a:lstStyle/>
                    <a:p>
                      <a:r>
                        <a:rPr lang="es-EC" dirty="0"/>
                        <a:t>0</a:t>
                      </a:r>
                    </a:p>
                  </a:txBody>
                  <a:tcPr/>
                </a:tc>
                <a:tc>
                  <a:txBody>
                    <a:bodyPr/>
                    <a:lstStyle/>
                    <a:p>
                      <a:r>
                        <a:rPr lang="es-EC" dirty="0"/>
                        <a:t>09:00</a:t>
                      </a:r>
                    </a:p>
                  </a:txBody>
                  <a:tcPr/>
                </a:tc>
                <a:tc>
                  <a:txBody>
                    <a:bodyPr/>
                    <a:lstStyle/>
                    <a:p>
                      <a:r>
                        <a:rPr lang="es-EC" dirty="0"/>
                        <a:t>A</a:t>
                      </a:r>
                    </a:p>
                  </a:txBody>
                  <a:tcPr/>
                </a:tc>
                <a:extLst>
                  <a:ext uri="{0D108BD9-81ED-4DB2-BD59-A6C34878D82A}">
                    <a16:rowId xmlns:a16="http://schemas.microsoft.com/office/drawing/2014/main" val="10001"/>
                  </a:ext>
                </a:extLst>
              </a:tr>
              <a:tr h="370840">
                <a:tc>
                  <a:txBody>
                    <a:bodyPr/>
                    <a:lstStyle/>
                    <a:p>
                      <a:r>
                        <a:rPr lang="es-EC" dirty="0"/>
                        <a:t>2</a:t>
                      </a:r>
                    </a:p>
                  </a:txBody>
                  <a:tcPr/>
                </a:tc>
                <a:tc>
                  <a:txBody>
                    <a:bodyPr/>
                    <a:lstStyle/>
                    <a:p>
                      <a:r>
                        <a:rPr lang="es-EC" dirty="0" err="1"/>
                        <a:t>Jose</a:t>
                      </a:r>
                      <a:endParaRPr lang="es-EC" dirty="0"/>
                    </a:p>
                  </a:txBody>
                  <a:tcPr/>
                </a:tc>
                <a:tc>
                  <a:txBody>
                    <a:bodyPr/>
                    <a:lstStyle/>
                    <a:p>
                      <a:r>
                        <a:rPr lang="es-EC" dirty="0"/>
                        <a:t>0</a:t>
                      </a:r>
                    </a:p>
                  </a:txBody>
                  <a:tcPr/>
                </a:tc>
                <a:tc>
                  <a:txBody>
                    <a:bodyPr/>
                    <a:lstStyle/>
                    <a:p>
                      <a:r>
                        <a:rPr lang="es-EC" dirty="0"/>
                        <a:t>09:00</a:t>
                      </a:r>
                    </a:p>
                  </a:txBody>
                  <a:tcPr/>
                </a:tc>
                <a:tc>
                  <a:txBody>
                    <a:bodyPr/>
                    <a:lstStyle/>
                    <a:p>
                      <a:r>
                        <a:rPr lang="es-EC" dirty="0"/>
                        <a:t>B</a:t>
                      </a:r>
                    </a:p>
                  </a:txBody>
                  <a:tcPr/>
                </a:tc>
                <a:extLst>
                  <a:ext uri="{0D108BD9-81ED-4DB2-BD59-A6C34878D82A}">
                    <a16:rowId xmlns:a16="http://schemas.microsoft.com/office/drawing/2014/main" val="10002"/>
                  </a:ext>
                </a:extLst>
              </a:tr>
              <a:tr h="370840">
                <a:tc>
                  <a:txBody>
                    <a:bodyPr/>
                    <a:lstStyle/>
                    <a:p>
                      <a:r>
                        <a:rPr lang="es-EC" dirty="0"/>
                        <a:t>3</a:t>
                      </a:r>
                    </a:p>
                  </a:txBody>
                  <a:tcPr/>
                </a:tc>
                <a:tc>
                  <a:txBody>
                    <a:bodyPr/>
                    <a:lstStyle/>
                    <a:p>
                      <a:r>
                        <a:rPr lang="es-EC" dirty="0"/>
                        <a:t>Carla</a:t>
                      </a:r>
                    </a:p>
                  </a:txBody>
                  <a:tcPr/>
                </a:tc>
                <a:tc>
                  <a:txBody>
                    <a:bodyPr/>
                    <a:lstStyle/>
                    <a:p>
                      <a:r>
                        <a:rPr lang="es-EC" dirty="0"/>
                        <a:t>1</a:t>
                      </a:r>
                    </a:p>
                  </a:txBody>
                  <a:tcPr/>
                </a:tc>
                <a:tc>
                  <a:txBody>
                    <a:bodyPr/>
                    <a:lstStyle/>
                    <a:p>
                      <a:r>
                        <a:rPr lang="es-EC" dirty="0"/>
                        <a:t>10:00</a:t>
                      </a:r>
                    </a:p>
                  </a:txBody>
                  <a:tcPr/>
                </a:tc>
                <a:tc>
                  <a:txBody>
                    <a:bodyPr/>
                    <a:lstStyle/>
                    <a:p>
                      <a:r>
                        <a:rPr lang="es-EC" dirty="0"/>
                        <a:t>A</a:t>
                      </a:r>
                    </a:p>
                  </a:txBody>
                  <a:tcPr/>
                </a:tc>
                <a:extLst>
                  <a:ext uri="{0D108BD9-81ED-4DB2-BD59-A6C34878D82A}">
                    <a16:rowId xmlns:a16="http://schemas.microsoft.com/office/drawing/2014/main" val="10003"/>
                  </a:ext>
                </a:extLst>
              </a:tr>
              <a:tr h="370840">
                <a:tc>
                  <a:txBody>
                    <a:bodyPr/>
                    <a:lstStyle/>
                    <a:p>
                      <a:r>
                        <a:rPr lang="es-EC" dirty="0"/>
                        <a:t>4</a:t>
                      </a:r>
                    </a:p>
                  </a:txBody>
                  <a:tcPr/>
                </a:tc>
                <a:tc>
                  <a:txBody>
                    <a:bodyPr/>
                    <a:lstStyle/>
                    <a:p>
                      <a:r>
                        <a:rPr lang="es-EC" dirty="0"/>
                        <a:t>Roberto</a:t>
                      </a:r>
                    </a:p>
                  </a:txBody>
                  <a:tcPr/>
                </a:tc>
                <a:tc>
                  <a:txBody>
                    <a:bodyPr/>
                    <a:lstStyle/>
                    <a:p>
                      <a:r>
                        <a:rPr lang="es-EC" dirty="0"/>
                        <a:t>0</a:t>
                      </a:r>
                    </a:p>
                  </a:txBody>
                  <a:tcPr/>
                </a:tc>
                <a:tc>
                  <a:txBody>
                    <a:bodyPr/>
                    <a:lstStyle/>
                    <a:p>
                      <a:r>
                        <a:rPr lang="es-EC" dirty="0"/>
                        <a:t>13:00</a:t>
                      </a:r>
                    </a:p>
                  </a:txBody>
                  <a:tcPr/>
                </a:tc>
                <a:tc>
                  <a:txBody>
                    <a:bodyPr/>
                    <a:lstStyle/>
                    <a:p>
                      <a:r>
                        <a:rPr lang="es-EC" dirty="0"/>
                        <a:t>B</a:t>
                      </a:r>
                    </a:p>
                  </a:txBody>
                  <a:tcPr/>
                </a:tc>
                <a:extLst>
                  <a:ext uri="{0D108BD9-81ED-4DB2-BD59-A6C34878D82A}">
                    <a16:rowId xmlns:a16="http://schemas.microsoft.com/office/drawing/2014/main" val="10004"/>
                  </a:ext>
                </a:extLst>
              </a:tr>
              <a:tr h="370840">
                <a:tc>
                  <a:txBody>
                    <a:bodyPr/>
                    <a:lstStyle/>
                    <a:p>
                      <a:r>
                        <a:rPr lang="es-EC" dirty="0"/>
                        <a:t>5</a:t>
                      </a:r>
                    </a:p>
                  </a:txBody>
                  <a:tcPr/>
                </a:tc>
                <a:tc>
                  <a:txBody>
                    <a:bodyPr/>
                    <a:lstStyle/>
                    <a:p>
                      <a:r>
                        <a:rPr lang="es-EC" dirty="0"/>
                        <a:t>Susana</a:t>
                      </a:r>
                    </a:p>
                  </a:txBody>
                  <a:tcPr/>
                </a:tc>
                <a:tc>
                  <a:txBody>
                    <a:bodyPr/>
                    <a:lstStyle/>
                    <a:p>
                      <a:r>
                        <a:rPr lang="es-EC" dirty="0"/>
                        <a:t>1</a:t>
                      </a:r>
                    </a:p>
                  </a:txBody>
                  <a:tcPr/>
                </a:tc>
                <a:tc>
                  <a:txBody>
                    <a:bodyPr/>
                    <a:lstStyle/>
                    <a:p>
                      <a:r>
                        <a:rPr lang="es-EC" dirty="0"/>
                        <a:t>14:00</a:t>
                      </a:r>
                    </a:p>
                  </a:txBody>
                  <a:tcPr/>
                </a:tc>
                <a:tc>
                  <a:txBody>
                    <a:bodyPr/>
                    <a:lstStyle/>
                    <a:p>
                      <a:r>
                        <a:rPr lang="es-EC" dirty="0"/>
                        <a:t>A</a:t>
                      </a:r>
                    </a:p>
                  </a:txBody>
                  <a:tcPr/>
                </a:tc>
                <a:extLst>
                  <a:ext uri="{0D108BD9-81ED-4DB2-BD59-A6C34878D82A}">
                    <a16:rowId xmlns:a16="http://schemas.microsoft.com/office/drawing/2014/main" val="10005"/>
                  </a:ext>
                </a:extLst>
              </a:tr>
            </a:tbl>
          </a:graphicData>
        </a:graphic>
      </p:graphicFrame>
      <p:sp>
        <p:nvSpPr>
          <p:cNvPr id="6" name="Rectangle 5"/>
          <p:cNvSpPr/>
          <p:nvPr/>
        </p:nvSpPr>
        <p:spPr>
          <a:xfrm>
            <a:off x="2286000" y="5581471"/>
            <a:ext cx="4572000" cy="1200329"/>
          </a:xfrm>
          <a:prstGeom prst="rect">
            <a:avLst/>
          </a:prstGeom>
        </p:spPr>
        <p:txBody>
          <a:bodyPr>
            <a:spAutoFit/>
          </a:bodyPr>
          <a:lstStyle/>
          <a:p>
            <a:r>
              <a:rPr lang="es-EC" dirty="0"/>
              <a:t>DB(</a:t>
            </a:r>
            <a:r>
              <a:rPr lang="es-EC" dirty="0" err="1"/>
              <a:t>NumPac,nombre</a:t>
            </a:r>
            <a:r>
              <a:rPr lang="es-EC" dirty="0"/>
              <a:t>, </a:t>
            </a:r>
            <a:r>
              <a:rPr lang="es-EC" dirty="0" err="1"/>
              <a:t>idCita</a:t>
            </a:r>
            <a:r>
              <a:rPr lang="es-EC" dirty="0"/>
              <a:t>, </a:t>
            </a:r>
            <a:r>
              <a:rPr lang="es-EC" dirty="0" err="1"/>
              <a:t>hora,doctor</a:t>
            </a:r>
            <a:r>
              <a:rPr lang="es-EC" dirty="0"/>
              <a:t>)</a:t>
            </a:r>
          </a:p>
          <a:p>
            <a:r>
              <a:rPr lang="es-EC" dirty="0" err="1"/>
              <a:t>NumPac</a:t>
            </a:r>
            <a:r>
              <a:rPr lang="es-EC" dirty="0"/>
              <a:t>-&gt; Nombre</a:t>
            </a:r>
            <a:br>
              <a:rPr lang="es-EC" dirty="0"/>
            </a:br>
            <a:r>
              <a:rPr lang="es-EC" dirty="0" err="1"/>
              <a:t>NumPac,idCita</a:t>
            </a:r>
            <a:r>
              <a:rPr lang="es-EC" dirty="0"/>
              <a:t> -&gt; </a:t>
            </a:r>
            <a:r>
              <a:rPr lang="es-EC" dirty="0" err="1"/>
              <a:t>hora,doctor</a:t>
            </a:r>
            <a:br>
              <a:rPr lang="es-EC" dirty="0"/>
            </a:br>
            <a:r>
              <a:rPr lang="es-EC" dirty="0"/>
              <a:t>hora -&gt; </a:t>
            </a:r>
            <a:r>
              <a:rPr lang="es-EC" dirty="0" err="1"/>
              <a:t>idCita</a:t>
            </a:r>
            <a:endParaRPr lang="es-EC"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14"/>
            <a:ext cx="8229600" cy="1143000"/>
          </a:xfrm>
        </p:spPr>
        <p:txBody>
          <a:bodyPr/>
          <a:lstStyle/>
          <a:p>
            <a:r>
              <a:rPr lang="es-EC" dirty="0" err="1"/>
              <a:t>Boyce-Codd</a:t>
            </a:r>
            <a:r>
              <a:rPr lang="es-EC" dirty="0"/>
              <a:t> Normal </a:t>
            </a:r>
            <a:r>
              <a:rPr lang="es-EC" dirty="0" err="1"/>
              <a:t>Form</a:t>
            </a:r>
            <a:endParaRPr lang="es-EC" dirty="0"/>
          </a:p>
        </p:txBody>
      </p:sp>
      <p:sp>
        <p:nvSpPr>
          <p:cNvPr id="3" name="2 Marcador de contenido"/>
          <p:cNvSpPr>
            <a:spLocks noGrp="1"/>
          </p:cNvSpPr>
          <p:nvPr>
            <p:ph idx="1"/>
          </p:nvPr>
        </p:nvSpPr>
        <p:spPr>
          <a:xfrm>
            <a:off x="457200" y="914400"/>
            <a:ext cx="8229600" cy="5943600"/>
          </a:xfrm>
        </p:spPr>
        <p:txBody>
          <a:bodyPr>
            <a:normAutofit lnSpcReduction="10000"/>
          </a:bodyPr>
          <a:lstStyle/>
          <a:p>
            <a:r>
              <a:rPr lang="es-EC" sz="2000" dirty="0"/>
              <a:t>1FN: eliminar grupos repetidos</a:t>
            </a:r>
          </a:p>
          <a:p>
            <a:pPr>
              <a:buNone/>
            </a:pPr>
            <a:r>
              <a:rPr lang="es-EC" sz="2000" dirty="0"/>
              <a:t>	DB(</a:t>
            </a:r>
            <a:r>
              <a:rPr lang="es-EC" sz="2000" u="sng" dirty="0" err="1"/>
              <a:t>NumPac</a:t>
            </a:r>
            <a:r>
              <a:rPr lang="es-EC" sz="2000" dirty="0" err="1"/>
              <a:t>,nombre</a:t>
            </a:r>
            <a:r>
              <a:rPr lang="es-EC" sz="2000" dirty="0"/>
              <a:t>, </a:t>
            </a:r>
            <a:r>
              <a:rPr lang="es-EC" sz="2000" u="sng" dirty="0" err="1"/>
              <a:t>idCita</a:t>
            </a:r>
            <a:r>
              <a:rPr lang="es-EC" sz="2000" dirty="0"/>
              <a:t>, </a:t>
            </a:r>
            <a:r>
              <a:rPr lang="es-EC" sz="2000" dirty="0" err="1"/>
              <a:t>hora,doctor</a:t>
            </a:r>
            <a:r>
              <a:rPr lang="es-EC" sz="2000" dirty="0"/>
              <a:t>)</a:t>
            </a:r>
          </a:p>
          <a:p>
            <a:pPr>
              <a:buNone/>
            </a:pPr>
            <a:r>
              <a:rPr lang="es-EC" sz="2000" dirty="0"/>
              <a:t>	</a:t>
            </a:r>
            <a:r>
              <a:rPr lang="es-EC" sz="2000" dirty="0" err="1"/>
              <a:t>NumPac</a:t>
            </a:r>
            <a:r>
              <a:rPr lang="es-EC" sz="2000" dirty="0"/>
              <a:t>-&gt; Nombre</a:t>
            </a:r>
            <a:br>
              <a:rPr lang="es-EC" sz="2000" dirty="0"/>
            </a:br>
            <a:r>
              <a:rPr lang="es-EC" sz="2000" dirty="0" err="1"/>
              <a:t>NumPac,idCita</a:t>
            </a:r>
            <a:r>
              <a:rPr lang="es-EC" sz="2000" dirty="0"/>
              <a:t> -&gt; </a:t>
            </a:r>
            <a:r>
              <a:rPr lang="es-EC" sz="2000" dirty="0" err="1"/>
              <a:t>hora,doctor</a:t>
            </a:r>
            <a:br>
              <a:rPr lang="es-EC" sz="2000" dirty="0"/>
            </a:br>
            <a:r>
              <a:rPr lang="es-EC" sz="2000" dirty="0"/>
              <a:t>hora -&gt; </a:t>
            </a:r>
            <a:r>
              <a:rPr lang="es-EC" sz="2000" dirty="0" err="1"/>
              <a:t>idCita</a:t>
            </a:r>
            <a:endParaRPr lang="es-EC" sz="2000" dirty="0"/>
          </a:p>
          <a:p>
            <a:r>
              <a:rPr lang="es-EC" sz="2000" dirty="0"/>
              <a:t>2FN: eliminar dependencias parciales de clave</a:t>
            </a:r>
          </a:p>
          <a:p>
            <a:pPr>
              <a:buNone/>
            </a:pPr>
            <a:r>
              <a:rPr lang="es-EC" sz="2000" dirty="0"/>
              <a:t>	DB(</a:t>
            </a:r>
            <a:r>
              <a:rPr lang="es-EC" sz="2000" u="sng" dirty="0" err="1"/>
              <a:t>NumPac</a:t>
            </a:r>
            <a:r>
              <a:rPr lang="es-EC" sz="2000" dirty="0"/>
              <a:t>, </a:t>
            </a:r>
            <a:r>
              <a:rPr lang="es-EC" sz="2000" u="sng" dirty="0" err="1"/>
              <a:t>idCita</a:t>
            </a:r>
            <a:r>
              <a:rPr lang="es-EC" sz="2000" dirty="0"/>
              <a:t>, </a:t>
            </a:r>
            <a:r>
              <a:rPr lang="es-EC" sz="2000" dirty="0" err="1"/>
              <a:t>hora,doctor</a:t>
            </a:r>
            <a:r>
              <a:rPr lang="es-EC" sz="2000" dirty="0"/>
              <a:t>)</a:t>
            </a:r>
          </a:p>
          <a:p>
            <a:pPr>
              <a:buNone/>
            </a:pPr>
            <a:r>
              <a:rPr lang="es-EC" sz="2000" dirty="0"/>
              <a:t> 	R(</a:t>
            </a:r>
            <a:r>
              <a:rPr lang="es-EC" sz="2000" u="sng" dirty="0" err="1"/>
              <a:t>NumPac</a:t>
            </a:r>
            <a:r>
              <a:rPr lang="es-EC" sz="2000" dirty="0" err="1"/>
              <a:t>,nombre</a:t>
            </a:r>
            <a:r>
              <a:rPr lang="es-EC" sz="2000" dirty="0"/>
              <a:t>)</a:t>
            </a:r>
          </a:p>
          <a:p>
            <a:r>
              <a:rPr lang="es-EC" sz="2000" dirty="0"/>
              <a:t>3FN: elimina dependencias transitivas</a:t>
            </a:r>
          </a:p>
          <a:p>
            <a:pPr>
              <a:buNone/>
            </a:pPr>
            <a:r>
              <a:rPr lang="es-EC" sz="2000" dirty="0"/>
              <a:t>	nada</a:t>
            </a:r>
          </a:p>
          <a:p>
            <a:r>
              <a:rPr lang="es-EC" sz="2000" dirty="0"/>
              <a:t>BCNF: cada determinante es una clave candidata</a:t>
            </a:r>
          </a:p>
          <a:p>
            <a:pPr>
              <a:buNone/>
            </a:pPr>
            <a:r>
              <a:rPr lang="es-EC" sz="2000" dirty="0"/>
              <a:t>	 </a:t>
            </a:r>
            <a:r>
              <a:rPr lang="es-EC" sz="2000" dirty="0" err="1"/>
              <a:t>NumPac</a:t>
            </a:r>
            <a:r>
              <a:rPr lang="es-EC" sz="2000" dirty="0"/>
              <a:t>-&gt; Nombre    (no esta en DB)</a:t>
            </a:r>
            <a:br>
              <a:rPr lang="es-EC" sz="2000" dirty="0"/>
            </a:br>
            <a:r>
              <a:rPr lang="es-EC" sz="2000" dirty="0"/>
              <a:t> </a:t>
            </a:r>
            <a:r>
              <a:rPr lang="es-EC" sz="2000" dirty="0" err="1"/>
              <a:t>NumPac,idCita</a:t>
            </a:r>
            <a:r>
              <a:rPr lang="es-EC" sz="2000" dirty="0"/>
              <a:t> -&gt; </a:t>
            </a:r>
            <a:r>
              <a:rPr lang="es-EC" sz="2000" dirty="0" err="1"/>
              <a:t>hora,doctor</a:t>
            </a:r>
            <a:r>
              <a:rPr lang="es-EC" sz="2000" dirty="0"/>
              <a:t>  (cumple)</a:t>
            </a:r>
          </a:p>
          <a:p>
            <a:pPr>
              <a:buNone/>
            </a:pPr>
            <a:r>
              <a:rPr lang="es-EC" sz="2000" dirty="0"/>
              <a:t> 	hora -&gt; </a:t>
            </a:r>
            <a:r>
              <a:rPr lang="es-EC" sz="2000" dirty="0" err="1"/>
              <a:t>idCita</a:t>
            </a:r>
            <a:r>
              <a:rPr lang="es-EC" sz="2000" dirty="0"/>
              <a:t>    (no es clave candidata, no esta en BCNF)</a:t>
            </a:r>
          </a:p>
          <a:p>
            <a:pPr>
              <a:buNone/>
            </a:pPr>
            <a:r>
              <a:rPr lang="es-EC" sz="2000" dirty="0"/>
              <a:t>	BCNF:	DB(</a:t>
            </a:r>
            <a:r>
              <a:rPr lang="es-EC" sz="2000" u="sng" dirty="0" err="1"/>
              <a:t>NumPac</a:t>
            </a:r>
            <a:r>
              <a:rPr lang="es-EC" sz="2000" dirty="0"/>
              <a:t>, </a:t>
            </a:r>
            <a:r>
              <a:rPr lang="es-EC" sz="2000" u="sng" dirty="0" err="1"/>
              <a:t>idCita</a:t>
            </a:r>
            <a:r>
              <a:rPr lang="es-EC" sz="2000" dirty="0"/>
              <a:t>, doctor)</a:t>
            </a:r>
          </a:p>
          <a:p>
            <a:pPr>
              <a:buNone/>
            </a:pPr>
            <a:r>
              <a:rPr lang="es-EC" sz="2000" dirty="0"/>
              <a:t> 			R1(</a:t>
            </a:r>
            <a:r>
              <a:rPr lang="es-EC" sz="2000" u="sng" dirty="0" err="1"/>
              <a:t>NumPac</a:t>
            </a:r>
            <a:r>
              <a:rPr lang="es-EC" sz="2000" dirty="0" err="1"/>
              <a:t>,nombre</a:t>
            </a:r>
            <a:r>
              <a:rPr lang="es-EC" sz="2000" dirty="0"/>
              <a:t>)</a:t>
            </a:r>
          </a:p>
          <a:p>
            <a:pPr>
              <a:buNone/>
            </a:pPr>
            <a:r>
              <a:rPr lang="es-EC" sz="2000" dirty="0"/>
              <a:t>			R2(</a:t>
            </a:r>
            <a:r>
              <a:rPr lang="es-EC" sz="2000" u="sng" dirty="0" err="1"/>
              <a:t>hora</a:t>
            </a:r>
            <a:r>
              <a:rPr lang="es-EC" sz="2000" dirty="0" err="1"/>
              <a:t>,idCita</a:t>
            </a:r>
            <a:r>
              <a:rPr lang="es-EC" sz="2000" dirty="0"/>
              <a:t>)</a:t>
            </a:r>
          </a:p>
          <a:p>
            <a:pPr>
              <a:buNone/>
            </a:pPr>
            <a:endParaRPr lang="es-EC"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71414"/>
            <a:ext cx="8229600" cy="1143000"/>
          </a:xfrm>
        </p:spPr>
        <p:txBody>
          <a:bodyPr/>
          <a:lstStyle/>
          <a:p>
            <a:r>
              <a:rPr lang="es-EC" dirty="0" err="1"/>
              <a:t>Boyce-Codd</a:t>
            </a:r>
            <a:r>
              <a:rPr lang="es-EC" dirty="0"/>
              <a:t> Normal </a:t>
            </a:r>
            <a:r>
              <a:rPr lang="es-EC" dirty="0" err="1"/>
              <a:t>Form</a:t>
            </a:r>
            <a:endParaRPr lang="es-EC" dirty="0"/>
          </a:p>
        </p:txBody>
      </p:sp>
      <p:sp>
        <p:nvSpPr>
          <p:cNvPr id="3" name="2 Marcador de contenido"/>
          <p:cNvSpPr>
            <a:spLocks noGrp="1"/>
          </p:cNvSpPr>
          <p:nvPr>
            <p:ph idx="1"/>
          </p:nvPr>
        </p:nvSpPr>
        <p:spPr>
          <a:xfrm>
            <a:off x="457200" y="914400"/>
            <a:ext cx="8229600" cy="5943600"/>
          </a:xfrm>
        </p:spPr>
        <p:txBody>
          <a:bodyPr>
            <a:normAutofit/>
          </a:bodyPr>
          <a:lstStyle/>
          <a:p>
            <a:r>
              <a:rPr lang="es-EC" sz="2000" dirty="0"/>
              <a:t>1FN: eliminar grupos repetidos</a:t>
            </a:r>
          </a:p>
          <a:p>
            <a:pPr>
              <a:buNone/>
            </a:pPr>
            <a:r>
              <a:rPr lang="es-EC" sz="2000" dirty="0"/>
              <a:t>	DB(</a:t>
            </a:r>
            <a:r>
              <a:rPr lang="es-EC" sz="2000" u="sng" dirty="0" err="1"/>
              <a:t>NumPac</a:t>
            </a:r>
            <a:r>
              <a:rPr lang="es-EC" sz="2000" dirty="0" err="1"/>
              <a:t>,nombre</a:t>
            </a:r>
            <a:r>
              <a:rPr lang="es-EC" sz="2000" dirty="0"/>
              <a:t>, </a:t>
            </a:r>
            <a:r>
              <a:rPr lang="es-EC" sz="2000" dirty="0" err="1"/>
              <a:t>idCita</a:t>
            </a:r>
            <a:r>
              <a:rPr lang="es-EC" sz="2000" dirty="0"/>
              <a:t>, </a:t>
            </a:r>
            <a:r>
              <a:rPr lang="es-EC" sz="2000" u="sng" dirty="0" err="1"/>
              <a:t>hora</a:t>
            </a:r>
            <a:r>
              <a:rPr lang="es-EC" sz="2000" dirty="0" err="1"/>
              <a:t>,doctor</a:t>
            </a:r>
            <a:r>
              <a:rPr lang="es-EC" sz="2000" dirty="0"/>
              <a:t>)</a:t>
            </a:r>
          </a:p>
          <a:p>
            <a:pPr>
              <a:buNone/>
            </a:pPr>
            <a:r>
              <a:rPr lang="es-EC" sz="2000" dirty="0"/>
              <a:t>	</a:t>
            </a:r>
            <a:r>
              <a:rPr lang="es-EC" sz="2000" dirty="0" err="1"/>
              <a:t>NumPac</a:t>
            </a:r>
            <a:r>
              <a:rPr lang="es-EC" sz="2000" dirty="0"/>
              <a:t>-&gt; Nombre</a:t>
            </a:r>
            <a:br>
              <a:rPr lang="es-EC" sz="2000" dirty="0"/>
            </a:br>
            <a:r>
              <a:rPr lang="es-EC" sz="2000" dirty="0" err="1"/>
              <a:t>NumPac,idCita</a:t>
            </a:r>
            <a:r>
              <a:rPr lang="es-EC" sz="2000" dirty="0"/>
              <a:t> -&gt; </a:t>
            </a:r>
            <a:r>
              <a:rPr lang="es-EC" sz="2000" dirty="0" err="1"/>
              <a:t>hora,doctor</a:t>
            </a:r>
            <a:br>
              <a:rPr lang="es-EC" sz="2000" dirty="0"/>
            </a:br>
            <a:r>
              <a:rPr lang="es-EC" sz="2000" dirty="0"/>
              <a:t>hora -&gt; </a:t>
            </a:r>
            <a:r>
              <a:rPr lang="es-EC" sz="2000" dirty="0" err="1"/>
              <a:t>idCita</a:t>
            </a:r>
            <a:endParaRPr lang="es-EC" sz="2000" dirty="0"/>
          </a:p>
          <a:p>
            <a:r>
              <a:rPr lang="es-EC" sz="2000" dirty="0"/>
              <a:t>2FN: eliminar dependencias parciales de clave</a:t>
            </a:r>
          </a:p>
          <a:p>
            <a:pPr>
              <a:buNone/>
            </a:pPr>
            <a:r>
              <a:rPr lang="es-EC" sz="2000" dirty="0"/>
              <a:t>	DB(</a:t>
            </a:r>
            <a:r>
              <a:rPr lang="es-EC" sz="2000" u="sng" dirty="0" err="1"/>
              <a:t>NumPac</a:t>
            </a:r>
            <a:r>
              <a:rPr lang="es-EC" sz="2000" dirty="0"/>
              <a:t>, </a:t>
            </a:r>
            <a:r>
              <a:rPr lang="es-EC" sz="2000" u="sng" dirty="0" err="1"/>
              <a:t>hora</a:t>
            </a:r>
            <a:r>
              <a:rPr lang="es-EC" sz="2000" dirty="0" err="1"/>
              <a:t>,doctor</a:t>
            </a:r>
            <a:r>
              <a:rPr lang="es-EC" sz="2000" dirty="0"/>
              <a:t>)</a:t>
            </a:r>
          </a:p>
          <a:p>
            <a:pPr>
              <a:buNone/>
            </a:pPr>
            <a:r>
              <a:rPr lang="es-EC" sz="2000" dirty="0"/>
              <a:t> 	R1(</a:t>
            </a:r>
            <a:r>
              <a:rPr lang="es-EC" sz="2000" u="sng" dirty="0" err="1"/>
              <a:t>NumPac</a:t>
            </a:r>
            <a:r>
              <a:rPr lang="es-EC" sz="2000" dirty="0" err="1"/>
              <a:t>,nombre</a:t>
            </a:r>
            <a:r>
              <a:rPr lang="es-EC" sz="2000" dirty="0"/>
              <a:t>)</a:t>
            </a:r>
          </a:p>
          <a:p>
            <a:pPr>
              <a:buNone/>
            </a:pPr>
            <a:r>
              <a:rPr lang="es-EC" sz="2000" dirty="0"/>
              <a:t>	R2(</a:t>
            </a:r>
            <a:r>
              <a:rPr lang="es-EC" sz="2000" u="sng" dirty="0" err="1"/>
              <a:t>hora</a:t>
            </a:r>
            <a:r>
              <a:rPr lang="es-EC" sz="2000" dirty="0" err="1"/>
              <a:t>,idCita</a:t>
            </a:r>
            <a:r>
              <a:rPr lang="es-EC" sz="2000" dirty="0"/>
              <a:t>)</a:t>
            </a:r>
          </a:p>
          <a:p>
            <a:r>
              <a:rPr lang="es-EC" sz="2000" dirty="0"/>
              <a:t>3FN: elimina dependencias transitivas</a:t>
            </a:r>
          </a:p>
          <a:p>
            <a:pPr>
              <a:buNone/>
            </a:pPr>
            <a:r>
              <a:rPr lang="es-EC" sz="2000" dirty="0"/>
              <a:t>	nada</a:t>
            </a:r>
          </a:p>
          <a:p>
            <a:r>
              <a:rPr lang="es-EC" sz="2000" dirty="0"/>
              <a:t>BCNF: cada determinante es una clave candidata</a:t>
            </a:r>
          </a:p>
          <a:p>
            <a:pPr>
              <a:buNone/>
            </a:pPr>
            <a:r>
              <a:rPr lang="es-EC" sz="2000" dirty="0"/>
              <a:t>	nada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err="1"/>
              <a:t>Boyce-Codd</a:t>
            </a:r>
            <a:r>
              <a:rPr lang="es-EC" dirty="0"/>
              <a:t> Normal </a:t>
            </a:r>
            <a:r>
              <a:rPr lang="es-EC" dirty="0" err="1"/>
              <a:t>Form</a:t>
            </a:r>
            <a:endParaRPr lang="es-EC" dirty="0"/>
          </a:p>
        </p:txBody>
      </p:sp>
      <p:sp>
        <p:nvSpPr>
          <p:cNvPr id="3" name="Content Placeholder 2"/>
          <p:cNvSpPr>
            <a:spLocks noGrp="1"/>
          </p:cNvSpPr>
          <p:nvPr>
            <p:ph idx="1"/>
          </p:nvPr>
        </p:nvSpPr>
        <p:spPr/>
        <p:txBody>
          <a:bodyPr>
            <a:normAutofit fontScale="92500" lnSpcReduction="10000"/>
          </a:bodyPr>
          <a:lstStyle/>
          <a:p>
            <a:r>
              <a:rPr lang="es-EC" dirty="0"/>
              <a:t>FNBC es más fuerte que la 3FN, las relaciones que se encuentran en 3FN no se encuentran necesariamente en FNBC</a:t>
            </a:r>
          </a:p>
          <a:p>
            <a:r>
              <a:rPr lang="es-EC" dirty="0"/>
              <a:t>FNBC es necesaria en determinadas situaciones para comprender por completo el modelo de datos</a:t>
            </a:r>
          </a:p>
          <a:p>
            <a:r>
              <a:rPr lang="es-EC" dirty="0"/>
              <a:t>hay varias rutas a seguir para llegar al mismo conjunto de relaciones en FNBC</a:t>
            </a:r>
          </a:p>
          <a:p>
            <a:r>
              <a:rPr lang="es-EC" dirty="0"/>
              <a:t>Desafortunadamente no hay reglas en cuanto a qué ruta será la más fácil de tomar.</a:t>
            </a:r>
          </a:p>
          <a:p>
            <a:endParaRPr lang="es-EC"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dirty="0"/>
              <a:t>Cuarta forma normal</a:t>
            </a:r>
          </a:p>
        </p:txBody>
      </p:sp>
      <p:sp>
        <p:nvSpPr>
          <p:cNvPr id="3" name="2 Marcador de contenido"/>
          <p:cNvSpPr>
            <a:spLocks noGrp="1"/>
          </p:cNvSpPr>
          <p:nvPr>
            <p:ph idx="1"/>
          </p:nvPr>
        </p:nvSpPr>
        <p:spPr/>
        <p:txBody>
          <a:bodyPr>
            <a:normAutofit fontScale="77500" lnSpcReduction="20000"/>
          </a:bodyPr>
          <a:lstStyle/>
          <a:p>
            <a:r>
              <a:rPr lang="es-EC" dirty="0"/>
              <a:t>Una tabla está en 4FN si y solo si :</a:t>
            </a:r>
          </a:p>
          <a:p>
            <a:pPr lvl="1"/>
            <a:r>
              <a:rPr lang="es-EC" dirty="0"/>
              <a:t>Está en BCNF</a:t>
            </a:r>
          </a:p>
          <a:p>
            <a:pPr lvl="1"/>
            <a:r>
              <a:rPr lang="es-EC" dirty="0"/>
              <a:t>No tiene dependencias </a:t>
            </a:r>
            <a:r>
              <a:rPr lang="es-EC" dirty="0" err="1"/>
              <a:t>multivalores</a:t>
            </a:r>
            <a:endParaRPr lang="es-EC" dirty="0"/>
          </a:p>
          <a:p>
            <a:r>
              <a:rPr lang="es-EC" dirty="0"/>
              <a:t>Una tabla con una dependencia </a:t>
            </a:r>
            <a:r>
              <a:rPr lang="es-EC" dirty="0" err="1"/>
              <a:t>multivalor</a:t>
            </a:r>
            <a:r>
              <a:rPr lang="es-EC" dirty="0"/>
              <a:t> es una donde la existencia de dos o más relaciones independientes muchos a muchos  causa redundancia; y es esta redundancia la que es suprimida por la cuarta forma normal.</a:t>
            </a:r>
          </a:p>
          <a:p>
            <a:r>
              <a:rPr lang="es-EC" dirty="0"/>
              <a:t>Una dependencia de varios valores se da cuando hay tres atributos (por ejemplo A, B y C) en una relación, y para cada valor de A hay un grupo bien definido de valores B y un grupo bien definido de valores de C. Sin embargo , el conjunto de valores de B es independiente del conjunto C y viceversa.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Cuarta forma normal</a:t>
            </a:r>
          </a:p>
        </p:txBody>
      </p:sp>
      <p:sp>
        <p:nvSpPr>
          <p:cNvPr id="6" name="Content Placeholder 5"/>
          <p:cNvSpPr>
            <a:spLocks noGrp="1"/>
          </p:cNvSpPr>
          <p:nvPr>
            <p:ph idx="1"/>
          </p:nvPr>
        </p:nvSpPr>
        <p:spPr>
          <a:xfrm>
            <a:off x="457200" y="4038600"/>
            <a:ext cx="8229600" cy="2087563"/>
          </a:xfrm>
        </p:spPr>
        <p:txBody>
          <a:bodyPr>
            <a:normAutofit fontScale="92500" lnSpcReduction="20000"/>
          </a:bodyPr>
          <a:lstStyle/>
          <a:p>
            <a:r>
              <a:rPr lang="es-ES" dirty="0"/>
              <a:t>Información almacenada sobre estrellas de cine. Incluye detalles de sus diversas direcciones y las películas que protagonizó:</a:t>
            </a:r>
            <a:br>
              <a:rPr lang="es-ES" dirty="0"/>
            </a:br>
            <a:r>
              <a:rPr lang="es-ES" dirty="0"/>
              <a:t>Nombre - &gt; Dirección</a:t>
            </a:r>
            <a:br>
              <a:rPr lang="es-ES" dirty="0"/>
            </a:br>
            <a:r>
              <a:rPr lang="es-ES" dirty="0"/>
              <a:t>Nombre - &gt; Película</a:t>
            </a:r>
            <a:endParaRPr lang="es-EC" dirty="0"/>
          </a:p>
        </p:txBody>
      </p:sp>
      <p:graphicFrame>
        <p:nvGraphicFramePr>
          <p:cNvPr id="7" name="Group 311"/>
          <p:cNvGraphicFramePr>
            <a:graphicFrameLocks/>
          </p:cNvGraphicFramePr>
          <p:nvPr/>
        </p:nvGraphicFramePr>
        <p:xfrm>
          <a:off x="1371600" y="1219200"/>
          <a:ext cx="6264275" cy="2233615"/>
        </p:xfrm>
        <a:graphic>
          <a:graphicData uri="http://schemas.openxmlformats.org/drawingml/2006/table">
            <a:tbl>
              <a:tblPr/>
              <a:tblGrid>
                <a:gridCol w="1006475">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1509713">
                  <a:extLst>
                    <a:ext uri="{9D8B030D-6E8A-4147-A177-3AD203B41FA5}">
                      <a16:colId xmlns:a16="http://schemas.microsoft.com/office/drawing/2014/main" val="20002"/>
                    </a:ext>
                  </a:extLst>
                </a:gridCol>
                <a:gridCol w="1798637">
                  <a:extLst>
                    <a:ext uri="{9D8B030D-6E8A-4147-A177-3AD203B41FA5}">
                      <a16:colId xmlns:a16="http://schemas.microsoft.com/office/drawing/2014/main" val="20003"/>
                    </a:ext>
                  </a:extLst>
                </a:gridCol>
                <a:gridCol w="796925">
                  <a:extLst>
                    <a:ext uri="{9D8B030D-6E8A-4147-A177-3AD203B41FA5}">
                      <a16:colId xmlns:a16="http://schemas.microsoft.com/office/drawing/2014/main" val="20004"/>
                    </a:ext>
                  </a:extLst>
                </a:gridCol>
              </a:tblGrid>
              <a:tr h="2746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Nombre</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Calle</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Times New Roman" pitchFamily="18" charset="0"/>
                        </a:rPr>
                        <a:t>Ciudad</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Titulo</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Año</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87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123 Maple St.</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Hollywood</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Star Wars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1977</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36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5 Locust Ln.</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Malibu</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Star Wars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1977</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123 Maple St.</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Hollywood</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Empire Strikes Back</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1980</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36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5 Locust Ln.</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Malibu</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Empire Strikes Back</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1980</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7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123 Maple St.</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Hollywood</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Return of the Jedi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1983</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36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 C. Fisher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5 Locust Ln.</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Malibu</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Return of the Jedi </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1983</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4"/>
            <a:ext cx="8229600" cy="1143000"/>
          </a:xfrm>
        </p:spPr>
        <p:txBody>
          <a:bodyPr/>
          <a:lstStyle/>
          <a:p>
            <a:r>
              <a:rPr lang="es-EC" dirty="0"/>
              <a:t>Cuarta forma normal</a:t>
            </a:r>
          </a:p>
        </p:txBody>
      </p:sp>
      <p:sp>
        <p:nvSpPr>
          <p:cNvPr id="3" name="2 Marcador de contenido"/>
          <p:cNvSpPr>
            <a:spLocks noGrp="1"/>
          </p:cNvSpPr>
          <p:nvPr>
            <p:ph idx="1"/>
          </p:nvPr>
        </p:nvSpPr>
        <p:spPr>
          <a:xfrm>
            <a:off x="457200" y="1214422"/>
            <a:ext cx="8305800" cy="5214974"/>
          </a:xfrm>
        </p:spPr>
        <p:txBody>
          <a:bodyPr>
            <a:normAutofit/>
          </a:bodyPr>
          <a:lstStyle/>
          <a:p>
            <a:r>
              <a:rPr lang="es-EC" dirty="0" err="1"/>
              <a:t>Carrie</a:t>
            </a:r>
            <a:r>
              <a:rPr lang="es-EC" dirty="0"/>
              <a:t> Fisher tiene dos direcciones y ha estado en tres películas.</a:t>
            </a:r>
          </a:p>
          <a:p>
            <a:r>
              <a:rPr lang="es-EC" dirty="0"/>
              <a:t>La única manera de expresar el hecho de que las direcciones y las películas son independientes es que cada dirección debe aparecer con cada película pero esto ha introducido la redundancia</a:t>
            </a:r>
          </a:p>
          <a:p>
            <a:r>
              <a:rPr lang="es-EC" dirty="0"/>
              <a:t>No hay violación FNBC</a:t>
            </a:r>
          </a:p>
          <a:p>
            <a:pPr lvl="1"/>
            <a:r>
              <a:rPr lang="es-EC" dirty="0"/>
              <a:t>Pero la relación no está en 4FN</a:t>
            </a:r>
          </a:p>
          <a:p>
            <a:pPr lvl="1"/>
            <a:r>
              <a:rPr lang="es-EC" dirty="0"/>
              <a:t>Tenemos que dividirla en dos tablas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s-EC"/>
          </a:p>
        </p:txBody>
      </p:sp>
      <p:graphicFrame>
        <p:nvGraphicFramePr>
          <p:cNvPr id="4" name="Group 182"/>
          <p:cNvGraphicFramePr>
            <a:graphicFrameLocks/>
          </p:cNvGraphicFramePr>
          <p:nvPr>
            <p:extLst>
              <p:ext uri="{D42A27DB-BD31-4B8C-83A1-F6EECF244321}">
                <p14:modId xmlns:p14="http://schemas.microsoft.com/office/powerpoint/2010/main" val="2643273507"/>
              </p:ext>
            </p:extLst>
          </p:nvPr>
        </p:nvGraphicFramePr>
        <p:xfrm>
          <a:off x="914400" y="2514600"/>
          <a:ext cx="3430587" cy="2447926"/>
        </p:xfrm>
        <a:graphic>
          <a:graphicData uri="http://schemas.openxmlformats.org/drawingml/2006/table">
            <a:tbl>
              <a:tblPr/>
              <a:tblGrid>
                <a:gridCol w="995362">
                  <a:extLst>
                    <a:ext uri="{9D8B030D-6E8A-4147-A177-3AD203B41FA5}">
                      <a16:colId xmlns:a16="http://schemas.microsoft.com/office/drawing/2014/main" val="20000"/>
                    </a:ext>
                  </a:extLst>
                </a:gridCol>
                <a:gridCol w="1439863">
                  <a:extLst>
                    <a:ext uri="{9D8B030D-6E8A-4147-A177-3AD203B41FA5}">
                      <a16:colId xmlns:a16="http://schemas.microsoft.com/office/drawing/2014/main" val="20001"/>
                    </a:ext>
                  </a:extLst>
                </a:gridCol>
                <a:gridCol w="995362">
                  <a:extLst>
                    <a:ext uri="{9D8B030D-6E8A-4147-A177-3AD203B41FA5}">
                      <a16:colId xmlns:a16="http://schemas.microsoft.com/office/drawing/2014/main" val="20002"/>
                    </a:ext>
                  </a:extLst>
                </a:gridCol>
              </a:tblGrid>
              <a:tr h="8175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Nombre</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Calle</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Times New Roman" pitchFamily="18" charset="0"/>
                          <a:cs typeface="Times New Roman" pitchFamily="18" charset="0"/>
                        </a:rPr>
                        <a:t>Ciudad</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59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 Fisher</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123 Maple St.</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Hollywood</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43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 Fisher</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5 Locust Ln.</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Malibu</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 name="Group 164"/>
          <p:cNvGraphicFramePr>
            <a:graphicFrameLocks/>
          </p:cNvGraphicFramePr>
          <p:nvPr/>
        </p:nvGraphicFramePr>
        <p:xfrm>
          <a:off x="4946650" y="2586038"/>
          <a:ext cx="3384550" cy="1803400"/>
        </p:xfrm>
        <a:graphic>
          <a:graphicData uri="http://schemas.openxmlformats.org/drawingml/2006/table">
            <a:tbl>
              <a:tblPr/>
              <a:tblGrid>
                <a:gridCol w="800100">
                  <a:extLst>
                    <a:ext uri="{9D8B030D-6E8A-4147-A177-3AD203B41FA5}">
                      <a16:colId xmlns:a16="http://schemas.microsoft.com/office/drawing/2014/main" val="20000"/>
                    </a:ext>
                  </a:extLst>
                </a:gridCol>
                <a:gridCol w="1901825">
                  <a:extLst>
                    <a:ext uri="{9D8B030D-6E8A-4147-A177-3AD203B41FA5}">
                      <a16:colId xmlns:a16="http://schemas.microsoft.com/office/drawing/2014/main" val="20001"/>
                    </a:ext>
                  </a:extLst>
                </a:gridCol>
                <a:gridCol w="682625">
                  <a:extLst>
                    <a:ext uri="{9D8B030D-6E8A-4147-A177-3AD203B41FA5}">
                      <a16:colId xmlns:a16="http://schemas.microsoft.com/office/drawing/2014/main" val="20002"/>
                    </a:ext>
                  </a:extLst>
                </a:gridCol>
              </a:tblGrid>
              <a:tr h="450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Nombre</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Titulo</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chemeClr val="tx1"/>
                          </a:solidFill>
                          <a:effectLst/>
                          <a:latin typeface="Times New Roman" pitchFamily="18" charset="0"/>
                          <a:cs typeface="Times New Roman" pitchFamily="18" charset="0"/>
                        </a:rPr>
                        <a:t>Año</a:t>
                      </a:r>
                      <a:endParaRPr kumimoji="0" lang="en-US" sz="18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C.Fisher</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Star Wars</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1977</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0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C.Fisher</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Empire Strikes Back</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1980</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0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C.Fisher</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Return of the Jedi</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1983</a:t>
                      </a:r>
                      <a:endParaRPr kumimoji="0" lang="en-U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C" dirty="0"/>
              <a:t>Normalización Avanzada</a:t>
            </a:r>
          </a:p>
        </p:txBody>
      </p:sp>
      <p:sp>
        <p:nvSpPr>
          <p:cNvPr id="3" name="2 Subtítulo"/>
          <p:cNvSpPr>
            <a:spLocks noGrp="1"/>
          </p:cNvSpPr>
          <p:nvPr>
            <p:ph type="subTitle" idx="1"/>
          </p:nvPr>
        </p:nvSpPr>
        <p:spPr/>
        <p:txBody>
          <a:bodyPr/>
          <a:lstStyle/>
          <a:p>
            <a:endParaRPr lang="es-EC"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C" dirty="0"/>
              <a:t>Quinta Forma Normal – </a:t>
            </a:r>
            <a:br>
              <a:rPr lang="es-EC" dirty="0"/>
            </a:br>
            <a:r>
              <a:rPr lang="es-EC" dirty="0"/>
              <a:t>Project </a:t>
            </a:r>
            <a:r>
              <a:rPr lang="es-EC" dirty="0" err="1"/>
              <a:t>Join</a:t>
            </a:r>
            <a:r>
              <a:rPr lang="es-EC" dirty="0"/>
              <a:t> Normal </a:t>
            </a:r>
            <a:r>
              <a:rPr lang="es-EC" dirty="0" err="1"/>
              <a:t>Form</a:t>
            </a:r>
            <a:r>
              <a:rPr lang="es-EC" dirty="0"/>
              <a:t> - PJNF</a:t>
            </a:r>
          </a:p>
        </p:txBody>
      </p:sp>
      <p:sp>
        <p:nvSpPr>
          <p:cNvPr id="3" name="2 Marcador de contenido"/>
          <p:cNvSpPr>
            <a:spLocks noGrp="1"/>
          </p:cNvSpPr>
          <p:nvPr>
            <p:ph idx="1"/>
          </p:nvPr>
        </p:nvSpPr>
        <p:spPr>
          <a:xfrm>
            <a:off x="457200" y="1600200"/>
            <a:ext cx="8229600" cy="5257800"/>
          </a:xfrm>
        </p:spPr>
        <p:txBody>
          <a:bodyPr>
            <a:normAutofit fontScale="70000" lnSpcReduction="20000"/>
          </a:bodyPr>
          <a:lstStyle/>
          <a:p>
            <a:r>
              <a:rPr lang="es-ES" dirty="0"/>
              <a:t>5FN está diseñada para tratar con un tipo de dependencia llamada dependencia de </a:t>
            </a:r>
            <a:r>
              <a:rPr lang="es-ES" dirty="0" err="1"/>
              <a:t>join</a:t>
            </a:r>
            <a:endParaRPr lang="es-ES" dirty="0"/>
          </a:p>
          <a:p>
            <a:r>
              <a:rPr lang="es-ES" dirty="0"/>
              <a:t>Una relación que tiene una dependencia de </a:t>
            </a:r>
            <a:r>
              <a:rPr lang="es-ES" dirty="0" err="1"/>
              <a:t>join</a:t>
            </a:r>
            <a:r>
              <a:rPr lang="es-ES" dirty="0"/>
              <a:t> no puede ser descompuesta por una proyección en otras relaciones, sin lugar a resultados erróneos</a:t>
            </a:r>
            <a:endParaRPr lang="es-EC" dirty="0"/>
          </a:p>
          <a:p>
            <a:r>
              <a:rPr lang="es-EC" dirty="0"/>
              <a:t>Una tabla se dice que está en 5NF si y sólo si:</a:t>
            </a:r>
          </a:p>
          <a:p>
            <a:pPr lvl="1"/>
            <a:r>
              <a:rPr lang="es-EC" dirty="0"/>
              <a:t>Está en 4NF </a:t>
            </a:r>
          </a:p>
          <a:p>
            <a:pPr lvl="1"/>
            <a:r>
              <a:rPr lang="es-ES" dirty="0"/>
              <a:t>cada dependencia de </a:t>
            </a:r>
            <a:r>
              <a:rPr lang="es-ES" dirty="0" err="1"/>
              <a:t>join</a:t>
            </a:r>
            <a:r>
              <a:rPr lang="es-ES" dirty="0"/>
              <a:t> en ella está implicada por las claves candidatas.</a:t>
            </a:r>
            <a:endParaRPr lang="es-ES_tradnl" dirty="0"/>
          </a:p>
          <a:p>
            <a:r>
              <a:rPr lang="es-ES" dirty="0"/>
              <a:t>A veces es imposible de romper la tabla en dos tablas, que es cuando se puede utilizar las reglas de 5FN para normalizar.</a:t>
            </a:r>
          </a:p>
          <a:p>
            <a:r>
              <a:rPr lang="es-ES_tradnl" dirty="0"/>
              <a:t>Es raro encontrar 5FN después de la 4FN</a:t>
            </a:r>
          </a:p>
          <a:p>
            <a:r>
              <a:rPr lang="es-ES" dirty="0"/>
              <a:t>En general, un a tabla en 4NF siempre está en 5NF, pero a veces alguna restricción del mundo real hará que la relación no cumplan con la 5NF.</a:t>
            </a:r>
            <a:endParaRPr lang="es-ES_tradnl" dirty="0"/>
          </a:p>
          <a:p>
            <a:endParaRPr lang="es-ES_tradnl" dirty="0"/>
          </a:p>
          <a:p>
            <a:endParaRPr lang="es-EC"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C" dirty="0"/>
              <a:t>Quinta Forma Normal – </a:t>
            </a:r>
            <a:br>
              <a:rPr lang="es-EC" dirty="0"/>
            </a:br>
            <a:r>
              <a:rPr lang="es-EC" dirty="0"/>
              <a:t>Project </a:t>
            </a:r>
            <a:r>
              <a:rPr lang="es-EC" dirty="0" err="1"/>
              <a:t>Join</a:t>
            </a:r>
            <a:r>
              <a:rPr lang="es-EC" dirty="0"/>
              <a:t> Normal </a:t>
            </a:r>
            <a:r>
              <a:rPr lang="es-EC" dirty="0" err="1"/>
              <a:t>Form</a:t>
            </a:r>
            <a:r>
              <a:rPr lang="es-EC" dirty="0"/>
              <a:t> - PJNF</a:t>
            </a:r>
          </a:p>
        </p:txBody>
      </p:sp>
      <p:pic>
        <p:nvPicPr>
          <p:cNvPr id="1026" name="Picture 2"/>
          <p:cNvPicPr>
            <a:picLocks noChangeAspect="1" noChangeArrowheads="1"/>
          </p:cNvPicPr>
          <p:nvPr/>
        </p:nvPicPr>
        <p:blipFill>
          <a:blip r:embed="rId3" cstate="print"/>
          <a:srcRect/>
          <a:stretch>
            <a:fillRect/>
          </a:stretch>
        </p:blipFill>
        <p:spPr bwMode="auto">
          <a:xfrm>
            <a:off x="1309687" y="1524000"/>
            <a:ext cx="6157913" cy="51778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C" dirty="0"/>
              <a:t>Quinta Forma Normal</a:t>
            </a:r>
          </a:p>
        </p:txBody>
      </p:sp>
      <p:sp>
        <p:nvSpPr>
          <p:cNvPr id="3" name="Content Placeholder 2"/>
          <p:cNvSpPr>
            <a:spLocks noGrp="1"/>
          </p:cNvSpPr>
          <p:nvPr>
            <p:ph idx="1"/>
          </p:nvPr>
        </p:nvSpPr>
        <p:spPr/>
        <p:txBody>
          <a:bodyPr/>
          <a:lstStyle/>
          <a:p>
            <a:endParaRPr lang="es-EC" dirty="0"/>
          </a:p>
        </p:txBody>
      </p:sp>
      <p:pic>
        <p:nvPicPr>
          <p:cNvPr id="2050" name="Picture 2"/>
          <p:cNvPicPr>
            <a:picLocks noChangeAspect="1" noChangeArrowheads="1"/>
          </p:cNvPicPr>
          <p:nvPr/>
        </p:nvPicPr>
        <p:blipFill>
          <a:blip r:embed="rId3" cstate="print"/>
          <a:srcRect/>
          <a:stretch>
            <a:fillRect/>
          </a:stretch>
        </p:blipFill>
        <p:spPr bwMode="auto">
          <a:xfrm>
            <a:off x="79057" y="1524000"/>
            <a:ext cx="9064943" cy="3941279"/>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err="1"/>
              <a:t>Domain</a:t>
            </a:r>
            <a:r>
              <a:rPr lang="es-EC" dirty="0"/>
              <a:t> Key Normal </a:t>
            </a:r>
            <a:r>
              <a:rPr lang="es-EC" dirty="0" err="1"/>
              <a:t>Form</a:t>
            </a:r>
            <a:r>
              <a:rPr lang="es-EC" dirty="0"/>
              <a:t> - DKNF</a:t>
            </a:r>
          </a:p>
        </p:txBody>
      </p:sp>
      <p:sp>
        <p:nvSpPr>
          <p:cNvPr id="3" name="Content Placeholder 2"/>
          <p:cNvSpPr>
            <a:spLocks noGrp="1"/>
          </p:cNvSpPr>
          <p:nvPr>
            <p:ph idx="1"/>
          </p:nvPr>
        </p:nvSpPr>
        <p:spPr/>
        <p:txBody>
          <a:bodyPr>
            <a:normAutofit/>
          </a:bodyPr>
          <a:lstStyle/>
          <a:p>
            <a:r>
              <a:rPr lang="en-US" dirty="0"/>
              <a:t>El </a:t>
            </a:r>
            <a:r>
              <a:rPr lang="en-US" dirty="0" err="1"/>
              <a:t>objetivo</a:t>
            </a:r>
            <a:r>
              <a:rPr lang="en-US" dirty="0"/>
              <a:t> final.</a:t>
            </a:r>
            <a:endParaRPr lang="es-EC" dirty="0"/>
          </a:p>
          <a:p>
            <a:r>
              <a:rPr lang="es-EC" dirty="0"/>
              <a:t>No contiene anomalías de modificación por lo que no se necesita ninguna forma normal después de esta.</a:t>
            </a:r>
          </a:p>
          <a:p>
            <a:r>
              <a:rPr lang="es-EC" dirty="0"/>
              <a:t>Desventajas: </a:t>
            </a:r>
          </a:p>
          <a:p>
            <a:pPr lvl="1"/>
            <a:r>
              <a:rPr lang="es-EC" dirty="0"/>
              <a:t>No hay un método mecánico para llegar a DKNF</a:t>
            </a:r>
          </a:p>
          <a:p>
            <a:pPr lvl="1"/>
            <a:r>
              <a:rPr lang="en-US" dirty="0"/>
              <a:t>No se </a:t>
            </a:r>
            <a:r>
              <a:rPr lang="en-US" dirty="0" err="1"/>
              <a:t>puede</a:t>
            </a:r>
            <a:r>
              <a:rPr lang="en-US" dirty="0"/>
              <a:t> </a:t>
            </a:r>
            <a:r>
              <a:rPr lang="en-US" dirty="0" err="1"/>
              <a:t>garantizar</a:t>
            </a:r>
            <a:r>
              <a:rPr lang="en-US" dirty="0"/>
              <a:t> </a:t>
            </a:r>
            <a:r>
              <a:rPr lang="en-US" dirty="0" err="1"/>
              <a:t>que</a:t>
            </a:r>
            <a:r>
              <a:rPr lang="en-US" dirty="0"/>
              <a:t> </a:t>
            </a:r>
            <a:r>
              <a:rPr lang="en-US" dirty="0" err="1"/>
              <a:t>una</a:t>
            </a:r>
            <a:r>
              <a:rPr lang="en-US" dirty="0"/>
              <a:t> </a:t>
            </a:r>
            <a:r>
              <a:rPr lang="en-US" dirty="0" err="1"/>
              <a:t>tabla</a:t>
            </a:r>
            <a:r>
              <a:rPr lang="en-US" dirty="0"/>
              <a:t> se </a:t>
            </a:r>
            <a:r>
              <a:rPr lang="en-US" dirty="0" err="1"/>
              <a:t>puede</a:t>
            </a:r>
            <a:r>
              <a:rPr lang="en-US" dirty="0"/>
              <a:t> </a:t>
            </a:r>
            <a:r>
              <a:rPr lang="en-US" dirty="0" err="1"/>
              <a:t>convertir</a:t>
            </a:r>
            <a:r>
              <a:rPr lang="en-US" dirty="0"/>
              <a:t> a DKNF</a:t>
            </a:r>
            <a:endParaRPr lang="es-EC"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DKNF-Reglas</a:t>
            </a:r>
          </a:p>
        </p:txBody>
      </p:sp>
      <p:sp>
        <p:nvSpPr>
          <p:cNvPr id="3" name="Content Placeholder 2"/>
          <p:cNvSpPr>
            <a:spLocks noGrp="1"/>
          </p:cNvSpPr>
          <p:nvPr>
            <p:ph idx="1"/>
          </p:nvPr>
        </p:nvSpPr>
        <p:spPr/>
        <p:txBody>
          <a:bodyPr>
            <a:normAutofit/>
          </a:bodyPr>
          <a:lstStyle/>
          <a:p>
            <a:r>
              <a:rPr lang="en-US" dirty="0" err="1"/>
              <a:t>Todas</a:t>
            </a:r>
            <a:r>
              <a:rPr lang="en-US" dirty="0"/>
              <a:t> </a:t>
            </a:r>
            <a:r>
              <a:rPr lang="en-US" dirty="0" err="1"/>
              <a:t>las</a:t>
            </a:r>
            <a:r>
              <a:rPr lang="en-US" dirty="0"/>
              <a:t> </a:t>
            </a:r>
            <a:r>
              <a:rPr lang="en-US" dirty="0" err="1"/>
              <a:t>reglas</a:t>
            </a:r>
            <a:r>
              <a:rPr lang="en-US" dirty="0"/>
              <a:t> de </a:t>
            </a:r>
            <a:r>
              <a:rPr lang="en-US" dirty="0" err="1"/>
              <a:t>negocios</a:t>
            </a:r>
            <a:r>
              <a:rPr lang="en-US"/>
              <a:t> son </a:t>
            </a:r>
            <a:r>
              <a:rPr lang="en-US" dirty="0" err="1"/>
              <a:t>escritas</a:t>
            </a:r>
            <a:r>
              <a:rPr lang="en-US" dirty="0"/>
              <a:t> </a:t>
            </a:r>
            <a:r>
              <a:rPr lang="en-US" dirty="0" err="1"/>
              <a:t>explícitamente</a:t>
            </a:r>
            <a:r>
              <a:rPr lang="en-US" dirty="0"/>
              <a:t> </a:t>
            </a:r>
            <a:r>
              <a:rPr lang="en-US" dirty="0" err="1"/>
              <a:t>como</a:t>
            </a:r>
            <a:r>
              <a:rPr lang="en-US" dirty="0"/>
              <a:t> </a:t>
            </a:r>
            <a:r>
              <a:rPr lang="en-US" dirty="0" err="1"/>
              <a:t>restricciones</a:t>
            </a:r>
            <a:r>
              <a:rPr lang="en-US" dirty="0"/>
              <a:t> de </a:t>
            </a:r>
            <a:r>
              <a:rPr lang="en-US" dirty="0" err="1"/>
              <a:t>dominio</a:t>
            </a:r>
            <a:r>
              <a:rPr lang="en-US" dirty="0"/>
              <a:t> y </a:t>
            </a:r>
            <a:r>
              <a:rPr lang="en-US" dirty="0" err="1"/>
              <a:t>relaciones</a:t>
            </a:r>
            <a:r>
              <a:rPr lang="en-US" dirty="0"/>
              <a:t> de clave.</a:t>
            </a:r>
          </a:p>
          <a:p>
            <a:r>
              <a:rPr lang="en-US" dirty="0"/>
              <a:t>No hay </a:t>
            </a:r>
            <a:r>
              <a:rPr lang="en-US" dirty="0" err="1"/>
              <a:t>relaciones</a:t>
            </a:r>
            <a:r>
              <a:rPr lang="en-US" dirty="0"/>
              <a:t> </a:t>
            </a:r>
            <a:r>
              <a:rPr lang="en-US" dirty="0" err="1"/>
              <a:t>escondidas</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DKNF</a:t>
            </a:r>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s-EC" dirty="0"/>
              <a:t>Estudiantes(</a:t>
            </a:r>
            <a:r>
              <a:rPr lang="es-EC" dirty="0" err="1"/>
              <a:t>idE</a:t>
            </a:r>
            <a:r>
              <a:rPr lang="es-EC" dirty="0"/>
              <a:t>, nombre, carrera, consejero)</a:t>
            </a:r>
          </a:p>
          <a:p>
            <a:r>
              <a:rPr lang="en-US" dirty="0" err="1"/>
              <a:t>Consejero</a:t>
            </a:r>
            <a:r>
              <a:rPr lang="en-US" dirty="0"/>
              <a:t>(</a:t>
            </a:r>
            <a:r>
              <a:rPr lang="en-US" dirty="0" err="1"/>
              <a:t>idC</a:t>
            </a:r>
            <a:r>
              <a:rPr lang="en-US" dirty="0"/>
              <a:t>, </a:t>
            </a:r>
            <a:r>
              <a:rPr lang="en-US" dirty="0" err="1"/>
              <a:t>nombre</a:t>
            </a:r>
            <a:r>
              <a:rPr lang="en-US" dirty="0"/>
              <a:t>, </a:t>
            </a:r>
            <a:r>
              <a:rPr lang="en-US" dirty="0" err="1"/>
              <a:t>oficina</a:t>
            </a:r>
            <a:r>
              <a:rPr lang="en-US" dirty="0"/>
              <a:t>, </a:t>
            </a:r>
            <a:r>
              <a:rPr lang="en-US" dirty="0" err="1"/>
              <a:t>carrera</a:t>
            </a:r>
            <a:r>
              <a:rPr lang="en-US" dirty="0"/>
              <a:t>)</a:t>
            </a:r>
          </a:p>
          <a:p>
            <a:endParaRPr lang="en-US" dirty="0"/>
          </a:p>
          <a:p>
            <a:r>
              <a:rPr lang="en-US" dirty="0" err="1"/>
              <a:t>Reglas</a:t>
            </a:r>
            <a:r>
              <a:rPr lang="en-US" dirty="0"/>
              <a:t> de </a:t>
            </a:r>
            <a:r>
              <a:rPr lang="en-US" dirty="0" err="1"/>
              <a:t>Negocios</a:t>
            </a:r>
            <a:r>
              <a:rPr lang="en-US" dirty="0"/>
              <a:t>: Un </a:t>
            </a:r>
            <a:r>
              <a:rPr lang="en-US" dirty="0" err="1"/>
              <a:t>estudiante</a:t>
            </a:r>
            <a:r>
              <a:rPr lang="en-US" dirty="0"/>
              <a:t> </a:t>
            </a:r>
            <a:r>
              <a:rPr lang="en-US" dirty="0" err="1"/>
              <a:t>puede</a:t>
            </a:r>
            <a:r>
              <a:rPr lang="en-US" dirty="0"/>
              <a:t> </a:t>
            </a:r>
            <a:r>
              <a:rPr lang="en-US" dirty="0" err="1"/>
              <a:t>tener</a:t>
            </a:r>
            <a:r>
              <a:rPr lang="en-US" dirty="0"/>
              <a:t> </a:t>
            </a:r>
            <a:r>
              <a:rPr lang="en-US" dirty="0" err="1"/>
              <a:t>muchos</a:t>
            </a:r>
            <a:r>
              <a:rPr lang="en-US" dirty="0"/>
              <a:t> </a:t>
            </a:r>
            <a:r>
              <a:rPr lang="en-US" dirty="0" err="1"/>
              <a:t>consejeros</a:t>
            </a:r>
            <a:r>
              <a:rPr lang="en-US" dirty="0"/>
              <a:t>, </a:t>
            </a:r>
            <a:r>
              <a:rPr lang="en-US" dirty="0" err="1"/>
              <a:t>pero</a:t>
            </a:r>
            <a:r>
              <a:rPr lang="en-US" dirty="0"/>
              <a:t> </a:t>
            </a:r>
            <a:r>
              <a:rPr lang="en-US" dirty="0" err="1"/>
              <a:t>sólo</a:t>
            </a:r>
            <a:r>
              <a:rPr lang="en-US" dirty="0"/>
              <a:t> </a:t>
            </a:r>
            <a:r>
              <a:rPr lang="en-US" dirty="0" err="1"/>
              <a:t>uno</a:t>
            </a:r>
            <a:r>
              <a:rPr lang="en-US" dirty="0"/>
              <a:t> </a:t>
            </a:r>
            <a:r>
              <a:rPr lang="en-US" dirty="0" err="1"/>
              <a:t>para</a:t>
            </a:r>
            <a:r>
              <a:rPr lang="en-US" dirty="0"/>
              <a:t> </a:t>
            </a:r>
            <a:r>
              <a:rPr lang="en-US" dirty="0" err="1"/>
              <a:t>cada</a:t>
            </a:r>
            <a:r>
              <a:rPr lang="en-US" dirty="0"/>
              <a:t> </a:t>
            </a:r>
            <a:r>
              <a:rPr lang="en-US" dirty="0" err="1"/>
              <a:t>carrera</a:t>
            </a:r>
            <a:r>
              <a:rPr lang="en-US" dirty="0"/>
              <a:t>. </a:t>
            </a:r>
            <a:r>
              <a:rPr lang="en-US" dirty="0" err="1"/>
              <a:t>Profesores</a:t>
            </a:r>
            <a:r>
              <a:rPr lang="en-US" dirty="0"/>
              <a:t> </a:t>
            </a:r>
            <a:r>
              <a:rPr lang="en-US" dirty="0" err="1"/>
              <a:t>sólo</a:t>
            </a:r>
            <a:r>
              <a:rPr lang="en-US" dirty="0"/>
              <a:t> </a:t>
            </a:r>
            <a:r>
              <a:rPr lang="en-US" dirty="0" err="1"/>
              <a:t>pueden</a:t>
            </a:r>
            <a:r>
              <a:rPr lang="en-US" dirty="0"/>
              <a:t> </a:t>
            </a:r>
            <a:r>
              <a:rPr lang="en-US" dirty="0" err="1"/>
              <a:t>ser</a:t>
            </a:r>
            <a:r>
              <a:rPr lang="en-US" dirty="0"/>
              <a:t> </a:t>
            </a:r>
            <a:r>
              <a:rPr lang="en-US" dirty="0" err="1"/>
              <a:t>consejeros</a:t>
            </a:r>
            <a:r>
              <a:rPr lang="en-US" dirty="0"/>
              <a:t> de </a:t>
            </a:r>
            <a:r>
              <a:rPr lang="en-US" dirty="0" err="1"/>
              <a:t>su</a:t>
            </a:r>
            <a:r>
              <a:rPr lang="en-US" dirty="0"/>
              <a:t> </a:t>
            </a:r>
            <a:r>
              <a:rPr lang="en-US" dirty="0" err="1"/>
              <a:t>carrera</a:t>
            </a:r>
            <a:r>
              <a:rPr lang="en-US" dirty="0"/>
              <a:t>.</a:t>
            </a:r>
          </a:p>
          <a:p>
            <a:endParaRPr lang="en-US" dirty="0"/>
          </a:p>
          <a:p>
            <a:r>
              <a:rPr lang="en-US" dirty="0"/>
              <a:t>No </a:t>
            </a:r>
            <a:r>
              <a:rPr lang="en-US" dirty="0" err="1"/>
              <a:t>está</a:t>
            </a:r>
            <a:r>
              <a:rPr lang="en-US" dirty="0"/>
              <a:t> en DKNF: clave </a:t>
            </a:r>
            <a:r>
              <a:rPr lang="en-US" dirty="0" err="1"/>
              <a:t>primaria</a:t>
            </a:r>
            <a:r>
              <a:rPr lang="en-US" dirty="0"/>
              <a:t> y </a:t>
            </a:r>
            <a:r>
              <a:rPr lang="en-US" dirty="0" err="1"/>
              <a:t>regla</a:t>
            </a:r>
            <a:r>
              <a:rPr lang="en-US" dirty="0"/>
              <a:t> </a:t>
            </a:r>
            <a:r>
              <a:rPr lang="en-US" dirty="0" err="1"/>
              <a:t>escondida</a:t>
            </a:r>
            <a:r>
              <a:rPr lang="en-US" dirty="0"/>
              <a:t>.</a:t>
            </a:r>
            <a:endParaRPr lang="es-EC"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DKNF</a:t>
            </a:r>
          </a:p>
        </p:txBody>
      </p:sp>
      <p:sp>
        <p:nvSpPr>
          <p:cNvPr id="3" name="Content Placeholder 2"/>
          <p:cNvSpPr>
            <a:spLocks noGrp="1"/>
          </p:cNvSpPr>
          <p:nvPr>
            <p:ph idx="1"/>
          </p:nvPr>
        </p:nvSpPr>
        <p:spPr/>
        <p:txBody>
          <a:bodyPr>
            <a:normAutofit/>
          </a:bodyPr>
          <a:lstStyle/>
          <a:p>
            <a:r>
              <a:rPr lang="es-EC" dirty="0"/>
              <a:t>Estudiante(</a:t>
            </a:r>
            <a:r>
              <a:rPr lang="es-EC" u="sng" dirty="0" err="1"/>
              <a:t>idEstudiante,</a:t>
            </a:r>
            <a:r>
              <a:rPr lang="es-EC" dirty="0" err="1"/>
              <a:t>nombre</a:t>
            </a:r>
            <a:r>
              <a:rPr lang="es-EC" dirty="0"/>
              <a:t>)</a:t>
            </a:r>
          </a:p>
          <a:p>
            <a:r>
              <a:rPr lang="en-US" dirty="0" err="1"/>
              <a:t>Consejero</a:t>
            </a:r>
            <a:r>
              <a:rPr lang="en-US" dirty="0"/>
              <a:t>(</a:t>
            </a:r>
            <a:r>
              <a:rPr lang="en-US" u="sng" dirty="0" err="1"/>
              <a:t>idEstudiante</a:t>
            </a:r>
            <a:r>
              <a:rPr lang="en-US" dirty="0"/>
              <a:t>, </a:t>
            </a:r>
            <a:r>
              <a:rPr lang="en-US" u="sng" dirty="0" err="1"/>
              <a:t>carrera</a:t>
            </a:r>
            <a:r>
              <a:rPr lang="en-US" dirty="0"/>
              <a:t>, </a:t>
            </a:r>
            <a:r>
              <a:rPr lang="en-US" dirty="0" err="1"/>
              <a:t>idProfesor</a:t>
            </a:r>
            <a:r>
              <a:rPr lang="en-US" dirty="0"/>
              <a:t>)</a:t>
            </a:r>
          </a:p>
          <a:p>
            <a:r>
              <a:rPr lang="en-US" dirty="0" err="1"/>
              <a:t>Profesor</a:t>
            </a:r>
            <a:r>
              <a:rPr lang="en-US" dirty="0"/>
              <a:t>(</a:t>
            </a:r>
            <a:r>
              <a:rPr lang="en-US" u="sng" dirty="0" err="1"/>
              <a:t>idProfesor,</a:t>
            </a:r>
            <a:r>
              <a:rPr lang="en-US" dirty="0" err="1"/>
              <a:t>nombre,oficina</a:t>
            </a:r>
            <a:r>
              <a:rPr lang="en-US" dirty="0"/>
              <a:t>, </a:t>
            </a:r>
            <a:r>
              <a:rPr lang="en-US" dirty="0" err="1"/>
              <a:t>carrera</a:t>
            </a:r>
            <a:r>
              <a:rPr lang="en-US" dirty="0"/>
              <a:t>)</a:t>
            </a:r>
          </a:p>
          <a:p>
            <a:endParaRPr lang="en-US" dirty="0"/>
          </a:p>
          <a:p>
            <a:pPr marL="0" indent="0">
              <a:buNone/>
            </a:pPr>
            <a:r>
              <a:rPr lang="en-US" dirty="0"/>
              <a:t>DKNF: La clave </a:t>
            </a:r>
            <a:r>
              <a:rPr lang="en-US" dirty="0" err="1"/>
              <a:t>foránea</a:t>
            </a:r>
            <a:r>
              <a:rPr lang="en-US" dirty="0"/>
              <a:t> (</a:t>
            </a:r>
            <a:r>
              <a:rPr lang="en-US" dirty="0" err="1"/>
              <a:t>carrera</a:t>
            </a:r>
            <a:r>
              <a:rPr lang="en-US" dirty="0"/>
              <a:t>) </a:t>
            </a:r>
            <a:r>
              <a:rPr lang="en-US" dirty="0" err="1"/>
              <a:t>hace</a:t>
            </a:r>
            <a:r>
              <a:rPr lang="en-US" dirty="0"/>
              <a:t> la </a:t>
            </a:r>
            <a:r>
              <a:rPr lang="en-US" dirty="0" err="1"/>
              <a:t>regla</a:t>
            </a:r>
            <a:r>
              <a:rPr lang="en-US" dirty="0"/>
              <a:t> del </a:t>
            </a:r>
            <a:r>
              <a:rPr lang="en-US" dirty="0" err="1"/>
              <a:t>consejero</a:t>
            </a:r>
            <a:r>
              <a:rPr lang="en-US" dirty="0"/>
              <a:t> </a:t>
            </a:r>
            <a:r>
              <a:rPr lang="en-US" dirty="0" err="1"/>
              <a:t>explícita</a:t>
            </a:r>
            <a:r>
              <a:rPr lang="en-US" dirty="0"/>
              <a:t>.</a:t>
            </a:r>
            <a:endParaRPr lang="es-EC"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1550</TotalTime>
  <Words>1105</Words>
  <Application>Microsoft Macintosh PowerPoint</Application>
  <PresentationFormat>On-screen Show (4:3)</PresentationFormat>
  <Paragraphs>198</Paragraphs>
  <Slides>20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Capítulo 5</vt:lpstr>
      <vt:lpstr>Objetivos</vt:lpstr>
      <vt:lpstr>Boyce-Codd Normal Form</vt:lpstr>
      <vt:lpstr>PowerPoint Presentation</vt:lpstr>
      <vt:lpstr>Boyce-Codd Normal Form</vt:lpstr>
      <vt:lpstr>Boyce-Codd Normal Form</vt:lpstr>
      <vt:lpstr>Boyce-Codd Normal Form</vt:lpstr>
      <vt:lpstr>Boyce-Codd Normal Form</vt:lpstr>
      <vt:lpstr>Cuarta forma normal</vt:lpstr>
      <vt:lpstr>Cuarta forma normal</vt:lpstr>
      <vt:lpstr>Cuarta forma normal</vt:lpstr>
      <vt:lpstr>PowerPoint Presentation</vt:lpstr>
      <vt:lpstr>Normalización Avanzada</vt:lpstr>
      <vt:lpstr>Quinta Forma Normal –  Project Join Normal Form - PJNF</vt:lpstr>
      <vt:lpstr>Quinta Forma Normal –  Project Join Normal Form - PJNF</vt:lpstr>
      <vt:lpstr>Quinta Forma Normal</vt:lpstr>
      <vt:lpstr>Domain Key Normal Form - DKNF</vt:lpstr>
      <vt:lpstr>DKNF-Reglas</vt:lpstr>
      <vt:lpstr>DKNF</vt:lpstr>
      <vt:lpstr>DKNF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5</dc:title>
  <dc:creator>vanessa</dc:creator>
  <cp:lastModifiedBy>Vanessa Ines Cedeno Mieles</cp:lastModifiedBy>
  <cp:revision>72</cp:revision>
  <dcterms:created xsi:type="dcterms:W3CDTF">2006-08-16T00:00:00Z</dcterms:created>
  <dcterms:modified xsi:type="dcterms:W3CDTF">2019-10-23T22:47:19Z</dcterms:modified>
</cp:coreProperties>
</file>

<file path=[Content_Types].xml><?xml version="1.0" encoding="utf-8"?>
<Types xmlns="http://schemas.openxmlformats.org/package/2006/content-types">
  <Default Extension="xml" ContentType="application/xml"/>
  <Default Extension="doc" ContentType="application/msword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wmf" ContentType="image/x-wmf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Slides/notesSlide4.xml" ContentType="application/vnd.openxmlformats-officedocument.presentationml.notesSlide+xml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embeddings/oleObject7.bin" ContentType="application/vnd.openxmlformats-officedocument.oleObject"/>
  <Override PartName="/ppt/notesSlides/notesSlide7.xml" ContentType="application/vnd.openxmlformats-officedocument.presentationml.notesSlide+xml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embeddings/oleObject11.bin" ContentType="application/vnd.openxmlformats-officedocument.oleObject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2" r:id="rId5"/>
    <p:sldId id="288" r:id="rId6"/>
    <p:sldId id="274" r:id="rId7"/>
    <p:sldId id="273" r:id="rId8"/>
    <p:sldId id="277" r:id="rId9"/>
    <p:sldId id="278" r:id="rId10"/>
    <p:sldId id="279" r:id="rId11"/>
    <p:sldId id="289" r:id="rId12"/>
    <p:sldId id="259" r:id="rId13"/>
    <p:sldId id="260" r:id="rId14"/>
    <p:sldId id="280" r:id="rId15"/>
    <p:sldId id="281" r:id="rId16"/>
    <p:sldId id="282" r:id="rId17"/>
    <p:sldId id="283" r:id="rId18"/>
    <p:sldId id="284" r:id="rId19"/>
    <p:sldId id="262" r:id="rId20"/>
    <p:sldId id="270" r:id="rId21"/>
    <p:sldId id="290" r:id="rId22"/>
    <p:sldId id="271" r:id="rId23"/>
    <p:sldId id="291" r:id="rId24"/>
    <p:sldId id="285" r:id="rId25"/>
    <p:sldId id="286" r:id="rId26"/>
    <p:sldId id="287" r:id="rId27"/>
    <p:sldId id="297" r:id="rId2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2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image" Target="../media/image5.emf"/><Relationship Id="rId3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wmf"/><Relationship Id="rId1" Type="http://schemas.openxmlformats.org/officeDocument/2006/relationships/image" Target="../media/image9.emf"/><Relationship Id="rId2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4" Type="http://schemas.openxmlformats.org/officeDocument/2006/relationships/image" Target="../media/image17.emf"/><Relationship Id="rId1" Type="http://schemas.openxmlformats.org/officeDocument/2006/relationships/image" Target="../media/image14.wmf"/><Relationship Id="rId2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Relationship Id="rId2" Type="http://schemas.openxmlformats.org/officeDocument/2006/relationships/image" Target="../media/image19.emf"/><Relationship Id="rId3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4" Type="http://schemas.openxmlformats.org/officeDocument/2006/relationships/image" Target="../media/image24.emf"/><Relationship Id="rId1" Type="http://schemas.openxmlformats.org/officeDocument/2006/relationships/image" Target="../media/image21.emf"/><Relationship Id="rId2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8.wmf"/><Relationship Id="rId5" Type="http://schemas.openxmlformats.org/officeDocument/2006/relationships/image" Target="../media/image29.emf"/><Relationship Id="rId6" Type="http://schemas.openxmlformats.org/officeDocument/2006/relationships/image" Target="../media/image30.emf"/><Relationship Id="rId1" Type="http://schemas.openxmlformats.org/officeDocument/2006/relationships/image" Target="../media/image25.emf"/><Relationship Id="rId2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Relationship Id="rId2" Type="http://schemas.openxmlformats.org/officeDocument/2006/relationships/image" Target="../media/image33.emf"/><Relationship Id="rId3" Type="http://schemas.openxmlformats.org/officeDocument/2006/relationships/image" Target="../media/image34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4" Type="http://schemas.openxmlformats.org/officeDocument/2006/relationships/image" Target="../media/image38.emf"/><Relationship Id="rId1" Type="http://schemas.openxmlformats.org/officeDocument/2006/relationships/image" Target="../media/image35.emf"/><Relationship Id="rId2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Relationship Id="rId2" Type="http://schemas.openxmlformats.org/officeDocument/2006/relationships/image" Target="../media/image40.emf"/><Relationship Id="rId3" Type="http://schemas.openxmlformats.org/officeDocument/2006/relationships/image" Target="../media/image4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Relationship Id="rId2" Type="http://schemas.openxmlformats.org/officeDocument/2006/relationships/image" Target="../media/image43.emf"/><Relationship Id="rId3" Type="http://schemas.openxmlformats.org/officeDocument/2006/relationships/image" Target="../media/image4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Relationship Id="rId2" Type="http://schemas.openxmlformats.org/officeDocument/2006/relationships/image" Target="../media/image46.emf"/><Relationship Id="rId3" Type="http://schemas.openxmlformats.org/officeDocument/2006/relationships/image" Target="../media/image4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Relationship Id="rId2" Type="http://schemas.openxmlformats.org/officeDocument/2006/relationships/image" Target="../media/image49.emf"/><Relationship Id="rId3" Type="http://schemas.openxmlformats.org/officeDocument/2006/relationships/image" Target="../media/image5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4" Type="http://schemas.openxmlformats.org/officeDocument/2006/relationships/image" Target="../media/image54.emf"/><Relationship Id="rId5" Type="http://schemas.openxmlformats.org/officeDocument/2006/relationships/image" Target="../media/image55.emf"/><Relationship Id="rId6" Type="http://schemas.openxmlformats.org/officeDocument/2006/relationships/image" Target="../media/image56.emf"/><Relationship Id="rId7" Type="http://schemas.openxmlformats.org/officeDocument/2006/relationships/image" Target="../media/image57.emf"/><Relationship Id="rId1" Type="http://schemas.openxmlformats.org/officeDocument/2006/relationships/image" Target="../media/image51.emf"/><Relationship Id="rId2" Type="http://schemas.openxmlformats.org/officeDocument/2006/relationships/image" Target="../media/image5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EA800-56B6-4886-A8D3-B0C6441319D8}" type="datetimeFigureOut">
              <a:rPr lang="es-EC" smtClean="0"/>
              <a:pPr/>
              <a:t>11/6/12</a:t>
            </a:fld>
            <a:endParaRPr lang="es-EC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C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223FA-1542-4E64-80F9-AD4A12A51138}" type="slidenum">
              <a:rPr lang="es-EC" smtClean="0"/>
              <a:pPr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20495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F0FC22-FAF9-488A-B55E-FAE5D93B902E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8C6D97-8E97-4C0A-97FC-6F7906CAFAD2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19C5E4-136D-48EB-95E8-B5BDD548FA18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DAEC8A-BE40-491A-8129-A52D197FE544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F0FC22-FAF9-488A-B55E-FAE5D93B902E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1B7FBA-9BCD-4932-9C04-764D7599B14A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7F57F8-56EF-4422-82EB-0C530930513A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EBCB4-7C3A-448C-BF94-4DAC7458397A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05DBC1-00E1-4778-A163-32478F69DFEC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840633-70C5-4A27-A762-75A4C6697CCE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8FF45B-0C8A-410F-8DEC-C90FB8EDF34A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F0FC22-FAF9-488A-B55E-FAE5D93B902E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CE5DA7-04C1-42BC-A19E-41FEA088E7DD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F9B013-2DDF-41E0-A499-F8261BA16D81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401CFB-952A-4F93-A3C8-4F4418AEC573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C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049444-413B-4EB3-9F8E-792BDB576754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endParaRPr lang="en-US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12745D-8A46-462C-82A1-5A51693AD2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11/6/12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Microsoft_Word_97_-_2004_Document1.doc"/><Relationship Id="rId5" Type="http://schemas.openxmlformats.org/officeDocument/2006/relationships/image" Target="../media/image1.emf"/><Relationship Id="rId6" Type="http://schemas.openxmlformats.org/officeDocument/2006/relationships/oleObject" Target="../embeddings/Microsoft_Word_97_-_2004_Document2.doc"/><Relationship Id="rId7" Type="http://schemas.openxmlformats.org/officeDocument/2006/relationships/image" Target="../media/image2.emf"/><Relationship Id="rId8" Type="http://schemas.openxmlformats.org/officeDocument/2006/relationships/oleObject" Target="../embeddings/Microsoft_Word_97_-_2004_Document3.doc"/><Relationship Id="rId9" Type="http://schemas.openxmlformats.org/officeDocument/2006/relationships/image" Target="../media/image3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Microsoft_Word_97_-_2004_Document4.doc"/><Relationship Id="rId5" Type="http://schemas.openxmlformats.org/officeDocument/2006/relationships/image" Target="../media/image4.emf"/><Relationship Id="rId6" Type="http://schemas.openxmlformats.org/officeDocument/2006/relationships/oleObject" Target="../embeddings/Microsoft_Word_97_-_2004_Document5.doc"/><Relationship Id="rId7" Type="http://schemas.openxmlformats.org/officeDocument/2006/relationships/image" Target="../media/image5.emf"/><Relationship Id="rId8" Type="http://schemas.openxmlformats.org/officeDocument/2006/relationships/oleObject" Target="../embeddings/Microsoft_Word_97_-_2004_Document6.doc"/><Relationship Id="rId9" Type="http://schemas.openxmlformats.org/officeDocument/2006/relationships/image" Target="../media/image6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2.emf"/><Relationship Id="rId12" Type="http://schemas.openxmlformats.org/officeDocument/2006/relationships/oleObject" Target="../embeddings/oleObject4.bin"/><Relationship Id="rId13" Type="http://schemas.openxmlformats.org/officeDocument/2006/relationships/image" Target="../media/image13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Microsoft_Word_97_-_2004_Document7.doc"/><Relationship Id="rId5" Type="http://schemas.openxmlformats.org/officeDocument/2006/relationships/image" Target="../media/image9.e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10.wmf"/><Relationship Id="rId8" Type="http://schemas.openxmlformats.org/officeDocument/2006/relationships/oleObject" Target="../embeddings/Microsoft_Word_97_-_2004_Document8.doc"/><Relationship Id="rId9" Type="http://schemas.openxmlformats.org/officeDocument/2006/relationships/image" Target="../media/image11.emf"/><Relationship Id="rId10" Type="http://schemas.openxmlformats.org/officeDocument/2006/relationships/oleObject" Target="../embeddings/Microsoft_Word_97_-_2004_Document9.doc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4.wmf"/><Relationship Id="rId5" Type="http://schemas.openxmlformats.org/officeDocument/2006/relationships/oleObject" Target="../embeddings/Microsoft_Word_97_-_2004_Document10.doc"/><Relationship Id="rId6" Type="http://schemas.openxmlformats.org/officeDocument/2006/relationships/image" Target="../media/image15.emf"/><Relationship Id="rId7" Type="http://schemas.openxmlformats.org/officeDocument/2006/relationships/oleObject" Target="../embeddings/oleObject6.bin"/><Relationship Id="rId8" Type="http://schemas.openxmlformats.org/officeDocument/2006/relationships/image" Target="../media/image16.wmf"/><Relationship Id="rId9" Type="http://schemas.openxmlformats.org/officeDocument/2006/relationships/oleObject" Target="../embeddings/Microsoft_Word_97_-_2004_Document11.doc"/><Relationship Id="rId10" Type="http://schemas.openxmlformats.org/officeDocument/2006/relationships/image" Target="../media/image17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Microsoft_Word_97_-_2004_Document12.doc"/><Relationship Id="rId5" Type="http://schemas.openxmlformats.org/officeDocument/2006/relationships/image" Target="../media/image18.emf"/><Relationship Id="rId6" Type="http://schemas.openxmlformats.org/officeDocument/2006/relationships/oleObject" Target="../embeddings/Microsoft_Word_97_-_2004_Document13.doc"/><Relationship Id="rId7" Type="http://schemas.openxmlformats.org/officeDocument/2006/relationships/image" Target="../media/image19.emf"/><Relationship Id="rId8" Type="http://schemas.openxmlformats.org/officeDocument/2006/relationships/oleObject" Target="../embeddings/Microsoft_Word_97_-_2004_Document14.doc"/><Relationship Id="rId9" Type="http://schemas.openxmlformats.org/officeDocument/2006/relationships/image" Target="../media/image20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Microsoft_Word_97_-_2004_Document15.doc"/><Relationship Id="rId5" Type="http://schemas.openxmlformats.org/officeDocument/2006/relationships/image" Target="../media/image21.emf"/><Relationship Id="rId6" Type="http://schemas.openxmlformats.org/officeDocument/2006/relationships/oleObject" Target="../embeddings/oleObject7.bin"/><Relationship Id="rId7" Type="http://schemas.openxmlformats.org/officeDocument/2006/relationships/image" Target="../media/image22.wmf"/><Relationship Id="rId8" Type="http://schemas.openxmlformats.org/officeDocument/2006/relationships/oleObject" Target="../embeddings/Microsoft_Word_97_-_2004_Document16.doc"/><Relationship Id="rId9" Type="http://schemas.openxmlformats.org/officeDocument/2006/relationships/image" Target="../media/image23.emf"/><Relationship Id="rId10" Type="http://schemas.openxmlformats.org/officeDocument/2006/relationships/oleObject" Target="../embeddings/Microsoft_Word_97_-_2004_Document17.doc"/><Relationship Id="rId11" Type="http://schemas.openxmlformats.org/officeDocument/2006/relationships/image" Target="../media/image24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8.wmf"/><Relationship Id="rId12" Type="http://schemas.openxmlformats.org/officeDocument/2006/relationships/oleObject" Target="../embeddings/Microsoft_Word_97_-_2004_Document20.doc"/><Relationship Id="rId13" Type="http://schemas.openxmlformats.org/officeDocument/2006/relationships/image" Target="../media/image29.emf"/><Relationship Id="rId14" Type="http://schemas.openxmlformats.org/officeDocument/2006/relationships/oleObject" Target="../embeddings/Microsoft_Word_97_-_2004_Document21.doc"/><Relationship Id="rId15" Type="http://schemas.openxmlformats.org/officeDocument/2006/relationships/image" Target="../media/image30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Microsoft_Word_97_-_2004_Document18.doc"/><Relationship Id="rId5" Type="http://schemas.openxmlformats.org/officeDocument/2006/relationships/image" Target="../media/image25.emf"/><Relationship Id="rId6" Type="http://schemas.openxmlformats.org/officeDocument/2006/relationships/oleObject" Target="../embeddings/oleObject8.bin"/><Relationship Id="rId7" Type="http://schemas.openxmlformats.org/officeDocument/2006/relationships/image" Target="../media/image26.wmf"/><Relationship Id="rId8" Type="http://schemas.openxmlformats.org/officeDocument/2006/relationships/oleObject" Target="../embeddings/Microsoft_Word_97_-_2004_Document19.doc"/><Relationship Id="rId9" Type="http://schemas.openxmlformats.org/officeDocument/2006/relationships/image" Target="../media/image27.emf"/><Relationship Id="rId10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31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Microsoft_Word_97_-_2004_Document22.doc"/><Relationship Id="rId5" Type="http://schemas.openxmlformats.org/officeDocument/2006/relationships/image" Target="../media/image32.emf"/><Relationship Id="rId6" Type="http://schemas.openxmlformats.org/officeDocument/2006/relationships/oleObject" Target="../embeddings/Microsoft_Word_97_-_2004_Document23.doc"/><Relationship Id="rId7" Type="http://schemas.openxmlformats.org/officeDocument/2006/relationships/image" Target="../media/image33.emf"/><Relationship Id="rId8" Type="http://schemas.openxmlformats.org/officeDocument/2006/relationships/oleObject" Target="../embeddings/Microsoft_Word_97_-_2004_Document24.doc"/><Relationship Id="rId9" Type="http://schemas.openxmlformats.org/officeDocument/2006/relationships/image" Target="../media/image34.e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4" Type="http://schemas.openxmlformats.org/officeDocument/2006/relationships/oleObject" Target="../embeddings/Microsoft_Word_97_-_2004_Document25.doc"/><Relationship Id="rId5" Type="http://schemas.openxmlformats.org/officeDocument/2006/relationships/image" Target="../media/image35.emf"/><Relationship Id="rId6" Type="http://schemas.openxmlformats.org/officeDocument/2006/relationships/oleObject" Target="../embeddings/oleObject11.bin"/><Relationship Id="rId7" Type="http://schemas.openxmlformats.org/officeDocument/2006/relationships/image" Target="../media/image36.wmf"/><Relationship Id="rId8" Type="http://schemas.openxmlformats.org/officeDocument/2006/relationships/oleObject" Target="../embeddings/Microsoft_Word_97_-_2004_Document26.doc"/><Relationship Id="rId9" Type="http://schemas.openxmlformats.org/officeDocument/2006/relationships/image" Target="../media/image37.emf"/><Relationship Id="rId10" Type="http://schemas.openxmlformats.org/officeDocument/2006/relationships/oleObject" Target="../embeddings/Microsoft_Word_97_-_2004_Document27.doc"/><Relationship Id="rId11" Type="http://schemas.openxmlformats.org/officeDocument/2006/relationships/image" Target="../media/image38.e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4_Document28.doc"/><Relationship Id="rId4" Type="http://schemas.openxmlformats.org/officeDocument/2006/relationships/image" Target="../media/image39.emf"/><Relationship Id="rId5" Type="http://schemas.openxmlformats.org/officeDocument/2006/relationships/oleObject" Target="../embeddings/Microsoft_Word_97_-_2004_Document29.doc"/><Relationship Id="rId6" Type="http://schemas.openxmlformats.org/officeDocument/2006/relationships/image" Target="../media/image40.emf"/><Relationship Id="rId7" Type="http://schemas.openxmlformats.org/officeDocument/2006/relationships/oleObject" Target="../embeddings/Microsoft_Word_97_-_2004_Document30.doc"/><Relationship Id="rId8" Type="http://schemas.openxmlformats.org/officeDocument/2006/relationships/image" Target="../media/image41.e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Microsoft_Word_97_-_2004_Document31.doc"/><Relationship Id="rId5" Type="http://schemas.openxmlformats.org/officeDocument/2006/relationships/image" Target="../media/image42.emf"/><Relationship Id="rId6" Type="http://schemas.openxmlformats.org/officeDocument/2006/relationships/oleObject" Target="../embeddings/Microsoft_Word_97_-_2004_Document32.doc"/><Relationship Id="rId7" Type="http://schemas.openxmlformats.org/officeDocument/2006/relationships/image" Target="../media/image43.emf"/><Relationship Id="rId8" Type="http://schemas.openxmlformats.org/officeDocument/2006/relationships/oleObject" Target="../embeddings/Microsoft_Word_97_-_2004_Document33.doc"/><Relationship Id="rId9" Type="http://schemas.openxmlformats.org/officeDocument/2006/relationships/image" Target="../media/image44.emf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Microsoft_Word_97_-_2004_Document34.doc"/><Relationship Id="rId5" Type="http://schemas.openxmlformats.org/officeDocument/2006/relationships/image" Target="../media/image45.emf"/><Relationship Id="rId6" Type="http://schemas.openxmlformats.org/officeDocument/2006/relationships/oleObject" Target="../embeddings/Microsoft_Word_97_-_2004_Document35.doc"/><Relationship Id="rId7" Type="http://schemas.openxmlformats.org/officeDocument/2006/relationships/image" Target="../media/image46.emf"/><Relationship Id="rId8" Type="http://schemas.openxmlformats.org/officeDocument/2006/relationships/oleObject" Target="../embeddings/Microsoft_Word_97_-_2004_Document36.doc"/><Relationship Id="rId9" Type="http://schemas.openxmlformats.org/officeDocument/2006/relationships/image" Target="../media/image47.e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48.wmf"/><Relationship Id="rId6" Type="http://schemas.openxmlformats.org/officeDocument/2006/relationships/oleObject" Target="../embeddings/Microsoft_Word_97_-_2004_Document37.doc"/><Relationship Id="rId7" Type="http://schemas.openxmlformats.org/officeDocument/2006/relationships/image" Target="../media/image49.emf"/><Relationship Id="rId8" Type="http://schemas.openxmlformats.org/officeDocument/2006/relationships/oleObject" Target="../embeddings/oleObject13.bin"/><Relationship Id="rId9" Type="http://schemas.openxmlformats.org/officeDocument/2006/relationships/image" Target="../media/image50.w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4.emf"/><Relationship Id="rId12" Type="http://schemas.openxmlformats.org/officeDocument/2006/relationships/oleObject" Target="../embeddings/Microsoft_Word_97_-_2004_Document42.doc"/><Relationship Id="rId13" Type="http://schemas.openxmlformats.org/officeDocument/2006/relationships/image" Target="../media/image55.emf"/><Relationship Id="rId14" Type="http://schemas.openxmlformats.org/officeDocument/2006/relationships/oleObject" Target="../embeddings/Microsoft_Word_97_-_2004_Document43.doc"/><Relationship Id="rId15" Type="http://schemas.openxmlformats.org/officeDocument/2006/relationships/image" Target="../media/image56.emf"/><Relationship Id="rId16" Type="http://schemas.openxmlformats.org/officeDocument/2006/relationships/oleObject" Target="../embeddings/Microsoft_Word_97_-_2004_Document44.doc"/><Relationship Id="rId17" Type="http://schemas.openxmlformats.org/officeDocument/2006/relationships/image" Target="../media/image57.e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Microsoft_Word_97_-_2004_Document38.doc"/><Relationship Id="rId5" Type="http://schemas.openxmlformats.org/officeDocument/2006/relationships/image" Target="../media/image51.emf"/><Relationship Id="rId6" Type="http://schemas.openxmlformats.org/officeDocument/2006/relationships/oleObject" Target="../embeddings/Microsoft_Word_97_-_2004_Document39.doc"/><Relationship Id="rId7" Type="http://schemas.openxmlformats.org/officeDocument/2006/relationships/image" Target="../media/image52.emf"/><Relationship Id="rId8" Type="http://schemas.openxmlformats.org/officeDocument/2006/relationships/oleObject" Target="../embeddings/Microsoft_Word_97_-_2004_Document40.doc"/><Relationship Id="rId9" Type="http://schemas.openxmlformats.org/officeDocument/2006/relationships/image" Target="../media/image53.emf"/><Relationship Id="rId10" Type="http://schemas.openxmlformats.org/officeDocument/2006/relationships/oleObject" Target="../embeddings/Microsoft_Word_97_-_2004_Document41.doc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 smtClean="0"/>
              <a:t>Álgebra Relacional</a:t>
            </a:r>
            <a:endParaRPr lang="es-EC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 smtClean="0"/>
              <a:t>Capitulo 6</a:t>
            </a:r>
            <a:endParaRPr lang="es-EC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Objetivos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 dirty="0" smtClean="0"/>
              <a:t>Definición de </a:t>
            </a:r>
            <a:r>
              <a:rPr lang="es-EC" dirty="0" err="1" smtClean="0"/>
              <a:t>Tupla</a:t>
            </a:r>
            <a:endParaRPr lang="es-EC" dirty="0" smtClean="0"/>
          </a:p>
          <a:p>
            <a:r>
              <a:rPr lang="es-EC" dirty="0" smtClean="0"/>
              <a:t>Álgebra Relacional</a:t>
            </a:r>
          </a:p>
          <a:p>
            <a:r>
              <a:rPr lang="es-EC" dirty="0" smtClean="0"/>
              <a:t>Proyección</a:t>
            </a:r>
          </a:p>
          <a:p>
            <a:r>
              <a:rPr lang="es-EC" dirty="0" smtClean="0"/>
              <a:t>Selección</a:t>
            </a:r>
          </a:p>
          <a:p>
            <a:r>
              <a:rPr lang="es-EC" dirty="0" smtClean="0"/>
              <a:t>Operaciones entre tablas(relaciones)</a:t>
            </a:r>
            <a:br>
              <a:rPr lang="es-EC" dirty="0" smtClean="0"/>
            </a:br>
            <a:r>
              <a:rPr lang="es-EC" dirty="0" smtClean="0"/>
              <a:t>-Unión</a:t>
            </a:r>
            <a:br>
              <a:rPr lang="es-EC" dirty="0" smtClean="0"/>
            </a:br>
            <a:r>
              <a:rPr lang="es-EC" dirty="0" smtClean="0"/>
              <a:t>-Diferencia</a:t>
            </a:r>
            <a:br>
              <a:rPr lang="es-EC" dirty="0" smtClean="0"/>
            </a:br>
            <a:r>
              <a:rPr lang="es-EC" dirty="0" smtClean="0"/>
              <a:t>-Producto Cruz</a:t>
            </a:r>
          </a:p>
          <a:p>
            <a:pPr>
              <a:buNone/>
            </a:pPr>
            <a:r>
              <a:rPr lang="es-EC" dirty="0" smtClean="0"/>
              <a:t>    -Intersección </a:t>
            </a:r>
          </a:p>
          <a:p>
            <a:pPr>
              <a:buNone/>
            </a:pPr>
            <a:r>
              <a:rPr lang="es-EC" dirty="0" smtClean="0"/>
              <a:t>    -</a:t>
            </a:r>
            <a:r>
              <a:rPr lang="es-EC" dirty="0" err="1" smtClean="0"/>
              <a:t>Join</a:t>
            </a:r>
            <a:endParaRPr lang="es-EC" dirty="0" smtClean="0"/>
          </a:p>
          <a:p>
            <a:pPr>
              <a:buNone/>
            </a:pPr>
            <a:r>
              <a:rPr lang="es-EC" dirty="0" smtClean="0"/>
              <a:t>    -División</a:t>
            </a:r>
            <a:endParaRPr lang="es-EC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C" dirty="0" smtClean="0"/>
              <a:t>Definición de </a:t>
            </a:r>
            <a:r>
              <a:rPr lang="es-EC" dirty="0" err="1" smtClean="0"/>
              <a:t>Tupla</a:t>
            </a:r>
            <a:r>
              <a:rPr lang="es-EC" dirty="0" smtClean="0"/>
              <a:t/>
            </a:r>
            <a:br>
              <a:rPr lang="es-EC" dirty="0" smtClean="0"/>
            </a:b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525963"/>
          </a:xfrm>
        </p:spPr>
        <p:txBody>
          <a:bodyPr/>
          <a:lstStyle/>
          <a:p>
            <a:r>
              <a:rPr lang="es-EC" dirty="0" smtClean="0"/>
              <a:t>Se llama </a:t>
            </a:r>
            <a:r>
              <a:rPr lang="es-EC" b="1" dirty="0" err="1" smtClean="0"/>
              <a:t>tupla</a:t>
            </a:r>
            <a:r>
              <a:rPr lang="es-EC" dirty="0" smtClean="0"/>
              <a:t> a cada </a:t>
            </a:r>
            <a:r>
              <a:rPr lang="es-EC" b="1" dirty="0" smtClean="0"/>
              <a:t>fila</a:t>
            </a:r>
            <a:r>
              <a:rPr lang="es-EC" dirty="0" smtClean="0"/>
              <a:t> de una tabla.</a:t>
            </a:r>
            <a:endParaRPr lang="es-EC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2051720" y="2708920"/>
          <a:ext cx="5105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s-EC" u="sng" dirty="0" err="1" smtClean="0"/>
                        <a:t>idEmpleado</a:t>
                      </a:r>
                      <a:endParaRPr lang="es-EC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Puesto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Salario</a:t>
                      </a:r>
                      <a:endParaRPr lang="es-EC" dirty="0"/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Secretaria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3100</a:t>
                      </a:r>
                      <a:endParaRPr lang="es-EC" dirty="0"/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150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Gerente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3200</a:t>
                      </a:r>
                      <a:endParaRPr lang="es-EC" dirty="0"/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200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Secretaria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3100</a:t>
                      </a:r>
                      <a:endParaRPr lang="es-EC" dirty="0"/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250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Subgerente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3200</a:t>
                      </a:r>
                      <a:endParaRPr lang="es-EC" dirty="0"/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300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Secretaria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dirty="0" smtClean="0"/>
                        <a:t>3100</a:t>
                      </a:r>
                      <a:endParaRPr lang="es-EC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Lenguajes </a:t>
            </a:r>
            <a:r>
              <a:rPr lang="es-EC" dirty="0" err="1" smtClean="0"/>
              <a:t>Query</a:t>
            </a:r>
            <a:r>
              <a:rPr lang="es-EC" dirty="0" smtClean="0"/>
              <a:t> Relacionales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1600201"/>
            <a:ext cx="8929718" cy="3900502"/>
          </a:xfrm>
        </p:spPr>
        <p:txBody>
          <a:bodyPr/>
          <a:lstStyle/>
          <a:p>
            <a:r>
              <a:rPr lang="es-EC" b="1" dirty="0" smtClean="0"/>
              <a:t>Lenguajes </a:t>
            </a:r>
            <a:r>
              <a:rPr lang="es-EC" b="1" dirty="0" err="1" smtClean="0"/>
              <a:t>Query</a:t>
            </a:r>
            <a:r>
              <a:rPr lang="es-EC" b="1" dirty="0" smtClean="0"/>
              <a:t>: </a:t>
            </a:r>
            <a:r>
              <a:rPr lang="es-EC" dirty="0" smtClean="0"/>
              <a:t>Permite manipulación y acceso a los datos de una base de datos.</a:t>
            </a:r>
          </a:p>
          <a:p>
            <a:r>
              <a:rPr lang="es-EC" dirty="0" smtClean="0"/>
              <a:t>Los lenguajes </a:t>
            </a:r>
            <a:r>
              <a:rPr lang="es-EC" dirty="0" err="1" smtClean="0"/>
              <a:t>Query</a:t>
            </a:r>
            <a:r>
              <a:rPr lang="es-EC" dirty="0" smtClean="0"/>
              <a:t> != Lenguajes de Programación</a:t>
            </a:r>
          </a:p>
          <a:p>
            <a:pPr lvl="1"/>
            <a:r>
              <a:rPr lang="es-EC" dirty="0" smtClean="0"/>
              <a:t>No se los utiliza para cálculos complejos</a:t>
            </a:r>
          </a:p>
          <a:p>
            <a:pPr lvl="1"/>
            <a:r>
              <a:rPr lang="es-EC" dirty="0" smtClean="0"/>
              <a:t>Soporta el acceso fácil y eficiente a grandes sets de datos</a:t>
            </a:r>
          </a:p>
          <a:p>
            <a:pPr lvl="1"/>
            <a:endParaRPr lang="es-EC" dirty="0" smtClean="0"/>
          </a:p>
          <a:p>
            <a:endParaRPr lang="es-EC" dirty="0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785786" y="4714884"/>
            <a:ext cx="7280647" cy="95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>
              <a:buFont typeface="Monotype Sorts" pitchFamily="2" charset="2"/>
              <a:buChar char="*"/>
            </a:pPr>
            <a:r>
              <a:rPr lang="en-US" sz="2800" dirty="0">
                <a:solidFill>
                  <a:schemeClr val="accent1"/>
                </a:solidFill>
              </a:rPr>
              <a:t>  </a:t>
            </a:r>
            <a:r>
              <a:rPr lang="en-US" sz="2800" i="1" dirty="0" err="1" smtClean="0">
                <a:solidFill>
                  <a:srgbClr val="000099"/>
                </a:solidFill>
              </a:rPr>
              <a:t>Entender</a:t>
            </a:r>
            <a:r>
              <a:rPr lang="en-US" sz="2800" i="1" dirty="0" smtClean="0">
                <a:solidFill>
                  <a:srgbClr val="000099"/>
                </a:solidFill>
              </a:rPr>
              <a:t> el algebra </a:t>
            </a:r>
            <a:r>
              <a:rPr lang="en-US" sz="2800" i="1" dirty="0" err="1" smtClean="0">
                <a:solidFill>
                  <a:srgbClr val="000099"/>
                </a:solidFill>
              </a:rPr>
              <a:t>relacional</a:t>
            </a:r>
            <a:r>
              <a:rPr lang="en-US" sz="2800" i="1" dirty="0" smtClean="0">
                <a:solidFill>
                  <a:srgbClr val="000099"/>
                </a:solidFill>
              </a:rPr>
              <a:t> </a:t>
            </a:r>
            <a:r>
              <a:rPr lang="en-US" sz="2800" i="1" dirty="0" err="1" smtClean="0">
                <a:solidFill>
                  <a:srgbClr val="000099"/>
                </a:solidFill>
              </a:rPr>
              <a:t>es</a:t>
            </a:r>
            <a:r>
              <a:rPr lang="en-US" sz="2800" i="1" dirty="0" smtClean="0">
                <a:solidFill>
                  <a:srgbClr val="000099"/>
                </a:solidFill>
              </a:rPr>
              <a:t> la clave </a:t>
            </a:r>
          </a:p>
          <a:p>
            <a:r>
              <a:rPr lang="en-US" sz="2800" i="1" dirty="0" smtClean="0">
                <a:solidFill>
                  <a:srgbClr val="000099"/>
                </a:solidFill>
              </a:rPr>
              <a:t>    </a:t>
            </a:r>
            <a:r>
              <a:rPr lang="en-US" sz="2800" i="1" dirty="0" err="1" smtClean="0">
                <a:solidFill>
                  <a:srgbClr val="000099"/>
                </a:solidFill>
              </a:rPr>
              <a:t>para</a:t>
            </a:r>
            <a:r>
              <a:rPr lang="en-US" sz="2800" i="1" dirty="0" smtClean="0">
                <a:solidFill>
                  <a:srgbClr val="000099"/>
                </a:solidFill>
              </a:rPr>
              <a:t> </a:t>
            </a:r>
            <a:r>
              <a:rPr lang="en-US" sz="2800" i="1" dirty="0" err="1" smtClean="0">
                <a:solidFill>
                  <a:srgbClr val="000099"/>
                </a:solidFill>
              </a:rPr>
              <a:t>entender</a:t>
            </a:r>
            <a:r>
              <a:rPr lang="en-US" sz="2800" i="1" dirty="0" smtClean="0">
                <a:solidFill>
                  <a:srgbClr val="000099"/>
                </a:solidFill>
              </a:rPr>
              <a:t> SQL, </a:t>
            </a:r>
            <a:r>
              <a:rPr lang="en-US" sz="2800" i="1" dirty="0" err="1" smtClean="0">
                <a:solidFill>
                  <a:srgbClr val="000099"/>
                </a:solidFill>
              </a:rPr>
              <a:t>procesamiento</a:t>
            </a:r>
            <a:r>
              <a:rPr lang="en-US" sz="2800" i="1" dirty="0" smtClean="0">
                <a:solidFill>
                  <a:srgbClr val="000099"/>
                </a:solidFill>
              </a:rPr>
              <a:t> de queries!</a:t>
            </a:r>
            <a:r>
              <a:rPr lang="en-US" i="1" dirty="0" smtClean="0">
                <a:solidFill>
                  <a:srgbClr val="000099"/>
                </a:solidFill>
              </a:rPr>
              <a:t> </a:t>
            </a:r>
            <a:endParaRPr lang="en-US" i="1" dirty="0">
              <a:solidFill>
                <a:srgbClr val="000099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14282" y="5854503"/>
            <a:ext cx="8572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C" dirty="0" smtClean="0"/>
              <a:t>Un </a:t>
            </a:r>
            <a:r>
              <a:rPr lang="es-EC" dirty="0" err="1" smtClean="0"/>
              <a:t>query</a:t>
            </a:r>
            <a:r>
              <a:rPr lang="es-EC" dirty="0" smtClean="0"/>
              <a:t> es aplicado a las instancias de una tabla y el resultado de un </a:t>
            </a:r>
            <a:r>
              <a:rPr lang="es-EC" dirty="0" err="1" smtClean="0"/>
              <a:t>query</a:t>
            </a:r>
            <a:r>
              <a:rPr lang="es-EC" dirty="0" smtClean="0"/>
              <a:t> también es una instancia de una tabla.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5368" name="Rectangle 4"/>
          <p:cNvSpPr>
            <a:spLocks noGrp="1" noChangeArrowheads="1"/>
          </p:cNvSpPr>
          <p:nvPr>
            <p:ph type="title"/>
          </p:nvPr>
        </p:nvSpPr>
        <p:spPr>
          <a:xfrm>
            <a:off x="-36512" y="-459432"/>
            <a:ext cx="4789766" cy="4007368"/>
          </a:xfrm>
          <a:noFill/>
        </p:spPr>
        <p:txBody>
          <a:bodyPr>
            <a:normAutofit fontScale="90000"/>
          </a:bodyPr>
          <a:lstStyle/>
          <a:p>
            <a:r>
              <a:rPr lang="en-US" dirty="0" err="1" smtClean="0"/>
              <a:t>Ejemplo</a:t>
            </a:r>
            <a:r>
              <a:rPr lang="en-US" dirty="0" smtClean="0"/>
              <a:t> de </a:t>
            </a:r>
            <a:r>
              <a:rPr lang="en-US" dirty="0" err="1" smtClean="0"/>
              <a:t>Instancias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 </a:t>
            </a:r>
            <a:r>
              <a:rPr lang="en-US" dirty="0" err="1" smtClean="0"/>
              <a:t>las</a:t>
            </a:r>
            <a:r>
              <a:rPr lang="en-US" dirty="0" smtClean="0"/>
              <a:t> </a:t>
            </a:r>
            <a:r>
              <a:rPr lang="en-US" dirty="0" err="1" smtClean="0"/>
              <a:t>tablas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Botes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Marineros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Reserva</a:t>
            </a:r>
            <a:endParaRPr lang="en-US" dirty="0" smtClean="0"/>
          </a:p>
        </p:txBody>
      </p:sp>
      <p:graphicFrame>
        <p:nvGraphicFramePr>
          <p:cNvPr id="15362" name="Object 7"/>
          <p:cNvGraphicFramePr>
            <a:graphicFrameLocks/>
          </p:cNvGraphicFramePr>
          <p:nvPr/>
        </p:nvGraphicFramePr>
        <p:xfrm>
          <a:off x="4572000" y="4293096"/>
          <a:ext cx="4130675" cy="239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5" name="Document" r:id="rId4" imgW="4326839" imgH="2110824" progId="Word.Document.8">
                  <p:embed/>
                </p:oleObj>
              </mc:Choice>
              <mc:Fallback>
                <p:oleObj name="Document" r:id="rId4" imgW="4326839" imgH="2110824" progId="Word.Documen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293096"/>
                        <a:ext cx="4130675" cy="239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8"/>
          <p:cNvGraphicFramePr>
            <a:graphicFrameLocks/>
          </p:cNvGraphicFramePr>
          <p:nvPr/>
        </p:nvGraphicFramePr>
        <p:xfrm>
          <a:off x="251520" y="4365104"/>
          <a:ext cx="4206875" cy="223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6" name="Document" r:id="rId6" imgW="4400023" imgH="2263370" progId="Word.Document.8">
                  <p:embed/>
                </p:oleObj>
              </mc:Choice>
              <mc:Fallback>
                <p:oleObj name="Document" r:id="rId6" imgW="4400023" imgH="2263370" progId="Word.Document.8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365104"/>
                        <a:ext cx="4206875" cy="223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9"/>
          <p:cNvGraphicFramePr>
            <a:graphicFrameLocks/>
          </p:cNvGraphicFramePr>
          <p:nvPr/>
        </p:nvGraphicFramePr>
        <p:xfrm>
          <a:off x="5292080" y="1916832"/>
          <a:ext cx="3292475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7" name="Document" r:id="rId8" imgW="3657986" imgH="1615518" progId="Word.Document.8">
                  <p:embed/>
                </p:oleObj>
              </mc:Choice>
              <mc:Fallback>
                <p:oleObj name="Document" r:id="rId8" imgW="3657986" imgH="1615518" progId="Word.Document.8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1916832"/>
                        <a:ext cx="3292475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5364088" y="1412776"/>
            <a:ext cx="94602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Reserva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4788024" y="3861048"/>
            <a:ext cx="117820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Marineros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251520" y="3789040"/>
            <a:ext cx="72090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Botes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03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03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033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85728"/>
            <a:ext cx="3275856" cy="2495200"/>
          </a:xfrm>
          <a:noFill/>
        </p:spPr>
        <p:txBody>
          <a:bodyPr>
            <a:normAutofit/>
          </a:bodyPr>
          <a:lstStyle/>
          <a:p>
            <a:r>
              <a:rPr lang="en-US" dirty="0" err="1" smtClean="0"/>
              <a:t>Ejemplo</a:t>
            </a:r>
            <a:r>
              <a:rPr lang="en-US" dirty="0" smtClean="0"/>
              <a:t> de </a:t>
            </a:r>
            <a:r>
              <a:rPr lang="en-US" dirty="0" err="1" smtClean="0"/>
              <a:t>Instancias</a:t>
            </a:r>
            <a:endParaRPr lang="en-US" dirty="0" smtClean="0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4818062" y="336550"/>
            <a:ext cx="4325938" cy="6580188"/>
            <a:chOff x="3035" y="212"/>
            <a:chExt cx="2725" cy="4145"/>
          </a:xfrm>
        </p:grpSpPr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3035" y="1255"/>
              <a:ext cx="2725" cy="3102"/>
              <a:chOff x="3035" y="1255"/>
              <a:chExt cx="2725" cy="3102"/>
            </a:xfrm>
          </p:grpSpPr>
          <p:graphicFrame>
            <p:nvGraphicFramePr>
              <p:cNvPr id="1028" name="Object 5"/>
              <p:cNvGraphicFramePr>
                <a:graphicFrameLocks/>
              </p:cNvGraphicFramePr>
              <p:nvPr/>
            </p:nvGraphicFramePr>
            <p:xfrm>
              <a:off x="3042" y="1255"/>
              <a:ext cx="2615" cy="15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80" name="Document" r:id="rId4" imgW="4184611" imgH="2124444" progId="Word.Document.8">
                      <p:embed/>
                    </p:oleObj>
                  </mc:Choice>
                  <mc:Fallback>
                    <p:oleObj name="Document" r:id="rId4" imgW="4184611" imgH="2124444" progId="Word.Document.8">
                      <p:embed/>
                      <p:pic>
                        <p:nvPicPr>
                          <p:cNvPr id="0" name="Object 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42" y="1255"/>
                            <a:ext cx="2615" cy="15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9" name="Object 6"/>
              <p:cNvGraphicFramePr>
                <a:graphicFrameLocks/>
              </p:cNvGraphicFramePr>
              <p:nvPr/>
            </p:nvGraphicFramePr>
            <p:xfrm>
              <a:off x="3035" y="2681"/>
              <a:ext cx="2725" cy="16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881" name="Document" r:id="rId6" imgW="4359181" imgH="2278975" progId="Word.Document.8">
                      <p:embed/>
                    </p:oleObj>
                  </mc:Choice>
                  <mc:Fallback>
                    <p:oleObj name="Document" r:id="rId6" imgW="4359181" imgH="2278975" progId="Word.Document.8">
                      <p:embed/>
                      <p:pic>
                        <p:nvPicPr>
                          <p:cNvPr id="0" name="Object 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5" y="2681"/>
                            <a:ext cx="2725" cy="16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27" name="Object 7"/>
            <p:cNvGraphicFramePr>
              <a:graphicFrameLocks/>
            </p:cNvGraphicFramePr>
            <p:nvPr/>
          </p:nvGraphicFramePr>
          <p:xfrm>
            <a:off x="3551" y="212"/>
            <a:ext cx="2099" cy="10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2" name="Document" r:id="rId8" imgW="3349352" imgH="1623300" progId="Word.Document.8">
                    <p:embed/>
                  </p:oleObj>
                </mc:Choice>
                <mc:Fallback>
                  <p:oleObj name="Document" r:id="rId8" imgW="3349352" imgH="1623300" progId="Word.Document.8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1" y="212"/>
                          <a:ext cx="2099" cy="10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5" name="Rectangle 8"/>
          <p:cNvSpPr>
            <a:spLocks noChangeArrowheads="1"/>
          </p:cNvSpPr>
          <p:nvPr/>
        </p:nvSpPr>
        <p:spPr bwMode="auto">
          <a:xfrm>
            <a:off x="5011738" y="366713"/>
            <a:ext cx="557212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>
                <a:solidFill>
                  <a:schemeClr val="tx1"/>
                </a:solidFill>
              </a:rPr>
              <a:t>R1</a:t>
            </a:r>
          </a:p>
        </p:txBody>
      </p:sp>
      <p:sp>
        <p:nvSpPr>
          <p:cNvPr id="1036" name="Rectangle 9"/>
          <p:cNvSpPr>
            <a:spLocks noChangeArrowheads="1"/>
          </p:cNvSpPr>
          <p:nvPr/>
        </p:nvSpPr>
        <p:spPr bwMode="auto">
          <a:xfrm>
            <a:off x="4251325" y="2120900"/>
            <a:ext cx="5064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1037" name="Rectangle 10"/>
          <p:cNvSpPr>
            <a:spLocks noChangeArrowheads="1"/>
          </p:cNvSpPr>
          <p:nvPr/>
        </p:nvSpPr>
        <p:spPr bwMode="auto">
          <a:xfrm>
            <a:off x="4252913" y="4252913"/>
            <a:ext cx="506412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>
                <a:solidFill>
                  <a:schemeClr val="tx1"/>
                </a:solidFill>
              </a:rPr>
              <a:t>S2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27653" name="Rectangle 4"/>
          <p:cNvSpPr>
            <a:spLocks noGrp="1" noChangeArrowheads="1"/>
          </p:cNvSpPr>
          <p:nvPr>
            <p:ph type="title"/>
          </p:nvPr>
        </p:nvSpPr>
        <p:spPr>
          <a:xfrm>
            <a:off x="1" y="180975"/>
            <a:ext cx="9144000" cy="800100"/>
          </a:xfrm>
          <a:noFill/>
        </p:spPr>
        <p:txBody>
          <a:bodyPr>
            <a:normAutofit fontScale="90000"/>
          </a:bodyPr>
          <a:lstStyle/>
          <a:p>
            <a:r>
              <a:rPr lang="en-US" dirty="0" smtClean="0"/>
              <a:t>Algebra </a:t>
            </a:r>
            <a:r>
              <a:rPr lang="en-US" dirty="0" err="1" smtClean="0"/>
              <a:t>Relacional</a:t>
            </a:r>
            <a:r>
              <a:rPr lang="en-US" dirty="0" smtClean="0"/>
              <a:t>: 5 </a:t>
            </a:r>
            <a:r>
              <a:rPr lang="en-US" dirty="0" err="1" smtClean="0"/>
              <a:t>Operaciones</a:t>
            </a:r>
            <a:r>
              <a:rPr lang="en-US" dirty="0" smtClean="0"/>
              <a:t> </a:t>
            </a:r>
            <a:r>
              <a:rPr lang="en-US" dirty="0" err="1" smtClean="0"/>
              <a:t>basicas</a:t>
            </a:r>
            <a:endParaRPr lang="en-US" dirty="0" smtClean="0"/>
          </a:p>
        </p:txBody>
      </p:sp>
      <p:sp>
        <p:nvSpPr>
          <p:cNvPr id="2765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185863"/>
            <a:ext cx="8839200" cy="4076700"/>
          </a:xfrm>
          <a:noFill/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s-EC" i="1" u="sng" dirty="0" smtClean="0">
                <a:solidFill>
                  <a:schemeClr val="accent2"/>
                </a:solidFill>
              </a:rPr>
              <a:t>Proyección</a:t>
            </a:r>
            <a:r>
              <a:rPr lang="es-EC" dirty="0" smtClean="0"/>
              <a:t>( </a:t>
            </a:r>
            <a:r>
              <a:rPr lang="es-EC" dirty="0" smtClean="0">
                <a:latin typeface="Symbol" pitchFamily="18" charset="2"/>
              </a:rPr>
              <a:t>p</a:t>
            </a:r>
            <a:r>
              <a:rPr lang="es-EC" dirty="0" smtClean="0"/>
              <a:t> )  Retiene solo las </a:t>
            </a:r>
            <a:r>
              <a:rPr lang="es-EC" i="1" dirty="0" smtClean="0">
                <a:solidFill>
                  <a:srgbClr val="FF0000"/>
                </a:solidFill>
              </a:rPr>
              <a:t>columnas</a:t>
            </a:r>
            <a:r>
              <a:rPr lang="es-EC" dirty="0" smtClean="0"/>
              <a:t>  requeridas de una relación (vertical).</a:t>
            </a:r>
            <a:endParaRPr lang="es-EC" b="0" i="1" u="sng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es-EC" b="0" i="1" u="sng" dirty="0" smtClean="0">
                <a:solidFill>
                  <a:schemeClr val="accent2"/>
                </a:solidFill>
              </a:rPr>
              <a:t>Selección </a:t>
            </a:r>
            <a:r>
              <a:rPr lang="es-EC" b="0" dirty="0" smtClean="0"/>
              <a:t>( </a:t>
            </a:r>
            <a:r>
              <a:rPr lang="es-EC" sz="3200" b="0" dirty="0" smtClean="0">
                <a:latin typeface="Symbol" pitchFamily="18" charset="2"/>
              </a:rPr>
              <a:t>s</a:t>
            </a:r>
            <a:r>
              <a:rPr lang="es-EC" b="0" dirty="0" smtClean="0"/>
              <a:t> )    Selecciona un subconjunto de </a:t>
            </a:r>
            <a:r>
              <a:rPr lang="es-EC" b="0" i="1" dirty="0" smtClean="0">
                <a:solidFill>
                  <a:srgbClr val="FF0000"/>
                </a:solidFill>
              </a:rPr>
              <a:t>filas</a:t>
            </a:r>
            <a:r>
              <a:rPr lang="es-EC" b="0" dirty="0" smtClean="0"/>
              <a:t> de una relación (horizontal).</a:t>
            </a:r>
          </a:p>
          <a:p>
            <a:pPr>
              <a:lnSpc>
                <a:spcPct val="90000"/>
              </a:lnSpc>
            </a:pPr>
            <a:r>
              <a:rPr lang="es-EC" b="0" i="1" u="sng" dirty="0" smtClean="0">
                <a:solidFill>
                  <a:schemeClr val="accent2"/>
                </a:solidFill>
              </a:rPr>
              <a:t>Producto-cruz</a:t>
            </a:r>
            <a:r>
              <a:rPr lang="es-EC" b="0" dirty="0" smtClean="0">
                <a:solidFill>
                  <a:schemeClr val="accent2"/>
                </a:solidFill>
              </a:rPr>
              <a:t> </a:t>
            </a:r>
            <a:r>
              <a:rPr lang="es-EC" b="0" dirty="0" smtClean="0"/>
              <a:t>( </a:t>
            </a:r>
            <a:r>
              <a:rPr lang="es-EC" sz="2800" b="0" dirty="0" smtClean="0">
                <a:sym typeface="Symbol" pitchFamily="18" charset="2"/>
              </a:rPr>
              <a:t> </a:t>
            </a:r>
            <a:r>
              <a:rPr lang="es-EC" b="0" dirty="0" smtClean="0"/>
              <a:t>)  Nos permite combinar dos relaciones.</a:t>
            </a:r>
          </a:p>
          <a:p>
            <a:pPr>
              <a:lnSpc>
                <a:spcPct val="90000"/>
              </a:lnSpc>
            </a:pPr>
            <a:r>
              <a:rPr lang="es-EC" b="0" i="1" u="sng" dirty="0" smtClean="0">
                <a:solidFill>
                  <a:schemeClr val="accent2"/>
                </a:solidFill>
              </a:rPr>
              <a:t>Diferencia</a:t>
            </a:r>
            <a:r>
              <a:rPr lang="es-EC" b="0" dirty="0" smtClean="0"/>
              <a:t>  ( </a:t>
            </a:r>
            <a:r>
              <a:rPr lang="es-EC" b="0" dirty="0" smtClean="0">
                <a:cs typeface="Tahoma" pitchFamily="34" charset="0"/>
              </a:rPr>
              <a:t>— </a:t>
            </a:r>
            <a:r>
              <a:rPr lang="es-EC" b="0" dirty="0" smtClean="0"/>
              <a:t>)  Las </a:t>
            </a:r>
            <a:r>
              <a:rPr lang="es-EC" b="0" dirty="0" err="1" smtClean="0"/>
              <a:t>tuplas</a:t>
            </a:r>
            <a:r>
              <a:rPr lang="es-EC" b="0" dirty="0" smtClean="0"/>
              <a:t> en r1, pero no en r2.</a:t>
            </a:r>
          </a:p>
          <a:p>
            <a:pPr>
              <a:lnSpc>
                <a:spcPct val="90000"/>
              </a:lnSpc>
            </a:pPr>
            <a:r>
              <a:rPr lang="es-EC" b="0" i="1" u="sng" dirty="0" err="1" smtClean="0">
                <a:solidFill>
                  <a:schemeClr val="accent2"/>
                </a:solidFill>
              </a:rPr>
              <a:t>Union</a:t>
            </a:r>
            <a:r>
              <a:rPr lang="es-EC" b="0" dirty="0" smtClean="0">
                <a:solidFill>
                  <a:schemeClr val="accent2"/>
                </a:solidFill>
              </a:rPr>
              <a:t>  </a:t>
            </a:r>
            <a:r>
              <a:rPr lang="es-EC" b="0" dirty="0" smtClean="0"/>
              <a:t>( </a:t>
            </a:r>
            <a:r>
              <a:rPr lang="es-EC" b="0" dirty="0" smtClean="0">
                <a:sym typeface="Symbol" pitchFamily="18" charset="2"/>
              </a:rPr>
              <a:t> </a:t>
            </a:r>
            <a:r>
              <a:rPr lang="es-EC" b="0" dirty="0" smtClean="0"/>
              <a:t>)  Tuplas </a:t>
            </a:r>
            <a:r>
              <a:rPr lang="es-EC" dirty="0" smtClean="0"/>
              <a:t>e</a:t>
            </a:r>
            <a:r>
              <a:rPr lang="es-EC" b="0" dirty="0" smtClean="0"/>
              <a:t>n r1 </a:t>
            </a:r>
            <a:r>
              <a:rPr lang="es-EC" dirty="0" smtClean="0"/>
              <a:t>y</a:t>
            </a:r>
            <a:r>
              <a:rPr lang="es-EC" b="0" dirty="0" smtClean="0"/>
              <a:t>/o en r2.</a:t>
            </a:r>
          </a:p>
          <a:p>
            <a:pPr>
              <a:lnSpc>
                <a:spcPct val="90000"/>
              </a:lnSpc>
              <a:buFontTx/>
              <a:buNone/>
            </a:pPr>
            <a:endParaRPr lang="es-EC" b="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s-EC" b="0" dirty="0" smtClean="0"/>
              <a:t>Como cada operación retorna una relación, </a:t>
            </a:r>
            <a:r>
              <a:rPr lang="es-EC" dirty="0" smtClean="0">
                <a:solidFill>
                  <a:schemeClr val="accent2"/>
                </a:solidFill>
              </a:rPr>
              <a:t>las o</a:t>
            </a:r>
            <a:r>
              <a:rPr lang="es-EC" b="0" dirty="0" smtClean="0">
                <a:solidFill>
                  <a:schemeClr val="accent2"/>
                </a:solidFill>
              </a:rPr>
              <a:t>peraciones</a:t>
            </a:r>
            <a:r>
              <a:rPr lang="es-EC" b="0" dirty="0" smtClean="0"/>
              <a:t> </a:t>
            </a:r>
            <a:r>
              <a:rPr lang="es-EC" dirty="0" smtClean="0">
                <a:solidFill>
                  <a:schemeClr val="accent2"/>
                </a:solidFill>
              </a:rPr>
              <a:t>pueden ser</a:t>
            </a:r>
            <a:r>
              <a:rPr lang="es-EC" b="0" dirty="0" smtClean="0">
                <a:solidFill>
                  <a:schemeClr val="accent2"/>
                </a:solidFill>
              </a:rPr>
              <a:t> </a:t>
            </a:r>
            <a:r>
              <a:rPr lang="es-EC" i="1" dirty="0" smtClean="0">
                <a:solidFill>
                  <a:schemeClr val="accent2"/>
                </a:solidFill>
              </a:rPr>
              <a:t>compuestas!</a:t>
            </a:r>
            <a:r>
              <a:rPr lang="es-EC" b="0" dirty="0" smtClean="0"/>
              <a:t>  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Proyección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 lnSpcReduction="10000"/>
          </a:bodyPr>
          <a:lstStyle/>
          <a:p>
            <a:r>
              <a:rPr lang="es-EC" dirty="0" smtClean="0"/>
              <a:t>Crea una nueva relación a partir de otra, pero incluyendo sólo algunas de las columnas</a:t>
            </a:r>
          </a:p>
          <a:p>
            <a:r>
              <a:rPr lang="es-EC" dirty="0" smtClean="0"/>
              <a:t>Se representa con el símbolo ∏</a:t>
            </a:r>
          </a:p>
          <a:p>
            <a:pPr>
              <a:buNone/>
            </a:pPr>
            <a:endParaRPr lang="es-EC" dirty="0" smtClean="0"/>
          </a:p>
          <a:p>
            <a:pPr>
              <a:buNone/>
            </a:pPr>
            <a:endParaRPr lang="es-EC" dirty="0" smtClean="0"/>
          </a:p>
          <a:p>
            <a:r>
              <a:rPr lang="es-EC" dirty="0" smtClean="0"/>
              <a:t>El operador proyección elimina duplicados </a:t>
            </a:r>
          </a:p>
          <a:p>
            <a:r>
              <a:rPr lang="es-EC" sz="2800" i="1" dirty="0" smtClean="0">
                <a:solidFill>
                  <a:schemeClr val="accent2"/>
                </a:solidFill>
              </a:rPr>
              <a:t>Esquema</a:t>
            </a:r>
            <a:r>
              <a:rPr lang="es-EC" sz="2800" dirty="0" smtClean="0"/>
              <a:t>  resultante:</a:t>
            </a:r>
          </a:p>
          <a:p>
            <a:pPr lvl="1"/>
            <a:r>
              <a:rPr lang="es-EC" dirty="0" smtClean="0"/>
              <a:t>Exactamente los campos en la lista de proyección, con los mismos nombres que tenían en la relación inicial.</a:t>
            </a:r>
          </a:p>
          <a:p>
            <a:endParaRPr lang="es-EC" dirty="0" smtClean="0"/>
          </a:p>
        </p:txBody>
      </p:sp>
      <p:graphicFrame>
        <p:nvGraphicFramePr>
          <p:cNvPr id="40963" name="Object 10"/>
          <p:cNvGraphicFramePr>
            <a:graphicFrameLocks/>
          </p:cNvGraphicFramePr>
          <p:nvPr/>
        </p:nvGraphicFramePr>
        <p:xfrm>
          <a:off x="4491038" y="3308350"/>
          <a:ext cx="356552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Ecuación" r:id="rId3" imgW="3581280" imgH="723600" progId="Equation.3">
                  <p:embed/>
                </p:oleObj>
              </mc:Choice>
              <mc:Fallback>
                <p:oleObj name="Ecuación" r:id="rId3" imgW="3581280" imgH="7236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038" y="3308350"/>
                        <a:ext cx="3565525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8"/>
          <p:cNvGraphicFramePr>
            <a:graphicFrameLocks/>
          </p:cNvGraphicFramePr>
          <p:nvPr/>
        </p:nvGraphicFramePr>
        <p:xfrm>
          <a:off x="1741488" y="3308350"/>
          <a:ext cx="20335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4" name="Ecuación" r:id="rId5" imgW="2070000" imgH="711000" progId="Equation.3">
                  <p:embed/>
                </p:oleObj>
              </mc:Choice>
              <mc:Fallback>
                <p:oleObj name="Ecuación" r:id="rId5" imgW="2070000" imgH="7110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3308350"/>
                        <a:ext cx="20335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08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308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3082" name="Rectangle 4"/>
          <p:cNvSpPr>
            <a:spLocks noGrp="1" noChangeArrowheads="1"/>
          </p:cNvSpPr>
          <p:nvPr>
            <p:ph type="title"/>
          </p:nvPr>
        </p:nvSpPr>
        <p:spPr>
          <a:xfrm>
            <a:off x="357158" y="609600"/>
            <a:ext cx="7772400" cy="1143000"/>
          </a:xfrm>
          <a:noFill/>
        </p:spPr>
        <p:txBody>
          <a:bodyPr/>
          <a:lstStyle/>
          <a:p>
            <a:r>
              <a:rPr lang="es-EC" dirty="0" smtClean="0"/>
              <a:t>Proyección</a:t>
            </a:r>
            <a:endParaRPr lang="en-US" dirty="0" smtClean="0"/>
          </a:p>
        </p:txBody>
      </p:sp>
      <p:graphicFrame>
        <p:nvGraphicFramePr>
          <p:cNvPr id="16389" name="Object 5"/>
          <p:cNvGraphicFramePr>
            <a:graphicFrameLocks/>
          </p:cNvGraphicFramePr>
          <p:nvPr/>
        </p:nvGraphicFramePr>
        <p:xfrm>
          <a:off x="5708650" y="422275"/>
          <a:ext cx="2638425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9" name="Document" r:id="rId4" imgW="2952865" imgH="2560236" progId="Word.Document.8">
                  <p:embed/>
                </p:oleObj>
              </mc:Choice>
              <mc:Fallback>
                <p:oleObj name="Document" r:id="rId4" imgW="2952865" imgH="2560236" progId="Word.Document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422275"/>
                        <a:ext cx="2638425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/>
          </p:cNvGraphicFramePr>
          <p:nvPr/>
        </p:nvGraphicFramePr>
        <p:xfrm>
          <a:off x="5443538" y="2841625"/>
          <a:ext cx="369411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0" name="Ecuación" r:id="rId6" imgW="3708360" imgH="723600" progId="Equation.3">
                  <p:embed/>
                </p:oleObj>
              </mc:Choice>
              <mc:Fallback>
                <p:oleObj name="Ecuación" r:id="rId6" imgW="3708360" imgH="7236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3538" y="2841625"/>
                        <a:ext cx="369411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/>
          </p:cNvGraphicFramePr>
          <p:nvPr/>
        </p:nvGraphicFramePr>
        <p:xfrm>
          <a:off x="6546850" y="4146550"/>
          <a:ext cx="1174750" cy="159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1" name="Document" r:id="rId8" imgW="1185845" imgH="1617162" progId="Word.Document.8">
                  <p:embed/>
                </p:oleObj>
              </mc:Choice>
              <mc:Fallback>
                <p:oleObj name="Document" r:id="rId8" imgW="1185845" imgH="1617162" progId="Word.Documen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6850" y="4146550"/>
                        <a:ext cx="1174750" cy="159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3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5105400" cy="4876800"/>
          </a:xfrm>
          <a:noFill/>
        </p:spPr>
        <p:txBody>
          <a:bodyPr/>
          <a:lstStyle/>
          <a:p>
            <a:pPr>
              <a:buFontTx/>
              <a:buNone/>
            </a:pPr>
            <a:r>
              <a:rPr lang="en-US" smtClean="0"/>
              <a:t> </a:t>
            </a:r>
          </a:p>
        </p:txBody>
      </p:sp>
      <p:graphicFrame>
        <p:nvGraphicFramePr>
          <p:cNvPr id="3077" name="Object 10"/>
          <p:cNvGraphicFramePr>
            <a:graphicFrameLocks/>
          </p:cNvGraphicFramePr>
          <p:nvPr/>
        </p:nvGraphicFramePr>
        <p:xfrm>
          <a:off x="598488" y="2754313"/>
          <a:ext cx="4325937" cy="266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2" name="Document" r:id="rId10" imgW="4359181" imgH="2278975" progId="Word.Document.8">
                  <p:embed/>
                </p:oleObj>
              </mc:Choice>
              <mc:Fallback>
                <p:oleObj name="Document" r:id="rId10" imgW="4359181" imgH="2278975" progId="Word.Document.8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2754313"/>
                        <a:ext cx="4325937" cy="266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/>
          <p:cNvGraphicFramePr>
            <a:graphicFrameLocks/>
          </p:cNvGraphicFramePr>
          <p:nvPr/>
        </p:nvGraphicFramePr>
        <p:xfrm>
          <a:off x="6578600" y="5991225"/>
          <a:ext cx="20351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3" name="Ecuación" r:id="rId12" imgW="2070000" imgH="711000" progId="Equation.3">
                  <p:embed/>
                </p:oleObj>
              </mc:Choice>
              <mc:Fallback>
                <p:oleObj name="Ecuación" r:id="rId12" imgW="2070000" imgH="71100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8600" y="5991225"/>
                        <a:ext cx="203517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2222500" y="4884738"/>
            <a:ext cx="987425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tx1"/>
                </a:solidFill>
              </a:rPr>
              <a:t>S2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s-EC" dirty="0" smtClean="0"/>
              <a:t>Selección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2614618"/>
          </a:xfrm>
        </p:spPr>
        <p:txBody>
          <a:bodyPr>
            <a:normAutofit fontScale="92500" lnSpcReduction="20000"/>
          </a:bodyPr>
          <a:lstStyle/>
          <a:p>
            <a:r>
              <a:rPr lang="es-EC" dirty="0" smtClean="0"/>
              <a:t>Selecciona las filas que satisfacen una condición de selección.</a:t>
            </a:r>
          </a:p>
          <a:p>
            <a:r>
              <a:rPr lang="es-EC" dirty="0" smtClean="0"/>
              <a:t>El resultado es una relación.</a:t>
            </a:r>
          </a:p>
          <a:p>
            <a:r>
              <a:rPr lang="es-EC" dirty="0" smtClean="0"/>
              <a:t>Se representa con el símbolo </a:t>
            </a:r>
            <a:r>
              <a:rPr lang="en-US" dirty="0" smtClean="0">
                <a:sym typeface="Symbol" pitchFamily="18" charset="2"/>
              </a:rPr>
              <a:t></a:t>
            </a:r>
          </a:p>
          <a:p>
            <a:r>
              <a:rPr lang="es-EC" sz="2800" i="1" dirty="0" smtClean="0">
                <a:solidFill>
                  <a:schemeClr val="accent2"/>
                </a:solidFill>
              </a:rPr>
              <a:t>Esquema</a:t>
            </a:r>
            <a:r>
              <a:rPr lang="es-EC" sz="2800" dirty="0" smtClean="0"/>
              <a:t>  resultante:</a:t>
            </a:r>
          </a:p>
          <a:p>
            <a:pPr lvl="1"/>
            <a:r>
              <a:rPr lang="es-EC" dirty="0" smtClean="0"/>
              <a:t>El mismo de la relación inicial.</a:t>
            </a:r>
          </a:p>
          <a:p>
            <a:endParaRPr lang="es-EC" dirty="0" smtClean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720696" y="6272214"/>
            <a:ext cx="2895600" cy="403225"/>
          </a:xfrm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73083" y="6067426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211483" y="6067426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graphicFrame>
        <p:nvGraphicFramePr>
          <p:cNvPr id="7" name="Object 5"/>
          <p:cNvGraphicFramePr>
            <a:graphicFrameLocks/>
          </p:cNvGraphicFramePr>
          <p:nvPr/>
        </p:nvGraphicFramePr>
        <p:xfrm>
          <a:off x="1130271" y="6218187"/>
          <a:ext cx="30099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3" name="Equation" r:id="rId3" imgW="3019320" imgH="822240" progId="Equation.3">
                  <p:embed/>
                </p:oleObj>
              </mc:Choice>
              <mc:Fallback>
                <p:oleObj name="Equation" r:id="rId3" imgW="3019320" imgH="82224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271" y="6218187"/>
                        <a:ext cx="30099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0682022"/>
              </p:ext>
            </p:extLst>
          </p:nvPr>
        </p:nvGraphicFramePr>
        <p:xfrm>
          <a:off x="5308600" y="4419600"/>
          <a:ext cx="3036888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4" name="Document" r:id="rId5" imgW="3048000" imgH="1600200" progId="Word.Document.8">
                  <p:embed/>
                </p:oleObj>
              </mc:Choice>
              <mc:Fallback>
                <p:oleObj name="Document" r:id="rId5" imgW="3048000" imgH="1600200" progId="Word.Documen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8600" y="4419600"/>
                        <a:ext cx="3036888" cy="158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/>
          </p:cNvGraphicFramePr>
          <p:nvPr/>
        </p:nvGraphicFramePr>
        <p:xfrm>
          <a:off x="4211960" y="6290072"/>
          <a:ext cx="49022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5" name="Ecuación" r:id="rId7" imgW="5841720" imgH="723600" progId="Equation.3">
                  <p:embed/>
                </p:oleObj>
              </mc:Choice>
              <mc:Fallback>
                <p:oleObj name="Ecuación" r:id="rId7" imgW="5841720" imgH="7236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6290072"/>
                        <a:ext cx="49022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/>
          </p:cNvGraphicFramePr>
          <p:nvPr/>
        </p:nvGraphicFramePr>
        <p:xfrm>
          <a:off x="352425" y="3844925"/>
          <a:ext cx="4278313" cy="262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Document" r:id="rId9" imgW="4368217" imgH="2292695" progId="Word.Document.8">
                  <p:embed/>
                </p:oleObj>
              </mc:Choice>
              <mc:Fallback>
                <p:oleObj name="Document" r:id="rId9" imgW="4368217" imgH="2292695" progId="Word.Document.8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" y="3844925"/>
                        <a:ext cx="4278313" cy="262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12"/>
          <p:cNvSpPr>
            <a:spLocks noChangeShapeType="1"/>
          </p:cNvSpPr>
          <p:nvPr/>
        </p:nvSpPr>
        <p:spPr bwMode="auto">
          <a:xfrm flipV="1">
            <a:off x="573058" y="5070896"/>
            <a:ext cx="3700463" cy="14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V="1">
            <a:off x="630208" y="5517232"/>
            <a:ext cx="3786188" cy="428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13" name="Line 19"/>
          <p:cNvSpPr>
            <a:spLocks noChangeShapeType="1"/>
          </p:cNvSpPr>
          <p:nvPr/>
        </p:nvSpPr>
        <p:spPr bwMode="auto">
          <a:xfrm flipH="1">
            <a:off x="758796" y="3865587"/>
            <a:ext cx="57150" cy="2371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H="1">
            <a:off x="3868708" y="3793579"/>
            <a:ext cx="57150" cy="2371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graphicFrame>
        <p:nvGraphicFramePr>
          <p:cNvPr id="15362" name="Object 7"/>
          <p:cNvGraphicFramePr>
            <a:graphicFrameLocks/>
          </p:cNvGraphicFramePr>
          <p:nvPr/>
        </p:nvGraphicFramePr>
        <p:xfrm>
          <a:off x="4572000" y="4293096"/>
          <a:ext cx="4130675" cy="239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9" name="Document" r:id="rId4" imgW="4326839" imgH="2110824" progId="Word.Document.8">
                  <p:embed/>
                </p:oleObj>
              </mc:Choice>
              <mc:Fallback>
                <p:oleObj name="Document" r:id="rId4" imgW="4326839" imgH="2110824" progId="Word.Documen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293096"/>
                        <a:ext cx="4130675" cy="239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8"/>
          <p:cNvGraphicFramePr>
            <a:graphicFrameLocks/>
          </p:cNvGraphicFramePr>
          <p:nvPr/>
        </p:nvGraphicFramePr>
        <p:xfrm>
          <a:off x="251520" y="4365104"/>
          <a:ext cx="4206875" cy="223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0" name="Document" r:id="rId6" imgW="4400023" imgH="2263370" progId="Word.Document.8">
                  <p:embed/>
                </p:oleObj>
              </mc:Choice>
              <mc:Fallback>
                <p:oleObj name="Document" r:id="rId6" imgW="4400023" imgH="2263370" progId="Word.Document.8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4365104"/>
                        <a:ext cx="4206875" cy="223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9"/>
          <p:cNvGraphicFramePr>
            <a:graphicFrameLocks/>
          </p:cNvGraphicFramePr>
          <p:nvPr/>
        </p:nvGraphicFramePr>
        <p:xfrm>
          <a:off x="5292080" y="1916832"/>
          <a:ext cx="3292475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1" name="Document" r:id="rId8" imgW="3657986" imgH="1615518" progId="Word.Document.8">
                  <p:embed/>
                </p:oleObj>
              </mc:Choice>
              <mc:Fallback>
                <p:oleObj name="Document" r:id="rId8" imgW="3657986" imgH="1615518" progId="Word.Document.8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1916832"/>
                        <a:ext cx="3292475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5364088" y="1412776"/>
            <a:ext cx="94602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Reserva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4788024" y="3861048"/>
            <a:ext cx="117820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Marineros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251520" y="3923122"/>
            <a:ext cx="72090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Botes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520" y="7647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Las </a:t>
            </a:r>
            <a:r>
              <a:rPr lang="en-US" dirty="0" err="1" smtClean="0"/>
              <a:t>fechas</a:t>
            </a:r>
            <a:r>
              <a:rPr lang="en-US" dirty="0" smtClean="0"/>
              <a:t> en la </a:t>
            </a:r>
            <a:r>
              <a:rPr lang="en-US" dirty="0" err="1" smtClean="0"/>
              <a:t>que</a:t>
            </a:r>
            <a:r>
              <a:rPr lang="en-US" dirty="0" smtClean="0"/>
              <a:t> se ha </a:t>
            </a:r>
            <a:r>
              <a:rPr lang="en-US" dirty="0" err="1" smtClean="0"/>
              <a:t>reservado</a:t>
            </a:r>
            <a:r>
              <a:rPr lang="en-US" dirty="0" smtClean="0"/>
              <a:t> el </a:t>
            </a:r>
            <a:r>
              <a:rPr lang="en-US" dirty="0" err="1" smtClean="0"/>
              <a:t>bote</a:t>
            </a:r>
            <a:r>
              <a:rPr lang="en-US" dirty="0" smtClean="0"/>
              <a:t> #103.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864096"/>
          </a:xfrm>
        </p:spPr>
        <p:txBody>
          <a:bodyPr>
            <a:normAutofit fontScale="90000"/>
          </a:bodyPr>
          <a:lstStyle/>
          <a:p>
            <a:r>
              <a:rPr lang="es-EC" sz="3100" dirty="0" smtClean="0"/>
              <a:t>Escriba los siguientes </a:t>
            </a:r>
            <a:r>
              <a:rPr lang="es-EC" sz="3100" dirty="0" err="1" smtClean="0"/>
              <a:t>queries</a:t>
            </a:r>
            <a:r>
              <a:rPr lang="es-EC" sz="3100" dirty="0" smtClean="0"/>
              <a:t> en álgebra relacional:</a:t>
            </a:r>
            <a:r>
              <a:rPr lang="es-EC" dirty="0" smtClean="0"/>
              <a:t/>
            </a:r>
            <a:br>
              <a:rPr lang="es-EC" dirty="0" smtClean="0"/>
            </a:br>
            <a:endParaRPr lang="es-EC" dirty="0"/>
          </a:p>
        </p:txBody>
      </p:sp>
      <p:sp>
        <p:nvSpPr>
          <p:cNvPr id="14" name="Rectangle 13"/>
          <p:cNvSpPr/>
          <p:nvPr/>
        </p:nvSpPr>
        <p:spPr>
          <a:xfrm>
            <a:off x="251520" y="1844824"/>
            <a:ext cx="3943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Los </a:t>
            </a:r>
            <a:r>
              <a:rPr lang="en-US" dirty="0" err="1" smtClean="0"/>
              <a:t>nombres</a:t>
            </a:r>
            <a:r>
              <a:rPr lang="en-US" dirty="0" smtClean="0"/>
              <a:t> de los </a:t>
            </a:r>
            <a:r>
              <a:rPr lang="en-US" dirty="0" err="1" smtClean="0"/>
              <a:t>botes</a:t>
            </a:r>
            <a:r>
              <a:rPr lang="en-US" dirty="0" smtClean="0"/>
              <a:t> de color </a:t>
            </a:r>
            <a:r>
              <a:rPr lang="en-US" dirty="0" err="1" smtClean="0"/>
              <a:t>rojo</a:t>
            </a:r>
            <a:r>
              <a:rPr lang="en-US" dirty="0" smtClean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520" y="2204864"/>
            <a:ext cx="4716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La </a:t>
            </a:r>
            <a:r>
              <a:rPr lang="en-US" dirty="0" err="1" smtClean="0"/>
              <a:t>edad</a:t>
            </a:r>
            <a:r>
              <a:rPr lang="en-US" dirty="0" smtClean="0"/>
              <a:t> de los </a:t>
            </a:r>
            <a:r>
              <a:rPr lang="en-US" dirty="0" err="1" smtClean="0"/>
              <a:t>marineros</a:t>
            </a:r>
            <a:r>
              <a:rPr lang="en-US" dirty="0" smtClean="0"/>
              <a:t> con rating mayor a 7.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520" y="2564904"/>
            <a:ext cx="454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El id y color de los </a:t>
            </a:r>
            <a:r>
              <a:rPr lang="en-US" dirty="0" err="1" smtClean="0"/>
              <a:t>botes</a:t>
            </a:r>
            <a:r>
              <a:rPr lang="en-US" dirty="0" smtClean="0"/>
              <a:t> de </a:t>
            </a:r>
            <a:r>
              <a:rPr lang="en-US" dirty="0" err="1" smtClean="0"/>
              <a:t>nombre</a:t>
            </a:r>
            <a:r>
              <a:rPr lang="en-US" dirty="0" smtClean="0"/>
              <a:t> Interlake.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520" y="292494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El </a:t>
            </a:r>
            <a:r>
              <a:rPr lang="en-US" dirty="0" err="1" smtClean="0"/>
              <a:t>nombre</a:t>
            </a:r>
            <a:r>
              <a:rPr lang="en-US" dirty="0" smtClean="0"/>
              <a:t> y id de los </a:t>
            </a:r>
            <a:r>
              <a:rPr lang="en-US" dirty="0" err="1" smtClean="0"/>
              <a:t>marineros</a:t>
            </a:r>
            <a:r>
              <a:rPr lang="en-US" dirty="0" smtClean="0"/>
              <a:t> con 55 </a:t>
            </a:r>
            <a:r>
              <a:rPr lang="en-US" dirty="0" err="1" smtClean="0"/>
              <a:t>años</a:t>
            </a:r>
            <a:r>
              <a:rPr lang="en-US" dirty="0" smtClean="0"/>
              <a:t> de </a:t>
            </a:r>
            <a:r>
              <a:rPr lang="en-US" dirty="0" err="1" smtClean="0"/>
              <a:t>edad</a:t>
            </a:r>
            <a:r>
              <a:rPr lang="en-US" dirty="0" smtClean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520" y="126876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El id de los </a:t>
            </a:r>
            <a:r>
              <a:rPr lang="en-US" dirty="0" err="1" smtClean="0"/>
              <a:t>marineros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reservaron</a:t>
            </a:r>
            <a:r>
              <a:rPr lang="en-US" dirty="0" smtClean="0"/>
              <a:t> el </a:t>
            </a:r>
            <a:r>
              <a:rPr lang="en-US" dirty="0" err="1" smtClean="0"/>
              <a:t>bote</a:t>
            </a:r>
            <a:r>
              <a:rPr lang="en-US" dirty="0" smtClean="0"/>
              <a:t> #102</a:t>
            </a:r>
            <a:endParaRPr lang="es-EC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 smtClean="0"/>
              <a:t>Unión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s-EC" dirty="0" smtClean="0">
              <a:solidFill>
                <a:srgbClr val="FF0000"/>
              </a:solidFill>
            </a:endParaRPr>
          </a:p>
          <a:p>
            <a:r>
              <a:rPr lang="es-EC" dirty="0" smtClean="0"/>
              <a:t>R U S, la unión de R y S es el conjunto de elementos que están en R o S o ambos. Un elemento solo aparece una sola vez.</a:t>
            </a:r>
          </a:p>
          <a:p>
            <a:r>
              <a:rPr lang="es-EC" dirty="0" smtClean="0"/>
              <a:t>Estas operaciones toman dos tablas que deben ser compatibles en unión, esto quiere decir:</a:t>
            </a:r>
          </a:p>
          <a:p>
            <a:pPr lvl="1"/>
            <a:r>
              <a:rPr lang="es-EC" dirty="0" smtClean="0"/>
              <a:t>El mismo número de columnas</a:t>
            </a:r>
          </a:p>
          <a:p>
            <a:pPr lvl="1"/>
            <a:r>
              <a:rPr lang="es-EC" dirty="0" smtClean="0"/>
              <a:t>Las columnas correspondientes tienen el mismo tipo</a:t>
            </a:r>
            <a:endParaRPr lang="es-EC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127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5128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5129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096963" y="0"/>
            <a:ext cx="3810000" cy="1638300"/>
          </a:xfrm>
          <a:noFill/>
        </p:spPr>
        <p:txBody>
          <a:bodyPr/>
          <a:lstStyle/>
          <a:p>
            <a:r>
              <a:rPr lang="en-US" dirty="0" smtClean="0"/>
              <a:t>Unión</a:t>
            </a:r>
          </a:p>
        </p:txBody>
      </p:sp>
      <p:sp>
        <p:nvSpPr>
          <p:cNvPr id="5130" name="Rectangle 1029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752600"/>
            <a:ext cx="4343400" cy="4648200"/>
          </a:xfrm>
          <a:noFill/>
        </p:spPr>
        <p:txBody>
          <a:bodyPr/>
          <a:lstStyle/>
          <a:p>
            <a:pPr>
              <a:buFontTx/>
              <a:buNone/>
            </a:pPr>
            <a:r>
              <a:rPr lang="en-US" sz="2000" smtClean="0"/>
              <a:t> </a:t>
            </a:r>
          </a:p>
        </p:txBody>
      </p:sp>
      <p:graphicFrame>
        <p:nvGraphicFramePr>
          <p:cNvPr id="56326" name="Object 1030"/>
          <p:cNvGraphicFramePr>
            <a:graphicFrameLocks/>
          </p:cNvGraphicFramePr>
          <p:nvPr/>
        </p:nvGraphicFramePr>
        <p:xfrm>
          <a:off x="4641850" y="1266825"/>
          <a:ext cx="4360863" cy="270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Document" r:id="rId4" imgW="4746270" imgH="2948370" progId="Word.Document.8">
                  <p:embed/>
                </p:oleObj>
              </mc:Choice>
              <mc:Fallback>
                <p:oleObj name="Document" r:id="rId4" imgW="4746270" imgH="2948370" progId="Word.Document.8">
                  <p:embed/>
                  <p:pic>
                    <p:nvPicPr>
                      <p:cNvPr id="0" name="Object 103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0" y="1266825"/>
                        <a:ext cx="4360863" cy="270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031"/>
          <p:cNvGraphicFramePr>
            <a:graphicFrameLocks/>
          </p:cNvGraphicFramePr>
          <p:nvPr/>
        </p:nvGraphicFramePr>
        <p:xfrm>
          <a:off x="5900738" y="4051300"/>
          <a:ext cx="18176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6" imgW="1317600" imgH="453960" progId="Equation.3">
                  <p:embed/>
                </p:oleObj>
              </mc:Choice>
              <mc:Fallback>
                <p:oleObj name="Equation" r:id="rId6" imgW="1317600" imgH="453960" progId="Equation.3">
                  <p:embed/>
                  <p:pic>
                    <p:nvPicPr>
                      <p:cNvPr id="0" name="Object 103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051300"/>
                        <a:ext cx="181768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032"/>
          <p:cNvGraphicFramePr>
            <a:graphicFrameLocks/>
          </p:cNvGraphicFramePr>
          <p:nvPr/>
        </p:nvGraphicFramePr>
        <p:xfrm>
          <a:off x="222250" y="1360488"/>
          <a:ext cx="4373563" cy="349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Document" r:id="rId8" imgW="4395685" imgH="3513781" progId="Word.Document.8">
                  <p:embed/>
                </p:oleObj>
              </mc:Choice>
              <mc:Fallback>
                <p:oleObj name="Document" r:id="rId8" imgW="4395685" imgH="3513781" progId="Word.Document.8">
                  <p:embed/>
                  <p:pic>
                    <p:nvPicPr>
                      <p:cNvPr id="0" name="Object 103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1360488"/>
                        <a:ext cx="4373563" cy="349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033"/>
          <p:cNvGraphicFramePr>
            <a:graphicFrameLocks/>
          </p:cNvGraphicFramePr>
          <p:nvPr/>
        </p:nvGraphicFramePr>
        <p:xfrm>
          <a:off x="257175" y="3973513"/>
          <a:ext cx="4267200" cy="262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Document" r:id="rId10" imgW="4359181" imgH="2271393" progId="Word.Document.8">
                  <p:embed/>
                </p:oleObj>
              </mc:Choice>
              <mc:Fallback>
                <p:oleObj name="Document" r:id="rId10" imgW="4359181" imgH="2271393" progId="Word.Document.8">
                  <p:embed/>
                  <p:pic>
                    <p:nvPicPr>
                      <p:cNvPr id="0" name="Object 103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3973513"/>
                        <a:ext cx="4267200" cy="262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 Box 1034"/>
          <p:cNvSpPr txBox="1">
            <a:spLocks noChangeArrowheads="1"/>
          </p:cNvSpPr>
          <p:nvPr/>
        </p:nvSpPr>
        <p:spPr bwMode="auto">
          <a:xfrm>
            <a:off x="1725613" y="3394075"/>
            <a:ext cx="1173162" cy="4587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tx1"/>
                </a:solidFill>
              </a:rPr>
              <a:t>S1</a:t>
            </a:r>
            <a:endParaRPr lang="en-US"/>
          </a:p>
        </p:txBody>
      </p:sp>
      <p:sp>
        <p:nvSpPr>
          <p:cNvPr id="5132" name="Text Box 1035"/>
          <p:cNvSpPr txBox="1">
            <a:spLocks noChangeArrowheads="1"/>
          </p:cNvSpPr>
          <p:nvPr/>
        </p:nvSpPr>
        <p:spPr bwMode="auto">
          <a:xfrm>
            <a:off x="1878013" y="6354589"/>
            <a:ext cx="1173162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tx1"/>
                </a:solidFill>
              </a:rPr>
              <a:t>S2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 smtClean="0"/>
              <a:t>Diferencia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 smtClean="0"/>
              <a:t>R - S, la diferencia de R y S, es el conjunto de elementos que están en R pero no en S. </a:t>
            </a:r>
          </a:p>
          <a:p>
            <a:r>
              <a:rPr lang="es-EC" dirty="0" smtClean="0"/>
              <a:t>Es importante resaltar que R - S es diferente a S – R.</a:t>
            </a:r>
          </a:p>
          <a:p>
            <a:r>
              <a:rPr lang="es-EC" dirty="0" smtClean="0"/>
              <a:t>También deben ser compatibles en unión</a:t>
            </a:r>
          </a:p>
          <a:p>
            <a:pPr>
              <a:buNone/>
            </a:pPr>
            <a:endParaRPr lang="es-EC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615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6154" name="Rectangle 4"/>
          <p:cNvSpPr>
            <a:spLocks noGrp="1" noChangeArrowheads="1"/>
          </p:cNvSpPr>
          <p:nvPr>
            <p:ph type="title"/>
          </p:nvPr>
        </p:nvSpPr>
        <p:spPr>
          <a:xfrm>
            <a:off x="1096963" y="0"/>
            <a:ext cx="3810000" cy="1638300"/>
          </a:xfrm>
          <a:noFill/>
        </p:spPr>
        <p:txBody>
          <a:bodyPr/>
          <a:lstStyle/>
          <a:p>
            <a:r>
              <a:rPr lang="en-US" dirty="0" err="1" smtClean="0"/>
              <a:t>Diferencia</a:t>
            </a:r>
            <a:endParaRPr lang="en-US" dirty="0" smtClean="0"/>
          </a:p>
        </p:txBody>
      </p:sp>
      <p:graphicFrame>
        <p:nvGraphicFramePr>
          <p:cNvPr id="55311" name="Object 15"/>
          <p:cNvGraphicFramePr>
            <a:graphicFrameLocks/>
          </p:cNvGraphicFramePr>
          <p:nvPr/>
        </p:nvGraphicFramePr>
        <p:xfrm>
          <a:off x="4700588" y="1360488"/>
          <a:ext cx="4221162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7" name="Document" r:id="rId4" imgW="4726392" imgH="1215309" progId="Word.Document.8">
                  <p:embed/>
                </p:oleObj>
              </mc:Choice>
              <mc:Fallback>
                <p:oleObj name="Document" r:id="rId4" imgW="4726392" imgH="1215309" progId="Word.Document.8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1360488"/>
                        <a:ext cx="4221162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16"/>
          <p:cNvGraphicFramePr>
            <a:graphicFrameLocks/>
          </p:cNvGraphicFramePr>
          <p:nvPr/>
        </p:nvGraphicFramePr>
        <p:xfrm>
          <a:off x="6337300" y="2544763"/>
          <a:ext cx="15668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8" name="Equation" r:id="rId6" imgW="1581120" imgH="403200" progId="Equation.3">
                  <p:embed/>
                </p:oleObj>
              </mc:Choice>
              <mc:Fallback>
                <p:oleObj name="Equation" r:id="rId6" imgW="1581120" imgH="40320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544763"/>
                        <a:ext cx="156686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5" name="Object 19"/>
          <p:cNvGraphicFramePr>
            <a:graphicFrameLocks/>
          </p:cNvGraphicFramePr>
          <p:nvPr/>
        </p:nvGraphicFramePr>
        <p:xfrm>
          <a:off x="4788024" y="3573016"/>
          <a:ext cx="4324350" cy="187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9" name="Document" r:id="rId8" imgW="4359181" imgH="1474907" progId="Word.Document.8">
                  <p:embed/>
                </p:oleObj>
              </mc:Choice>
              <mc:Fallback>
                <p:oleObj name="Document" r:id="rId8" imgW="4359181" imgH="1474907" progId="Word.Document.8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3573016"/>
                        <a:ext cx="4324350" cy="187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16"/>
          <p:cNvGraphicFramePr>
            <a:graphicFrameLocks/>
          </p:cNvGraphicFramePr>
          <p:nvPr/>
        </p:nvGraphicFramePr>
        <p:xfrm>
          <a:off x="6286512" y="5572140"/>
          <a:ext cx="10699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0" name="Ecuación" r:id="rId10" imgW="1079280" imgH="342720" progId="Equation.3">
                  <p:embed/>
                </p:oleObj>
              </mc:Choice>
              <mc:Fallback>
                <p:oleObj name="Ecuación" r:id="rId10" imgW="1079280" imgH="342720" progId="Equation.3">
                  <p:embed/>
                  <p:pic>
                    <p:nvPicPr>
                      <p:cNvPr id="0" name="Picture 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12" y="5572140"/>
                        <a:ext cx="10699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7" name="Rectangle 1029"/>
          <p:cNvSpPr txBox="1">
            <a:spLocks noChangeArrowheads="1"/>
          </p:cNvSpPr>
          <p:nvPr/>
        </p:nvSpPr>
        <p:spPr>
          <a:xfrm>
            <a:off x="152400" y="1752600"/>
            <a:ext cx="4343400" cy="46482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graphicFrame>
        <p:nvGraphicFramePr>
          <p:cNvPr id="18" name="Object 1032"/>
          <p:cNvGraphicFramePr>
            <a:graphicFrameLocks/>
          </p:cNvGraphicFramePr>
          <p:nvPr/>
        </p:nvGraphicFramePr>
        <p:xfrm>
          <a:off x="222250" y="1360488"/>
          <a:ext cx="4373563" cy="349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1" name="Document" r:id="rId12" imgW="4395685" imgH="3513781" progId="Word.Document.8">
                  <p:embed/>
                </p:oleObj>
              </mc:Choice>
              <mc:Fallback>
                <p:oleObj name="Document" r:id="rId12" imgW="4395685" imgH="3513781" progId="Word.Document.8">
                  <p:embed/>
                  <p:pic>
                    <p:nvPicPr>
                      <p:cNvPr id="0" name="Object 103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1360488"/>
                        <a:ext cx="4373563" cy="349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33"/>
          <p:cNvGraphicFramePr>
            <a:graphicFrameLocks/>
          </p:cNvGraphicFramePr>
          <p:nvPr/>
        </p:nvGraphicFramePr>
        <p:xfrm>
          <a:off x="257175" y="3973513"/>
          <a:ext cx="4267200" cy="262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2" name="Document" r:id="rId14" imgW="4359181" imgH="2271393" progId="Word.Document.8">
                  <p:embed/>
                </p:oleObj>
              </mc:Choice>
              <mc:Fallback>
                <p:oleObj name="Document" r:id="rId14" imgW="4359181" imgH="2271393" progId="Word.Document.8">
                  <p:embed/>
                  <p:pic>
                    <p:nvPicPr>
                      <p:cNvPr id="0" name="Object 103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3973513"/>
                        <a:ext cx="4267200" cy="262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034"/>
          <p:cNvSpPr txBox="1">
            <a:spLocks noChangeArrowheads="1"/>
          </p:cNvSpPr>
          <p:nvPr/>
        </p:nvSpPr>
        <p:spPr bwMode="auto">
          <a:xfrm>
            <a:off x="1725613" y="3394075"/>
            <a:ext cx="1173162" cy="4587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tx1"/>
                </a:solidFill>
              </a:rPr>
              <a:t>S1</a:t>
            </a:r>
            <a:endParaRPr lang="en-US"/>
          </a:p>
        </p:txBody>
      </p:sp>
      <p:sp>
        <p:nvSpPr>
          <p:cNvPr id="21" name="Text Box 1035"/>
          <p:cNvSpPr txBox="1">
            <a:spLocks noChangeArrowheads="1"/>
          </p:cNvSpPr>
          <p:nvPr/>
        </p:nvSpPr>
        <p:spPr bwMode="auto">
          <a:xfrm>
            <a:off x="1878013" y="6354589"/>
            <a:ext cx="1173162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tx1"/>
                </a:solidFill>
              </a:rPr>
              <a:t>S2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Producto Cruz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s-EC" dirty="0" smtClean="0"/>
              <a:t>R X S, los esquemas de ambas relaciones se mezclan y unen.</a:t>
            </a:r>
          </a:p>
          <a:p>
            <a:r>
              <a:rPr lang="es-EC" dirty="0" smtClean="0"/>
              <a:t>Las filas en R se unen con las filas en S.</a:t>
            </a:r>
          </a:p>
          <a:p>
            <a:r>
              <a:rPr lang="es-EC" dirty="0" smtClean="0"/>
              <a:t>No necesitan ser compatibles en unión.</a:t>
            </a:r>
          </a:p>
          <a:p>
            <a:r>
              <a:rPr lang="en-US" sz="2800" i="1" dirty="0" err="1" smtClean="0">
                <a:solidFill>
                  <a:schemeClr val="accent2"/>
                </a:solidFill>
              </a:rPr>
              <a:t>Esquema</a:t>
            </a:r>
            <a:r>
              <a:rPr lang="en-US" sz="2800" i="1" dirty="0" smtClean="0">
                <a:solidFill>
                  <a:schemeClr val="accent2"/>
                </a:solidFill>
              </a:rPr>
              <a:t> </a:t>
            </a:r>
            <a:r>
              <a:rPr lang="en-US" sz="2800" i="1" dirty="0" err="1" smtClean="0">
                <a:solidFill>
                  <a:schemeClr val="accent2"/>
                </a:solidFill>
              </a:rPr>
              <a:t>resultante</a:t>
            </a:r>
            <a:r>
              <a:rPr lang="en-US" sz="2800" i="1" dirty="0" smtClean="0">
                <a:solidFill>
                  <a:schemeClr val="accent2"/>
                </a:solidFill>
              </a:rPr>
              <a:t> </a:t>
            </a:r>
            <a:r>
              <a:rPr lang="en-US" sz="2800" dirty="0" smtClean="0"/>
              <a:t> un </a:t>
            </a:r>
            <a:r>
              <a:rPr lang="en-US" sz="2800" dirty="0" err="1" smtClean="0"/>
              <a:t>registro</a:t>
            </a:r>
            <a:r>
              <a:rPr lang="en-US" sz="2800" dirty="0" smtClean="0"/>
              <a:t> </a:t>
            </a:r>
            <a:r>
              <a:rPr lang="en-US" sz="2800" dirty="0" err="1" smtClean="0"/>
              <a:t>por</a:t>
            </a:r>
            <a:r>
              <a:rPr lang="en-US" sz="2800" dirty="0" smtClean="0"/>
              <a:t> </a:t>
            </a:r>
            <a:r>
              <a:rPr lang="en-US" sz="2800" dirty="0" err="1" smtClean="0"/>
              <a:t>cada</a:t>
            </a:r>
            <a:r>
              <a:rPr lang="en-US" sz="2800" dirty="0" smtClean="0"/>
              <a:t> </a:t>
            </a:r>
            <a:r>
              <a:rPr lang="en-US" sz="2800" dirty="0" err="1" smtClean="0"/>
              <a:t>registro</a:t>
            </a:r>
            <a:r>
              <a:rPr lang="en-US" sz="2800" dirty="0" smtClean="0"/>
              <a:t> de S1 y R1, con los </a:t>
            </a:r>
            <a:r>
              <a:rPr lang="en-US" sz="2800" dirty="0" err="1" smtClean="0"/>
              <a:t>nombres</a:t>
            </a:r>
            <a:r>
              <a:rPr lang="en-US" sz="2800" dirty="0" smtClean="0"/>
              <a:t> de </a:t>
            </a:r>
            <a:r>
              <a:rPr lang="en-US" sz="2800" dirty="0" err="1" smtClean="0"/>
              <a:t>registro</a:t>
            </a:r>
            <a:r>
              <a:rPr lang="en-US" sz="2800" dirty="0" smtClean="0"/>
              <a:t> </a:t>
            </a:r>
            <a:r>
              <a:rPr lang="en-US" sz="2800" dirty="0" err="1" smtClean="0"/>
              <a:t>heredados</a:t>
            </a:r>
            <a:r>
              <a:rPr lang="en-US" sz="2800" dirty="0" smtClean="0"/>
              <a:t> </a:t>
            </a:r>
            <a:r>
              <a:rPr lang="en-US" sz="2800" dirty="0" err="1" smtClean="0"/>
              <a:t>si</a:t>
            </a:r>
            <a:r>
              <a:rPr lang="en-US" sz="2800" dirty="0" smtClean="0"/>
              <a:t> </a:t>
            </a:r>
            <a:r>
              <a:rPr lang="en-US" sz="2800" dirty="0" err="1" smtClean="0"/>
              <a:t>es</a:t>
            </a:r>
            <a:r>
              <a:rPr lang="en-US" sz="2800" dirty="0" smtClean="0"/>
              <a:t> </a:t>
            </a:r>
            <a:r>
              <a:rPr lang="en-US" sz="2800" dirty="0" err="1" smtClean="0"/>
              <a:t>posible</a:t>
            </a:r>
            <a:r>
              <a:rPr lang="en-US" sz="2800" dirty="0" smtClean="0"/>
              <a:t>.</a:t>
            </a:r>
          </a:p>
          <a:p>
            <a:pPr lvl="1"/>
            <a:r>
              <a:rPr lang="en-US" i="1" dirty="0" err="1" smtClean="0"/>
              <a:t>Pueden</a:t>
            </a:r>
            <a:r>
              <a:rPr lang="en-US" i="1" dirty="0" smtClean="0"/>
              <a:t> </a:t>
            </a:r>
            <a:r>
              <a:rPr lang="en-US" i="1" dirty="0" err="1" smtClean="0"/>
              <a:t>haber</a:t>
            </a:r>
            <a:r>
              <a:rPr lang="en-US" i="1" dirty="0" smtClean="0"/>
              <a:t> </a:t>
            </a:r>
            <a:r>
              <a:rPr lang="en-US" i="1" dirty="0" err="1" smtClean="0"/>
              <a:t>conflictos</a:t>
            </a:r>
            <a:r>
              <a:rPr lang="en-US" i="1" dirty="0" smtClean="0"/>
              <a:t> de </a:t>
            </a:r>
            <a:r>
              <a:rPr lang="en-US" i="1" dirty="0" err="1" smtClean="0"/>
              <a:t>nombres</a:t>
            </a:r>
            <a:r>
              <a:rPr lang="en-US" dirty="0" smtClean="0"/>
              <a:t>: Ambos, S1 y R1 </a:t>
            </a:r>
            <a:r>
              <a:rPr lang="en-US" dirty="0" err="1" smtClean="0"/>
              <a:t>tienen</a:t>
            </a:r>
            <a:r>
              <a:rPr lang="en-US" dirty="0" smtClean="0"/>
              <a:t> un </a:t>
            </a:r>
            <a:r>
              <a:rPr lang="en-US" dirty="0" err="1" smtClean="0"/>
              <a:t>registro</a:t>
            </a:r>
            <a:r>
              <a:rPr lang="en-US" dirty="0" smtClean="0"/>
              <a:t> con el </a:t>
            </a:r>
            <a:r>
              <a:rPr lang="en-US" dirty="0" err="1" smtClean="0"/>
              <a:t>mismo</a:t>
            </a:r>
            <a:r>
              <a:rPr lang="en-US" dirty="0" smtClean="0"/>
              <a:t> </a:t>
            </a:r>
            <a:r>
              <a:rPr lang="en-US" dirty="0" err="1" smtClean="0"/>
              <a:t>nombre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En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caso</a:t>
            </a:r>
            <a:r>
              <a:rPr lang="en-US" dirty="0" smtClean="0"/>
              <a:t>, se </a:t>
            </a:r>
            <a:r>
              <a:rPr lang="en-US" dirty="0" err="1" smtClean="0"/>
              <a:t>puede</a:t>
            </a:r>
            <a:r>
              <a:rPr lang="en-US" dirty="0" smtClean="0"/>
              <a:t> </a:t>
            </a:r>
            <a:r>
              <a:rPr lang="en-US" dirty="0" err="1" smtClean="0"/>
              <a:t>usar</a:t>
            </a:r>
            <a:r>
              <a:rPr lang="en-US" dirty="0" smtClean="0"/>
              <a:t> </a:t>
            </a:r>
            <a:r>
              <a:rPr lang="en-US" i="1" dirty="0" smtClean="0"/>
              <a:t>el </a:t>
            </a:r>
            <a:r>
              <a:rPr lang="en-US" i="1" dirty="0" err="1" smtClean="0"/>
              <a:t>operador</a:t>
            </a:r>
            <a:r>
              <a:rPr lang="en-US" i="1" dirty="0" smtClean="0"/>
              <a:t> de </a:t>
            </a:r>
            <a:r>
              <a:rPr lang="en-US" i="1" dirty="0" err="1" smtClean="0"/>
              <a:t>renombre</a:t>
            </a:r>
            <a:r>
              <a:rPr lang="en-US" dirty="0" smtClean="0"/>
              <a:t>:</a:t>
            </a:r>
          </a:p>
          <a:p>
            <a:endParaRPr lang="es-EC" dirty="0" smtClean="0"/>
          </a:p>
          <a:p>
            <a:endParaRPr lang="es-EC" dirty="0"/>
          </a:p>
        </p:txBody>
      </p:sp>
      <p:graphicFrame>
        <p:nvGraphicFramePr>
          <p:cNvPr id="45058" name="Object 6"/>
          <p:cNvGraphicFramePr>
            <a:graphicFrameLocks/>
          </p:cNvGraphicFramePr>
          <p:nvPr/>
        </p:nvGraphicFramePr>
        <p:xfrm>
          <a:off x="1928794" y="5929330"/>
          <a:ext cx="54022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" name="Equation" r:id="rId3" imgW="5889600" imgH="566640" progId="Equation.3">
                  <p:embed/>
                </p:oleObj>
              </mc:Choice>
              <mc:Fallback>
                <p:oleObj name="Equation" r:id="rId3" imgW="5889600" imgH="56664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794" y="5929330"/>
                        <a:ext cx="54022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985838" y="95250"/>
            <a:ext cx="7772400" cy="1143000"/>
          </a:xfrm>
        </p:spPr>
        <p:txBody>
          <a:bodyPr/>
          <a:lstStyle/>
          <a:p>
            <a:r>
              <a:rPr lang="es-EC" dirty="0" smtClean="0"/>
              <a:t>Producto Cruz</a:t>
            </a:r>
            <a:endParaRPr lang="en-US" dirty="0" smtClean="0"/>
          </a:p>
        </p:txBody>
      </p:sp>
      <p:graphicFrame>
        <p:nvGraphicFramePr>
          <p:cNvPr id="62468" name="Object 4"/>
          <p:cNvGraphicFramePr>
            <a:graphicFrameLocks/>
          </p:cNvGraphicFramePr>
          <p:nvPr/>
        </p:nvGraphicFramePr>
        <p:xfrm>
          <a:off x="1979712" y="3436764"/>
          <a:ext cx="6869112" cy="337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7" name="Document" r:id="rId4" imgW="8534756" imgH="3995427" progId="Word.Document.8">
                  <p:embed/>
                </p:oleObj>
              </mc:Choice>
              <mc:Fallback>
                <p:oleObj name="Document" r:id="rId4" imgW="8534756" imgH="3995427" progId="Word.Documen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436764"/>
                        <a:ext cx="6869112" cy="337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5"/>
          <p:cNvGraphicFramePr>
            <a:graphicFrameLocks/>
          </p:cNvGraphicFramePr>
          <p:nvPr/>
        </p:nvGraphicFramePr>
        <p:xfrm>
          <a:off x="4748213" y="1042988"/>
          <a:ext cx="4302125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8" name="Document" r:id="rId6" imgW="4337857" imgH="2428812" progId="Word.Document.8">
                  <p:embed/>
                </p:oleObj>
              </mc:Choice>
              <mc:Fallback>
                <p:oleObj name="Document" r:id="rId6" imgW="4337857" imgH="2428812" progId="Word.Document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13" y="1042988"/>
                        <a:ext cx="4302125" cy="241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6"/>
          <p:cNvGraphicFramePr>
            <a:graphicFrameLocks/>
          </p:cNvGraphicFramePr>
          <p:nvPr/>
        </p:nvGraphicFramePr>
        <p:xfrm>
          <a:off x="374650" y="1195388"/>
          <a:ext cx="3282950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9" name="Document" r:id="rId8" imgW="3349352" imgH="1617162" progId="Word.Document.8">
                  <p:embed/>
                </p:oleObj>
              </mc:Choice>
              <mc:Fallback>
                <p:oleObj name="Document" r:id="rId8" imgW="3349352" imgH="1617162" progId="Word.Document.8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" y="1195388"/>
                        <a:ext cx="3282950" cy="158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1660525" y="2887663"/>
            <a:ext cx="889000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tx1"/>
                </a:solidFill>
              </a:rPr>
              <a:t>R1</a:t>
            </a:r>
            <a:endParaRPr lang="en-US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6461125" y="3055938"/>
            <a:ext cx="522288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S1</a:t>
            </a:r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365125" y="4537075"/>
            <a:ext cx="1544012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 b="1" dirty="0"/>
              <a:t>S</a:t>
            </a:r>
            <a:r>
              <a:rPr lang="en-US" sz="2800" b="1" dirty="0" smtClean="0">
                <a:solidFill>
                  <a:schemeClr val="tx1"/>
                </a:solidFill>
              </a:rPr>
              <a:t>1 </a:t>
            </a:r>
            <a:r>
              <a:rPr lang="en-US" sz="2800" b="1" dirty="0">
                <a:solidFill>
                  <a:schemeClr val="tx1"/>
                </a:solidFill>
              </a:rPr>
              <a:t>X </a:t>
            </a:r>
            <a:r>
              <a:rPr lang="en-US" sz="2800" b="1" dirty="0" smtClean="0">
                <a:solidFill>
                  <a:schemeClr val="tx1"/>
                </a:solidFill>
              </a:rPr>
              <a:t>R1 </a:t>
            </a:r>
            <a:r>
              <a:rPr lang="en-US" sz="2800" b="1" dirty="0">
                <a:solidFill>
                  <a:schemeClr val="tx1"/>
                </a:solidFill>
              </a:rPr>
              <a:t>=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29701" name="Rectangle 4"/>
          <p:cNvSpPr>
            <a:spLocks noGrp="1" noChangeArrowheads="1"/>
          </p:cNvSpPr>
          <p:nvPr>
            <p:ph type="title"/>
          </p:nvPr>
        </p:nvSpPr>
        <p:spPr>
          <a:xfrm>
            <a:off x="357158" y="285727"/>
            <a:ext cx="8786842" cy="1171597"/>
          </a:xfrm>
          <a:noFill/>
        </p:spPr>
        <p:txBody>
          <a:bodyPr/>
          <a:lstStyle/>
          <a:p>
            <a:r>
              <a:rPr lang="es-EC" dirty="0" smtClean="0"/>
              <a:t>Operador Compuesto: Intersección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38138" y="1362075"/>
            <a:ext cx="8362950" cy="5178425"/>
          </a:xfrm>
          <a:noFill/>
        </p:spPr>
        <p:txBody>
          <a:bodyPr>
            <a:normAutofit fontScale="92500"/>
          </a:bodyPr>
          <a:lstStyle/>
          <a:p>
            <a:r>
              <a:rPr lang="es-EC" sz="2800" b="0" dirty="0" smtClean="0"/>
              <a:t>Además de los 5 operadores básicos, hay varios “</a:t>
            </a:r>
            <a:r>
              <a:rPr lang="es-EC" sz="2800" dirty="0" smtClean="0"/>
              <a:t>Operadores Compuestos</a:t>
            </a:r>
            <a:r>
              <a:rPr lang="es-EC" sz="2800" b="0" dirty="0" smtClean="0"/>
              <a:t>”</a:t>
            </a:r>
          </a:p>
          <a:p>
            <a:pPr lvl="1"/>
            <a:r>
              <a:rPr lang="es-EC" dirty="0" smtClean="0"/>
              <a:t>Estos no le agregan poder computacional al lenguaje </a:t>
            </a:r>
            <a:r>
              <a:rPr lang="es-EC" sz="2800" dirty="0" smtClean="0"/>
              <a:t>, pero son útiles.</a:t>
            </a:r>
          </a:p>
          <a:p>
            <a:pPr lvl="1"/>
            <a:r>
              <a:rPr lang="es-EC" sz="2800" dirty="0" smtClean="0"/>
              <a:t>Se pueden expresar únicamente con las operaciones básicas.</a:t>
            </a:r>
          </a:p>
          <a:p>
            <a:r>
              <a:rPr lang="es-EC" sz="2800" b="0" dirty="0" smtClean="0"/>
              <a:t>La intersección toma dos relaciones </a:t>
            </a:r>
            <a:r>
              <a:rPr lang="es-EC" sz="2800" dirty="0" smtClean="0"/>
              <a:t>compatibles en unión.</a:t>
            </a:r>
            <a:endParaRPr lang="es-EC" sz="2800" dirty="0" smtClean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s-EC" sz="2800" dirty="0" err="1" smtClean="0"/>
              <a:t>R∩S:el</a:t>
            </a:r>
            <a:r>
              <a:rPr lang="es-EC" sz="2800" dirty="0" smtClean="0"/>
              <a:t> conjunto de elementos que aparecen en ambos R y S.</a:t>
            </a:r>
            <a:endParaRPr lang="es-EC" sz="2800" dirty="0" smtClean="0">
              <a:solidFill>
                <a:schemeClr val="accent2"/>
              </a:solidFill>
            </a:endParaRPr>
          </a:p>
          <a:p>
            <a:r>
              <a:rPr lang="es-EC" sz="2800" b="0" dirty="0" smtClean="0"/>
              <a:t>Expresado con las operaciones básicas:</a:t>
            </a:r>
          </a:p>
          <a:p>
            <a:pPr>
              <a:buFontTx/>
              <a:buNone/>
            </a:pPr>
            <a:r>
              <a:rPr lang="es-EC" sz="2800" b="0" dirty="0" smtClean="0"/>
              <a:t>			</a:t>
            </a:r>
            <a:r>
              <a:rPr lang="es-EC" sz="3200" b="0" dirty="0" smtClean="0"/>
              <a:t>R </a:t>
            </a:r>
            <a:r>
              <a:rPr lang="es-EC" sz="3200" b="0" dirty="0" smtClean="0">
                <a:sym typeface="Symbol" pitchFamily="18" charset="2"/>
              </a:rPr>
              <a:t> S = R   (R  S)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922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922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9225" name="Rectangle 4"/>
          <p:cNvSpPr>
            <a:spLocks noGrp="1" noChangeArrowheads="1"/>
          </p:cNvSpPr>
          <p:nvPr>
            <p:ph type="title"/>
          </p:nvPr>
        </p:nvSpPr>
        <p:spPr>
          <a:xfrm>
            <a:off x="1096963" y="0"/>
            <a:ext cx="3810000" cy="1638300"/>
          </a:xfrm>
          <a:noFill/>
        </p:spPr>
        <p:txBody>
          <a:bodyPr/>
          <a:lstStyle/>
          <a:p>
            <a:r>
              <a:rPr lang="es-EC" dirty="0" smtClean="0"/>
              <a:t>Intersección</a:t>
            </a:r>
            <a:endParaRPr lang="en-US" dirty="0" smtClean="0"/>
          </a:p>
        </p:txBody>
      </p:sp>
      <p:sp>
        <p:nvSpPr>
          <p:cNvPr id="9226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752600"/>
            <a:ext cx="4343400" cy="4648200"/>
          </a:xfrm>
          <a:noFill/>
        </p:spPr>
        <p:txBody>
          <a:bodyPr/>
          <a:lstStyle/>
          <a:p>
            <a:pPr>
              <a:buFontTx/>
              <a:buNone/>
            </a:pPr>
            <a:r>
              <a:rPr lang="en-US" sz="2000" smtClean="0"/>
              <a:t> </a:t>
            </a:r>
          </a:p>
        </p:txBody>
      </p:sp>
      <p:sp>
        <p:nvSpPr>
          <p:cNvPr id="9227" name="Text Box 10"/>
          <p:cNvSpPr txBox="1">
            <a:spLocks noChangeArrowheads="1"/>
          </p:cNvSpPr>
          <p:nvPr/>
        </p:nvSpPr>
        <p:spPr bwMode="auto">
          <a:xfrm>
            <a:off x="1725613" y="3394075"/>
            <a:ext cx="1173162" cy="4587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tx1"/>
                </a:solidFill>
              </a:rPr>
              <a:t>S1</a:t>
            </a:r>
            <a:endParaRPr lang="en-US"/>
          </a:p>
        </p:txBody>
      </p:sp>
      <p:sp>
        <p:nvSpPr>
          <p:cNvPr id="9228" name="Text Box 11"/>
          <p:cNvSpPr txBox="1">
            <a:spLocks noChangeArrowheads="1"/>
          </p:cNvSpPr>
          <p:nvPr/>
        </p:nvSpPr>
        <p:spPr bwMode="auto">
          <a:xfrm>
            <a:off x="1878013" y="6157913"/>
            <a:ext cx="1173162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tx1"/>
                </a:solidFill>
              </a:rPr>
              <a:t>S2</a:t>
            </a:r>
            <a:endParaRPr lang="en-US"/>
          </a:p>
        </p:txBody>
      </p:sp>
      <p:graphicFrame>
        <p:nvGraphicFramePr>
          <p:cNvPr id="54285" name="Object 13"/>
          <p:cNvGraphicFramePr>
            <a:graphicFrameLocks/>
          </p:cNvGraphicFramePr>
          <p:nvPr/>
        </p:nvGraphicFramePr>
        <p:xfrm>
          <a:off x="4735513" y="2778125"/>
          <a:ext cx="4244975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Document" r:id="rId4" imgW="4684827" imgH="1551450" progId="Word.Document.8">
                  <p:embed/>
                </p:oleObj>
              </mc:Choice>
              <mc:Fallback>
                <p:oleObj name="Document" r:id="rId4" imgW="4684827" imgH="1551450" progId="Word.Document.8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513" y="2778125"/>
                        <a:ext cx="4244975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4"/>
          <p:cNvGraphicFramePr>
            <a:graphicFrameLocks/>
          </p:cNvGraphicFramePr>
          <p:nvPr/>
        </p:nvGraphicFramePr>
        <p:xfrm>
          <a:off x="5322888" y="4348163"/>
          <a:ext cx="32480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6" imgW="1661760" imgH="474480" progId="Equation.3">
                  <p:embed/>
                </p:oleObj>
              </mc:Choice>
              <mc:Fallback>
                <p:oleObj name="Equation" r:id="rId6" imgW="1661760" imgH="47448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4348163"/>
                        <a:ext cx="324802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1032"/>
          <p:cNvGraphicFramePr>
            <a:graphicFrameLocks/>
          </p:cNvGraphicFramePr>
          <p:nvPr/>
        </p:nvGraphicFramePr>
        <p:xfrm>
          <a:off x="222250" y="1360488"/>
          <a:ext cx="4373563" cy="349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Document" r:id="rId8" imgW="4395685" imgH="3513781" progId="Word.Document.8">
                  <p:embed/>
                </p:oleObj>
              </mc:Choice>
              <mc:Fallback>
                <p:oleObj name="Document" r:id="rId8" imgW="4395685" imgH="3513781" progId="Word.Document.8">
                  <p:embed/>
                  <p:pic>
                    <p:nvPicPr>
                      <p:cNvPr id="0" name="Object 103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" y="1360488"/>
                        <a:ext cx="4373563" cy="349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1033"/>
          <p:cNvGraphicFramePr>
            <a:graphicFrameLocks/>
          </p:cNvGraphicFramePr>
          <p:nvPr/>
        </p:nvGraphicFramePr>
        <p:xfrm>
          <a:off x="257175" y="3789040"/>
          <a:ext cx="4267200" cy="262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Document" r:id="rId10" imgW="4359181" imgH="2271393" progId="Word.Document.8">
                  <p:embed/>
                </p:oleObj>
              </mc:Choice>
              <mc:Fallback>
                <p:oleObj name="Document" r:id="rId10" imgW="4359181" imgH="2271393" progId="Word.Document.8">
                  <p:embed/>
                  <p:pic>
                    <p:nvPicPr>
                      <p:cNvPr id="0" name="Object 103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3789040"/>
                        <a:ext cx="4267200" cy="262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Operador</a:t>
            </a:r>
            <a:r>
              <a:rPr lang="en-US" dirty="0" smtClean="0"/>
              <a:t> </a:t>
            </a:r>
            <a:r>
              <a:rPr lang="en-US" dirty="0" err="1" smtClean="0"/>
              <a:t>Compuesto</a:t>
            </a:r>
            <a:r>
              <a:rPr lang="en-US" dirty="0" smtClean="0"/>
              <a:t>: </a:t>
            </a:r>
            <a:r>
              <a:rPr lang="es-EC" dirty="0" err="1" smtClean="0"/>
              <a:t>Join</a:t>
            </a:r>
            <a:endParaRPr lang="es-EC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 smtClean="0"/>
              <a:t>Envuelve</a:t>
            </a:r>
            <a:r>
              <a:rPr lang="en-US" sz="2800" dirty="0" smtClean="0"/>
              <a:t>  al </a:t>
            </a:r>
            <a:r>
              <a:rPr lang="en-US" sz="2800" dirty="0" err="1" smtClean="0"/>
              <a:t>producto</a:t>
            </a:r>
            <a:r>
              <a:rPr lang="en-US" sz="2800" dirty="0" smtClean="0"/>
              <a:t> </a:t>
            </a:r>
            <a:r>
              <a:rPr lang="en-US" sz="2800" dirty="0" err="1" smtClean="0"/>
              <a:t>cruz</a:t>
            </a:r>
            <a:r>
              <a:rPr lang="en-US" sz="2800" dirty="0" smtClean="0"/>
              <a:t>, </a:t>
            </a:r>
            <a:r>
              <a:rPr lang="en-US" sz="2800" dirty="0" err="1" smtClean="0"/>
              <a:t>seleccion</a:t>
            </a:r>
            <a:r>
              <a:rPr lang="en-US" sz="2800" dirty="0" smtClean="0"/>
              <a:t>, y a </a:t>
            </a:r>
            <a:r>
              <a:rPr lang="en-US" sz="2800" dirty="0" err="1" smtClean="0"/>
              <a:t>veces</a:t>
            </a:r>
            <a:r>
              <a:rPr lang="en-US" sz="2800" dirty="0" smtClean="0"/>
              <a:t> a la </a:t>
            </a:r>
            <a:r>
              <a:rPr lang="en-US" sz="2800" dirty="0" err="1" smtClean="0"/>
              <a:t>proyeccion</a:t>
            </a:r>
            <a:r>
              <a:rPr lang="en-US" sz="2800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El </a:t>
            </a:r>
            <a:r>
              <a:rPr lang="en-US" sz="2800" dirty="0" err="1" smtClean="0"/>
              <a:t>tipo</a:t>
            </a:r>
            <a:r>
              <a:rPr lang="en-US" sz="2800" dirty="0" smtClean="0"/>
              <a:t> </a:t>
            </a:r>
            <a:r>
              <a:rPr lang="en-US" sz="2800" dirty="0" err="1" smtClean="0"/>
              <a:t>mas</a:t>
            </a:r>
            <a:r>
              <a:rPr lang="en-US" sz="2800" dirty="0" smtClean="0"/>
              <a:t> </a:t>
            </a:r>
            <a:r>
              <a:rPr lang="en-US" sz="2800" dirty="0" err="1" smtClean="0"/>
              <a:t>comun</a:t>
            </a:r>
            <a:r>
              <a:rPr lang="en-US" sz="2800" dirty="0" smtClean="0"/>
              <a:t> de join </a:t>
            </a:r>
            <a:r>
              <a:rPr lang="en-US" sz="2800" dirty="0" err="1" smtClean="0"/>
              <a:t>es</a:t>
            </a:r>
            <a:r>
              <a:rPr lang="en-US" sz="2800" dirty="0" smtClean="0"/>
              <a:t> el join natural a </a:t>
            </a:r>
            <a:r>
              <a:rPr lang="en-US" sz="2800" dirty="0" err="1" smtClean="0"/>
              <a:t>veces</a:t>
            </a:r>
            <a:r>
              <a:rPr lang="en-US" sz="2800" dirty="0" smtClean="0"/>
              <a:t> solo </a:t>
            </a:r>
            <a:r>
              <a:rPr lang="en-US" sz="2800" dirty="0" err="1" smtClean="0"/>
              <a:t>llamado</a:t>
            </a:r>
            <a:r>
              <a:rPr lang="en-US" sz="2800" dirty="0" smtClean="0"/>
              <a:t> join.   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Se </a:t>
            </a:r>
            <a:r>
              <a:rPr lang="en-US" sz="2800" dirty="0" err="1" smtClean="0"/>
              <a:t>representa</a:t>
            </a:r>
            <a:r>
              <a:rPr lang="en-US" sz="2800" dirty="0" smtClean="0"/>
              <a:t> con el </a:t>
            </a:r>
            <a:r>
              <a:rPr lang="en-US" sz="2800" dirty="0" err="1" smtClean="0"/>
              <a:t>simbolo</a:t>
            </a:r>
            <a:r>
              <a:rPr lang="en-US" sz="2800" dirty="0" smtClean="0"/>
              <a:t> </a:t>
            </a:r>
          </a:p>
          <a:p>
            <a:pPr>
              <a:buNone/>
            </a:pPr>
            <a:endParaRPr lang="es-EC" dirty="0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5357818" y="3214686"/>
            <a:ext cx="417512" cy="214312"/>
            <a:chOff x="2226" y="2065"/>
            <a:chExt cx="1148" cy="671"/>
          </a:xfrm>
        </p:grpSpPr>
        <p:sp>
          <p:nvSpPr>
            <p:cNvPr id="5" name="AutoShape 17"/>
            <p:cNvSpPr>
              <a:spLocks noChangeArrowheads="1"/>
            </p:cNvSpPr>
            <p:nvPr/>
          </p:nvSpPr>
          <p:spPr bwMode="auto">
            <a:xfrm rot="-5400000">
              <a:off x="2753" y="2110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C"/>
            </a:p>
          </p:txBody>
        </p:sp>
        <p:sp>
          <p:nvSpPr>
            <p:cNvPr id="6" name="AutoShape 18"/>
            <p:cNvSpPr>
              <a:spLocks noChangeArrowheads="1"/>
            </p:cNvSpPr>
            <p:nvPr/>
          </p:nvSpPr>
          <p:spPr bwMode="auto">
            <a:xfrm rot="5400000" flipH="1">
              <a:off x="2181" y="2115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C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00808"/>
            <a:ext cx="8229600" cy="18002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dirty="0" smtClean="0"/>
              <a:t>S1         R1 </a:t>
            </a:r>
            <a:r>
              <a:rPr lang="en-US" sz="2800" dirty="0" err="1" smtClean="0"/>
              <a:t>conceptualmente</a:t>
            </a:r>
            <a:r>
              <a:rPr lang="en-US" sz="2800" dirty="0" smtClean="0"/>
              <a:t> </a:t>
            </a:r>
            <a:r>
              <a:rPr lang="en-US" sz="2800" dirty="0" err="1" smtClean="0"/>
              <a:t>es</a:t>
            </a:r>
            <a:r>
              <a:rPr lang="en-US" sz="2800" dirty="0" smtClean="0"/>
              <a:t>:</a:t>
            </a:r>
          </a:p>
          <a:p>
            <a:pPr lvl="1">
              <a:lnSpc>
                <a:spcPct val="90000"/>
              </a:lnSpc>
            </a:pPr>
            <a:r>
              <a:rPr lang="en-US" dirty="0" err="1" smtClean="0"/>
              <a:t>Generar</a:t>
            </a:r>
            <a:r>
              <a:rPr lang="en-US" dirty="0" smtClean="0"/>
              <a:t> S1 </a:t>
            </a:r>
            <a:r>
              <a:rPr lang="en-US" dirty="0" smtClean="0">
                <a:sym typeface="Symbol" pitchFamily="18" charset="2"/>
              </a:rPr>
              <a:t></a:t>
            </a:r>
            <a:r>
              <a:rPr lang="en-US" dirty="0" smtClean="0"/>
              <a:t> R1</a:t>
            </a:r>
          </a:p>
          <a:p>
            <a:pPr lvl="1">
              <a:lnSpc>
                <a:spcPct val="90000"/>
              </a:lnSpc>
            </a:pPr>
            <a:r>
              <a:rPr lang="en-US" dirty="0" err="1" smtClean="0"/>
              <a:t>Seleccionar</a:t>
            </a:r>
            <a:r>
              <a:rPr lang="en-US" dirty="0" smtClean="0"/>
              <a:t> </a:t>
            </a:r>
            <a:r>
              <a:rPr lang="en-US" dirty="0" err="1" smtClean="0"/>
              <a:t>filas</a:t>
            </a:r>
            <a:r>
              <a:rPr lang="en-US" dirty="0" smtClean="0"/>
              <a:t> </a:t>
            </a:r>
            <a:r>
              <a:rPr lang="en-US" dirty="0" err="1" smtClean="0"/>
              <a:t>donde</a:t>
            </a:r>
            <a:r>
              <a:rPr lang="en-US" dirty="0" smtClean="0"/>
              <a:t> los </a:t>
            </a:r>
            <a:r>
              <a:rPr lang="en-US" dirty="0" err="1" smtClean="0"/>
              <a:t>atributos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aparecen</a:t>
            </a:r>
            <a:r>
              <a:rPr lang="en-US" dirty="0" smtClean="0"/>
              <a:t> en </a:t>
            </a:r>
            <a:r>
              <a:rPr lang="en-US" dirty="0" err="1" smtClean="0"/>
              <a:t>ambas</a:t>
            </a:r>
            <a:r>
              <a:rPr lang="en-US" dirty="0" smtClean="0"/>
              <a:t> </a:t>
            </a:r>
            <a:r>
              <a:rPr lang="en-US" dirty="0" err="1" smtClean="0"/>
              <a:t>relaciones</a:t>
            </a:r>
            <a:r>
              <a:rPr lang="en-US" dirty="0" smtClean="0"/>
              <a:t> </a:t>
            </a:r>
            <a:r>
              <a:rPr lang="en-US" dirty="0" err="1" smtClean="0"/>
              <a:t>tienen</a:t>
            </a:r>
            <a:r>
              <a:rPr lang="en-US" dirty="0" smtClean="0"/>
              <a:t> </a:t>
            </a:r>
            <a:r>
              <a:rPr lang="en-US" dirty="0" err="1" smtClean="0"/>
              <a:t>valores</a:t>
            </a:r>
            <a:r>
              <a:rPr lang="en-US" dirty="0" smtClean="0"/>
              <a:t> </a:t>
            </a:r>
            <a:r>
              <a:rPr lang="en-US" dirty="0" err="1" smtClean="0"/>
              <a:t>iguales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err="1" smtClean="0"/>
              <a:t>Proyectar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los </a:t>
            </a:r>
            <a:r>
              <a:rPr lang="en-US" dirty="0" err="1" smtClean="0"/>
              <a:t>atributos</a:t>
            </a:r>
            <a:r>
              <a:rPr lang="en-US" dirty="0" smtClean="0"/>
              <a:t> </a:t>
            </a:r>
            <a:r>
              <a:rPr lang="en-US" dirty="0" err="1" smtClean="0"/>
              <a:t>unicos</a:t>
            </a:r>
            <a:r>
              <a:rPr lang="en-US" dirty="0" smtClean="0"/>
              <a:t> y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copia</a:t>
            </a:r>
            <a:r>
              <a:rPr lang="en-US" dirty="0" smtClean="0"/>
              <a:t> de </a:t>
            </a:r>
            <a:r>
              <a:rPr lang="en-US" dirty="0" err="1" smtClean="0"/>
              <a:t>cada</a:t>
            </a:r>
            <a:r>
              <a:rPr lang="en-US" dirty="0" smtClean="0"/>
              <a:t> </a:t>
            </a:r>
            <a:r>
              <a:rPr lang="en-US" dirty="0" err="1" smtClean="0"/>
              <a:t>uno</a:t>
            </a:r>
            <a:r>
              <a:rPr lang="en-US" dirty="0" smtClean="0"/>
              <a:t> de los </a:t>
            </a:r>
            <a:r>
              <a:rPr lang="en-US" dirty="0" err="1" smtClean="0"/>
              <a:t>comunes</a:t>
            </a:r>
            <a:endParaRPr lang="en-US" dirty="0" smtClean="0"/>
          </a:p>
          <a:p>
            <a:endParaRPr lang="es-EC" dirty="0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1058144" y="1700808"/>
            <a:ext cx="417512" cy="214312"/>
            <a:chOff x="2226" y="2065"/>
            <a:chExt cx="1148" cy="671"/>
          </a:xfrm>
        </p:grpSpPr>
        <p:sp>
          <p:nvSpPr>
            <p:cNvPr id="5" name="AutoShape 17"/>
            <p:cNvSpPr>
              <a:spLocks noChangeArrowheads="1"/>
            </p:cNvSpPr>
            <p:nvPr/>
          </p:nvSpPr>
          <p:spPr bwMode="auto">
            <a:xfrm rot="-5400000">
              <a:off x="2753" y="2110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C"/>
            </a:p>
          </p:txBody>
        </p:sp>
        <p:sp>
          <p:nvSpPr>
            <p:cNvPr id="6" name="AutoShape 18"/>
            <p:cNvSpPr>
              <a:spLocks noChangeArrowheads="1"/>
            </p:cNvSpPr>
            <p:nvPr/>
          </p:nvSpPr>
          <p:spPr bwMode="auto">
            <a:xfrm rot="5400000" flipH="1">
              <a:off x="2181" y="2115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C"/>
            </a:p>
          </p:txBody>
        </p:sp>
      </p:grpSp>
      <p:graphicFrame>
        <p:nvGraphicFramePr>
          <p:cNvPr id="62468" name="Object 4"/>
          <p:cNvGraphicFramePr>
            <a:graphicFrameLocks/>
          </p:cNvGraphicFramePr>
          <p:nvPr/>
        </p:nvGraphicFramePr>
        <p:xfrm>
          <a:off x="899592" y="3580780"/>
          <a:ext cx="6869113" cy="337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3" name="Document" r:id="rId3" imgW="8534756" imgH="3995427" progId="Word.Document.8">
                  <p:embed/>
                </p:oleObj>
              </mc:Choice>
              <mc:Fallback>
                <p:oleObj name="Document" r:id="rId3" imgW="8534756" imgH="3995427" progId="Word.Documen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580780"/>
                        <a:ext cx="6869113" cy="337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0" y="260648"/>
            <a:ext cx="889000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tx1"/>
                </a:solidFill>
              </a:rPr>
              <a:t>R1</a:t>
            </a:r>
            <a:endParaRPr lang="en-US" dirty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4139952" y="548680"/>
            <a:ext cx="522288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S1</a:t>
            </a:r>
            <a:endParaRPr lang="en-US"/>
          </a:p>
        </p:txBody>
      </p:sp>
      <p:graphicFrame>
        <p:nvGraphicFramePr>
          <p:cNvPr id="10" name="Object 5"/>
          <p:cNvGraphicFramePr>
            <a:graphicFrameLocks/>
          </p:cNvGraphicFramePr>
          <p:nvPr/>
        </p:nvGraphicFramePr>
        <p:xfrm>
          <a:off x="4644008" y="116632"/>
          <a:ext cx="4302125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4" name="Document" r:id="rId5" imgW="4337857" imgH="2428812" progId="Word.Document.8">
                  <p:embed/>
                </p:oleObj>
              </mc:Choice>
              <mc:Fallback>
                <p:oleObj name="Document" r:id="rId5" imgW="4337857" imgH="2428812" progId="Word.Document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116632"/>
                        <a:ext cx="4302125" cy="241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/>
          </p:cNvGraphicFramePr>
          <p:nvPr/>
        </p:nvGraphicFramePr>
        <p:xfrm>
          <a:off x="270445" y="269032"/>
          <a:ext cx="3282950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5" name="Document" r:id="rId7" imgW="3349352" imgH="1617162" progId="Word.Document.8">
                  <p:embed/>
                </p:oleObj>
              </mc:Choice>
              <mc:Fallback>
                <p:oleObj name="Document" r:id="rId7" imgW="3349352" imgH="1617162" progId="Word.Document.8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45" y="269032"/>
                        <a:ext cx="3282950" cy="158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02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5838" y="95250"/>
            <a:ext cx="7772400" cy="1143000"/>
          </a:xfrm>
        </p:spPr>
        <p:txBody>
          <a:bodyPr/>
          <a:lstStyle/>
          <a:p>
            <a:r>
              <a:rPr lang="en-US" dirty="0" smtClean="0"/>
              <a:t>Join</a:t>
            </a:r>
          </a:p>
        </p:txBody>
      </p:sp>
      <p:sp>
        <p:nvSpPr>
          <p:cNvPr id="10247" name="Text Box 6"/>
          <p:cNvSpPr txBox="1">
            <a:spLocks noChangeArrowheads="1"/>
          </p:cNvSpPr>
          <p:nvPr/>
        </p:nvSpPr>
        <p:spPr bwMode="auto">
          <a:xfrm>
            <a:off x="1660525" y="2887663"/>
            <a:ext cx="889000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tx1"/>
                </a:solidFill>
              </a:rPr>
              <a:t>R1</a:t>
            </a:r>
            <a:endParaRPr lang="en-US"/>
          </a:p>
        </p:txBody>
      </p:sp>
      <p:sp>
        <p:nvSpPr>
          <p:cNvPr id="10248" name="Text Box 7"/>
          <p:cNvSpPr txBox="1">
            <a:spLocks noChangeArrowheads="1"/>
          </p:cNvSpPr>
          <p:nvPr/>
        </p:nvSpPr>
        <p:spPr bwMode="auto">
          <a:xfrm>
            <a:off x="6461125" y="3055938"/>
            <a:ext cx="522288" cy="4587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S1</a:t>
            </a:r>
            <a:endParaRPr lang="en-US"/>
          </a:p>
        </p:txBody>
      </p:sp>
      <p:sp>
        <p:nvSpPr>
          <p:cNvPr id="10249" name="Text Box 8"/>
          <p:cNvSpPr txBox="1">
            <a:spLocks noChangeArrowheads="1"/>
          </p:cNvSpPr>
          <p:nvPr/>
        </p:nvSpPr>
        <p:spPr bwMode="auto">
          <a:xfrm>
            <a:off x="288925" y="3762375"/>
            <a:ext cx="1919115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 b="1" dirty="0"/>
              <a:t>S</a:t>
            </a:r>
            <a:r>
              <a:rPr lang="en-US" sz="2800" b="1" dirty="0" smtClean="0">
                <a:solidFill>
                  <a:schemeClr val="tx1"/>
                </a:solidFill>
              </a:rPr>
              <a:t>1         </a:t>
            </a:r>
            <a:r>
              <a:rPr lang="en-US" sz="2800" b="1" dirty="0" smtClean="0"/>
              <a:t>R</a:t>
            </a:r>
            <a:r>
              <a:rPr lang="en-US" sz="2800" b="1" dirty="0" smtClean="0">
                <a:solidFill>
                  <a:schemeClr val="tx1"/>
                </a:solidFill>
              </a:rPr>
              <a:t>1 </a:t>
            </a:r>
            <a:r>
              <a:rPr lang="en-US" sz="2800" b="1" dirty="0">
                <a:solidFill>
                  <a:schemeClr val="tx1"/>
                </a:solidFill>
              </a:rPr>
              <a:t>=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79475" y="3938588"/>
            <a:ext cx="488950" cy="214312"/>
            <a:chOff x="2226" y="2065"/>
            <a:chExt cx="1148" cy="671"/>
          </a:xfrm>
        </p:grpSpPr>
        <p:sp>
          <p:nvSpPr>
            <p:cNvPr id="10251" name="AutoShape 10"/>
            <p:cNvSpPr>
              <a:spLocks noChangeArrowheads="1"/>
            </p:cNvSpPr>
            <p:nvPr/>
          </p:nvSpPr>
          <p:spPr bwMode="auto">
            <a:xfrm rot="-5400000">
              <a:off x="2753" y="2110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C"/>
            </a:p>
          </p:txBody>
        </p:sp>
        <p:sp>
          <p:nvSpPr>
            <p:cNvPr id="10252" name="AutoShape 11"/>
            <p:cNvSpPr>
              <a:spLocks noChangeArrowheads="1"/>
            </p:cNvSpPr>
            <p:nvPr/>
          </p:nvSpPr>
          <p:spPr bwMode="auto">
            <a:xfrm rot="5400000" flipH="1">
              <a:off x="2181" y="2115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C"/>
            </a:p>
          </p:txBody>
        </p:sp>
      </p:grpSp>
      <p:graphicFrame>
        <p:nvGraphicFramePr>
          <p:cNvPr id="66573" name="Objec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5439420"/>
              </p:ext>
            </p:extLst>
          </p:nvPr>
        </p:nvGraphicFramePr>
        <p:xfrm>
          <a:off x="1036638" y="4648200"/>
          <a:ext cx="7329487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Document" r:id="rId4" imgW="7770605" imgH="1612043" progId="Word.Document.8">
                  <p:embed/>
                </p:oleObj>
              </mc:Choice>
              <mc:Fallback>
                <p:oleObj name="Document" r:id="rId4" imgW="7770605" imgH="1612043" progId="Word.Document.8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4648200"/>
                        <a:ext cx="7329487" cy="185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5"/>
          <p:cNvGraphicFramePr>
            <a:graphicFrameLocks/>
          </p:cNvGraphicFramePr>
          <p:nvPr/>
        </p:nvGraphicFramePr>
        <p:xfrm>
          <a:off x="4553075" y="1087438"/>
          <a:ext cx="4302125" cy="241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Document" r:id="rId6" imgW="4337857" imgH="2428812" progId="Word.Document.8">
                  <p:embed/>
                </p:oleObj>
              </mc:Choice>
              <mc:Fallback>
                <p:oleObj name="Document" r:id="rId6" imgW="4337857" imgH="2428812" progId="Word.Document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3075" y="1087438"/>
                        <a:ext cx="4302125" cy="241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6"/>
          <p:cNvGraphicFramePr>
            <a:graphicFrameLocks/>
          </p:cNvGraphicFramePr>
          <p:nvPr/>
        </p:nvGraphicFramePr>
        <p:xfrm>
          <a:off x="179512" y="1239838"/>
          <a:ext cx="3282950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Document" r:id="rId8" imgW="3349352" imgH="1617162" progId="Word.Document.8">
                  <p:embed/>
                </p:oleObj>
              </mc:Choice>
              <mc:Fallback>
                <p:oleObj name="Document" r:id="rId8" imgW="3349352" imgH="1617162" progId="Word.Document.8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239838"/>
                        <a:ext cx="3282950" cy="158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graphicFrame>
        <p:nvGraphicFramePr>
          <p:cNvPr id="15362" name="Object 7"/>
          <p:cNvGraphicFramePr>
            <a:graphicFrameLocks/>
          </p:cNvGraphicFramePr>
          <p:nvPr/>
        </p:nvGraphicFramePr>
        <p:xfrm>
          <a:off x="4830763" y="1997075"/>
          <a:ext cx="4130675" cy="239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7" name="Document" r:id="rId4" imgW="4326839" imgH="2110824" progId="Word.Document.8">
                  <p:embed/>
                </p:oleObj>
              </mc:Choice>
              <mc:Fallback>
                <p:oleObj name="Document" r:id="rId4" imgW="4326839" imgH="2110824" progId="Word.Documen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0763" y="1997075"/>
                        <a:ext cx="4130675" cy="239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8"/>
          <p:cNvGraphicFramePr>
            <a:graphicFrameLocks/>
          </p:cNvGraphicFramePr>
          <p:nvPr/>
        </p:nvGraphicFramePr>
        <p:xfrm>
          <a:off x="2819400" y="4313238"/>
          <a:ext cx="4206875" cy="223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8" name="Document" r:id="rId6" imgW="4400023" imgH="2263370" progId="Word.Document.8">
                  <p:embed/>
                </p:oleObj>
              </mc:Choice>
              <mc:Fallback>
                <p:oleObj name="Document" r:id="rId6" imgW="4400023" imgH="2263370" progId="Word.Document.8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313238"/>
                        <a:ext cx="4206875" cy="223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9"/>
          <p:cNvGraphicFramePr>
            <a:graphicFrameLocks/>
          </p:cNvGraphicFramePr>
          <p:nvPr/>
        </p:nvGraphicFramePr>
        <p:xfrm>
          <a:off x="5638800" y="334963"/>
          <a:ext cx="3292475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9" name="Document" r:id="rId8" imgW="3657986" imgH="1615518" progId="Word.Document.8">
                  <p:embed/>
                </p:oleObj>
              </mc:Choice>
              <mc:Fallback>
                <p:oleObj name="Document" r:id="rId8" imgW="3657986" imgH="1615518" progId="Word.Document.8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34963"/>
                        <a:ext cx="3292475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5436096" y="0"/>
            <a:ext cx="94602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Reserva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4644008" y="1628800"/>
            <a:ext cx="117820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Marineros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2843808" y="4005064"/>
            <a:ext cx="72090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b="1" i="1" dirty="0" err="1" smtClean="0">
                <a:solidFill>
                  <a:schemeClr val="tx1"/>
                </a:solidFill>
              </a:rPr>
              <a:t>Botes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520" y="1196752"/>
            <a:ext cx="457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C" dirty="0" smtClean="0">
                <a:solidFill>
                  <a:srgbClr val="0000CC"/>
                </a:solidFill>
              </a:rPr>
              <a:t>Encuentre los nombres de los marineros que han reservado el bote #103.</a:t>
            </a:r>
          </a:p>
          <a:p>
            <a:pPr>
              <a:buFont typeface="Arial" pitchFamily="34" charset="0"/>
              <a:buChar char="•"/>
            </a:pPr>
            <a:endParaRPr lang="es-EC" dirty="0" smtClean="0">
              <a:solidFill>
                <a:srgbClr val="0000CC"/>
              </a:solidFill>
            </a:endParaRPr>
          </a:p>
          <a:p>
            <a:pPr>
              <a:buFont typeface="Arial" pitchFamily="34" charset="0"/>
              <a:buChar char="•"/>
            </a:pPr>
            <a:endParaRPr lang="es-EC" dirty="0" smtClean="0">
              <a:solidFill>
                <a:srgbClr val="0000C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1520" y="184482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C" dirty="0" smtClean="0">
                <a:solidFill>
                  <a:srgbClr val="0000CC"/>
                </a:solidFill>
              </a:rPr>
              <a:t>Encuentre los nombres de los marineros que han reservado un bote rojo</a:t>
            </a:r>
            <a:endParaRPr lang="es-EC" dirty="0"/>
          </a:p>
        </p:txBody>
      </p:sp>
      <p:sp>
        <p:nvSpPr>
          <p:cNvPr id="14" name="Title 12"/>
          <p:cNvSpPr>
            <a:spLocks noGrp="1"/>
          </p:cNvSpPr>
          <p:nvPr>
            <p:ph type="title"/>
          </p:nvPr>
        </p:nvSpPr>
        <p:spPr>
          <a:xfrm>
            <a:off x="251520" y="476672"/>
            <a:ext cx="4678288" cy="864096"/>
          </a:xfrm>
        </p:spPr>
        <p:txBody>
          <a:bodyPr>
            <a:normAutofit fontScale="90000"/>
          </a:bodyPr>
          <a:lstStyle/>
          <a:p>
            <a:r>
              <a:rPr lang="es-EC" sz="3100" dirty="0" smtClean="0"/>
              <a:t>Escriba los siguientes </a:t>
            </a:r>
            <a:r>
              <a:rPr lang="es-EC" sz="3100" dirty="0" err="1" smtClean="0"/>
              <a:t>queries</a:t>
            </a:r>
            <a:r>
              <a:rPr lang="es-EC" sz="3100" dirty="0" smtClean="0"/>
              <a:t> en álgebra relacional:</a:t>
            </a:r>
            <a:r>
              <a:rPr lang="es-EC" dirty="0" smtClean="0"/>
              <a:t/>
            </a:r>
            <a:br>
              <a:rPr lang="es-EC" dirty="0" smtClean="0"/>
            </a:br>
            <a:endParaRPr lang="es-EC" dirty="0"/>
          </a:p>
        </p:txBody>
      </p:sp>
      <p:sp>
        <p:nvSpPr>
          <p:cNvPr id="15" name="Rectangle 14"/>
          <p:cNvSpPr/>
          <p:nvPr/>
        </p:nvSpPr>
        <p:spPr>
          <a:xfrm>
            <a:off x="251520" y="249289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 smtClean="0">
                <a:solidFill>
                  <a:srgbClr val="0000CC"/>
                </a:solidFill>
              </a:rPr>
              <a:t>Encuentre</a:t>
            </a:r>
            <a:r>
              <a:rPr lang="en-US" dirty="0" smtClean="0">
                <a:solidFill>
                  <a:srgbClr val="0000CC"/>
                </a:solidFill>
              </a:rPr>
              <a:t> los </a:t>
            </a:r>
            <a:r>
              <a:rPr lang="en-US" dirty="0" err="1" smtClean="0">
                <a:solidFill>
                  <a:srgbClr val="0000CC"/>
                </a:solidFill>
              </a:rPr>
              <a:t>nombres</a:t>
            </a:r>
            <a:r>
              <a:rPr lang="en-US" dirty="0" smtClean="0">
                <a:solidFill>
                  <a:srgbClr val="0000CC"/>
                </a:solidFill>
              </a:rPr>
              <a:t> de los </a:t>
            </a:r>
            <a:r>
              <a:rPr lang="en-US" dirty="0" err="1" smtClean="0">
                <a:solidFill>
                  <a:srgbClr val="0000CC"/>
                </a:solidFill>
              </a:rPr>
              <a:t>marineros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que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han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reservado</a:t>
            </a:r>
            <a:r>
              <a:rPr lang="en-US" dirty="0" smtClean="0">
                <a:solidFill>
                  <a:srgbClr val="0000CC"/>
                </a:solidFill>
              </a:rPr>
              <a:t> un </a:t>
            </a:r>
            <a:r>
              <a:rPr lang="en-US" dirty="0" err="1" smtClean="0">
                <a:solidFill>
                  <a:srgbClr val="0000CC"/>
                </a:solidFill>
              </a:rPr>
              <a:t>bote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rojo</a:t>
            </a:r>
            <a:r>
              <a:rPr lang="en-US" dirty="0" smtClean="0">
                <a:solidFill>
                  <a:srgbClr val="0000CC"/>
                </a:solidFill>
              </a:rPr>
              <a:t> o </a:t>
            </a:r>
            <a:r>
              <a:rPr lang="en-US" dirty="0" err="1" smtClean="0">
                <a:solidFill>
                  <a:srgbClr val="0000CC"/>
                </a:solidFill>
              </a:rPr>
              <a:t>verde</a:t>
            </a:r>
            <a:endParaRPr lang="es-EC" dirty="0"/>
          </a:p>
        </p:txBody>
      </p:sp>
      <p:sp>
        <p:nvSpPr>
          <p:cNvPr id="16" name="Rectangle 15"/>
          <p:cNvSpPr/>
          <p:nvPr/>
        </p:nvSpPr>
        <p:spPr>
          <a:xfrm>
            <a:off x="251520" y="321297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 smtClean="0">
                <a:solidFill>
                  <a:srgbClr val="0000CC"/>
                </a:solidFill>
              </a:rPr>
              <a:t>Encuentre</a:t>
            </a:r>
            <a:r>
              <a:rPr lang="en-US" dirty="0" smtClean="0">
                <a:solidFill>
                  <a:srgbClr val="0000CC"/>
                </a:solidFill>
              </a:rPr>
              <a:t> los </a:t>
            </a:r>
            <a:r>
              <a:rPr lang="en-US" dirty="0" err="1" smtClean="0">
                <a:solidFill>
                  <a:srgbClr val="0000CC"/>
                </a:solidFill>
              </a:rPr>
              <a:t>nombres</a:t>
            </a:r>
            <a:r>
              <a:rPr lang="en-US" dirty="0" smtClean="0">
                <a:solidFill>
                  <a:srgbClr val="0000CC"/>
                </a:solidFill>
              </a:rPr>
              <a:t> de los </a:t>
            </a:r>
            <a:r>
              <a:rPr lang="en-US" dirty="0" err="1" smtClean="0">
                <a:solidFill>
                  <a:srgbClr val="0000CC"/>
                </a:solidFill>
              </a:rPr>
              <a:t>marineros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que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han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reservado</a:t>
            </a:r>
            <a:r>
              <a:rPr lang="en-US" dirty="0" smtClean="0">
                <a:solidFill>
                  <a:srgbClr val="0000CC"/>
                </a:solidFill>
              </a:rPr>
              <a:t> un </a:t>
            </a:r>
            <a:r>
              <a:rPr lang="en-US" dirty="0" err="1" smtClean="0">
                <a:solidFill>
                  <a:srgbClr val="0000CC"/>
                </a:solidFill>
              </a:rPr>
              <a:t>bote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rojo</a:t>
            </a:r>
            <a:r>
              <a:rPr lang="en-US" dirty="0" smtClean="0">
                <a:solidFill>
                  <a:srgbClr val="0000CC"/>
                </a:solidFill>
              </a:rPr>
              <a:t> y un </a:t>
            </a:r>
            <a:r>
              <a:rPr lang="en-US" dirty="0" err="1" smtClean="0">
                <a:solidFill>
                  <a:srgbClr val="0000CC"/>
                </a:solidFill>
              </a:rPr>
              <a:t>bote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err="1" smtClean="0">
                <a:solidFill>
                  <a:srgbClr val="0000CC"/>
                </a:solidFill>
              </a:rPr>
              <a:t>verde</a:t>
            </a:r>
            <a:endParaRPr lang="es-EC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127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1272" name="Rectangle 4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7772400" cy="1143000"/>
          </a:xfrm>
          <a:noFill/>
        </p:spPr>
        <p:txBody>
          <a:bodyPr/>
          <a:lstStyle/>
          <a:p>
            <a:r>
              <a:rPr lang="en-US" dirty="0" err="1" smtClean="0"/>
              <a:t>Otros</a:t>
            </a:r>
            <a:r>
              <a:rPr lang="en-US" dirty="0" smtClean="0"/>
              <a:t> </a:t>
            </a:r>
            <a:r>
              <a:rPr lang="en-US" dirty="0" err="1" smtClean="0"/>
              <a:t>tipos</a:t>
            </a:r>
            <a:r>
              <a:rPr lang="en-US" dirty="0" smtClean="0"/>
              <a:t> de Joins</a:t>
            </a:r>
          </a:p>
        </p:txBody>
      </p:sp>
      <p:sp>
        <p:nvSpPr>
          <p:cNvPr id="112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0" y="1166812"/>
            <a:ext cx="7772400" cy="5334021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i="1" u="sng" dirty="0" smtClean="0">
                <a:solidFill>
                  <a:schemeClr val="accent2"/>
                </a:solidFill>
              </a:rPr>
              <a:t>Join </a:t>
            </a:r>
            <a:r>
              <a:rPr lang="en-US" i="1" u="sng" dirty="0" err="1" smtClean="0">
                <a:solidFill>
                  <a:schemeClr val="accent2"/>
                </a:solidFill>
              </a:rPr>
              <a:t>Condicion</a:t>
            </a:r>
            <a:r>
              <a:rPr lang="en-US" i="1" u="sng" dirty="0" smtClean="0">
                <a:solidFill>
                  <a:schemeClr val="accent2"/>
                </a:solidFill>
              </a:rPr>
              <a:t> (o “theta-join”)</a:t>
            </a:r>
            <a:r>
              <a:rPr lang="en-US" dirty="0" smtClean="0"/>
              <a:t>: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endParaRPr lang="en-US" i="1" dirty="0" smtClean="0"/>
          </a:p>
          <a:p>
            <a:endParaRPr lang="en-US" i="1" dirty="0" smtClean="0">
              <a:solidFill>
                <a:schemeClr val="accent2"/>
              </a:solidFill>
            </a:endParaRPr>
          </a:p>
          <a:p>
            <a:endParaRPr lang="en-US" i="1" dirty="0" smtClean="0">
              <a:solidFill>
                <a:schemeClr val="accent2"/>
              </a:solidFill>
            </a:endParaRPr>
          </a:p>
          <a:p>
            <a:endParaRPr lang="en-US" i="1" dirty="0" smtClean="0">
              <a:solidFill>
                <a:schemeClr val="accent2"/>
              </a:solidFill>
            </a:endParaRPr>
          </a:p>
          <a:p>
            <a:r>
              <a:rPr lang="en-US" sz="2800" b="0" i="1" dirty="0" err="1" smtClean="0">
                <a:solidFill>
                  <a:schemeClr val="accent2"/>
                </a:solidFill>
              </a:rPr>
              <a:t>Esquema</a:t>
            </a:r>
            <a:r>
              <a:rPr lang="en-US" sz="2800" b="0" i="1" dirty="0" smtClean="0">
                <a:solidFill>
                  <a:schemeClr val="accent2"/>
                </a:solidFill>
              </a:rPr>
              <a:t> </a:t>
            </a:r>
            <a:r>
              <a:rPr lang="en-US" sz="2800" b="0" i="1" dirty="0" err="1" smtClean="0">
                <a:solidFill>
                  <a:schemeClr val="accent2"/>
                </a:solidFill>
              </a:rPr>
              <a:t>resultante</a:t>
            </a:r>
            <a:r>
              <a:rPr lang="en-US" sz="2800" b="0" i="1" dirty="0" smtClean="0">
                <a:solidFill>
                  <a:schemeClr val="accent2"/>
                </a:solidFill>
              </a:rPr>
              <a:t> </a:t>
            </a:r>
            <a:r>
              <a:rPr lang="en-US" sz="2800" b="0" dirty="0" smtClean="0"/>
              <a:t>el </a:t>
            </a:r>
            <a:r>
              <a:rPr lang="en-US" sz="2800" b="0" dirty="0" err="1" smtClean="0"/>
              <a:t>mismo</a:t>
            </a:r>
            <a:r>
              <a:rPr lang="en-US" sz="2800" b="0" dirty="0" smtClean="0"/>
              <a:t> </a:t>
            </a:r>
            <a:r>
              <a:rPr lang="en-US" sz="2800" b="0" dirty="0" err="1" smtClean="0"/>
              <a:t>que</a:t>
            </a:r>
            <a:r>
              <a:rPr lang="en-US" sz="2800" b="0" dirty="0" smtClean="0"/>
              <a:t> un </a:t>
            </a:r>
            <a:r>
              <a:rPr lang="en-US" sz="2800" b="0" dirty="0" err="1" smtClean="0"/>
              <a:t>producto-cruz</a:t>
            </a:r>
            <a:r>
              <a:rPr lang="en-US" sz="2800" b="0" dirty="0" smtClean="0"/>
              <a:t>.</a:t>
            </a:r>
          </a:p>
          <a:p>
            <a:r>
              <a:rPr lang="en-US" sz="2800" dirty="0" err="1" smtClean="0"/>
              <a:t>Puede</a:t>
            </a:r>
            <a:r>
              <a:rPr lang="en-US" sz="2800" dirty="0" smtClean="0"/>
              <a:t> </a:t>
            </a:r>
            <a:r>
              <a:rPr lang="en-US" sz="2800" dirty="0" err="1" smtClean="0"/>
              <a:t>tener</a:t>
            </a:r>
            <a:r>
              <a:rPr lang="en-US" sz="2800" dirty="0" smtClean="0"/>
              <a:t> </a:t>
            </a:r>
            <a:r>
              <a:rPr lang="en-US" sz="2800" dirty="0" err="1" smtClean="0"/>
              <a:t>menos</a:t>
            </a:r>
            <a:r>
              <a:rPr lang="en-US" sz="2800" dirty="0" smtClean="0"/>
              <a:t> </a:t>
            </a:r>
            <a:r>
              <a:rPr lang="en-US" sz="2800" b="0" dirty="0" err="1" smtClean="0"/>
              <a:t>tuplas</a:t>
            </a:r>
            <a:r>
              <a:rPr lang="en-US" sz="2800" b="0" dirty="0" smtClean="0"/>
              <a:t> </a:t>
            </a:r>
            <a:r>
              <a:rPr lang="en-US" sz="2800" b="0" dirty="0" err="1" smtClean="0"/>
              <a:t>que</a:t>
            </a:r>
            <a:r>
              <a:rPr lang="en-US" sz="2800" b="0" dirty="0" smtClean="0"/>
              <a:t> el </a:t>
            </a:r>
            <a:r>
              <a:rPr lang="en-US" sz="2800" b="0" dirty="0" err="1" smtClean="0"/>
              <a:t>producto-cruz</a:t>
            </a:r>
            <a:r>
              <a:rPr lang="en-US" sz="2800" b="0" dirty="0" smtClean="0"/>
              <a:t>.</a:t>
            </a:r>
          </a:p>
          <a:p>
            <a:r>
              <a:rPr lang="en-US" i="1" u="sng" dirty="0" err="1" smtClean="0">
                <a:solidFill>
                  <a:schemeClr val="accent2"/>
                </a:solidFill>
              </a:rPr>
              <a:t>Equi</a:t>
            </a:r>
            <a:r>
              <a:rPr lang="en-US" i="1" u="sng" dirty="0" smtClean="0">
                <a:solidFill>
                  <a:schemeClr val="accent2"/>
                </a:solidFill>
              </a:rPr>
              <a:t>-Join</a:t>
            </a:r>
            <a:r>
              <a:rPr lang="en-US" dirty="0" smtClean="0">
                <a:solidFill>
                  <a:schemeClr val="accent2"/>
                </a:solidFill>
              </a:rPr>
              <a:t>:  </a:t>
            </a:r>
            <a:r>
              <a:rPr lang="en-US" dirty="0" err="1" smtClean="0"/>
              <a:t>Caso</a:t>
            </a:r>
            <a:r>
              <a:rPr lang="en-US" dirty="0" smtClean="0"/>
              <a:t> especial: La </a:t>
            </a:r>
            <a:r>
              <a:rPr lang="en-US" dirty="0" err="1" smtClean="0"/>
              <a:t>condicion</a:t>
            </a:r>
            <a:r>
              <a:rPr lang="en-US" dirty="0" smtClean="0"/>
              <a:t> </a:t>
            </a:r>
            <a:r>
              <a:rPr lang="en-US" i="1" dirty="0" smtClean="0"/>
              <a:t>c</a:t>
            </a:r>
            <a:r>
              <a:rPr lang="en-US" dirty="0" smtClean="0"/>
              <a:t> </a:t>
            </a:r>
            <a:r>
              <a:rPr lang="en-US" dirty="0" err="1" smtClean="0"/>
              <a:t>contiene</a:t>
            </a:r>
            <a:r>
              <a:rPr lang="en-US" dirty="0" smtClean="0"/>
              <a:t> solo </a:t>
            </a:r>
            <a:r>
              <a:rPr lang="en-US" dirty="0" err="1" smtClean="0"/>
              <a:t>igualdades</a:t>
            </a:r>
            <a:r>
              <a:rPr lang="en-US" dirty="0" smtClean="0"/>
              <a:t>.</a:t>
            </a:r>
            <a:endParaRPr lang="en-US" b="0" dirty="0" smtClean="0"/>
          </a:p>
        </p:txBody>
      </p:sp>
      <p:graphicFrame>
        <p:nvGraphicFramePr>
          <p:cNvPr id="11266" name="Object 6"/>
          <p:cNvGraphicFramePr>
            <a:graphicFrameLocks/>
          </p:cNvGraphicFramePr>
          <p:nvPr/>
        </p:nvGraphicFramePr>
        <p:xfrm>
          <a:off x="2552700" y="1706563"/>
          <a:ext cx="41021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5" name="Equation" r:id="rId4" imgW="4116240" imgH="639720" progId="Equation.3">
                  <p:embed/>
                </p:oleObj>
              </mc:Choice>
              <mc:Fallback>
                <p:oleObj name="Equation" r:id="rId4" imgW="4116240" imgH="63972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1706563"/>
                        <a:ext cx="41021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7"/>
          <p:cNvGraphicFramePr>
            <a:graphicFrameLocks/>
          </p:cNvGraphicFramePr>
          <p:nvPr/>
        </p:nvGraphicFramePr>
        <p:xfrm>
          <a:off x="266700" y="2524125"/>
          <a:ext cx="8239125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6" name="Document" r:id="rId6" imgW="8597900" imgH="1612900" progId="Word.Document.8">
                  <p:embed/>
                </p:oleObj>
              </mc:Choice>
              <mc:Fallback>
                <p:oleObj name="Document" r:id="rId6" imgW="8597900" imgH="1612900" progId="Word.Documen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2524125"/>
                        <a:ext cx="8239125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8"/>
          <p:cNvGraphicFramePr>
            <a:graphicFrameLocks/>
          </p:cNvGraphicFramePr>
          <p:nvPr/>
        </p:nvGraphicFramePr>
        <p:xfrm>
          <a:off x="2916238" y="4041775"/>
          <a:ext cx="32908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7" name="Equation" r:id="rId8" imgW="3301920" imgH="558720" progId="Equation.3">
                  <p:embed/>
                </p:oleObj>
              </mc:Choice>
              <mc:Fallback>
                <p:oleObj name="Equation" r:id="rId8" imgW="3301920" imgH="55872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041775"/>
                        <a:ext cx="32908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2293" name="Rectangle 4"/>
          <p:cNvSpPr>
            <a:spLocks noGrp="1" noChangeArrowheads="1"/>
          </p:cNvSpPr>
          <p:nvPr>
            <p:ph type="title"/>
          </p:nvPr>
        </p:nvSpPr>
        <p:spPr>
          <a:xfrm>
            <a:off x="1114425" y="57150"/>
            <a:ext cx="7772400" cy="900113"/>
          </a:xfrm>
          <a:noFill/>
        </p:spPr>
        <p:txBody>
          <a:bodyPr/>
          <a:lstStyle/>
          <a:p>
            <a:r>
              <a:rPr lang="en-US" dirty="0" err="1" smtClean="0"/>
              <a:t>Operador</a:t>
            </a:r>
            <a:r>
              <a:rPr lang="en-US" dirty="0" smtClean="0"/>
              <a:t> </a:t>
            </a:r>
            <a:r>
              <a:rPr lang="en-US" dirty="0" err="1" smtClean="0"/>
              <a:t>Compuesto</a:t>
            </a:r>
            <a:r>
              <a:rPr lang="en-US" dirty="0" smtClean="0"/>
              <a:t>: Division</a:t>
            </a:r>
          </a:p>
        </p:txBody>
      </p:sp>
      <p:sp>
        <p:nvSpPr>
          <p:cNvPr id="1229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4800" y="1439863"/>
            <a:ext cx="8293100" cy="5029200"/>
          </a:xfrm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dirty="0" err="1" smtClean="0"/>
              <a:t>Util</a:t>
            </a:r>
            <a:r>
              <a:rPr lang="en-US" sz="2800" b="0" dirty="0" smtClean="0"/>
              <a:t> </a:t>
            </a:r>
            <a:r>
              <a:rPr lang="en-US" sz="2800" b="0" dirty="0" err="1" smtClean="0"/>
              <a:t>para</a:t>
            </a:r>
            <a:r>
              <a:rPr lang="en-US" sz="2800" b="0" dirty="0" smtClean="0"/>
              <a:t> </a:t>
            </a:r>
            <a:r>
              <a:rPr lang="en-US" sz="2800" b="0" dirty="0" err="1" smtClean="0"/>
              <a:t>expresar</a:t>
            </a:r>
            <a:r>
              <a:rPr lang="en-US" sz="2800" b="0" dirty="0" smtClean="0"/>
              <a:t> queries de </a:t>
            </a:r>
            <a:r>
              <a:rPr lang="en-US" sz="2800" b="0" dirty="0" err="1" smtClean="0"/>
              <a:t>tipo</a:t>
            </a:r>
            <a:r>
              <a:rPr lang="en-US" sz="2800" b="0" dirty="0" smtClean="0"/>
              <a:t> “</a:t>
            </a:r>
            <a:r>
              <a:rPr lang="en-US" sz="2800" b="0" dirty="0" err="1" smtClean="0"/>
              <a:t>para</a:t>
            </a:r>
            <a:r>
              <a:rPr lang="en-US" sz="2800" b="0" dirty="0" smtClean="0"/>
              <a:t> </a:t>
            </a:r>
            <a:r>
              <a:rPr lang="en-US" sz="2800" b="0" dirty="0" err="1" smtClean="0"/>
              <a:t>todo</a:t>
            </a:r>
            <a:r>
              <a:rPr lang="en-US" sz="2800" b="0" dirty="0" smtClean="0"/>
              <a:t>”:                                                                                                      </a:t>
            </a:r>
            <a:r>
              <a:rPr lang="en-US" sz="2800" b="0" i="1" dirty="0" err="1" smtClean="0"/>
              <a:t>Encontrar</a:t>
            </a:r>
            <a:r>
              <a:rPr lang="en-US" sz="2800" b="0" i="1" dirty="0" smtClean="0"/>
              <a:t> </a:t>
            </a:r>
            <a:r>
              <a:rPr lang="en-US" sz="2800" b="0" i="1" dirty="0" err="1" smtClean="0"/>
              <a:t>sids</a:t>
            </a:r>
            <a:r>
              <a:rPr lang="en-US" sz="2800" b="0" i="1" dirty="0" smtClean="0"/>
              <a:t> </a:t>
            </a:r>
            <a:r>
              <a:rPr lang="en-US" sz="2800" i="1" dirty="0" smtClean="0"/>
              <a:t>de </a:t>
            </a:r>
            <a:r>
              <a:rPr lang="en-US" sz="2800" i="1" dirty="0" err="1" smtClean="0"/>
              <a:t>marineros</a:t>
            </a:r>
            <a:r>
              <a:rPr lang="en-US" sz="2800" b="0" i="1" dirty="0" smtClean="0"/>
              <a:t> </a:t>
            </a:r>
            <a:r>
              <a:rPr lang="en-US" sz="2800" b="0" i="1" dirty="0" err="1" smtClean="0"/>
              <a:t>que</a:t>
            </a:r>
            <a:r>
              <a:rPr lang="en-US" sz="2800" b="0" i="1" dirty="0" smtClean="0"/>
              <a:t> </a:t>
            </a:r>
            <a:r>
              <a:rPr lang="en-US" sz="2800" b="0" i="1" dirty="0" err="1" smtClean="0"/>
              <a:t>han</a:t>
            </a:r>
            <a:r>
              <a:rPr lang="en-US" sz="2800" b="0" i="1" dirty="0" smtClean="0"/>
              <a:t> </a:t>
            </a:r>
            <a:r>
              <a:rPr lang="en-US" sz="2800" b="0" i="1" dirty="0" err="1" smtClean="0"/>
              <a:t>reservado</a:t>
            </a:r>
            <a:r>
              <a:rPr lang="en-US" sz="2800" b="0" i="1" dirty="0" smtClean="0"/>
              <a:t> </a:t>
            </a:r>
            <a:r>
              <a:rPr lang="en-US" sz="2800" i="1" u="sng" dirty="0" err="1" smtClean="0">
                <a:solidFill>
                  <a:schemeClr val="accent2"/>
                </a:solidFill>
              </a:rPr>
              <a:t>todos</a:t>
            </a:r>
            <a:r>
              <a:rPr lang="en-US" sz="2800" b="0" i="1" dirty="0" smtClean="0">
                <a:solidFill>
                  <a:schemeClr val="accent2"/>
                </a:solidFill>
              </a:rPr>
              <a:t> </a:t>
            </a:r>
            <a:r>
              <a:rPr lang="en-US" sz="2800" b="0" i="1" dirty="0" smtClean="0"/>
              <a:t>los </a:t>
            </a:r>
            <a:r>
              <a:rPr lang="en-US" sz="2800" b="0" i="1" dirty="0" err="1" smtClean="0"/>
              <a:t>botes</a:t>
            </a:r>
            <a:r>
              <a:rPr lang="en-US" sz="2800" b="0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Para</a:t>
            </a:r>
            <a:r>
              <a:rPr lang="en-US" sz="2800" b="0" dirty="0" smtClean="0"/>
              <a:t> A/B </a:t>
            </a:r>
            <a:r>
              <a:rPr lang="en-US" sz="2800" dirty="0" smtClean="0"/>
              <a:t>los </a:t>
            </a:r>
            <a:r>
              <a:rPr lang="en-US" sz="2800" dirty="0" err="1" smtClean="0"/>
              <a:t>atributos</a:t>
            </a:r>
            <a:r>
              <a:rPr lang="en-US" sz="2800" dirty="0" smtClean="0"/>
              <a:t> de</a:t>
            </a:r>
            <a:r>
              <a:rPr lang="en-US" sz="2800" b="0" dirty="0" smtClean="0"/>
              <a:t> B </a:t>
            </a:r>
            <a:r>
              <a:rPr lang="en-US" sz="2800" dirty="0" smtClean="0"/>
              <a:t>son un </a:t>
            </a:r>
            <a:r>
              <a:rPr lang="en-US" sz="2800" dirty="0" err="1" smtClean="0"/>
              <a:t>subconjunto</a:t>
            </a:r>
            <a:r>
              <a:rPr lang="en-US" sz="2800" b="0" dirty="0" smtClean="0"/>
              <a:t> de los </a:t>
            </a:r>
            <a:r>
              <a:rPr lang="en-US" sz="2800" b="0" dirty="0" err="1" smtClean="0"/>
              <a:t>atributos</a:t>
            </a:r>
            <a:r>
              <a:rPr lang="en-US" sz="2800" b="0" dirty="0" smtClean="0"/>
              <a:t> de A.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b="1" i="1" dirty="0" smtClean="0">
                <a:solidFill>
                  <a:schemeClr val="accent2"/>
                </a:solidFill>
              </a:rPr>
              <a:t/>
            </a:r>
            <a:br>
              <a:rPr lang="en-US" b="1" i="1" dirty="0" smtClean="0">
                <a:solidFill>
                  <a:schemeClr val="accent2"/>
                </a:solidFill>
              </a:rPr>
            </a:br>
            <a:r>
              <a:rPr lang="en-US" b="1" i="1" dirty="0" smtClean="0">
                <a:solidFill>
                  <a:schemeClr val="accent2"/>
                </a:solidFill>
              </a:rPr>
              <a:t>A/B </a:t>
            </a:r>
            <a:r>
              <a:rPr lang="en-US" b="1" dirty="0" err="1" smtClean="0">
                <a:solidFill>
                  <a:schemeClr val="accent2"/>
                </a:solidFill>
              </a:rPr>
              <a:t>contiene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todas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las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tuplas</a:t>
            </a:r>
            <a:r>
              <a:rPr lang="en-US" b="1" dirty="0" smtClean="0">
                <a:solidFill>
                  <a:schemeClr val="accent2"/>
                </a:solidFill>
              </a:rPr>
              <a:t> , </a:t>
            </a:r>
            <a:r>
              <a:rPr lang="en-US" b="1" dirty="0" err="1" smtClean="0">
                <a:solidFill>
                  <a:schemeClr val="accent2"/>
                </a:solidFill>
              </a:rPr>
              <a:t>que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por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cada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tupla</a:t>
            </a:r>
            <a:r>
              <a:rPr lang="en-US" b="1" dirty="0" smtClean="0">
                <a:solidFill>
                  <a:schemeClr val="accent2"/>
                </a:solidFill>
              </a:rPr>
              <a:t> en </a:t>
            </a:r>
            <a:r>
              <a:rPr lang="en-US" b="1" i="1" dirty="0" smtClean="0">
                <a:solidFill>
                  <a:schemeClr val="accent2"/>
                </a:solidFill>
              </a:rPr>
              <a:t>B</a:t>
            </a:r>
            <a:r>
              <a:rPr lang="en-US" b="1" dirty="0" smtClean="0">
                <a:solidFill>
                  <a:schemeClr val="accent2"/>
                </a:solidFill>
              </a:rPr>
              <a:t>, hay </a:t>
            </a:r>
            <a:r>
              <a:rPr lang="en-US" b="1" dirty="0" err="1" smtClean="0">
                <a:solidFill>
                  <a:schemeClr val="accent2"/>
                </a:solidFill>
              </a:rPr>
              <a:t>una</a:t>
            </a:r>
            <a:r>
              <a:rPr lang="en-US" b="1" dirty="0" smtClean="0">
                <a:solidFill>
                  <a:schemeClr val="accent2"/>
                </a:solidFill>
              </a:rPr>
              <a:t> </a:t>
            </a:r>
            <a:r>
              <a:rPr lang="en-US" b="1" dirty="0" err="1" smtClean="0">
                <a:solidFill>
                  <a:schemeClr val="accent2"/>
                </a:solidFill>
              </a:rPr>
              <a:t>tupla</a:t>
            </a:r>
            <a:r>
              <a:rPr lang="en-US" b="1" dirty="0" smtClean="0">
                <a:solidFill>
                  <a:schemeClr val="accent2"/>
                </a:solidFill>
              </a:rPr>
              <a:t> en </a:t>
            </a:r>
            <a:r>
              <a:rPr lang="en-US" b="1" i="1" dirty="0" smtClean="0">
                <a:solidFill>
                  <a:schemeClr val="accent2"/>
                </a:solidFill>
              </a:rPr>
              <a:t>A</a:t>
            </a:r>
            <a:r>
              <a:rPr lang="en-US" b="1" dirty="0" smtClean="0"/>
              <a:t>.</a:t>
            </a:r>
            <a:endParaRPr lang="en-US" dirty="0" smtClean="0"/>
          </a:p>
          <a:p>
            <a:pPr>
              <a:lnSpc>
                <a:spcPct val="90000"/>
              </a:lnSpc>
              <a:buFontTx/>
              <a:buNone/>
            </a:pPr>
            <a:endParaRPr lang="en-US" sz="2800" b="0" dirty="0" smtClean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332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332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s-EC"/>
          </a:p>
        </p:txBody>
      </p:sp>
      <p:sp>
        <p:nvSpPr>
          <p:cNvPr id="1332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 err="1" smtClean="0"/>
              <a:t>Ejemplo</a:t>
            </a:r>
            <a:r>
              <a:rPr lang="en-US" dirty="0" smtClean="0"/>
              <a:t> de Division A/B</a:t>
            </a:r>
          </a:p>
        </p:txBody>
      </p:sp>
      <p:graphicFrame>
        <p:nvGraphicFramePr>
          <p:cNvPr id="13314" name="Object 5"/>
          <p:cNvGraphicFramePr>
            <a:graphicFrameLocks noGrp="1"/>
          </p:cNvGraphicFramePr>
          <p:nvPr>
            <p:ph type="body" idx="1"/>
          </p:nvPr>
        </p:nvGraphicFramePr>
        <p:xfrm>
          <a:off x="839788" y="1781175"/>
          <a:ext cx="1909762" cy="412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9" name="Document" r:id="rId4" imgW="2120900" imgH="4584700" progId="Word.Document.8">
                  <p:embed/>
                </p:oleObj>
              </mc:Choice>
              <mc:Fallback>
                <p:oleObj name="Document" r:id="rId4" imgW="2120900" imgH="4584700" progId="Word.Document.8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1781175"/>
                        <a:ext cx="1909762" cy="412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6"/>
          <p:cNvGraphicFramePr>
            <a:graphicFrameLocks/>
          </p:cNvGraphicFramePr>
          <p:nvPr/>
        </p:nvGraphicFramePr>
        <p:xfrm>
          <a:off x="3424238" y="1760538"/>
          <a:ext cx="111283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0" name="Document" r:id="rId6" imgW="1231900" imgH="1054100" progId="Word.Document.8">
                  <p:embed/>
                </p:oleObj>
              </mc:Choice>
              <mc:Fallback>
                <p:oleObj name="Document" r:id="rId6" imgW="1231900" imgH="1054100" progId="Word.Document.8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238" y="1760538"/>
                        <a:ext cx="1112837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7"/>
          <p:cNvGraphicFramePr>
            <a:graphicFrameLocks/>
          </p:cNvGraphicFramePr>
          <p:nvPr/>
        </p:nvGraphicFramePr>
        <p:xfrm>
          <a:off x="5556250" y="1863725"/>
          <a:ext cx="1277938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1" name="Document" r:id="rId8" imgW="1422400" imgH="1485900" progId="Word.Document.8">
                  <p:embed/>
                </p:oleObj>
              </mc:Choice>
              <mc:Fallback>
                <p:oleObj name="Document" r:id="rId8" imgW="1422400" imgH="1485900" progId="Word.Documen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1863725"/>
                        <a:ext cx="1277938" cy="134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8"/>
          <p:cNvGraphicFramePr>
            <a:graphicFrameLocks/>
          </p:cNvGraphicFramePr>
          <p:nvPr/>
        </p:nvGraphicFramePr>
        <p:xfrm>
          <a:off x="7618413" y="1892300"/>
          <a:ext cx="1277937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2" name="Document" r:id="rId10" imgW="1422400" imgH="1917700" progId="Word.Document.8">
                  <p:embed/>
                </p:oleObj>
              </mc:Choice>
              <mc:Fallback>
                <p:oleObj name="Document" r:id="rId10" imgW="1422400" imgH="1917700" progId="Word.Document.8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8413" y="1892300"/>
                        <a:ext cx="1277937" cy="173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/>
          </p:cNvGraphicFramePr>
          <p:nvPr/>
        </p:nvGraphicFramePr>
        <p:xfrm>
          <a:off x="3427413" y="3773488"/>
          <a:ext cx="1277937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3" name="Document" r:id="rId12" imgW="1422400" imgH="2349500" progId="Word.Document.8">
                  <p:embed/>
                </p:oleObj>
              </mc:Choice>
              <mc:Fallback>
                <p:oleObj name="Document" r:id="rId12" imgW="1422400" imgH="2349500" progId="Word.Document.8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413" y="3773488"/>
                        <a:ext cx="1277937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10"/>
          <p:cNvGraphicFramePr>
            <a:graphicFrameLocks/>
          </p:cNvGraphicFramePr>
          <p:nvPr/>
        </p:nvGraphicFramePr>
        <p:xfrm>
          <a:off x="5556250" y="4510088"/>
          <a:ext cx="1277938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4" name="Document" r:id="rId14" imgW="1422400" imgH="1485900" progId="Word.Document.8">
                  <p:embed/>
                </p:oleObj>
              </mc:Choice>
              <mc:Fallback>
                <p:oleObj name="Document" r:id="rId14" imgW="1422400" imgH="1485900" progId="Word.Document.8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4510088"/>
                        <a:ext cx="1277938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1"/>
          <p:cNvGraphicFramePr>
            <a:graphicFrameLocks/>
          </p:cNvGraphicFramePr>
          <p:nvPr/>
        </p:nvGraphicFramePr>
        <p:xfrm>
          <a:off x="7694613" y="5030788"/>
          <a:ext cx="12779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5" name="Document" r:id="rId16" imgW="1422400" imgH="1054100" progId="Word.Document.8">
                  <p:embed/>
                </p:oleObj>
              </mc:Choice>
              <mc:Fallback>
                <p:oleObj name="Document" r:id="rId16" imgW="1422400" imgH="1054100" progId="Word.Document.8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4613" y="5030788"/>
                        <a:ext cx="1277937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2"/>
          <p:cNvSpPr>
            <a:spLocks noChangeArrowheads="1"/>
          </p:cNvSpPr>
          <p:nvPr/>
        </p:nvSpPr>
        <p:spPr bwMode="auto">
          <a:xfrm>
            <a:off x="1433513" y="5838825"/>
            <a:ext cx="4778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3565525" y="2640013"/>
            <a:ext cx="635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>
                <a:solidFill>
                  <a:schemeClr val="tx1"/>
                </a:solidFill>
              </a:rPr>
              <a:t>B1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5697538" y="3019425"/>
            <a:ext cx="635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>
                <a:solidFill>
                  <a:schemeClr val="tx1"/>
                </a:solidFill>
              </a:rPr>
              <a:t>B2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>
            <a:off x="7756525" y="3475038"/>
            <a:ext cx="635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>
                <a:solidFill>
                  <a:schemeClr val="tx1"/>
                </a:solidFill>
              </a:rPr>
              <a:t>B3</a:t>
            </a:r>
          </a:p>
        </p:txBody>
      </p:sp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3338513" y="5762625"/>
            <a:ext cx="1049337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>
                <a:solidFill>
                  <a:schemeClr val="tx1"/>
                </a:solidFill>
              </a:rPr>
              <a:t>A/B1</a:t>
            </a:r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5470525" y="5761038"/>
            <a:ext cx="10493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>
                <a:solidFill>
                  <a:schemeClr val="tx1"/>
                </a:solidFill>
              </a:rPr>
              <a:t>A/B2</a:t>
            </a:r>
          </a:p>
        </p:txBody>
      </p:sp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7604125" y="5761038"/>
            <a:ext cx="10493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3200" i="1">
                <a:solidFill>
                  <a:schemeClr val="tx1"/>
                </a:solidFill>
              </a:rPr>
              <a:t>A/B3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6" grpId="0" autoUpdateAnimBg="0"/>
      <p:bldP spid="30737" grpId="0" autoUpdateAnimBg="0"/>
      <p:bldP spid="3073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smtClean="0"/>
              <a:t>Resumen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C" dirty="0" smtClean="0"/>
              <a:t>Álgebra relacional: Un pequeño grupo de operadores que mapean relaciones con relaciones</a:t>
            </a:r>
          </a:p>
          <a:p>
            <a:pPr lvl="1"/>
            <a:r>
              <a:rPr lang="es-EC" dirty="0" smtClean="0"/>
              <a:t>Operacional, en el sentido que uno especifica el orden explicito de las operaciones</a:t>
            </a:r>
          </a:p>
          <a:p>
            <a:pPr lvl="1"/>
            <a:r>
              <a:rPr lang="es-EC" dirty="0" smtClean="0"/>
              <a:t>Se pueden mezclar</a:t>
            </a:r>
          </a:p>
          <a:p>
            <a:r>
              <a:rPr lang="es-EC" dirty="0" smtClean="0"/>
              <a:t>Las operaciones básicas incluyen: </a:t>
            </a:r>
            <a:r>
              <a:rPr lang="es-EC" dirty="0" smtClean="0">
                <a:latin typeface="Symbol" pitchFamily="18" charset="2"/>
              </a:rPr>
              <a:t>s</a:t>
            </a:r>
            <a:r>
              <a:rPr lang="es-EC" dirty="0" smtClean="0"/>
              <a:t>, </a:t>
            </a:r>
            <a:r>
              <a:rPr lang="es-EC" dirty="0" smtClean="0">
                <a:latin typeface="Symbol" pitchFamily="18" charset="2"/>
              </a:rPr>
              <a:t>p</a:t>
            </a:r>
            <a:r>
              <a:rPr lang="es-EC" dirty="0" smtClean="0"/>
              <a:t>, </a:t>
            </a:r>
            <a:r>
              <a:rPr lang="es-EC" dirty="0" smtClean="0">
                <a:sym typeface="Symbol" pitchFamily="18" charset="2"/>
              </a:rPr>
              <a:t></a:t>
            </a:r>
            <a:r>
              <a:rPr lang="es-EC" dirty="0" smtClean="0"/>
              <a:t>, </a:t>
            </a:r>
            <a:r>
              <a:rPr lang="es-EC" dirty="0" smtClean="0">
                <a:sym typeface="Symbol" pitchFamily="18" charset="2"/>
              </a:rPr>
              <a:t></a:t>
            </a:r>
            <a:r>
              <a:rPr lang="es-EC" dirty="0" smtClean="0"/>
              <a:t>, -</a:t>
            </a:r>
          </a:p>
          <a:p>
            <a:r>
              <a:rPr lang="es-EC" dirty="0" smtClean="0"/>
              <a:t>Operadores compuestos importantes: </a:t>
            </a:r>
            <a:r>
              <a:rPr lang="es-EC" dirty="0" smtClean="0">
                <a:sym typeface="Symbol" pitchFamily="18" charset="2"/>
              </a:rPr>
              <a:t>,    , /</a:t>
            </a:r>
            <a:endParaRPr lang="es-EC" dirty="0" smtClean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43834" y="5429264"/>
            <a:ext cx="284163" cy="180975"/>
            <a:chOff x="2226" y="2065"/>
            <a:chExt cx="1148" cy="671"/>
          </a:xfrm>
        </p:grpSpPr>
        <p:sp>
          <p:nvSpPr>
            <p:cNvPr id="31750" name="AutoShape 5"/>
            <p:cNvSpPr>
              <a:spLocks noChangeArrowheads="1"/>
            </p:cNvSpPr>
            <p:nvPr/>
          </p:nvSpPr>
          <p:spPr bwMode="auto">
            <a:xfrm rot="-5400000">
              <a:off x="2753" y="2110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C"/>
            </a:p>
          </p:txBody>
        </p:sp>
        <p:sp>
          <p:nvSpPr>
            <p:cNvPr id="31751" name="AutoShape 6"/>
            <p:cNvSpPr>
              <a:spLocks noChangeArrowheads="1"/>
            </p:cNvSpPr>
            <p:nvPr/>
          </p:nvSpPr>
          <p:spPr bwMode="auto">
            <a:xfrm rot="5400000" flipH="1">
              <a:off x="2181" y="2115"/>
              <a:ext cx="666" cy="57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s-EC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1016</Words>
  <Application>Microsoft Macintosh PowerPoint</Application>
  <PresentationFormat>On-screen Show (4:3)</PresentationFormat>
  <Paragraphs>191</Paragraphs>
  <Slides>27</Slides>
  <Notes>16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Tema de Office</vt:lpstr>
      <vt:lpstr>Document</vt:lpstr>
      <vt:lpstr>Ecuación</vt:lpstr>
      <vt:lpstr>Equation</vt:lpstr>
      <vt:lpstr>Microsoft Word 97 - 2004 Document</vt:lpstr>
      <vt:lpstr>Álgebra Relacional</vt:lpstr>
      <vt:lpstr>Objetivos</vt:lpstr>
      <vt:lpstr>Definición de Tupla </vt:lpstr>
      <vt:lpstr>Lenguajes Query Relacionales</vt:lpstr>
      <vt:lpstr>Ejemplo de Instancias de las tablas Botes Marineros Reserva</vt:lpstr>
      <vt:lpstr>Ejemplo de Instancias</vt:lpstr>
      <vt:lpstr>Algebra Relacional: 5 Operaciones basicas</vt:lpstr>
      <vt:lpstr>Proyección</vt:lpstr>
      <vt:lpstr>Proyección</vt:lpstr>
      <vt:lpstr>Selección</vt:lpstr>
      <vt:lpstr>Escriba los siguientes queries en álgebra relacional: </vt:lpstr>
      <vt:lpstr>Unión</vt:lpstr>
      <vt:lpstr>Unión</vt:lpstr>
      <vt:lpstr>Diferencia</vt:lpstr>
      <vt:lpstr>Diferencia</vt:lpstr>
      <vt:lpstr>Producto Cruz</vt:lpstr>
      <vt:lpstr>Producto Cruz</vt:lpstr>
      <vt:lpstr>Operador Compuesto: Intersección</vt:lpstr>
      <vt:lpstr>Intersección</vt:lpstr>
      <vt:lpstr>Operador Compuesto: Join</vt:lpstr>
      <vt:lpstr>PowerPoint Presentation</vt:lpstr>
      <vt:lpstr>Join</vt:lpstr>
      <vt:lpstr>Escriba los siguientes queries en álgebra relacional: </vt:lpstr>
      <vt:lpstr>Otros tipos de Joins</vt:lpstr>
      <vt:lpstr>Operador Compuesto: Division</vt:lpstr>
      <vt:lpstr>Ejemplo de Division A/B</vt:lpstr>
      <vt:lpstr>Resumen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Álgebra Relacional</dc:title>
  <dc:creator>vanessa</dc:creator>
  <cp:lastModifiedBy>vanessa cedeno</cp:lastModifiedBy>
  <cp:revision>86</cp:revision>
  <dcterms:created xsi:type="dcterms:W3CDTF">2010-06-17T22:15:59Z</dcterms:created>
  <dcterms:modified xsi:type="dcterms:W3CDTF">2012-11-06T15:44:03Z</dcterms:modified>
</cp:coreProperties>
</file>
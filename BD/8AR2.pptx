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8" r:id="rId4"/>
    <p:sldId id="299" r:id="rId5"/>
    <p:sldId id="300" r:id="rId6"/>
    <p:sldId id="301" r:id="rId7"/>
    <p:sldId id="303" r:id="rId8"/>
    <p:sldId id="304" r:id="rId9"/>
    <p:sldId id="305" r:id="rId10"/>
    <p:sldId id="306" r:id="rId1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00" autoAdjust="0"/>
  </p:normalViewPr>
  <p:slideViewPr>
    <p:cSldViewPr>
      <p:cViewPr varScale="1">
        <p:scale>
          <a:sx n="83" d="100"/>
          <a:sy n="83" d="100"/>
        </p:scale>
        <p:origin x="-62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1.e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1.emf"/><Relationship Id="rId4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EA800-56B6-4886-A8D3-B0C6441319D8}" type="datetimeFigureOut">
              <a:rPr lang="es-EC" smtClean="0"/>
              <a:pPr/>
              <a:t>23/11/2010</a:t>
            </a:fld>
            <a:endParaRPr lang="es-EC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223FA-1542-4E64-80F9-AD4A12A51138}" type="slidenum">
              <a:rPr lang="es-EC" smtClean="0"/>
              <a:pPr/>
              <a:t>‹#›</a:t>
            </a:fld>
            <a:endParaRPr 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0FC22-FAF9-488A-B55E-FAE5D93B902E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dirty="0" smtClean="0"/>
              <a:t>La expresión </a:t>
            </a:r>
            <a:r>
              <a:rPr lang="es-EC" dirty="0" err="1" smtClean="0"/>
              <a:t>sum</a:t>
            </a:r>
            <a:r>
              <a:rPr lang="es-EC" dirty="0" smtClean="0"/>
              <a:t>(sueldo) en el subíndice derecho de G indica que, para cada</a:t>
            </a:r>
          </a:p>
          <a:p>
            <a:r>
              <a:rPr lang="es-EC" dirty="0" smtClean="0"/>
              <a:t>grupo de </a:t>
            </a:r>
            <a:r>
              <a:rPr lang="es-EC" dirty="0" err="1" smtClean="0"/>
              <a:t>tuplas</a:t>
            </a:r>
            <a:r>
              <a:rPr lang="es-EC" dirty="0" smtClean="0"/>
              <a:t> (es decir, para cada sucursal) hay que aplicar la función de</a:t>
            </a:r>
          </a:p>
          <a:p>
            <a:r>
              <a:rPr lang="es-EC" dirty="0" smtClean="0"/>
              <a:t>agregación </a:t>
            </a:r>
            <a:r>
              <a:rPr lang="es-EC" dirty="0" err="1" smtClean="0"/>
              <a:t>sum</a:t>
            </a:r>
            <a:r>
              <a:rPr lang="es-EC" dirty="0" smtClean="0"/>
              <a:t> al conjunto de valores del atributo sueldo. La relación resultante</a:t>
            </a:r>
          </a:p>
          <a:p>
            <a:r>
              <a:rPr lang="es-EC" dirty="0" smtClean="0"/>
              <a:t>consiste en las </a:t>
            </a:r>
            <a:r>
              <a:rPr lang="es-EC" dirty="0" err="1" smtClean="0"/>
              <a:t>tuplas</a:t>
            </a:r>
            <a:r>
              <a:rPr lang="es-EC" dirty="0" smtClean="0"/>
              <a:t> con el nombre de la sucursal y la suma de los sueldos de la</a:t>
            </a:r>
          </a:p>
          <a:p>
            <a:r>
              <a:rPr lang="es-EC" dirty="0" smtClean="0"/>
              <a:t>sucursal, como se muestra en la figura.</a:t>
            </a:r>
          </a:p>
          <a:p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223FA-1542-4E64-80F9-AD4A12A51138}" type="slidenum">
              <a:rPr lang="es-EC" smtClean="0"/>
              <a:pPr/>
              <a:t>8</a:t>
            </a:fld>
            <a:endParaRPr lang="es-EC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0FC22-FAF9-488A-B55E-FAE5D93B902E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0E9FA-50F6-4124-9FF0-D8E3F99542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23/11/2010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Microsoft_Office_Word_97_-_2003_Document4.doc"/><Relationship Id="rId5" Type="http://schemas.openxmlformats.org/officeDocument/2006/relationships/oleObject" Target="../embeddings/Microsoft_Office_Word_97_-_2003_Document3.doc"/><Relationship Id="rId4" Type="http://schemas.openxmlformats.org/officeDocument/2006/relationships/oleObject" Target="../embeddings/Microsoft_Office_Word_97_-_2003_Document2.doc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Microsoft_Office_Word_97_-_2003_Document7.doc"/><Relationship Id="rId5" Type="http://schemas.openxmlformats.org/officeDocument/2006/relationships/oleObject" Target="../embeddings/Microsoft_Office_Word_97_-_2003_Document6.doc"/><Relationship Id="rId4" Type="http://schemas.openxmlformats.org/officeDocument/2006/relationships/oleObject" Target="../embeddings/Microsoft_Office_Word_97_-_2003_Document5.do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 smtClean="0"/>
              <a:t>Álgebra Relacional</a:t>
            </a:r>
            <a:endParaRPr lang="es-EC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 smtClean="0"/>
              <a:t>Capitulo 6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Objetivos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 dirty="0" smtClean="0"/>
              <a:t>Definición de </a:t>
            </a:r>
            <a:r>
              <a:rPr lang="es-EC" dirty="0" err="1" smtClean="0"/>
              <a:t>Tupla</a:t>
            </a:r>
            <a:endParaRPr lang="es-EC" dirty="0" smtClean="0"/>
          </a:p>
          <a:p>
            <a:r>
              <a:rPr lang="es-EC" dirty="0" smtClean="0"/>
              <a:t>Álgebra Relacional</a:t>
            </a:r>
          </a:p>
          <a:p>
            <a:r>
              <a:rPr lang="es-EC" dirty="0" smtClean="0"/>
              <a:t>Proyección</a:t>
            </a:r>
          </a:p>
          <a:p>
            <a:r>
              <a:rPr lang="es-EC" dirty="0" smtClean="0"/>
              <a:t>Selección</a:t>
            </a:r>
          </a:p>
          <a:p>
            <a:r>
              <a:rPr lang="es-EC" dirty="0" smtClean="0"/>
              <a:t>Operaciones entre tablas(relaciones)</a:t>
            </a:r>
            <a:br>
              <a:rPr lang="es-EC" dirty="0" smtClean="0"/>
            </a:br>
            <a:r>
              <a:rPr lang="es-EC" dirty="0" smtClean="0"/>
              <a:t>-Unión</a:t>
            </a:r>
            <a:br>
              <a:rPr lang="es-EC" dirty="0" smtClean="0"/>
            </a:br>
            <a:r>
              <a:rPr lang="es-EC" dirty="0" smtClean="0"/>
              <a:t>-Diferencia</a:t>
            </a:r>
            <a:br>
              <a:rPr lang="es-EC" dirty="0" smtClean="0"/>
            </a:br>
            <a:r>
              <a:rPr lang="es-EC" dirty="0" smtClean="0"/>
              <a:t>-Producto Cruz</a:t>
            </a:r>
          </a:p>
          <a:p>
            <a:pPr>
              <a:buNone/>
            </a:pPr>
            <a:r>
              <a:rPr lang="es-EC" dirty="0" smtClean="0"/>
              <a:t>    -Intersección </a:t>
            </a:r>
          </a:p>
          <a:p>
            <a:pPr>
              <a:buNone/>
            </a:pPr>
            <a:r>
              <a:rPr lang="es-EC" dirty="0" smtClean="0"/>
              <a:t>    -</a:t>
            </a:r>
            <a:r>
              <a:rPr lang="es-EC" dirty="0" err="1" smtClean="0"/>
              <a:t>Join</a:t>
            </a:r>
            <a:endParaRPr lang="es-EC" dirty="0" smtClean="0"/>
          </a:p>
          <a:p>
            <a:pPr>
              <a:buNone/>
            </a:pPr>
            <a:r>
              <a:rPr lang="es-EC" dirty="0" smtClean="0"/>
              <a:t>    -División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s-EC" dirty="0" smtClean="0"/>
              <a:t>Funciones de agregación</a:t>
            </a:r>
            <a:endParaRPr lang="es-EC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6275040" cy="2016224"/>
          </a:xfrm>
        </p:spPr>
        <p:txBody>
          <a:bodyPr>
            <a:normAutofit fontScale="70000" lnSpcReduction="20000"/>
          </a:bodyPr>
          <a:lstStyle/>
          <a:p>
            <a:r>
              <a:rPr lang="es-EC" dirty="0" smtClean="0"/>
              <a:t>Funciones que toman una colección de valores y devuelven como resultado un único valor.</a:t>
            </a:r>
          </a:p>
          <a:p>
            <a:endParaRPr lang="es-EC" dirty="0" smtClean="0"/>
          </a:p>
          <a:p>
            <a:r>
              <a:rPr lang="es-EC" dirty="0" smtClean="0"/>
              <a:t>Por ejemplo: la función de agregación </a:t>
            </a:r>
            <a:r>
              <a:rPr lang="es-EC" b="1" dirty="0" err="1" smtClean="0"/>
              <a:t>sum</a:t>
            </a:r>
            <a:r>
              <a:rPr lang="es-EC" dirty="0" smtClean="0"/>
              <a:t> toma un conjunto de valores y devuelve la suma de los mismos.</a:t>
            </a:r>
          </a:p>
          <a:p>
            <a:pPr>
              <a:buNone/>
            </a:pPr>
            <a:endParaRPr lang="es-EC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76256" y="3789040"/>
          <a:ext cx="792088" cy="262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</a:tblGrid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edad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1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1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3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4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4</a:t>
                      </a:r>
                      <a:endParaRPr lang="es-EC" dirty="0"/>
                    </a:p>
                  </a:txBody>
                  <a:tcPr/>
                </a:tc>
              </a:tr>
              <a:tr h="374671">
                <a:tc>
                  <a:txBody>
                    <a:bodyPr/>
                    <a:lstStyle/>
                    <a:p>
                      <a:r>
                        <a:rPr lang="es-EC" dirty="0" smtClean="0"/>
                        <a:t>11</a:t>
                      </a:r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8224" y="1196752"/>
            <a:ext cx="12961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s-EC" dirty="0" err="1" smtClean="0"/>
              <a:t>Sum</a:t>
            </a:r>
            <a:endParaRPr lang="es-EC" dirty="0" smtClean="0"/>
          </a:p>
          <a:p>
            <a:pPr lvl="1">
              <a:buNone/>
            </a:pPr>
            <a:r>
              <a:rPr lang="es-EC" dirty="0" err="1" smtClean="0"/>
              <a:t>Avg</a:t>
            </a:r>
            <a:endParaRPr lang="es-EC" dirty="0" smtClean="0"/>
          </a:p>
          <a:p>
            <a:pPr lvl="1">
              <a:buNone/>
            </a:pPr>
            <a:r>
              <a:rPr lang="es-EC" dirty="0" err="1" smtClean="0"/>
              <a:t>Count</a:t>
            </a:r>
            <a:r>
              <a:rPr lang="es-EC" dirty="0" smtClean="0"/>
              <a:t> </a:t>
            </a:r>
          </a:p>
          <a:p>
            <a:pPr lvl="1">
              <a:buNone/>
            </a:pPr>
            <a:r>
              <a:rPr lang="es-EC" dirty="0" smtClean="0"/>
              <a:t>Min</a:t>
            </a:r>
          </a:p>
          <a:p>
            <a:pPr lvl="1">
              <a:buNone/>
            </a:pPr>
            <a:r>
              <a:rPr lang="es-EC" dirty="0" smtClean="0"/>
              <a:t>Max</a:t>
            </a:r>
          </a:p>
        </p:txBody>
      </p:sp>
      <p:sp>
        <p:nvSpPr>
          <p:cNvPr id="6" name="Left Brace 5"/>
          <p:cNvSpPr/>
          <p:nvPr/>
        </p:nvSpPr>
        <p:spPr>
          <a:xfrm>
            <a:off x="6804248" y="1196752"/>
            <a:ext cx="360040" cy="15121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092280" y="3284984"/>
            <a:ext cx="4778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971600" y="3861048"/>
            <a:ext cx="5616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La función de agregación </a:t>
            </a:r>
            <a:r>
              <a:rPr lang="es-EC" b="1" dirty="0" err="1" smtClean="0"/>
              <a:t>avg</a:t>
            </a:r>
            <a:r>
              <a:rPr lang="es-EC" dirty="0" smtClean="0"/>
              <a:t> devuelve la media de los valores. Cuando se aplica al conjunto anterior devuelve el valor 4.</a:t>
            </a:r>
            <a:endParaRPr lang="es-EC" dirty="0"/>
          </a:p>
        </p:txBody>
      </p:sp>
      <p:sp>
        <p:nvSpPr>
          <p:cNvPr id="9" name="Rectangle 8"/>
          <p:cNvSpPr/>
          <p:nvPr/>
        </p:nvSpPr>
        <p:spPr>
          <a:xfrm>
            <a:off x="971600" y="3140968"/>
            <a:ext cx="5688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Por tanto, la función </a:t>
            </a:r>
            <a:r>
              <a:rPr lang="es-EC" b="1" dirty="0" err="1" smtClean="0"/>
              <a:t>sum</a:t>
            </a:r>
            <a:r>
              <a:rPr lang="es-EC" dirty="0" smtClean="0"/>
              <a:t> aplicada </a:t>
            </a:r>
            <a:r>
              <a:rPr lang="es-EC" dirty="0" smtClean="0"/>
              <a:t>a la columna edad </a:t>
            </a:r>
            <a:r>
              <a:rPr lang="es-EC" dirty="0" smtClean="0"/>
              <a:t>de la instancia A devuelve 24.</a:t>
            </a:r>
            <a:endParaRPr lang="es-EC" dirty="0"/>
          </a:p>
        </p:txBody>
      </p:sp>
      <p:sp>
        <p:nvSpPr>
          <p:cNvPr id="10" name="Rectangle 9"/>
          <p:cNvSpPr/>
          <p:nvPr/>
        </p:nvSpPr>
        <p:spPr>
          <a:xfrm>
            <a:off x="899592" y="4797152"/>
            <a:ext cx="5472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La función de agregación </a:t>
            </a:r>
            <a:r>
              <a:rPr lang="es-EC" b="1" dirty="0" err="1" smtClean="0"/>
              <a:t>count</a:t>
            </a:r>
            <a:r>
              <a:rPr lang="es-EC" dirty="0" smtClean="0"/>
              <a:t> devuelve el número de elementos del conjunto, y devolvería 6 en el caso anterior.</a:t>
            </a:r>
            <a:endParaRPr lang="es-EC" dirty="0"/>
          </a:p>
        </p:txBody>
      </p:sp>
      <p:sp>
        <p:nvSpPr>
          <p:cNvPr id="13" name="Rectangle 12"/>
          <p:cNvSpPr/>
          <p:nvPr/>
        </p:nvSpPr>
        <p:spPr>
          <a:xfrm>
            <a:off x="899592" y="5733256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La función de agregación </a:t>
            </a:r>
            <a:r>
              <a:rPr lang="es-EC" b="1" dirty="0" smtClean="0"/>
              <a:t>min </a:t>
            </a:r>
            <a:r>
              <a:rPr lang="es-EC" dirty="0" smtClean="0"/>
              <a:t>devuelve</a:t>
            </a:r>
            <a:r>
              <a:rPr lang="es-EC" b="1" dirty="0" smtClean="0"/>
              <a:t> </a:t>
            </a:r>
            <a:r>
              <a:rPr lang="es-EC" dirty="0" smtClean="0"/>
              <a:t>1.</a:t>
            </a:r>
            <a:endParaRPr lang="es-EC" dirty="0"/>
          </a:p>
        </p:txBody>
      </p:sp>
      <p:sp>
        <p:nvSpPr>
          <p:cNvPr id="15" name="Rectangle 14"/>
          <p:cNvSpPr/>
          <p:nvPr/>
        </p:nvSpPr>
        <p:spPr>
          <a:xfrm>
            <a:off x="899592" y="6165304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La función de agregación </a:t>
            </a:r>
            <a:r>
              <a:rPr lang="es-EC" b="1" dirty="0" err="1" smtClean="0"/>
              <a:t>max</a:t>
            </a:r>
            <a:r>
              <a:rPr lang="es-EC" b="1" dirty="0" smtClean="0"/>
              <a:t> </a:t>
            </a:r>
            <a:r>
              <a:rPr lang="es-EC" dirty="0" smtClean="0"/>
              <a:t>devuelve</a:t>
            </a:r>
            <a:r>
              <a:rPr lang="es-EC" b="1" dirty="0" smtClean="0"/>
              <a:t> </a:t>
            </a:r>
            <a:r>
              <a:rPr lang="es-EC" dirty="0" smtClean="0"/>
              <a:t>11.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1756792"/>
          </a:xfrm>
        </p:spPr>
        <p:txBody>
          <a:bodyPr/>
          <a:lstStyle/>
          <a:p>
            <a:r>
              <a:rPr lang="es-EC" dirty="0" smtClean="0"/>
              <a:t>Si se desea obtener la suma de </a:t>
            </a:r>
            <a:r>
              <a:rPr lang="es-EC" dirty="0" smtClean="0"/>
              <a:t>los ratings de </a:t>
            </a:r>
            <a:r>
              <a:rPr lang="es-EC" dirty="0" smtClean="0"/>
              <a:t>los marineros:</a:t>
            </a:r>
          </a:p>
          <a:p>
            <a:pPr>
              <a:buNone/>
            </a:pPr>
            <a:r>
              <a:rPr lang="es-EC" dirty="0" smtClean="0"/>
              <a:t>    </a:t>
            </a:r>
            <a:r>
              <a:rPr lang="es-EC" dirty="0" err="1" smtClean="0"/>
              <a:t>G</a:t>
            </a:r>
            <a:r>
              <a:rPr lang="es-EC" baseline="-25000" dirty="0" err="1" smtClean="0"/>
              <a:t>sum</a:t>
            </a:r>
            <a:r>
              <a:rPr lang="es-EC" baseline="-25000" dirty="0" smtClean="0"/>
              <a:t>(rating)</a:t>
            </a:r>
            <a:r>
              <a:rPr lang="es-EC" dirty="0" smtClean="0"/>
              <a:t>Marineros</a:t>
            </a:r>
            <a:endParaRPr lang="es-EC" dirty="0"/>
          </a:p>
        </p:txBody>
      </p:sp>
      <p:graphicFrame>
        <p:nvGraphicFramePr>
          <p:cNvPr id="4" name="Object 7"/>
          <p:cNvGraphicFramePr>
            <a:graphicFrameLocks/>
          </p:cNvGraphicFramePr>
          <p:nvPr/>
        </p:nvGraphicFramePr>
        <p:xfrm>
          <a:off x="4830763" y="2548805"/>
          <a:ext cx="4130675" cy="2392363"/>
        </p:xfrm>
        <a:graphic>
          <a:graphicData uri="http://schemas.openxmlformats.org/presentationml/2006/ole">
            <p:oleObj spid="_x0000_s124930" name="Document" r:id="rId3" imgW="4326839" imgH="2110824" progId="Word.Document.8">
              <p:embed/>
            </p:oleObj>
          </a:graphicData>
        </a:graphic>
      </p:graphicFrame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4644008" y="2180530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520" y="34290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C" dirty="0" smtClean="0"/>
              <a:t>La operación del álgebra relacional G significa que se debe aplicar agregación, y el</a:t>
            </a:r>
          </a:p>
          <a:p>
            <a:r>
              <a:rPr lang="es-EC" dirty="0" smtClean="0"/>
              <a:t>subíndice indica la operación de agregación a aplicar.</a:t>
            </a:r>
            <a:endParaRPr lang="es-EC" dirty="0"/>
          </a:p>
        </p:txBody>
      </p:sp>
      <p:sp>
        <p:nvSpPr>
          <p:cNvPr id="7" name="Rectangle 6"/>
          <p:cNvSpPr/>
          <p:nvPr/>
        </p:nvSpPr>
        <p:spPr>
          <a:xfrm>
            <a:off x="323528" y="4797152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El resultado de la</a:t>
            </a:r>
          </a:p>
          <a:p>
            <a:r>
              <a:rPr lang="es-EC" dirty="0" smtClean="0"/>
              <a:t>expresión anterior es una relación con un único atributo, que contiene una sola</a:t>
            </a:r>
          </a:p>
          <a:p>
            <a:r>
              <a:rPr lang="es-EC" dirty="0" smtClean="0"/>
              <a:t>fila con un valor correspondiente a la </a:t>
            </a:r>
            <a:r>
              <a:rPr lang="es-EC" dirty="0" smtClean="0"/>
              <a:t>suma de los ratings de </a:t>
            </a:r>
            <a:r>
              <a:rPr lang="es-EC" dirty="0" smtClean="0"/>
              <a:t>los marineros.</a:t>
            </a:r>
            <a:endParaRPr lang="es-EC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87824" y="5805264"/>
          <a:ext cx="15594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96"/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s-EC" dirty="0" err="1" smtClean="0"/>
                        <a:t>Sum</a:t>
                      </a:r>
                      <a:r>
                        <a:rPr lang="es-EC" dirty="0" smtClean="0"/>
                        <a:t>(rating)</a:t>
                      </a:r>
                      <a:endParaRPr lang="es-EC" dirty="0"/>
                    </a:p>
                  </a:txBody>
                  <a:tcPr/>
                </a:tc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25</a:t>
                      </a:r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s-EC" dirty="0" err="1" smtClean="0"/>
              <a:t>Distinct</a:t>
            </a:r>
            <a:endParaRPr lang="es-EC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9"/>
            <a:ext cx="8229600" cy="338437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EC" dirty="0" smtClean="0"/>
              <a:t>Hay casos en los que se deben borrar los valores repetidos antes de calcular una función de agregación.</a:t>
            </a:r>
          </a:p>
          <a:p>
            <a:pPr>
              <a:buNone/>
            </a:pPr>
            <a:r>
              <a:rPr lang="es-EC" dirty="0" smtClean="0"/>
              <a:t>Si se desean borrar los valores repetidos hay que utilizar los mismos nombres de funciones que antes, con la cadena de texto «</a:t>
            </a:r>
            <a:r>
              <a:rPr lang="es-EC" dirty="0" err="1" smtClean="0"/>
              <a:t>distinct</a:t>
            </a:r>
            <a:r>
              <a:rPr lang="es-EC" dirty="0" smtClean="0"/>
              <a:t>»</a:t>
            </a:r>
            <a:r>
              <a:rPr lang="es-EC" dirty="0" smtClean="0"/>
              <a:t> </a:t>
            </a:r>
            <a:r>
              <a:rPr lang="es-EC" dirty="0" smtClean="0"/>
              <a:t>añadida al final del nombre de la función</a:t>
            </a:r>
            <a:r>
              <a:rPr lang="es-EC" dirty="0" smtClean="0"/>
              <a:t>(por </a:t>
            </a:r>
            <a:r>
              <a:rPr lang="es-EC" dirty="0" smtClean="0"/>
              <a:t>ejemplo, </a:t>
            </a:r>
            <a:r>
              <a:rPr lang="es-EC" dirty="0" err="1" smtClean="0"/>
              <a:t>count</a:t>
            </a:r>
            <a:r>
              <a:rPr lang="es-EC" dirty="0" smtClean="0"/>
              <a:t> </a:t>
            </a:r>
            <a:r>
              <a:rPr lang="es-EC" dirty="0" err="1" smtClean="0"/>
              <a:t>distinct</a:t>
            </a:r>
            <a:r>
              <a:rPr lang="es-EC" dirty="0" smtClean="0"/>
              <a:t>).</a:t>
            </a:r>
            <a:endParaRPr lang="es-EC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80112" y="4149080"/>
          <a:ext cx="7920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</a:tblGrid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edad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1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1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3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4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4</a:t>
                      </a:r>
                      <a:endParaRPr lang="es-EC" dirty="0"/>
                    </a:p>
                  </a:txBody>
                  <a:tcPr/>
                </a:tc>
              </a:tr>
              <a:tr h="333524">
                <a:tc>
                  <a:txBody>
                    <a:bodyPr/>
                    <a:lstStyle/>
                    <a:p>
                      <a:r>
                        <a:rPr lang="es-EC" dirty="0" smtClean="0"/>
                        <a:t>11</a:t>
                      </a:r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5796136" y="3645024"/>
            <a:ext cx="4778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907704" y="4149080"/>
            <a:ext cx="2473947" cy="163185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COUNT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( [</a:t>
            </a:r>
            <a:r>
              <a:rPr lang="en-US" sz="2000" dirty="0">
                <a:solidFill>
                  <a:schemeClr val="accent2"/>
                </a:solidFill>
              </a:rPr>
              <a:t>DISTINCT</a:t>
            </a:r>
            <a:r>
              <a:rPr lang="en-US" dirty="0">
                <a:solidFill>
                  <a:schemeClr val="accent2"/>
                </a:solidFill>
              </a:rPr>
              <a:t>] A)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SUM</a:t>
            </a:r>
            <a:r>
              <a:rPr lang="en-US" dirty="0">
                <a:solidFill>
                  <a:schemeClr val="accent2"/>
                </a:solidFill>
              </a:rPr>
              <a:t> ( [</a:t>
            </a:r>
            <a:r>
              <a:rPr lang="en-US" sz="2000" dirty="0">
                <a:solidFill>
                  <a:schemeClr val="accent2"/>
                </a:solidFill>
              </a:rPr>
              <a:t>DISTINCT</a:t>
            </a:r>
            <a:r>
              <a:rPr lang="en-US" dirty="0">
                <a:solidFill>
                  <a:schemeClr val="accent2"/>
                </a:solidFill>
              </a:rPr>
              <a:t>] A)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AVG</a:t>
            </a:r>
            <a:r>
              <a:rPr lang="en-US" dirty="0">
                <a:solidFill>
                  <a:schemeClr val="accent2"/>
                </a:solidFill>
              </a:rPr>
              <a:t> ( [</a:t>
            </a:r>
            <a:r>
              <a:rPr lang="en-US" sz="2000" dirty="0">
                <a:solidFill>
                  <a:schemeClr val="accent2"/>
                </a:solidFill>
              </a:rPr>
              <a:t>DISTINCT</a:t>
            </a:r>
            <a:r>
              <a:rPr lang="en-US" dirty="0">
                <a:solidFill>
                  <a:schemeClr val="accent2"/>
                </a:solidFill>
              </a:rPr>
              <a:t>] A)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MAX</a:t>
            </a:r>
            <a:r>
              <a:rPr lang="en-US" dirty="0">
                <a:solidFill>
                  <a:schemeClr val="accent2"/>
                </a:solidFill>
              </a:rPr>
              <a:t> (A)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MIN</a:t>
            </a:r>
            <a:r>
              <a:rPr lang="en-US" dirty="0">
                <a:solidFill>
                  <a:schemeClr val="accent2"/>
                </a:solidFill>
              </a:rPr>
              <a:t> (A)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6016" y="404664"/>
            <a:ext cx="4427984" cy="3240360"/>
          </a:xfrm>
        </p:spPr>
        <p:txBody>
          <a:bodyPr>
            <a:normAutofit fontScale="85000" lnSpcReduction="10000"/>
          </a:bodyPr>
          <a:lstStyle/>
          <a:p>
            <a:r>
              <a:rPr lang="es-EC" dirty="0" smtClean="0"/>
              <a:t>Si se quiere averiguar el </a:t>
            </a:r>
            <a:r>
              <a:rPr lang="es-EC" dirty="0" smtClean="0"/>
              <a:t>número de sucursales </a:t>
            </a:r>
            <a:r>
              <a:rPr lang="es-EC" dirty="0" smtClean="0"/>
              <a:t>que aparecen </a:t>
            </a:r>
            <a:r>
              <a:rPr lang="es-EC" dirty="0" smtClean="0"/>
              <a:t>en la </a:t>
            </a:r>
            <a:r>
              <a:rPr lang="es-EC" dirty="0" smtClean="0"/>
              <a:t>instancia trabajo-por-horas:</a:t>
            </a:r>
          </a:p>
          <a:p>
            <a:pPr>
              <a:buNone/>
            </a:pPr>
            <a:r>
              <a:rPr lang="es-EC" dirty="0" smtClean="0"/>
              <a:t>	</a:t>
            </a:r>
            <a:r>
              <a:rPr lang="es-EC" sz="2400" dirty="0" err="1" smtClean="0"/>
              <a:t>G</a:t>
            </a:r>
            <a:r>
              <a:rPr lang="es-EC" sz="2400" baseline="-25000" dirty="0" err="1" smtClean="0"/>
              <a:t>count</a:t>
            </a:r>
            <a:r>
              <a:rPr lang="es-EC" sz="2400" baseline="-25000" dirty="0" smtClean="0"/>
              <a:t>(nombre-sucursal)</a:t>
            </a:r>
            <a:r>
              <a:rPr lang="es-EC" sz="2400" b="1" dirty="0" smtClean="0"/>
              <a:t> </a:t>
            </a:r>
            <a:r>
              <a:rPr lang="es-EC" sz="2400" dirty="0" smtClean="0"/>
              <a:t>trabajo-por-horas</a:t>
            </a:r>
          </a:p>
          <a:p>
            <a:pPr>
              <a:buNone/>
            </a:pPr>
            <a:r>
              <a:rPr lang="es-EC" dirty="0" smtClean="0"/>
              <a:t>Retorna 8, cuando en realidad sólo hay 3 sucursales.</a:t>
            </a: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836712"/>
            <a:ext cx="41148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23528" y="539388"/>
            <a:ext cx="187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/>
              <a:t>trabajo-por-horas</a:t>
            </a:r>
            <a:endParaRPr lang="es-EC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7544" y="3656781"/>
            <a:ext cx="8064896" cy="28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sz="2400" dirty="0" err="1" smtClean="0"/>
              <a:t>G</a:t>
            </a:r>
            <a:r>
              <a:rPr lang="es-EC" sz="2400" baseline="-25000" dirty="0" err="1" smtClean="0"/>
              <a:t>count</a:t>
            </a:r>
            <a:r>
              <a:rPr lang="es-EC" sz="2400" baseline="-25000" dirty="0" smtClean="0"/>
              <a:t> </a:t>
            </a:r>
            <a:r>
              <a:rPr lang="es-EC" sz="2400" baseline="-25000" dirty="0" err="1" smtClean="0"/>
              <a:t>distinct</a:t>
            </a:r>
            <a:r>
              <a:rPr lang="es-EC" sz="2400" baseline="-25000" dirty="0" smtClean="0"/>
              <a:t>(nombre-sucursal</a:t>
            </a:r>
            <a:r>
              <a:rPr lang="es-EC" sz="2400" baseline="-25000" dirty="0" smtClean="0"/>
              <a:t>)</a:t>
            </a:r>
            <a:r>
              <a:rPr lang="es-EC" sz="2400" dirty="0" smtClean="0"/>
              <a:t> </a:t>
            </a:r>
            <a:r>
              <a:rPr lang="es-EC" sz="2400" dirty="0" smtClean="0"/>
              <a:t>(trabajo-por-horas)</a:t>
            </a:r>
            <a:endParaRPr kumimoji="0" lang="es-EC" sz="2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s-EC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 este caso, el nombre de cada sucursal sólo se cuenta una vez, independientemente del número de empleados</a:t>
            </a:r>
            <a:r>
              <a:rPr kumimoji="0" lang="es-EC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s-EC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trabajen en la misma. </a:t>
            </a:r>
            <a:endParaRPr kumimoji="0" lang="es-EC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graphicFrame>
        <p:nvGraphicFramePr>
          <p:cNvPr id="15362" name="Object 7"/>
          <p:cNvGraphicFramePr>
            <a:graphicFrameLocks/>
          </p:cNvGraphicFramePr>
          <p:nvPr/>
        </p:nvGraphicFramePr>
        <p:xfrm>
          <a:off x="4830763" y="1997075"/>
          <a:ext cx="4130675" cy="2392363"/>
        </p:xfrm>
        <a:graphic>
          <a:graphicData uri="http://schemas.openxmlformats.org/presentationml/2006/ole">
            <p:oleObj spid="_x0000_s129026" name="Document" r:id="rId4" imgW="4326839" imgH="2110824" progId="Word.Document.8">
              <p:embed/>
            </p:oleObj>
          </a:graphicData>
        </a:graphic>
      </p:graphicFrame>
      <p:graphicFrame>
        <p:nvGraphicFramePr>
          <p:cNvPr id="15363" name="Object 8"/>
          <p:cNvGraphicFramePr>
            <a:graphicFrameLocks/>
          </p:cNvGraphicFramePr>
          <p:nvPr/>
        </p:nvGraphicFramePr>
        <p:xfrm>
          <a:off x="2819400" y="4313238"/>
          <a:ext cx="4206875" cy="2239962"/>
        </p:xfrm>
        <a:graphic>
          <a:graphicData uri="http://schemas.openxmlformats.org/presentationml/2006/ole">
            <p:oleObj spid="_x0000_s129027" name="Document" r:id="rId5" imgW="4400023" imgH="2263370" progId="Word.Document.8">
              <p:embed/>
            </p:oleObj>
          </a:graphicData>
        </a:graphic>
      </p:graphicFrame>
      <p:graphicFrame>
        <p:nvGraphicFramePr>
          <p:cNvPr id="15364" name="Object 9"/>
          <p:cNvGraphicFramePr>
            <a:graphicFrameLocks/>
          </p:cNvGraphicFramePr>
          <p:nvPr/>
        </p:nvGraphicFramePr>
        <p:xfrm>
          <a:off x="5638800" y="334963"/>
          <a:ext cx="3292475" cy="1585912"/>
        </p:xfrm>
        <a:graphic>
          <a:graphicData uri="http://schemas.openxmlformats.org/presentationml/2006/ole">
            <p:oleObj spid="_x0000_s129028" name="Document" r:id="rId6" imgW="3657986" imgH="1615518" progId="Word.Document.8">
              <p:embed/>
            </p:oleObj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4022725" y="579438"/>
            <a:ext cx="94602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Reserva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3616325" y="2597150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1271588" y="4324350"/>
            <a:ext cx="72090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Botes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404664"/>
            <a:ext cx="3622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Quiero</a:t>
            </a:r>
            <a:r>
              <a:rPr lang="en-US" dirty="0" smtClean="0"/>
              <a:t> saber </a:t>
            </a:r>
            <a:r>
              <a:rPr lang="en-US" dirty="0" err="1" smtClean="0"/>
              <a:t>cuántos</a:t>
            </a:r>
            <a:r>
              <a:rPr lang="en-US" dirty="0" smtClean="0"/>
              <a:t> </a:t>
            </a:r>
            <a:r>
              <a:rPr lang="en-US" dirty="0" err="1" smtClean="0"/>
              <a:t>marineros</a:t>
            </a:r>
            <a:r>
              <a:rPr lang="en-US" dirty="0" smtClean="0"/>
              <a:t> hay.</a:t>
            </a:r>
            <a:endParaRPr lang="es-EC" dirty="0"/>
          </a:p>
        </p:txBody>
      </p:sp>
      <p:sp>
        <p:nvSpPr>
          <p:cNvPr id="14" name="Rectangle 13"/>
          <p:cNvSpPr/>
          <p:nvPr/>
        </p:nvSpPr>
        <p:spPr>
          <a:xfrm>
            <a:off x="251520" y="2924944"/>
            <a:ext cx="44026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Quiero</a:t>
            </a:r>
            <a:r>
              <a:rPr lang="en-US" dirty="0" smtClean="0"/>
              <a:t> saber </a:t>
            </a:r>
            <a:r>
              <a:rPr lang="en-US" dirty="0" smtClean="0"/>
              <a:t>la </a:t>
            </a:r>
            <a:r>
              <a:rPr lang="en-US" dirty="0" err="1" smtClean="0"/>
              <a:t>edad</a:t>
            </a:r>
            <a:r>
              <a:rPr lang="en-US" dirty="0" smtClean="0"/>
              <a:t> del </a:t>
            </a:r>
            <a:r>
              <a:rPr lang="en-US" dirty="0" err="1" smtClean="0"/>
              <a:t>marinero</a:t>
            </a:r>
            <a:r>
              <a:rPr lang="en-US" dirty="0" smtClean="0"/>
              <a:t> </a:t>
            </a:r>
            <a:r>
              <a:rPr lang="en-US" dirty="0" err="1" smtClean="0"/>
              <a:t>más</a:t>
            </a:r>
            <a:r>
              <a:rPr lang="en-US" dirty="0" smtClean="0"/>
              <a:t> </a:t>
            </a:r>
            <a:r>
              <a:rPr lang="en-US" dirty="0" err="1" smtClean="0"/>
              <a:t>joven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 smtClean="0"/>
              <a:t>on rating mayor  a 7.</a:t>
            </a:r>
            <a:endParaRPr lang="es-EC" dirty="0"/>
          </a:p>
        </p:txBody>
      </p:sp>
      <p:sp>
        <p:nvSpPr>
          <p:cNvPr id="15" name="Rectangle 14"/>
          <p:cNvSpPr/>
          <p:nvPr/>
        </p:nvSpPr>
        <p:spPr>
          <a:xfrm>
            <a:off x="251521" y="1556792"/>
            <a:ext cx="4320480" cy="64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Quiero</a:t>
            </a:r>
            <a:r>
              <a:rPr lang="en-US" dirty="0" smtClean="0"/>
              <a:t> saber la </a:t>
            </a:r>
            <a:r>
              <a:rPr lang="en-US" dirty="0" err="1" smtClean="0"/>
              <a:t>edad</a:t>
            </a:r>
            <a:r>
              <a:rPr lang="en-US" dirty="0" smtClean="0"/>
              <a:t> </a:t>
            </a:r>
            <a:r>
              <a:rPr lang="en-US" dirty="0" err="1" smtClean="0"/>
              <a:t>promedio</a:t>
            </a:r>
            <a:r>
              <a:rPr lang="en-US" dirty="0" smtClean="0"/>
              <a:t> de los </a:t>
            </a:r>
            <a:r>
              <a:rPr lang="en-US" dirty="0" err="1" smtClean="0"/>
              <a:t>marineros</a:t>
            </a:r>
            <a:r>
              <a:rPr lang="en-US" dirty="0" smtClean="0"/>
              <a:t> con rating=10.</a:t>
            </a:r>
            <a:endParaRPr lang="es-EC" dirty="0"/>
          </a:p>
        </p:txBody>
      </p:sp>
      <p:sp>
        <p:nvSpPr>
          <p:cNvPr id="17" name="Rectangle 16"/>
          <p:cNvSpPr/>
          <p:nvPr/>
        </p:nvSpPr>
        <p:spPr>
          <a:xfrm>
            <a:off x="323528" y="836712"/>
            <a:ext cx="2178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dirty="0" err="1" smtClean="0"/>
              <a:t>G</a:t>
            </a:r>
            <a:r>
              <a:rPr lang="es-EC" baseline="-25000" dirty="0" err="1" smtClean="0"/>
              <a:t>count</a:t>
            </a:r>
            <a:r>
              <a:rPr lang="es-EC" baseline="-25000" dirty="0" smtClean="0"/>
              <a:t>(</a:t>
            </a:r>
            <a:r>
              <a:rPr lang="es-EC" baseline="-25000" dirty="0" err="1" smtClean="0"/>
              <a:t>mid</a:t>
            </a:r>
            <a:r>
              <a:rPr lang="es-EC" baseline="-25000" dirty="0" smtClean="0"/>
              <a:t>)</a:t>
            </a:r>
            <a:r>
              <a:rPr lang="es-EC" dirty="0" smtClean="0"/>
              <a:t> (Marineros)</a:t>
            </a:r>
            <a:endParaRPr lang="es-EC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323528" y="2276872"/>
            <a:ext cx="944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dirty="0" err="1" smtClean="0"/>
              <a:t>G</a:t>
            </a:r>
            <a:r>
              <a:rPr lang="es-EC" baseline="-25000" dirty="0" err="1" smtClean="0"/>
              <a:t>avg</a:t>
            </a:r>
            <a:r>
              <a:rPr lang="es-EC" baseline="-25000" dirty="0" smtClean="0"/>
              <a:t>(edad)</a:t>
            </a:r>
            <a:endParaRPr lang="es-EC" dirty="0" smtClean="0"/>
          </a:p>
        </p:txBody>
      </p:sp>
      <p:graphicFrame>
        <p:nvGraphicFramePr>
          <p:cNvPr id="34822" name="Object 6"/>
          <p:cNvGraphicFramePr>
            <a:graphicFrameLocks/>
          </p:cNvGraphicFramePr>
          <p:nvPr/>
        </p:nvGraphicFramePr>
        <p:xfrm>
          <a:off x="1187624" y="2276873"/>
          <a:ext cx="2520280" cy="432047"/>
        </p:xfrm>
        <a:graphic>
          <a:graphicData uri="http://schemas.openxmlformats.org/presentationml/2006/ole">
            <p:oleObj spid="_x0000_s129029" name="Ecuación" r:id="rId7" imgW="3873240" imgH="672840" progId="Equation.3">
              <p:embed/>
            </p:oleObj>
          </a:graphicData>
        </a:graphic>
      </p:graphicFrame>
      <p:sp>
        <p:nvSpPr>
          <p:cNvPr id="20" name="Rectangle 19"/>
          <p:cNvSpPr/>
          <p:nvPr/>
        </p:nvSpPr>
        <p:spPr>
          <a:xfrm>
            <a:off x="323528" y="3645023"/>
            <a:ext cx="973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dirty="0" err="1" smtClean="0"/>
              <a:t>G</a:t>
            </a:r>
            <a:r>
              <a:rPr lang="es-EC" baseline="-25000" dirty="0" err="1" smtClean="0"/>
              <a:t>min</a:t>
            </a:r>
            <a:r>
              <a:rPr lang="es-EC" baseline="-25000" dirty="0" smtClean="0"/>
              <a:t>(edad)</a:t>
            </a:r>
            <a:endParaRPr lang="es-EC" dirty="0" smtClean="0"/>
          </a:p>
        </p:txBody>
      </p:sp>
      <p:graphicFrame>
        <p:nvGraphicFramePr>
          <p:cNvPr id="21" name="Object 6"/>
          <p:cNvGraphicFramePr>
            <a:graphicFrameLocks/>
          </p:cNvGraphicFramePr>
          <p:nvPr/>
        </p:nvGraphicFramePr>
        <p:xfrm>
          <a:off x="1231900" y="3644900"/>
          <a:ext cx="2430463" cy="431800"/>
        </p:xfrm>
        <a:graphic>
          <a:graphicData uri="http://schemas.openxmlformats.org/presentationml/2006/ole">
            <p:oleObj spid="_x0000_s129030" name="Ecuación" r:id="rId8" imgW="3733560" imgH="6728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7" grpId="0"/>
      <p:bldP spid="18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6016" y="620688"/>
            <a:ext cx="4427984" cy="2664296"/>
          </a:xfrm>
        </p:spPr>
        <p:txBody>
          <a:bodyPr>
            <a:normAutofit fontScale="62500" lnSpcReduction="20000"/>
          </a:bodyPr>
          <a:lstStyle/>
          <a:p>
            <a:r>
              <a:rPr lang="es-EC" dirty="0" smtClean="0"/>
              <a:t>Si se </a:t>
            </a:r>
            <a:r>
              <a:rPr lang="es-EC" dirty="0" smtClean="0"/>
              <a:t>desea hallar la suma total de sueldos de todos los </a:t>
            </a:r>
            <a:r>
              <a:rPr lang="es-EC" dirty="0" smtClean="0"/>
              <a:t>empleados en </a:t>
            </a:r>
            <a:r>
              <a:rPr lang="es-EC" dirty="0" smtClean="0"/>
              <a:t>cada sucursal del banco por separado, en lugar de hallar </a:t>
            </a:r>
            <a:r>
              <a:rPr lang="es-EC" dirty="0" smtClean="0"/>
              <a:t>la suma </a:t>
            </a:r>
            <a:r>
              <a:rPr lang="es-EC" dirty="0" smtClean="0"/>
              <a:t>de sueldos de todo el banco. </a:t>
            </a:r>
            <a:endParaRPr lang="es-EC" dirty="0" smtClean="0"/>
          </a:p>
          <a:p>
            <a:r>
              <a:rPr lang="es-EC" dirty="0" smtClean="0"/>
              <a:t>Para </a:t>
            </a:r>
            <a:r>
              <a:rPr lang="es-EC" dirty="0" smtClean="0"/>
              <a:t>ello hay que dividir la </a:t>
            </a:r>
            <a:r>
              <a:rPr lang="es-EC" dirty="0" smtClean="0"/>
              <a:t>instancia trabajo-por- horas </a:t>
            </a:r>
            <a:r>
              <a:rPr lang="es-EC" dirty="0" smtClean="0"/>
              <a:t>en grupos basados en la sucursal y aplicar la función de agregación </a:t>
            </a:r>
            <a:r>
              <a:rPr lang="es-EC" dirty="0" smtClean="0"/>
              <a:t>a cada </a:t>
            </a:r>
            <a:r>
              <a:rPr lang="es-EC" dirty="0" smtClean="0"/>
              <a:t>grupo.</a:t>
            </a:r>
            <a:endParaRPr lang="es-EC" dirty="0" smtClean="0"/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980728"/>
            <a:ext cx="41148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67544" y="620688"/>
            <a:ext cx="187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/>
              <a:t>trabajo-por-horas</a:t>
            </a:r>
            <a:endParaRPr lang="es-EC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7544" y="3356992"/>
            <a:ext cx="8064896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C" sz="2400" dirty="0" smtClean="0"/>
              <a:t>La expresión siguiente obtiene el resultado deseado utilizando el operador </a:t>
            </a:r>
            <a:r>
              <a:rPr lang="es-EC" sz="2400" dirty="0" smtClean="0"/>
              <a:t>de agregación </a:t>
            </a:r>
            <a:r>
              <a:rPr lang="es-EC" sz="2400" dirty="0" smtClean="0"/>
              <a:t>G</a:t>
            </a:r>
            <a:r>
              <a:rPr lang="es-EC" sz="2400" dirty="0" smtClean="0"/>
              <a:t>:</a:t>
            </a:r>
          </a:p>
          <a:p>
            <a:r>
              <a:rPr lang="es-EC" sz="1400" dirty="0" smtClean="0"/>
              <a:t>nombre-</a:t>
            </a:r>
            <a:r>
              <a:rPr lang="es-EC" sz="1400" dirty="0" err="1" smtClean="0"/>
              <a:t>sucursal</a:t>
            </a:r>
            <a:r>
              <a:rPr lang="es-EC" sz="2000" dirty="0" err="1" smtClean="0"/>
              <a:t>G</a:t>
            </a:r>
            <a:r>
              <a:rPr lang="es-EC" sz="1400" dirty="0" err="1" smtClean="0"/>
              <a:t>sum</a:t>
            </a:r>
            <a:r>
              <a:rPr lang="es-EC" sz="1400" dirty="0" smtClean="0"/>
              <a:t>(sueldo</a:t>
            </a:r>
            <a:r>
              <a:rPr lang="es-EC" sz="1400" dirty="0" smtClean="0"/>
              <a:t>) </a:t>
            </a:r>
            <a:r>
              <a:rPr lang="es-EC" sz="2000" dirty="0" smtClean="0"/>
              <a:t>(trabajo-por-horas)</a:t>
            </a:r>
            <a:endParaRPr kumimoji="0" lang="es-EC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552" y="4797152"/>
          <a:ext cx="35037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415480"/>
              </a:tblGrid>
              <a:tr h="352838">
                <a:tc>
                  <a:txBody>
                    <a:bodyPr/>
                    <a:lstStyle/>
                    <a:p>
                      <a:r>
                        <a:rPr lang="es-EC" dirty="0" smtClean="0"/>
                        <a:t>Nombre-sucursal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err="1" smtClean="0"/>
                        <a:t>sum</a:t>
                      </a:r>
                      <a:r>
                        <a:rPr lang="es-EC" dirty="0" smtClean="0"/>
                        <a:t>(sueldo)</a:t>
                      </a:r>
                      <a:endParaRPr lang="es-EC" dirty="0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r>
                        <a:rPr lang="es-EC" dirty="0" smtClean="0"/>
                        <a:t>Centro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smtClean="0"/>
                        <a:t>5300</a:t>
                      </a:r>
                      <a:endParaRPr lang="es-EC" dirty="0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r>
                        <a:rPr lang="es-EC" dirty="0" smtClean="0"/>
                        <a:t>Leganés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smtClean="0"/>
                        <a:t>3100</a:t>
                      </a:r>
                      <a:endParaRPr lang="es-EC" dirty="0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r>
                        <a:rPr lang="es-EC" dirty="0" smtClean="0"/>
                        <a:t>Navacerrada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smtClean="0"/>
                        <a:t>8100</a:t>
                      </a:r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55976" y="4725144"/>
            <a:ext cx="457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El atributo nombre-sucursal subíndice a la izquierda de G indica que la relación</a:t>
            </a:r>
          </a:p>
          <a:p>
            <a:r>
              <a:rPr lang="es-EC" dirty="0" smtClean="0"/>
              <a:t>de entrada </a:t>
            </a:r>
            <a:r>
              <a:rPr lang="es-EC" dirty="0" smtClean="0"/>
              <a:t>trabajo-por-horas </a:t>
            </a:r>
            <a:r>
              <a:rPr lang="es-EC" dirty="0" smtClean="0"/>
              <a:t>debe dividirse en grupos de acuerdo con el valor de</a:t>
            </a:r>
          </a:p>
          <a:p>
            <a:r>
              <a:rPr lang="es-EC" dirty="0" smtClean="0"/>
              <a:t>nombre-sucursal.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564904"/>
            <a:ext cx="8229600" cy="2260848"/>
          </a:xfrm>
        </p:spPr>
        <p:txBody>
          <a:bodyPr/>
          <a:lstStyle/>
          <a:p>
            <a:r>
              <a:rPr lang="es-EC" dirty="0" smtClean="0"/>
              <a:t>Si deseo averiguar </a:t>
            </a:r>
            <a:r>
              <a:rPr lang="es-EC" dirty="0" smtClean="0"/>
              <a:t>el sueldo máximo de los empleados </a:t>
            </a:r>
            <a:r>
              <a:rPr lang="es-EC" dirty="0" smtClean="0"/>
              <a:t>de </a:t>
            </a:r>
            <a:r>
              <a:rPr lang="es-EC" dirty="0" smtClean="0"/>
              <a:t>cada oficina, además de la suma de los sueldos, habría </a:t>
            </a:r>
            <a:r>
              <a:rPr lang="es-EC" dirty="0" smtClean="0"/>
              <a:t>que escribir </a:t>
            </a:r>
            <a:r>
              <a:rPr lang="es-EC" dirty="0" smtClean="0"/>
              <a:t>la expresión:</a:t>
            </a:r>
            <a:endParaRPr lang="es-EC" dirty="0"/>
          </a:p>
        </p:txBody>
      </p:sp>
      <p:sp>
        <p:nvSpPr>
          <p:cNvPr id="4" name="Rectangle 3"/>
          <p:cNvSpPr/>
          <p:nvPr/>
        </p:nvSpPr>
        <p:spPr>
          <a:xfrm>
            <a:off x="755576" y="4653136"/>
            <a:ext cx="7686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nombre-</a:t>
            </a:r>
            <a:r>
              <a:rPr lang="es-EC" dirty="0" err="1" smtClean="0"/>
              <a:t>sucursal</a:t>
            </a:r>
            <a:r>
              <a:rPr lang="es-EC" sz="2800" dirty="0" err="1" smtClean="0"/>
              <a:t>G</a:t>
            </a:r>
            <a:r>
              <a:rPr lang="es-EC" dirty="0" err="1" smtClean="0"/>
              <a:t>sum</a:t>
            </a:r>
            <a:r>
              <a:rPr lang="es-EC" dirty="0" smtClean="0"/>
              <a:t>(sueldo</a:t>
            </a:r>
            <a:r>
              <a:rPr lang="es-EC" dirty="0" smtClean="0"/>
              <a:t>) </a:t>
            </a:r>
            <a:r>
              <a:rPr lang="es-EC" dirty="0" smtClean="0"/>
              <a:t>,</a:t>
            </a:r>
            <a:r>
              <a:rPr lang="es-EC" dirty="0" smtClean="0">
                <a:solidFill>
                  <a:prstClr val="black"/>
                </a:solidFill>
              </a:rPr>
              <a:t> </a:t>
            </a:r>
            <a:r>
              <a:rPr lang="es-EC" dirty="0" err="1" smtClean="0">
                <a:solidFill>
                  <a:prstClr val="black"/>
                </a:solidFill>
              </a:rPr>
              <a:t>max</a:t>
            </a:r>
            <a:r>
              <a:rPr lang="es-EC" dirty="0" smtClean="0">
                <a:solidFill>
                  <a:prstClr val="black"/>
                </a:solidFill>
              </a:rPr>
              <a:t>(sueldo</a:t>
            </a:r>
            <a:r>
              <a:rPr lang="es-EC" dirty="0" smtClean="0">
                <a:solidFill>
                  <a:prstClr val="black"/>
                </a:solidFill>
              </a:rPr>
              <a:t>) </a:t>
            </a:r>
            <a:r>
              <a:rPr lang="es-EC" sz="2800" dirty="0" smtClean="0"/>
              <a:t>(</a:t>
            </a:r>
            <a:r>
              <a:rPr lang="es-EC" sz="2800" dirty="0" smtClean="0"/>
              <a:t>trabajo-por-horas)</a:t>
            </a:r>
            <a:endParaRPr lang="es-EC" sz="2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332656"/>
            <a:ext cx="41148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5301208"/>
            <a:ext cx="43910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483768" y="0"/>
            <a:ext cx="187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/>
              <a:t>trabajo-por-horas</a:t>
            </a:r>
            <a:endParaRPr lang="es-EC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graphicFrame>
        <p:nvGraphicFramePr>
          <p:cNvPr id="15362" name="Object 7"/>
          <p:cNvGraphicFramePr>
            <a:graphicFrameLocks/>
          </p:cNvGraphicFramePr>
          <p:nvPr/>
        </p:nvGraphicFramePr>
        <p:xfrm>
          <a:off x="4830763" y="1997075"/>
          <a:ext cx="4130675" cy="2392363"/>
        </p:xfrm>
        <a:graphic>
          <a:graphicData uri="http://schemas.openxmlformats.org/presentationml/2006/ole">
            <p:oleObj spid="_x0000_s132098" name="Document" r:id="rId4" imgW="4326839" imgH="2110824" progId="Word.Document.8">
              <p:embed/>
            </p:oleObj>
          </a:graphicData>
        </a:graphic>
      </p:graphicFrame>
      <p:graphicFrame>
        <p:nvGraphicFramePr>
          <p:cNvPr id="15363" name="Object 8"/>
          <p:cNvGraphicFramePr>
            <a:graphicFrameLocks/>
          </p:cNvGraphicFramePr>
          <p:nvPr/>
        </p:nvGraphicFramePr>
        <p:xfrm>
          <a:off x="2819400" y="4313238"/>
          <a:ext cx="4206875" cy="2239962"/>
        </p:xfrm>
        <a:graphic>
          <a:graphicData uri="http://schemas.openxmlformats.org/presentationml/2006/ole">
            <p:oleObj spid="_x0000_s132099" name="Document" r:id="rId5" imgW="4400023" imgH="2263370" progId="Word.Document.8">
              <p:embed/>
            </p:oleObj>
          </a:graphicData>
        </a:graphic>
      </p:graphicFrame>
      <p:graphicFrame>
        <p:nvGraphicFramePr>
          <p:cNvPr id="15364" name="Object 9"/>
          <p:cNvGraphicFramePr>
            <a:graphicFrameLocks/>
          </p:cNvGraphicFramePr>
          <p:nvPr/>
        </p:nvGraphicFramePr>
        <p:xfrm>
          <a:off x="5638800" y="334963"/>
          <a:ext cx="3292475" cy="1585912"/>
        </p:xfrm>
        <a:graphic>
          <a:graphicData uri="http://schemas.openxmlformats.org/presentationml/2006/ole">
            <p:oleObj spid="_x0000_s132100" name="Document" r:id="rId6" imgW="3657986" imgH="1615518" progId="Word.Document.8">
              <p:embed/>
            </p:oleObj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4634084" y="579438"/>
            <a:ext cx="94602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Reserva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3616325" y="2597150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1271588" y="4324350"/>
            <a:ext cx="72090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Botes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404664"/>
            <a:ext cx="4320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Encontrar</a:t>
            </a:r>
            <a:r>
              <a:rPr lang="en-US" dirty="0" smtClean="0"/>
              <a:t> la </a:t>
            </a:r>
            <a:r>
              <a:rPr lang="en-US" dirty="0" err="1" smtClean="0"/>
              <a:t>edad</a:t>
            </a:r>
            <a:r>
              <a:rPr lang="en-US" dirty="0" smtClean="0"/>
              <a:t> del </a:t>
            </a:r>
            <a:r>
              <a:rPr lang="en-US" dirty="0" err="1" smtClean="0"/>
              <a:t>marinero</a:t>
            </a:r>
            <a:r>
              <a:rPr lang="en-US" dirty="0" smtClean="0"/>
              <a:t> </a:t>
            </a:r>
            <a:r>
              <a:rPr lang="en-US" dirty="0" err="1" smtClean="0"/>
              <a:t>más</a:t>
            </a:r>
            <a:r>
              <a:rPr lang="en-US" dirty="0" smtClean="0"/>
              <a:t> </a:t>
            </a:r>
            <a:r>
              <a:rPr lang="en-US" dirty="0" err="1" smtClean="0"/>
              <a:t>joven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nivel</a:t>
            </a:r>
            <a:r>
              <a:rPr lang="en-US" dirty="0" smtClean="0"/>
              <a:t> de rating.</a:t>
            </a:r>
            <a:endParaRPr lang="es-EC" dirty="0"/>
          </a:p>
        </p:txBody>
      </p:sp>
      <p:sp>
        <p:nvSpPr>
          <p:cNvPr id="15" name="Rectangle 14"/>
          <p:cNvSpPr/>
          <p:nvPr/>
        </p:nvSpPr>
        <p:spPr>
          <a:xfrm>
            <a:off x="251521" y="1556792"/>
            <a:ext cx="4320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Para </a:t>
            </a:r>
            <a:r>
              <a:rPr lang="en-US" dirty="0" err="1" smtClean="0"/>
              <a:t>cada</a:t>
            </a:r>
            <a:r>
              <a:rPr lang="en-US" dirty="0" smtClean="0"/>
              <a:t> rating </a:t>
            </a:r>
            <a:r>
              <a:rPr lang="en-US" dirty="0" err="1" smtClean="0"/>
              <a:t>encuentre</a:t>
            </a:r>
            <a:r>
              <a:rPr lang="en-US" dirty="0" smtClean="0"/>
              <a:t> la </a:t>
            </a:r>
            <a:r>
              <a:rPr lang="en-US" dirty="0" err="1" smtClean="0"/>
              <a:t>edad</a:t>
            </a:r>
            <a:r>
              <a:rPr lang="en-US" dirty="0" smtClean="0"/>
              <a:t> </a:t>
            </a:r>
            <a:r>
              <a:rPr lang="en-US" dirty="0" err="1" smtClean="0"/>
              <a:t>promedio</a:t>
            </a:r>
            <a:r>
              <a:rPr lang="en-US" dirty="0" smtClean="0"/>
              <a:t> de los </a:t>
            </a:r>
            <a:r>
              <a:rPr lang="en-US" dirty="0" err="1" smtClean="0"/>
              <a:t>marineros</a:t>
            </a:r>
            <a:r>
              <a:rPr lang="en-US" dirty="0" smtClean="0"/>
              <a:t> </a:t>
            </a:r>
            <a:r>
              <a:rPr lang="en-US" dirty="0" err="1" smtClean="0"/>
              <a:t>mayores</a:t>
            </a:r>
            <a:r>
              <a:rPr lang="en-US" dirty="0" smtClean="0"/>
              <a:t> a 18 </a:t>
            </a:r>
            <a:r>
              <a:rPr lang="en-US" dirty="0" err="1" smtClean="0"/>
              <a:t>años</a:t>
            </a:r>
            <a:r>
              <a:rPr lang="en-US" dirty="0" smtClean="0"/>
              <a:t>.</a:t>
            </a:r>
            <a:endParaRPr lang="es-EC" dirty="0"/>
          </a:p>
        </p:txBody>
      </p:sp>
      <p:sp>
        <p:nvSpPr>
          <p:cNvPr id="17" name="Rectangle 16"/>
          <p:cNvSpPr/>
          <p:nvPr/>
        </p:nvSpPr>
        <p:spPr>
          <a:xfrm>
            <a:off x="323528" y="971436"/>
            <a:ext cx="2494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baseline="-25000" dirty="0" err="1" smtClean="0"/>
              <a:t>rating</a:t>
            </a:r>
            <a:r>
              <a:rPr lang="es-EC" dirty="0" err="1" smtClean="0"/>
              <a:t>G</a:t>
            </a:r>
            <a:r>
              <a:rPr lang="es-EC" baseline="-25000" dirty="0" err="1" smtClean="0"/>
              <a:t>min</a:t>
            </a:r>
            <a:r>
              <a:rPr lang="es-EC" baseline="-25000" dirty="0" smtClean="0"/>
              <a:t>(edad)</a:t>
            </a:r>
            <a:r>
              <a:rPr lang="es-EC" dirty="0" smtClean="0"/>
              <a:t> (Marineros)</a:t>
            </a:r>
            <a:endParaRPr lang="es-EC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323528" y="2442170"/>
            <a:ext cx="1305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C" baseline="-25000" dirty="0" err="1" smtClean="0"/>
              <a:t>rating</a:t>
            </a:r>
            <a:r>
              <a:rPr lang="es-EC" dirty="0" err="1" smtClean="0"/>
              <a:t>G</a:t>
            </a:r>
            <a:r>
              <a:rPr lang="es-EC" baseline="-25000" dirty="0" err="1" smtClean="0"/>
              <a:t>avg</a:t>
            </a:r>
            <a:r>
              <a:rPr lang="es-EC" baseline="-25000" dirty="0" smtClean="0"/>
              <a:t>(edad)</a:t>
            </a:r>
            <a:endParaRPr lang="es-EC" dirty="0" smtClean="0"/>
          </a:p>
        </p:txBody>
      </p:sp>
      <p:graphicFrame>
        <p:nvGraphicFramePr>
          <p:cNvPr id="34822" name="Object 6"/>
          <p:cNvGraphicFramePr>
            <a:graphicFrameLocks/>
          </p:cNvGraphicFramePr>
          <p:nvPr/>
        </p:nvGraphicFramePr>
        <p:xfrm>
          <a:off x="1473200" y="2462411"/>
          <a:ext cx="2527300" cy="390525"/>
        </p:xfrm>
        <a:graphic>
          <a:graphicData uri="http://schemas.openxmlformats.org/presentationml/2006/ole">
            <p:oleObj spid="_x0000_s132101" name="Ecuación" r:id="rId7" imgW="3886200" imgH="60948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674</Words>
  <Application>Microsoft Office PowerPoint</Application>
  <PresentationFormat>On-screen Show (4:3)</PresentationFormat>
  <Paragraphs>109</Paragraphs>
  <Slides>10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Tema de Office</vt:lpstr>
      <vt:lpstr>Document</vt:lpstr>
      <vt:lpstr>Microsoft Editor de ecuaciones 3.0</vt:lpstr>
      <vt:lpstr>Álgebra Relacional</vt:lpstr>
      <vt:lpstr>Objetivos</vt:lpstr>
      <vt:lpstr>Funciones de agregación</vt:lpstr>
      <vt:lpstr>Slide 4</vt:lpstr>
      <vt:lpstr>Distinct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Álgebra Relacional</dc:title>
  <dc:creator>vanessa</dc:creator>
  <cp:lastModifiedBy>Cristina Abad</cp:lastModifiedBy>
  <cp:revision>100</cp:revision>
  <dcterms:created xsi:type="dcterms:W3CDTF">2010-06-17T22:15:59Z</dcterms:created>
  <dcterms:modified xsi:type="dcterms:W3CDTF">2010-11-23T19:10:19Z</dcterms:modified>
</cp:coreProperties>
</file>
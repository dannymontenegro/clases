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7"/>
  </p:notesMasterIdLst>
  <p:sldIdLst>
    <p:sldId id="256" r:id="rId2"/>
    <p:sldId id="311" r:id="rId3"/>
    <p:sldId id="446" r:id="rId4"/>
    <p:sldId id="447" r:id="rId5"/>
    <p:sldId id="448" r:id="rId6"/>
    <p:sldId id="450" r:id="rId7"/>
    <p:sldId id="458" r:id="rId8"/>
    <p:sldId id="451" r:id="rId9"/>
    <p:sldId id="452" r:id="rId10"/>
    <p:sldId id="454" r:id="rId11"/>
    <p:sldId id="453" r:id="rId12"/>
    <p:sldId id="344" r:id="rId13"/>
    <p:sldId id="439" r:id="rId14"/>
    <p:sldId id="441" r:id="rId15"/>
    <p:sldId id="445" r:id="rId16"/>
    <p:sldId id="431" r:id="rId17"/>
    <p:sldId id="442" r:id="rId18"/>
    <p:sldId id="443" r:id="rId19"/>
    <p:sldId id="444" r:id="rId20"/>
    <p:sldId id="433" r:id="rId21"/>
    <p:sldId id="434" r:id="rId22"/>
    <p:sldId id="435" r:id="rId23"/>
    <p:sldId id="436" r:id="rId24"/>
    <p:sldId id="438" r:id="rId25"/>
    <p:sldId id="43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757" autoAdjust="0"/>
    <p:restoredTop sz="89386" autoAdjust="0"/>
  </p:normalViewPr>
  <p:slideViewPr>
    <p:cSldViewPr snapToGrid="0">
      <p:cViewPr varScale="1">
        <p:scale>
          <a:sx n="66" d="100"/>
          <a:sy n="66" d="100"/>
        </p:scale>
        <p:origin x="208" y="1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3594B-FEBB-48A3-8BDF-DB05D5DE02C0}" type="datetimeFigureOut">
              <a:rPr lang="en-US" smtClean="0"/>
              <a:t>12/6/19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10BFD-0FCF-4A7B-9E85-8F7D0B316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49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56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04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04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04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90</a:t>
            </a:r>
            <a:endParaRPr lang="en-US" dirty="0">
              <a:effectLst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Definition Language (DDL) A language that allows the DBA or user to describe and name the entities, attributes, and relationships required for the application, together with any associated integrity and security constraints.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053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Pg</a:t>
            </a:r>
            <a:r>
              <a:rPr lang="en-US" baseline="0" dirty="0"/>
              <a:t> 90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DML: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language that provides a set of operations to support the basic data manipulation operations on the data held in the database.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45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Pg</a:t>
            </a:r>
            <a:r>
              <a:rPr lang="en-US" baseline="0" dirty="0"/>
              <a:t> 90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45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language that allows the DBA or user to describe and name the entities, attributes, and relationships required for the application, together with any associated integrity and security constraints.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95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DC9FF3-8C9D-4A65-A5B2-B5014B1165A3}" type="slidenum">
              <a:rPr lang="en-US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4B7720-A056-4C68-975A-4BFA21FF4BB8}" type="slidenum">
              <a:rPr lang="en-US"/>
              <a:pPr/>
              <a:t>21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3F8AD8-C69D-4D4B-8A5C-8402707F4BC3}" type="slidenum">
              <a:rPr lang="en-US"/>
              <a:pPr/>
              <a:t>22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03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492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91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85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4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5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28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865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27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5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31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0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  <a:p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267DE3B-525E-42F5-A8B1-A1F11A59657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29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3802299" y="649287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800" kern="1200" cap="all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 UTILIZAR COMO MATERIAL DE ESTUDIO</a:t>
            </a:r>
          </a:p>
        </p:txBody>
      </p:sp>
      <p:pic>
        <p:nvPicPr>
          <p:cNvPr id="14" name="Picture 13" descr="fiec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142" y="6415974"/>
            <a:ext cx="1886857" cy="44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64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SISTEMAS DE </a:t>
            </a:r>
            <a:b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BASES DE DATOS</a:t>
            </a:r>
            <a:b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TICG1001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674015"/>
            <a:ext cx="10058400" cy="1347279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UNIDAD 5</a:t>
            </a:r>
          </a:p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Lenguaje de Consultas y </a:t>
            </a:r>
          </a:p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optimización de consultas </a:t>
            </a:r>
          </a:p>
          <a:p>
            <a:pPr algn="ctr"/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243055" y="5548328"/>
            <a:ext cx="10058400" cy="752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1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CONTENIDO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49680" y="1861368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SQL.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lenguaje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definición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Manipulación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Conversión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algebra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relacional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SQL.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múltiples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conjuntos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anidadas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conjuntos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anidadas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Cuantificadores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NULLs y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‘joins’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Optimización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Vistas.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Procedimientos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almacenados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Disparadores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514350" indent="-51435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254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¿</a:t>
            </a:r>
            <a:r>
              <a:rPr lang="en-US" dirty="0" err="1"/>
              <a:t>Que</a:t>
            </a:r>
            <a:r>
              <a:rPr lang="en-US" dirty="0"/>
              <a:t>́ </a:t>
            </a:r>
            <a:r>
              <a:rPr lang="en-US" dirty="0" err="1"/>
              <a:t>es</a:t>
            </a:r>
            <a:r>
              <a:rPr lang="en-US" dirty="0"/>
              <a:t> un </a:t>
            </a:r>
            <a:r>
              <a:rPr lang="en-US" dirty="0" err="1"/>
              <a:t>Dato</a:t>
            </a:r>
            <a:r>
              <a:rPr lang="en-US" dirty="0"/>
              <a:t>?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94080" y="3302147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dirty="0"/>
              <a:t>¿</a:t>
            </a:r>
            <a:r>
              <a:rPr lang="en-US" dirty="0" err="1"/>
              <a:t>Que</a:t>
            </a:r>
            <a:r>
              <a:rPr lang="en-US" dirty="0"/>
              <a:t>́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9C63D9-317C-C544-BFDD-BE50393DE3AD}"/>
              </a:ext>
            </a:extLst>
          </p:cNvPr>
          <p:cNvSpPr/>
          <p:nvPr/>
        </p:nvSpPr>
        <p:spPr>
          <a:xfrm>
            <a:off x="1239520" y="2045601"/>
            <a:ext cx="91107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Es una </a:t>
            </a:r>
            <a:r>
              <a:rPr lang="en-US" dirty="0" err="1"/>
              <a:t>representación</a:t>
            </a:r>
            <a:r>
              <a:rPr lang="en-US" dirty="0"/>
              <a:t> </a:t>
            </a:r>
            <a:r>
              <a:rPr lang="en-US" dirty="0" err="1"/>
              <a:t>simbólica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Puede</a:t>
            </a:r>
            <a:r>
              <a:rPr lang="en-US" dirty="0"/>
              <a:t> ser un </a:t>
            </a:r>
            <a:r>
              <a:rPr lang="en-US" dirty="0" err="1"/>
              <a:t>número</a:t>
            </a:r>
            <a:r>
              <a:rPr lang="en-US" dirty="0"/>
              <a:t>, </a:t>
            </a:r>
            <a:r>
              <a:rPr lang="en-US" dirty="0" err="1"/>
              <a:t>cadena</a:t>
            </a:r>
            <a:r>
              <a:rPr lang="en-US" dirty="0"/>
              <a:t> de </a:t>
            </a:r>
            <a:r>
              <a:rPr lang="en-US" dirty="0" err="1"/>
              <a:t>caracteres</a:t>
            </a:r>
            <a:r>
              <a:rPr lang="en-US" dirty="0"/>
              <a:t>, </a:t>
            </a:r>
            <a:r>
              <a:rPr lang="en-US" dirty="0" err="1"/>
              <a:t>fechas</a:t>
            </a:r>
            <a:r>
              <a:rPr lang="en-US" dirty="0"/>
              <a:t>...     </a:t>
            </a:r>
          </a:p>
          <a:p>
            <a:r>
              <a:rPr lang="en-US" dirty="0"/>
              <a:t>    </a:t>
            </a:r>
            <a:r>
              <a:rPr lang="en-US" dirty="0" err="1"/>
              <a:t>Característica</a:t>
            </a:r>
            <a:r>
              <a:rPr lang="en-US" dirty="0"/>
              <a:t>: Por </a:t>
            </a:r>
            <a:r>
              <a:rPr lang="en-US" dirty="0" err="1"/>
              <a:t>sí</a:t>
            </a:r>
            <a:r>
              <a:rPr lang="en-US" dirty="0"/>
              <a:t> solo, no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significado</a:t>
            </a:r>
            <a:r>
              <a:rPr lang="en-US" dirty="0"/>
              <a:t>.</a:t>
            </a:r>
          </a:p>
          <a:p>
            <a:r>
              <a:rPr lang="en-US" dirty="0"/>
              <a:t>    </a:t>
            </a:r>
            <a:r>
              <a:rPr lang="en-US" dirty="0" err="1"/>
              <a:t>Ej</a:t>
            </a:r>
            <a:r>
              <a:rPr lang="en-US" dirty="0"/>
              <a:t>: 20150903 Es una </a:t>
            </a:r>
            <a:r>
              <a:rPr lang="en-US" dirty="0" err="1"/>
              <a:t>fecha</a:t>
            </a:r>
            <a:r>
              <a:rPr lang="en-US" dirty="0"/>
              <a:t>? Es un </a:t>
            </a:r>
            <a:r>
              <a:rPr lang="en-US" dirty="0" err="1"/>
              <a:t>número</a:t>
            </a:r>
            <a:r>
              <a:rPr lang="en-US" dirty="0"/>
              <a:t>? Es un </a:t>
            </a:r>
            <a:r>
              <a:rPr lang="en-US" dirty="0" err="1"/>
              <a:t>teléfono</a:t>
            </a:r>
            <a:r>
              <a:rPr lang="en-US" dirty="0"/>
              <a:t>? Es mi </a:t>
            </a:r>
            <a:r>
              <a:rPr lang="en-US" dirty="0" err="1"/>
              <a:t>sueldo</a:t>
            </a:r>
            <a:r>
              <a:rPr lang="en-US" dirty="0"/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5F75CF-7970-F941-A250-52A80F6FD509}"/>
              </a:ext>
            </a:extLst>
          </p:cNvPr>
          <p:cNvSpPr/>
          <p:nvPr/>
        </p:nvSpPr>
        <p:spPr>
          <a:xfrm>
            <a:off x="1239520" y="504568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Son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procesados</a:t>
            </a:r>
            <a:r>
              <a:rPr lang="en-US" dirty="0"/>
              <a:t> e </a:t>
            </a:r>
            <a:r>
              <a:rPr lang="en-US" dirty="0" err="1"/>
              <a:t>interpretados</a:t>
            </a:r>
            <a:r>
              <a:rPr lang="en-US" dirty="0"/>
              <a:t> o son </a:t>
            </a:r>
            <a:r>
              <a:rPr lang="en-US" dirty="0" err="1"/>
              <a:t>interpretables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Características</a:t>
            </a:r>
            <a:r>
              <a:rPr lang="en-US" dirty="0"/>
              <a:t>: Tiene </a:t>
            </a:r>
            <a:r>
              <a:rPr lang="en-US" dirty="0" err="1"/>
              <a:t>significado</a:t>
            </a:r>
            <a:r>
              <a:rPr lang="en-US" dirty="0"/>
              <a:t> (</a:t>
            </a:r>
            <a:r>
              <a:rPr lang="en-US" dirty="0" err="1"/>
              <a:t>semántica</a:t>
            </a:r>
            <a:r>
              <a:rPr lang="en-US" dirty="0"/>
              <a:t>)</a:t>
            </a:r>
          </a:p>
          <a:p>
            <a:r>
              <a:rPr lang="en-US" dirty="0"/>
              <a:t>    </a:t>
            </a:r>
            <a:r>
              <a:rPr lang="en-US" dirty="0" err="1"/>
              <a:t>Ej</a:t>
            </a:r>
            <a:r>
              <a:rPr lang="en-US" dirty="0"/>
              <a:t>: El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matrícula</a:t>
            </a:r>
            <a:r>
              <a:rPr lang="en-US" dirty="0"/>
              <a:t> de Juanito es 20150903</a:t>
            </a:r>
          </a:p>
        </p:txBody>
      </p:sp>
    </p:spTree>
    <p:extLst>
      <p:ext uri="{BB962C8B-B14F-4D97-AF65-F5344CB8AC3E}">
        <p14:creationId xmlns:p14="http://schemas.microsoft.com/office/powerpoint/2010/main" val="4043270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¿</a:t>
            </a:r>
            <a:r>
              <a:rPr lang="en-US" dirty="0" err="1"/>
              <a:t>Que</a:t>
            </a:r>
            <a:r>
              <a:rPr lang="en-US" dirty="0"/>
              <a:t>́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Base de </a:t>
            </a:r>
            <a:r>
              <a:rPr lang="en-US" dirty="0" err="1"/>
              <a:t>Datos</a:t>
            </a:r>
            <a:r>
              <a:rPr lang="en-US" dirty="0"/>
              <a:t>?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19378" y="3124461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dirty="0"/>
              <a:t>¿</a:t>
            </a:r>
            <a:r>
              <a:rPr lang="en-US" dirty="0" err="1"/>
              <a:t>Que</a:t>
            </a:r>
            <a:r>
              <a:rPr lang="en-US" dirty="0"/>
              <a:t>́ </a:t>
            </a:r>
            <a:r>
              <a:rPr lang="en-US" dirty="0" err="1"/>
              <a:t>es</a:t>
            </a:r>
            <a:r>
              <a:rPr lang="en-US" dirty="0"/>
              <a:t> un DBMS?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525B2B-9E7D-5C49-BC0A-37874A2939BD}"/>
              </a:ext>
            </a:extLst>
          </p:cNvPr>
          <p:cNvSpPr/>
          <p:nvPr/>
        </p:nvSpPr>
        <p:spPr>
          <a:xfrm>
            <a:off x="1097280" y="1957971"/>
            <a:ext cx="97804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Colección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almacenados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manera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lógica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estructurada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modela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una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empresa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vida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real.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7C7E4B-12FA-714E-B260-55308EF3DBED}"/>
              </a:ext>
            </a:extLst>
          </p:cNvPr>
          <p:cNvSpPr/>
          <p:nvPr/>
        </p:nvSpPr>
        <p:spPr>
          <a:xfrm>
            <a:off x="1097280" y="4776680"/>
            <a:ext cx="1005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 una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colección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archivos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computarizados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permite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 sus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usuarios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almacenar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administrar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facilitar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acceso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 las DBs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55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¿</a:t>
            </a:r>
            <a:r>
              <a:rPr lang="en-US" dirty="0" err="1"/>
              <a:t>Cuáles</a:t>
            </a:r>
            <a:r>
              <a:rPr lang="en-US" dirty="0"/>
              <a:t> son los </a:t>
            </a:r>
            <a:r>
              <a:rPr lang="en-US" dirty="0" err="1"/>
              <a:t>componentes</a:t>
            </a:r>
            <a:r>
              <a:rPr lang="en-US" dirty="0"/>
              <a:t> </a:t>
            </a:r>
            <a:r>
              <a:rPr lang="en-US" dirty="0" err="1"/>
              <a:t>principales</a:t>
            </a:r>
            <a:r>
              <a:rPr lang="en-US" dirty="0"/>
              <a:t> de un DBMS?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19378" y="3124461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dirty="0"/>
              <a:t>¿Qué es un RDBMS?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99B257-ECD8-BA4B-9217-60716760B8F3}"/>
              </a:ext>
            </a:extLst>
          </p:cNvPr>
          <p:cNvSpPr/>
          <p:nvPr/>
        </p:nvSpPr>
        <p:spPr>
          <a:xfrm>
            <a:off x="1097280" y="2246244"/>
            <a:ext cx="5202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Hardware, Software, </a:t>
            </a:r>
            <a:r>
              <a:rPr lang="en-US" dirty="0" err="1"/>
              <a:t>Datos</a:t>
            </a:r>
            <a:r>
              <a:rPr lang="en-US" dirty="0"/>
              <a:t>, </a:t>
            </a:r>
            <a:r>
              <a:rPr lang="en-US" dirty="0" err="1"/>
              <a:t>Usuarios</a:t>
            </a:r>
            <a:r>
              <a:rPr lang="en-US" dirty="0"/>
              <a:t>, </a:t>
            </a:r>
            <a:r>
              <a:rPr lang="en-US" dirty="0" err="1"/>
              <a:t>Procedimientos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3AC206-3677-5D43-9E79-8496E53D1625}"/>
              </a:ext>
            </a:extLst>
          </p:cNvPr>
          <p:cNvSpPr/>
          <p:nvPr/>
        </p:nvSpPr>
        <p:spPr>
          <a:xfrm>
            <a:off x="819378" y="4760937"/>
            <a:ext cx="10717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Es un </a:t>
            </a:r>
            <a:r>
              <a:rPr lang="en-US" dirty="0" err="1"/>
              <a:t>programa</a:t>
            </a:r>
            <a:r>
              <a:rPr lang="en-US" dirty="0"/>
              <a:t> que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crear</a:t>
            </a:r>
            <a:r>
              <a:rPr lang="en-US" dirty="0"/>
              <a:t>, </a:t>
            </a:r>
            <a:r>
              <a:rPr lang="en-US" dirty="0" err="1"/>
              <a:t>actualizar</a:t>
            </a:r>
            <a:r>
              <a:rPr lang="en-US" dirty="0"/>
              <a:t> y </a:t>
            </a:r>
            <a:r>
              <a:rPr lang="en-US" dirty="0" err="1"/>
              <a:t>adminsitrar</a:t>
            </a:r>
            <a:r>
              <a:rPr lang="en-US" dirty="0"/>
              <a:t> una DB </a:t>
            </a:r>
            <a:r>
              <a:rPr lang="en-US" dirty="0" err="1"/>
              <a:t>relacional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0026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5400" dirty="0"/>
              <a:t>¿</a:t>
            </a:r>
            <a:r>
              <a:rPr lang="en-US" sz="5400" dirty="0" err="1"/>
              <a:t>Qué</a:t>
            </a:r>
            <a:r>
              <a:rPr lang="en-US" sz="5400" dirty="0"/>
              <a:t> </a:t>
            </a:r>
            <a:r>
              <a:rPr lang="en-US" sz="5400" dirty="0" err="1"/>
              <a:t>es</a:t>
            </a:r>
            <a:r>
              <a:rPr lang="en-US" sz="5400" dirty="0"/>
              <a:t> SQL?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80447" y="2963586"/>
            <a:ext cx="8598371" cy="15696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Lenguaje</a:t>
            </a:r>
            <a:r>
              <a:rPr lang="en-US" sz="3200" dirty="0"/>
              <a:t> de </a:t>
            </a:r>
            <a:r>
              <a:rPr lang="en-US" sz="3200" dirty="0" err="1"/>
              <a:t>computador</a:t>
            </a:r>
            <a:r>
              <a:rPr lang="en-US" sz="3200" dirty="0"/>
              <a:t> </a:t>
            </a:r>
            <a:r>
              <a:rPr lang="en-US" sz="3200" dirty="0" err="1"/>
              <a:t>que</a:t>
            </a:r>
            <a:r>
              <a:rPr lang="en-US" sz="3200" dirty="0"/>
              <a:t> </a:t>
            </a:r>
            <a:r>
              <a:rPr lang="en-US" sz="3200" dirty="0" err="1"/>
              <a:t>guarda</a:t>
            </a:r>
            <a:r>
              <a:rPr lang="en-US" sz="3200" dirty="0"/>
              <a:t>, </a:t>
            </a:r>
            <a:r>
              <a:rPr lang="en-US" sz="3200" dirty="0" err="1"/>
              <a:t>manipula</a:t>
            </a:r>
            <a:r>
              <a:rPr lang="en-US" sz="3200" dirty="0"/>
              <a:t> y </a:t>
            </a:r>
            <a:r>
              <a:rPr lang="en-US" sz="3200" dirty="0" err="1"/>
              <a:t>obtiene</a:t>
            </a:r>
            <a:r>
              <a:rPr lang="en-US" sz="3200" dirty="0"/>
              <a:t> </a:t>
            </a:r>
            <a:r>
              <a:rPr lang="en-US" sz="3200" dirty="0" err="1"/>
              <a:t>datos</a:t>
            </a:r>
            <a:r>
              <a:rPr lang="en-US" sz="3200" dirty="0"/>
              <a:t> </a:t>
            </a:r>
            <a:r>
              <a:rPr lang="en-US" sz="3200" dirty="0" err="1"/>
              <a:t>guardados</a:t>
            </a:r>
            <a:r>
              <a:rPr lang="en-US" sz="3200" dirty="0"/>
              <a:t> en </a:t>
            </a:r>
            <a:r>
              <a:rPr lang="en-US" sz="3200" dirty="0" err="1"/>
              <a:t>una</a:t>
            </a:r>
            <a:r>
              <a:rPr lang="en-US" sz="3200" dirty="0"/>
              <a:t> base de </a:t>
            </a:r>
            <a:r>
              <a:rPr lang="en-US" sz="3200" dirty="0" err="1"/>
              <a:t>datos</a:t>
            </a:r>
            <a:r>
              <a:rPr lang="en-US" sz="3200" dirty="0"/>
              <a:t> </a:t>
            </a:r>
            <a:r>
              <a:rPr lang="en-US" sz="3200" dirty="0" err="1"/>
              <a:t>relacional</a:t>
            </a:r>
            <a:r>
              <a:rPr lang="en-US" sz="3200" dirty="0"/>
              <a:t>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298999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706" y="1845734"/>
            <a:ext cx="11639176" cy="4023360"/>
          </a:xfrm>
        </p:spPr>
        <p:txBody>
          <a:bodyPr>
            <a:noAutofit/>
          </a:bodyPr>
          <a:lstStyle/>
          <a:p>
            <a:pPr>
              <a:buClr>
                <a:srgbClr val="0000FF"/>
              </a:buClr>
            </a:pPr>
            <a:r>
              <a:rPr lang="en-US" sz="3600" b="1" dirty="0"/>
              <a:t>¿Para </a:t>
            </a:r>
            <a:r>
              <a:rPr lang="en-US" sz="3600" b="1" dirty="0" err="1"/>
              <a:t>qué</a:t>
            </a:r>
            <a:r>
              <a:rPr lang="en-US" sz="3600" b="1" dirty="0"/>
              <a:t> </a:t>
            </a:r>
            <a:r>
              <a:rPr lang="en-US" sz="3600" b="1" dirty="0" err="1"/>
              <a:t>sirve</a:t>
            </a:r>
            <a:r>
              <a:rPr lang="en-US" sz="3600" b="1" dirty="0"/>
              <a:t>?</a:t>
            </a:r>
          </a:p>
          <a:p>
            <a:pPr lvl="1">
              <a:buClr>
                <a:srgbClr val="0000FF"/>
              </a:buClr>
            </a:pPr>
            <a:r>
              <a:rPr lang="en-US" sz="3200" dirty="0" err="1"/>
              <a:t>Crear</a:t>
            </a:r>
            <a:r>
              <a:rPr lang="en-US" sz="3200" dirty="0"/>
              <a:t> bases de </a:t>
            </a:r>
            <a:r>
              <a:rPr lang="en-US" sz="3200" dirty="0" err="1"/>
              <a:t>datos</a:t>
            </a:r>
            <a:r>
              <a:rPr lang="en-US" sz="3200" dirty="0"/>
              <a:t> y </a:t>
            </a:r>
            <a:r>
              <a:rPr lang="en-US" sz="3200" dirty="0" err="1"/>
              <a:t>estructuras</a:t>
            </a:r>
            <a:r>
              <a:rPr lang="en-US" sz="3200" dirty="0"/>
              <a:t> </a:t>
            </a:r>
            <a:r>
              <a:rPr lang="en-US" sz="3200" dirty="0" err="1"/>
              <a:t>relacionales</a:t>
            </a:r>
            <a:r>
              <a:rPr lang="en-US" sz="3200" dirty="0"/>
              <a:t>.</a:t>
            </a:r>
          </a:p>
          <a:p>
            <a:pPr lvl="1">
              <a:buClr>
                <a:srgbClr val="0000FF"/>
              </a:buClr>
            </a:pPr>
            <a:r>
              <a:rPr lang="en-US" sz="3200" dirty="0" err="1"/>
              <a:t>Realizar</a:t>
            </a:r>
            <a:r>
              <a:rPr lang="en-US" sz="3200" dirty="0"/>
              <a:t> </a:t>
            </a:r>
            <a:r>
              <a:rPr lang="en-US" sz="3200" dirty="0" err="1"/>
              <a:t>tareas</a:t>
            </a:r>
            <a:r>
              <a:rPr lang="en-US" sz="3200" dirty="0"/>
              <a:t> </a:t>
            </a:r>
            <a:r>
              <a:rPr lang="en-US" sz="3200" dirty="0" err="1"/>
              <a:t>básicas</a:t>
            </a:r>
            <a:r>
              <a:rPr lang="en-US" sz="3200" dirty="0"/>
              <a:t> de </a:t>
            </a:r>
            <a:r>
              <a:rPr lang="en-US" sz="3200" dirty="0" err="1"/>
              <a:t>administración</a:t>
            </a:r>
            <a:r>
              <a:rPr lang="en-US" sz="3200" dirty="0"/>
              <a:t> de </a:t>
            </a:r>
            <a:r>
              <a:rPr lang="en-US" sz="3200" dirty="0" err="1"/>
              <a:t>datos</a:t>
            </a:r>
            <a:r>
              <a:rPr lang="en-US" sz="3200" dirty="0"/>
              <a:t> </a:t>
            </a:r>
            <a:r>
              <a:rPr lang="en-US" sz="3200" dirty="0" err="1"/>
              <a:t>como</a:t>
            </a:r>
            <a:r>
              <a:rPr lang="en-US" sz="3200" dirty="0"/>
              <a:t> </a:t>
            </a:r>
            <a:r>
              <a:rPr lang="en-US" sz="3200" dirty="0" err="1"/>
              <a:t>insertar</a:t>
            </a:r>
            <a:r>
              <a:rPr lang="en-US" sz="3200" dirty="0"/>
              <a:t>, </a:t>
            </a:r>
            <a:r>
              <a:rPr lang="en-US" sz="3200" dirty="0" err="1"/>
              <a:t>modificar</a:t>
            </a:r>
            <a:r>
              <a:rPr lang="en-US" sz="3200" dirty="0"/>
              <a:t> y </a:t>
            </a:r>
            <a:r>
              <a:rPr lang="en-US" sz="3200" dirty="0" err="1"/>
              <a:t>eliminar</a:t>
            </a:r>
            <a:r>
              <a:rPr lang="en-US" sz="3200" dirty="0"/>
              <a:t> </a:t>
            </a:r>
            <a:r>
              <a:rPr lang="en-US" sz="3200" dirty="0" err="1"/>
              <a:t>datos</a:t>
            </a:r>
            <a:r>
              <a:rPr lang="en-US" sz="3200" dirty="0"/>
              <a:t>.</a:t>
            </a:r>
          </a:p>
          <a:p>
            <a:pPr lvl="1">
              <a:buClr>
                <a:srgbClr val="0000FF"/>
              </a:buClr>
            </a:pPr>
            <a:r>
              <a:rPr lang="en-US" sz="3200" dirty="0" err="1"/>
              <a:t>Realizar</a:t>
            </a:r>
            <a:r>
              <a:rPr lang="en-US" sz="3200" dirty="0"/>
              <a:t> queries simples y </a:t>
            </a:r>
            <a:r>
              <a:rPr lang="en-US" sz="3200" dirty="0" err="1"/>
              <a:t>complejos</a:t>
            </a:r>
            <a:r>
              <a:rPr lang="en-US" sz="3200" dirty="0"/>
              <a:t>.</a:t>
            </a:r>
          </a:p>
          <a:p>
            <a:pPr lvl="1">
              <a:buClr>
                <a:srgbClr val="0000FF"/>
              </a:buClr>
            </a:pPr>
            <a:r>
              <a:rPr lang="en-US" sz="3200" dirty="0" err="1"/>
              <a:t>Controlar</a:t>
            </a:r>
            <a:r>
              <a:rPr lang="en-US" sz="3200" dirty="0"/>
              <a:t> los </a:t>
            </a:r>
            <a:r>
              <a:rPr lang="en-US" sz="3200" dirty="0" err="1"/>
              <a:t>accesos</a:t>
            </a:r>
            <a:r>
              <a:rPr lang="en-US" sz="3200" dirty="0"/>
              <a:t> a los </a:t>
            </a:r>
            <a:r>
              <a:rPr lang="en-US" sz="3200" dirty="0" err="1"/>
              <a:t>diferentes</a:t>
            </a:r>
            <a:r>
              <a:rPr lang="en-US" sz="3200" dirty="0"/>
              <a:t> </a:t>
            </a:r>
            <a:r>
              <a:rPr lang="en-US" sz="3200" dirty="0" err="1"/>
              <a:t>objetos</a:t>
            </a:r>
            <a:r>
              <a:rPr lang="en-US" sz="3200" dirty="0"/>
              <a:t> del RDBMS.</a:t>
            </a:r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591177" y="2271058"/>
            <a:ext cx="961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00FF"/>
                </a:solidFill>
              </a:rPr>
              <a:t>DDL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2990" y="3319929"/>
            <a:ext cx="1074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00FF"/>
                </a:solidFill>
              </a:rPr>
              <a:t>DML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7765" y="3765175"/>
            <a:ext cx="930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00FF"/>
                </a:solidFill>
              </a:rPr>
              <a:t>DRL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9883" y="4213411"/>
            <a:ext cx="915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00FF"/>
                </a:solidFill>
              </a:rPr>
              <a:t>DCL</a:t>
            </a:r>
          </a:p>
        </p:txBody>
      </p:sp>
    </p:spTree>
    <p:extLst>
      <p:ext uri="{BB962C8B-B14F-4D97-AF65-F5344CB8AC3E}">
        <p14:creationId xmlns:p14="http://schemas.microsoft.com/office/powerpoint/2010/main" val="292774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4971" y="1328615"/>
            <a:ext cx="10058400" cy="1738924"/>
          </a:xfrm>
        </p:spPr>
        <p:txBody>
          <a:bodyPr>
            <a:noAutofit/>
          </a:bodyPr>
          <a:lstStyle/>
          <a:p>
            <a:pPr marL="0" indent="0">
              <a:buClr>
                <a:srgbClr val="0000FF"/>
              </a:buClr>
              <a:buNone/>
            </a:pPr>
            <a:endParaRPr lang="en-US" sz="3600" dirty="0"/>
          </a:p>
          <a:p>
            <a:pPr lvl="1">
              <a:buClr>
                <a:srgbClr val="0000FF"/>
              </a:buClr>
            </a:pPr>
            <a:r>
              <a:rPr lang="en-US" sz="3200" dirty="0"/>
              <a:t>Data Definition Language (DDL) 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LENGUAJES SQL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629461"/>
              </p:ext>
            </p:extLst>
          </p:nvPr>
        </p:nvGraphicFramePr>
        <p:xfrm>
          <a:off x="1579499" y="4223488"/>
          <a:ext cx="7952230" cy="14833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377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4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Crea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objetos</a:t>
                      </a:r>
                      <a:r>
                        <a:rPr lang="en-US" baseline="0" dirty="0"/>
                        <a:t> en la base de </a:t>
                      </a:r>
                      <a:r>
                        <a:rPr lang="en-US" baseline="0" dirty="0" err="1"/>
                        <a:t>datos</a:t>
                      </a:r>
                      <a:r>
                        <a:rPr lang="en-US" baseline="0" dirty="0"/>
                        <a:t>: </a:t>
                      </a:r>
                      <a:r>
                        <a:rPr lang="en-US" baseline="0" dirty="0" err="1"/>
                        <a:t>tablas</a:t>
                      </a:r>
                      <a:r>
                        <a:rPr lang="en-US" baseline="0" dirty="0"/>
                        <a:t>, vistas, triggers, etc.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ALTER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Modifica</a:t>
                      </a:r>
                      <a:r>
                        <a:rPr lang="en-US" dirty="0"/>
                        <a:t> un </a:t>
                      </a:r>
                      <a:r>
                        <a:rPr lang="en-US" dirty="0" err="1"/>
                        <a:t>objeto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existente</a:t>
                      </a:r>
                      <a:r>
                        <a:rPr lang="en-US" dirty="0"/>
                        <a:t> de la base de </a:t>
                      </a:r>
                      <a:r>
                        <a:rPr lang="en-US" dirty="0" err="1"/>
                        <a:t>datos</a:t>
                      </a:r>
                      <a:r>
                        <a:rPr lang="en-US" dirty="0"/>
                        <a:t>.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Ej</a:t>
                      </a:r>
                      <a:r>
                        <a:rPr lang="en-US" baseline="0" dirty="0"/>
                        <a:t>: </a:t>
                      </a:r>
                      <a:r>
                        <a:rPr lang="en-US" baseline="0" dirty="0" err="1"/>
                        <a:t>tabla</a:t>
                      </a:r>
                      <a:r>
                        <a:rPr lang="en-US" baseline="0" dirty="0"/>
                        <a:t>, vista, </a:t>
                      </a:r>
                      <a:r>
                        <a:rPr lang="en-US" baseline="0" dirty="0" err="1"/>
                        <a:t>etc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Elimina</a:t>
                      </a:r>
                      <a:r>
                        <a:rPr lang="en-US" dirty="0"/>
                        <a:t> un </a:t>
                      </a:r>
                      <a:r>
                        <a:rPr lang="en-US" dirty="0" err="1"/>
                        <a:t>objeto</a:t>
                      </a:r>
                      <a:r>
                        <a:rPr lang="en-US" baseline="0" dirty="0"/>
                        <a:t> de la base de </a:t>
                      </a:r>
                      <a:r>
                        <a:rPr lang="en-US" baseline="0" dirty="0" err="1"/>
                        <a:t>datos</a:t>
                      </a:r>
                      <a:r>
                        <a:rPr lang="en-US" baseline="0" dirty="0"/>
                        <a:t>. </a:t>
                      </a:r>
                      <a:r>
                        <a:rPr lang="en-US" baseline="0" dirty="0" err="1"/>
                        <a:t>Ej</a:t>
                      </a:r>
                      <a:r>
                        <a:rPr lang="en-US" baseline="0" dirty="0"/>
                        <a:t>: </a:t>
                      </a:r>
                      <a:r>
                        <a:rPr lang="en-US" baseline="0" dirty="0" err="1"/>
                        <a:t>tabla</a:t>
                      </a:r>
                      <a:r>
                        <a:rPr lang="en-US" baseline="0" dirty="0"/>
                        <a:t>, vista, </a:t>
                      </a:r>
                      <a:r>
                        <a:rPr lang="en-US" baseline="0" dirty="0" err="1"/>
                        <a:t>etc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>
          <a:xfrm>
            <a:off x="1391161" y="3737409"/>
            <a:ext cx="6024027" cy="6066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>
              <a:buClr>
                <a:srgbClr val="0000FF"/>
              </a:buClr>
              <a:buNone/>
            </a:pPr>
            <a:r>
              <a:rPr lang="en-US" sz="2800" b="1" dirty="0"/>
              <a:t>Data Definition Language (DDL) 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sz="3600" dirty="0"/>
          </a:p>
          <a:p>
            <a:pPr marL="0" indent="0">
              <a:buFont typeface="Calibri" panose="020F0502020204030204" pitchFamily="34" charset="0"/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3733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4971" y="1328615"/>
            <a:ext cx="10058400" cy="1738924"/>
          </a:xfrm>
        </p:spPr>
        <p:txBody>
          <a:bodyPr>
            <a:noAutofit/>
          </a:bodyPr>
          <a:lstStyle/>
          <a:p>
            <a:pPr marL="0" indent="0">
              <a:buClr>
                <a:srgbClr val="0000FF"/>
              </a:buClr>
              <a:buNone/>
            </a:pPr>
            <a:endParaRPr lang="en-US" sz="3600" dirty="0"/>
          </a:p>
          <a:p>
            <a:pPr lvl="1">
              <a:buClr>
                <a:srgbClr val="0000FF"/>
              </a:buClr>
            </a:pPr>
            <a:r>
              <a:rPr lang="en-US" sz="3200" dirty="0"/>
              <a:t>Data Definition Language (DDL)</a:t>
            </a:r>
          </a:p>
          <a:p>
            <a:pPr lvl="1">
              <a:buClr>
                <a:srgbClr val="0000FF"/>
              </a:buClr>
            </a:pPr>
            <a:r>
              <a:rPr lang="en-US" sz="3200" dirty="0"/>
              <a:t>Data Manipulation Language (DML)</a:t>
            </a:r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LENGUAJES SQL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33469"/>
              </p:ext>
            </p:extLst>
          </p:nvPr>
        </p:nvGraphicFramePr>
        <p:xfrm>
          <a:off x="1579498" y="4281883"/>
          <a:ext cx="7937633" cy="14833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743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3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Inserta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registros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en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las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tablas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Modifica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o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actualiza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datos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de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las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tablas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Elimna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datos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en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las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tablas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.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1391161" y="3737409"/>
            <a:ext cx="6024027" cy="6066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>
              <a:buClr>
                <a:srgbClr val="0000FF"/>
              </a:buClr>
              <a:buNone/>
            </a:pPr>
            <a:r>
              <a:rPr lang="en-US" sz="2800" b="1" dirty="0"/>
              <a:t>Data Manipulation Language (DML) 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sz="3600" dirty="0"/>
          </a:p>
          <a:p>
            <a:pPr marL="0" indent="0">
              <a:buFont typeface="Calibri" panose="020F0502020204030204" pitchFamily="34" charset="0"/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6982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4971" y="1328615"/>
            <a:ext cx="10058400" cy="1738924"/>
          </a:xfrm>
        </p:spPr>
        <p:txBody>
          <a:bodyPr>
            <a:noAutofit/>
          </a:bodyPr>
          <a:lstStyle/>
          <a:p>
            <a:pPr marL="0" indent="0">
              <a:buClr>
                <a:srgbClr val="0000FF"/>
              </a:buClr>
              <a:buNone/>
            </a:pPr>
            <a:endParaRPr lang="en-US" sz="3600" dirty="0"/>
          </a:p>
          <a:p>
            <a:pPr lvl="1">
              <a:buClr>
                <a:srgbClr val="0000FF"/>
              </a:buClr>
            </a:pPr>
            <a:r>
              <a:rPr lang="en-US" sz="3200" dirty="0"/>
              <a:t>Data Definition Language (DDL)</a:t>
            </a:r>
          </a:p>
          <a:p>
            <a:pPr lvl="1">
              <a:buClr>
                <a:srgbClr val="0000FF"/>
              </a:buClr>
            </a:pPr>
            <a:r>
              <a:rPr lang="en-US" sz="3200" dirty="0"/>
              <a:t>Data Manipulation Language (DML)</a:t>
            </a:r>
          </a:p>
          <a:p>
            <a:pPr lvl="1">
              <a:buClr>
                <a:srgbClr val="0000FF"/>
              </a:buClr>
            </a:pPr>
            <a:r>
              <a:rPr lang="en-US" sz="3200" dirty="0"/>
              <a:t>Data Retrieve Language (DRL)</a:t>
            </a:r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LENGUAJES SQL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563293"/>
              </p:ext>
            </p:extLst>
          </p:nvPr>
        </p:nvGraphicFramePr>
        <p:xfrm>
          <a:off x="1579498" y="4281883"/>
          <a:ext cx="7937633" cy="74168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743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3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Consulta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datos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en la base de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datos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1391161" y="3737409"/>
            <a:ext cx="6024027" cy="6066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>
              <a:buClr>
                <a:srgbClr val="0000FF"/>
              </a:buClr>
              <a:buNone/>
            </a:pPr>
            <a:r>
              <a:rPr lang="en-US" sz="2800" b="1" dirty="0"/>
              <a:t>Data Retrieve Language (DRL) 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sz="3600" dirty="0"/>
          </a:p>
          <a:p>
            <a:pPr marL="0" indent="0">
              <a:buFont typeface="Calibri" panose="020F0502020204030204" pitchFamily="34" charset="0"/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0918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LENGUAJES SQL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377654"/>
              </p:ext>
            </p:extLst>
          </p:nvPr>
        </p:nvGraphicFramePr>
        <p:xfrm>
          <a:off x="1579499" y="4893852"/>
          <a:ext cx="7952230" cy="111252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377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4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Asigna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privilegios</a:t>
                      </a:r>
                      <a:r>
                        <a:rPr lang="en-US" baseline="0" dirty="0"/>
                        <a:t> a </a:t>
                      </a:r>
                      <a:r>
                        <a:rPr lang="en-US" baseline="0" dirty="0" err="1"/>
                        <a:t>usuarios</a:t>
                      </a:r>
                      <a:r>
                        <a:rPr lang="en-US" baseline="0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REVOKE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Remueve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privilegios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asignados</a:t>
                      </a:r>
                      <a:r>
                        <a:rPr lang="en-US" baseline="0" dirty="0"/>
                        <a:t> a los </a:t>
                      </a:r>
                      <a:r>
                        <a:rPr lang="en-US" baseline="0" dirty="0" err="1"/>
                        <a:t>usuarios</a:t>
                      </a:r>
                      <a:r>
                        <a:rPr lang="en-US" baseline="0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>
          <a:xfrm>
            <a:off x="1391161" y="4407773"/>
            <a:ext cx="6024027" cy="6066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>
              <a:buClr>
                <a:srgbClr val="0000FF"/>
              </a:buClr>
              <a:buNone/>
            </a:pPr>
            <a:r>
              <a:rPr lang="en-US" sz="2800" b="1" dirty="0"/>
              <a:t>Data Control Language (DCL) 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sz="3600" dirty="0"/>
          </a:p>
          <a:p>
            <a:pPr marL="0" indent="0">
              <a:buFont typeface="Calibri" panose="020F0502020204030204" pitchFamily="34" charset="0"/>
              <a:buNone/>
            </a:pPr>
            <a:endParaRPr lang="en-US" sz="3600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194971" y="1328615"/>
            <a:ext cx="10058400" cy="1738924"/>
          </a:xfrm>
        </p:spPr>
        <p:txBody>
          <a:bodyPr>
            <a:noAutofit/>
          </a:bodyPr>
          <a:lstStyle/>
          <a:p>
            <a:pPr marL="0" indent="0">
              <a:buClr>
                <a:srgbClr val="0000FF"/>
              </a:buClr>
              <a:buNone/>
            </a:pPr>
            <a:endParaRPr lang="en-US" sz="3600" dirty="0"/>
          </a:p>
          <a:p>
            <a:pPr lvl="1">
              <a:buClr>
                <a:srgbClr val="0000FF"/>
              </a:buClr>
            </a:pPr>
            <a:r>
              <a:rPr lang="en-US" sz="3200" dirty="0"/>
              <a:t>Data Definition Language (DDL)</a:t>
            </a:r>
          </a:p>
          <a:p>
            <a:pPr lvl="1">
              <a:buClr>
                <a:srgbClr val="0000FF"/>
              </a:buClr>
            </a:pPr>
            <a:r>
              <a:rPr lang="en-US" sz="3200" dirty="0"/>
              <a:t>Data Manipulation Language (DML)</a:t>
            </a:r>
          </a:p>
          <a:p>
            <a:pPr lvl="1">
              <a:buClr>
                <a:srgbClr val="0000FF"/>
              </a:buClr>
            </a:pPr>
            <a:r>
              <a:rPr lang="en-US" sz="3200" dirty="0"/>
              <a:t>Data Retrieve Language (DRL)</a:t>
            </a:r>
          </a:p>
          <a:p>
            <a:pPr lvl="1">
              <a:buClr>
                <a:srgbClr val="0000FF"/>
              </a:buClr>
            </a:pPr>
            <a:r>
              <a:rPr lang="en-US" sz="3200" dirty="0"/>
              <a:t>Data Control Language (DCL)</a:t>
            </a:r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0811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DDL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/>
              <a:t>Data DEFINITION Language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96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GENERAL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3018" y="2028551"/>
            <a:ext cx="5615589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CREATE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elemento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 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nombre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48577" y="4710008"/>
            <a:ext cx="3210044" cy="523220"/>
          </a:xfrm>
          <a:prstGeom prst="rect">
            <a:avLst/>
          </a:prstGeom>
          <a:ln>
            <a:solidFill>
              <a:srgbClr val="6600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SHOW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elemento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5131" y="5038819"/>
            <a:ext cx="3216383" cy="5232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USE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&lt;database&gt;;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6680" y="5374002"/>
            <a:ext cx="4441942" cy="523220"/>
          </a:xfrm>
          <a:prstGeom prst="rect">
            <a:avLst/>
          </a:prstGeom>
          <a:ln>
            <a:solidFill>
              <a:srgbClr val="6600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DESCRIBE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tbl_nombre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3018" y="2674904"/>
            <a:ext cx="7661063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ALTER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elemento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 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nombre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 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especificación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018" y="3281074"/>
            <a:ext cx="5114907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DROP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elemento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 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nombre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&gt;;</a:t>
            </a:r>
          </a:p>
        </p:txBody>
      </p:sp>
    </p:spTree>
    <p:extLst>
      <p:ext uri="{BB962C8B-B14F-4D97-AF65-F5344CB8AC3E}">
        <p14:creationId xmlns:p14="http://schemas.microsoft.com/office/powerpoint/2010/main" val="381092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CREATE / USE / DROP / SHOW </a:t>
            </a: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(database)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777225"/>
              </p:ext>
            </p:extLst>
          </p:nvPr>
        </p:nvGraphicFramePr>
        <p:xfrm>
          <a:off x="917156" y="2719873"/>
          <a:ext cx="10088715" cy="23789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638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0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16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SINTÁXIS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DESCRIPCIÓN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460">
                <a:tc>
                  <a:txBody>
                    <a:bodyPr/>
                    <a:lstStyle/>
                    <a:p>
                      <a:r>
                        <a:rPr lang="en-US" sz="2400" dirty="0"/>
                        <a:t>SHOW</a:t>
                      </a:r>
                      <a:r>
                        <a:rPr lang="en-US" sz="2400" baseline="0" dirty="0"/>
                        <a:t> DATABASES;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Muestra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las</a:t>
                      </a:r>
                      <a:r>
                        <a:rPr lang="en-US" sz="2400" dirty="0"/>
                        <a:t> DB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baseline="0" dirty="0" err="1"/>
                        <a:t>existentes</a:t>
                      </a:r>
                      <a:r>
                        <a:rPr lang="en-US" sz="2400" baseline="0" dirty="0"/>
                        <a:t>.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9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CREATE DATABASE &lt;</a:t>
                      </a:r>
                      <a:r>
                        <a:rPr lang="en-US" sz="2400" dirty="0" err="1"/>
                        <a:t>db_name</a:t>
                      </a:r>
                      <a:r>
                        <a:rPr lang="en-US" sz="2400" dirty="0"/>
                        <a:t>&gt;;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Crea</a:t>
                      </a:r>
                      <a:r>
                        <a:rPr lang="en-US" sz="2400" dirty="0"/>
                        <a:t> la</a:t>
                      </a:r>
                      <a:r>
                        <a:rPr lang="en-US" sz="2400" baseline="0" dirty="0"/>
                        <a:t> DB &lt;</a:t>
                      </a:r>
                      <a:r>
                        <a:rPr lang="en-US" sz="2400" baseline="0" dirty="0" err="1"/>
                        <a:t>db_name</a:t>
                      </a:r>
                      <a:r>
                        <a:rPr lang="en-US" sz="2400" baseline="0" dirty="0"/>
                        <a:t>&gt;.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USE &lt;</a:t>
                      </a:r>
                      <a:r>
                        <a:rPr lang="en-US" sz="2400" dirty="0" err="1"/>
                        <a:t>db_name</a:t>
                      </a:r>
                      <a:r>
                        <a:rPr lang="en-US" sz="2400" dirty="0"/>
                        <a:t>&gt;;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Define el </a:t>
                      </a:r>
                      <a:r>
                        <a:rPr lang="en-US" sz="2400" dirty="0" err="1"/>
                        <a:t>uso</a:t>
                      </a:r>
                      <a:r>
                        <a:rPr lang="en-US" sz="2400" dirty="0"/>
                        <a:t> de la DB &lt;</a:t>
                      </a:r>
                      <a:r>
                        <a:rPr lang="en-US" sz="2400" dirty="0" err="1"/>
                        <a:t>db_name</a:t>
                      </a:r>
                      <a:r>
                        <a:rPr lang="en-US" sz="2400" dirty="0"/>
                        <a:t>&gt;.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DROP DATABASE</a:t>
                      </a:r>
                      <a:r>
                        <a:rPr lang="en-US" sz="2400" baseline="0" dirty="0"/>
                        <a:t> &lt;</a:t>
                      </a:r>
                      <a:r>
                        <a:rPr lang="en-US" sz="2400" baseline="0" dirty="0" err="1"/>
                        <a:t>db_name</a:t>
                      </a:r>
                      <a:r>
                        <a:rPr lang="en-US" sz="2400" baseline="0" dirty="0"/>
                        <a:t>&gt;;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Elimina</a:t>
                      </a:r>
                      <a:r>
                        <a:rPr lang="en-US" sz="2400" dirty="0"/>
                        <a:t> la DB &lt;</a:t>
                      </a:r>
                      <a:r>
                        <a:rPr lang="en-US" sz="2400" dirty="0" err="1"/>
                        <a:t>db_name</a:t>
                      </a:r>
                      <a:r>
                        <a:rPr lang="en-US" sz="2400" dirty="0"/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8990" y="536901"/>
            <a:ext cx="931174" cy="93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390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46765" y="334898"/>
            <a:ext cx="11094059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CREATE / ALTER / DROP / SHOW</a:t>
            </a: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(tables)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02413"/>
              </p:ext>
            </p:extLst>
          </p:nvPr>
        </p:nvGraphicFramePr>
        <p:xfrm>
          <a:off x="229289" y="2384691"/>
          <a:ext cx="11658462" cy="326673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790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7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16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SINTÁXIS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DESCRIPCIÓN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r>
                        <a:rPr lang="en-US" sz="2000" dirty="0"/>
                        <a:t>SHOW TABLES;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Muestra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baseline="0" dirty="0" err="1"/>
                        <a:t>tablas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baseline="0" dirty="0" err="1"/>
                        <a:t>existentes</a:t>
                      </a:r>
                      <a:r>
                        <a:rPr lang="en-US" sz="2000" baseline="0" dirty="0"/>
                        <a:t> en la DB.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r>
                        <a:rPr lang="en-US" sz="2000" dirty="0"/>
                        <a:t>SHOW COLUMNS FROM &lt;</a:t>
                      </a:r>
                      <a:r>
                        <a:rPr lang="en-US" sz="2000" dirty="0" err="1"/>
                        <a:t>tbl_name</a:t>
                      </a:r>
                      <a:r>
                        <a:rPr lang="en-US" sz="2000" dirty="0"/>
                        <a:t>&gt;;</a:t>
                      </a:r>
                    </a:p>
                    <a:p>
                      <a:r>
                        <a:rPr lang="en-US" sz="2000" dirty="0"/>
                        <a:t>DESCRIBE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&lt;</a:t>
                      </a:r>
                      <a:r>
                        <a:rPr lang="en-US" sz="2000" dirty="0" err="1"/>
                        <a:t>tbl_name</a:t>
                      </a:r>
                      <a:r>
                        <a:rPr lang="en-US" sz="2000" dirty="0"/>
                        <a:t>&gt;</a:t>
                      </a:r>
                      <a:r>
                        <a:rPr lang="en-US" sz="2000" baseline="0" dirty="0"/>
                        <a:t>;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Muestra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las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columnas</a:t>
                      </a:r>
                      <a:r>
                        <a:rPr lang="en-US" sz="2000" baseline="0" dirty="0"/>
                        <a:t> y </a:t>
                      </a:r>
                      <a:r>
                        <a:rPr lang="en-US" sz="2000" baseline="0" dirty="0" err="1"/>
                        <a:t>especificaciones</a:t>
                      </a:r>
                      <a:r>
                        <a:rPr lang="en-US" sz="2000" baseline="0" dirty="0"/>
                        <a:t> de </a:t>
                      </a:r>
                      <a:r>
                        <a:rPr lang="en-US" sz="2000" baseline="0" dirty="0" err="1"/>
                        <a:t>una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baseline="0" dirty="0" err="1"/>
                        <a:t>tabla</a:t>
                      </a:r>
                      <a:r>
                        <a:rPr lang="en-US" sz="2000" baseline="0" dirty="0"/>
                        <a:t>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r>
                        <a:rPr lang="en-US" sz="2000" dirty="0"/>
                        <a:t>CREATE TABLE &lt;</a:t>
                      </a:r>
                      <a:r>
                        <a:rPr lang="en-US" sz="2000" dirty="0" err="1"/>
                        <a:t>tbl_name</a:t>
                      </a:r>
                      <a:r>
                        <a:rPr lang="en-US" sz="2000" dirty="0"/>
                        <a:t>&gt; (def_col1,</a:t>
                      </a:r>
                      <a:r>
                        <a:rPr lang="en-US" sz="2000" baseline="0" dirty="0"/>
                        <a:t> def_col2,… </a:t>
                      </a:r>
                      <a:r>
                        <a:rPr lang="en-US" sz="2000" baseline="0" dirty="0" err="1"/>
                        <a:t>restricc_tbl</a:t>
                      </a:r>
                      <a:r>
                        <a:rPr lang="en-US" sz="2000" dirty="0"/>
                        <a:t>);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Crea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tabla</a:t>
                      </a:r>
                      <a:r>
                        <a:rPr lang="en-US" sz="2000" baseline="0" dirty="0"/>
                        <a:t> con </a:t>
                      </a:r>
                      <a:r>
                        <a:rPr lang="en-US" sz="2000" baseline="0" dirty="0" err="1"/>
                        <a:t>sus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baseline="0" dirty="0" err="1"/>
                        <a:t>columnas</a:t>
                      </a:r>
                      <a:r>
                        <a:rPr lang="en-US" sz="2000" baseline="0" dirty="0"/>
                        <a:t>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r>
                        <a:rPr lang="en-US" sz="2000" dirty="0"/>
                        <a:t>ALTER TABLE &lt;</a:t>
                      </a:r>
                      <a:r>
                        <a:rPr lang="en-US" sz="2000" dirty="0" err="1"/>
                        <a:t>tbl_name</a:t>
                      </a:r>
                      <a:r>
                        <a:rPr lang="en-US" sz="2000" dirty="0"/>
                        <a:t>&gt; &lt;</a:t>
                      </a:r>
                      <a:r>
                        <a:rPr lang="en-US" sz="2000" dirty="0" err="1"/>
                        <a:t>especificaciones</a:t>
                      </a:r>
                      <a:r>
                        <a:rPr lang="en-US" sz="2000" dirty="0"/>
                        <a:t>&gt;;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Modifica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columnas</a:t>
                      </a:r>
                      <a:r>
                        <a:rPr lang="en-US" sz="2000" dirty="0"/>
                        <a:t> o </a:t>
                      </a:r>
                      <a:r>
                        <a:rPr lang="en-US" sz="2000" dirty="0" err="1"/>
                        <a:t>características</a:t>
                      </a:r>
                      <a:r>
                        <a:rPr lang="en-US" sz="2000" dirty="0"/>
                        <a:t> de </a:t>
                      </a:r>
                      <a:r>
                        <a:rPr lang="en-US" sz="2000" dirty="0" err="1"/>
                        <a:t>una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tabla</a:t>
                      </a:r>
                      <a:r>
                        <a:rPr lang="en-US" sz="20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DROP TABLE &lt;</a:t>
                      </a:r>
                      <a:r>
                        <a:rPr lang="en-US" sz="2000" dirty="0" err="1"/>
                        <a:t>tbl_name</a:t>
                      </a:r>
                      <a:r>
                        <a:rPr lang="en-US" sz="2000" dirty="0"/>
                        <a:t>&gt;;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Elimina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una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tabla</a:t>
                      </a:r>
                      <a:r>
                        <a:rPr lang="en-US" sz="2000" baseline="0" dirty="0"/>
                        <a:t> de la DB.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728487" y="1799398"/>
            <a:ext cx="92102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NOTA: </a:t>
            </a:r>
            <a:r>
              <a:rPr lang="en-US" sz="2800" dirty="0" err="1"/>
              <a:t>Previamente</a:t>
            </a:r>
            <a:r>
              <a:rPr lang="en-US" sz="2800" dirty="0"/>
              <a:t> se </a:t>
            </a:r>
            <a:r>
              <a:rPr lang="en-US" sz="2800" dirty="0" err="1"/>
              <a:t>debe</a:t>
            </a:r>
            <a:r>
              <a:rPr lang="en-US" sz="2800" dirty="0"/>
              <a:t> </a:t>
            </a:r>
            <a:r>
              <a:rPr lang="en-US" sz="2800" dirty="0" err="1"/>
              <a:t>usar</a:t>
            </a:r>
            <a:r>
              <a:rPr lang="en-US" sz="2800" dirty="0"/>
              <a:t> el </a:t>
            </a:r>
            <a:r>
              <a:rPr lang="en-US" sz="2800" dirty="0" err="1"/>
              <a:t>comando</a:t>
            </a:r>
            <a:r>
              <a:rPr lang="en-US" sz="2800" dirty="0"/>
              <a:t> USE &lt;database&gt;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9383" b="9178"/>
          <a:stretch/>
        </p:blipFill>
        <p:spPr>
          <a:xfrm>
            <a:off x="10937766" y="513506"/>
            <a:ext cx="993112" cy="80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163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919" y="3492950"/>
            <a:ext cx="10058400" cy="2346274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Arial Unicode MS" pitchFamily="34" charset="-122"/>
              </a:rPr>
              <a:t>col_TipoDato</a:t>
            </a:r>
            <a:r>
              <a:rPr lang="en-US" b="1" dirty="0">
                <a:solidFill>
                  <a:srgbClr val="FF0000"/>
                </a:solidFill>
                <a:latin typeface="Arial Unicode MS" pitchFamily="34" charset="-122"/>
              </a:rPr>
              <a:t>:</a:t>
            </a:r>
            <a:r>
              <a:rPr lang="en-US" b="1" dirty="0">
                <a:latin typeface="Arial Unicode MS" pitchFamily="34" charset="-122"/>
              </a:rPr>
              <a:t> </a:t>
            </a:r>
            <a:r>
              <a:rPr lang="en-US" sz="2000" dirty="0" err="1">
                <a:latin typeface="Arial Unicode MS" pitchFamily="34" charset="-122"/>
              </a:rPr>
              <a:t>Tipos</a:t>
            </a:r>
            <a:r>
              <a:rPr lang="en-US" sz="2000" dirty="0">
                <a:latin typeface="Arial Unicode MS" pitchFamily="34" charset="-122"/>
              </a:rPr>
              <a:t> de </a:t>
            </a:r>
            <a:r>
              <a:rPr lang="en-US" sz="2000" dirty="0" err="1">
                <a:latin typeface="Arial Unicode MS" pitchFamily="34" charset="-122"/>
              </a:rPr>
              <a:t>Datos</a:t>
            </a:r>
            <a:r>
              <a:rPr lang="en-US" sz="2000" dirty="0">
                <a:latin typeface="Arial Unicode MS" pitchFamily="34" charset="-122"/>
              </a:rPr>
              <a:t> </a:t>
            </a:r>
            <a:r>
              <a:rPr lang="en-US" sz="2000" dirty="0" err="1">
                <a:latin typeface="Arial Unicode MS" pitchFamily="34" charset="-122"/>
              </a:rPr>
              <a:t>incluyen</a:t>
            </a:r>
            <a:r>
              <a:rPr lang="en-US" sz="2000" dirty="0">
                <a:latin typeface="Arial Unicode MS" pitchFamily="34" charset="-122"/>
              </a:rPr>
              <a:t>:</a:t>
            </a:r>
          </a:p>
          <a:p>
            <a:pPr lvl="1">
              <a:buClr>
                <a:srgbClr val="0000FF"/>
              </a:buClr>
              <a:buFont typeface="Wingdings" charset="2"/>
              <a:buChar char="ü"/>
            </a:pPr>
            <a:r>
              <a:rPr lang="en-US" sz="2000" b="1" dirty="0">
                <a:solidFill>
                  <a:srgbClr val="0000FF"/>
                </a:solidFill>
                <a:latin typeface="Arial Unicode MS" pitchFamily="34" charset="-122"/>
              </a:rPr>
              <a:t>char (n):</a:t>
            </a:r>
            <a:r>
              <a:rPr lang="en-US" sz="2000" dirty="0">
                <a:latin typeface="Arial Unicode MS" pitchFamily="34" charset="-122"/>
              </a:rPr>
              <a:t> </a:t>
            </a:r>
            <a:r>
              <a:rPr lang="en-US" sz="2000" dirty="0" err="1">
                <a:latin typeface="Arial Unicode MS" pitchFamily="34" charset="-122"/>
              </a:rPr>
              <a:t>cadena</a:t>
            </a:r>
            <a:r>
              <a:rPr lang="en-US" sz="2000" dirty="0">
                <a:latin typeface="Arial Unicode MS" pitchFamily="34" charset="-122"/>
              </a:rPr>
              <a:t> de </a:t>
            </a:r>
            <a:r>
              <a:rPr lang="en-US" sz="2000" dirty="0" err="1">
                <a:latin typeface="Arial Unicode MS" pitchFamily="34" charset="-122"/>
              </a:rPr>
              <a:t>caracteres</a:t>
            </a:r>
            <a:r>
              <a:rPr lang="en-US" sz="2000" dirty="0">
                <a:latin typeface="Arial Unicode MS" pitchFamily="34" charset="-122"/>
              </a:rPr>
              <a:t> de </a:t>
            </a:r>
            <a:r>
              <a:rPr lang="en-US" sz="2000" dirty="0" err="1">
                <a:latin typeface="Arial Unicode MS" pitchFamily="34" charset="-122"/>
              </a:rPr>
              <a:t>tamaño</a:t>
            </a:r>
            <a:r>
              <a:rPr lang="en-US" sz="2000" dirty="0">
                <a:latin typeface="Arial Unicode MS" pitchFamily="34" charset="-122"/>
              </a:rPr>
              <a:t> n (</a:t>
            </a:r>
            <a:r>
              <a:rPr lang="en-US" sz="2000" dirty="0" err="1">
                <a:latin typeface="Arial Unicode MS" pitchFamily="34" charset="-122"/>
              </a:rPr>
              <a:t>fijo</a:t>
            </a:r>
            <a:r>
              <a:rPr lang="en-US" sz="2000" dirty="0">
                <a:latin typeface="Arial Unicode MS" pitchFamily="34" charset="-122"/>
              </a:rPr>
              <a:t>). </a:t>
            </a:r>
          </a:p>
          <a:p>
            <a:pPr lvl="1">
              <a:buClr>
                <a:srgbClr val="0000FF"/>
              </a:buClr>
              <a:buFont typeface="Wingdings" charset="2"/>
              <a:buChar char="ü"/>
            </a:pPr>
            <a:r>
              <a:rPr lang="en-US" sz="2000" b="1" dirty="0">
                <a:solidFill>
                  <a:srgbClr val="0000FF"/>
                </a:solidFill>
                <a:latin typeface="Arial Unicode MS" pitchFamily="34" charset="-122"/>
              </a:rPr>
              <a:t>varchar2(n):</a:t>
            </a:r>
            <a:r>
              <a:rPr lang="en-US" sz="2000" dirty="0">
                <a:latin typeface="Arial Unicode MS" pitchFamily="34" charset="-122"/>
              </a:rPr>
              <a:t> </a:t>
            </a:r>
            <a:r>
              <a:rPr lang="en-US" sz="2000" dirty="0" err="1">
                <a:latin typeface="Arial Unicode MS" pitchFamily="34" charset="-122"/>
              </a:rPr>
              <a:t>cadena</a:t>
            </a:r>
            <a:r>
              <a:rPr lang="en-US" sz="2000" dirty="0">
                <a:latin typeface="Arial Unicode MS" pitchFamily="34" charset="-122"/>
              </a:rPr>
              <a:t> de </a:t>
            </a:r>
            <a:r>
              <a:rPr lang="en-US" sz="2000" dirty="0" err="1">
                <a:latin typeface="Arial Unicode MS" pitchFamily="34" charset="-122"/>
              </a:rPr>
              <a:t>caracteres</a:t>
            </a:r>
            <a:r>
              <a:rPr lang="en-US" sz="2000" dirty="0">
                <a:latin typeface="Arial Unicode MS" pitchFamily="34" charset="-122"/>
              </a:rPr>
              <a:t> de </a:t>
            </a:r>
            <a:r>
              <a:rPr lang="en-US" sz="2000" dirty="0" err="1">
                <a:latin typeface="Arial Unicode MS" pitchFamily="34" charset="-122"/>
              </a:rPr>
              <a:t>tamaño</a:t>
            </a:r>
            <a:r>
              <a:rPr lang="en-US" sz="2000" dirty="0">
                <a:latin typeface="Arial Unicode MS" pitchFamily="34" charset="-122"/>
              </a:rPr>
              <a:t> variable hasta n. (</a:t>
            </a:r>
            <a:r>
              <a:rPr lang="en-US" sz="2000" dirty="0" err="1">
                <a:latin typeface="Arial Unicode MS" pitchFamily="34" charset="-122"/>
              </a:rPr>
              <a:t>ahorra</a:t>
            </a:r>
            <a:r>
              <a:rPr lang="en-US" sz="2000" dirty="0">
                <a:latin typeface="Arial Unicode MS" pitchFamily="34" charset="-122"/>
              </a:rPr>
              <a:t> </a:t>
            </a:r>
            <a:r>
              <a:rPr lang="en-US" sz="2000" dirty="0" err="1">
                <a:latin typeface="Arial Unicode MS" pitchFamily="34" charset="-122"/>
              </a:rPr>
              <a:t>espacio</a:t>
            </a:r>
            <a:r>
              <a:rPr lang="en-US" sz="2000" dirty="0">
                <a:latin typeface="Arial Unicode MS" pitchFamily="34" charset="-122"/>
              </a:rPr>
              <a:t>)</a:t>
            </a:r>
          </a:p>
          <a:p>
            <a:pPr lvl="1">
              <a:buClr>
                <a:srgbClr val="0000FF"/>
              </a:buClr>
              <a:buFont typeface="Wingdings" charset="2"/>
              <a:buChar char="ü"/>
            </a:pPr>
            <a:r>
              <a:rPr lang="en-US" sz="2000" b="1" dirty="0" err="1">
                <a:solidFill>
                  <a:srgbClr val="0000FF"/>
                </a:solidFill>
                <a:latin typeface="Arial Unicode MS" pitchFamily="34" charset="-122"/>
              </a:rPr>
              <a:t>int</a:t>
            </a:r>
            <a:r>
              <a:rPr lang="en-US" sz="2000" b="1" dirty="0">
                <a:solidFill>
                  <a:srgbClr val="0000FF"/>
                </a:solidFill>
                <a:latin typeface="Arial Unicode MS" pitchFamily="34" charset="-122"/>
              </a:rPr>
              <a:t>, float, double precision</a:t>
            </a:r>
          </a:p>
          <a:p>
            <a:pPr lvl="1">
              <a:buClr>
                <a:srgbClr val="0000FF"/>
              </a:buClr>
              <a:buFont typeface="Wingdings" charset="2"/>
              <a:buChar char="ü"/>
            </a:pPr>
            <a:r>
              <a:rPr lang="en-US" sz="2000" b="1" dirty="0">
                <a:solidFill>
                  <a:srgbClr val="0000FF"/>
                </a:solidFill>
                <a:latin typeface="Arial Unicode MS" pitchFamily="34" charset="-122"/>
              </a:rPr>
              <a:t>date, time, timestamp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CREATE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706" y="1940346"/>
            <a:ext cx="10406192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CREATE TABLE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tbl_name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 (&lt;def_col1, def_col2,… 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restricc_tbl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4128" y="2569057"/>
            <a:ext cx="9777576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dirty="0" err="1">
                <a:solidFill>
                  <a:schemeClr val="tx1"/>
                </a:solidFill>
                <a:latin typeface="Times New Roman"/>
                <a:cs typeface="Times New Roman"/>
              </a:rPr>
              <a:t>col_name</a:t>
            </a:r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&gt; 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&lt;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col_tipoDato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&gt;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[DEFAULT 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def_value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] [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restricc_col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8042" y="4979525"/>
            <a:ext cx="3734205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char (8) 		= ‘</a:t>
            </a:r>
            <a:r>
              <a:rPr lang="en-US" sz="2400" dirty="0" err="1">
                <a:solidFill>
                  <a:schemeClr val="tx1"/>
                </a:solidFill>
                <a:latin typeface="Times New Roman"/>
                <a:cs typeface="Times New Roman"/>
              </a:rPr>
              <a:t>Hola</a:t>
            </a:r>
            <a:r>
              <a:rPr 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   ’</a:t>
            </a:r>
          </a:p>
          <a:p>
            <a:r>
              <a:rPr lang="en-US" sz="2400" dirty="0" err="1">
                <a:solidFill>
                  <a:schemeClr val="tx1"/>
                </a:solidFill>
                <a:latin typeface="Times New Roman"/>
                <a:cs typeface="Times New Roman"/>
              </a:rPr>
              <a:t>varchar</a:t>
            </a:r>
            <a:r>
              <a:rPr 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 (8) 	= ‘</a:t>
            </a:r>
            <a:r>
              <a:rPr lang="en-US" sz="2400" dirty="0" err="1">
                <a:solidFill>
                  <a:schemeClr val="tx1"/>
                </a:solidFill>
                <a:latin typeface="Times New Roman"/>
                <a:cs typeface="Times New Roman"/>
              </a:rPr>
              <a:t>Hola</a:t>
            </a:r>
            <a:r>
              <a:rPr 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’ </a:t>
            </a:r>
            <a:endParaRPr lang="en-US" sz="2400" i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9004" y="1933975"/>
            <a:ext cx="10406192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CREATE TABLE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tbl_name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 (&lt;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def_col1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, def_col2,… 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restricc_tbl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7789" y="2562686"/>
            <a:ext cx="9777576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dirty="0" err="1">
                <a:solidFill>
                  <a:schemeClr val="tx1"/>
                </a:solidFill>
                <a:latin typeface="Times New Roman"/>
                <a:cs typeface="Times New Roman"/>
              </a:rPr>
              <a:t>col_name</a:t>
            </a:r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&gt; </a:t>
            </a:r>
            <a:r>
              <a:rPr lang="en-US" sz="2800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lang="en-US" sz="2800" dirty="0" err="1">
                <a:solidFill>
                  <a:srgbClr val="FF0000"/>
                </a:solidFill>
                <a:latin typeface="Times New Roman"/>
                <a:cs typeface="Times New Roman"/>
              </a:rPr>
              <a:t>col_tipoDato</a:t>
            </a:r>
            <a:r>
              <a:rPr lang="en-US" sz="2800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 [DEFAULT 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def_value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] [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restricc_col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t="9383" b="9178"/>
          <a:stretch/>
        </p:blipFill>
        <p:spPr>
          <a:xfrm>
            <a:off x="10937766" y="513506"/>
            <a:ext cx="993112" cy="80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96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9" grpId="0" uiExpand="1" animBg="1"/>
      <p:bldP spid="10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CREATE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4128" y="2569057"/>
            <a:ext cx="9777576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dirty="0" err="1">
                <a:solidFill>
                  <a:schemeClr val="tx1"/>
                </a:solidFill>
                <a:latin typeface="Times New Roman"/>
                <a:cs typeface="Times New Roman"/>
              </a:rPr>
              <a:t>col_name</a:t>
            </a:r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&gt; </a:t>
            </a:r>
            <a:r>
              <a:rPr lang="en-US" sz="2800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lang="en-US" sz="2800" dirty="0" err="1">
                <a:solidFill>
                  <a:srgbClr val="FF0000"/>
                </a:solidFill>
                <a:latin typeface="Times New Roman"/>
                <a:cs typeface="Times New Roman"/>
              </a:rPr>
              <a:t>col_tipoDato</a:t>
            </a:r>
            <a:r>
              <a:rPr lang="en-US" sz="2800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[DEFAULT 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def_value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] [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restricc_col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004" y="1933975"/>
            <a:ext cx="10406192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CREATE TABLE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tbl_name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 (&lt;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def_col1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, def_col2,… 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restricc_tbl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7789" y="2562687"/>
            <a:ext cx="9777576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dirty="0" err="1">
                <a:solidFill>
                  <a:schemeClr val="tx1"/>
                </a:solidFill>
                <a:latin typeface="Times New Roman"/>
                <a:cs typeface="Times New Roman"/>
              </a:rPr>
              <a:t>col_name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&gt; &lt;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col_tipoDato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&gt;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[DEFAULT </a:t>
            </a:r>
            <a:r>
              <a:rPr lang="en-US" sz="2800" i="1" dirty="0" err="1">
                <a:solidFill>
                  <a:srgbClr val="FF0000"/>
                </a:solidFill>
                <a:latin typeface="Times New Roman"/>
                <a:cs typeface="Times New Roman"/>
              </a:rPr>
              <a:t>def_value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 [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restricc_col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]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1114919" y="3492950"/>
            <a:ext cx="10058400" cy="23462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FF0000"/>
                </a:solidFill>
                <a:latin typeface="Arial Unicode MS" pitchFamily="34" charset="-122"/>
              </a:rPr>
              <a:t>DEFAULT </a:t>
            </a:r>
            <a:r>
              <a:rPr lang="en-US" b="1" i="1" dirty="0">
                <a:solidFill>
                  <a:srgbClr val="FF0000"/>
                </a:solidFill>
                <a:latin typeface="Arial Unicode MS" pitchFamily="34" charset="-122"/>
              </a:rPr>
              <a:t>&lt;</a:t>
            </a:r>
            <a:r>
              <a:rPr lang="en-US" b="1" i="1" dirty="0" err="1">
                <a:solidFill>
                  <a:srgbClr val="FF0000"/>
                </a:solidFill>
                <a:latin typeface="Arial Unicode MS" pitchFamily="34" charset="-122"/>
              </a:rPr>
              <a:t>def_value</a:t>
            </a:r>
            <a:r>
              <a:rPr lang="en-US" b="1" i="1" dirty="0">
                <a:solidFill>
                  <a:srgbClr val="FF0000"/>
                </a:solidFill>
                <a:latin typeface="Arial Unicode MS" pitchFamily="34" charset="-122"/>
              </a:rPr>
              <a:t>&gt;</a:t>
            </a:r>
            <a:r>
              <a:rPr lang="en-US" b="1" dirty="0">
                <a:solidFill>
                  <a:srgbClr val="FF0000"/>
                </a:solidFill>
                <a:latin typeface="Arial Unicode MS" pitchFamily="34" charset="-122"/>
              </a:rPr>
              <a:t>:</a:t>
            </a:r>
            <a:r>
              <a:rPr lang="en-US" b="1" dirty="0">
                <a:latin typeface="Arial Unicode MS" pitchFamily="34" charset="-122"/>
              </a:rPr>
              <a:t> </a:t>
            </a:r>
            <a:r>
              <a:rPr lang="en-US" dirty="0" err="1">
                <a:latin typeface="Arial Unicode MS" pitchFamily="34" charset="-122"/>
              </a:rPr>
              <a:t>Agrega</a:t>
            </a:r>
            <a:r>
              <a:rPr lang="en-US" dirty="0">
                <a:latin typeface="Arial Unicode MS" pitchFamily="34" charset="-122"/>
              </a:rPr>
              <a:t> un valor (</a:t>
            </a:r>
            <a:r>
              <a:rPr lang="en-US" dirty="0" err="1">
                <a:latin typeface="Arial Unicode MS" pitchFamily="34" charset="-122"/>
              </a:rPr>
              <a:t>def_value</a:t>
            </a:r>
            <a:r>
              <a:rPr lang="en-US" dirty="0">
                <a:latin typeface="Arial Unicode MS" pitchFamily="34" charset="-122"/>
              </a:rPr>
              <a:t> | NULL) a la </a:t>
            </a:r>
            <a:r>
              <a:rPr lang="en-US" dirty="0" err="1">
                <a:latin typeface="Arial Unicode MS" pitchFamily="34" charset="-122"/>
              </a:rPr>
              <a:t>columna</a:t>
            </a:r>
            <a:r>
              <a:rPr lang="en-US" dirty="0">
                <a:latin typeface="Arial Unicode MS" pitchFamily="34" charset="-122"/>
              </a:rPr>
              <a:t> en </a:t>
            </a:r>
            <a:r>
              <a:rPr lang="en-US" dirty="0" err="1">
                <a:latin typeface="Arial Unicode MS" pitchFamily="34" charset="-122"/>
              </a:rPr>
              <a:t>caso</a:t>
            </a:r>
            <a:r>
              <a:rPr lang="en-US" dirty="0">
                <a:latin typeface="Arial Unicode MS" pitchFamily="34" charset="-122"/>
              </a:rPr>
              <a:t> de </a:t>
            </a:r>
            <a:r>
              <a:rPr lang="en-US" dirty="0" err="1">
                <a:latin typeface="Arial Unicode MS" pitchFamily="34" charset="-122"/>
              </a:rPr>
              <a:t>que</a:t>
            </a:r>
            <a:r>
              <a:rPr lang="en-US" dirty="0">
                <a:latin typeface="Arial Unicode MS" pitchFamily="34" charset="-122"/>
              </a:rPr>
              <a:t> no se </a:t>
            </a:r>
            <a:r>
              <a:rPr lang="en-US" dirty="0" err="1">
                <a:latin typeface="Arial Unicode MS" pitchFamily="34" charset="-122"/>
              </a:rPr>
              <a:t>defina</a:t>
            </a:r>
            <a:r>
              <a:rPr lang="en-US" dirty="0">
                <a:latin typeface="Arial Unicode MS" pitchFamily="34" charset="-122"/>
              </a:rPr>
              <a:t> </a:t>
            </a:r>
            <a:r>
              <a:rPr lang="en-US" dirty="0" err="1">
                <a:latin typeface="Arial Unicode MS" pitchFamily="34" charset="-122"/>
              </a:rPr>
              <a:t>durante</a:t>
            </a:r>
            <a:r>
              <a:rPr lang="en-US" dirty="0">
                <a:latin typeface="Arial Unicode MS" pitchFamily="34" charset="-122"/>
              </a:rPr>
              <a:t> el </a:t>
            </a:r>
            <a:r>
              <a:rPr lang="en-US" dirty="0" err="1">
                <a:latin typeface="Arial Unicode MS" pitchFamily="34" charset="-122"/>
              </a:rPr>
              <a:t>ingreso</a:t>
            </a:r>
            <a:r>
              <a:rPr lang="en-US" dirty="0">
                <a:latin typeface="Arial Unicode MS" pitchFamily="34" charset="-122"/>
              </a:rPr>
              <a:t> del </a:t>
            </a:r>
            <a:r>
              <a:rPr lang="en-US" dirty="0" err="1">
                <a:latin typeface="Arial Unicode MS" pitchFamily="34" charset="-122"/>
              </a:rPr>
              <a:t>registro</a:t>
            </a:r>
            <a:r>
              <a:rPr lang="en-US" dirty="0">
                <a:latin typeface="Arial Unicode MS" pitchFamily="34" charset="-122"/>
              </a:rPr>
              <a:t>.</a:t>
            </a:r>
            <a:endParaRPr lang="en-US" b="1" dirty="0">
              <a:latin typeface="Arial Unicode MS" pitchFamily="3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63121" y="4675896"/>
            <a:ext cx="7160870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CREATE TABLE</a:t>
            </a:r>
            <a:r>
              <a:rPr lang="en-US" sz="2400" dirty="0"/>
              <a:t> </a:t>
            </a:r>
            <a:r>
              <a:rPr lang="en-US" sz="2400" dirty="0" err="1"/>
              <a:t>registro</a:t>
            </a:r>
            <a:r>
              <a:rPr lang="en-US" sz="2400" dirty="0"/>
              <a:t> ( 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nombre</a:t>
            </a:r>
            <a:r>
              <a:rPr lang="en-US" sz="2400" b="1" dirty="0">
                <a:solidFill>
                  <a:srgbClr val="0000FF"/>
                </a:solidFill>
              </a:rPr>
              <a:t> VARCHAR(30) DEFAULT</a:t>
            </a:r>
            <a:r>
              <a:rPr lang="en-US" sz="2400" dirty="0"/>
              <a:t> “</a:t>
            </a:r>
            <a:r>
              <a:rPr lang="en-US" sz="2400" dirty="0" err="1"/>
              <a:t>Usuario</a:t>
            </a:r>
            <a:r>
              <a:rPr lang="en-US" sz="2400" dirty="0"/>
              <a:t> Final”, </a:t>
            </a:r>
          </a:p>
          <a:p>
            <a:r>
              <a:rPr lang="en-US" sz="2400" dirty="0"/>
              <a:t>);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t="9383" b="9178"/>
          <a:stretch/>
        </p:blipFill>
        <p:spPr>
          <a:xfrm>
            <a:off x="10937766" y="513506"/>
            <a:ext cx="993112" cy="80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10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 build="p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CREATE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4128" y="2569057"/>
            <a:ext cx="9777576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dirty="0" err="1">
                <a:solidFill>
                  <a:schemeClr val="tx1"/>
                </a:solidFill>
                <a:latin typeface="Times New Roman"/>
                <a:cs typeface="Times New Roman"/>
              </a:rPr>
              <a:t>col_name</a:t>
            </a:r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&gt; &lt;</a:t>
            </a:r>
            <a:r>
              <a:rPr lang="en-US" sz="2800" dirty="0" err="1">
                <a:solidFill>
                  <a:schemeClr val="tx1"/>
                </a:solidFill>
                <a:latin typeface="Times New Roman"/>
                <a:cs typeface="Times New Roman"/>
              </a:rPr>
              <a:t>col_tipoDato</a:t>
            </a:r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&gt;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[DEFAULT </a:t>
            </a:r>
            <a:r>
              <a:rPr lang="en-US" sz="2800" i="1" dirty="0" err="1">
                <a:solidFill>
                  <a:srgbClr val="FF0000"/>
                </a:solidFill>
                <a:latin typeface="Times New Roman"/>
                <a:cs typeface="Times New Roman"/>
              </a:rPr>
              <a:t>def_value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 [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restricc_col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004" y="1933975"/>
            <a:ext cx="10406192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CREATE TABLE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tbl_name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 (&lt;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def_col1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, def_col2,… 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restricc_tbl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7790" y="2580327"/>
            <a:ext cx="9777576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dirty="0" err="1">
                <a:solidFill>
                  <a:schemeClr val="tx1"/>
                </a:solidFill>
                <a:latin typeface="Times New Roman"/>
                <a:cs typeface="Times New Roman"/>
              </a:rPr>
              <a:t>col_name</a:t>
            </a:r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&gt; &lt;</a:t>
            </a:r>
            <a:r>
              <a:rPr lang="en-US" sz="2800" dirty="0" err="1">
                <a:solidFill>
                  <a:schemeClr val="tx1"/>
                </a:solidFill>
                <a:latin typeface="Times New Roman"/>
                <a:cs typeface="Times New Roman"/>
              </a:rPr>
              <a:t>col_tipoDato</a:t>
            </a:r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&gt;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 [DEFAULT 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def_value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] 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lang="en-US" sz="2800" i="1" dirty="0" err="1">
                <a:solidFill>
                  <a:srgbClr val="FF0000"/>
                </a:solidFill>
                <a:latin typeface="Times New Roman"/>
                <a:cs typeface="Times New Roman"/>
              </a:rPr>
              <a:t>restricc_col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647506"/>
              </p:ext>
            </p:extLst>
          </p:nvPr>
        </p:nvGraphicFramePr>
        <p:xfrm>
          <a:off x="158738" y="3457667"/>
          <a:ext cx="7742913" cy="26989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19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164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RESTRICCIÓN COL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DESCRIPCIÓN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460">
                <a:tc>
                  <a:txBody>
                    <a:bodyPr/>
                    <a:lstStyle/>
                    <a:p>
                      <a:r>
                        <a:rPr lang="en-US" dirty="0"/>
                        <a:t>NOT</a:t>
                      </a:r>
                      <a:r>
                        <a:rPr lang="en-US" baseline="0" dirty="0"/>
                        <a:t> NULL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 </a:t>
                      </a:r>
                      <a:r>
                        <a:rPr lang="en-US" dirty="0" err="1"/>
                        <a:t>columna</a:t>
                      </a:r>
                      <a:r>
                        <a:rPr lang="en-US" dirty="0"/>
                        <a:t> no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permite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valores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nulos</a:t>
                      </a:r>
                      <a:r>
                        <a:rPr lang="en-US" baseline="0" dirty="0"/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r>
                        <a:rPr lang="en-US" dirty="0"/>
                        <a:t>UNIQUE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 </a:t>
                      </a:r>
                      <a:r>
                        <a:rPr lang="en-US" dirty="0" err="1"/>
                        <a:t>columna</a:t>
                      </a:r>
                      <a:r>
                        <a:rPr lang="en-US" dirty="0"/>
                        <a:t> no </a:t>
                      </a:r>
                      <a:r>
                        <a:rPr lang="en-US" dirty="0" err="1"/>
                        <a:t>permite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valores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repetidos</a:t>
                      </a:r>
                      <a:r>
                        <a:rPr lang="en-US" baseline="0" dirty="0"/>
                        <a:t> (clave </a:t>
                      </a:r>
                      <a:r>
                        <a:rPr lang="en-US" baseline="0" dirty="0" err="1"/>
                        <a:t>alternativa</a:t>
                      </a:r>
                      <a:r>
                        <a:rPr lang="en-US" baseline="0" dirty="0"/>
                        <a:t>).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r>
                        <a:rPr lang="en-US" dirty="0"/>
                        <a:t>PRIMARY</a:t>
                      </a:r>
                      <a:r>
                        <a:rPr lang="en-US" baseline="0" dirty="0"/>
                        <a:t> KEY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 </a:t>
                      </a:r>
                      <a:r>
                        <a:rPr lang="en-US" dirty="0" err="1"/>
                        <a:t>columna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nopermite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valores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repetidos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nulos</a:t>
                      </a:r>
                      <a:r>
                        <a:rPr lang="en-US" baseline="0" dirty="0"/>
                        <a:t> (clave </a:t>
                      </a:r>
                      <a:r>
                        <a:rPr lang="en-US" baseline="0" dirty="0" err="1"/>
                        <a:t>primaria</a:t>
                      </a:r>
                      <a:r>
                        <a:rPr lang="en-US" baseline="0" dirty="0"/>
                        <a:t>).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r>
                        <a:rPr lang="en-US" dirty="0"/>
                        <a:t>CHECK (</a:t>
                      </a:r>
                      <a:r>
                        <a:rPr lang="en-US" dirty="0" err="1"/>
                        <a:t>condiciones</a:t>
                      </a:r>
                      <a:r>
                        <a:rPr lang="en-US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 </a:t>
                      </a:r>
                      <a:r>
                        <a:rPr lang="en-US" dirty="0" err="1"/>
                        <a:t>columna</a:t>
                      </a:r>
                      <a:r>
                        <a:rPr lang="en-US" dirty="0"/>
                        <a:t>  </a:t>
                      </a:r>
                      <a:r>
                        <a:rPr lang="en-US" dirty="0" err="1"/>
                        <a:t>debe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cumplir</a:t>
                      </a:r>
                      <a:r>
                        <a:rPr lang="en-US" baseline="0" dirty="0"/>
                        <a:t> con </a:t>
                      </a:r>
                      <a:r>
                        <a:rPr lang="en-US" baseline="0" dirty="0" err="1"/>
                        <a:t>las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condiciones</a:t>
                      </a:r>
                      <a:r>
                        <a:rPr lang="en-US" baseline="0" dirty="0"/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951257" y="3776198"/>
            <a:ext cx="450089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CREATE TABLE</a:t>
            </a:r>
            <a:r>
              <a:rPr lang="en-US" sz="2400" dirty="0"/>
              <a:t> </a:t>
            </a:r>
            <a:r>
              <a:rPr lang="en-US" sz="2400" dirty="0" err="1"/>
              <a:t>registro</a:t>
            </a:r>
            <a:r>
              <a:rPr lang="en-US" sz="2400" dirty="0"/>
              <a:t> ( 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fecha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DATE NOT NULL</a:t>
            </a:r>
            <a:r>
              <a:rPr lang="en-US" sz="2400" dirty="0"/>
              <a:t>, 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cedula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INT PRIMARY KEY</a:t>
            </a:r>
            <a:r>
              <a:rPr lang="en-US" sz="2400" dirty="0"/>
              <a:t>,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nombre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VARCHAR(</a:t>
            </a:r>
            <a:r>
              <a:rPr lang="en-US" sz="2400" dirty="0"/>
              <a:t>10</a:t>
            </a:r>
            <a:r>
              <a:rPr lang="en-US" sz="2400" b="1" dirty="0">
                <a:solidFill>
                  <a:srgbClr val="0000FF"/>
                </a:solidFill>
              </a:rPr>
              <a:t>)</a:t>
            </a:r>
            <a:r>
              <a:rPr lang="en-US" sz="2400" dirty="0"/>
              <a:t>, 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edad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INT CHECK (</a:t>
            </a:r>
            <a:r>
              <a:rPr lang="en-US" sz="2400" dirty="0" err="1"/>
              <a:t>edad</a:t>
            </a:r>
            <a:r>
              <a:rPr lang="en-US" sz="2400" dirty="0"/>
              <a:t>&gt;18</a:t>
            </a:r>
            <a:r>
              <a:rPr lang="en-US" sz="2400" b="1" dirty="0">
                <a:solidFill>
                  <a:srgbClr val="0000FF"/>
                </a:solidFill>
              </a:rPr>
              <a:t>)</a:t>
            </a:r>
          </a:p>
          <a:p>
            <a:r>
              <a:rPr lang="en-US" sz="2400" dirty="0"/>
              <a:t>);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t="9383" b="9178"/>
          <a:stretch/>
        </p:blipFill>
        <p:spPr>
          <a:xfrm>
            <a:off x="10937766" y="513506"/>
            <a:ext cx="993112" cy="80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78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CREATE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004" y="1933975"/>
            <a:ext cx="10406192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CREATE TABLE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tbl_name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 (&lt;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def_col1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, def_col2,… 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restricc_tbl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387171"/>
              </p:ext>
            </p:extLst>
          </p:nvPr>
        </p:nvGraphicFramePr>
        <p:xfrm>
          <a:off x="158740" y="3104844"/>
          <a:ext cx="7178508" cy="30264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15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164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RESTRICCIÓN TBL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DESCRIPCIÓN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460">
                <a:tc>
                  <a:txBody>
                    <a:bodyPr/>
                    <a:lstStyle/>
                    <a:p>
                      <a:r>
                        <a:rPr lang="en-US" dirty="0"/>
                        <a:t>UNIQUE (col1, col2, …)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 </a:t>
                      </a:r>
                      <a:r>
                        <a:rPr lang="en-US" dirty="0" err="1"/>
                        <a:t>columnas</a:t>
                      </a:r>
                      <a:r>
                        <a:rPr lang="en-US" dirty="0"/>
                        <a:t> no </a:t>
                      </a:r>
                      <a:r>
                        <a:rPr lang="en-US" dirty="0" err="1"/>
                        <a:t>permiten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valores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repetidos</a:t>
                      </a:r>
                      <a:r>
                        <a:rPr lang="en-US" baseline="0" dirty="0"/>
                        <a:t> (clave </a:t>
                      </a:r>
                      <a:r>
                        <a:rPr lang="en-US" baseline="0" dirty="0" err="1"/>
                        <a:t>alternativa</a:t>
                      </a:r>
                      <a:r>
                        <a:rPr lang="en-US" baseline="0" dirty="0"/>
                        <a:t>).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PRIMARY</a:t>
                      </a:r>
                      <a:r>
                        <a:rPr lang="en-US" baseline="0" dirty="0"/>
                        <a:t> KEY </a:t>
                      </a:r>
                      <a:r>
                        <a:rPr lang="en-US" dirty="0"/>
                        <a:t>(col1, col2, …)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 </a:t>
                      </a:r>
                      <a:r>
                        <a:rPr lang="en-US" dirty="0" err="1"/>
                        <a:t>columnas</a:t>
                      </a:r>
                      <a:r>
                        <a:rPr lang="en-US" dirty="0"/>
                        <a:t> no </a:t>
                      </a:r>
                      <a:r>
                        <a:rPr lang="en-US" dirty="0" err="1"/>
                        <a:t>permiten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valores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repetidos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nulos</a:t>
                      </a:r>
                      <a:r>
                        <a:rPr lang="en-US" baseline="0" dirty="0"/>
                        <a:t> (clave </a:t>
                      </a:r>
                      <a:r>
                        <a:rPr lang="en-US" baseline="0" dirty="0" err="1"/>
                        <a:t>primaria</a:t>
                      </a:r>
                      <a:r>
                        <a:rPr lang="en-US" baseline="0" dirty="0"/>
                        <a:t>).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FOREIGN </a:t>
                      </a:r>
                      <a:r>
                        <a:rPr lang="en-US" baseline="0" dirty="0"/>
                        <a:t>KEY </a:t>
                      </a:r>
                      <a:r>
                        <a:rPr lang="en-US" dirty="0"/>
                        <a:t>(col1, col2, …) REFERENCES &lt;tbl2&gt;(&lt;tbl2_col&gt;)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 </a:t>
                      </a:r>
                      <a:r>
                        <a:rPr lang="en-US" dirty="0" err="1"/>
                        <a:t>columnas</a:t>
                      </a:r>
                      <a:r>
                        <a:rPr lang="en-US" dirty="0"/>
                        <a:t> no </a:t>
                      </a:r>
                      <a:r>
                        <a:rPr lang="en-US" dirty="0" err="1"/>
                        <a:t>permiten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valores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repetidos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nulos</a:t>
                      </a:r>
                      <a:r>
                        <a:rPr lang="en-US" baseline="0" dirty="0"/>
                        <a:t> (clave </a:t>
                      </a:r>
                      <a:r>
                        <a:rPr lang="en-US" baseline="0" dirty="0" err="1"/>
                        <a:t>foránea</a:t>
                      </a:r>
                      <a:r>
                        <a:rPr lang="en-US" baseline="0" dirty="0"/>
                        <a:t>).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[CONSTRAINT &lt;</a:t>
                      </a:r>
                      <a:r>
                        <a:rPr lang="en-US" b="1" dirty="0" err="1"/>
                        <a:t>con_name</a:t>
                      </a:r>
                      <a:r>
                        <a:rPr lang="en-US" b="1" dirty="0"/>
                        <a:t>&gt;]</a:t>
                      </a:r>
                      <a:r>
                        <a:rPr lang="en-US" b="1" baseline="0" dirty="0"/>
                        <a:t> </a:t>
                      </a:r>
                      <a:endParaRPr lang="en-US" b="1" dirty="0"/>
                    </a:p>
                    <a:p>
                      <a:r>
                        <a:rPr lang="en-US" dirty="0"/>
                        <a:t>CHECK (</a:t>
                      </a:r>
                      <a:r>
                        <a:rPr lang="en-US" dirty="0" err="1"/>
                        <a:t>condiciones</a:t>
                      </a:r>
                      <a:r>
                        <a:rPr lang="en-US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 </a:t>
                      </a:r>
                      <a:r>
                        <a:rPr lang="en-US" dirty="0" err="1"/>
                        <a:t>columnas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d</a:t>
                      </a:r>
                      <a:r>
                        <a:rPr lang="en-US" dirty="0" err="1"/>
                        <a:t>eben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cumplir</a:t>
                      </a:r>
                      <a:r>
                        <a:rPr lang="en-US" baseline="0" dirty="0"/>
                        <a:t> con </a:t>
                      </a:r>
                      <a:r>
                        <a:rPr lang="en-US" baseline="0" dirty="0" err="1"/>
                        <a:t>las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condiciones</a:t>
                      </a:r>
                      <a:r>
                        <a:rPr lang="en-US" baseline="0" dirty="0"/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354886" y="2576599"/>
            <a:ext cx="5820412" cy="4154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CREATE TABLE</a:t>
            </a:r>
            <a:r>
              <a:rPr lang="en-US" sz="2400" dirty="0"/>
              <a:t> </a:t>
            </a:r>
            <a:r>
              <a:rPr lang="en-US" sz="2400" dirty="0" err="1"/>
              <a:t>registro</a:t>
            </a:r>
            <a:r>
              <a:rPr lang="en-US" sz="2400" dirty="0"/>
              <a:t> ( 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fecha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DATE NOT NULL</a:t>
            </a:r>
            <a:r>
              <a:rPr lang="en-US" sz="2400" dirty="0"/>
              <a:t>, 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cedula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INT</a:t>
            </a:r>
            <a:r>
              <a:rPr lang="en-US" sz="2400" dirty="0"/>
              <a:t>,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edad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INT</a:t>
            </a:r>
            <a:r>
              <a:rPr lang="en-US" sz="2400" b="1" dirty="0">
                <a:solidFill>
                  <a:srgbClr val="000000"/>
                </a:solidFill>
              </a:rPr>
              <a:t>,</a:t>
            </a:r>
          </a:p>
          <a:p>
            <a:r>
              <a:rPr lang="en-US" sz="2400" b="1" dirty="0">
                <a:solidFill>
                  <a:srgbClr val="000000"/>
                </a:solidFill>
              </a:rPr>
              <a:t>       </a:t>
            </a:r>
            <a:r>
              <a:rPr lang="en-US" sz="2400" dirty="0"/>
              <a:t>cedula2 </a:t>
            </a:r>
            <a:r>
              <a:rPr lang="en-US" sz="2400" b="1" dirty="0">
                <a:solidFill>
                  <a:srgbClr val="0000FF"/>
                </a:solidFill>
              </a:rPr>
              <a:t>INT</a:t>
            </a:r>
            <a:r>
              <a:rPr lang="en-US" sz="2400" dirty="0"/>
              <a:t>,</a:t>
            </a:r>
            <a:endParaRPr lang="en-US" sz="2400" b="1" dirty="0">
              <a:solidFill>
                <a:srgbClr val="000000"/>
              </a:solidFill>
            </a:endParaRPr>
          </a:p>
          <a:p>
            <a:r>
              <a:rPr lang="en-US" sz="2400" b="1" dirty="0">
                <a:solidFill>
                  <a:srgbClr val="0000FF"/>
                </a:solidFill>
              </a:rPr>
              <a:t>	PRIMARY KEY(</a:t>
            </a:r>
            <a:r>
              <a:rPr lang="en-US" sz="2400" dirty="0" err="1"/>
              <a:t>cedula</a:t>
            </a:r>
            <a:r>
              <a:rPr lang="en-US" sz="2400" b="1" dirty="0">
                <a:solidFill>
                  <a:srgbClr val="0000FF"/>
                </a:solidFill>
              </a:rPr>
              <a:t>),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	CHECK (</a:t>
            </a:r>
            <a:r>
              <a:rPr lang="en-US" sz="2400" dirty="0" err="1"/>
              <a:t>edad</a:t>
            </a:r>
            <a:r>
              <a:rPr lang="en-US" sz="2400" dirty="0"/>
              <a:t>&gt;18 AND </a:t>
            </a:r>
            <a:r>
              <a:rPr lang="en-US" sz="2400" dirty="0" err="1"/>
              <a:t>edad</a:t>
            </a:r>
            <a:r>
              <a:rPr lang="en-US" sz="2400" dirty="0"/>
              <a:t> &lt;60</a:t>
            </a:r>
            <a:r>
              <a:rPr lang="en-US" sz="2400" b="1" dirty="0">
                <a:solidFill>
                  <a:srgbClr val="0000FF"/>
                </a:solidFill>
              </a:rPr>
              <a:t>)</a:t>
            </a:r>
            <a:r>
              <a:rPr lang="en-US" sz="2400" dirty="0"/>
              <a:t>, 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	FOREIGN KEY(</a:t>
            </a:r>
            <a:r>
              <a:rPr lang="en-US" sz="2400" dirty="0"/>
              <a:t>cedula2</a:t>
            </a:r>
            <a:r>
              <a:rPr lang="en-US" sz="2400" b="1" dirty="0">
                <a:solidFill>
                  <a:srgbClr val="0000FF"/>
                </a:solidFill>
              </a:rPr>
              <a:t>)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	  REFERENCES</a:t>
            </a:r>
            <a:r>
              <a:rPr lang="en-US" sz="2400" dirty="0"/>
              <a:t> </a:t>
            </a:r>
          </a:p>
          <a:p>
            <a:r>
              <a:rPr lang="en-US" sz="2400" dirty="0"/>
              <a:t>            customers(</a:t>
            </a:r>
            <a:r>
              <a:rPr lang="en-US" sz="2400" dirty="0" err="1"/>
              <a:t>customerNumber</a:t>
            </a:r>
            <a:r>
              <a:rPr lang="en-US" sz="2400" dirty="0"/>
              <a:t>)</a:t>
            </a:r>
          </a:p>
          <a:p>
            <a:r>
              <a:rPr lang="en-US" sz="2400" dirty="0"/>
              <a:t>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665" y="1927604"/>
            <a:ext cx="10406192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CREATE TABLE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tbl_name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 (&lt;def_col1, def_col2,… </a:t>
            </a:r>
            <a:r>
              <a:rPr lang="en-US" sz="2800" i="1" dirty="0" err="1">
                <a:solidFill>
                  <a:srgbClr val="FF0000"/>
                </a:solidFill>
                <a:latin typeface="Times New Roman"/>
                <a:cs typeface="Times New Roman"/>
              </a:rPr>
              <a:t>restricc_tbl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9383" b="9178"/>
          <a:stretch/>
        </p:blipFill>
        <p:spPr>
          <a:xfrm>
            <a:off x="10937766" y="513506"/>
            <a:ext cx="993112" cy="80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47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8572" y="2089712"/>
            <a:ext cx="5776724" cy="413761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CREATE TABLE films (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   </a:t>
            </a:r>
            <a:r>
              <a:rPr lang="en-US" dirty="0" err="1"/>
              <a:t>codigo</a:t>
            </a:r>
            <a:r>
              <a:rPr lang="en-US" dirty="0"/>
              <a:t>        	VARCHAR(5) PRIMARY KEY,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   </a:t>
            </a:r>
            <a:r>
              <a:rPr lang="en-US" dirty="0" err="1"/>
              <a:t>titulo</a:t>
            </a:r>
            <a:r>
              <a:rPr lang="en-US" dirty="0"/>
              <a:t>          	VARCHAR(40),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   did              	INT(3),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   </a:t>
            </a:r>
            <a:r>
              <a:rPr lang="en-US" dirty="0" err="1"/>
              <a:t>fecha_prod</a:t>
            </a:r>
            <a:r>
              <a:rPr lang="en-US" dirty="0"/>
              <a:t>    	DATE,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   </a:t>
            </a:r>
            <a:r>
              <a:rPr lang="en-US" dirty="0" err="1"/>
              <a:t>genero</a:t>
            </a:r>
            <a:r>
              <a:rPr lang="en-US" dirty="0"/>
              <a:t>            	VARCHAR(10),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CONSTRAINT production UNIQUE(</a:t>
            </a:r>
            <a:r>
              <a:rPr lang="en-US" dirty="0" err="1"/>
              <a:t>fecha_prod</a:t>
            </a:r>
            <a:r>
              <a:rPr lang="en-US" dirty="0"/>
              <a:t>),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FOREIGN KEY (did) REFERENCES </a:t>
            </a:r>
            <a:r>
              <a:rPr lang="en-US" dirty="0" err="1"/>
              <a:t>distribuidores</a:t>
            </a:r>
            <a:r>
              <a:rPr lang="en-US" dirty="0"/>
              <a:t>(did)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);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639244" y="3090331"/>
            <a:ext cx="6177957" cy="23255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dirty="0"/>
              <a:t> CREATE TABLE </a:t>
            </a:r>
            <a:r>
              <a:rPr lang="en-US" dirty="0" err="1"/>
              <a:t>distribuidores</a:t>
            </a:r>
            <a:r>
              <a:rPr lang="en-US" dirty="0"/>
              <a:t>(</a:t>
            </a:r>
          </a:p>
          <a:p>
            <a:pPr>
              <a:buFontTx/>
              <a:buNone/>
            </a:pPr>
            <a:r>
              <a:rPr lang="en-US" dirty="0"/>
              <a:t>    did     		INT(3) PRIMARY KEY,</a:t>
            </a:r>
          </a:p>
          <a:p>
            <a:pPr>
              <a:buFontTx/>
              <a:buNone/>
            </a:pPr>
            <a:r>
              <a:rPr lang="en-US" dirty="0"/>
              <a:t>    </a:t>
            </a:r>
            <a:r>
              <a:rPr lang="en-US" dirty="0" err="1"/>
              <a:t>nombre</a:t>
            </a:r>
            <a:r>
              <a:rPr lang="en-US" dirty="0"/>
              <a:t> 	VARCHAR(40),</a:t>
            </a:r>
          </a:p>
          <a:p>
            <a:pPr>
              <a:buFontTx/>
              <a:buNone/>
            </a:pPr>
            <a:r>
              <a:rPr lang="en-US" dirty="0"/>
              <a:t>    CONSTRAINT cons1 CHECK (did &gt; 100 AND </a:t>
            </a:r>
            <a:r>
              <a:rPr lang="en-US" dirty="0" err="1"/>
              <a:t>nombre</a:t>
            </a:r>
            <a:r>
              <a:rPr lang="en-US" dirty="0"/>
              <a:t> &lt;&gt; ' ')</a:t>
            </a:r>
          </a:p>
          <a:p>
            <a:pPr>
              <a:buFontTx/>
              <a:buNone/>
            </a:pPr>
            <a:r>
              <a:rPr lang="en-US" dirty="0"/>
              <a:t> 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506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graphicFrame>
        <p:nvGraphicFramePr>
          <p:cNvPr id="7170" name="Object 3"/>
          <p:cNvGraphicFramePr>
            <a:graphicFrameLocks/>
          </p:cNvGraphicFramePr>
          <p:nvPr/>
        </p:nvGraphicFramePr>
        <p:xfrm>
          <a:off x="5695952" y="1919288"/>
          <a:ext cx="5897033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" name="Document" r:id="rId4" imgW="4631831" imgH="2110824" progId="Word.Document.8">
                  <p:embed/>
                </p:oleObj>
              </mc:Choice>
              <mc:Fallback>
                <p:oleObj name="Document" r:id="rId4" imgW="4631831" imgH="2110824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952" y="1919288"/>
                        <a:ext cx="5897033" cy="208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4"/>
          <p:cNvGraphicFramePr>
            <a:graphicFrameLocks/>
          </p:cNvGraphicFramePr>
          <p:nvPr/>
        </p:nvGraphicFramePr>
        <p:xfrm>
          <a:off x="5975351" y="4122738"/>
          <a:ext cx="6157383" cy="223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" name="Document" r:id="rId6" imgW="4828669" imgH="2263370" progId="Word.Document.8">
                  <p:embed/>
                </p:oleObj>
              </mc:Choice>
              <mc:Fallback>
                <p:oleObj name="Document" r:id="rId6" imgW="4828669" imgH="2263370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5351" y="4122738"/>
                        <a:ext cx="6157383" cy="223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5"/>
          <p:cNvGraphicFramePr>
            <a:graphicFrameLocks/>
          </p:cNvGraphicFramePr>
          <p:nvPr/>
        </p:nvGraphicFramePr>
        <p:xfrm>
          <a:off x="6608234" y="180975"/>
          <a:ext cx="5147733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" name="Document" r:id="rId8" imgW="3505374" imgH="1614076" progId="Word.Document.8">
                  <p:embed/>
                </p:oleObj>
              </mc:Choice>
              <mc:Fallback>
                <p:oleObj name="Document" r:id="rId8" imgW="3505374" imgH="1614076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8234" y="180975"/>
                        <a:ext cx="5147733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Rectangle 6"/>
          <p:cNvSpPr>
            <a:spLocks noChangeArrowheads="1"/>
          </p:cNvSpPr>
          <p:nvPr/>
        </p:nvSpPr>
        <p:spPr bwMode="auto">
          <a:xfrm>
            <a:off x="4470400" y="228600"/>
            <a:ext cx="2751667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b="1" i="1" dirty="0" err="1"/>
              <a:t>Reservacion</a:t>
            </a:r>
            <a:endParaRPr lang="en-US" b="1" i="1" dirty="0"/>
          </a:p>
        </p:txBody>
      </p:sp>
      <p:sp>
        <p:nvSpPr>
          <p:cNvPr id="7176" name="Rectangle 7"/>
          <p:cNvSpPr>
            <a:spLocks noChangeArrowheads="1"/>
          </p:cNvSpPr>
          <p:nvPr/>
        </p:nvSpPr>
        <p:spPr bwMode="auto">
          <a:xfrm>
            <a:off x="4165600" y="1828800"/>
            <a:ext cx="1233047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/>
              <a:t>Marineros</a:t>
            </a:r>
            <a:endParaRPr lang="en-US" b="1" i="1" dirty="0"/>
          </a:p>
        </p:txBody>
      </p:sp>
      <p:sp>
        <p:nvSpPr>
          <p:cNvPr id="7177" name="Rectangle 8"/>
          <p:cNvSpPr>
            <a:spLocks noChangeArrowheads="1"/>
          </p:cNvSpPr>
          <p:nvPr/>
        </p:nvSpPr>
        <p:spPr bwMode="auto">
          <a:xfrm>
            <a:off x="4470401" y="4114800"/>
            <a:ext cx="777920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/>
              <a:t>Botes</a:t>
            </a:r>
            <a:endParaRPr lang="en-US" b="1" i="1" dirty="0"/>
          </a:p>
        </p:txBody>
      </p:sp>
      <p:sp>
        <p:nvSpPr>
          <p:cNvPr id="7178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203200" y="1676400"/>
            <a:ext cx="4368800" cy="1609724"/>
          </a:xfrm>
          <a:noFill/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s-EC" sz="2800" b="0" dirty="0"/>
              <a:t>Para estas tablas:</a:t>
            </a:r>
          </a:p>
        </p:txBody>
      </p:sp>
      <p:sp>
        <p:nvSpPr>
          <p:cNvPr id="7179" name="Line 10"/>
          <p:cNvSpPr>
            <a:spLocks noChangeShapeType="1"/>
          </p:cNvSpPr>
          <p:nvPr/>
        </p:nvSpPr>
        <p:spPr bwMode="auto">
          <a:xfrm>
            <a:off x="6908800" y="609600"/>
            <a:ext cx="50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7180" name="Line 11"/>
          <p:cNvSpPr>
            <a:spLocks noChangeShapeType="1"/>
          </p:cNvSpPr>
          <p:nvPr/>
        </p:nvSpPr>
        <p:spPr bwMode="auto">
          <a:xfrm>
            <a:off x="7924800" y="609600"/>
            <a:ext cx="812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7181" name="Line 12"/>
          <p:cNvSpPr>
            <a:spLocks noChangeShapeType="1"/>
          </p:cNvSpPr>
          <p:nvPr/>
        </p:nvSpPr>
        <p:spPr bwMode="auto">
          <a:xfrm>
            <a:off x="9855200" y="6096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7182" name="Line 13"/>
          <p:cNvSpPr>
            <a:spLocks noChangeShapeType="1"/>
          </p:cNvSpPr>
          <p:nvPr/>
        </p:nvSpPr>
        <p:spPr bwMode="auto">
          <a:xfrm flipV="1">
            <a:off x="5892800" y="22860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7183" name="Line 14"/>
          <p:cNvSpPr>
            <a:spLocks noChangeShapeType="1"/>
          </p:cNvSpPr>
          <p:nvPr/>
        </p:nvSpPr>
        <p:spPr bwMode="auto">
          <a:xfrm>
            <a:off x="6299200" y="4495800"/>
            <a:ext cx="40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59093045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9460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2839656" y="1852321"/>
            <a:ext cx="7601811" cy="4419355"/>
          </a:xfrm>
          <a:noFill/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0" dirty="0">
                <a:latin typeface="Lucida Console" pitchFamily="49" charset="0"/>
              </a:rPr>
              <a:t>CREATE TABLE </a:t>
            </a:r>
            <a:r>
              <a:rPr lang="en-US" b="0" dirty="0" err="1">
                <a:latin typeface="Lucida Console" pitchFamily="49" charset="0"/>
              </a:rPr>
              <a:t>Marineros</a:t>
            </a:r>
            <a:r>
              <a:rPr lang="en-US" b="0" dirty="0">
                <a:latin typeface="Lucida Console" pitchFamily="49" charset="0"/>
              </a:rPr>
              <a:t>( 	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latin typeface="Lucida Console" pitchFamily="49" charset="0"/>
              </a:rPr>
              <a:t>		</a:t>
            </a:r>
            <a:r>
              <a:rPr lang="en-US" b="0" dirty="0" err="1">
                <a:latin typeface="Lucida Console" pitchFamily="49" charset="0"/>
              </a:rPr>
              <a:t>sid</a:t>
            </a:r>
            <a:r>
              <a:rPr lang="en-US" b="0" dirty="0">
                <a:latin typeface="Lucida Console" pitchFamily="49" charset="0"/>
              </a:rPr>
              <a:t> INTEGER PRIMARY KEY,</a:t>
            </a:r>
            <a:br>
              <a:rPr lang="en-US" b="0" dirty="0">
                <a:latin typeface="Lucida Console" pitchFamily="49" charset="0"/>
              </a:rPr>
            </a:br>
            <a:r>
              <a:rPr lang="en-US" b="0" dirty="0">
                <a:latin typeface="Lucida Console" pitchFamily="49" charset="0"/>
              </a:rPr>
              <a:t>	</a:t>
            </a:r>
            <a:r>
              <a:rPr lang="en-US" b="0" dirty="0" err="1">
                <a:latin typeface="Lucida Console" pitchFamily="49" charset="0"/>
              </a:rPr>
              <a:t>snombre</a:t>
            </a:r>
            <a:r>
              <a:rPr lang="en-US" b="0" dirty="0">
                <a:latin typeface="Lucida Console" pitchFamily="49" charset="0"/>
              </a:rPr>
              <a:t> CHAR(20),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latin typeface="Lucida Console" pitchFamily="49" charset="0"/>
              </a:rPr>
              <a:t>		</a:t>
            </a:r>
            <a:r>
              <a:rPr lang="en-US" b="0" dirty="0">
                <a:latin typeface="Lucida Console" pitchFamily="49" charset="0"/>
              </a:rPr>
              <a:t>rating INTEGER,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latin typeface="Lucida Console" pitchFamily="49" charset="0"/>
              </a:rPr>
              <a:t>  	</a:t>
            </a:r>
            <a:r>
              <a:rPr lang="en-US" b="0" dirty="0" err="1">
                <a:latin typeface="Lucida Console" pitchFamily="49" charset="0"/>
              </a:rPr>
              <a:t>edad</a:t>
            </a:r>
            <a:r>
              <a:rPr lang="en-US" b="0" dirty="0">
                <a:latin typeface="Lucida Console" pitchFamily="49" charset="0"/>
              </a:rPr>
              <a:t> REAL);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b="0" dirty="0">
              <a:latin typeface="Lucida Console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0" dirty="0">
                <a:latin typeface="Lucida Console" pitchFamily="49" charset="0"/>
              </a:rPr>
              <a:t>CREATE TABLE </a:t>
            </a:r>
            <a:r>
              <a:rPr lang="en-US" b="0" dirty="0" err="1">
                <a:latin typeface="Lucida Console" pitchFamily="49" charset="0"/>
              </a:rPr>
              <a:t>Botes</a:t>
            </a:r>
            <a:r>
              <a:rPr lang="en-US" b="0" dirty="0">
                <a:latin typeface="Lucida Console" pitchFamily="49" charset="0"/>
              </a:rPr>
              <a:t> (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latin typeface="Lucida Console" pitchFamily="49" charset="0"/>
              </a:rPr>
              <a:t>		</a:t>
            </a:r>
            <a:r>
              <a:rPr lang="en-US" b="0" dirty="0">
                <a:latin typeface="Lucida Console" pitchFamily="49" charset="0"/>
              </a:rPr>
              <a:t>bid INTEGER PRIMARY KEY,  </a:t>
            </a:r>
            <a:br>
              <a:rPr lang="en-US" b="0" dirty="0">
                <a:latin typeface="Lucida Console" pitchFamily="49" charset="0"/>
              </a:rPr>
            </a:br>
            <a:r>
              <a:rPr lang="en-US" b="0" dirty="0">
                <a:latin typeface="Lucida Console" pitchFamily="49" charset="0"/>
              </a:rPr>
              <a:t>	</a:t>
            </a:r>
            <a:r>
              <a:rPr lang="en-US" b="0" dirty="0" err="1">
                <a:latin typeface="Lucida Console" pitchFamily="49" charset="0"/>
              </a:rPr>
              <a:t>bnombre</a:t>
            </a:r>
            <a:r>
              <a:rPr lang="en-US" b="0" dirty="0">
                <a:latin typeface="Lucida Console" pitchFamily="49" charset="0"/>
              </a:rPr>
              <a:t> CHAR (20),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latin typeface="Lucida Console" pitchFamily="49" charset="0"/>
              </a:rPr>
              <a:t>		</a:t>
            </a:r>
            <a:r>
              <a:rPr lang="en-US" b="0" dirty="0">
                <a:latin typeface="Lucida Console" pitchFamily="49" charset="0"/>
              </a:rPr>
              <a:t>color CHAR(10));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b="0" dirty="0">
              <a:latin typeface="Lucida Console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0" dirty="0">
                <a:latin typeface="Lucida Console" pitchFamily="49" charset="0"/>
              </a:rPr>
              <a:t>CREATE TABLE </a:t>
            </a:r>
            <a:r>
              <a:rPr lang="en-US" b="0" dirty="0" err="1">
                <a:latin typeface="Lucida Console" pitchFamily="49" charset="0"/>
              </a:rPr>
              <a:t>Reservacion</a:t>
            </a:r>
            <a:r>
              <a:rPr lang="en-US" b="0" dirty="0">
                <a:latin typeface="Lucida Console" pitchFamily="49" charset="0"/>
              </a:rPr>
              <a:t> (</a:t>
            </a:r>
            <a:r>
              <a:rPr lang="en-US" dirty="0">
                <a:latin typeface="Lucida Console" pitchFamily="49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0" dirty="0">
                <a:latin typeface="Lucida Console" pitchFamily="49" charset="0"/>
              </a:rPr>
              <a:t>		</a:t>
            </a:r>
            <a:r>
              <a:rPr lang="en-US" b="0" dirty="0" err="1">
                <a:latin typeface="Lucida Console" pitchFamily="49" charset="0"/>
              </a:rPr>
              <a:t>sid</a:t>
            </a:r>
            <a:r>
              <a:rPr lang="en-US" b="0" dirty="0">
                <a:latin typeface="Lucida Console" pitchFamily="49" charset="0"/>
              </a:rPr>
              <a:t> INTEGER,</a:t>
            </a:r>
            <a:br>
              <a:rPr lang="en-US" b="0" dirty="0">
                <a:latin typeface="Lucida Console" pitchFamily="49" charset="0"/>
              </a:rPr>
            </a:br>
            <a:r>
              <a:rPr lang="en-US" b="0" dirty="0">
                <a:latin typeface="Lucida Console" pitchFamily="49" charset="0"/>
              </a:rPr>
              <a:t>	bid INTEGER,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latin typeface="Lucida Console" pitchFamily="49" charset="0"/>
              </a:rPr>
              <a:t>		</a:t>
            </a:r>
            <a:r>
              <a:rPr lang="en-US" b="0" dirty="0" err="1">
                <a:latin typeface="Lucida Console" pitchFamily="49" charset="0"/>
              </a:rPr>
              <a:t>dia</a:t>
            </a:r>
            <a:r>
              <a:rPr lang="en-US" b="0" dirty="0">
                <a:latin typeface="Lucida Console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latin typeface="Lucida Console" pitchFamily="49" charset="0"/>
              </a:rPr>
              <a:t>DATE</a:t>
            </a:r>
            <a:r>
              <a:rPr lang="en-US" b="0" dirty="0">
                <a:latin typeface="Lucida Console" pitchFamily="49" charset="0"/>
              </a:rPr>
              <a:t>, </a:t>
            </a:r>
            <a:br>
              <a:rPr lang="en-US" b="0" dirty="0">
                <a:latin typeface="Lucida Console" pitchFamily="49" charset="0"/>
              </a:rPr>
            </a:br>
            <a:r>
              <a:rPr lang="en-US" b="0" dirty="0">
                <a:latin typeface="Lucida Console" pitchFamily="49" charset="0"/>
              </a:rPr>
              <a:t>	PRIMARY KEY (</a:t>
            </a:r>
            <a:r>
              <a:rPr lang="en-US" b="0" dirty="0" err="1">
                <a:latin typeface="Lucida Console" pitchFamily="49" charset="0"/>
              </a:rPr>
              <a:t>sid</a:t>
            </a:r>
            <a:r>
              <a:rPr lang="en-US" b="0" dirty="0">
                <a:latin typeface="Lucida Console" pitchFamily="49" charset="0"/>
              </a:rPr>
              <a:t>, bid, </a:t>
            </a:r>
            <a:r>
              <a:rPr lang="en-US" b="0" dirty="0" err="1">
                <a:latin typeface="Lucida Console" pitchFamily="49" charset="0"/>
              </a:rPr>
              <a:t>dia</a:t>
            </a:r>
            <a:r>
              <a:rPr lang="en-US" b="0" dirty="0">
                <a:latin typeface="Lucida Console" pitchFamily="49" charset="0"/>
              </a:rPr>
              <a:t>),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latin typeface="Lucida Console" pitchFamily="49" charset="0"/>
              </a:rPr>
              <a:t>		FOREIGN KEY (</a:t>
            </a:r>
            <a:r>
              <a:rPr lang="en-US" dirty="0" err="1">
                <a:latin typeface="Lucida Console" pitchFamily="49" charset="0"/>
              </a:rPr>
              <a:t>sid</a:t>
            </a:r>
            <a:r>
              <a:rPr lang="en-US" dirty="0">
                <a:latin typeface="Lucida Console" pitchFamily="49" charset="0"/>
              </a:rPr>
              <a:t>) REFERENCES </a:t>
            </a:r>
            <a:r>
              <a:rPr lang="en-US" dirty="0" err="1">
                <a:latin typeface="Lucida Console" pitchFamily="49" charset="0"/>
              </a:rPr>
              <a:t>Marineros</a:t>
            </a:r>
            <a:r>
              <a:rPr lang="en-US" dirty="0">
                <a:latin typeface="Lucida Console" pitchFamily="49" charset="0"/>
              </a:rPr>
              <a:t>(</a:t>
            </a:r>
            <a:r>
              <a:rPr lang="en-US" dirty="0" err="1">
                <a:latin typeface="Lucida Console" pitchFamily="49" charset="0"/>
              </a:rPr>
              <a:t>sid</a:t>
            </a:r>
            <a:r>
              <a:rPr lang="en-US" dirty="0">
                <a:latin typeface="Lucida Console" pitchFamily="49" charset="0"/>
              </a:rPr>
              <a:t>), </a:t>
            </a:r>
            <a:br>
              <a:rPr lang="en-US" b="0" dirty="0">
                <a:latin typeface="Lucida Console" pitchFamily="49" charset="0"/>
              </a:rPr>
            </a:br>
            <a:r>
              <a:rPr lang="en-US" b="0" dirty="0">
                <a:latin typeface="Lucida Console" pitchFamily="49" charset="0"/>
              </a:rPr>
              <a:t>	FOREIGN KEY (bid) REFERENCES </a:t>
            </a:r>
            <a:r>
              <a:rPr lang="en-US" b="0" dirty="0" err="1">
                <a:latin typeface="Lucida Console" pitchFamily="49" charset="0"/>
              </a:rPr>
              <a:t>Botes</a:t>
            </a:r>
            <a:r>
              <a:rPr lang="en-US" b="0" dirty="0">
                <a:latin typeface="Lucida Console" pitchFamily="49" charset="0"/>
              </a:rPr>
              <a:t>(bid));</a:t>
            </a:r>
          </a:p>
          <a:p>
            <a:pPr>
              <a:lnSpc>
                <a:spcPct val="90000"/>
              </a:lnSpc>
            </a:pPr>
            <a:endParaRPr lang="en-US" sz="2000" b="0" dirty="0">
              <a:latin typeface="Lucida Console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ESQUEMA DEL EJEMPLO</a:t>
            </a:r>
          </a:p>
        </p:txBody>
      </p:sp>
    </p:spTree>
    <p:extLst>
      <p:ext uri="{BB962C8B-B14F-4D97-AF65-F5344CB8AC3E}">
        <p14:creationId xmlns:p14="http://schemas.microsoft.com/office/powerpoint/2010/main" val="374267652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C" sz="3200" dirty="0"/>
              <a:t>Sintáxis para el borrado de un elemento:</a:t>
            </a:r>
          </a:p>
          <a:p>
            <a:endParaRPr lang="es-EC" sz="3200" dirty="0"/>
          </a:p>
          <a:p>
            <a:endParaRPr lang="es-EC" sz="3200" dirty="0"/>
          </a:p>
          <a:p>
            <a:r>
              <a:rPr lang="es-EC" sz="3200" b="1" dirty="0"/>
              <a:t>NOTA: No tiene marcha atrás</a:t>
            </a:r>
          </a:p>
          <a:p>
            <a:r>
              <a:rPr lang="es-EC" sz="3200" dirty="0"/>
              <a:t>Ejemplos:</a:t>
            </a:r>
          </a:p>
          <a:p>
            <a:pPr lvl="1">
              <a:buNone/>
            </a:pPr>
            <a:r>
              <a:rPr lang="es-EC" sz="2800" dirty="0"/>
              <a:t>DROP TABLE films;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7844" y="2522504"/>
            <a:ext cx="5114907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DROP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elemento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 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nombre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</a:t>
            </a:r>
          </a:p>
        </p:txBody>
      </p:sp>
      <p:sp>
        <p:nvSpPr>
          <p:cNvPr id="7" name="Multiply 6"/>
          <p:cNvSpPr/>
          <p:nvPr/>
        </p:nvSpPr>
        <p:spPr>
          <a:xfrm>
            <a:off x="9348326" y="378372"/>
            <a:ext cx="1770713" cy="1214457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9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7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27683" y="1869781"/>
            <a:ext cx="5114907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DROP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elemento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 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nombre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435574"/>
              </p:ext>
            </p:extLst>
          </p:nvPr>
        </p:nvGraphicFramePr>
        <p:xfrm>
          <a:off x="2010688" y="2769661"/>
          <a:ext cx="8377868" cy="3283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84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3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164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OBJETO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SINTÁXIS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460">
                <a:tc>
                  <a:txBody>
                    <a:bodyPr/>
                    <a:lstStyle/>
                    <a:p>
                      <a:r>
                        <a:rPr lang="en-US" sz="2000" dirty="0"/>
                        <a:t>Base de </a:t>
                      </a:r>
                      <a:r>
                        <a:rPr lang="en-US" sz="2000" dirty="0" err="1"/>
                        <a:t>Datos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DROP DATABASE &lt;</a:t>
                      </a:r>
                      <a:r>
                        <a:rPr lang="en-US" sz="2000" dirty="0" err="1"/>
                        <a:t>nombreDB</a:t>
                      </a:r>
                      <a:r>
                        <a:rPr lang="en-US" sz="2000" dirty="0"/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r>
                        <a:rPr lang="en-US" sz="2000" dirty="0" err="1"/>
                        <a:t>Índice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DROP</a:t>
                      </a:r>
                      <a:r>
                        <a:rPr lang="en-US" sz="2000" baseline="0" dirty="0"/>
                        <a:t> INDEX &lt;</a:t>
                      </a:r>
                      <a:r>
                        <a:rPr lang="en-US" sz="2000" baseline="0" dirty="0" err="1"/>
                        <a:t>nombreIndice</a:t>
                      </a:r>
                      <a:r>
                        <a:rPr lang="en-US" sz="2000" baseline="0" dirty="0"/>
                        <a:t>&gt; </a:t>
                      </a:r>
                      <a:r>
                        <a:rPr lang="en-US" sz="2000" baseline="0" dirty="0">
                          <a:solidFill>
                            <a:srgbClr val="FF0000"/>
                          </a:solidFill>
                        </a:rPr>
                        <a:t>ON</a:t>
                      </a:r>
                      <a:r>
                        <a:rPr lang="en-US" sz="2000" baseline="0" dirty="0"/>
                        <a:t> &lt;</a:t>
                      </a:r>
                      <a:r>
                        <a:rPr lang="en-US" sz="2000" baseline="0" dirty="0" err="1"/>
                        <a:t>nombreTabla</a:t>
                      </a:r>
                      <a:r>
                        <a:rPr lang="en-US" sz="2000" baseline="0" dirty="0"/>
                        <a:t>&gt;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r>
                        <a:rPr lang="en-US" sz="2000" dirty="0" err="1"/>
                        <a:t>Tabla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DROP TABLE</a:t>
                      </a:r>
                      <a:r>
                        <a:rPr lang="en-US" sz="2000" baseline="0" dirty="0"/>
                        <a:t> &lt;</a:t>
                      </a:r>
                      <a:r>
                        <a:rPr lang="en-US" sz="2000" baseline="0" dirty="0" err="1"/>
                        <a:t>nombreTabla</a:t>
                      </a:r>
                      <a:r>
                        <a:rPr lang="en-US" sz="2000" baseline="0" dirty="0"/>
                        <a:t>&gt;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r>
                        <a:rPr lang="en-US" sz="2000" dirty="0"/>
                        <a:t>Trigger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DROP TRIGGER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 &lt;</a:t>
                      </a:r>
                      <a:r>
                        <a:rPr lang="en-US" sz="2000" dirty="0" err="1"/>
                        <a:t>nombreTrigger</a:t>
                      </a:r>
                      <a:r>
                        <a:rPr lang="en-US" sz="2000" dirty="0"/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r>
                        <a:rPr lang="en-US" sz="2000" dirty="0"/>
                        <a:t>Procedure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DROP PROCEDURE</a:t>
                      </a:r>
                      <a:r>
                        <a:rPr lang="en-US" sz="2000" baseline="0" dirty="0"/>
                        <a:t> &lt;</a:t>
                      </a:r>
                      <a:r>
                        <a:rPr lang="en-US" sz="2000" baseline="0" dirty="0" err="1"/>
                        <a:t>nombreProcedure</a:t>
                      </a:r>
                      <a:r>
                        <a:rPr lang="en-US" sz="2000" baseline="0" dirty="0"/>
                        <a:t>&gt;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164">
                <a:tc>
                  <a:txBody>
                    <a:bodyPr/>
                    <a:lstStyle/>
                    <a:p>
                      <a:r>
                        <a:rPr lang="en-US" sz="2000" dirty="0"/>
                        <a:t>View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DROP VIEW &lt;</a:t>
                      </a:r>
                      <a:r>
                        <a:rPr lang="en-US" sz="2000" dirty="0" err="1"/>
                        <a:t>nombreVista</a:t>
                      </a:r>
                      <a:r>
                        <a:rPr lang="en-US" sz="2000" dirty="0"/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Multiply 7"/>
          <p:cNvSpPr/>
          <p:nvPr/>
        </p:nvSpPr>
        <p:spPr>
          <a:xfrm>
            <a:off x="9348326" y="378372"/>
            <a:ext cx="1770713" cy="1214457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0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826" y="1887422"/>
            <a:ext cx="10719259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ALTER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elemento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 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nombre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</a:t>
            </a:r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 &lt;specification1&gt;, &lt;especification2&gt;,…;</a:t>
            </a:r>
            <a:endParaRPr lang="en-US" sz="2800" i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25072" y="3722285"/>
            <a:ext cx="4662178" cy="2450518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 panose="020F0502020204030204" pitchFamily="34" charset="0"/>
              <a:buNone/>
            </a:pPr>
            <a:r>
              <a:rPr lang="es-EC" sz="2400" b="1" dirty="0">
                <a:solidFill>
                  <a:srgbClr val="0000FF"/>
                </a:solidFill>
              </a:rPr>
              <a:t>ALTER TABLE</a:t>
            </a:r>
            <a:r>
              <a:rPr lang="es-EC" sz="2400" dirty="0"/>
              <a:t> Botes</a:t>
            </a:r>
          </a:p>
          <a:p>
            <a:pPr>
              <a:buNone/>
            </a:pPr>
            <a:r>
              <a:rPr lang="es-EC" sz="2400" dirty="0"/>
              <a:t>		</a:t>
            </a:r>
            <a:r>
              <a:rPr lang="es-EC" sz="2400" b="1" dirty="0">
                <a:solidFill>
                  <a:srgbClr val="0000FF"/>
                </a:solidFill>
              </a:rPr>
              <a:t>ADD COLUMN</a:t>
            </a:r>
            <a:r>
              <a:rPr lang="es-EC" sz="2400" dirty="0"/>
              <a:t>  Edad INT;</a:t>
            </a:r>
          </a:p>
          <a:p>
            <a:pPr>
              <a:buFont typeface="Calibri" panose="020F0502020204030204" pitchFamily="34" charset="0"/>
              <a:buNone/>
            </a:pPr>
            <a:r>
              <a:rPr lang="es-EC" sz="2400" b="1" dirty="0">
                <a:solidFill>
                  <a:srgbClr val="0000FF"/>
                </a:solidFill>
              </a:rPr>
              <a:t>ALTER TABLE</a:t>
            </a:r>
            <a:r>
              <a:rPr lang="es-EC" sz="2400" dirty="0"/>
              <a:t> Marineros</a:t>
            </a:r>
          </a:p>
          <a:p>
            <a:pPr>
              <a:buNone/>
            </a:pPr>
            <a:r>
              <a:rPr lang="es-EC" sz="2400" dirty="0"/>
              <a:t>		</a:t>
            </a:r>
            <a:r>
              <a:rPr lang="es-EC" sz="2400" b="1" dirty="0">
                <a:solidFill>
                  <a:srgbClr val="0000FF"/>
                </a:solidFill>
              </a:rPr>
              <a:t>MODIFY COLUMN</a:t>
            </a:r>
            <a:r>
              <a:rPr lang="es-EC" sz="2400" dirty="0"/>
              <a:t> </a:t>
            </a:r>
            <a:r>
              <a:rPr lang="es-EC" sz="2400" dirty="0">
                <a:solidFill>
                  <a:srgbClr val="0000FF"/>
                </a:solidFill>
              </a:rPr>
              <a:t> </a:t>
            </a:r>
            <a:r>
              <a:rPr lang="es-EC" sz="2400" dirty="0"/>
              <a:t>rating REAL;</a:t>
            </a:r>
          </a:p>
          <a:p>
            <a:pPr>
              <a:buFont typeface="Calibri" panose="020F0502020204030204" pitchFamily="34" charset="0"/>
              <a:buNone/>
            </a:pPr>
            <a:r>
              <a:rPr lang="es-EC" sz="2400" dirty="0"/>
              <a:t>	</a:t>
            </a:r>
            <a:endParaRPr lang="es-EC" dirty="0"/>
          </a:p>
          <a:p>
            <a:pPr>
              <a:buFont typeface="Calibri" panose="020F0502020204030204" pitchFamily="34" charset="0"/>
              <a:buNone/>
            </a:pPr>
            <a:endParaRPr lang="es-EC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498156" y="3651720"/>
            <a:ext cx="6389596" cy="320627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EC" sz="2400" b="1" dirty="0">
                <a:solidFill>
                  <a:srgbClr val="0000FF"/>
                </a:solidFill>
              </a:rPr>
              <a:t>ALTER TABLE</a:t>
            </a:r>
            <a:r>
              <a:rPr lang="es-EC" sz="2400" dirty="0"/>
              <a:t> Films</a:t>
            </a:r>
          </a:p>
          <a:p>
            <a:pPr>
              <a:buFont typeface="Calibri" panose="020F0502020204030204" pitchFamily="34" charset="0"/>
              <a:buNone/>
            </a:pPr>
            <a:r>
              <a:rPr lang="es-EC" sz="2400" b="1" dirty="0">
                <a:solidFill>
                  <a:srgbClr val="0000FF"/>
                </a:solidFill>
              </a:rPr>
              <a:t>		DROP COLUMN</a:t>
            </a:r>
            <a:r>
              <a:rPr lang="es-EC" sz="2400" dirty="0"/>
              <a:t> genero;</a:t>
            </a:r>
          </a:p>
          <a:p>
            <a:pPr>
              <a:buNone/>
            </a:pPr>
            <a:r>
              <a:rPr lang="es-EC" sz="2400" b="1" dirty="0">
                <a:solidFill>
                  <a:srgbClr val="0000FF"/>
                </a:solidFill>
              </a:rPr>
              <a:t>ALTER TABLE</a:t>
            </a:r>
            <a:r>
              <a:rPr lang="es-EC" sz="2400" dirty="0"/>
              <a:t> Botes</a:t>
            </a:r>
          </a:p>
          <a:p>
            <a:pPr>
              <a:buFont typeface="Calibri" panose="020F0502020204030204" pitchFamily="34" charset="0"/>
              <a:buNone/>
            </a:pPr>
            <a:r>
              <a:rPr lang="es-EC" sz="2400" b="1" dirty="0">
                <a:solidFill>
                  <a:srgbClr val="0000FF"/>
                </a:solidFill>
              </a:rPr>
              <a:t>		ADD CONSTRAINT</a:t>
            </a:r>
            <a:r>
              <a:rPr lang="es-EC" sz="2400" dirty="0"/>
              <a:t> con CHECK (edad&lt;100);</a:t>
            </a:r>
          </a:p>
          <a:p>
            <a:pPr>
              <a:buFont typeface="Calibri" panose="020F0502020204030204" pitchFamily="34" charset="0"/>
              <a:buNone/>
            </a:pPr>
            <a:endParaRPr lang="es-EC" sz="2400" dirty="0"/>
          </a:p>
          <a:p>
            <a:pPr>
              <a:buFont typeface="Calibri" panose="020F0502020204030204" pitchFamily="34" charset="0"/>
              <a:buNone/>
            </a:pPr>
            <a:endParaRPr lang="es-EC" dirty="0"/>
          </a:p>
          <a:p>
            <a:pPr>
              <a:buFont typeface="Calibri" panose="020F0502020204030204" pitchFamily="34" charset="0"/>
              <a:buNone/>
            </a:pPr>
            <a:endParaRPr lang="es-EC" dirty="0"/>
          </a:p>
        </p:txBody>
      </p:sp>
      <p:sp>
        <p:nvSpPr>
          <p:cNvPr id="12" name="TextBox 11"/>
          <p:cNvSpPr txBox="1"/>
          <p:nvPr/>
        </p:nvSpPr>
        <p:spPr>
          <a:xfrm>
            <a:off x="1803446" y="2621982"/>
            <a:ext cx="8532195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ADD|ALTER|MODIFY|DROP &lt;</a:t>
            </a:r>
            <a:r>
              <a:rPr lang="en-US" sz="2800" dirty="0" err="1">
                <a:solidFill>
                  <a:schemeClr val="tx1"/>
                </a:solidFill>
                <a:latin typeface="Times New Roman"/>
                <a:cs typeface="Times New Roman"/>
              </a:rPr>
              <a:t>elemento</a:t>
            </a:r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&gt; &lt;</a:t>
            </a:r>
            <a:r>
              <a:rPr lang="en-US" sz="2800" dirty="0" err="1">
                <a:solidFill>
                  <a:schemeClr val="tx1"/>
                </a:solidFill>
                <a:latin typeface="Times New Roman"/>
                <a:cs typeface="Times New Roman"/>
              </a:rPr>
              <a:t>definicion</a:t>
            </a:r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&gt; </a:t>
            </a:r>
            <a:endParaRPr lang="en-US" sz="2800" i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4125" y="1881051"/>
            <a:ext cx="10719259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ALTER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elemento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 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nombre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</a:t>
            </a:r>
            <a:r>
              <a:rPr lang="en-US" sz="2800" dirty="0">
                <a:solidFill>
                  <a:srgbClr val="FF0000"/>
                </a:solidFill>
                <a:latin typeface="Times New Roman"/>
                <a:cs typeface="Times New Roman"/>
              </a:rPr>
              <a:t> &lt;specification1&gt;</a:t>
            </a:r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, &lt;especification2&gt;,…;</a:t>
            </a:r>
            <a:endParaRPr lang="en-US" sz="2800" i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0" y="6334780"/>
            <a:ext cx="6014426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SHOW CREATE TABLE 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&lt;</a:t>
            </a:r>
            <a:r>
              <a:rPr lang="en-US" sz="28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tbl_name</a:t>
            </a:r>
            <a:r>
              <a:rPr lang="en-US" sz="2800" i="1" dirty="0">
                <a:solidFill>
                  <a:schemeClr val="tx1"/>
                </a:solidFill>
                <a:latin typeface="Times New Roman"/>
                <a:cs typeface="Times New Roman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44491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12" grpId="0" animBg="1"/>
      <p:bldP spid="13" grpId="0" animBg="1"/>
      <p:bldP spid="16" grpId="0" animBg="1"/>
    </p:bldLst>
  </p:timing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A8DFF3"/>
      </a:accent1>
      <a:accent2>
        <a:srgbClr val="2C8ED5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6542</TotalTime>
  <Words>1862</Words>
  <Application>Microsoft Macintosh PowerPoint</Application>
  <PresentationFormat>Widescreen</PresentationFormat>
  <Paragraphs>291</Paragraphs>
  <Slides>25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 Unicode MS</vt:lpstr>
      <vt:lpstr>Arial</vt:lpstr>
      <vt:lpstr>Calibri</vt:lpstr>
      <vt:lpstr>Calibri Light</vt:lpstr>
      <vt:lpstr>Lucida Console</vt:lpstr>
      <vt:lpstr>Times New Roman</vt:lpstr>
      <vt:lpstr>Wingdings</vt:lpstr>
      <vt:lpstr>Retrospect</vt:lpstr>
      <vt:lpstr>Document</vt:lpstr>
      <vt:lpstr>SISTEMAS DE  BASES DE DATOS  TICG1001</vt:lpstr>
      <vt:lpstr>PowerPoint Presentation</vt:lpstr>
      <vt:lpstr>¿Qué es un Dato? </vt:lpstr>
      <vt:lpstr>¿Qué es una Base de Datos? </vt:lpstr>
      <vt:lpstr>¿Cuáles son los componentes principales de un DBMS?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DDL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PROGRAMACIÓN</dc:title>
  <dc:creator>paolis</dc:creator>
  <cp:lastModifiedBy>Vanessa Ines Cedeno Mieles</cp:lastModifiedBy>
  <cp:revision>238</cp:revision>
  <dcterms:created xsi:type="dcterms:W3CDTF">2016-04-18T15:18:48Z</dcterms:created>
  <dcterms:modified xsi:type="dcterms:W3CDTF">2019-12-06T17:24:42Z</dcterms:modified>
</cp:coreProperties>
</file>
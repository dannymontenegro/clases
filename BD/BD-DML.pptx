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0"/>
  </p:notesMasterIdLst>
  <p:sldIdLst>
    <p:sldId id="520" r:id="rId2"/>
    <p:sldId id="521" r:id="rId3"/>
    <p:sldId id="311" r:id="rId4"/>
    <p:sldId id="509" r:id="rId5"/>
    <p:sldId id="503" r:id="rId6"/>
    <p:sldId id="450" r:id="rId7"/>
    <p:sldId id="451" r:id="rId8"/>
    <p:sldId id="513" r:id="rId9"/>
    <p:sldId id="514" r:id="rId10"/>
    <p:sldId id="452" r:id="rId11"/>
    <p:sldId id="453" r:id="rId12"/>
    <p:sldId id="455" r:id="rId13"/>
    <p:sldId id="456" r:id="rId14"/>
    <p:sldId id="457" r:id="rId15"/>
    <p:sldId id="458" r:id="rId16"/>
    <p:sldId id="459" r:id="rId17"/>
    <p:sldId id="460" r:id="rId18"/>
    <p:sldId id="46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6" autoAdjust="0"/>
    <p:restoredTop sz="76683" autoAdjust="0"/>
  </p:normalViewPr>
  <p:slideViewPr>
    <p:cSldViewPr snapToGrid="0">
      <p:cViewPr varScale="1">
        <p:scale>
          <a:sx n="84" d="100"/>
          <a:sy n="84" d="100"/>
        </p:scale>
        <p:origin x="192" y="6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4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2" name="Picture 11" descr="fiec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47279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5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Lenguaje de Consultas y 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optimización de consultas </a:t>
            </a:r>
          </a:p>
          <a:p>
            <a:pPr algn="ctr"/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72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Manipulación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algebra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NULLs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‘joins’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Vistas.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Procedimientos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almacenados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0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Clase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4400" dirty="0" err="1"/>
              <a:t>Modificar</a:t>
            </a:r>
            <a:r>
              <a:rPr lang="en-US" sz="4400" dirty="0"/>
              <a:t> </a:t>
            </a:r>
            <a:r>
              <a:rPr lang="en-US" sz="4400" dirty="0" err="1"/>
              <a:t>sentencias</a:t>
            </a:r>
            <a:r>
              <a:rPr lang="en-US" sz="4400" dirty="0"/>
              <a:t> SQL </a:t>
            </a:r>
            <a:r>
              <a:rPr lang="en-US" sz="4400" dirty="0" err="1"/>
              <a:t>basándose</a:t>
            </a:r>
            <a:r>
              <a:rPr lang="en-US" sz="4400" dirty="0"/>
              <a:t> en </a:t>
            </a:r>
            <a:r>
              <a:rPr lang="en-US" sz="4400" dirty="0" err="1"/>
              <a:t>criterios</a:t>
            </a:r>
            <a:r>
              <a:rPr lang="en-US" sz="4400" dirty="0"/>
              <a:t> de </a:t>
            </a:r>
            <a:r>
              <a:rPr lang="en-US" sz="4400" dirty="0" err="1"/>
              <a:t>optimización</a:t>
            </a:r>
            <a:r>
              <a:rPr lang="en-US" sz="4400" dirty="0"/>
              <a:t> </a:t>
            </a:r>
            <a:r>
              <a:rPr lang="en-US" sz="4400" dirty="0" err="1"/>
              <a:t>para</a:t>
            </a:r>
            <a:r>
              <a:rPr lang="en-US" sz="4400" dirty="0"/>
              <a:t> la </a:t>
            </a:r>
            <a:r>
              <a:rPr lang="en-US" sz="4400" dirty="0" err="1"/>
              <a:t>disminución</a:t>
            </a:r>
            <a:r>
              <a:rPr lang="en-US" sz="4400" dirty="0"/>
              <a:t> de </a:t>
            </a:r>
            <a:r>
              <a:rPr lang="en-US" sz="4400" dirty="0" err="1"/>
              <a:t>utilización</a:t>
            </a:r>
            <a:r>
              <a:rPr lang="en-US" sz="4400" dirty="0"/>
              <a:t> de </a:t>
            </a:r>
            <a:r>
              <a:rPr lang="en-US" sz="4400" dirty="0" err="1"/>
              <a:t>recursos</a:t>
            </a:r>
            <a:r>
              <a:rPr lang="en-US" sz="4400" dirty="0"/>
              <a:t> del </a:t>
            </a:r>
            <a:r>
              <a:rPr lang="en-US" sz="4400" dirty="0" err="1"/>
              <a:t>computador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25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Arial"/>
                <a:cs typeface="Arial"/>
              </a:rPr>
              <a:t>RECORDEMOS…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9200" y="1845175"/>
            <a:ext cx="10354288" cy="216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 algn="just">
              <a:buFont typeface="Arial"/>
              <a:buChar char="•"/>
            </a:pPr>
            <a:r>
              <a:rPr lang="en-US" sz="4400" dirty="0" err="1">
                <a:solidFill>
                  <a:schemeClr val="tx1"/>
                </a:solidFill>
              </a:rPr>
              <a:t>Comandos</a:t>
            </a:r>
            <a:r>
              <a:rPr lang="en-US" sz="4400" dirty="0">
                <a:solidFill>
                  <a:schemeClr val="tx1"/>
                </a:solidFill>
              </a:rPr>
              <a:t> DDL</a:t>
            </a:r>
          </a:p>
          <a:p>
            <a:pPr marL="1143000" lvl="1" indent="-685800" algn="just">
              <a:buFont typeface="Arial"/>
              <a:buChar char="•"/>
            </a:pPr>
            <a:r>
              <a:rPr lang="en-US" sz="2800" dirty="0"/>
              <a:t>Create</a:t>
            </a:r>
          </a:p>
          <a:p>
            <a:pPr marL="1143000" lvl="1" indent="-685800" algn="just">
              <a:buFont typeface="Arial"/>
              <a:buChar char="•"/>
            </a:pPr>
            <a:r>
              <a:rPr lang="en-US" sz="2800" dirty="0"/>
              <a:t>Alter</a:t>
            </a:r>
          </a:p>
          <a:p>
            <a:pPr marL="1143000" lvl="1" indent="-685800" algn="just">
              <a:buFont typeface="Arial"/>
              <a:buChar char="•"/>
            </a:pPr>
            <a:r>
              <a:rPr lang="en-US" sz="2800" dirty="0"/>
              <a:t>Drop</a:t>
            </a:r>
          </a:p>
        </p:txBody>
      </p:sp>
    </p:spTree>
    <p:extLst>
      <p:ext uri="{BB962C8B-B14F-4D97-AF65-F5344CB8AC3E}">
        <p14:creationId xmlns:p14="http://schemas.microsoft.com/office/powerpoint/2010/main" val="222884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DML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MANIPULATION LANGUAGE</a:t>
            </a:r>
          </a:p>
        </p:txBody>
      </p:sp>
    </p:spTree>
    <p:extLst>
      <p:ext uri="{BB962C8B-B14F-4D97-AF65-F5344CB8AC3E}">
        <p14:creationId xmlns:p14="http://schemas.microsoft.com/office/powerpoint/2010/main" val="82905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b="1" dirty="0">
                <a:solidFill>
                  <a:srgbClr val="0000FF"/>
                </a:solidFill>
              </a:rPr>
              <a:t>INSERT:</a:t>
            </a:r>
            <a:r>
              <a:rPr lang="en-US" sz="2800" dirty="0"/>
              <a:t> </a:t>
            </a:r>
            <a:r>
              <a:rPr lang="en-US" sz="2800" dirty="0" err="1"/>
              <a:t>Ingresa</a:t>
            </a:r>
            <a:r>
              <a:rPr lang="en-US" sz="2800" dirty="0"/>
              <a:t> </a:t>
            </a:r>
            <a:r>
              <a:rPr lang="en-US" sz="2800" dirty="0" err="1"/>
              <a:t>datos</a:t>
            </a:r>
            <a:r>
              <a:rPr lang="en-US" sz="2800" dirty="0"/>
              <a:t> (</a:t>
            </a:r>
            <a:r>
              <a:rPr lang="en-US" sz="2800" dirty="0" err="1"/>
              <a:t>filas</a:t>
            </a:r>
            <a:r>
              <a:rPr lang="en-US" sz="2800" dirty="0"/>
              <a:t>) a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tablas</a:t>
            </a:r>
            <a:r>
              <a:rPr lang="en-US" sz="2800" dirty="0"/>
              <a:t> de </a:t>
            </a:r>
            <a:r>
              <a:rPr lang="en-US" sz="2800" dirty="0" err="1"/>
              <a:t>una</a:t>
            </a:r>
            <a:r>
              <a:rPr lang="en-US" sz="2800" dirty="0"/>
              <a:t> base de </a:t>
            </a:r>
            <a:r>
              <a:rPr lang="en-US" sz="2800" dirty="0" err="1"/>
              <a:t>datos</a:t>
            </a:r>
            <a:r>
              <a:rPr lang="en-US" sz="28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b="1" dirty="0">
                <a:solidFill>
                  <a:srgbClr val="0000FF"/>
                </a:solidFill>
              </a:rPr>
              <a:t>UPDATE:</a:t>
            </a:r>
            <a:r>
              <a:rPr lang="en-US" sz="2800" dirty="0"/>
              <a:t> </a:t>
            </a:r>
            <a:r>
              <a:rPr lang="en-US" sz="2800" dirty="0" err="1"/>
              <a:t>Modifica</a:t>
            </a:r>
            <a:r>
              <a:rPr lang="en-US" sz="2800" dirty="0"/>
              <a:t> </a:t>
            </a:r>
            <a:r>
              <a:rPr lang="en-US" sz="2800" dirty="0" err="1"/>
              <a:t>datos</a:t>
            </a:r>
            <a:r>
              <a:rPr lang="en-US" sz="2800" dirty="0"/>
              <a:t> de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filas</a:t>
            </a:r>
            <a:r>
              <a:rPr lang="en-US" sz="2800" dirty="0"/>
              <a:t> </a:t>
            </a:r>
            <a:r>
              <a:rPr lang="en-US" sz="2800" dirty="0" err="1"/>
              <a:t>dependiendo</a:t>
            </a:r>
            <a:r>
              <a:rPr lang="en-US" sz="2800" dirty="0"/>
              <a:t> de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condición</a:t>
            </a:r>
            <a:r>
              <a:rPr lang="en-US" sz="28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800" b="1" dirty="0">
                <a:solidFill>
                  <a:srgbClr val="0000FF"/>
                </a:solidFill>
              </a:rPr>
              <a:t>DELETE:</a:t>
            </a:r>
            <a:r>
              <a:rPr lang="en-US" sz="2800" dirty="0"/>
              <a:t> </a:t>
            </a:r>
            <a:r>
              <a:rPr lang="en-US" sz="2800" dirty="0" err="1"/>
              <a:t>Elimina</a:t>
            </a:r>
            <a:r>
              <a:rPr lang="en-US" sz="2800" dirty="0"/>
              <a:t> </a:t>
            </a:r>
            <a:r>
              <a:rPr lang="en-US" sz="2800" dirty="0" err="1"/>
              <a:t>filas</a:t>
            </a:r>
            <a:r>
              <a:rPr lang="en-US" sz="2800" dirty="0"/>
              <a:t> de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</a:t>
            </a:r>
            <a:r>
              <a:rPr lang="en-US" sz="2800" dirty="0" err="1"/>
              <a:t>dependiendo</a:t>
            </a:r>
            <a:r>
              <a:rPr lang="en-US" sz="2800" dirty="0"/>
              <a:t> de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condición</a:t>
            </a:r>
            <a:r>
              <a:rPr lang="en-US" sz="2800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MODIFICACIONES SOBRE DATOS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640372" y="3565693"/>
            <a:ext cx="2513473" cy="25798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4989" t="16114" r="6964" b="12610"/>
          <a:stretch/>
        </p:blipFill>
        <p:spPr>
          <a:xfrm>
            <a:off x="8228320" y="3539232"/>
            <a:ext cx="2454212" cy="25798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6185" t="16114" r="34788" b="12610"/>
          <a:stretch/>
        </p:blipFill>
        <p:spPr>
          <a:xfrm>
            <a:off x="4907886" y="3592152"/>
            <a:ext cx="2539933" cy="257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786" y="2729687"/>
            <a:ext cx="10077820" cy="3594538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El </a:t>
            </a:r>
            <a:r>
              <a:rPr lang="en-US" sz="2400" dirty="0" err="1"/>
              <a:t>número</a:t>
            </a:r>
            <a:r>
              <a:rPr lang="en-US" sz="2400" dirty="0"/>
              <a:t> de </a:t>
            </a:r>
            <a:r>
              <a:rPr lang="en-US" sz="2400" dirty="0" err="1"/>
              <a:t>ítems</a:t>
            </a:r>
            <a:r>
              <a:rPr lang="en-US" sz="2400" dirty="0"/>
              <a:t> </a:t>
            </a: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el </a:t>
            </a:r>
            <a:r>
              <a:rPr lang="en-US" sz="2400" dirty="0" err="1"/>
              <a:t>mismo</a:t>
            </a:r>
            <a:r>
              <a:rPr lang="en-US" sz="2400" dirty="0"/>
              <a:t> de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columnas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 err="1"/>
              <a:t>Correspondencia</a:t>
            </a:r>
            <a:r>
              <a:rPr lang="en-US" sz="2400" dirty="0"/>
              <a:t> </a:t>
            </a:r>
            <a:r>
              <a:rPr lang="en-US" sz="2400" dirty="0" err="1"/>
              <a:t>directa</a:t>
            </a:r>
            <a:r>
              <a:rPr lang="en-US" sz="2400" dirty="0"/>
              <a:t> entre </a:t>
            </a:r>
            <a:r>
              <a:rPr lang="en-US" sz="2400" dirty="0" err="1"/>
              <a:t>nombre_columnas</a:t>
            </a:r>
            <a:r>
              <a:rPr lang="en-US" sz="2400" dirty="0"/>
              <a:t> y </a:t>
            </a:r>
            <a:r>
              <a:rPr lang="en-US" sz="2400" dirty="0" err="1"/>
              <a:t>lista_valores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Compatible en </a:t>
            </a:r>
            <a:r>
              <a:rPr lang="en-US" sz="2400" dirty="0" err="1"/>
              <a:t>tipos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 err="1"/>
              <a:t>Lista_columnas</a:t>
            </a:r>
            <a:r>
              <a:rPr lang="en-US" sz="2400" dirty="0"/>
              <a:t> </a:t>
            </a:r>
            <a:r>
              <a:rPr lang="en-US" sz="2400" dirty="0" err="1"/>
              <a:t>opcional</a:t>
            </a:r>
            <a:r>
              <a:rPr lang="en-US" sz="2400" dirty="0"/>
              <a:t>: </a:t>
            </a:r>
          </a:p>
          <a:p>
            <a:pPr lvl="1">
              <a:buClr>
                <a:srgbClr val="0000FF"/>
              </a:buClr>
              <a:buFont typeface="Arial"/>
              <a:buChar char="•"/>
            </a:pPr>
            <a:r>
              <a:rPr lang="en-US" sz="2000" dirty="0"/>
              <a:t>Si se </a:t>
            </a:r>
            <a:r>
              <a:rPr lang="en-US" sz="2000" dirty="0" err="1"/>
              <a:t>omite</a:t>
            </a:r>
            <a:r>
              <a:rPr lang="en-US" sz="2000" dirty="0"/>
              <a:t> se </a:t>
            </a:r>
            <a:r>
              <a:rPr lang="en-US" sz="2000" dirty="0" err="1"/>
              <a:t>asume</a:t>
            </a:r>
            <a:r>
              <a:rPr lang="en-US" sz="2000" dirty="0"/>
              <a:t> el </a:t>
            </a:r>
            <a:r>
              <a:rPr lang="en-US" sz="2000" dirty="0" err="1"/>
              <a:t>orden</a:t>
            </a:r>
            <a:r>
              <a:rPr lang="en-US" sz="2000" dirty="0"/>
              <a:t> </a:t>
            </a:r>
            <a:r>
              <a:rPr lang="en-US" sz="2000" dirty="0" err="1"/>
              <a:t>usado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crear</a:t>
            </a:r>
            <a:r>
              <a:rPr lang="en-US" sz="2000" dirty="0"/>
              <a:t> la </a:t>
            </a:r>
            <a:r>
              <a:rPr lang="en-US" sz="2000" dirty="0" err="1"/>
              <a:t>tabla</a:t>
            </a:r>
            <a:r>
              <a:rPr lang="en-US" sz="2000" dirty="0"/>
              <a:t>.</a:t>
            </a:r>
          </a:p>
          <a:p>
            <a:pPr lvl="1">
              <a:buClr>
                <a:srgbClr val="0000FF"/>
              </a:buClr>
              <a:buFont typeface="Arial"/>
              <a:buChar char="•"/>
            </a:pPr>
            <a:r>
              <a:rPr lang="en-US" sz="2000" dirty="0"/>
              <a:t>Si se </a:t>
            </a:r>
            <a:r>
              <a:rPr lang="en-US" sz="2000" dirty="0" err="1"/>
              <a:t>especifica</a:t>
            </a:r>
            <a:r>
              <a:rPr lang="en-US" sz="2000" dirty="0"/>
              <a:t> y se </a:t>
            </a:r>
            <a:r>
              <a:rPr lang="en-US" sz="2000" dirty="0" err="1"/>
              <a:t>omiten</a:t>
            </a:r>
            <a:r>
              <a:rPr lang="en-US" sz="2000" dirty="0"/>
              <a:t> </a:t>
            </a:r>
            <a:r>
              <a:rPr lang="en-US" sz="2000" dirty="0" err="1"/>
              <a:t>columnas</a:t>
            </a:r>
            <a:r>
              <a:rPr lang="en-US" sz="2000" dirty="0"/>
              <a:t>, </a:t>
            </a:r>
            <a:r>
              <a:rPr lang="en-US" sz="2000" dirty="0" err="1"/>
              <a:t>las</a:t>
            </a:r>
            <a:r>
              <a:rPr lang="en-US" sz="2000" dirty="0"/>
              <a:t> </a:t>
            </a:r>
            <a:r>
              <a:rPr lang="en-US" sz="2000" dirty="0" err="1"/>
              <a:t>columnas</a:t>
            </a:r>
            <a:r>
              <a:rPr lang="en-US" sz="2000" dirty="0"/>
              <a:t> </a:t>
            </a:r>
            <a:r>
              <a:rPr lang="en-US" sz="2000" dirty="0" err="1"/>
              <a:t>debieron</a:t>
            </a:r>
            <a:r>
              <a:rPr lang="en-US" sz="2000" dirty="0"/>
              <a:t> de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declaradas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NULL o un valor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848" y="1849764"/>
            <a:ext cx="6272549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INSERT INTO 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VALUES		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lista_valores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)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4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786" y="2645813"/>
            <a:ext cx="10077820" cy="3594538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El </a:t>
            </a:r>
            <a:r>
              <a:rPr lang="en-US" sz="2400" dirty="0" err="1"/>
              <a:t>número</a:t>
            </a:r>
            <a:r>
              <a:rPr lang="en-US" sz="2400" dirty="0"/>
              <a:t> de </a:t>
            </a:r>
            <a:r>
              <a:rPr lang="en-US" sz="2400" dirty="0" err="1"/>
              <a:t>ítems</a:t>
            </a:r>
            <a:r>
              <a:rPr lang="en-US" sz="2400" dirty="0"/>
              <a:t> </a:t>
            </a: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el </a:t>
            </a:r>
            <a:r>
              <a:rPr lang="en-US" sz="2400" dirty="0" err="1"/>
              <a:t>mismo</a:t>
            </a:r>
            <a:r>
              <a:rPr lang="en-US" sz="2400" dirty="0"/>
              <a:t> de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columnas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 err="1"/>
              <a:t>Correspondencia</a:t>
            </a:r>
            <a:r>
              <a:rPr lang="en-US" sz="2400" dirty="0"/>
              <a:t> </a:t>
            </a:r>
            <a:r>
              <a:rPr lang="en-US" sz="2400" dirty="0" err="1"/>
              <a:t>directa</a:t>
            </a:r>
            <a:r>
              <a:rPr lang="en-US" sz="2400" dirty="0"/>
              <a:t> entre </a:t>
            </a:r>
            <a:r>
              <a:rPr lang="en-US" sz="2400" dirty="0" err="1"/>
              <a:t>nombre_columnas</a:t>
            </a:r>
            <a:r>
              <a:rPr lang="en-US" sz="2400" dirty="0"/>
              <a:t> y </a:t>
            </a:r>
            <a:r>
              <a:rPr lang="en-US" sz="2400" dirty="0" err="1"/>
              <a:t>lista_valores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Compatible en </a:t>
            </a:r>
            <a:r>
              <a:rPr lang="en-US" sz="2400" dirty="0" err="1"/>
              <a:t>tipos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848" y="1849764"/>
            <a:ext cx="6272549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INSERT INTO 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VALUES		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lista_valores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)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68917" y="4143410"/>
            <a:ext cx="6883625" cy="17543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CREATE TABLE </a:t>
            </a:r>
            <a:r>
              <a:rPr lang="en-US" dirty="0" err="1">
                <a:latin typeface="Consolas"/>
                <a:cs typeface="Consolas"/>
              </a:rPr>
              <a:t>cliente</a:t>
            </a:r>
            <a:r>
              <a:rPr lang="en-US" dirty="0">
                <a:latin typeface="Consolas"/>
                <a:cs typeface="Consolas"/>
              </a:rPr>
              <a:t> (</a:t>
            </a:r>
          </a:p>
          <a:p>
            <a:r>
              <a:rPr lang="en-US" dirty="0">
                <a:latin typeface="Consolas"/>
                <a:cs typeface="Consolas"/>
              </a:rPr>
              <a:t>  cedula varchar(10) NOT NULL,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 varchar(45) NOT NULL DEFAULT 'CONS FINAL',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apellido</a:t>
            </a:r>
            <a:r>
              <a:rPr lang="en-US" dirty="0">
                <a:latin typeface="Consolas"/>
                <a:cs typeface="Consolas"/>
              </a:rPr>
              <a:t> varchar(45) NULL,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edad</a:t>
            </a:r>
            <a:r>
              <a:rPr lang="en-US" dirty="0">
                <a:latin typeface="Consolas"/>
                <a:cs typeface="Consolas"/>
              </a:rPr>
              <a:t> integer NULL,</a:t>
            </a:r>
          </a:p>
          <a:p>
            <a:r>
              <a:rPr lang="en-US" dirty="0">
                <a:latin typeface="Consolas"/>
                <a:cs typeface="Consolas"/>
              </a:rPr>
              <a:t>  PRIMARY KEY (cedula));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026" y="5961261"/>
            <a:ext cx="9141379" cy="3693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INSERT INTO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cliente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(cedula,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nombre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) VALUES ('0912345678', 'Ana');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320813" y="3976695"/>
            <a:ext cx="1747880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sz="1600" dirty="0">
                <a:solidFill>
                  <a:srgbClr val="000000"/>
                </a:solidFill>
              </a:rPr>
              <a:t>Las </a:t>
            </a:r>
            <a:r>
              <a:rPr lang="en-US" sz="1600" dirty="0" err="1">
                <a:solidFill>
                  <a:srgbClr val="000000"/>
                </a:solidFill>
              </a:rPr>
              <a:t>columnas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debieron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ser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declaradas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como</a:t>
            </a:r>
            <a:r>
              <a:rPr lang="en-US" sz="1600" dirty="0">
                <a:solidFill>
                  <a:srgbClr val="000000"/>
                </a:solidFill>
              </a:rPr>
              <a:t> NULL o con un valor DEFAULT.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9137065" y="4845293"/>
            <a:ext cx="1034666" cy="91149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73805" y="4936442"/>
            <a:ext cx="3833869" cy="347468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355435" y="4972387"/>
            <a:ext cx="4840258" cy="527193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7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8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786" y="2729687"/>
            <a:ext cx="10077820" cy="3594538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 err="1"/>
              <a:t>Lista_columnas</a:t>
            </a:r>
            <a:r>
              <a:rPr lang="en-US" sz="2400" dirty="0"/>
              <a:t> </a:t>
            </a:r>
            <a:r>
              <a:rPr lang="en-US" sz="2400" dirty="0" err="1"/>
              <a:t>opcional</a:t>
            </a:r>
            <a:r>
              <a:rPr lang="en-US" sz="2400" dirty="0"/>
              <a:t>: </a:t>
            </a:r>
          </a:p>
          <a:p>
            <a:pPr lvl="1">
              <a:buClr>
                <a:srgbClr val="0000FF"/>
              </a:buClr>
              <a:buFont typeface="Arial"/>
              <a:buChar char="•"/>
            </a:pPr>
            <a:r>
              <a:rPr lang="en-US" sz="2000" dirty="0"/>
              <a:t>Si se </a:t>
            </a:r>
            <a:r>
              <a:rPr lang="en-US" sz="2000" dirty="0" err="1"/>
              <a:t>omite</a:t>
            </a:r>
            <a:r>
              <a:rPr lang="en-US" sz="2000" dirty="0"/>
              <a:t> se </a:t>
            </a:r>
            <a:r>
              <a:rPr lang="en-US" sz="2000" dirty="0" err="1"/>
              <a:t>asume</a:t>
            </a:r>
            <a:r>
              <a:rPr lang="en-US" sz="2000" dirty="0"/>
              <a:t> el </a:t>
            </a:r>
            <a:r>
              <a:rPr lang="en-US" sz="2000" dirty="0" err="1"/>
              <a:t>orden</a:t>
            </a:r>
            <a:r>
              <a:rPr lang="en-US" sz="2000" dirty="0"/>
              <a:t> </a:t>
            </a:r>
            <a:r>
              <a:rPr lang="en-US" sz="2000" dirty="0" err="1"/>
              <a:t>usado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crear</a:t>
            </a:r>
            <a:r>
              <a:rPr lang="en-US" sz="2000" dirty="0"/>
              <a:t> la </a:t>
            </a:r>
            <a:r>
              <a:rPr lang="en-US" sz="2000" dirty="0" err="1"/>
              <a:t>tabla</a:t>
            </a:r>
            <a:r>
              <a:rPr lang="en-US" sz="20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848" y="1849764"/>
            <a:ext cx="6272549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INSERT INTO 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VALUES		(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lista_valores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)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68917" y="3640180"/>
            <a:ext cx="6883625" cy="17543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CREATE TABLE </a:t>
            </a:r>
            <a:r>
              <a:rPr lang="en-US" dirty="0" err="1">
                <a:latin typeface="Consolas"/>
                <a:cs typeface="Consolas"/>
              </a:rPr>
              <a:t>cliente</a:t>
            </a:r>
            <a:r>
              <a:rPr lang="en-US" dirty="0">
                <a:latin typeface="Consolas"/>
                <a:cs typeface="Consolas"/>
              </a:rPr>
              <a:t> (</a:t>
            </a:r>
          </a:p>
          <a:p>
            <a:r>
              <a:rPr lang="en-US" dirty="0">
                <a:latin typeface="Consolas"/>
                <a:cs typeface="Consolas"/>
              </a:rPr>
              <a:t>  cedula varchar(10) NOT NULL,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nombre</a:t>
            </a:r>
            <a:r>
              <a:rPr lang="en-US" dirty="0">
                <a:latin typeface="Consolas"/>
                <a:cs typeface="Consolas"/>
              </a:rPr>
              <a:t> varchar(45) NOT NULL DEFAULT 'CONS FINAL',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apellido</a:t>
            </a:r>
            <a:r>
              <a:rPr lang="en-US" dirty="0">
                <a:latin typeface="Consolas"/>
                <a:cs typeface="Consolas"/>
              </a:rPr>
              <a:t> varchar(45) NULL,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edad</a:t>
            </a:r>
            <a:r>
              <a:rPr lang="en-US" dirty="0">
                <a:latin typeface="Consolas"/>
                <a:cs typeface="Consolas"/>
              </a:rPr>
              <a:t> integer NULL,</a:t>
            </a:r>
          </a:p>
          <a:p>
            <a:r>
              <a:rPr lang="en-US" dirty="0">
                <a:latin typeface="Consolas"/>
                <a:cs typeface="Consolas"/>
              </a:rPr>
              <a:t>  PRIMARY KEY (cedula));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026" y="5505958"/>
            <a:ext cx="914137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INSERT INTO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cliente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VALUES ('0912345678', 'Ana', 'Salas', 23);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2656" y="5969881"/>
            <a:ext cx="914137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INSERT INTO 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cliente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 VALUES ('0912345678', '</a:t>
            </a:r>
            <a:r>
              <a:rPr lang="en-US" dirty="0" err="1">
                <a:solidFill>
                  <a:schemeClr val="tx1"/>
                </a:solidFill>
                <a:latin typeface="Consolas"/>
                <a:cs typeface="Consolas"/>
              </a:rPr>
              <a:t>Ana’,NULL,NULL</a:t>
            </a:r>
            <a:r>
              <a:rPr lang="en-US" dirty="0">
                <a:solidFill>
                  <a:schemeClr val="tx1"/>
                </a:solidFill>
                <a:latin typeface="Consolas"/>
                <a:cs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7886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77999" y="1738334"/>
            <a:ext cx="854228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/>
                <a:cs typeface="Consolas"/>
              </a:rPr>
              <a:t>CREATE TABLE </a:t>
            </a:r>
            <a:r>
              <a:rPr lang="en-US" sz="2000" dirty="0" err="1">
                <a:latin typeface="Consolas"/>
                <a:cs typeface="Consolas"/>
              </a:rPr>
              <a:t>Tarjeta</a:t>
            </a:r>
            <a:r>
              <a:rPr lang="en-US" sz="2000" dirty="0">
                <a:latin typeface="Consolas"/>
                <a:cs typeface="Consolas"/>
              </a:rPr>
              <a:t> (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idTarjeta</a:t>
            </a:r>
            <a:r>
              <a:rPr lang="en-US" sz="2000" dirty="0">
                <a:latin typeface="Consolas"/>
                <a:cs typeface="Consolas"/>
              </a:rPr>
              <a:t> integer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nombre_tarjeta</a:t>
            </a:r>
            <a:r>
              <a:rPr lang="en-US" sz="2000" dirty="0">
                <a:latin typeface="Consolas"/>
                <a:cs typeface="Consolas"/>
              </a:rPr>
              <a:t> varchar(45)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numero_tarjeta</a:t>
            </a:r>
            <a:r>
              <a:rPr lang="en-US" sz="2000" dirty="0">
                <a:latin typeface="Consolas"/>
                <a:cs typeface="Consolas"/>
              </a:rPr>
              <a:t> varchar(45)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banco_emisor</a:t>
            </a:r>
            <a:r>
              <a:rPr lang="en-US" sz="2000" dirty="0">
                <a:latin typeface="Consolas"/>
                <a:cs typeface="Consolas"/>
              </a:rPr>
              <a:t> varchar(45) NOT NULL DEFAULT 'ABC',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fecha_expiracion</a:t>
            </a:r>
            <a:r>
              <a:rPr lang="en-US" sz="2000" dirty="0">
                <a:latin typeface="Consolas"/>
                <a:cs typeface="Consolas"/>
              </a:rPr>
              <a:t> date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debito</a:t>
            </a:r>
            <a:r>
              <a:rPr lang="en-US" sz="2000" dirty="0">
                <a:latin typeface="Consolas"/>
                <a:cs typeface="Consolas"/>
              </a:rPr>
              <a:t> integer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credito</a:t>
            </a:r>
            <a:r>
              <a:rPr lang="en-US" sz="2000" dirty="0">
                <a:latin typeface="Consolas"/>
                <a:cs typeface="Consolas"/>
              </a:rPr>
              <a:t> integer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tipo</a:t>
            </a:r>
            <a:r>
              <a:rPr lang="en-US" sz="2000" dirty="0">
                <a:latin typeface="Consolas"/>
                <a:cs typeface="Consolas"/>
              </a:rPr>
              <a:t> varchar(45)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PRIMARY KEY (</a:t>
            </a:r>
            <a:r>
              <a:rPr lang="en-US" sz="2000" dirty="0" err="1">
                <a:latin typeface="Consolas"/>
                <a:cs typeface="Consolas"/>
              </a:rPr>
              <a:t>idTarjeta</a:t>
            </a:r>
            <a:r>
              <a:rPr lang="en-US" sz="2000" dirty="0">
                <a:latin typeface="Consolas"/>
                <a:cs typeface="Consolas"/>
              </a:rPr>
              <a:t>)</a:t>
            </a:r>
          </a:p>
          <a:p>
            <a:r>
              <a:rPr lang="en-US" sz="2000" dirty="0">
                <a:latin typeface="Consolas"/>
                <a:cs typeface="Consolas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563" y="5244466"/>
            <a:ext cx="96317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INSERT INTO </a:t>
            </a:r>
            <a:r>
              <a:rPr lang="en-US" dirty="0" err="1">
                <a:latin typeface="Consolas"/>
                <a:cs typeface="Consolas"/>
              </a:rPr>
              <a:t>Tarjeta</a:t>
            </a:r>
            <a:r>
              <a:rPr lang="en-US" dirty="0">
                <a:latin typeface="Consolas"/>
                <a:cs typeface="Consolas"/>
              </a:rPr>
              <a:t> VALUES (2, 'Carlos S','00112233445567','2019-07-01');</a:t>
            </a:r>
          </a:p>
        </p:txBody>
      </p:sp>
      <p:sp>
        <p:nvSpPr>
          <p:cNvPr id="7" name="Multiply 6"/>
          <p:cNvSpPr/>
          <p:nvPr/>
        </p:nvSpPr>
        <p:spPr>
          <a:xfrm>
            <a:off x="10200173" y="5052388"/>
            <a:ext cx="1351160" cy="62145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0564" y="5662349"/>
            <a:ext cx="1017414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INSERT INTO </a:t>
            </a:r>
            <a:r>
              <a:rPr lang="en-US" dirty="0" err="1">
                <a:latin typeface="Consolas"/>
                <a:cs typeface="Consolas"/>
              </a:rPr>
              <a:t>Tarjeta</a:t>
            </a:r>
            <a:r>
              <a:rPr lang="en-US" dirty="0">
                <a:latin typeface="Consolas"/>
                <a:cs typeface="Consolas"/>
              </a:rPr>
              <a:t> (</a:t>
            </a:r>
            <a:r>
              <a:rPr lang="en-US" dirty="0" err="1">
                <a:latin typeface="Consolas"/>
                <a:cs typeface="Consolas"/>
              </a:rPr>
              <a:t>idTarjeta,nombre_tarjeta,numero_tarjeta,fecha_expiracion</a:t>
            </a:r>
            <a:r>
              <a:rPr lang="en-US" dirty="0">
                <a:latin typeface="Consolas"/>
                <a:cs typeface="Consolas"/>
              </a:rPr>
              <a:t>) VALUES (2,'Carlos S','00112233445567', '2019-07-01',NULL,NULL,NULL);</a:t>
            </a:r>
          </a:p>
        </p:txBody>
      </p:sp>
      <p:sp>
        <p:nvSpPr>
          <p:cNvPr id="9" name="Multiply 8"/>
          <p:cNvSpPr/>
          <p:nvPr/>
        </p:nvSpPr>
        <p:spPr>
          <a:xfrm>
            <a:off x="10614206" y="5601673"/>
            <a:ext cx="1855599" cy="79708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8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09160" y="1711872"/>
            <a:ext cx="854228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/>
                <a:cs typeface="Consolas"/>
              </a:rPr>
              <a:t>CREATE TABLE `</a:t>
            </a:r>
            <a:r>
              <a:rPr lang="en-US" sz="2000" dirty="0" err="1">
                <a:latin typeface="Consolas"/>
                <a:cs typeface="Consolas"/>
              </a:rPr>
              <a:t>Tarjeta</a:t>
            </a:r>
            <a:r>
              <a:rPr lang="en-US" sz="2000" dirty="0">
                <a:latin typeface="Consolas"/>
                <a:cs typeface="Consolas"/>
              </a:rPr>
              <a:t>` (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idTarjeta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int</a:t>
            </a:r>
            <a:r>
              <a:rPr lang="en-US" sz="2000" dirty="0">
                <a:latin typeface="Consolas"/>
                <a:cs typeface="Consolas"/>
              </a:rPr>
              <a:t>(11) NOT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nombre_tarjeta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varchar</a:t>
            </a:r>
            <a:r>
              <a:rPr lang="en-US" sz="2000" dirty="0">
                <a:latin typeface="Consolas"/>
                <a:cs typeface="Consolas"/>
              </a:rPr>
              <a:t>(45) NOT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numero_tarjeta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varchar</a:t>
            </a:r>
            <a:r>
              <a:rPr lang="en-US" sz="2000" dirty="0">
                <a:latin typeface="Consolas"/>
                <a:cs typeface="Consolas"/>
              </a:rPr>
              <a:t>(45) NOT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banco_emisor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varchar</a:t>
            </a:r>
            <a:r>
              <a:rPr lang="en-US" sz="2000" dirty="0">
                <a:latin typeface="Consolas"/>
                <a:cs typeface="Consolas"/>
              </a:rPr>
              <a:t>(45) NOT NULL DEFAULT 'ABC',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fecha_expiracion</a:t>
            </a:r>
            <a:r>
              <a:rPr lang="en-US" sz="2000" dirty="0">
                <a:latin typeface="Consolas"/>
                <a:cs typeface="Consolas"/>
              </a:rPr>
              <a:t>` date NOT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debito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tinyint</a:t>
            </a:r>
            <a:r>
              <a:rPr lang="en-US" sz="2000" dirty="0">
                <a:latin typeface="Consolas"/>
                <a:cs typeface="Consolas"/>
              </a:rPr>
              <a:t>(1)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credito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tinyint</a:t>
            </a:r>
            <a:r>
              <a:rPr lang="en-US" sz="2000" dirty="0">
                <a:latin typeface="Consolas"/>
                <a:cs typeface="Consolas"/>
              </a:rPr>
              <a:t>(1)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`</a:t>
            </a:r>
            <a:r>
              <a:rPr lang="en-US" sz="2000" dirty="0" err="1">
                <a:latin typeface="Consolas"/>
                <a:cs typeface="Consolas"/>
              </a:rPr>
              <a:t>tipo</a:t>
            </a:r>
            <a:r>
              <a:rPr lang="en-US" sz="2000" dirty="0">
                <a:latin typeface="Consolas"/>
                <a:cs typeface="Consolas"/>
              </a:rPr>
              <a:t>` </a:t>
            </a:r>
            <a:r>
              <a:rPr lang="en-US" sz="2000" dirty="0" err="1">
                <a:latin typeface="Consolas"/>
                <a:cs typeface="Consolas"/>
              </a:rPr>
              <a:t>varchar</a:t>
            </a:r>
            <a:r>
              <a:rPr lang="en-US" sz="2000" dirty="0">
                <a:latin typeface="Consolas"/>
                <a:cs typeface="Consolas"/>
              </a:rPr>
              <a:t>(45) DEFAULT NULL,</a:t>
            </a:r>
          </a:p>
          <a:p>
            <a:r>
              <a:rPr lang="en-US" sz="2000" dirty="0">
                <a:latin typeface="Consolas"/>
                <a:cs typeface="Consolas"/>
              </a:rPr>
              <a:t>  PRIMARY KEY (`</a:t>
            </a:r>
            <a:r>
              <a:rPr lang="en-US" sz="2000" dirty="0" err="1">
                <a:latin typeface="Consolas"/>
                <a:cs typeface="Consolas"/>
              </a:rPr>
              <a:t>idTarjeta</a:t>
            </a:r>
            <a:r>
              <a:rPr lang="en-US" sz="2000" dirty="0">
                <a:latin typeface="Consolas"/>
                <a:cs typeface="Consolas"/>
              </a:rPr>
              <a:t>`)</a:t>
            </a:r>
          </a:p>
          <a:p>
            <a:r>
              <a:rPr lang="en-US" sz="2000" dirty="0">
                <a:latin typeface="Consolas"/>
                <a:cs typeface="Consolas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0590" y="5151854"/>
            <a:ext cx="9137254" cy="5847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/>
                <a:cs typeface="Consolas"/>
              </a:rPr>
              <a:t>INSERT INTO </a:t>
            </a:r>
            <a:r>
              <a:rPr lang="en-US" sz="1600" dirty="0" err="1">
                <a:latin typeface="Consolas"/>
                <a:cs typeface="Consolas"/>
              </a:rPr>
              <a:t>Tarjeta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>
                <a:latin typeface="Consolas"/>
                <a:cs typeface="Consolas"/>
              </a:rPr>
              <a:t>VALUES (3,'Carlos S','PACIFICO','00112233445567','2019-07-01',NULL,NULL,NULL);</a:t>
            </a:r>
          </a:p>
        </p:txBody>
      </p:sp>
      <p:sp>
        <p:nvSpPr>
          <p:cNvPr id="3" name="Freeform 2"/>
          <p:cNvSpPr/>
          <p:nvPr/>
        </p:nvSpPr>
        <p:spPr>
          <a:xfrm rot="788789">
            <a:off x="10550021" y="4873013"/>
            <a:ext cx="720621" cy="729539"/>
          </a:xfrm>
          <a:custGeom>
            <a:avLst/>
            <a:gdLst>
              <a:gd name="connsiteX0" fmla="*/ 0 w 540466"/>
              <a:gd name="connsiteY0" fmla="*/ 486359 h 729539"/>
              <a:gd name="connsiteX1" fmla="*/ 202675 w 540466"/>
              <a:gd name="connsiteY1" fmla="*/ 729539 h 729539"/>
              <a:gd name="connsiteX2" fmla="*/ 540466 w 540466"/>
              <a:gd name="connsiteY2" fmla="*/ 0 h 729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466" h="729539">
                <a:moveTo>
                  <a:pt x="0" y="486359"/>
                </a:moveTo>
                <a:lnTo>
                  <a:pt x="202675" y="729539"/>
                </a:lnTo>
                <a:lnTo>
                  <a:pt x="540466" y="0"/>
                </a:lnTo>
              </a:path>
            </a:pathLst>
          </a:custGeom>
          <a:ln w="76200" cmpd="sng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8839" y="5788589"/>
            <a:ext cx="9522624" cy="5847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/>
                <a:cs typeface="Consolas"/>
              </a:rPr>
              <a:t>INSERT INTO </a:t>
            </a:r>
            <a:r>
              <a:rPr lang="en-US" sz="1600" dirty="0" err="1">
                <a:latin typeface="Consolas"/>
                <a:cs typeface="Consolas"/>
              </a:rPr>
              <a:t>Tarjeta</a:t>
            </a:r>
            <a:r>
              <a:rPr lang="en-US" sz="1600" dirty="0">
                <a:latin typeface="Consolas"/>
                <a:cs typeface="Consolas"/>
              </a:rPr>
              <a:t> (</a:t>
            </a:r>
            <a:r>
              <a:rPr lang="en-US" sz="1600" dirty="0" err="1">
                <a:latin typeface="Consolas"/>
                <a:cs typeface="Consolas"/>
              </a:rPr>
              <a:t>idTarjeta,nombre_tarjeta,numero_tarjeta,fecha_expiracion</a:t>
            </a:r>
            <a:r>
              <a:rPr lang="en-US" sz="1600" dirty="0">
                <a:latin typeface="Consolas"/>
                <a:cs typeface="Consolas"/>
              </a:rPr>
              <a:t>) </a:t>
            </a:r>
          </a:p>
          <a:p>
            <a:r>
              <a:rPr lang="en-US" sz="1600" dirty="0">
                <a:latin typeface="Consolas"/>
                <a:cs typeface="Consolas"/>
              </a:rPr>
              <a:t>VALUES (2,'Carlos S','00112233445567','2019-07-01');</a:t>
            </a:r>
          </a:p>
        </p:txBody>
      </p:sp>
      <p:sp>
        <p:nvSpPr>
          <p:cNvPr id="9" name="Freeform 8"/>
          <p:cNvSpPr/>
          <p:nvPr/>
        </p:nvSpPr>
        <p:spPr>
          <a:xfrm rot="788789">
            <a:off x="11017234" y="5553321"/>
            <a:ext cx="720621" cy="729539"/>
          </a:xfrm>
          <a:custGeom>
            <a:avLst/>
            <a:gdLst>
              <a:gd name="connsiteX0" fmla="*/ 0 w 540466"/>
              <a:gd name="connsiteY0" fmla="*/ 486359 h 729539"/>
              <a:gd name="connsiteX1" fmla="*/ 202675 w 540466"/>
              <a:gd name="connsiteY1" fmla="*/ 729539 h 729539"/>
              <a:gd name="connsiteX2" fmla="*/ 540466 w 540466"/>
              <a:gd name="connsiteY2" fmla="*/ 0 h 729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466" h="729539">
                <a:moveTo>
                  <a:pt x="0" y="486359"/>
                </a:moveTo>
                <a:lnTo>
                  <a:pt x="202675" y="729539"/>
                </a:lnTo>
                <a:lnTo>
                  <a:pt x="540466" y="0"/>
                </a:lnTo>
              </a:path>
            </a:pathLst>
          </a:custGeom>
          <a:ln w="76200" cmpd="sng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9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906" y="2805717"/>
            <a:ext cx="9974521" cy="2897326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 err="1"/>
              <a:t>lista_columna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definida</a:t>
            </a:r>
            <a:r>
              <a:rPr lang="en-US" sz="2400" dirty="0"/>
              <a:t> de </a:t>
            </a:r>
            <a:r>
              <a:rPr lang="en-US" sz="2400" dirty="0" err="1"/>
              <a:t>igual</a:t>
            </a:r>
            <a:r>
              <a:rPr lang="en-US" sz="2400" dirty="0"/>
              <a:t> </a:t>
            </a:r>
            <a:r>
              <a:rPr lang="en-US" sz="2400" dirty="0" err="1"/>
              <a:t>manera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SELECT </a:t>
            </a:r>
            <a:r>
              <a:rPr lang="en-US" sz="2400" dirty="0" err="1"/>
              <a:t>corresponde</a:t>
            </a:r>
            <a:r>
              <a:rPr lang="en-US" sz="2400" dirty="0"/>
              <a:t> a </a:t>
            </a:r>
            <a:r>
              <a:rPr lang="en-US" sz="2400" dirty="0" err="1"/>
              <a:t>cualquier</a:t>
            </a:r>
            <a:r>
              <a:rPr lang="en-US" sz="2400" dirty="0"/>
              <a:t> select </a:t>
            </a:r>
            <a:r>
              <a:rPr lang="en-US" sz="2400" dirty="0" err="1"/>
              <a:t>válido</a:t>
            </a:r>
            <a:r>
              <a:rPr lang="en-US" sz="2400" dirty="0"/>
              <a:t>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n-US" sz="2400" dirty="0"/>
              <a:t>El </a:t>
            </a:r>
            <a:r>
              <a:rPr lang="en-US" sz="2400" dirty="0" err="1"/>
              <a:t>resultado</a:t>
            </a:r>
            <a:r>
              <a:rPr lang="en-US" sz="2400" dirty="0"/>
              <a:t> del SELECT </a:t>
            </a:r>
            <a:r>
              <a:rPr lang="en-US" sz="2400" dirty="0" err="1"/>
              <a:t>debe</a:t>
            </a:r>
            <a:r>
              <a:rPr lang="en-US" sz="2400" dirty="0"/>
              <a:t> de </a:t>
            </a:r>
            <a:r>
              <a:rPr lang="en-US" sz="2400" dirty="0" err="1"/>
              <a:t>ser</a:t>
            </a:r>
            <a:r>
              <a:rPr lang="en-US" sz="2400" dirty="0"/>
              <a:t> compatible con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columnas</a:t>
            </a:r>
            <a:r>
              <a:rPr lang="en-US" sz="2400" dirty="0"/>
              <a:t> de la </a:t>
            </a:r>
            <a:r>
              <a:rPr lang="en-US" sz="2400" dirty="0" err="1"/>
              <a:t>tabla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3448" y="2045944"/>
            <a:ext cx="583599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INSERT INTO 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[(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lista_columnas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)]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&lt;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&gt; FROM &lt;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INSERT 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SELECT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165" t="16114" r="64111" b="12610"/>
          <a:stretch/>
        </p:blipFill>
        <p:spPr>
          <a:xfrm>
            <a:off x="10463988" y="211677"/>
            <a:ext cx="1415481" cy="1452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5765" y="4713240"/>
            <a:ext cx="6186235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/>
                <a:cs typeface="Consolas"/>
              </a:rPr>
              <a:t>INSERT INTO </a:t>
            </a:r>
            <a:r>
              <a:rPr lang="en-US" sz="1600" dirty="0" err="1">
                <a:latin typeface="Consolas"/>
                <a:cs typeface="Consolas"/>
              </a:rPr>
              <a:t>Temp_Tarjeta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>
                <a:latin typeface="Consolas"/>
                <a:cs typeface="Consolas"/>
              </a:rPr>
              <a:t>    SELECT </a:t>
            </a:r>
            <a:r>
              <a:rPr lang="en-US" sz="1600" dirty="0" err="1">
                <a:latin typeface="Consolas"/>
                <a:cs typeface="Consolas"/>
              </a:rPr>
              <a:t>idTarjeta</a:t>
            </a:r>
            <a:r>
              <a:rPr lang="en-US" sz="1600" dirty="0">
                <a:latin typeface="Consolas"/>
                <a:cs typeface="Consolas"/>
              </a:rPr>
              <a:t>, </a:t>
            </a:r>
            <a:r>
              <a:rPr lang="en-US" sz="1600" dirty="0" err="1">
                <a:latin typeface="Consolas"/>
                <a:cs typeface="Consolas"/>
              </a:rPr>
              <a:t>nombre_tarjeta</a:t>
            </a:r>
            <a:r>
              <a:rPr lang="en-US" sz="1600" dirty="0">
                <a:latin typeface="Consolas"/>
                <a:cs typeface="Consolas"/>
              </a:rPr>
              <a:t>, </a:t>
            </a:r>
            <a:r>
              <a:rPr lang="en-US" sz="1600" dirty="0" err="1">
                <a:latin typeface="Consolas"/>
                <a:cs typeface="Consolas"/>
              </a:rPr>
              <a:t>numero_tarjeta</a:t>
            </a:r>
            <a:r>
              <a:rPr lang="en-US" sz="1600" dirty="0">
                <a:latin typeface="Consolas"/>
                <a:cs typeface="Consolas"/>
              </a:rPr>
              <a:t> </a:t>
            </a:r>
          </a:p>
          <a:p>
            <a:r>
              <a:rPr lang="en-US" sz="1600" dirty="0">
                <a:latin typeface="Consolas"/>
                <a:cs typeface="Consolas"/>
              </a:rPr>
              <a:t>    FROM </a:t>
            </a:r>
            <a:r>
              <a:rPr lang="en-US" sz="1600" dirty="0" err="1">
                <a:latin typeface="Consolas"/>
                <a:cs typeface="Consolas"/>
              </a:rPr>
              <a:t>Tarjeta</a:t>
            </a:r>
            <a:r>
              <a:rPr lang="en-US" sz="1600" dirty="0">
                <a:latin typeface="Consolas"/>
                <a:cs typeface="Consolas"/>
              </a:rPr>
              <a:t> </a:t>
            </a:r>
          </a:p>
          <a:p>
            <a:r>
              <a:rPr lang="en-US" sz="1600" dirty="0">
                <a:latin typeface="Consolas"/>
                <a:cs typeface="Consolas"/>
              </a:rPr>
              <a:t>    WHERE </a:t>
            </a:r>
            <a:r>
              <a:rPr lang="en-US" sz="1600" dirty="0" err="1">
                <a:latin typeface="Consolas"/>
                <a:cs typeface="Consolas"/>
              </a:rPr>
              <a:t>nombre_tarjeta</a:t>
            </a:r>
            <a:r>
              <a:rPr lang="en-US" sz="1600" dirty="0">
                <a:latin typeface="Consolas"/>
                <a:cs typeface="Consolas"/>
              </a:rPr>
              <a:t> = 'Carlos S';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890" y="4390931"/>
            <a:ext cx="51771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/>
                <a:cs typeface="Consolas"/>
              </a:rPr>
              <a:t>CREATE TABLE </a:t>
            </a:r>
            <a:r>
              <a:rPr lang="en-US" sz="2000" dirty="0" err="1">
                <a:latin typeface="Consolas"/>
                <a:cs typeface="Consolas"/>
              </a:rPr>
              <a:t>Temp_Tarjeta</a:t>
            </a:r>
            <a:r>
              <a:rPr lang="en-US" sz="2000" dirty="0">
                <a:latin typeface="Consolas"/>
                <a:cs typeface="Consolas"/>
              </a:rPr>
              <a:t>(</a:t>
            </a:r>
          </a:p>
          <a:p>
            <a:r>
              <a:rPr lang="en-US" sz="2000" dirty="0">
                <a:latin typeface="Consolas"/>
                <a:cs typeface="Consolas"/>
              </a:rPr>
              <a:t>  id integer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nombre_t</a:t>
            </a:r>
            <a:r>
              <a:rPr lang="en-US" sz="2000" dirty="0">
                <a:latin typeface="Consolas"/>
                <a:cs typeface="Consolas"/>
              </a:rPr>
              <a:t> varchar(45) NOT NULL,</a:t>
            </a:r>
          </a:p>
          <a:p>
            <a:r>
              <a:rPr lang="en-US" sz="2000" dirty="0">
                <a:latin typeface="Consolas"/>
                <a:cs typeface="Consolas"/>
              </a:rPr>
              <a:t>  </a:t>
            </a:r>
            <a:r>
              <a:rPr lang="en-US" sz="2000" dirty="0" err="1">
                <a:latin typeface="Consolas"/>
                <a:cs typeface="Consolas"/>
              </a:rPr>
              <a:t>numero_t</a:t>
            </a:r>
            <a:r>
              <a:rPr lang="en-US" sz="2000" dirty="0">
                <a:latin typeface="Consolas"/>
                <a:cs typeface="Consolas"/>
              </a:rPr>
              <a:t> varchar(45) NOT NULL,</a:t>
            </a:r>
          </a:p>
          <a:p>
            <a:r>
              <a:rPr lang="en-US" sz="2000" dirty="0">
                <a:latin typeface="Consolas"/>
                <a:cs typeface="Consolas"/>
              </a:rPr>
              <a:t>PRIMARY KEY (id)</a:t>
            </a:r>
          </a:p>
          <a:p>
            <a:r>
              <a:rPr lang="en-US" sz="2000" dirty="0">
                <a:latin typeface="Consolas"/>
                <a:cs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378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3122234"/>
            <a:ext cx="10014919" cy="27733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Nuevos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deben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compatibles (TD).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opcional</a:t>
            </a:r>
            <a:r>
              <a:rPr lang="en-US" sz="2400" dirty="0"/>
              <a:t>: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dirty="0"/>
              <a:t>Si se </a:t>
            </a:r>
            <a:r>
              <a:rPr lang="en-US" sz="2000" dirty="0" err="1"/>
              <a:t>omite</a:t>
            </a:r>
            <a:r>
              <a:rPr lang="en-US" sz="2000" dirty="0"/>
              <a:t>: Se </a:t>
            </a:r>
            <a:r>
              <a:rPr lang="en-US" sz="2000" dirty="0" err="1"/>
              <a:t>modifican</a:t>
            </a:r>
            <a:r>
              <a:rPr lang="en-US" sz="2000" dirty="0"/>
              <a:t> TODAS </a:t>
            </a:r>
            <a:r>
              <a:rPr lang="en-US" sz="2000" dirty="0" err="1"/>
              <a:t>las</a:t>
            </a:r>
            <a:r>
              <a:rPr lang="en-US" sz="2000" dirty="0"/>
              <a:t> </a:t>
            </a:r>
            <a:r>
              <a:rPr lang="en-US" sz="2000" dirty="0" err="1"/>
              <a:t>filas</a:t>
            </a:r>
            <a:r>
              <a:rPr lang="en-US" sz="2000" dirty="0"/>
              <a:t>.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dirty="0"/>
              <a:t>Si se </a:t>
            </a:r>
            <a:r>
              <a:rPr lang="en-US" sz="2000" dirty="0" err="1"/>
              <a:t>especifica</a:t>
            </a:r>
            <a:r>
              <a:rPr lang="en-US" sz="2000" dirty="0"/>
              <a:t>: Se </a:t>
            </a:r>
            <a:r>
              <a:rPr lang="en-US" sz="2000" dirty="0" err="1"/>
              <a:t>modifican</a:t>
            </a:r>
            <a:r>
              <a:rPr lang="en-US" sz="2000" dirty="0"/>
              <a:t> </a:t>
            </a:r>
            <a:r>
              <a:rPr lang="en-US" sz="2000" dirty="0" err="1"/>
              <a:t>las</a:t>
            </a:r>
            <a:r>
              <a:rPr lang="en-US" sz="2000" dirty="0"/>
              <a:t> </a:t>
            </a:r>
            <a:r>
              <a:rPr lang="en-US" sz="2000" dirty="0" err="1"/>
              <a:t>filas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cumplen</a:t>
            </a:r>
            <a:r>
              <a:rPr lang="en-US" sz="2000" dirty="0"/>
              <a:t> con la </a:t>
            </a:r>
            <a:r>
              <a:rPr lang="en-US" sz="2000" dirty="0" err="1"/>
              <a:t>condición</a:t>
            </a:r>
            <a:r>
              <a:rPr lang="en-US" sz="20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0125" y="2006253"/>
            <a:ext cx="6219633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UPDATE 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SET			columna1 = valor1 [,columna2 = valor2]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WHERE	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condicion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64989" t="16114" r="6964" b="12610"/>
          <a:stretch/>
        </p:blipFill>
        <p:spPr>
          <a:xfrm>
            <a:off x="10463988" y="192091"/>
            <a:ext cx="1382680" cy="145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3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4317" y="2280310"/>
            <a:ext cx="7031363" cy="3588783"/>
          </a:xfrm>
        </p:spPr>
        <p:txBody>
          <a:bodyPr/>
          <a:lstStyle/>
          <a:p>
            <a:r>
              <a:rPr lang="en-US" dirty="0" err="1"/>
              <a:t>Aumentar</a:t>
            </a:r>
            <a:r>
              <a:rPr lang="en-US" dirty="0"/>
              <a:t> los </a:t>
            </a:r>
            <a:r>
              <a:rPr lang="en-US" dirty="0" err="1"/>
              <a:t>límites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de </a:t>
            </a:r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clientes</a:t>
            </a:r>
            <a:r>
              <a:rPr lang="en-US" dirty="0"/>
              <a:t> un 12%: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5355" y="3246013"/>
            <a:ext cx="6587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UPDATE</a:t>
            </a:r>
            <a:r>
              <a:rPr lang="en-US" sz="2400" dirty="0">
                <a:latin typeface="Consolas"/>
                <a:cs typeface="Consolas"/>
              </a:rPr>
              <a:t> CUSTOMERS</a:t>
            </a:r>
          </a:p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SET</a:t>
            </a:r>
            <a:r>
              <a:rPr lang="en-US" sz="2400" dirty="0">
                <a:latin typeface="Consolas"/>
                <a:cs typeface="Consolas"/>
              </a:rPr>
              <a:t> CREDITLIMIT= CREDITLIMIT*1.12;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4989" t="16114" r="6964" b="12610"/>
          <a:stretch/>
        </p:blipFill>
        <p:spPr>
          <a:xfrm>
            <a:off x="10463988" y="192091"/>
            <a:ext cx="1382680" cy="1453442"/>
          </a:xfrm>
          <a:prstGeom prst="rect">
            <a:avLst/>
          </a:prstGeom>
        </p:spPr>
      </p:pic>
      <p:pic>
        <p:nvPicPr>
          <p:cNvPr id="7" name="Picture 6" descr="classicmodels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2" t="44797" r="32223" b="5883"/>
          <a:stretch/>
        </p:blipFill>
        <p:spPr>
          <a:xfrm>
            <a:off x="1283729" y="1938946"/>
            <a:ext cx="2690366" cy="4072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2443" y="5176657"/>
            <a:ext cx="3946779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Modificación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todos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los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registros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246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7004" y="1845734"/>
            <a:ext cx="7058676" cy="4023360"/>
          </a:xfrm>
        </p:spPr>
        <p:txBody>
          <a:bodyPr/>
          <a:lstStyle/>
          <a:p>
            <a:r>
              <a:rPr lang="en-US" dirty="0" err="1"/>
              <a:t>Aumentar</a:t>
            </a:r>
            <a:r>
              <a:rPr lang="en-US" dirty="0"/>
              <a:t> el </a:t>
            </a:r>
            <a:r>
              <a:rPr lang="en-US" dirty="0" err="1"/>
              <a:t>límite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al 12% del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Efraín</a:t>
            </a:r>
            <a:r>
              <a:rPr lang="en-US" dirty="0"/>
              <a:t> </a:t>
            </a:r>
            <a:r>
              <a:rPr lang="en-US" dirty="0" err="1"/>
              <a:t>Zambrano</a:t>
            </a:r>
            <a:r>
              <a:rPr lang="en-US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4083347" y="2335766"/>
            <a:ext cx="6563822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Consolas"/>
                <a:cs typeface="Consolas"/>
              </a:rPr>
              <a:t>UPDATE</a:t>
            </a:r>
            <a:r>
              <a:rPr lang="en-US" sz="2400" dirty="0">
                <a:latin typeface="Consolas"/>
                <a:cs typeface="Consolas"/>
              </a:rPr>
              <a:t> CUSTOMERS</a:t>
            </a:r>
          </a:p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SET</a:t>
            </a:r>
            <a:r>
              <a:rPr lang="en-US" sz="2400" dirty="0">
                <a:latin typeface="Consolas"/>
                <a:cs typeface="Consolas"/>
              </a:rPr>
              <a:t> CREDITLIMIT= CREDITLIMIT*1.12 </a:t>
            </a:r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latin typeface="Consolas"/>
                <a:cs typeface="Consolas"/>
              </a:rPr>
              <a:t> CUSTOMERNAME='</a:t>
            </a:r>
            <a:r>
              <a:rPr lang="en-US" sz="2400" dirty="0" err="1">
                <a:latin typeface="Consolas"/>
                <a:cs typeface="Consolas"/>
              </a:rPr>
              <a:t>Efraín</a:t>
            </a:r>
            <a:r>
              <a:rPr lang="en-US" sz="2400" dirty="0">
                <a:latin typeface="Consolas"/>
                <a:cs typeface="Consolas"/>
              </a:rPr>
              <a:t> Zambrano';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4989" t="16114" r="6964" b="12610"/>
          <a:stretch/>
        </p:blipFill>
        <p:spPr>
          <a:xfrm>
            <a:off x="10463988" y="192091"/>
            <a:ext cx="1382680" cy="1453442"/>
          </a:xfrm>
          <a:prstGeom prst="rect">
            <a:avLst/>
          </a:prstGeom>
        </p:spPr>
      </p:pic>
      <p:pic>
        <p:nvPicPr>
          <p:cNvPr id="7" name="Picture 6" descr="classicmodels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2" t="44797" r="32223" b="5883"/>
          <a:stretch/>
        </p:blipFill>
        <p:spPr>
          <a:xfrm>
            <a:off x="1283729" y="1938946"/>
            <a:ext cx="2690366" cy="40726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2443" y="5176657"/>
            <a:ext cx="3946779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Modificación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filas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915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9690" y="1845734"/>
            <a:ext cx="7085990" cy="4023360"/>
          </a:xfrm>
        </p:spPr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clientes</a:t>
            </a:r>
            <a:r>
              <a:rPr lang="en-US" dirty="0"/>
              <a:t> del </a:t>
            </a:r>
            <a:r>
              <a:rPr lang="en-US" dirty="0" err="1"/>
              <a:t>vendedor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10022, </a:t>
            </a:r>
            <a:r>
              <a:rPr lang="en-US" dirty="0" err="1"/>
              <a:t>aumentar</a:t>
            </a:r>
            <a:r>
              <a:rPr lang="en-US" dirty="0"/>
              <a:t> el </a:t>
            </a:r>
            <a:r>
              <a:rPr lang="en-US" dirty="0" err="1"/>
              <a:t>límite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al 12% y </a:t>
            </a:r>
            <a:r>
              <a:rPr lang="en-US" dirty="0" err="1"/>
              <a:t>cambiar</a:t>
            </a:r>
            <a:r>
              <a:rPr lang="en-US" dirty="0"/>
              <a:t> el </a:t>
            </a:r>
            <a:r>
              <a:rPr lang="en-US" dirty="0" err="1"/>
              <a:t>país</a:t>
            </a:r>
            <a:r>
              <a:rPr lang="en-US" dirty="0"/>
              <a:t> a Ecuador: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083346" y="2812039"/>
            <a:ext cx="74019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Consolas"/>
                <a:cs typeface="Consolas"/>
              </a:rPr>
              <a:t>UPDATE</a:t>
            </a:r>
            <a:r>
              <a:rPr lang="en-US" sz="2400" dirty="0">
                <a:latin typeface="Consolas"/>
                <a:cs typeface="Consolas"/>
              </a:rPr>
              <a:t> CUSTOMERS</a:t>
            </a:r>
          </a:p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SET</a:t>
            </a:r>
            <a:r>
              <a:rPr lang="en-US" sz="2400" dirty="0">
                <a:latin typeface="Consolas"/>
                <a:cs typeface="Consolas"/>
              </a:rPr>
              <a:t> CREDITLIMIT = CREDITLIMIT*1.12, country = 'Ecuador' </a:t>
            </a:r>
          </a:p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latin typeface="Consolas"/>
                <a:cs typeface="Consolas"/>
              </a:rPr>
              <a:t> SALESREPEMPLOYEENUMBER = 10022;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4989" t="16114" r="6964" b="12610"/>
          <a:stretch/>
        </p:blipFill>
        <p:spPr>
          <a:xfrm>
            <a:off x="10463988" y="205321"/>
            <a:ext cx="1382680" cy="1453442"/>
          </a:xfrm>
          <a:prstGeom prst="rect">
            <a:avLst/>
          </a:prstGeom>
        </p:spPr>
      </p:pic>
      <p:pic>
        <p:nvPicPr>
          <p:cNvPr id="7" name="Picture 6" descr="classicmodels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2" t="44797" r="32223" b="5883"/>
          <a:stretch/>
        </p:blipFill>
        <p:spPr>
          <a:xfrm>
            <a:off x="1283729" y="1938946"/>
            <a:ext cx="2690366" cy="40726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2443" y="5176657"/>
            <a:ext cx="3946779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Modificación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columnas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234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906" y="1845734"/>
            <a:ext cx="10004774" cy="4023360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Borra</a:t>
            </a:r>
            <a:r>
              <a:rPr lang="en-US" sz="2800" dirty="0"/>
              <a:t>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filas</a:t>
            </a:r>
            <a:r>
              <a:rPr lang="en-US" sz="2800" dirty="0"/>
              <a:t> de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</a:t>
            </a:r>
            <a:r>
              <a:rPr lang="en-US" sz="2800" dirty="0" err="1"/>
              <a:t>específica</a:t>
            </a:r>
            <a:r>
              <a:rPr lang="en-US" sz="2800" dirty="0"/>
              <a:t>.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opcional</a:t>
            </a:r>
            <a:r>
              <a:rPr lang="en-US" sz="2800" dirty="0"/>
              <a:t>:</a:t>
            </a:r>
          </a:p>
          <a:p>
            <a:pPr lvl="1">
              <a:buClr>
                <a:srgbClr val="0000FF"/>
              </a:buClr>
            </a:pPr>
            <a:r>
              <a:rPr lang="en-US" sz="2400" dirty="0"/>
              <a:t>Si se </a:t>
            </a:r>
            <a:r>
              <a:rPr lang="en-US" sz="2400" dirty="0" err="1"/>
              <a:t>omite</a:t>
            </a:r>
            <a:r>
              <a:rPr lang="en-US" sz="2400" dirty="0"/>
              <a:t>: se </a:t>
            </a:r>
            <a:r>
              <a:rPr lang="en-US" sz="2400" dirty="0" err="1"/>
              <a:t>borran</a:t>
            </a:r>
            <a:r>
              <a:rPr lang="en-US" sz="2400" dirty="0"/>
              <a:t> </a:t>
            </a:r>
            <a:r>
              <a:rPr lang="en-US" sz="2400" dirty="0" err="1"/>
              <a:t>todas</a:t>
            </a:r>
            <a:r>
              <a:rPr lang="en-US" sz="2400" dirty="0"/>
              <a:t>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filas</a:t>
            </a:r>
            <a:r>
              <a:rPr lang="en-US" sz="2400" dirty="0"/>
              <a:t>.</a:t>
            </a:r>
          </a:p>
          <a:p>
            <a:pPr lvl="1">
              <a:buClr>
                <a:srgbClr val="0000FF"/>
              </a:buClr>
            </a:pPr>
            <a:r>
              <a:rPr lang="en-US" sz="2400" dirty="0"/>
              <a:t>Si se </a:t>
            </a:r>
            <a:r>
              <a:rPr lang="en-US" sz="2400" dirty="0" err="1"/>
              <a:t>especifica</a:t>
            </a:r>
            <a:r>
              <a:rPr lang="en-US" sz="2400" dirty="0"/>
              <a:t>: </a:t>
            </a:r>
            <a:r>
              <a:rPr lang="en-US" sz="2400" dirty="0" err="1"/>
              <a:t>borra</a:t>
            </a:r>
            <a:r>
              <a:rPr lang="en-US" sz="2400" dirty="0"/>
              <a:t>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filas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cumplen</a:t>
            </a:r>
            <a:r>
              <a:rPr lang="en-US" sz="2400" dirty="0"/>
              <a:t> con la </a:t>
            </a:r>
            <a:r>
              <a:rPr lang="en-US" sz="2400" dirty="0" err="1"/>
              <a:t>condición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6110" y="1926873"/>
            <a:ext cx="5817745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DELETE FROM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WHERE			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condicion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6185" t="16114" r="34788" b="12610"/>
          <a:stretch/>
        </p:blipFill>
        <p:spPr>
          <a:xfrm>
            <a:off x="10384614" y="164390"/>
            <a:ext cx="1455170" cy="147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2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9075" y="2537088"/>
            <a:ext cx="39228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DELETE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latin typeface="Consolas"/>
                <a:cs typeface="Consolas"/>
              </a:rPr>
              <a:t> CUSTOMERS;</a:t>
            </a:r>
          </a:p>
        </p:txBody>
      </p:sp>
      <p:sp>
        <p:nvSpPr>
          <p:cNvPr id="5" name="Rectangle 4"/>
          <p:cNvSpPr/>
          <p:nvPr/>
        </p:nvSpPr>
        <p:spPr>
          <a:xfrm>
            <a:off x="4156734" y="4761622"/>
            <a:ext cx="5212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DELETE</a:t>
            </a:r>
            <a:r>
              <a:rPr lang="en-US" sz="2400" dirty="0">
                <a:latin typeface="Consolas"/>
                <a:cs typeface="Consolas"/>
              </a:rPr>
              <a:t> </a:t>
            </a:r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FROM</a:t>
            </a:r>
            <a:r>
              <a:rPr lang="en-US" sz="2400" dirty="0">
                <a:latin typeface="Consolas"/>
                <a:cs typeface="Consolas"/>
              </a:rPr>
              <a:t> CUSTOMERS</a:t>
            </a:r>
          </a:p>
          <a:p>
            <a:r>
              <a:rPr lang="en-US" sz="2400" dirty="0">
                <a:solidFill>
                  <a:srgbClr val="F79646"/>
                </a:solidFill>
                <a:latin typeface="Consolas"/>
                <a:cs typeface="Consolas"/>
              </a:rPr>
              <a:t>WHERE</a:t>
            </a:r>
            <a:r>
              <a:rPr lang="en-US" sz="2400" dirty="0">
                <a:latin typeface="Consolas"/>
                <a:cs typeface="Consolas"/>
              </a:rPr>
              <a:t> CUSTOMERNUMBER=102;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6185" t="16114" r="34788" b="12610"/>
          <a:stretch/>
        </p:blipFill>
        <p:spPr>
          <a:xfrm>
            <a:off x="10384614" y="164390"/>
            <a:ext cx="1455170" cy="1478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251" y="3142129"/>
            <a:ext cx="4192601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Borra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todos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los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registros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una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tabla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3731" y="5670420"/>
            <a:ext cx="326177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Borra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registros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específicos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078878" y="2146134"/>
            <a:ext cx="3700960" cy="857868"/>
          </a:xfrm>
        </p:spPr>
        <p:txBody>
          <a:bodyPr/>
          <a:lstStyle/>
          <a:p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clientes</a:t>
            </a:r>
            <a:r>
              <a:rPr lang="en-US" dirty="0"/>
              <a:t>: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181119" y="4401335"/>
            <a:ext cx="4272363" cy="8578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Eliminar</a:t>
            </a:r>
            <a:r>
              <a:rPr lang="en-US" dirty="0"/>
              <a:t> los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id </a:t>
            </a:r>
            <a:r>
              <a:rPr lang="en-US" dirty="0" err="1"/>
              <a:t>es</a:t>
            </a:r>
            <a:r>
              <a:rPr lang="en-US" dirty="0"/>
              <a:t> 102:</a:t>
            </a:r>
          </a:p>
        </p:txBody>
      </p:sp>
      <p:pic>
        <p:nvPicPr>
          <p:cNvPr id="14" name="Picture 13" descr="classicmodels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2" t="44797" r="32223" b="5883"/>
          <a:stretch/>
        </p:blipFill>
        <p:spPr>
          <a:xfrm>
            <a:off x="8586637" y="2280310"/>
            <a:ext cx="2690366" cy="407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3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 animBg="1"/>
      <p:bldP spid="13" grpId="0"/>
    </p:bld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7099</TotalTime>
  <Words>1127</Words>
  <Application>Microsoft Macintosh PowerPoint</Application>
  <PresentationFormat>Widescreen</PresentationFormat>
  <Paragraphs>157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Times New Roman</vt:lpstr>
      <vt:lpstr>Wingdings</vt:lpstr>
      <vt:lpstr>Retrospect</vt:lpstr>
      <vt:lpstr>SISTEMAS DE  BASES DE DATOS  TICG1001</vt:lpstr>
      <vt:lpstr>PowerPoint Presentation</vt:lpstr>
      <vt:lpstr>PowerPoint Presentation</vt:lpstr>
      <vt:lpstr>RECORDEMOS…</vt:lpstr>
      <vt:lpstr>DML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271</cp:revision>
  <dcterms:created xsi:type="dcterms:W3CDTF">2016-04-18T15:18:48Z</dcterms:created>
  <dcterms:modified xsi:type="dcterms:W3CDTF">2019-12-06T17:57:20Z</dcterms:modified>
</cp:coreProperties>
</file>
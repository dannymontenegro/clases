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82" r:id="rId4"/>
    <p:sldId id="281" r:id="rId5"/>
    <p:sldId id="306" r:id="rId6"/>
    <p:sldId id="283" r:id="rId7"/>
    <p:sldId id="284" r:id="rId8"/>
    <p:sldId id="264" r:id="rId9"/>
    <p:sldId id="288" r:id="rId10"/>
    <p:sldId id="270" r:id="rId11"/>
    <p:sldId id="271" r:id="rId12"/>
    <p:sldId id="267" r:id="rId13"/>
    <p:sldId id="268" r:id="rId14"/>
    <p:sldId id="272" r:id="rId15"/>
    <p:sldId id="277" r:id="rId16"/>
    <p:sldId id="278" r:id="rId17"/>
    <p:sldId id="276" r:id="rId18"/>
    <p:sldId id="286" r:id="rId19"/>
    <p:sldId id="285" r:id="rId20"/>
    <p:sldId id="287" r:id="rId21"/>
    <p:sldId id="292" r:id="rId22"/>
    <p:sldId id="291" r:id="rId23"/>
    <p:sldId id="307" r:id="rId24"/>
    <p:sldId id="289" r:id="rId25"/>
    <p:sldId id="290" r:id="rId26"/>
    <p:sldId id="302" r:id="rId27"/>
    <p:sldId id="293" r:id="rId28"/>
    <p:sldId id="295" r:id="rId29"/>
    <p:sldId id="294" r:id="rId30"/>
    <p:sldId id="303" r:id="rId31"/>
    <p:sldId id="296" r:id="rId32"/>
    <p:sldId id="297" r:id="rId33"/>
    <p:sldId id="298" r:id="rId34"/>
    <p:sldId id="299" r:id="rId35"/>
    <p:sldId id="301" r:id="rId36"/>
    <p:sldId id="304" r:id="rId37"/>
    <p:sldId id="305" r:id="rId38"/>
    <p:sldId id="309" r:id="rId39"/>
    <p:sldId id="300" r:id="rId40"/>
    <p:sldId id="308" r:id="rId41"/>
    <p:sldId id="310" r:id="rId42"/>
    <p:sldId id="262" r:id="rId43"/>
    <p:sldId id="259" r:id="rId44"/>
    <p:sldId id="260" r:id="rId45"/>
    <p:sldId id="261" r:id="rId46"/>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6" d="100"/>
          <a:sy n="106" d="100"/>
        </p:scale>
        <p:origin x="70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Alonso Jurado Mosquera" userId="73e6a6bb-2be2-4023-9e94-6c67c7183eae" providerId="ADAL" clId="{46B0090B-EC30-446A-835A-39202ADDA032}"/>
    <pc:docChg chg="modSld">
      <pc:chgData name="David Alonso Jurado Mosquera" userId="73e6a6bb-2be2-4023-9e94-6c67c7183eae" providerId="ADAL" clId="{46B0090B-EC30-446A-835A-39202ADDA032}" dt="2020-06-09T13:26:37.436" v="0" actId="113"/>
      <pc:docMkLst>
        <pc:docMk/>
      </pc:docMkLst>
      <pc:sldChg chg="modSp">
        <pc:chgData name="David Alonso Jurado Mosquera" userId="73e6a6bb-2be2-4023-9e94-6c67c7183eae" providerId="ADAL" clId="{46B0090B-EC30-446A-835A-39202ADDA032}" dt="2020-06-09T13:26:37.436" v="0" actId="113"/>
        <pc:sldMkLst>
          <pc:docMk/>
          <pc:sldMk cId="2431404151" sldId="270"/>
        </pc:sldMkLst>
        <pc:spChg chg="mod">
          <ac:chgData name="David Alonso Jurado Mosquera" userId="73e6a6bb-2be2-4023-9e94-6c67c7183eae" providerId="ADAL" clId="{46B0090B-EC30-446A-835A-39202ADDA032}" dt="2020-06-09T13:26:37.436" v="0" actId="113"/>
          <ac:spMkLst>
            <pc:docMk/>
            <pc:sldMk cId="2431404151" sldId="270"/>
            <ac:spMk id="4" creationId="{A54C3E81-44AD-4DA8-ADF2-16A3E94CC1A3}"/>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p:spTree>
      <p:nvGrpSpPr>
        <p:cNvPr id="1" name=""/>
        <p:cNvGrpSpPr/>
        <p:nvPr/>
      </p:nvGrpSpPr>
      <p:grpSpPr>
        <a:xfrm>
          <a:off x="0" y="0"/>
          <a:ext cx="0" cy="0"/>
          <a:chOff x="0" y="0"/>
          <a:chExt cx="0" cy="0"/>
        </a:xfrm>
      </p:grpSpPr>
      <p:pic>
        <p:nvPicPr>
          <p:cNvPr id="7" name="Imagen 6" descr="Cierres-ESPOL.png">
            <a:extLst>
              <a:ext uri="{FF2B5EF4-FFF2-40B4-BE49-F238E27FC236}">
                <a16:creationId xmlns:a16="http://schemas.microsoft.com/office/drawing/2014/main" id="{621154DE-0904-43CA-A217-5C8C7BFC57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 name="Título 1">
            <a:extLst>
              <a:ext uri="{FF2B5EF4-FFF2-40B4-BE49-F238E27FC236}">
                <a16:creationId xmlns:a16="http://schemas.microsoft.com/office/drawing/2014/main" id="{964E17A8-3E17-44A8-9546-CEC8735037D7}"/>
              </a:ext>
            </a:extLst>
          </p:cNvPr>
          <p:cNvSpPr>
            <a:spLocks noGrp="1"/>
          </p:cNvSpPr>
          <p:nvPr>
            <p:ph type="ctrTitle"/>
          </p:nvPr>
        </p:nvSpPr>
        <p:spPr>
          <a:xfrm>
            <a:off x="1524000" y="1600201"/>
            <a:ext cx="9144000" cy="1909762"/>
          </a:xfrm>
          <a:ln>
            <a:noFill/>
          </a:ln>
        </p:spPr>
        <p:txBody>
          <a:bodyPr anchor="b">
            <a:normAutofit/>
          </a:bodyPr>
          <a:lstStyle>
            <a:lvl1pPr algn="ctr">
              <a:defRPr sz="4400">
                <a:latin typeface="Calibri (Títulos)"/>
              </a:defRPr>
            </a:lvl1pPr>
          </a:lstStyle>
          <a:p>
            <a:r>
              <a:rPr lang="en-US"/>
              <a:t>Click to edit Master title style</a:t>
            </a:r>
            <a:endParaRPr lang="es-EC" dirty="0"/>
          </a:p>
        </p:txBody>
      </p:sp>
      <p:sp>
        <p:nvSpPr>
          <p:cNvPr id="3" name="Subtítulo 2">
            <a:extLst>
              <a:ext uri="{FF2B5EF4-FFF2-40B4-BE49-F238E27FC236}">
                <a16:creationId xmlns:a16="http://schemas.microsoft.com/office/drawing/2014/main" id="{A5920DCA-714E-4116-8782-849A954E505E}"/>
              </a:ext>
            </a:extLst>
          </p:cNvPr>
          <p:cNvSpPr>
            <a:spLocks noGrp="1"/>
          </p:cNvSpPr>
          <p:nvPr>
            <p:ph type="subTitle" idx="1"/>
          </p:nvPr>
        </p:nvSpPr>
        <p:spPr>
          <a:xfrm>
            <a:off x="1524000" y="4800598"/>
            <a:ext cx="9144000" cy="457201"/>
          </a:xfrm>
          <a:solidFill>
            <a:schemeClr val="tx1"/>
          </a:solidFill>
        </p:spPr>
        <p:txBody>
          <a:bodyPr>
            <a:noAutofit/>
          </a:bodyPr>
          <a:lstStyle>
            <a:lvl1pPr marL="0" indent="0" algn="ctr">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C" dirty="0"/>
          </a:p>
        </p:txBody>
      </p:sp>
      <p:sp>
        <p:nvSpPr>
          <p:cNvPr id="6" name="Marcador de número de diapositiva 5">
            <a:extLst>
              <a:ext uri="{FF2B5EF4-FFF2-40B4-BE49-F238E27FC236}">
                <a16:creationId xmlns:a16="http://schemas.microsoft.com/office/drawing/2014/main" id="{837B46DB-2CFD-433A-B311-AD9BD3FB78B3}"/>
              </a:ext>
            </a:extLst>
          </p:cNvPr>
          <p:cNvSpPr>
            <a:spLocks noGrp="1"/>
          </p:cNvSpPr>
          <p:nvPr>
            <p:ph type="sldNum" sz="quarter" idx="12"/>
          </p:nvPr>
        </p:nvSpPr>
        <p:spPr>
          <a:xfrm>
            <a:off x="11415156" y="6398008"/>
            <a:ext cx="685800" cy="365125"/>
          </a:xfrm>
        </p:spPr>
        <p:txBody>
          <a:bodyPr/>
          <a:lstStyle/>
          <a:p>
            <a:fld id="{E8C71ABF-EDD6-4292-BDF9-9B6EF8422E2D}" type="slidenum">
              <a:rPr lang="en-GB" smtClean="0"/>
              <a:t>‹Nº›</a:t>
            </a:fld>
            <a:endParaRPr lang="en-GB"/>
          </a:p>
        </p:txBody>
      </p:sp>
      <p:sp>
        <p:nvSpPr>
          <p:cNvPr id="10" name="CuadroTexto 9">
            <a:extLst>
              <a:ext uri="{FF2B5EF4-FFF2-40B4-BE49-F238E27FC236}">
                <a16:creationId xmlns:a16="http://schemas.microsoft.com/office/drawing/2014/main" id="{E92ED1DC-9B0F-464E-9D0D-7FDD79992DD1}"/>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Diseño de Software</a:t>
            </a:r>
          </a:p>
          <a:p>
            <a:pPr algn="ctr"/>
            <a:r>
              <a:rPr lang="es-EC" sz="1000" dirty="0" err="1">
                <a:solidFill>
                  <a:schemeClr val="bg1"/>
                </a:solidFill>
              </a:rPr>
              <a:t>MSc</a:t>
            </a:r>
            <a:r>
              <a:rPr lang="es-EC" sz="1000" dirty="0">
                <a:solidFill>
                  <a:schemeClr val="bg1"/>
                </a:solidFill>
              </a:rPr>
              <a:t>. Jurado, Dr. Mera</a:t>
            </a:r>
          </a:p>
          <a:p>
            <a:pPr algn="ctr"/>
            <a:r>
              <a:rPr lang="es-EC" sz="1000" dirty="0">
                <a:solidFill>
                  <a:schemeClr val="bg1"/>
                </a:solidFill>
              </a:rPr>
              <a:t>2020</a:t>
            </a:r>
          </a:p>
        </p:txBody>
      </p:sp>
      <p:sp>
        <p:nvSpPr>
          <p:cNvPr id="11" name="CuadroTexto 10">
            <a:extLst>
              <a:ext uri="{FF2B5EF4-FFF2-40B4-BE49-F238E27FC236}">
                <a16:creationId xmlns:a16="http://schemas.microsoft.com/office/drawing/2014/main" id="{A960ACD5-1CF6-4EFC-9DF9-C90E050409D9}"/>
              </a:ext>
            </a:extLst>
          </p:cNvPr>
          <p:cNvSpPr txBox="1"/>
          <p:nvPr/>
        </p:nvSpPr>
        <p:spPr>
          <a:xfrm>
            <a:off x="43543" y="6516912"/>
            <a:ext cx="3699164" cy="246221"/>
          </a:xfrm>
          <a:prstGeom prst="rect">
            <a:avLst/>
          </a:prstGeom>
          <a:noFill/>
        </p:spPr>
        <p:txBody>
          <a:bodyPr wrap="square" rtlCol="0">
            <a:spAutoFit/>
          </a:bodyPr>
          <a:lstStyle/>
          <a:p>
            <a:pPr algn="l"/>
            <a:r>
              <a:rPr lang="en-GB" sz="1000" noProof="0" dirty="0">
                <a:solidFill>
                  <a:schemeClr val="bg1"/>
                </a:solidFill>
              </a:rPr>
              <a:t>Unidad</a:t>
            </a:r>
            <a:r>
              <a:rPr lang="es-EC" sz="1000" dirty="0">
                <a:solidFill>
                  <a:schemeClr val="bg1"/>
                </a:solidFill>
              </a:rPr>
              <a:t> 1</a:t>
            </a:r>
          </a:p>
        </p:txBody>
      </p:sp>
    </p:spTree>
    <p:extLst>
      <p:ext uri="{BB962C8B-B14F-4D97-AF65-F5344CB8AC3E}">
        <p14:creationId xmlns:p14="http://schemas.microsoft.com/office/powerpoint/2010/main" val="255708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3EB784-F852-42C1-9675-D36ABFDA2B7D}"/>
              </a:ext>
            </a:extLst>
          </p:cNvPr>
          <p:cNvSpPr>
            <a:spLocks noGrp="1"/>
          </p:cNvSpPr>
          <p:nvPr>
            <p:ph type="title" hasCustomPrompt="1"/>
          </p:nvPr>
        </p:nvSpPr>
        <p:spPr>
          <a:xfrm>
            <a:off x="838200" y="365126"/>
            <a:ext cx="10515600" cy="762338"/>
          </a:xfrm>
          <a:noFill/>
        </p:spPr>
        <p:txBody>
          <a:bodyPr>
            <a:normAutofit/>
          </a:bodyPr>
          <a:lstStyle>
            <a:lvl1pPr>
              <a:defRPr lang="es-ES" sz="4000" dirty="0" smtClean="0">
                <a:solidFill>
                  <a:schemeClr val="bg1"/>
                </a:solidFill>
                <a:highlight>
                  <a:srgbClr val="000000"/>
                </a:highlight>
              </a:defRPr>
            </a:lvl1pPr>
          </a:lstStyle>
          <a:p>
            <a:r>
              <a:rPr lang="es-ES" dirty="0"/>
              <a:t>TITULO </a:t>
            </a:r>
            <a:endParaRPr lang="es-EC" dirty="0"/>
          </a:p>
        </p:txBody>
      </p:sp>
      <p:sp>
        <p:nvSpPr>
          <p:cNvPr id="3" name="Marcador de contenido 2">
            <a:extLst>
              <a:ext uri="{FF2B5EF4-FFF2-40B4-BE49-F238E27FC236}">
                <a16:creationId xmlns:a16="http://schemas.microsoft.com/office/drawing/2014/main" id="{38F0EF87-E50C-48EE-BF76-347218027D29}"/>
              </a:ext>
            </a:extLst>
          </p:cNvPr>
          <p:cNvSpPr>
            <a:spLocks noGrp="1"/>
          </p:cNvSpPr>
          <p:nvPr>
            <p:ph idx="1"/>
          </p:nvPr>
        </p:nvSpPr>
        <p:spPr>
          <a:xfrm>
            <a:off x="838200" y="1239532"/>
            <a:ext cx="10515600" cy="5017907"/>
          </a:xfrm>
        </p:spPr>
        <p:txBody>
          <a:bodyPr/>
          <a:lstStyle>
            <a:lvl1pPr algn="just">
              <a:defRPr sz="3200"/>
            </a:lvl1pPr>
            <a:lvl2pPr algn="just">
              <a:defRPr sz="2800"/>
            </a:lvl2pPr>
            <a:lvl3pPr algn="just">
              <a:defRPr sz="2400"/>
            </a:lvl3pPr>
            <a:lvl4pPr algn="just">
              <a:defRPr sz="2000"/>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dirty="0"/>
          </a:p>
        </p:txBody>
      </p:sp>
      <p:pic>
        <p:nvPicPr>
          <p:cNvPr id="7" name="Imagen 6" descr="Cierres-ESPOL.png">
            <a:extLst>
              <a:ext uri="{FF2B5EF4-FFF2-40B4-BE49-F238E27FC236}">
                <a16:creationId xmlns:a16="http://schemas.microsoft.com/office/drawing/2014/main" id="{B948E82F-B28E-4B38-94CF-1865B1F9A8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5" name="CuadroTexto 4">
            <a:extLst>
              <a:ext uri="{FF2B5EF4-FFF2-40B4-BE49-F238E27FC236}">
                <a16:creationId xmlns:a16="http://schemas.microsoft.com/office/drawing/2014/main" id="{ADAA9F93-995F-46F9-9859-DA232F359551}"/>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Diseño de Software</a:t>
            </a:r>
          </a:p>
          <a:p>
            <a:pPr algn="ctr"/>
            <a:r>
              <a:rPr lang="es-EC" sz="1000" dirty="0" err="1">
                <a:solidFill>
                  <a:schemeClr val="bg1"/>
                </a:solidFill>
              </a:rPr>
              <a:t>MSc</a:t>
            </a:r>
            <a:r>
              <a:rPr lang="es-EC" sz="1000" dirty="0">
                <a:solidFill>
                  <a:schemeClr val="bg1"/>
                </a:solidFill>
              </a:rPr>
              <a:t>. Jurado, Dr. Mera</a:t>
            </a:r>
          </a:p>
          <a:p>
            <a:pPr algn="ctr"/>
            <a:r>
              <a:rPr lang="es-EC" sz="1000" dirty="0">
                <a:solidFill>
                  <a:schemeClr val="bg1"/>
                </a:solidFill>
              </a:rPr>
              <a:t>2020</a:t>
            </a:r>
          </a:p>
        </p:txBody>
      </p:sp>
      <p:sp>
        <p:nvSpPr>
          <p:cNvPr id="6" name="CuadroTexto 5">
            <a:extLst>
              <a:ext uri="{FF2B5EF4-FFF2-40B4-BE49-F238E27FC236}">
                <a16:creationId xmlns:a16="http://schemas.microsoft.com/office/drawing/2014/main" id="{8464F896-FFA5-4D7F-9990-A5E05FB29701}"/>
              </a:ext>
            </a:extLst>
          </p:cNvPr>
          <p:cNvSpPr txBox="1"/>
          <p:nvPr/>
        </p:nvSpPr>
        <p:spPr>
          <a:xfrm>
            <a:off x="43543" y="6516912"/>
            <a:ext cx="3699164" cy="246221"/>
          </a:xfrm>
          <a:prstGeom prst="rect">
            <a:avLst/>
          </a:prstGeom>
          <a:noFill/>
        </p:spPr>
        <p:txBody>
          <a:bodyPr wrap="square" rtlCol="0">
            <a:spAutoFit/>
          </a:bodyPr>
          <a:lstStyle/>
          <a:p>
            <a:pPr algn="l"/>
            <a:r>
              <a:rPr lang="en-GB" sz="1000" noProof="0" dirty="0">
                <a:solidFill>
                  <a:schemeClr val="bg1"/>
                </a:solidFill>
              </a:rPr>
              <a:t>Unidad </a:t>
            </a:r>
            <a:r>
              <a:rPr lang="es-EC" sz="1000" dirty="0">
                <a:solidFill>
                  <a:schemeClr val="bg1"/>
                </a:solidFill>
              </a:rPr>
              <a:t>1</a:t>
            </a:r>
          </a:p>
        </p:txBody>
      </p:sp>
    </p:spTree>
    <p:extLst>
      <p:ext uri="{BB962C8B-B14F-4D97-AF65-F5344CB8AC3E}">
        <p14:creationId xmlns:p14="http://schemas.microsoft.com/office/powerpoint/2010/main" val="1952727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3EB784-F852-42C1-9675-D36ABFDA2B7D}"/>
              </a:ext>
            </a:extLst>
          </p:cNvPr>
          <p:cNvSpPr>
            <a:spLocks noGrp="1"/>
          </p:cNvSpPr>
          <p:nvPr>
            <p:ph type="title" hasCustomPrompt="1"/>
          </p:nvPr>
        </p:nvSpPr>
        <p:spPr>
          <a:xfrm>
            <a:off x="838200" y="365126"/>
            <a:ext cx="10515600" cy="975402"/>
          </a:xfrm>
          <a:noFill/>
        </p:spPr>
        <p:txBody>
          <a:bodyPr>
            <a:normAutofit/>
          </a:bodyPr>
          <a:lstStyle>
            <a:lvl1pPr>
              <a:defRPr lang="es-ES" sz="4000" dirty="0" smtClean="0">
                <a:solidFill>
                  <a:schemeClr val="bg1"/>
                </a:solidFill>
                <a:highlight>
                  <a:srgbClr val="000000"/>
                </a:highlight>
              </a:defRPr>
            </a:lvl1pPr>
          </a:lstStyle>
          <a:p>
            <a:r>
              <a:rPr lang="es-ES" dirty="0"/>
              <a:t>Agenda </a:t>
            </a:r>
            <a:endParaRPr lang="es-EC" dirty="0"/>
          </a:p>
        </p:txBody>
      </p:sp>
      <p:sp>
        <p:nvSpPr>
          <p:cNvPr id="3" name="Marcador de contenido 2">
            <a:extLst>
              <a:ext uri="{FF2B5EF4-FFF2-40B4-BE49-F238E27FC236}">
                <a16:creationId xmlns:a16="http://schemas.microsoft.com/office/drawing/2014/main" id="{38F0EF87-E50C-48EE-BF76-347218027D29}"/>
              </a:ext>
            </a:extLst>
          </p:cNvPr>
          <p:cNvSpPr>
            <a:spLocks noGrp="1"/>
          </p:cNvSpPr>
          <p:nvPr>
            <p:ph idx="1"/>
          </p:nvPr>
        </p:nvSpPr>
        <p:spPr>
          <a:xfrm>
            <a:off x="838200" y="1452596"/>
            <a:ext cx="10515600" cy="4724367"/>
          </a:xfrm>
        </p:spPr>
        <p:txBody>
          <a:bodyPr/>
          <a:lstStyle>
            <a:lvl1pPr>
              <a:defRPr sz="3200"/>
            </a:lvl1pPr>
            <a:lvl2pPr>
              <a:defRPr sz="2800"/>
            </a:lvl2pPr>
            <a:lvl3pPr>
              <a:defRPr sz="2400"/>
            </a:lvl3pPr>
            <a:lvl4pPr>
              <a:defRPr sz="20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dirty="0"/>
          </a:p>
        </p:txBody>
      </p:sp>
      <p:pic>
        <p:nvPicPr>
          <p:cNvPr id="7" name="Imagen 6" descr="Cierres-ESPOL.png">
            <a:extLst>
              <a:ext uri="{FF2B5EF4-FFF2-40B4-BE49-F238E27FC236}">
                <a16:creationId xmlns:a16="http://schemas.microsoft.com/office/drawing/2014/main" id="{B948E82F-B28E-4B38-94CF-1865B1F9A8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5" name="CuadroTexto 4">
            <a:extLst>
              <a:ext uri="{FF2B5EF4-FFF2-40B4-BE49-F238E27FC236}">
                <a16:creationId xmlns:a16="http://schemas.microsoft.com/office/drawing/2014/main" id="{ADAA9F93-995F-46F9-9859-DA232F359551}"/>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Diseño de Software</a:t>
            </a:r>
          </a:p>
          <a:p>
            <a:pPr algn="ctr"/>
            <a:r>
              <a:rPr lang="es-EC" sz="1000" dirty="0" err="1">
                <a:solidFill>
                  <a:schemeClr val="bg1"/>
                </a:solidFill>
              </a:rPr>
              <a:t>MSc</a:t>
            </a:r>
            <a:r>
              <a:rPr lang="es-EC" sz="1000" dirty="0">
                <a:solidFill>
                  <a:schemeClr val="bg1"/>
                </a:solidFill>
              </a:rPr>
              <a:t>. Jurado, Dr. Mera</a:t>
            </a:r>
          </a:p>
          <a:p>
            <a:pPr algn="ctr"/>
            <a:r>
              <a:rPr lang="es-EC" sz="1000" dirty="0">
                <a:solidFill>
                  <a:schemeClr val="bg1"/>
                </a:solidFill>
              </a:rPr>
              <a:t>2020</a:t>
            </a:r>
          </a:p>
        </p:txBody>
      </p:sp>
      <p:sp>
        <p:nvSpPr>
          <p:cNvPr id="6" name="CuadroTexto 5">
            <a:extLst>
              <a:ext uri="{FF2B5EF4-FFF2-40B4-BE49-F238E27FC236}">
                <a16:creationId xmlns:a16="http://schemas.microsoft.com/office/drawing/2014/main" id="{8464F896-FFA5-4D7F-9990-A5E05FB29701}"/>
              </a:ext>
            </a:extLst>
          </p:cNvPr>
          <p:cNvSpPr txBox="1"/>
          <p:nvPr/>
        </p:nvSpPr>
        <p:spPr>
          <a:xfrm>
            <a:off x="43543" y="6516912"/>
            <a:ext cx="3699164" cy="246221"/>
          </a:xfrm>
          <a:prstGeom prst="rect">
            <a:avLst/>
          </a:prstGeom>
          <a:noFill/>
        </p:spPr>
        <p:txBody>
          <a:bodyPr wrap="square" rtlCol="0">
            <a:spAutoFit/>
          </a:bodyPr>
          <a:lstStyle/>
          <a:p>
            <a:pPr algn="l"/>
            <a:r>
              <a:rPr lang="es-EC" sz="1000" dirty="0">
                <a:solidFill>
                  <a:schemeClr val="bg1"/>
                </a:solidFill>
              </a:rPr>
              <a:t>Unidad 1</a:t>
            </a:r>
          </a:p>
        </p:txBody>
      </p:sp>
    </p:spTree>
    <p:extLst>
      <p:ext uri="{BB962C8B-B14F-4D97-AF65-F5344CB8AC3E}">
        <p14:creationId xmlns:p14="http://schemas.microsoft.com/office/powerpoint/2010/main" val="1458283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rminologí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3EB784-F852-42C1-9675-D36ABFDA2B7D}"/>
              </a:ext>
            </a:extLst>
          </p:cNvPr>
          <p:cNvSpPr>
            <a:spLocks noGrp="1"/>
          </p:cNvSpPr>
          <p:nvPr>
            <p:ph type="title" hasCustomPrompt="1"/>
          </p:nvPr>
        </p:nvSpPr>
        <p:spPr>
          <a:xfrm>
            <a:off x="838200" y="365126"/>
            <a:ext cx="10515600" cy="975402"/>
          </a:xfrm>
          <a:noFill/>
        </p:spPr>
        <p:txBody>
          <a:bodyPr>
            <a:normAutofit/>
          </a:bodyPr>
          <a:lstStyle>
            <a:lvl1pPr>
              <a:defRPr lang="es-ES" sz="4000" dirty="0" smtClean="0">
                <a:solidFill>
                  <a:schemeClr val="bg1"/>
                </a:solidFill>
                <a:highlight>
                  <a:srgbClr val="000000"/>
                </a:highlight>
              </a:defRPr>
            </a:lvl1pPr>
          </a:lstStyle>
          <a:p>
            <a:r>
              <a:rPr lang="es-ES" dirty="0"/>
              <a:t>Terminología</a:t>
            </a:r>
            <a:endParaRPr lang="es-EC" dirty="0"/>
          </a:p>
        </p:txBody>
      </p:sp>
      <p:sp>
        <p:nvSpPr>
          <p:cNvPr id="3" name="Marcador de contenido 2">
            <a:extLst>
              <a:ext uri="{FF2B5EF4-FFF2-40B4-BE49-F238E27FC236}">
                <a16:creationId xmlns:a16="http://schemas.microsoft.com/office/drawing/2014/main" id="{38F0EF87-E50C-48EE-BF76-347218027D29}"/>
              </a:ext>
            </a:extLst>
          </p:cNvPr>
          <p:cNvSpPr>
            <a:spLocks noGrp="1"/>
          </p:cNvSpPr>
          <p:nvPr>
            <p:ph idx="1"/>
          </p:nvPr>
        </p:nvSpPr>
        <p:spPr>
          <a:xfrm>
            <a:off x="838200" y="1452596"/>
            <a:ext cx="10515600" cy="4724367"/>
          </a:xfrm>
        </p:spPr>
        <p:txBody>
          <a:bodyPr/>
          <a:lstStyle>
            <a:lvl1pPr algn="just">
              <a:defRPr sz="3200"/>
            </a:lvl1pPr>
            <a:lvl2pPr algn="just">
              <a:defRPr sz="2800"/>
            </a:lvl2pPr>
            <a:lvl3pPr algn="just">
              <a:defRPr sz="2400"/>
            </a:lvl3pPr>
            <a:lvl4pPr algn="just">
              <a:defRPr sz="2000"/>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dirty="0"/>
          </a:p>
        </p:txBody>
      </p:sp>
      <p:pic>
        <p:nvPicPr>
          <p:cNvPr id="7" name="Imagen 6" descr="Cierres-ESPOL.png">
            <a:extLst>
              <a:ext uri="{FF2B5EF4-FFF2-40B4-BE49-F238E27FC236}">
                <a16:creationId xmlns:a16="http://schemas.microsoft.com/office/drawing/2014/main" id="{B948E82F-B28E-4B38-94CF-1865B1F9A8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5" name="CuadroTexto 4">
            <a:extLst>
              <a:ext uri="{FF2B5EF4-FFF2-40B4-BE49-F238E27FC236}">
                <a16:creationId xmlns:a16="http://schemas.microsoft.com/office/drawing/2014/main" id="{ADAA9F93-995F-46F9-9859-DA232F359551}"/>
              </a:ext>
            </a:extLst>
          </p:cNvPr>
          <p:cNvSpPr txBox="1"/>
          <p:nvPr/>
        </p:nvSpPr>
        <p:spPr>
          <a:xfrm>
            <a:off x="4246418" y="6356350"/>
            <a:ext cx="3699164"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a:solidFill>
                  <a:schemeClr val="bg1"/>
                </a:solidFill>
              </a:rPr>
              <a:t>Diseño de Software</a:t>
            </a:r>
          </a:p>
          <a:p>
            <a:pPr algn="ctr"/>
            <a:r>
              <a:rPr lang="es-EC" sz="1000" dirty="0" err="1">
                <a:solidFill>
                  <a:schemeClr val="bg1"/>
                </a:solidFill>
              </a:rPr>
              <a:t>MSc</a:t>
            </a:r>
            <a:r>
              <a:rPr lang="es-EC" sz="1000" dirty="0">
                <a:solidFill>
                  <a:schemeClr val="bg1"/>
                </a:solidFill>
              </a:rPr>
              <a:t>. Jurado, Dr. Mera</a:t>
            </a:r>
          </a:p>
          <a:p>
            <a:pPr algn="ctr"/>
            <a:r>
              <a:rPr lang="es-EC" sz="1000" dirty="0">
                <a:solidFill>
                  <a:schemeClr val="bg1"/>
                </a:solidFill>
              </a:rPr>
              <a:t>2020</a:t>
            </a:r>
          </a:p>
        </p:txBody>
      </p:sp>
      <p:sp>
        <p:nvSpPr>
          <p:cNvPr id="6" name="CuadroTexto 5">
            <a:extLst>
              <a:ext uri="{FF2B5EF4-FFF2-40B4-BE49-F238E27FC236}">
                <a16:creationId xmlns:a16="http://schemas.microsoft.com/office/drawing/2014/main" id="{8464F896-FFA5-4D7F-9990-A5E05FB29701}"/>
              </a:ext>
            </a:extLst>
          </p:cNvPr>
          <p:cNvSpPr txBox="1"/>
          <p:nvPr/>
        </p:nvSpPr>
        <p:spPr>
          <a:xfrm>
            <a:off x="43543" y="6516912"/>
            <a:ext cx="3699164" cy="246221"/>
          </a:xfrm>
          <a:prstGeom prst="rect">
            <a:avLst/>
          </a:prstGeom>
          <a:noFill/>
        </p:spPr>
        <p:txBody>
          <a:bodyPr wrap="square" rtlCol="0">
            <a:spAutoFit/>
          </a:bodyPr>
          <a:lstStyle/>
          <a:p>
            <a:pPr algn="l"/>
            <a:r>
              <a:rPr lang="en-GB" sz="1000" noProof="0" dirty="0">
                <a:solidFill>
                  <a:schemeClr val="bg1"/>
                </a:solidFill>
              </a:rPr>
              <a:t>Unidad</a:t>
            </a:r>
            <a:r>
              <a:rPr lang="es-EC" sz="1000" dirty="0">
                <a:solidFill>
                  <a:schemeClr val="bg1"/>
                </a:solidFill>
              </a:rPr>
              <a:t> 1</a:t>
            </a:r>
          </a:p>
        </p:txBody>
      </p:sp>
    </p:spTree>
    <p:extLst>
      <p:ext uri="{BB962C8B-B14F-4D97-AF65-F5344CB8AC3E}">
        <p14:creationId xmlns:p14="http://schemas.microsoft.com/office/powerpoint/2010/main" val="2128015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Puntos para recorda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3EB784-F852-42C1-9675-D36ABFDA2B7D}"/>
              </a:ext>
            </a:extLst>
          </p:cNvPr>
          <p:cNvSpPr>
            <a:spLocks noGrp="1"/>
          </p:cNvSpPr>
          <p:nvPr>
            <p:ph type="title" hasCustomPrompt="1"/>
          </p:nvPr>
        </p:nvSpPr>
        <p:spPr>
          <a:xfrm>
            <a:off x="838200" y="365126"/>
            <a:ext cx="10515600" cy="975402"/>
          </a:xfrm>
          <a:noFill/>
        </p:spPr>
        <p:txBody>
          <a:bodyPr>
            <a:normAutofit/>
          </a:bodyPr>
          <a:lstStyle>
            <a:lvl1pPr>
              <a:defRPr lang="es-ES" sz="4000" dirty="0" smtClean="0">
                <a:solidFill>
                  <a:schemeClr val="bg1"/>
                </a:solidFill>
                <a:highlight>
                  <a:srgbClr val="000000"/>
                </a:highlight>
              </a:defRPr>
            </a:lvl1pPr>
          </a:lstStyle>
          <a:p>
            <a:r>
              <a:rPr lang="es-ES" dirty="0"/>
              <a:t>Puntos para recordar </a:t>
            </a:r>
            <a:endParaRPr lang="es-EC" dirty="0"/>
          </a:p>
        </p:txBody>
      </p:sp>
      <p:sp>
        <p:nvSpPr>
          <p:cNvPr id="3" name="Marcador de contenido 2">
            <a:extLst>
              <a:ext uri="{FF2B5EF4-FFF2-40B4-BE49-F238E27FC236}">
                <a16:creationId xmlns:a16="http://schemas.microsoft.com/office/drawing/2014/main" id="{38F0EF87-E50C-48EE-BF76-347218027D29}"/>
              </a:ext>
            </a:extLst>
          </p:cNvPr>
          <p:cNvSpPr>
            <a:spLocks noGrp="1"/>
          </p:cNvSpPr>
          <p:nvPr>
            <p:ph idx="1"/>
          </p:nvPr>
        </p:nvSpPr>
        <p:spPr>
          <a:xfrm>
            <a:off x="838200" y="1452596"/>
            <a:ext cx="10515600" cy="4724367"/>
          </a:xfrm>
        </p:spPr>
        <p:txBody>
          <a:bodyPr/>
          <a:lstStyle>
            <a:lvl1pPr algn="just">
              <a:defRPr sz="3200"/>
            </a:lvl1pPr>
            <a:lvl2pPr algn="just">
              <a:defRPr sz="2800"/>
            </a:lvl2pPr>
            <a:lvl3pPr algn="just">
              <a:defRPr sz="2400"/>
            </a:lvl3pPr>
            <a:lvl4pPr algn="just">
              <a:defRPr sz="2000"/>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dirty="0"/>
          </a:p>
        </p:txBody>
      </p:sp>
      <p:pic>
        <p:nvPicPr>
          <p:cNvPr id="7" name="Imagen 6" descr="Cierres-ESPOL.png">
            <a:extLst>
              <a:ext uri="{FF2B5EF4-FFF2-40B4-BE49-F238E27FC236}">
                <a16:creationId xmlns:a16="http://schemas.microsoft.com/office/drawing/2014/main" id="{B948E82F-B28E-4B38-94CF-1865B1F9A8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5" name="CuadroTexto 4">
            <a:extLst>
              <a:ext uri="{FF2B5EF4-FFF2-40B4-BE49-F238E27FC236}">
                <a16:creationId xmlns:a16="http://schemas.microsoft.com/office/drawing/2014/main" id="{ADAA9F93-995F-46F9-9859-DA232F359551}"/>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Diseño de Software</a:t>
            </a:r>
          </a:p>
          <a:p>
            <a:pPr algn="ctr"/>
            <a:r>
              <a:rPr lang="es-EC" sz="1000" dirty="0" err="1">
                <a:solidFill>
                  <a:schemeClr val="bg1"/>
                </a:solidFill>
              </a:rPr>
              <a:t>MSc</a:t>
            </a:r>
            <a:r>
              <a:rPr lang="es-EC" sz="1000" dirty="0">
                <a:solidFill>
                  <a:schemeClr val="bg1"/>
                </a:solidFill>
              </a:rPr>
              <a:t>. Jurado, Dr. Mera</a:t>
            </a:r>
          </a:p>
          <a:p>
            <a:pPr algn="ctr"/>
            <a:r>
              <a:rPr lang="es-EC" sz="1000" dirty="0">
                <a:solidFill>
                  <a:schemeClr val="bg1"/>
                </a:solidFill>
              </a:rPr>
              <a:t>2020</a:t>
            </a:r>
          </a:p>
        </p:txBody>
      </p:sp>
      <p:sp>
        <p:nvSpPr>
          <p:cNvPr id="6" name="CuadroTexto 5">
            <a:extLst>
              <a:ext uri="{FF2B5EF4-FFF2-40B4-BE49-F238E27FC236}">
                <a16:creationId xmlns:a16="http://schemas.microsoft.com/office/drawing/2014/main" id="{8464F896-FFA5-4D7F-9990-A5E05FB29701}"/>
              </a:ext>
            </a:extLst>
          </p:cNvPr>
          <p:cNvSpPr txBox="1"/>
          <p:nvPr/>
        </p:nvSpPr>
        <p:spPr>
          <a:xfrm>
            <a:off x="43543" y="6516912"/>
            <a:ext cx="3699164" cy="246221"/>
          </a:xfrm>
          <a:prstGeom prst="rect">
            <a:avLst/>
          </a:prstGeom>
          <a:noFill/>
        </p:spPr>
        <p:txBody>
          <a:bodyPr wrap="square" rtlCol="0">
            <a:spAutoFit/>
          </a:bodyPr>
          <a:lstStyle/>
          <a:p>
            <a:pPr algn="l"/>
            <a:r>
              <a:rPr lang="en-GB" sz="1000" noProof="0" dirty="0">
                <a:solidFill>
                  <a:schemeClr val="bg1"/>
                </a:solidFill>
              </a:rPr>
              <a:t>Unidad</a:t>
            </a:r>
            <a:r>
              <a:rPr lang="es-EC" sz="1000" dirty="0">
                <a:solidFill>
                  <a:schemeClr val="bg1"/>
                </a:solidFill>
              </a:rPr>
              <a:t> 1</a:t>
            </a:r>
          </a:p>
        </p:txBody>
      </p:sp>
    </p:spTree>
    <p:extLst>
      <p:ext uri="{BB962C8B-B14F-4D97-AF65-F5344CB8AC3E}">
        <p14:creationId xmlns:p14="http://schemas.microsoft.com/office/powerpoint/2010/main" val="1911336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Further Readin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3EB784-F852-42C1-9675-D36ABFDA2B7D}"/>
              </a:ext>
            </a:extLst>
          </p:cNvPr>
          <p:cNvSpPr>
            <a:spLocks noGrp="1"/>
          </p:cNvSpPr>
          <p:nvPr>
            <p:ph type="title" hasCustomPrompt="1"/>
          </p:nvPr>
        </p:nvSpPr>
        <p:spPr>
          <a:xfrm>
            <a:off x="838200" y="365126"/>
            <a:ext cx="10515600" cy="975402"/>
          </a:xfrm>
          <a:noFill/>
        </p:spPr>
        <p:txBody>
          <a:bodyPr>
            <a:normAutofit/>
          </a:bodyPr>
          <a:lstStyle>
            <a:lvl1pPr>
              <a:defRPr lang="es-ES" sz="4000" dirty="0" smtClean="0">
                <a:solidFill>
                  <a:schemeClr val="bg1"/>
                </a:solidFill>
                <a:highlight>
                  <a:srgbClr val="000000"/>
                </a:highlight>
              </a:defRPr>
            </a:lvl1pPr>
          </a:lstStyle>
          <a:p>
            <a:r>
              <a:rPr lang="en-GB" noProof="0"/>
              <a:t>Further</a:t>
            </a:r>
            <a:r>
              <a:rPr lang="es-ES"/>
              <a:t> </a:t>
            </a:r>
            <a:r>
              <a:rPr lang="es-ES" dirty="0"/>
              <a:t>Reading </a:t>
            </a:r>
            <a:endParaRPr lang="es-EC" dirty="0"/>
          </a:p>
        </p:txBody>
      </p:sp>
      <p:sp>
        <p:nvSpPr>
          <p:cNvPr id="3" name="Marcador de contenido 2">
            <a:extLst>
              <a:ext uri="{FF2B5EF4-FFF2-40B4-BE49-F238E27FC236}">
                <a16:creationId xmlns:a16="http://schemas.microsoft.com/office/drawing/2014/main" id="{38F0EF87-E50C-48EE-BF76-347218027D29}"/>
              </a:ext>
            </a:extLst>
          </p:cNvPr>
          <p:cNvSpPr>
            <a:spLocks noGrp="1"/>
          </p:cNvSpPr>
          <p:nvPr>
            <p:ph idx="1"/>
          </p:nvPr>
        </p:nvSpPr>
        <p:spPr>
          <a:xfrm>
            <a:off x="838200" y="1452596"/>
            <a:ext cx="10515600" cy="4724367"/>
          </a:xfrm>
        </p:spPr>
        <p:txBody>
          <a:bodyPr/>
          <a:lstStyle>
            <a:lvl1pPr>
              <a:defRPr sz="3200"/>
            </a:lvl1pPr>
            <a:lvl2pPr>
              <a:defRPr sz="2800"/>
            </a:lvl2pPr>
            <a:lvl3pPr>
              <a:defRPr sz="2400"/>
            </a:lvl3pPr>
            <a:lvl4pPr>
              <a:defRPr sz="20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dirty="0"/>
          </a:p>
        </p:txBody>
      </p:sp>
      <p:pic>
        <p:nvPicPr>
          <p:cNvPr id="7" name="Imagen 6" descr="Cierres-ESPOL.png">
            <a:extLst>
              <a:ext uri="{FF2B5EF4-FFF2-40B4-BE49-F238E27FC236}">
                <a16:creationId xmlns:a16="http://schemas.microsoft.com/office/drawing/2014/main" id="{B948E82F-B28E-4B38-94CF-1865B1F9A8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5" name="CuadroTexto 4">
            <a:extLst>
              <a:ext uri="{FF2B5EF4-FFF2-40B4-BE49-F238E27FC236}">
                <a16:creationId xmlns:a16="http://schemas.microsoft.com/office/drawing/2014/main" id="{ADAA9F93-995F-46F9-9859-DA232F359551}"/>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Diseño de Software</a:t>
            </a:r>
          </a:p>
          <a:p>
            <a:pPr algn="ctr"/>
            <a:r>
              <a:rPr lang="es-EC" sz="1000" dirty="0" err="1">
                <a:solidFill>
                  <a:schemeClr val="bg1"/>
                </a:solidFill>
              </a:rPr>
              <a:t>MSc</a:t>
            </a:r>
            <a:r>
              <a:rPr lang="es-EC" sz="1000" dirty="0">
                <a:solidFill>
                  <a:schemeClr val="bg1"/>
                </a:solidFill>
              </a:rPr>
              <a:t>. Jurado, Dr. Mera</a:t>
            </a:r>
          </a:p>
          <a:p>
            <a:pPr algn="ctr"/>
            <a:r>
              <a:rPr lang="es-EC" sz="1000" dirty="0">
                <a:solidFill>
                  <a:schemeClr val="bg1"/>
                </a:solidFill>
              </a:rPr>
              <a:t>2020</a:t>
            </a:r>
          </a:p>
        </p:txBody>
      </p:sp>
      <p:sp>
        <p:nvSpPr>
          <p:cNvPr id="6" name="CuadroTexto 5">
            <a:extLst>
              <a:ext uri="{FF2B5EF4-FFF2-40B4-BE49-F238E27FC236}">
                <a16:creationId xmlns:a16="http://schemas.microsoft.com/office/drawing/2014/main" id="{8464F896-FFA5-4D7F-9990-A5E05FB29701}"/>
              </a:ext>
            </a:extLst>
          </p:cNvPr>
          <p:cNvSpPr txBox="1"/>
          <p:nvPr/>
        </p:nvSpPr>
        <p:spPr>
          <a:xfrm>
            <a:off x="43543" y="6516912"/>
            <a:ext cx="3699164" cy="246221"/>
          </a:xfrm>
          <a:prstGeom prst="rect">
            <a:avLst/>
          </a:prstGeom>
          <a:noFill/>
        </p:spPr>
        <p:txBody>
          <a:bodyPr wrap="square" rtlCol="0">
            <a:spAutoFit/>
          </a:bodyPr>
          <a:lstStyle/>
          <a:p>
            <a:pPr algn="l"/>
            <a:r>
              <a:rPr lang="es-EC" sz="1000" dirty="0">
                <a:solidFill>
                  <a:schemeClr val="bg1"/>
                </a:solidFill>
              </a:rPr>
              <a:t>Unidad 1</a:t>
            </a:r>
          </a:p>
        </p:txBody>
      </p:sp>
    </p:spTree>
    <p:extLst>
      <p:ext uri="{BB962C8B-B14F-4D97-AF65-F5344CB8AC3E}">
        <p14:creationId xmlns:p14="http://schemas.microsoft.com/office/powerpoint/2010/main" val="2696273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Próxima ses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3EB784-F852-42C1-9675-D36ABFDA2B7D}"/>
              </a:ext>
            </a:extLst>
          </p:cNvPr>
          <p:cNvSpPr>
            <a:spLocks noGrp="1"/>
          </p:cNvSpPr>
          <p:nvPr>
            <p:ph type="title" hasCustomPrompt="1"/>
          </p:nvPr>
        </p:nvSpPr>
        <p:spPr>
          <a:xfrm>
            <a:off x="838200" y="365126"/>
            <a:ext cx="10515600" cy="975402"/>
          </a:xfrm>
          <a:noFill/>
        </p:spPr>
        <p:txBody>
          <a:bodyPr>
            <a:normAutofit/>
          </a:bodyPr>
          <a:lstStyle>
            <a:lvl1pPr>
              <a:defRPr lang="es-ES" sz="4000" dirty="0" smtClean="0">
                <a:solidFill>
                  <a:schemeClr val="bg1"/>
                </a:solidFill>
                <a:highlight>
                  <a:srgbClr val="000000"/>
                </a:highlight>
              </a:defRPr>
            </a:lvl1pPr>
          </a:lstStyle>
          <a:p>
            <a:r>
              <a:rPr lang="es-ES" dirty="0"/>
              <a:t>Próxima sesión </a:t>
            </a:r>
            <a:endParaRPr lang="es-EC" dirty="0"/>
          </a:p>
        </p:txBody>
      </p:sp>
      <p:sp>
        <p:nvSpPr>
          <p:cNvPr id="3" name="Marcador de contenido 2">
            <a:extLst>
              <a:ext uri="{FF2B5EF4-FFF2-40B4-BE49-F238E27FC236}">
                <a16:creationId xmlns:a16="http://schemas.microsoft.com/office/drawing/2014/main" id="{38F0EF87-E50C-48EE-BF76-347218027D29}"/>
              </a:ext>
            </a:extLst>
          </p:cNvPr>
          <p:cNvSpPr>
            <a:spLocks noGrp="1"/>
          </p:cNvSpPr>
          <p:nvPr>
            <p:ph idx="1"/>
          </p:nvPr>
        </p:nvSpPr>
        <p:spPr>
          <a:xfrm>
            <a:off x="838200" y="1452596"/>
            <a:ext cx="10515600" cy="4724367"/>
          </a:xfrm>
        </p:spPr>
        <p:txBody>
          <a:bodyPr/>
          <a:lstStyle>
            <a:lvl1pPr algn="just">
              <a:defRPr sz="3200"/>
            </a:lvl1pPr>
            <a:lvl2pPr algn="just">
              <a:defRPr sz="2800"/>
            </a:lvl2pPr>
            <a:lvl3pPr algn="just">
              <a:defRPr sz="2400"/>
            </a:lvl3pPr>
            <a:lvl4pPr algn="just">
              <a:defRPr sz="2000"/>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dirty="0"/>
          </a:p>
        </p:txBody>
      </p:sp>
      <p:pic>
        <p:nvPicPr>
          <p:cNvPr id="7" name="Imagen 6" descr="Cierres-ESPOL.png">
            <a:extLst>
              <a:ext uri="{FF2B5EF4-FFF2-40B4-BE49-F238E27FC236}">
                <a16:creationId xmlns:a16="http://schemas.microsoft.com/office/drawing/2014/main" id="{B948E82F-B28E-4B38-94CF-1865B1F9A8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5" name="CuadroTexto 4">
            <a:extLst>
              <a:ext uri="{FF2B5EF4-FFF2-40B4-BE49-F238E27FC236}">
                <a16:creationId xmlns:a16="http://schemas.microsoft.com/office/drawing/2014/main" id="{ADAA9F93-995F-46F9-9859-DA232F359551}"/>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Diseño de Software</a:t>
            </a:r>
          </a:p>
          <a:p>
            <a:pPr algn="ctr"/>
            <a:r>
              <a:rPr lang="es-EC" sz="1000" dirty="0" err="1">
                <a:solidFill>
                  <a:schemeClr val="bg1"/>
                </a:solidFill>
              </a:rPr>
              <a:t>MSc</a:t>
            </a:r>
            <a:r>
              <a:rPr lang="es-EC" sz="1000" dirty="0">
                <a:solidFill>
                  <a:schemeClr val="bg1"/>
                </a:solidFill>
              </a:rPr>
              <a:t>. Jurado, Dr. Mera</a:t>
            </a:r>
          </a:p>
          <a:p>
            <a:pPr algn="ctr"/>
            <a:r>
              <a:rPr lang="es-EC" sz="1000" dirty="0">
                <a:solidFill>
                  <a:schemeClr val="bg1"/>
                </a:solidFill>
              </a:rPr>
              <a:t>2020</a:t>
            </a:r>
          </a:p>
        </p:txBody>
      </p:sp>
      <p:sp>
        <p:nvSpPr>
          <p:cNvPr id="6" name="CuadroTexto 5">
            <a:extLst>
              <a:ext uri="{FF2B5EF4-FFF2-40B4-BE49-F238E27FC236}">
                <a16:creationId xmlns:a16="http://schemas.microsoft.com/office/drawing/2014/main" id="{8464F896-FFA5-4D7F-9990-A5E05FB29701}"/>
              </a:ext>
            </a:extLst>
          </p:cNvPr>
          <p:cNvSpPr txBox="1"/>
          <p:nvPr/>
        </p:nvSpPr>
        <p:spPr>
          <a:xfrm>
            <a:off x="43543" y="6516912"/>
            <a:ext cx="3699164" cy="246221"/>
          </a:xfrm>
          <a:prstGeom prst="rect">
            <a:avLst/>
          </a:prstGeom>
          <a:noFill/>
        </p:spPr>
        <p:txBody>
          <a:bodyPr wrap="square" rtlCol="0">
            <a:spAutoFit/>
          </a:bodyPr>
          <a:lstStyle/>
          <a:p>
            <a:pPr algn="l"/>
            <a:r>
              <a:rPr lang="en-GB" sz="1000" noProof="0" dirty="0">
                <a:solidFill>
                  <a:schemeClr val="bg1"/>
                </a:solidFill>
              </a:rPr>
              <a:t>Unidad</a:t>
            </a:r>
            <a:r>
              <a:rPr lang="es-EC" sz="1000" dirty="0">
                <a:solidFill>
                  <a:schemeClr val="bg1"/>
                </a:solidFill>
              </a:rPr>
              <a:t> 1</a:t>
            </a:r>
          </a:p>
        </p:txBody>
      </p:sp>
    </p:spTree>
    <p:extLst>
      <p:ext uri="{BB962C8B-B14F-4D97-AF65-F5344CB8AC3E}">
        <p14:creationId xmlns:p14="http://schemas.microsoft.com/office/powerpoint/2010/main" val="350203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27AFB-114B-4A9A-839F-DE8B5F4CF1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C"/>
          </a:p>
        </p:txBody>
      </p:sp>
      <p:sp>
        <p:nvSpPr>
          <p:cNvPr id="3" name="Marcador de texto 2">
            <a:extLst>
              <a:ext uri="{FF2B5EF4-FFF2-40B4-BE49-F238E27FC236}">
                <a16:creationId xmlns:a16="http://schemas.microsoft.com/office/drawing/2014/main" id="{B0A72AF0-6F1D-475E-A29E-003041CB93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Imagen 7" descr="Cierres-ESPOL.png">
            <a:extLst>
              <a:ext uri="{FF2B5EF4-FFF2-40B4-BE49-F238E27FC236}">
                <a16:creationId xmlns:a16="http://schemas.microsoft.com/office/drawing/2014/main" id="{E4D5AD5D-A7DA-4C34-8E4E-D290FD10E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5" name="CuadroTexto 4">
            <a:extLst>
              <a:ext uri="{FF2B5EF4-FFF2-40B4-BE49-F238E27FC236}">
                <a16:creationId xmlns:a16="http://schemas.microsoft.com/office/drawing/2014/main" id="{19C75E69-4D08-489E-B0B8-3300BC2B02CE}"/>
              </a:ext>
            </a:extLst>
          </p:cNvPr>
          <p:cNvSpPr txBox="1"/>
          <p:nvPr/>
        </p:nvSpPr>
        <p:spPr>
          <a:xfrm>
            <a:off x="4246418" y="6356350"/>
            <a:ext cx="3699164"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a:solidFill>
                  <a:schemeClr val="bg1"/>
                </a:solidFill>
              </a:rPr>
              <a:t>Ingeniería de Software II</a:t>
            </a:r>
          </a:p>
          <a:p>
            <a:pPr algn="ctr"/>
            <a:r>
              <a:rPr lang="es-EC" sz="1000" dirty="0">
                <a:solidFill>
                  <a:schemeClr val="bg1"/>
                </a:solidFill>
              </a:rPr>
              <a:t>Dra. Villavicencio, Dr. Mera</a:t>
            </a:r>
          </a:p>
          <a:p>
            <a:pPr algn="ctr"/>
            <a:r>
              <a:rPr lang="es-EC" sz="1000" dirty="0">
                <a:solidFill>
                  <a:schemeClr val="bg1"/>
                </a:solidFill>
              </a:rPr>
              <a:t>2020</a:t>
            </a:r>
          </a:p>
        </p:txBody>
      </p:sp>
      <p:sp>
        <p:nvSpPr>
          <p:cNvPr id="6" name="CuadroTexto 5">
            <a:extLst>
              <a:ext uri="{FF2B5EF4-FFF2-40B4-BE49-F238E27FC236}">
                <a16:creationId xmlns:a16="http://schemas.microsoft.com/office/drawing/2014/main" id="{1A5E5458-1BC0-4122-A5F9-6A88817E1652}"/>
              </a:ext>
            </a:extLst>
          </p:cNvPr>
          <p:cNvSpPr txBox="1"/>
          <p:nvPr/>
        </p:nvSpPr>
        <p:spPr>
          <a:xfrm>
            <a:off x="43543" y="6516912"/>
            <a:ext cx="3699164" cy="246221"/>
          </a:xfrm>
          <a:prstGeom prst="rect">
            <a:avLst/>
          </a:prstGeom>
          <a:noFill/>
        </p:spPr>
        <p:txBody>
          <a:bodyPr wrap="square" rtlCol="0">
            <a:spAutoFit/>
          </a:bodyPr>
          <a:lstStyle/>
          <a:p>
            <a:pPr algn="l"/>
            <a:r>
              <a:rPr lang="es-EC" sz="1000" dirty="0">
                <a:solidFill>
                  <a:schemeClr val="bg1"/>
                </a:solidFill>
              </a:rPr>
              <a:t>Unidad 1</a:t>
            </a:r>
          </a:p>
        </p:txBody>
      </p:sp>
    </p:spTree>
    <p:extLst>
      <p:ext uri="{BB962C8B-B14F-4D97-AF65-F5344CB8AC3E}">
        <p14:creationId xmlns:p14="http://schemas.microsoft.com/office/powerpoint/2010/main" val="3061292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3399CC-135B-41E2-8298-026617F28457}"/>
              </a:ext>
            </a:extLst>
          </p:cNvPr>
          <p:cNvSpPr>
            <a:spLocks noGrp="1"/>
          </p:cNvSpPr>
          <p:nvPr>
            <p:ph type="title"/>
          </p:nvPr>
        </p:nvSpPr>
        <p:spPr/>
        <p:txBody>
          <a:bodyPr/>
          <a:lstStyle/>
          <a:p>
            <a:r>
              <a:rPr lang="en-US"/>
              <a:t>Click to edit Master title style</a:t>
            </a:r>
            <a:endParaRPr lang="es-EC"/>
          </a:p>
        </p:txBody>
      </p:sp>
      <p:sp>
        <p:nvSpPr>
          <p:cNvPr id="3" name="Marcador de contenido 2">
            <a:extLst>
              <a:ext uri="{FF2B5EF4-FFF2-40B4-BE49-F238E27FC236}">
                <a16:creationId xmlns:a16="http://schemas.microsoft.com/office/drawing/2014/main" id="{FE54D0B9-A815-412E-9E20-B37D55200F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4" name="Marcador de contenido 3">
            <a:extLst>
              <a:ext uri="{FF2B5EF4-FFF2-40B4-BE49-F238E27FC236}">
                <a16:creationId xmlns:a16="http://schemas.microsoft.com/office/drawing/2014/main" id="{93032789-90F0-4FF3-91AC-E06DC05D05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pic>
        <p:nvPicPr>
          <p:cNvPr id="11" name="Imagen 10" descr="Cierres-ESPOL.png">
            <a:extLst>
              <a:ext uri="{FF2B5EF4-FFF2-40B4-BE49-F238E27FC236}">
                <a16:creationId xmlns:a16="http://schemas.microsoft.com/office/drawing/2014/main" id="{4D74C708-42E1-46E8-A053-EDB2AD6F3F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6" name="CuadroTexto 5">
            <a:extLst>
              <a:ext uri="{FF2B5EF4-FFF2-40B4-BE49-F238E27FC236}">
                <a16:creationId xmlns:a16="http://schemas.microsoft.com/office/drawing/2014/main" id="{FE6E78DC-2746-450F-A6AE-D24D105BA05A}"/>
              </a:ext>
            </a:extLst>
          </p:cNvPr>
          <p:cNvSpPr txBox="1"/>
          <p:nvPr/>
        </p:nvSpPr>
        <p:spPr>
          <a:xfrm>
            <a:off x="4061460" y="6356350"/>
            <a:ext cx="406908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a:solidFill>
                  <a:schemeClr val="bg1"/>
                </a:solidFill>
              </a:rPr>
              <a:t>Ingeniería de Software II</a:t>
            </a:r>
          </a:p>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a:solidFill>
                  <a:schemeClr val="bg1"/>
                </a:solidFill>
              </a:rPr>
              <a:t>Dra. Villavicencio, Dr. Mera</a:t>
            </a:r>
          </a:p>
          <a:p>
            <a:pPr algn="ctr"/>
            <a:r>
              <a:rPr lang="es-EC" sz="1000" dirty="0">
                <a:solidFill>
                  <a:schemeClr val="bg1"/>
                </a:solidFill>
              </a:rPr>
              <a:t>2020</a:t>
            </a:r>
          </a:p>
        </p:txBody>
      </p:sp>
      <p:sp>
        <p:nvSpPr>
          <p:cNvPr id="7" name="CuadroTexto 6">
            <a:extLst>
              <a:ext uri="{FF2B5EF4-FFF2-40B4-BE49-F238E27FC236}">
                <a16:creationId xmlns:a16="http://schemas.microsoft.com/office/drawing/2014/main" id="{1B9D2E5C-8E24-4E38-9F73-09F5E977AEA8}"/>
              </a:ext>
            </a:extLst>
          </p:cNvPr>
          <p:cNvSpPr txBox="1"/>
          <p:nvPr/>
        </p:nvSpPr>
        <p:spPr>
          <a:xfrm>
            <a:off x="43543" y="6516912"/>
            <a:ext cx="3699164" cy="246221"/>
          </a:xfrm>
          <a:prstGeom prst="rect">
            <a:avLst/>
          </a:prstGeom>
          <a:noFill/>
        </p:spPr>
        <p:txBody>
          <a:bodyPr wrap="square" rtlCol="0">
            <a:spAutoFit/>
          </a:bodyPr>
          <a:lstStyle/>
          <a:p>
            <a:pPr algn="l"/>
            <a:r>
              <a:rPr lang="es-EC" sz="1000" dirty="0">
                <a:solidFill>
                  <a:schemeClr val="bg1"/>
                </a:solidFill>
              </a:rPr>
              <a:t>Unidad 1</a:t>
            </a:r>
          </a:p>
        </p:txBody>
      </p:sp>
    </p:spTree>
    <p:extLst>
      <p:ext uri="{BB962C8B-B14F-4D97-AF65-F5344CB8AC3E}">
        <p14:creationId xmlns:p14="http://schemas.microsoft.com/office/powerpoint/2010/main" val="3536820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882833-BFD4-436D-8EAD-8603353529A2}"/>
              </a:ext>
            </a:extLst>
          </p:cNvPr>
          <p:cNvSpPr>
            <a:spLocks noGrp="1"/>
          </p:cNvSpPr>
          <p:nvPr>
            <p:ph type="title"/>
          </p:nvPr>
        </p:nvSpPr>
        <p:spPr>
          <a:xfrm>
            <a:off x="839788" y="365125"/>
            <a:ext cx="10515600" cy="1325563"/>
          </a:xfrm>
        </p:spPr>
        <p:txBody>
          <a:bodyPr/>
          <a:lstStyle/>
          <a:p>
            <a:r>
              <a:rPr lang="en-US"/>
              <a:t>Click to edit Master title style</a:t>
            </a:r>
            <a:endParaRPr lang="es-EC"/>
          </a:p>
        </p:txBody>
      </p:sp>
      <p:sp>
        <p:nvSpPr>
          <p:cNvPr id="3" name="Marcador de texto 2">
            <a:extLst>
              <a:ext uri="{FF2B5EF4-FFF2-40B4-BE49-F238E27FC236}">
                <a16:creationId xmlns:a16="http://schemas.microsoft.com/office/drawing/2014/main" id="{3FE302DF-4333-4631-8CC1-A72B420F26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Marcador de contenido 3">
            <a:extLst>
              <a:ext uri="{FF2B5EF4-FFF2-40B4-BE49-F238E27FC236}">
                <a16:creationId xmlns:a16="http://schemas.microsoft.com/office/drawing/2014/main" id="{5D0A98C3-CAF3-4212-B95C-9B325A47D6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5" name="Marcador de texto 4">
            <a:extLst>
              <a:ext uri="{FF2B5EF4-FFF2-40B4-BE49-F238E27FC236}">
                <a16:creationId xmlns:a16="http://schemas.microsoft.com/office/drawing/2014/main" id="{6074352C-F4BD-482E-B1BF-163D48E1A5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Marcador de contenido 5">
            <a:extLst>
              <a:ext uri="{FF2B5EF4-FFF2-40B4-BE49-F238E27FC236}">
                <a16:creationId xmlns:a16="http://schemas.microsoft.com/office/drawing/2014/main" id="{A964CD03-2168-452D-A1DD-28EC2E4486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pic>
        <p:nvPicPr>
          <p:cNvPr id="11" name="Imagen 10" descr="Cierres-ESPOL.png">
            <a:extLst>
              <a:ext uri="{FF2B5EF4-FFF2-40B4-BE49-F238E27FC236}">
                <a16:creationId xmlns:a16="http://schemas.microsoft.com/office/drawing/2014/main" id="{1C512A83-8E21-494D-8571-98C437E33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8" name="CuadroTexto 7">
            <a:extLst>
              <a:ext uri="{FF2B5EF4-FFF2-40B4-BE49-F238E27FC236}">
                <a16:creationId xmlns:a16="http://schemas.microsoft.com/office/drawing/2014/main" id="{91246B63-72A6-4F65-AD20-08D528D99EAF}"/>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Ingeniería de Software II</a:t>
            </a:r>
          </a:p>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a:solidFill>
                  <a:schemeClr val="bg1"/>
                </a:solidFill>
              </a:rPr>
              <a:t>Dra. Villavicencio, Dr. Mera</a:t>
            </a:r>
          </a:p>
          <a:p>
            <a:pPr algn="ctr"/>
            <a:r>
              <a:rPr lang="es-EC" sz="1000" dirty="0">
                <a:solidFill>
                  <a:schemeClr val="bg1"/>
                </a:solidFill>
              </a:rPr>
              <a:t>2020</a:t>
            </a:r>
          </a:p>
        </p:txBody>
      </p:sp>
      <p:sp>
        <p:nvSpPr>
          <p:cNvPr id="9" name="CuadroTexto 8">
            <a:extLst>
              <a:ext uri="{FF2B5EF4-FFF2-40B4-BE49-F238E27FC236}">
                <a16:creationId xmlns:a16="http://schemas.microsoft.com/office/drawing/2014/main" id="{F675DEAE-8C2E-440C-A631-EDFEE2E32DCE}"/>
              </a:ext>
            </a:extLst>
          </p:cNvPr>
          <p:cNvSpPr txBox="1"/>
          <p:nvPr/>
        </p:nvSpPr>
        <p:spPr>
          <a:xfrm>
            <a:off x="43543" y="6516912"/>
            <a:ext cx="3699164" cy="246221"/>
          </a:xfrm>
          <a:prstGeom prst="rect">
            <a:avLst/>
          </a:prstGeom>
          <a:noFill/>
        </p:spPr>
        <p:txBody>
          <a:bodyPr wrap="square" rtlCol="0">
            <a:spAutoFit/>
          </a:bodyPr>
          <a:lstStyle/>
          <a:p>
            <a:pPr algn="l"/>
            <a:r>
              <a:rPr lang="es-EC" sz="1000" dirty="0">
                <a:solidFill>
                  <a:schemeClr val="bg1"/>
                </a:solidFill>
              </a:rPr>
              <a:t>Unidad 1</a:t>
            </a:r>
          </a:p>
        </p:txBody>
      </p:sp>
    </p:spTree>
    <p:extLst>
      <p:ext uri="{BB962C8B-B14F-4D97-AF65-F5344CB8AC3E}">
        <p14:creationId xmlns:p14="http://schemas.microsoft.com/office/powerpoint/2010/main" val="3728931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BE917-8692-496D-9312-5AD91726C476}"/>
              </a:ext>
            </a:extLst>
          </p:cNvPr>
          <p:cNvSpPr>
            <a:spLocks noGrp="1"/>
          </p:cNvSpPr>
          <p:nvPr>
            <p:ph type="title"/>
          </p:nvPr>
        </p:nvSpPr>
        <p:spPr/>
        <p:txBody>
          <a:bodyPr/>
          <a:lstStyle/>
          <a:p>
            <a:r>
              <a:rPr lang="en-US"/>
              <a:t>Click to edit Master title style</a:t>
            </a:r>
            <a:endParaRPr lang="es-EC"/>
          </a:p>
        </p:txBody>
      </p:sp>
      <p:pic>
        <p:nvPicPr>
          <p:cNvPr id="7" name="Imagen 6" descr="Cierres-ESPOL.png">
            <a:extLst>
              <a:ext uri="{FF2B5EF4-FFF2-40B4-BE49-F238E27FC236}">
                <a16:creationId xmlns:a16="http://schemas.microsoft.com/office/drawing/2014/main" id="{95C63870-1342-4E14-AF77-B3F1C8293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4" name="CuadroTexto 3">
            <a:extLst>
              <a:ext uri="{FF2B5EF4-FFF2-40B4-BE49-F238E27FC236}">
                <a16:creationId xmlns:a16="http://schemas.microsoft.com/office/drawing/2014/main" id="{E7C4BF4E-9167-49F4-ABAD-2D5A4118A069}"/>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Ingeniería de Software II</a:t>
            </a:r>
          </a:p>
          <a:p>
            <a:pPr algn="ctr"/>
            <a:r>
              <a:rPr lang="es-EC" sz="1000" dirty="0">
                <a:solidFill>
                  <a:schemeClr val="bg1"/>
                </a:solidFill>
              </a:rPr>
              <a:t>Dra. Villavicencio, Dr. Mera</a:t>
            </a:r>
          </a:p>
          <a:p>
            <a:pPr algn="ctr"/>
            <a:r>
              <a:rPr lang="es-EC" sz="1000" dirty="0">
                <a:solidFill>
                  <a:schemeClr val="bg1"/>
                </a:solidFill>
              </a:rPr>
              <a:t>2020</a:t>
            </a:r>
          </a:p>
        </p:txBody>
      </p:sp>
      <p:sp>
        <p:nvSpPr>
          <p:cNvPr id="5" name="CuadroTexto 4">
            <a:extLst>
              <a:ext uri="{FF2B5EF4-FFF2-40B4-BE49-F238E27FC236}">
                <a16:creationId xmlns:a16="http://schemas.microsoft.com/office/drawing/2014/main" id="{C4AD52EA-099F-475B-8994-D0BB730DEE35}"/>
              </a:ext>
            </a:extLst>
          </p:cNvPr>
          <p:cNvSpPr txBox="1"/>
          <p:nvPr/>
        </p:nvSpPr>
        <p:spPr>
          <a:xfrm>
            <a:off x="43543" y="6516912"/>
            <a:ext cx="3699164" cy="246221"/>
          </a:xfrm>
          <a:prstGeom prst="rect">
            <a:avLst/>
          </a:prstGeom>
          <a:noFill/>
        </p:spPr>
        <p:txBody>
          <a:bodyPr wrap="square" rtlCol="0">
            <a:spAutoFit/>
          </a:bodyPr>
          <a:lstStyle/>
          <a:p>
            <a:pPr algn="l"/>
            <a:r>
              <a:rPr lang="es-EC" sz="1000" dirty="0">
                <a:solidFill>
                  <a:schemeClr val="bg1"/>
                </a:solidFill>
              </a:rPr>
              <a:t>Unidad 1</a:t>
            </a:r>
          </a:p>
        </p:txBody>
      </p:sp>
    </p:spTree>
    <p:extLst>
      <p:ext uri="{BB962C8B-B14F-4D97-AF65-F5344CB8AC3E}">
        <p14:creationId xmlns:p14="http://schemas.microsoft.com/office/powerpoint/2010/main" val="3240534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6" name="Imagen 5" descr="Cierres-ESPOL.png">
            <a:extLst>
              <a:ext uri="{FF2B5EF4-FFF2-40B4-BE49-F238E27FC236}">
                <a16:creationId xmlns:a16="http://schemas.microsoft.com/office/drawing/2014/main" id="{4658CBA8-A157-4F28-B43B-32859E0AD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3" name="CuadroTexto 2">
            <a:extLst>
              <a:ext uri="{FF2B5EF4-FFF2-40B4-BE49-F238E27FC236}">
                <a16:creationId xmlns:a16="http://schemas.microsoft.com/office/drawing/2014/main" id="{B9006F9A-08F2-4CB6-B525-4346E1695D56}"/>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Diseño de Software</a:t>
            </a:r>
          </a:p>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err="1">
                <a:solidFill>
                  <a:schemeClr val="bg1"/>
                </a:solidFill>
              </a:rPr>
              <a:t>MSc</a:t>
            </a:r>
            <a:r>
              <a:rPr lang="es-EC" sz="1000" dirty="0">
                <a:solidFill>
                  <a:schemeClr val="bg1"/>
                </a:solidFill>
              </a:rPr>
              <a:t>. Jurado, Dr. Mera</a:t>
            </a:r>
          </a:p>
          <a:p>
            <a:pPr algn="ctr"/>
            <a:r>
              <a:rPr lang="es-EC" sz="1000" dirty="0">
                <a:solidFill>
                  <a:schemeClr val="bg1"/>
                </a:solidFill>
              </a:rPr>
              <a:t>2020</a:t>
            </a:r>
          </a:p>
        </p:txBody>
      </p:sp>
      <p:sp>
        <p:nvSpPr>
          <p:cNvPr id="4" name="CuadroTexto 3">
            <a:extLst>
              <a:ext uri="{FF2B5EF4-FFF2-40B4-BE49-F238E27FC236}">
                <a16:creationId xmlns:a16="http://schemas.microsoft.com/office/drawing/2014/main" id="{C8739D41-A255-4C0D-A20E-C11F33951225}"/>
              </a:ext>
            </a:extLst>
          </p:cNvPr>
          <p:cNvSpPr txBox="1"/>
          <p:nvPr/>
        </p:nvSpPr>
        <p:spPr>
          <a:xfrm>
            <a:off x="43543" y="6516912"/>
            <a:ext cx="3699164" cy="246221"/>
          </a:xfrm>
          <a:prstGeom prst="rect">
            <a:avLst/>
          </a:prstGeom>
          <a:noFill/>
        </p:spPr>
        <p:txBody>
          <a:bodyPr wrap="square" rtlCol="0">
            <a:spAutoFit/>
          </a:bodyPr>
          <a:lstStyle/>
          <a:p>
            <a:pPr algn="l"/>
            <a:r>
              <a:rPr lang="en-GB" sz="1000" noProof="0" dirty="0">
                <a:solidFill>
                  <a:schemeClr val="bg1"/>
                </a:solidFill>
              </a:rPr>
              <a:t>Unidad</a:t>
            </a:r>
            <a:r>
              <a:rPr lang="es-EC" sz="1000" dirty="0">
                <a:solidFill>
                  <a:schemeClr val="bg1"/>
                </a:solidFill>
              </a:rPr>
              <a:t> 1</a:t>
            </a:r>
          </a:p>
        </p:txBody>
      </p:sp>
    </p:spTree>
    <p:extLst>
      <p:ext uri="{BB962C8B-B14F-4D97-AF65-F5344CB8AC3E}">
        <p14:creationId xmlns:p14="http://schemas.microsoft.com/office/powerpoint/2010/main" val="849875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mbio de tema">
    <p:spTree>
      <p:nvGrpSpPr>
        <p:cNvPr id="1" name=""/>
        <p:cNvGrpSpPr/>
        <p:nvPr/>
      </p:nvGrpSpPr>
      <p:grpSpPr>
        <a:xfrm>
          <a:off x="0" y="0"/>
          <a:ext cx="0" cy="0"/>
          <a:chOff x="0" y="0"/>
          <a:chExt cx="0" cy="0"/>
        </a:xfrm>
      </p:grpSpPr>
      <p:pic>
        <p:nvPicPr>
          <p:cNvPr id="6" name="Imagen 5" descr="Cierres-ESPOL.png">
            <a:extLst>
              <a:ext uri="{FF2B5EF4-FFF2-40B4-BE49-F238E27FC236}">
                <a16:creationId xmlns:a16="http://schemas.microsoft.com/office/drawing/2014/main" id="{4658CBA8-A157-4F28-B43B-32859E0AD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4844"/>
            <a:ext cx="12192000" cy="457200"/>
          </a:xfrm>
          <a:prstGeom prst="rect">
            <a:avLst/>
          </a:prstGeom>
        </p:spPr>
      </p:pic>
      <p:sp>
        <p:nvSpPr>
          <p:cNvPr id="3" name="CuadroTexto 2">
            <a:extLst>
              <a:ext uri="{FF2B5EF4-FFF2-40B4-BE49-F238E27FC236}">
                <a16:creationId xmlns:a16="http://schemas.microsoft.com/office/drawing/2014/main" id="{B9006F9A-08F2-4CB6-B525-4346E1695D56}"/>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Diseño de Software</a:t>
            </a:r>
          </a:p>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err="1">
                <a:solidFill>
                  <a:schemeClr val="bg1"/>
                </a:solidFill>
              </a:rPr>
              <a:t>MSc</a:t>
            </a:r>
            <a:r>
              <a:rPr lang="es-EC" sz="1000" dirty="0">
                <a:solidFill>
                  <a:schemeClr val="bg1"/>
                </a:solidFill>
              </a:rPr>
              <a:t>. Jurado, Dr. Mera</a:t>
            </a:r>
          </a:p>
          <a:p>
            <a:pPr algn="ctr"/>
            <a:r>
              <a:rPr lang="es-EC" sz="1000" dirty="0">
                <a:solidFill>
                  <a:schemeClr val="bg1"/>
                </a:solidFill>
              </a:rPr>
              <a:t>2020</a:t>
            </a:r>
          </a:p>
        </p:txBody>
      </p:sp>
      <p:sp>
        <p:nvSpPr>
          <p:cNvPr id="4" name="CuadroTexto 3">
            <a:extLst>
              <a:ext uri="{FF2B5EF4-FFF2-40B4-BE49-F238E27FC236}">
                <a16:creationId xmlns:a16="http://schemas.microsoft.com/office/drawing/2014/main" id="{C8739D41-A255-4C0D-A20E-C11F33951225}"/>
              </a:ext>
            </a:extLst>
          </p:cNvPr>
          <p:cNvSpPr txBox="1"/>
          <p:nvPr/>
        </p:nvSpPr>
        <p:spPr>
          <a:xfrm>
            <a:off x="43543" y="6516912"/>
            <a:ext cx="3699164" cy="246221"/>
          </a:xfrm>
          <a:prstGeom prst="rect">
            <a:avLst/>
          </a:prstGeom>
          <a:noFill/>
        </p:spPr>
        <p:txBody>
          <a:bodyPr wrap="square" rtlCol="0">
            <a:spAutoFit/>
          </a:bodyPr>
          <a:lstStyle/>
          <a:p>
            <a:pPr algn="l"/>
            <a:r>
              <a:rPr lang="en-GB" sz="1000" noProof="0" dirty="0">
                <a:solidFill>
                  <a:schemeClr val="bg1"/>
                </a:solidFill>
              </a:rPr>
              <a:t>Unidad</a:t>
            </a:r>
            <a:r>
              <a:rPr lang="es-EC" sz="1000" dirty="0">
                <a:solidFill>
                  <a:schemeClr val="bg1"/>
                </a:solidFill>
              </a:rPr>
              <a:t> 1</a:t>
            </a:r>
          </a:p>
        </p:txBody>
      </p:sp>
      <p:sp>
        <p:nvSpPr>
          <p:cNvPr id="7" name="Content Placeholder 6">
            <a:extLst>
              <a:ext uri="{FF2B5EF4-FFF2-40B4-BE49-F238E27FC236}">
                <a16:creationId xmlns:a16="http://schemas.microsoft.com/office/drawing/2014/main" id="{71E7F218-A1C1-49E0-8862-5EA526875E81}"/>
              </a:ext>
            </a:extLst>
          </p:cNvPr>
          <p:cNvSpPr>
            <a:spLocks noGrp="1"/>
          </p:cNvSpPr>
          <p:nvPr>
            <p:ph sz="quarter" idx="10"/>
          </p:nvPr>
        </p:nvSpPr>
        <p:spPr>
          <a:xfrm>
            <a:off x="808253" y="3906854"/>
            <a:ext cx="9844951" cy="914400"/>
          </a:xfrm>
        </p:spPr>
        <p:txBody>
          <a:bodyPr/>
          <a:lstStyle>
            <a:lvl1pPr marL="0" indent="0">
              <a:buNone/>
              <a:defRPr sz="3600" b="1"/>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108624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C85125-6AA2-44D1-80C2-1F7AE5454C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C"/>
          </a:p>
        </p:txBody>
      </p:sp>
      <p:sp>
        <p:nvSpPr>
          <p:cNvPr id="3" name="Marcador de contenido 2">
            <a:extLst>
              <a:ext uri="{FF2B5EF4-FFF2-40B4-BE49-F238E27FC236}">
                <a16:creationId xmlns:a16="http://schemas.microsoft.com/office/drawing/2014/main" id="{D62440F1-CAC1-47B8-8D06-BDDC9DB538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4" name="Marcador de texto 3">
            <a:extLst>
              <a:ext uri="{FF2B5EF4-FFF2-40B4-BE49-F238E27FC236}">
                <a16:creationId xmlns:a16="http://schemas.microsoft.com/office/drawing/2014/main" id="{FC7D0830-52E3-44DF-B081-2E23F2C8A1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0" name="Imagen 9" descr="Cierres-ESPOL.png">
            <a:extLst>
              <a:ext uri="{FF2B5EF4-FFF2-40B4-BE49-F238E27FC236}">
                <a16:creationId xmlns:a16="http://schemas.microsoft.com/office/drawing/2014/main" id="{A8757353-A526-4585-B04B-4E1B8D9AB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6" name="CuadroTexto 5">
            <a:extLst>
              <a:ext uri="{FF2B5EF4-FFF2-40B4-BE49-F238E27FC236}">
                <a16:creationId xmlns:a16="http://schemas.microsoft.com/office/drawing/2014/main" id="{90EDD72D-D201-4ED1-9961-09E13F1BAD1B}"/>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Ingeniería de Software II</a:t>
            </a:r>
          </a:p>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a:solidFill>
                  <a:schemeClr val="bg1"/>
                </a:solidFill>
              </a:rPr>
              <a:t>Dra. Villavicencio, Dr. Mera</a:t>
            </a:r>
          </a:p>
          <a:p>
            <a:pPr algn="ctr"/>
            <a:r>
              <a:rPr lang="es-EC" sz="1000" dirty="0">
                <a:solidFill>
                  <a:schemeClr val="bg1"/>
                </a:solidFill>
              </a:rPr>
              <a:t>2020</a:t>
            </a:r>
          </a:p>
        </p:txBody>
      </p:sp>
      <p:sp>
        <p:nvSpPr>
          <p:cNvPr id="7" name="CuadroTexto 6">
            <a:extLst>
              <a:ext uri="{FF2B5EF4-FFF2-40B4-BE49-F238E27FC236}">
                <a16:creationId xmlns:a16="http://schemas.microsoft.com/office/drawing/2014/main" id="{CA49DF77-79BE-4D6B-8F37-CE209115B1BE}"/>
              </a:ext>
            </a:extLst>
          </p:cNvPr>
          <p:cNvSpPr txBox="1"/>
          <p:nvPr/>
        </p:nvSpPr>
        <p:spPr>
          <a:xfrm>
            <a:off x="43543" y="6516912"/>
            <a:ext cx="3699164" cy="246221"/>
          </a:xfrm>
          <a:prstGeom prst="rect">
            <a:avLst/>
          </a:prstGeom>
          <a:noFill/>
        </p:spPr>
        <p:txBody>
          <a:bodyPr wrap="square" rtlCol="0">
            <a:spAutoFit/>
          </a:bodyPr>
          <a:lstStyle/>
          <a:p>
            <a:pPr algn="l"/>
            <a:r>
              <a:rPr lang="es-EC" sz="1000" dirty="0">
                <a:solidFill>
                  <a:schemeClr val="bg1"/>
                </a:solidFill>
              </a:rPr>
              <a:t>Unidad 1</a:t>
            </a:r>
          </a:p>
        </p:txBody>
      </p:sp>
    </p:spTree>
    <p:extLst>
      <p:ext uri="{BB962C8B-B14F-4D97-AF65-F5344CB8AC3E}">
        <p14:creationId xmlns:p14="http://schemas.microsoft.com/office/powerpoint/2010/main" val="11298175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715765-4E22-4FB8-AD81-6C5C21F06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C"/>
          </a:p>
        </p:txBody>
      </p:sp>
      <p:sp>
        <p:nvSpPr>
          <p:cNvPr id="3" name="Marcador de posición de imagen 2">
            <a:extLst>
              <a:ext uri="{FF2B5EF4-FFF2-40B4-BE49-F238E27FC236}">
                <a16:creationId xmlns:a16="http://schemas.microsoft.com/office/drawing/2014/main" id="{1B5A99E1-A881-4F86-BD85-D475411E6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s-EC"/>
          </a:p>
        </p:txBody>
      </p:sp>
      <p:sp>
        <p:nvSpPr>
          <p:cNvPr id="4" name="Marcador de texto 3">
            <a:extLst>
              <a:ext uri="{FF2B5EF4-FFF2-40B4-BE49-F238E27FC236}">
                <a16:creationId xmlns:a16="http://schemas.microsoft.com/office/drawing/2014/main" id="{233E005C-B4F8-428B-A7EC-7CB3CA7766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Imagen 7" descr="Cierres-ESPOL.png">
            <a:extLst>
              <a:ext uri="{FF2B5EF4-FFF2-40B4-BE49-F238E27FC236}">
                <a16:creationId xmlns:a16="http://schemas.microsoft.com/office/drawing/2014/main" id="{F9A6B9DE-4DE5-4CD6-A5BE-5E8BB3B3AD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6" name="CuadroTexto 5">
            <a:extLst>
              <a:ext uri="{FF2B5EF4-FFF2-40B4-BE49-F238E27FC236}">
                <a16:creationId xmlns:a16="http://schemas.microsoft.com/office/drawing/2014/main" id="{AB539381-0F58-4756-B765-FAAC68FA27AB}"/>
              </a:ext>
            </a:extLst>
          </p:cNvPr>
          <p:cNvSpPr txBox="1"/>
          <p:nvPr/>
        </p:nvSpPr>
        <p:spPr>
          <a:xfrm>
            <a:off x="4246418" y="6356350"/>
            <a:ext cx="3699164" cy="553998"/>
          </a:xfrm>
          <a:prstGeom prst="rect">
            <a:avLst/>
          </a:prstGeom>
          <a:noFill/>
        </p:spPr>
        <p:txBody>
          <a:bodyPr wrap="square" rtlCol="0">
            <a:spAutoFit/>
          </a:bodyPr>
          <a:lstStyle/>
          <a:p>
            <a:pPr algn="ctr"/>
            <a:r>
              <a:rPr lang="es-EC" sz="1000" dirty="0">
                <a:solidFill>
                  <a:schemeClr val="bg1"/>
                </a:solidFill>
              </a:rPr>
              <a:t>Ingeniería de Software II</a:t>
            </a:r>
          </a:p>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a:solidFill>
                  <a:schemeClr val="bg1"/>
                </a:solidFill>
              </a:rPr>
              <a:t>Dra. Villavicencio, Dr. Mera</a:t>
            </a:r>
          </a:p>
          <a:p>
            <a:pPr algn="ctr"/>
            <a:r>
              <a:rPr lang="es-EC" sz="1000" dirty="0">
                <a:solidFill>
                  <a:schemeClr val="bg1"/>
                </a:solidFill>
              </a:rPr>
              <a:t>2020</a:t>
            </a:r>
          </a:p>
        </p:txBody>
      </p:sp>
      <p:sp>
        <p:nvSpPr>
          <p:cNvPr id="7" name="CuadroTexto 6">
            <a:extLst>
              <a:ext uri="{FF2B5EF4-FFF2-40B4-BE49-F238E27FC236}">
                <a16:creationId xmlns:a16="http://schemas.microsoft.com/office/drawing/2014/main" id="{AD0446E9-0F04-4B08-A5E1-40F4F1667FFA}"/>
              </a:ext>
            </a:extLst>
          </p:cNvPr>
          <p:cNvSpPr txBox="1"/>
          <p:nvPr/>
        </p:nvSpPr>
        <p:spPr>
          <a:xfrm>
            <a:off x="43543" y="6516912"/>
            <a:ext cx="3699164" cy="246221"/>
          </a:xfrm>
          <a:prstGeom prst="rect">
            <a:avLst/>
          </a:prstGeom>
          <a:noFill/>
        </p:spPr>
        <p:txBody>
          <a:bodyPr wrap="square" rtlCol="0">
            <a:spAutoFit/>
          </a:bodyPr>
          <a:lstStyle/>
          <a:p>
            <a:pPr algn="l"/>
            <a:r>
              <a:rPr lang="es-EC" sz="1000" dirty="0">
                <a:solidFill>
                  <a:schemeClr val="bg1"/>
                </a:solidFill>
              </a:rPr>
              <a:t>Unidad 1</a:t>
            </a:r>
          </a:p>
        </p:txBody>
      </p:sp>
    </p:spTree>
    <p:extLst>
      <p:ext uri="{BB962C8B-B14F-4D97-AF65-F5344CB8AC3E}">
        <p14:creationId xmlns:p14="http://schemas.microsoft.com/office/powerpoint/2010/main" val="975437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ítulo y texto vertical">
    <p:spTree>
      <p:nvGrpSpPr>
        <p:cNvPr id="1" name=""/>
        <p:cNvGrpSpPr/>
        <p:nvPr/>
      </p:nvGrpSpPr>
      <p:grpSpPr>
        <a:xfrm>
          <a:off x="0" y="0"/>
          <a:ext cx="0" cy="0"/>
          <a:chOff x="0" y="0"/>
          <a:chExt cx="0" cy="0"/>
        </a:xfrm>
      </p:grpSpPr>
      <p:pic>
        <p:nvPicPr>
          <p:cNvPr id="7" name="Imagen 6" descr="Cierres-ESPOL.png">
            <a:extLst>
              <a:ext uri="{FF2B5EF4-FFF2-40B4-BE49-F238E27FC236}">
                <a16:creationId xmlns:a16="http://schemas.microsoft.com/office/drawing/2014/main" id="{F26559DC-FEDE-48B7-80FC-69D089A441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pic>
        <p:nvPicPr>
          <p:cNvPr id="8" name="Imagen 7" descr="backing-de-marca.png">
            <a:extLst>
              <a:ext uri="{FF2B5EF4-FFF2-40B4-BE49-F238E27FC236}">
                <a16:creationId xmlns:a16="http://schemas.microsoft.com/office/drawing/2014/main" id="{C2C84AC8-353F-43A0-9771-F1346126F7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1628" y="2508250"/>
            <a:ext cx="3188744" cy="920750"/>
          </a:xfrm>
          <a:prstGeom prst="rect">
            <a:avLst/>
          </a:prstGeom>
        </p:spPr>
      </p:pic>
      <p:sp>
        <p:nvSpPr>
          <p:cNvPr id="4" name="CuadroTexto 3">
            <a:extLst>
              <a:ext uri="{FF2B5EF4-FFF2-40B4-BE49-F238E27FC236}">
                <a16:creationId xmlns:a16="http://schemas.microsoft.com/office/drawing/2014/main" id="{FF255CB4-690F-42FB-83D6-FAE25B37AC1D}"/>
              </a:ext>
            </a:extLst>
          </p:cNvPr>
          <p:cNvSpPr txBox="1"/>
          <p:nvPr/>
        </p:nvSpPr>
        <p:spPr>
          <a:xfrm>
            <a:off x="4246418" y="6356350"/>
            <a:ext cx="3699164"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a:solidFill>
                  <a:schemeClr val="bg1"/>
                </a:solidFill>
              </a:rPr>
              <a:t>Ingeniería de Software II</a:t>
            </a:r>
          </a:p>
          <a:p>
            <a:pPr marL="0" marR="0" lvl="0" indent="0" algn="ctr" defTabSz="914400" rtl="0" eaLnBrk="1" fontAlgn="auto" latinLnBrk="0" hangingPunct="1">
              <a:lnSpc>
                <a:spcPct val="100000"/>
              </a:lnSpc>
              <a:spcBef>
                <a:spcPts val="0"/>
              </a:spcBef>
              <a:spcAft>
                <a:spcPts val="0"/>
              </a:spcAft>
              <a:buClrTx/>
              <a:buSzTx/>
              <a:buFontTx/>
              <a:buNone/>
              <a:tabLst/>
              <a:defRPr/>
            </a:pPr>
            <a:r>
              <a:rPr lang="es-EC" sz="1000" dirty="0">
                <a:solidFill>
                  <a:schemeClr val="bg1"/>
                </a:solidFill>
              </a:rPr>
              <a:t>Dra. Villavicencio, Dr. Mera</a:t>
            </a:r>
          </a:p>
          <a:p>
            <a:pPr algn="ctr"/>
            <a:r>
              <a:rPr lang="es-EC" sz="1000" dirty="0">
                <a:solidFill>
                  <a:schemeClr val="bg1"/>
                </a:solidFill>
              </a:rPr>
              <a:t>2020</a:t>
            </a:r>
          </a:p>
        </p:txBody>
      </p:sp>
      <p:sp>
        <p:nvSpPr>
          <p:cNvPr id="5" name="CuadroTexto 4">
            <a:extLst>
              <a:ext uri="{FF2B5EF4-FFF2-40B4-BE49-F238E27FC236}">
                <a16:creationId xmlns:a16="http://schemas.microsoft.com/office/drawing/2014/main" id="{9E0BE51C-9865-4C64-B896-3EB3C623B264}"/>
              </a:ext>
            </a:extLst>
          </p:cNvPr>
          <p:cNvSpPr txBox="1"/>
          <p:nvPr/>
        </p:nvSpPr>
        <p:spPr>
          <a:xfrm>
            <a:off x="43543" y="6516912"/>
            <a:ext cx="3699164" cy="246221"/>
          </a:xfrm>
          <a:prstGeom prst="rect">
            <a:avLst/>
          </a:prstGeom>
          <a:noFill/>
        </p:spPr>
        <p:txBody>
          <a:bodyPr wrap="square" rtlCol="0">
            <a:spAutoFit/>
          </a:bodyPr>
          <a:lstStyle/>
          <a:p>
            <a:pPr algn="l"/>
            <a:r>
              <a:rPr lang="en-GB" sz="1000" noProof="0" dirty="0">
                <a:solidFill>
                  <a:schemeClr val="bg1"/>
                </a:solidFill>
              </a:rPr>
              <a:t>Unit</a:t>
            </a:r>
            <a:r>
              <a:rPr lang="es-EC" sz="1000" dirty="0">
                <a:solidFill>
                  <a:schemeClr val="bg1"/>
                </a:solidFill>
              </a:rPr>
              <a:t> 1</a:t>
            </a:r>
          </a:p>
        </p:txBody>
      </p:sp>
    </p:spTree>
    <p:extLst>
      <p:ext uri="{BB962C8B-B14F-4D97-AF65-F5344CB8AC3E}">
        <p14:creationId xmlns:p14="http://schemas.microsoft.com/office/powerpoint/2010/main" val="1243032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25BFEAE-23E5-49DC-B07D-1010373B5A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C"/>
          </a:p>
        </p:txBody>
      </p:sp>
      <p:sp>
        <p:nvSpPr>
          <p:cNvPr id="3" name="Marcador de texto vertical 2">
            <a:extLst>
              <a:ext uri="{FF2B5EF4-FFF2-40B4-BE49-F238E27FC236}">
                <a16:creationId xmlns:a16="http://schemas.microsoft.com/office/drawing/2014/main" id="{74AF8657-CA80-42E0-90DA-B2390CC4CC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pic>
        <p:nvPicPr>
          <p:cNvPr id="7" name="Imagen 6" descr="Cierres-ESPOL.png">
            <a:extLst>
              <a:ext uri="{FF2B5EF4-FFF2-40B4-BE49-F238E27FC236}">
                <a16:creationId xmlns:a16="http://schemas.microsoft.com/office/drawing/2014/main" id="{F766A33A-9C2C-4561-871F-FF52EB92E0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661952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A6D85-AA52-405D-B830-BC12CCD28B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89BE4AF-8A00-45D7-A1C2-E1E9A4FE7F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F398133-285F-4660-83A1-9453A3CD0993}"/>
              </a:ext>
            </a:extLst>
          </p:cNvPr>
          <p:cNvSpPr>
            <a:spLocks noGrp="1"/>
          </p:cNvSpPr>
          <p:nvPr>
            <p:ph type="dt" sz="half" idx="10"/>
          </p:nvPr>
        </p:nvSpPr>
        <p:spPr/>
        <p:txBody>
          <a:bodyPr/>
          <a:lstStyle/>
          <a:p>
            <a:fld id="{30840AE9-7767-423C-84EE-B8D9B217A260}" type="datetimeFigureOut">
              <a:rPr lang="en-GB" smtClean="0"/>
              <a:t>09/06/2020</a:t>
            </a:fld>
            <a:endParaRPr lang="en-GB"/>
          </a:p>
        </p:txBody>
      </p:sp>
      <p:sp>
        <p:nvSpPr>
          <p:cNvPr id="5" name="Footer Placeholder 4">
            <a:extLst>
              <a:ext uri="{FF2B5EF4-FFF2-40B4-BE49-F238E27FC236}">
                <a16:creationId xmlns:a16="http://schemas.microsoft.com/office/drawing/2014/main" id="{DF00F85A-3264-4D4D-9D1E-9FE2BA1E98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5415F3-E9AB-4FA1-8478-0AE2005126D2}"/>
              </a:ext>
            </a:extLst>
          </p:cNvPr>
          <p:cNvSpPr>
            <a:spLocks noGrp="1"/>
          </p:cNvSpPr>
          <p:nvPr>
            <p:ph type="sldNum" sz="quarter" idx="12"/>
          </p:nvPr>
        </p:nvSpPr>
        <p:spPr/>
        <p:txBody>
          <a:bodyPr/>
          <a:lstStyle/>
          <a:p>
            <a:fld id="{E8C71ABF-EDD6-4292-BDF9-9B6EF8422E2D}" type="slidenum">
              <a:rPr lang="en-GB" smtClean="0"/>
              <a:t>‹Nº›</a:t>
            </a:fld>
            <a:endParaRPr lang="en-GB"/>
          </a:p>
        </p:txBody>
      </p:sp>
    </p:spTree>
    <p:extLst>
      <p:ext uri="{BB962C8B-B14F-4D97-AF65-F5344CB8AC3E}">
        <p14:creationId xmlns:p14="http://schemas.microsoft.com/office/powerpoint/2010/main" val="4121345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F87473F-E608-4C9B-A7F8-3B8789619C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EC" dirty="0"/>
          </a:p>
        </p:txBody>
      </p:sp>
      <p:sp>
        <p:nvSpPr>
          <p:cNvPr id="3" name="Marcador de texto 2">
            <a:extLst>
              <a:ext uri="{FF2B5EF4-FFF2-40B4-BE49-F238E27FC236}">
                <a16:creationId xmlns:a16="http://schemas.microsoft.com/office/drawing/2014/main" id="{D7989F97-8D7D-49E6-A39F-B4F2CAD885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A53986CF-92C5-437C-96ED-3C164D0C4B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840AE9-7767-423C-84EE-B8D9B217A260}" type="datetimeFigureOut">
              <a:rPr lang="en-GB" smtClean="0"/>
              <a:t>09/06/2020</a:t>
            </a:fld>
            <a:endParaRPr lang="en-GB"/>
          </a:p>
        </p:txBody>
      </p:sp>
      <p:sp>
        <p:nvSpPr>
          <p:cNvPr id="5" name="Marcador de pie de página 4">
            <a:extLst>
              <a:ext uri="{FF2B5EF4-FFF2-40B4-BE49-F238E27FC236}">
                <a16:creationId xmlns:a16="http://schemas.microsoft.com/office/drawing/2014/main" id="{003AEEAE-8F33-4DBD-9DB7-71504DF873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Marcador de número de diapositiva 5">
            <a:extLst>
              <a:ext uri="{FF2B5EF4-FFF2-40B4-BE49-F238E27FC236}">
                <a16:creationId xmlns:a16="http://schemas.microsoft.com/office/drawing/2014/main" id="{12075BB2-D1EE-4772-AEE2-C96BAD9C1B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C71ABF-EDD6-4292-BDF9-9B6EF8422E2D}" type="slidenum">
              <a:rPr lang="en-GB" smtClean="0"/>
              <a:t>‹Nº›</a:t>
            </a:fld>
            <a:endParaRPr lang="en-GB"/>
          </a:p>
        </p:txBody>
      </p:sp>
    </p:spTree>
    <p:extLst>
      <p:ext uri="{BB962C8B-B14F-4D97-AF65-F5344CB8AC3E}">
        <p14:creationId xmlns:p14="http://schemas.microsoft.com/office/powerpoint/2010/main" val="1196810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B7A174-51BD-4680-B36D-0A845C7E18A8}"/>
              </a:ext>
            </a:extLst>
          </p:cNvPr>
          <p:cNvSpPr>
            <a:spLocks noGrp="1"/>
          </p:cNvSpPr>
          <p:nvPr>
            <p:ph type="ctrTitle"/>
          </p:nvPr>
        </p:nvSpPr>
        <p:spPr/>
        <p:txBody>
          <a:bodyPr/>
          <a:lstStyle/>
          <a:p>
            <a:r>
              <a:rPr lang="en-GB" dirty="0"/>
              <a:t>DevOps y </a:t>
            </a:r>
            <a:r>
              <a:rPr lang="en-GB" dirty="0" err="1"/>
              <a:t>Entrega</a:t>
            </a:r>
            <a:r>
              <a:rPr lang="en-GB" dirty="0"/>
              <a:t> Continua</a:t>
            </a:r>
          </a:p>
        </p:txBody>
      </p:sp>
      <p:sp>
        <p:nvSpPr>
          <p:cNvPr id="5" name="Subtitle 4">
            <a:extLst>
              <a:ext uri="{FF2B5EF4-FFF2-40B4-BE49-F238E27FC236}">
                <a16:creationId xmlns:a16="http://schemas.microsoft.com/office/drawing/2014/main" id="{311C9239-4489-45B1-9127-4ED82989B6D7}"/>
              </a:ext>
            </a:extLst>
          </p:cNvPr>
          <p:cNvSpPr>
            <a:spLocks noGrp="1"/>
          </p:cNvSpPr>
          <p:nvPr>
            <p:ph type="subTitle" idx="1"/>
          </p:nvPr>
        </p:nvSpPr>
        <p:spPr/>
        <p:txBody>
          <a:bodyPr/>
          <a:lstStyle/>
          <a:p>
            <a:r>
              <a:rPr lang="en-GB" dirty="0" err="1"/>
              <a:t>Semana</a:t>
            </a:r>
            <a:r>
              <a:rPr lang="en-GB" dirty="0"/>
              <a:t> 2</a:t>
            </a:r>
          </a:p>
        </p:txBody>
      </p:sp>
    </p:spTree>
    <p:extLst>
      <p:ext uri="{BB962C8B-B14F-4D97-AF65-F5344CB8AC3E}">
        <p14:creationId xmlns:p14="http://schemas.microsoft.com/office/powerpoint/2010/main" val="2268396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AF8641-6DF4-4E8A-A509-7C3B84C17058}"/>
              </a:ext>
            </a:extLst>
          </p:cNvPr>
          <p:cNvSpPr>
            <a:spLocks noGrp="1"/>
          </p:cNvSpPr>
          <p:nvPr>
            <p:ph type="title"/>
          </p:nvPr>
        </p:nvSpPr>
        <p:spPr/>
        <p:txBody>
          <a:bodyPr/>
          <a:lstStyle/>
          <a:p>
            <a:r>
              <a:rPr lang="en-GB" dirty="0"/>
              <a:t>Agenda</a:t>
            </a:r>
          </a:p>
        </p:txBody>
      </p:sp>
      <p:sp>
        <p:nvSpPr>
          <p:cNvPr id="5" name="Content Placeholder 4">
            <a:extLst>
              <a:ext uri="{FF2B5EF4-FFF2-40B4-BE49-F238E27FC236}">
                <a16:creationId xmlns:a16="http://schemas.microsoft.com/office/drawing/2014/main" id="{BF12B529-3C9E-49DB-84C7-989DD8F9DA01}"/>
              </a:ext>
            </a:extLst>
          </p:cNvPr>
          <p:cNvSpPr>
            <a:spLocks noGrp="1"/>
          </p:cNvSpPr>
          <p:nvPr>
            <p:ph idx="1"/>
          </p:nvPr>
        </p:nvSpPr>
        <p:spPr/>
        <p:txBody>
          <a:bodyPr>
            <a:normAutofit fontScale="92500" lnSpcReduction="10000"/>
          </a:bodyPr>
          <a:lstStyle/>
          <a:p>
            <a:r>
              <a:rPr lang="es-EC" dirty="0"/>
              <a:t>El problema de entregar software</a:t>
            </a:r>
          </a:p>
          <a:p>
            <a:r>
              <a:rPr lang="es-EC" dirty="0"/>
              <a:t>Entrega</a:t>
            </a:r>
            <a:r>
              <a:rPr lang="en-GB" dirty="0"/>
              <a:t> continua</a:t>
            </a:r>
          </a:p>
          <a:p>
            <a:pPr lvl="1"/>
            <a:r>
              <a:rPr lang="en-GB" dirty="0"/>
              <a:t>¿</a:t>
            </a:r>
            <a:r>
              <a:rPr lang="es-EC" dirty="0"/>
              <a:t>Qué</a:t>
            </a:r>
            <a:r>
              <a:rPr lang="en-GB" dirty="0"/>
              <a:t> es </a:t>
            </a:r>
            <a:r>
              <a:rPr lang="es-EC" dirty="0"/>
              <a:t>Entrega</a:t>
            </a:r>
            <a:r>
              <a:rPr lang="en-GB" dirty="0"/>
              <a:t> Continua (Continuous Delivery)?</a:t>
            </a:r>
          </a:p>
          <a:p>
            <a:pPr lvl="1"/>
            <a:r>
              <a:rPr lang="es-EC" dirty="0"/>
              <a:t>Beneficios de la entrega continua</a:t>
            </a:r>
          </a:p>
          <a:p>
            <a:pPr lvl="1"/>
            <a:r>
              <a:rPr lang="es-EC" dirty="0"/>
              <a:t>Principios de la entrega de software</a:t>
            </a:r>
          </a:p>
          <a:p>
            <a:pPr lvl="1"/>
            <a:r>
              <a:rPr lang="es-EC" dirty="0"/>
              <a:t>Conceptos relacionados</a:t>
            </a:r>
          </a:p>
          <a:p>
            <a:r>
              <a:rPr lang="es-EC" dirty="0"/>
              <a:t>DevOps</a:t>
            </a:r>
          </a:p>
          <a:p>
            <a:pPr lvl="1"/>
            <a:r>
              <a:rPr lang="en-GB" dirty="0"/>
              <a:t>¿</a:t>
            </a:r>
            <a:r>
              <a:rPr lang="en-GB" dirty="0" err="1"/>
              <a:t>Qué</a:t>
            </a:r>
            <a:r>
              <a:rPr lang="en-GB" dirty="0"/>
              <a:t> es DevOps?</a:t>
            </a:r>
          </a:p>
          <a:p>
            <a:pPr lvl="1"/>
            <a:r>
              <a:rPr lang="es-EC" dirty="0"/>
              <a:t>¿Cuál es el origen de DevOps?</a:t>
            </a:r>
          </a:p>
          <a:p>
            <a:pPr lvl="1"/>
            <a:r>
              <a:rPr lang="es-EC" dirty="0"/>
              <a:t>De Dev vs. </a:t>
            </a:r>
            <a:r>
              <a:rPr lang="es-EC" dirty="0" err="1"/>
              <a:t>Ops</a:t>
            </a:r>
            <a:r>
              <a:rPr lang="es-EC" dirty="0"/>
              <a:t> a DevOps</a:t>
            </a:r>
          </a:p>
          <a:p>
            <a:pPr lvl="1"/>
            <a:r>
              <a:rPr lang="en-GB" dirty="0"/>
              <a:t>Los </a:t>
            </a:r>
            <a:r>
              <a:rPr lang="en-GB" dirty="0" err="1"/>
              <a:t>desafíos</a:t>
            </a:r>
            <a:r>
              <a:rPr lang="en-GB" dirty="0"/>
              <a:t> de la </a:t>
            </a:r>
            <a:r>
              <a:rPr lang="en-GB" dirty="0" err="1"/>
              <a:t>cultura</a:t>
            </a:r>
            <a:r>
              <a:rPr lang="en-GB" dirty="0"/>
              <a:t> DevOps</a:t>
            </a:r>
            <a:endParaRPr lang="es-EC" dirty="0"/>
          </a:p>
          <a:p>
            <a:endParaRPr lang="es-EC"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995991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6320873-7BD3-4DD4-BA78-9BCB77C8B8CA}"/>
              </a:ext>
            </a:extLst>
          </p:cNvPr>
          <p:cNvSpPr>
            <a:spLocks noGrp="1"/>
          </p:cNvSpPr>
          <p:nvPr>
            <p:ph sz="quarter" idx="10"/>
          </p:nvPr>
        </p:nvSpPr>
        <p:spPr/>
        <p:txBody>
          <a:bodyPr/>
          <a:lstStyle/>
          <a:p>
            <a:r>
              <a:rPr lang="es-EC" dirty="0"/>
              <a:t>El problema de entregar software</a:t>
            </a:r>
            <a:endParaRPr lang="en-GB" dirty="0"/>
          </a:p>
        </p:txBody>
      </p:sp>
    </p:spTree>
    <p:extLst>
      <p:ext uri="{BB962C8B-B14F-4D97-AF65-F5344CB8AC3E}">
        <p14:creationId xmlns:p14="http://schemas.microsoft.com/office/powerpoint/2010/main" val="3529569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69378-47A0-4BC8-9F8B-7A43D7FE1647}"/>
              </a:ext>
            </a:extLst>
          </p:cNvPr>
          <p:cNvSpPr>
            <a:spLocks noGrp="1"/>
          </p:cNvSpPr>
          <p:nvPr>
            <p:ph type="title"/>
          </p:nvPr>
        </p:nvSpPr>
        <p:spPr/>
        <p:txBody>
          <a:bodyPr>
            <a:normAutofit/>
          </a:bodyPr>
          <a:lstStyle/>
          <a:p>
            <a:r>
              <a:rPr lang="es-EC" dirty="0"/>
              <a:t>El problema de entregar software</a:t>
            </a:r>
            <a:endParaRPr lang="en-GB" dirty="0"/>
          </a:p>
        </p:txBody>
      </p:sp>
      <p:sp>
        <p:nvSpPr>
          <p:cNvPr id="3" name="Content Placeholder 2">
            <a:extLst>
              <a:ext uri="{FF2B5EF4-FFF2-40B4-BE49-F238E27FC236}">
                <a16:creationId xmlns:a16="http://schemas.microsoft.com/office/drawing/2014/main" id="{4AD8DDB1-F310-4B5F-9B97-28FB51A781A0}"/>
              </a:ext>
            </a:extLst>
          </p:cNvPr>
          <p:cNvSpPr>
            <a:spLocks noGrp="1"/>
          </p:cNvSpPr>
          <p:nvPr>
            <p:ph idx="1"/>
          </p:nvPr>
        </p:nvSpPr>
        <p:spPr/>
        <p:txBody>
          <a:bodyPr/>
          <a:lstStyle/>
          <a:p>
            <a:r>
              <a:rPr lang="es-EC" dirty="0"/>
              <a:t>¿Qué sucede después que los requerimientos son identificados, la solución es diseñada, desarrollada y probada?</a:t>
            </a:r>
          </a:p>
          <a:p>
            <a:pPr lvl="1"/>
            <a:r>
              <a:rPr lang="en-GB" b="1" dirty="0"/>
              <a:t>El software </a:t>
            </a:r>
            <a:r>
              <a:rPr lang="en-GB" b="1" dirty="0" err="1"/>
              <a:t>pasa</a:t>
            </a:r>
            <a:r>
              <a:rPr lang="en-GB" b="1" dirty="0"/>
              <a:t> de </a:t>
            </a:r>
            <a:r>
              <a:rPr lang="es-EC" b="1" dirty="0"/>
              <a:t>desarrollo</a:t>
            </a:r>
            <a:r>
              <a:rPr lang="en-GB" b="1" dirty="0"/>
              <a:t> a </a:t>
            </a:r>
            <a:r>
              <a:rPr lang="es-EC" b="1" dirty="0"/>
              <a:t>producción</a:t>
            </a:r>
            <a:r>
              <a:rPr lang="en-GB" dirty="0"/>
              <a:t>.</a:t>
            </a:r>
          </a:p>
          <a:p>
            <a:r>
              <a:rPr lang="en-GB" dirty="0"/>
              <a:t>¿</a:t>
            </a:r>
            <a:r>
              <a:rPr lang="en-GB" dirty="0" err="1"/>
              <a:t>Cómo</a:t>
            </a:r>
            <a:r>
              <a:rPr lang="en-GB" dirty="0"/>
              <a:t> se </a:t>
            </a:r>
            <a:r>
              <a:rPr lang="en-GB" dirty="0" err="1"/>
              <a:t>puede</a:t>
            </a:r>
            <a:r>
              <a:rPr lang="en-GB" dirty="0"/>
              <a:t> </a:t>
            </a:r>
            <a:r>
              <a:rPr lang="en-GB" dirty="0" err="1"/>
              <a:t>entregar</a:t>
            </a:r>
            <a:r>
              <a:rPr lang="en-GB" dirty="0"/>
              <a:t> software a los </a:t>
            </a:r>
            <a:r>
              <a:rPr lang="en-GB" dirty="0" err="1"/>
              <a:t>usuarios</a:t>
            </a:r>
            <a:r>
              <a:rPr lang="en-GB" dirty="0"/>
              <a:t> tan pronto </a:t>
            </a:r>
            <a:r>
              <a:rPr lang="en-GB" dirty="0" err="1"/>
              <a:t>como</a:t>
            </a:r>
            <a:r>
              <a:rPr lang="en-GB" dirty="0"/>
              <a:t> sea possible?</a:t>
            </a:r>
          </a:p>
          <a:p>
            <a:pPr lvl="1"/>
            <a:r>
              <a:rPr lang="en-GB" dirty="0"/>
              <a:t>Con </a:t>
            </a:r>
            <a:r>
              <a:rPr lang="en-GB" dirty="0" err="1"/>
              <a:t>ciclos</a:t>
            </a:r>
            <a:r>
              <a:rPr lang="en-GB" dirty="0"/>
              <a:t> de </a:t>
            </a:r>
            <a:r>
              <a:rPr lang="en-GB" b="1" dirty="0" err="1"/>
              <a:t>entrega</a:t>
            </a:r>
            <a:r>
              <a:rPr lang="en-GB" dirty="0"/>
              <a:t> de software </a:t>
            </a:r>
            <a:r>
              <a:rPr lang="en-GB" b="1" dirty="0" err="1"/>
              <a:t>frecuentes</a:t>
            </a:r>
            <a:r>
              <a:rPr lang="en-GB" dirty="0"/>
              <a:t>, de horas o </a:t>
            </a:r>
            <a:r>
              <a:rPr lang="en-GB" dirty="0" err="1"/>
              <a:t>minutos</a:t>
            </a:r>
            <a:r>
              <a:rPr lang="en-GB" dirty="0"/>
              <a:t>.</a:t>
            </a:r>
          </a:p>
          <a:p>
            <a:pPr lvl="1"/>
            <a:r>
              <a:rPr lang="en-GB" dirty="0"/>
              <a:t>Con una </a:t>
            </a:r>
            <a:r>
              <a:rPr lang="en-GB" b="1" dirty="0" err="1"/>
              <a:t>subida</a:t>
            </a:r>
            <a:r>
              <a:rPr lang="en-GB" b="1" dirty="0"/>
              <a:t> a </a:t>
            </a:r>
            <a:r>
              <a:rPr lang="en-GB" b="1" dirty="0" err="1"/>
              <a:t>producción</a:t>
            </a:r>
            <a:r>
              <a:rPr lang="en-GB" b="1" dirty="0"/>
              <a:t> </a:t>
            </a:r>
            <a:r>
              <a:rPr lang="en-GB" dirty="0" err="1"/>
              <a:t>completamente</a:t>
            </a:r>
            <a:r>
              <a:rPr lang="en-GB" dirty="0"/>
              <a:t> </a:t>
            </a:r>
            <a:r>
              <a:rPr lang="en-GB" b="1" dirty="0" err="1"/>
              <a:t>automatizada</a:t>
            </a:r>
            <a:r>
              <a:rPr lang="en-GB" dirty="0"/>
              <a:t>, </a:t>
            </a:r>
            <a:r>
              <a:rPr lang="en-GB" dirty="0" err="1"/>
              <a:t>repetible</a:t>
            </a:r>
            <a:r>
              <a:rPr lang="en-GB" dirty="0"/>
              <a:t> y </a:t>
            </a:r>
            <a:r>
              <a:rPr lang="en-GB" dirty="0" err="1"/>
              <a:t>confiable</a:t>
            </a:r>
            <a:r>
              <a:rPr lang="en-GB" dirty="0"/>
              <a:t>.</a:t>
            </a:r>
          </a:p>
          <a:p>
            <a:endParaRPr lang="en-GB" dirty="0"/>
          </a:p>
        </p:txBody>
      </p:sp>
    </p:spTree>
    <p:extLst>
      <p:ext uri="{BB962C8B-B14F-4D97-AF65-F5344CB8AC3E}">
        <p14:creationId xmlns:p14="http://schemas.microsoft.com/office/powerpoint/2010/main" val="2144464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F3986-BB7C-4B73-8357-6C1630F08FFE}"/>
              </a:ext>
            </a:extLst>
          </p:cNvPr>
          <p:cNvSpPr>
            <a:spLocks noGrp="1"/>
          </p:cNvSpPr>
          <p:nvPr>
            <p:ph type="title"/>
          </p:nvPr>
        </p:nvSpPr>
        <p:spPr/>
        <p:txBody>
          <a:bodyPr>
            <a:normAutofit fontScale="90000"/>
          </a:bodyPr>
          <a:lstStyle/>
          <a:p>
            <a:r>
              <a:rPr lang="es-EC" dirty="0"/>
              <a:t>La tubería de entrega de software (</a:t>
            </a:r>
            <a:r>
              <a:rPr lang="es-EC" dirty="0" err="1"/>
              <a:t>the</a:t>
            </a:r>
            <a:r>
              <a:rPr lang="es-EC" dirty="0"/>
              <a:t> </a:t>
            </a:r>
            <a:r>
              <a:rPr lang="es-EC" dirty="0" err="1"/>
              <a:t>delivery</a:t>
            </a:r>
            <a:r>
              <a:rPr lang="es-EC" dirty="0"/>
              <a:t> pipeline)</a:t>
            </a:r>
          </a:p>
        </p:txBody>
      </p:sp>
      <p:sp>
        <p:nvSpPr>
          <p:cNvPr id="3" name="Content Placeholder 2">
            <a:extLst>
              <a:ext uri="{FF2B5EF4-FFF2-40B4-BE49-F238E27FC236}">
                <a16:creationId xmlns:a16="http://schemas.microsoft.com/office/drawing/2014/main" id="{319C00B6-0CD8-48D7-BD55-126E465B1844}"/>
              </a:ext>
            </a:extLst>
          </p:cNvPr>
          <p:cNvSpPr>
            <a:spLocks noGrp="1"/>
          </p:cNvSpPr>
          <p:nvPr>
            <p:ph idx="1"/>
          </p:nvPr>
        </p:nvSpPr>
        <p:spPr/>
        <p:txBody>
          <a:bodyPr/>
          <a:lstStyle/>
          <a:p>
            <a:endParaRPr lang="es-EC"/>
          </a:p>
        </p:txBody>
      </p:sp>
      <p:pic>
        <p:nvPicPr>
          <p:cNvPr id="4" name="Picture 3">
            <a:extLst>
              <a:ext uri="{FF2B5EF4-FFF2-40B4-BE49-F238E27FC236}">
                <a16:creationId xmlns:a16="http://schemas.microsoft.com/office/drawing/2014/main" id="{01A21AA5-29C1-4470-8CC4-AC92F96C3139}"/>
              </a:ext>
            </a:extLst>
          </p:cNvPr>
          <p:cNvPicPr>
            <a:picLocks noChangeAspect="1"/>
          </p:cNvPicPr>
          <p:nvPr/>
        </p:nvPicPr>
        <p:blipFill>
          <a:blip r:embed="rId2"/>
          <a:stretch>
            <a:fillRect/>
          </a:stretch>
        </p:blipFill>
        <p:spPr>
          <a:xfrm>
            <a:off x="1273132" y="1784004"/>
            <a:ext cx="9089924" cy="3487214"/>
          </a:xfrm>
          <a:prstGeom prst="rect">
            <a:avLst/>
          </a:prstGeom>
        </p:spPr>
      </p:pic>
    </p:spTree>
    <p:extLst>
      <p:ext uri="{BB962C8B-B14F-4D97-AF65-F5344CB8AC3E}">
        <p14:creationId xmlns:p14="http://schemas.microsoft.com/office/powerpoint/2010/main" val="2294344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9B2D0-12AF-4161-90FD-05C3AFA863B5}"/>
              </a:ext>
            </a:extLst>
          </p:cNvPr>
          <p:cNvSpPr>
            <a:spLocks noGrp="1"/>
          </p:cNvSpPr>
          <p:nvPr>
            <p:ph type="title"/>
          </p:nvPr>
        </p:nvSpPr>
        <p:spPr/>
        <p:txBody>
          <a:bodyPr/>
          <a:lstStyle/>
          <a:p>
            <a:r>
              <a:rPr lang="es-EC" dirty="0" err="1"/>
              <a:t>Antipatrones</a:t>
            </a:r>
            <a:r>
              <a:rPr lang="es-EC" dirty="0"/>
              <a:t> de entrega de software</a:t>
            </a:r>
            <a:endParaRPr lang="en-GB" dirty="0"/>
          </a:p>
        </p:txBody>
      </p:sp>
      <p:sp>
        <p:nvSpPr>
          <p:cNvPr id="3" name="Content Placeholder 2">
            <a:extLst>
              <a:ext uri="{FF2B5EF4-FFF2-40B4-BE49-F238E27FC236}">
                <a16:creationId xmlns:a16="http://schemas.microsoft.com/office/drawing/2014/main" id="{690D65CA-F329-4C0E-B494-08897BC54B25}"/>
              </a:ext>
            </a:extLst>
          </p:cNvPr>
          <p:cNvSpPr>
            <a:spLocks noGrp="1"/>
          </p:cNvSpPr>
          <p:nvPr>
            <p:ph idx="1"/>
          </p:nvPr>
        </p:nvSpPr>
        <p:spPr/>
        <p:txBody>
          <a:bodyPr>
            <a:normAutofit fontScale="92500" lnSpcReduction="10000"/>
          </a:bodyPr>
          <a:lstStyle/>
          <a:p>
            <a:r>
              <a:rPr lang="es-EC" dirty="0"/>
              <a:t>Para muchos proyectos, el día de la entrega de software tiende a ser tenso por la incertidumbre y riesgos asociados.</a:t>
            </a:r>
          </a:p>
          <a:p>
            <a:r>
              <a:rPr lang="es-EC" dirty="0"/>
              <a:t>Algunos </a:t>
            </a:r>
            <a:r>
              <a:rPr lang="es-EC" b="1" dirty="0"/>
              <a:t>anti patrones </a:t>
            </a:r>
            <a:r>
              <a:rPr lang="es-EC" dirty="0"/>
              <a:t>de entrega de software:</a:t>
            </a:r>
          </a:p>
          <a:p>
            <a:pPr marL="971550" lvl="1" indent="-514350">
              <a:buFont typeface="+mj-lt"/>
              <a:buAutoNum type="arabicPeriod"/>
            </a:pPr>
            <a:r>
              <a:rPr lang="es-EC" b="1" dirty="0"/>
              <a:t>Desplegar software manualmente</a:t>
            </a:r>
            <a:r>
              <a:rPr lang="es-EC" dirty="0"/>
              <a:t>.</a:t>
            </a:r>
          </a:p>
          <a:p>
            <a:pPr lvl="2"/>
            <a:r>
              <a:rPr lang="es-EC" dirty="0"/>
              <a:t>Lo correcto: completamente automatizado.</a:t>
            </a:r>
          </a:p>
          <a:p>
            <a:pPr marL="971550" lvl="1" indent="-514350">
              <a:buFont typeface="+mj-lt"/>
              <a:buAutoNum type="arabicPeriod"/>
            </a:pPr>
            <a:r>
              <a:rPr lang="es-EC" b="1" dirty="0"/>
              <a:t>Desplegar</a:t>
            </a:r>
            <a:r>
              <a:rPr lang="en-GB" b="1" dirty="0"/>
              <a:t> a un </a:t>
            </a:r>
            <a:r>
              <a:rPr lang="es-EC" b="1" dirty="0"/>
              <a:t>ambiente</a:t>
            </a:r>
            <a:r>
              <a:rPr lang="en-GB" b="1" dirty="0"/>
              <a:t> </a:t>
            </a:r>
            <a:r>
              <a:rPr lang="es-EC" b="1" dirty="0"/>
              <a:t>como</a:t>
            </a:r>
            <a:r>
              <a:rPr lang="en-GB" b="1" dirty="0"/>
              <a:t> el de </a:t>
            </a:r>
            <a:r>
              <a:rPr lang="es-EC" b="1" dirty="0"/>
              <a:t>producción</a:t>
            </a:r>
            <a:r>
              <a:rPr lang="en-GB" b="1" dirty="0"/>
              <a:t> solo </a:t>
            </a:r>
            <a:r>
              <a:rPr lang="es-EC" b="1" dirty="0"/>
              <a:t>después</a:t>
            </a:r>
            <a:r>
              <a:rPr lang="en-GB" b="1" dirty="0"/>
              <a:t> que el </a:t>
            </a:r>
            <a:r>
              <a:rPr lang="es-EC" b="1" dirty="0"/>
              <a:t>desarrollo</a:t>
            </a:r>
            <a:r>
              <a:rPr lang="en-GB" b="1" dirty="0"/>
              <a:t> </a:t>
            </a:r>
            <a:r>
              <a:rPr lang="es-EC" b="1" dirty="0"/>
              <a:t>está</a:t>
            </a:r>
            <a:r>
              <a:rPr lang="en-GB" b="1" dirty="0"/>
              <a:t> </a:t>
            </a:r>
            <a:r>
              <a:rPr lang="es-EC" b="1" dirty="0"/>
              <a:t>completo</a:t>
            </a:r>
            <a:r>
              <a:rPr lang="en-GB" dirty="0"/>
              <a:t>.</a:t>
            </a:r>
          </a:p>
          <a:p>
            <a:pPr lvl="2"/>
            <a:r>
              <a:rPr lang="en-GB" dirty="0"/>
              <a:t>Lo </a:t>
            </a:r>
            <a:r>
              <a:rPr lang="en-GB" dirty="0" err="1"/>
              <a:t>correcto</a:t>
            </a:r>
            <a:r>
              <a:rPr lang="en-GB" dirty="0"/>
              <a:t>: </a:t>
            </a:r>
            <a:r>
              <a:rPr lang="en-GB" dirty="0" err="1"/>
              <a:t>hacer</a:t>
            </a:r>
            <a:r>
              <a:rPr lang="en-GB" dirty="0"/>
              <a:t> habitual las </a:t>
            </a:r>
            <a:r>
              <a:rPr lang="en-GB" dirty="0" err="1"/>
              <a:t>pruebas</a:t>
            </a:r>
            <a:r>
              <a:rPr lang="en-GB" dirty="0"/>
              <a:t>, </a:t>
            </a:r>
            <a:r>
              <a:rPr lang="en-GB" dirty="0" err="1"/>
              <a:t>despliegues</a:t>
            </a:r>
            <a:r>
              <a:rPr lang="en-GB" dirty="0"/>
              <a:t> y </a:t>
            </a:r>
            <a:r>
              <a:rPr lang="en-GB" dirty="0" err="1"/>
              <a:t>actividades</a:t>
            </a:r>
            <a:r>
              <a:rPr lang="en-GB" dirty="0"/>
              <a:t> de </a:t>
            </a:r>
            <a:r>
              <a:rPr lang="en-GB" dirty="0" err="1"/>
              <a:t>entrega</a:t>
            </a:r>
            <a:r>
              <a:rPr lang="en-GB" dirty="0"/>
              <a:t> </a:t>
            </a:r>
            <a:r>
              <a:rPr lang="en-GB" dirty="0" err="1"/>
              <a:t>en</a:t>
            </a:r>
            <a:r>
              <a:rPr lang="en-GB" dirty="0"/>
              <a:t> el </a:t>
            </a:r>
            <a:r>
              <a:rPr lang="en-GB" dirty="0" err="1"/>
              <a:t>proceso</a:t>
            </a:r>
            <a:r>
              <a:rPr lang="en-GB" dirty="0"/>
              <a:t> de </a:t>
            </a:r>
            <a:r>
              <a:rPr lang="en-GB" dirty="0" err="1"/>
              <a:t>desarrollo</a:t>
            </a:r>
            <a:r>
              <a:rPr lang="en-GB" dirty="0"/>
              <a:t> </a:t>
            </a:r>
            <a:r>
              <a:rPr lang="en-GB" dirty="0" err="1"/>
              <a:t>hacia</a:t>
            </a:r>
            <a:r>
              <a:rPr lang="en-GB" dirty="0"/>
              <a:t> ambientes </a:t>
            </a:r>
            <a:r>
              <a:rPr lang="en-GB" dirty="0" err="1"/>
              <a:t>similares</a:t>
            </a:r>
            <a:r>
              <a:rPr lang="en-GB" dirty="0"/>
              <a:t> al de </a:t>
            </a:r>
            <a:r>
              <a:rPr lang="en-GB" dirty="0" err="1"/>
              <a:t>producción</a:t>
            </a:r>
            <a:r>
              <a:rPr lang="en-GB" dirty="0"/>
              <a:t>.</a:t>
            </a:r>
          </a:p>
          <a:p>
            <a:pPr marL="971550" lvl="1" indent="-514350">
              <a:buFont typeface="+mj-lt"/>
              <a:buAutoNum type="arabicPeriod"/>
            </a:pPr>
            <a:r>
              <a:rPr lang="es-EC" b="1" dirty="0"/>
              <a:t>Gestión</a:t>
            </a:r>
            <a:r>
              <a:rPr lang="en-GB" b="1" dirty="0"/>
              <a:t> manual de la </a:t>
            </a:r>
            <a:r>
              <a:rPr lang="en-GB" b="1" dirty="0" err="1"/>
              <a:t>configuración</a:t>
            </a:r>
            <a:r>
              <a:rPr lang="en-GB" b="1" dirty="0"/>
              <a:t> de ambientes de </a:t>
            </a:r>
            <a:r>
              <a:rPr lang="en-GB" b="1" dirty="0" err="1"/>
              <a:t>producción</a:t>
            </a:r>
            <a:r>
              <a:rPr lang="en-GB" b="1" dirty="0"/>
              <a:t>.</a:t>
            </a:r>
          </a:p>
          <a:p>
            <a:pPr lvl="2"/>
            <a:r>
              <a:rPr lang="en-GB" dirty="0"/>
              <a:t>Lo </a:t>
            </a:r>
            <a:r>
              <a:rPr lang="en-GB" dirty="0" err="1"/>
              <a:t>correcto</a:t>
            </a:r>
            <a:r>
              <a:rPr lang="en-GB" dirty="0"/>
              <a:t>: </a:t>
            </a:r>
            <a:r>
              <a:rPr lang="en-GB" dirty="0" err="1"/>
              <a:t>automatizar</a:t>
            </a:r>
            <a:r>
              <a:rPr lang="en-GB" dirty="0"/>
              <a:t> el control de </a:t>
            </a:r>
            <a:r>
              <a:rPr lang="en-GB" dirty="0" err="1"/>
              <a:t>versiones</a:t>
            </a:r>
            <a:r>
              <a:rPr lang="en-GB" dirty="0"/>
              <a:t> de </a:t>
            </a:r>
            <a:r>
              <a:rPr lang="en-GB" dirty="0" err="1"/>
              <a:t>sistemas</a:t>
            </a:r>
            <a:r>
              <a:rPr lang="en-GB" dirty="0"/>
              <a:t> </a:t>
            </a:r>
            <a:r>
              <a:rPr lang="en-GB" dirty="0" err="1"/>
              <a:t>operativos</a:t>
            </a:r>
            <a:r>
              <a:rPr lang="en-GB" dirty="0"/>
              <a:t>, parches, </a:t>
            </a:r>
            <a:r>
              <a:rPr lang="en-GB" dirty="0" err="1"/>
              <a:t>configuraciones</a:t>
            </a:r>
            <a:r>
              <a:rPr lang="en-GB" dirty="0"/>
              <a:t> de </a:t>
            </a:r>
            <a:r>
              <a:rPr lang="en-GB" dirty="0" err="1"/>
              <a:t>sistemas</a:t>
            </a:r>
            <a:r>
              <a:rPr lang="en-GB" dirty="0"/>
              <a:t> </a:t>
            </a:r>
            <a:r>
              <a:rPr lang="en-GB" dirty="0" err="1"/>
              <a:t>operativos</a:t>
            </a:r>
            <a:r>
              <a:rPr lang="en-GB" dirty="0"/>
              <a:t>, </a:t>
            </a:r>
            <a:r>
              <a:rPr lang="en-GB" dirty="0" err="1"/>
              <a:t>configuraciones</a:t>
            </a:r>
            <a:r>
              <a:rPr lang="en-GB" dirty="0"/>
              <a:t> de </a:t>
            </a:r>
            <a:r>
              <a:rPr lang="en-GB" dirty="0" err="1"/>
              <a:t>infraestructura</a:t>
            </a:r>
            <a:r>
              <a:rPr lang="en-GB" dirty="0"/>
              <a:t>, etc. para </a:t>
            </a:r>
            <a:r>
              <a:rPr lang="en-GB" dirty="0" err="1"/>
              <a:t>poder</a:t>
            </a:r>
            <a:r>
              <a:rPr lang="en-GB" dirty="0"/>
              <a:t> </a:t>
            </a:r>
            <a:r>
              <a:rPr lang="en-GB" dirty="0" err="1"/>
              <a:t>recrear</a:t>
            </a:r>
            <a:r>
              <a:rPr lang="en-GB" dirty="0"/>
              <a:t> el </a:t>
            </a:r>
            <a:r>
              <a:rPr lang="en-GB" dirty="0" err="1"/>
              <a:t>ambiente</a:t>
            </a:r>
            <a:r>
              <a:rPr lang="en-GB" dirty="0"/>
              <a:t> de </a:t>
            </a:r>
            <a:r>
              <a:rPr lang="en-GB" dirty="0" err="1"/>
              <a:t>producción</a:t>
            </a:r>
            <a:r>
              <a:rPr lang="en-GB" dirty="0"/>
              <a:t> de forma </a:t>
            </a:r>
            <a:r>
              <a:rPr lang="en-GB" dirty="0" err="1"/>
              <a:t>automática</a:t>
            </a:r>
            <a:r>
              <a:rPr lang="en-GB" dirty="0"/>
              <a:t>.</a:t>
            </a:r>
          </a:p>
        </p:txBody>
      </p:sp>
    </p:spTree>
    <p:extLst>
      <p:ext uri="{BB962C8B-B14F-4D97-AF65-F5344CB8AC3E}">
        <p14:creationId xmlns:p14="http://schemas.microsoft.com/office/powerpoint/2010/main" val="2549462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ACE5E-8500-4BC5-BCCA-BBE20E5DC8DD}"/>
              </a:ext>
            </a:extLst>
          </p:cNvPr>
          <p:cNvSpPr>
            <a:spLocks noGrp="1"/>
          </p:cNvSpPr>
          <p:nvPr>
            <p:ph type="title"/>
          </p:nvPr>
        </p:nvSpPr>
        <p:spPr/>
        <p:txBody>
          <a:bodyPr/>
          <a:lstStyle/>
          <a:p>
            <a:r>
              <a:rPr lang="es-EC" dirty="0"/>
              <a:t>¿Cuál es la diferencia entre entrega y despliegue?</a:t>
            </a:r>
          </a:p>
        </p:txBody>
      </p:sp>
      <p:sp>
        <p:nvSpPr>
          <p:cNvPr id="3" name="Content Placeholder 2">
            <a:extLst>
              <a:ext uri="{FF2B5EF4-FFF2-40B4-BE49-F238E27FC236}">
                <a16:creationId xmlns:a16="http://schemas.microsoft.com/office/drawing/2014/main" id="{C9202230-7FC1-4FE0-8F89-7998763523E5}"/>
              </a:ext>
            </a:extLst>
          </p:cNvPr>
          <p:cNvSpPr>
            <a:spLocks noGrp="1"/>
          </p:cNvSpPr>
          <p:nvPr>
            <p:ph idx="1"/>
          </p:nvPr>
        </p:nvSpPr>
        <p:spPr/>
        <p:txBody>
          <a:bodyPr>
            <a:normAutofit fontScale="92500" lnSpcReduction="10000"/>
          </a:bodyPr>
          <a:lstStyle/>
          <a:p>
            <a:r>
              <a:rPr lang="es-EC" dirty="0"/>
              <a:t>El despliegue (</a:t>
            </a:r>
            <a:r>
              <a:rPr lang="es-EC" b="1" i="1" dirty="0" err="1"/>
              <a:t>deployment</a:t>
            </a:r>
            <a:r>
              <a:rPr lang="es-EC" dirty="0"/>
              <a:t>) de software implica tres acciones:</a:t>
            </a:r>
          </a:p>
          <a:p>
            <a:pPr marL="971550" lvl="1" indent="-514350">
              <a:buFont typeface="+mj-lt"/>
              <a:buAutoNum type="arabicPeriod"/>
            </a:pPr>
            <a:r>
              <a:rPr lang="es-EC" dirty="0"/>
              <a:t>Entrega (</a:t>
            </a:r>
            <a:r>
              <a:rPr lang="es-EC" b="1" i="1" dirty="0" err="1"/>
              <a:t>delivery</a:t>
            </a:r>
            <a:r>
              <a:rPr lang="es-EC" dirty="0"/>
              <a:t>)</a:t>
            </a:r>
          </a:p>
          <a:p>
            <a:pPr marL="971550" lvl="1" indent="-514350">
              <a:buFont typeface="+mj-lt"/>
              <a:buAutoNum type="arabicPeriod"/>
            </a:pPr>
            <a:r>
              <a:rPr lang="es-EC" dirty="0"/>
              <a:t>Soporte</a:t>
            </a:r>
          </a:p>
          <a:p>
            <a:pPr marL="971550" lvl="1" indent="-514350">
              <a:buFont typeface="+mj-lt"/>
              <a:buAutoNum type="arabicPeriod"/>
            </a:pPr>
            <a:r>
              <a:rPr lang="es-EC" dirty="0"/>
              <a:t>Retroalimentación</a:t>
            </a:r>
          </a:p>
          <a:p>
            <a:r>
              <a:rPr lang="es-EC" dirty="0"/>
              <a:t>Cada ciclo de </a:t>
            </a:r>
            <a:r>
              <a:rPr lang="es-EC" b="1" dirty="0"/>
              <a:t>entrega</a:t>
            </a:r>
            <a:r>
              <a:rPr lang="es-EC" dirty="0"/>
              <a:t> provee al cliente un incremento de software operacional con nuevas características y funcionalidades.</a:t>
            </a:r>
          </a:p>
          <a:p>
            <a:r>
              <a:rPr lang="es-EC" dirty="0"/>
              <a:t>Cada ciclo de </a:t>
            </a:r>
            <a:r>
              <a:rPr lang="es-EC" b="1" dirty="0"/>
              <a:t>soporte</a:t>
            </a:r>
            <a:r>
              <a:rPr lang="es-EC" dirty="0"/>
              <a:t> provee documentación y asistencia humana para todas las funcionalidades y características.</a:t>
            </a:r>
          </a:p>
          <a:p>
            <a:r>
              <a:rPr lang="es-EC" dirty="0"/>
              <a:t>Cada ciclo de </a:t>
            </a:r>
            <a:r>
              <a:rPr lang="es-EC" b="1" dirty="0"/>
              <a:t>retroalimentación</a:t>
            </a:r>
            <a:r>
              <a:rPr lang="es-EC" dirty="0"/>
              <a:t> provee al equipo de software una guía para modificar funcionalidades, características y enfoques en el siguiente incremento de software.</a:t>
            </a:r>
          </a:p>
          <a:p>
            <a:endParaRPr lang="es-EC" dirty="0"/>
          </a:p>
        </p:txBody>
      </p:sp>
    </p:spTree>
    <p:extLst>
      <p:ext uri="{BB962C8B-B14F-4D97-AF65-F5344CB8AC3E}">
        <p14:creationId xmlns:p14="http://schemas.microsoft.com/office/powerpoint/2010/main" val="287290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43B0E92-923A-4C3D-B6DA-24A1A5A71B90}"/>
              </a:ext>
            </a:extLst>
          </p:cNvPr>
          <p:cNvSpPr>
            <a:spLocks noGrp="1"/>
          </p:cNvSpPr>
          <p:nvPr>
            <p:ph sz="quarter" idx="10"/>
          </p:nvPr>
        </p:nvSpPr>
        <p:spPr/>
        <p:txBody>
          <a:bodyPr/>
          <a:lstStyle/>
          <a:p>
            <a:r>
              <a:rPr lang="en-GB" dirty="0"/>
              <a:t>¿</a:t>
            </a:r>
            <a:r>
              <a:rPr lang="es-EC" dirty="0"/>
              <a:t>Qué</a:t>
            </a:r>
            <a:r>
              <a:rPr lang="en-GB" dirty="0"/>
              <a:t> es </a:t>
            </a:r>
            <a:r>
              <a:rPr lang="es-EC" dirty="0"/>
              <a:t>Entrega</a:t>
            </a:r>
            <a:r>
              <a:rPr lang="en-GB" dirty="0"/>
              <a:t> Continua (Continuous Delivery)?</a:t>
            </a:r>
          </a:p>
        </p:txBody>
      </p:sp>
    </p:spTree>
    <p:extLst>
      <p:ext uri="{BB962C8B-B14F-4D97-AF65-F5344CB8AC3E}">
        <p14:creationId xmlns:p14="http://schemas.microsoft.com/office/powerpoint/2010/main" val="1356187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50CACD-0B48-4419-992B-793572A4C642}"/>
              </a:ext>
            </a:extLst>
          </p:cNvPr>
          <p:cNvSpPr>
            <a:spLocks noGrp="1"/>
          </p:cNvSpPr>
          <p:nvPr>
            <p:ph type="title"/>
          </p:nvPr>
        </p:nvSpPr>
        <p:spPr/>
        <p:txBody>
          <a:bodyPr/>
          <a:lstStyle/>
          <a:p>
            <a:r>
              <a:rPr lang="es-EC" dirty="0"/>
              <a:t>Entrega continua (</a:t>
            </a:r>
            <a:r>
              <a:rPr lang="en-GB" dirty="0"/>
              <a:t>continuous</a:t>
            </a:r>
            <a:r>
              <a:rPr lang="es-EC" dirty="0"/>
              <a:t> </a:t>
            </a:r>
            <a:r>
              <a:rPr lang="en-GB" dirty="0"/>
              <a:t>delivery</a:t>
            </a:r>
            <a:r>
              <a:rPr lang="es-EC" dirty="0"/>
              <a:t>)</a:t>
            </a:r>
          </a:p>
        </p:txBody>
      </p:sp>
      <p:sp>
        <p:nvSpPr>
          <p:cNvPr id="4" name="Content Placeholder 3">
            <a:extLst>
              <a:ext uri="{FF2B5EF4-FFF2-40B4-BE49-F238E27FC236}">
                <a16:creationId xmlns:a16="http://schemas.microsoft.com/office/drawing/2014/main" id="{28F21274-3CB7-4CE8-BF70-8D864D9E0D5B}"/>
              </a:ext>
            </a:extLst>
          </p:cNvPr>
          <p:cNvSpPr>
            <a:spLocks noGrp="1"/>
          </p:cNvSpPr>
          <p:nvPr>
            <p:ph idx="1"/>
          </p:nvPr>
        </p:nvSpPr>
        <p:spPr/>
        <p:txBody>
          <a:bodyPr/>
          <a:lstStyle/>
          <a:p>
            <a:r>
              <a:rPr lang="es-EC" b="1" dirty="0"/>
              <a:t>Entrega continua </a:t>
            </a:r>
            <a:r>
              <a:rPr lang="es-EC" dirty="0"/>
              <a:t>es una disciplina de desarrollo de software en la que se construye software de tal manera que puede ser entregado a producción en cualquier momento.</a:t>
            </a:r>
          </a:p>
          <a:p>
            <a:pPr lvl="1"/>
            <a:r>
              <a:rPr lang="es-EC" dirty="0"/>
              <a:t>Martin </a:t>
            </a:r>
            <a:r>
              <a:rPr lang="es-EC" dirty="0" err="1"/>
              <a:t>Fowler</a:t>
            </a:r>
            <a:endParaRPr lang="es-EC" dirty="0"/>
          </a:p>
          <a:p>
            <a:r>
              <a:rPr lang="es-ES" b="1" dirty="0"/>
              <a:t>Entrega continua </a:t>
            </a:r>
            <a:r>
              <a:rPr lang="es-ES" dirty="0"/>
              <a:t>es la habilidad de poner cambios de todos los tipos (nuevas características, cambios de configuración, corrección de errores y experimentos) en producción o en manos de usuarios de forma rápida, segura, y sostenible.</a:t>
            </a:r>
          </a:p>
          <a:p>
            <a:pPr lvl="1"/>
            <a:r>
              <a:rPr lang="en-GB" dirty="0"/>
              <a:t>Humble and Farley</a:t>
            </a:r>
            <a:endParaRPr lang="es-ES" dirty="0"/>
          </a:p>
          <a:p>
            <a:pPr lvl="1"/>
            <a:endParaRPr lang="es-EC" dirty="0"/>
          </a:p>
          <a:p>
            <a:pPr lvl="1"/>
            <a:endParaRPr lang="es-EC" dirty="0"/>
          </a:p>
        </p:txBody>
      </p:sp>
    </p:spTree>
    <p:extLst>
      <p:ext uri="{BB962C8B-B14F-4D97-AF65-F5344CB8AC3E}">
        <p14:creationId xmlns:p14="http://schemas.microsoft.com/office/powerpoint/2010/main" val="1299806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3AEBF2-EB77-4C72-BC80-F6698273F044}"/>
              </a:ext>
            </a:extLst>
          </p:cNvPr>
          <p:cNvSpPr>
            <a:spLocks noGrp="1"/>
          </p:cNvSpPr>
          <p:nvPr>
            <p:ph type="title"/>
          </p:nvPr>
        </p:nvSpPr>
        <p:spPr/>
        <p:txBody>
          <a:bodyPr/>
          <a:lstStyle/>
          <a:p>
            <a:r>
              <a:rPr lang="es-EC" dirty="0"/>
              <a:t>Entrega continua (</a:t>
            </a:r>
            <a:r>
              <a:rPr lang="en-GB" dirty="0"/>
              <a:t>continuous</a:t>
            </a:r>
            <a:r>
              <a:rPr lang="es-EC" dirty="0"/>
              <a:t> </a:t>
            </a:r>
            <a:r>
              <a:rPr lang="en-GB" dirty="0"/>
              <a:t>delivery</a:t>
            </a:r>
            <a:r>
              <a:rPr lang="es-EC" dirty="0"/>
              <a:t>)</a:t>
            </a:r>
            <a:endParaRPr lang="en-GB" dirty="0"/>
          </a:p>
        </p:txBody>
      </p:sp>
      <p:sp>
        <p:nvSpPr>
          <p:cNvPr id="4" name="Content Placeholder 3">
            <a:extLst>
              <a:ext uri="{FF2B5EF4-FFF2-40B4-BE49-F238E27FC236}">
                <a16:creationId xmlns:a16="http://schemas.microsoft.com/office/drawing/2014/main" id="{A54C3E81-44AD-4DA8-ADF2-16A3E94CC1A3}"/>
              </a:ext>
            </a:extLst>
          </p:cNvPr>
          <p:cNvSpPr>
            <a:spLocks noGrp="1"/>
          </p:cNvSpPr>
          <p:nvPr>
            <p:ph idx="1"/>
          </p:nvPr>
        </p:nvSpPr>
        <p:spPr/>
        <p:txBody>
          <a:bodyPr/>
          <a:lstStyle/>
          <a:p>
            <a:r>
              <a:rPr lang="es-EC" dirty="0"/>
              <a:t>Se debe poner ejecutables incrementales del software en </a:t>
            </a:r>
            <a:r>
              <a:rPr lang="es-EC" b="1" dirty="0"/>
              <a:t>ambientes similares al de producción </a:t>
            </a:r>
            <a:r>
              <a:rPr lang="es-EC" dirty="0"/>
              <a:t>para asegurar que el software funcionará en producción. </a:t>
            </a:r>
          </a:p>
          <a:p>
            <a:r>
              <a:rPr lang="es-ES" dirty="0"/>
              <a:t>El objetivo es hacer despliegues (</a:t>
            </a:r>
            <a:r>
              <a:rPr lang="en-GB" dirty="0"/>
              <a:t>deployments</a:t>
            </a:r>
            <a:r>
              <a:rPr lang="es-ES" dirty="0"/>
              <a:t>) predecibles, rutinarios y en cualquier momento.</a:t>
            </a:r>
          </a:p>
          <a:p>
            <a:pPr lvl="1"/>
            <a:r>
              <a:rPr lang="es-ES" dirty="0"/>
              <a:t>Independientemente del tipo de sistema: ya sea un sistema distribuido a gran escala, un ambiente de producción complejo, un sistema embebido o una app.</a:t>
            </a:r>
          </a:p>
          <a:p>
            <a:endParaRPr lang="en-GB" dirty="0"/>
          </a:p>
        </p:txBody>
      </p:sp>
    </p:spTree>
    <p:extLst>
      <p:ext uri="{BB962C8B-B14F-4D97-AF65-F5344CB8AC3E}">
        <p14:creationId xmlns:p14="http://schemas.microsoft.com/office/powerpoint/2010/main" val="243140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CCF96-CF7A-44CF-8A8C-1347F6A0D1F6}"/>
              </a:ext>
            </a:extLst>
          </p:cNvPr>
          <p:cNvSpPr>
            <a:spLocks noGrp="1"/>
          </p:cNvSpPr>
          <p:nvPr>
            <p:ph type="title"/>
          </p:nvPr>
        </p:nvSpPr>
        <p:spPr/>
        <p:txBody>
          <a:bodyPr/>
          <a:lstStyle/>
          <a:p>
            <a:r>
              <a:rPr lang="es-EC" dirty="0"/>
              <a:t>¿Cuándo se hacen las entregas?</a:t>
            </a:r>
            <a:endParaRPr lang="en-GB" dirty="0"/>
          </a:p>
        </p:txBody>
      </p:sp>
      <p:sp>
        <p:nvSpPr>
          <p:cNvPr id="3" name="Content Placeholder 2">
            <a:extLst>
              <a:ext uri="{FF2B5EF4-FFF2-40B4-BE49-F238E27FC236}">
                <a16:creationId xmlns:a16="http://schemas.microsoft.com/office/drawing/2014/main" id="{AF1125AB-902D-407D-BFFB-014866CAB3ED}"/>
              </a:ext>
            </a:extLst>
          </p:cNvPr>
          <p:cNvSpPr>
            <a:spLocks noGrp="1"/>
          </p:cNvSpPr>
          <p:nvPr>
            <p:ph idx="1"/>
          </p:nvPr>
        </p:nvSpPr>
        <p:spPr/>
        <p:txBody>
          <a:bodyPr/>
          <a:lstStyle/>
          <a:p>
            <a:r>
              <a:rPr lang="es-EC" b="1" dirty="0"/>
              <a:t>Siempre al finalizar la construcción de software</a:t>
            </a:r>
            <a:r>
              <a:rPr lang="es-EC" dirty="0"/>
              <a:t>.</a:t>
            </a:r>
          </a:p>
          <a:p>
            <a:pPr lvl="1"/>
            <a:r>
              <a:rPr lang="es-EC" dirty="0"/>
              <a:t>En cualquier modelo de proceso de software.</a:t>
            </a:r>
          </a:p>
          <a:p>
            <a:r>
              <a:rPr lang="es-ES" dirty="0"/>
              <a:t>Un </a:t>
            </a:r>
            <a:r>
              <a:rPr lang="es-ES" b="1" dirty="0"/>
              <a:t>proceso de software </a:t>
            </a:r>
            <a:r>
              <a:rPr lang="es-ES" dirty="0"/>
              <a:t>(o ciclo de vida de desarrollo de software) es un conjunto de </a:t>
            </a:r>
            <a:r>
              <a:rPr lang="es-ES" b="1" dirty="0"/>
              <a:t>actividades relacionadas </a:t>
            </a:r>
            <a:r>
              <a:rPr lang="es-ES" dirty="0"/>
              <a:t>que </a:t>
            </a:r>
            <a:r>
              <a:rPr lang="es-ES" b="1" dirty="0"/>
              <a:t>conllevan</a:t>
            </a:r>
            <a:r>
              <a:rPr lang="es-ES" dirty="0"/>
              <a:t> a la </a:t>
            </a:r>
            <a:r>
              <a:rPr lang="es-ES" b="1" dirty="0"/>
              <a:t>producción</a:t>
            </a:r>
            <a:r>
              <a:rPr lang="es-ES" dirty="0"/>
              <a:t> de un sistema de software.</a:t>
            </a:r>
            <a:endParaRPr lang="es-EC" dirty="0"/>
          </a:p>
          <a:p>
            <a:r>
              <a:rPr lang="es-EC" dirty="0"/>
              <a:t>Modelo en cascada:</a:t>
            </a:r>
            <a:endParaRPr lang="en-GB" dirty="0"/>
          </a:p>
        </p:txBody>
      </p:sp>
      <p:pic>
        <p:nvPicPr>
          <p:cNvPr id="6" name="Picture 5">
            <a:extLst>
              <a:ext uri="{FF2B5EF4-FFF2-40B4-BE49-F238E27FC236}">
                <a16:creationId xmlns:a16="http://schemas.microsoft.com/office/drawing/2014/main" id="{C2599F7B-2B93-4B91-A5A5-FD2A844335F3}"/>
              </a:ext>
            </a:extLst>
          </p:cNvPr>
          <p:cNvPicPr>
            <a:picLocks noChangeAspect="1"/>
          </p:cNvPicPr>
          <p:nvPr/>
        </p:nvPicPr>
        <p:blipFill>
          <a:blip r:embed="rId2"/>
          <a:stretch>
            <a:fillRect/>
          </a:stretch>
        </p:blipFill>
        <p:spPr>
          <a:xfrm>
            <a:off x="1324535" y="4144305"/>
            <a:ext cx="9755047" cy="2234167"/>
          </a:xfrm>
          <a:prstGeom prst="rect">
            <a:avLst/>
          </a:prstGeom>
        </p:spPr>
      </p:pic>
    </p:spTree>
    <p:extLst>
      <p:ext uri="{BB962C8B-B14F-4D97-AF65-F5344CB8AC3E}">
        <p14:creationId xmlns:p14="http://schemas.microsoft.com/office/powerpoint/2010/main" val="1566632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2071-43F0-4954-B1CD-9A51ABBEAF18}"/>
              </a:ext>
            </a:extLst>
          </p:cNvPr>
          <p:cNvSpPr>
            <a:spLocks noGrp="1"/>
          </p:cNvSpPr>
          <p:nvPr>
            <p:ph type="title"/>
          </p:nvPr>
        </p:nvSpPr>
        <p:spPr/>
        <p:txBody>
          <a:bodyPr/>
          <a:lstStyle/>
          <a:p>
            <a:r>
              <a:rPr lang="es-EC" dirty="0"/>
              <a:t>¿Cuándo se hacen las entregas?</a:t>
            </a:r>
            <a:endParaRPr lang="en-GB" dirty="0"/>
          </a:p>
        </p:txBody>
      </p:sp>
      <p:sp>
        <p:nvSpPr>
          <p:cNvPr id="3" name="Content Placeholder 2">
            <a:extLst>
              <a:ext uri="{FF2B5EF4-FFF2-40B4-BE49-F238E27FC236}">
                <a16:creationId xmlns:a16="http://schemas.microsoft.com/office/drawing/2014/main" id="{50ADC6E2-7A05-4A31-A174-A3FBAB5F75AB}"/>
              </a:ext>
            </a:extLst>
          </p:cNvPr>
          <p:cNvSpPr>
            <a:spLocks noGrp="1"/>
          </p:cNvSpPr>
          <p:nvPr>
            <p:ph idx="1"/>
          </p:nvPr>
        </p:nvSpPr>
        <p:spPr/>
        <p:txBody>
          <a:bodyPr/>
          <a:lstStyle/>
          <a:p>
            <a:r>
              <a:rPr lang="es-EC" dirty="0"/>
              <a:t>Modelo incremental</a:t>
            </a:r>
            <a:endParaRPr lang="en-GB" dirty="0"/>
          </a:p>
        </p:txBody>
      </p:sp>
      <p:pic>
        <p:nvPicPr>
          <p:cNvPr id="7" name="Picture 6">
            <a:extLst>
              <a:ext uri="{FF2B5EF4-FFF2-40B4-BE49-F238E27FC236}">
                <a16:creationId xmlns:a16="http://schemas.microsoft.com/office/drawing/2014/main" id="{1DCAD653-7398-4369-9683-05EC5290B91E}"/>
              </a:ext>
            </a:extLst>
          </p:cNvPr>
          <p:cNvPicPr>
            <a:picLocks noChangeAspect="1"/>
          </p:cNvPicPr>
          <p:nvPr/>
        </p:nvPicPr>
        <p:blipFill>
          <a:blip r:embed="rId2"/>
          <a:stretch>
            <a:fillRect/>
          </a:stretch>
        </p:blipFill>
        <p:spPr>
          <a:xfrm>
            <a:off x="1282513" y="1757081"/>
            <a:ext cx="9013881" cy="4420721"/>
          </a:xfrm>
          <a:prstGeom prst="rect">
            <a:avLst/>
          </a:prstGeom>
        </p:spPr>
      </p:pic>
    </p:spTree>
    <p:extLst>
      <p:ext uri="{BB962C8B-B14F-4D97-AF65-F5344CB8AC3E}">
        <p14:creationId xmlns:p14="http://schemas.microsoft.com/office/powerpoint/2010/main" val="2430974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42E44-24AC-48EF-BF82-00C868CECA2D}"/>
              </a:ext>
            </a:extLst>
          </p:cNvPr>
          <p:cNvSpPr>
            <a:spLocks noGrp="1"/>
          </p:cNvSpPr>
          <p:nvPr>
            <p:ph type="title"/>
          </p:nvPr>
        </p:nvSpPr>
        <p:spPr/>
        <p:txBody>
          <a:bodyPr/>
          <a:lstStyle/>
          <a:p>
            <a:r>
              <a:rPr lang="es-EC" dirty="0"/>
              <a:t>¿Cuándo se hacen las entregas?</a:t>
            </a:r>
            <a:endParaRPr lang="en-GB" dirty="0"/>
          </a:p>
        </p:txBody>
      </p:sp>
      <p:sp>
        <p:nvSpPr>
          <p:cNvPr id="3" name="Content Placeholder 2">
            <a:extLst>
              <a:ext uri="{FF2B5EF4-FFF2-40B4-BE49-F238E27FC236}">
                <a16:creationId xmlns:a16="http://schemas.microsoft.com/office/drawing/2014/main" id="{D3598A1F-67DC-434B-BEC3-805EF91416D8}"/>
              </a:ext>
            </a:extLst>
          </p:cNvPr>
          <p:cNvSpPr>
            <a:spLocks noGrp="1"/>
          </p:cNvSpPr>
          <p:nvPr>
            <p:ph idx="1"/>
          </p:nvPr>
        </p:nvSpPr>
        <p:spPr/>
        <p:txBody>
          <a:bodyPr/>
          <a:lstStyle/>
          <a:p>
            <a:r>
              <a:rPr lang="es-EC" dirty="0"/>
              <a:t>Modelo evolucionario: espiral</a:t>
            </a:r>
            <a:endParaRPr lang="en-GB" dirty="0"/>
          </a:p>
        </p:txBody>
      </p:sp>
      <p:pic>
        <p:nvPicPr>
          <p:cNvPr id="5" name="Picture 4">
            <a:extLst>
              <a:ext uri="{FF2B5EF4-FFF2-40B4-BE49-F238E27FC236}">
                <a16:creationId xmlns:a16="http://schemas.microsoft.com/office/drawing/2014/main" id="{A87436F4-535A-43C6-B8CA-50E141647D5C}"/>
              </a:ext>
            </a:extLst>
          </p:cNvPr>
          <p:cNvPicPr>
            <a:picLocks noChangeAspect="1"/>
          </p:cNvPicPr>
          <p:nvPr/>
        </p:nvPicPr>
        <p:blipFill>
          <a:blip r:embed="rId2"/>
          <a:stretch>
            <a:fillRect/>
          </a:stretch>
        </p:blipFill>
        <p:spPr>
          <a:xfrm>
            <a:off x="1882587" y="1875025"/>
            <a:ext cx="7620000" cy="3914775"/>
          </a:xfrm>
          <a:prstGeom prst="rect">
            <a:avLst/>
          </a:prstGeom>
        </p:spPr>
      </p:pic>
    </p:spTree>
    <p:extLst>
      <p:ext uri="{BB962C8B-B14F-4D97-AF65-F5344CB8AC3E}">
        <p14:creationId xmlns:p14="http://schemas.microsoft.com/office/powerpoint/2010/main" val="94030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2324E-B018-4EB4-A771-51E69EFB4C8D}"/>
              </a:ext>
            </a:extLst>
          </p:cNvPr>
          <p:cNvSpPr>
            <a:spLocks noGrp="1"/>
          </p:cNvSpPr>
          <p:nvPr>
            <p:ph type="title"/>
          </p:nvPr>
        </p:nvSpPr>
        <p:spPr/>
        <p:txBody>
          <a:bodyPr/>
          <a:lstStyle/>
          <a:p>
            <a:r>
              <a:rPr lang="es-EC" dirty="0"/>
              <a:t>¿Cuándo se hacen las entregas?</a:t>
            </a:r>
            <a:endParaRPr lang="en-GB" dirty="0"/>
          </a:p>
        </p:txBody>
      </p:sp>
      <p:sp>
        <p:nvSpPr>
          <p:cNvPr id="3" name="Content Placeholder 2">
            <a:extLst>
              <a:ext uri="{FF2B5EF4-FFF2-40B4-BE49-F238E27FC236}">
                <a16:creationId xmlns:a16="http://schemas.microsoft.com/office/drawing/2014/main" id="{A279B5F5-7ECD-4BE1-9403-F7F1543859FD}"/>
              </a:ext>
            </a:extLst>
          </p:cNvPr>
          <p:cNvSpPr>
            <a:spLocks noGrp="1"/>
          </p:cNvSpPr>
          <p:nvPr>
            <p:ph idx="1"/>
          </p:nvPr>
        </p:nvSpPr>
        <p:spPr/>
        <p:txBody>
          <a:bodyPr/>
          <a:lstStyle/>
          <a:p>
            <a:r>
              <a:rPr lang="es-EC" dirty="0"/>
              <a:t>Modelo evolucionario: prototipado</a:t>
            </a:r>
            <a:endParaRPr lang="en-GB" dirty="0"/>
          </a:p>
        </p:txBody>
      </p:sp>
      <p:pic>
        <p:nvPicPr>
          <p:cNvPr id="4" name="Picture 3">
            <a:extLst>
              <a:ext uri="{FF2B5EF4-FFF2-40B4-BE49-F238E27FC236}">
                <a16:creationId xmlns:a16="http://schemas.microsoft.com/office/drawing/2014/main" id="{18CBE42E-AD08-4048-8E99-52584DF1603E}"/>
              </a:ext>
            </a:extLst>
          </p:cNvPr>
          <p:cNvPicPr>
            <a:picLocks noChangeAspect="1"/>
          </p:cNvPicPr>
          <p:nvPr/>
        </p:nvPicPr>
        <p:blipFill>
          <a:blip r:embed="rId2"/>
          <a:stretch>
            <a:fillRect/>
          </a:stretch>
        </p:blipFill>
        <p:spPr>
          <a:xfrm>
            <a:off x="2073368" y="2003051"/>
            <a:ext cx="7686675" cy="3981450"/>
          </a:xfrm>
          <a:prstGeom prst="rect">
            <a:avLst/>
          </a:prstGeom>
        </p:spPr>
      </p:pic>
    </p:spTree>
    <p:extLst>
      <p:ext uri="{BB962C8B-B14F-4D97-AF65-F5344CB8AC3E}">
        <p14:creationId xmlns:p14="http://schemas.microsoft.com/office/powerpoint/2010/main" val="3830067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C2D27CB-82A4-46CB-AF9F-679A564ECDF3}"/>
              </a:ext>
            </a:extLst>
          </p:cNvPr>
          <p:cNvSpPr>
            <a:spLocks noGrp="1"/>
          </p:cNvSpPr>
          <p:nvPr>
            <p:ph sz="quarter" idx="10"/>
          </p:nvPr>
        </p:nvSpPr>
        <p:spPr/>
        <p:txBody>
          <a:bodyPr/>
          <a:lstStyle/>
          <a:p>
            <a:r>
              <a:rPr lang="es-EC" dirty="0"/>
              <a:t>Beneficios de la entrega continua</a:t>
            </a:r>
            <a:endParaRPr lang="en-GB" dirty="0"/>
          </a:p>
        </p:txBody>
      </p:sp>
    </p:spTree>
    <p:extLst>
      <p:ext uri="{BB962C8B-B14F-4D97-AF65-F5344CB8AC3E}">
        <p14:creationId xmlns:p14="http://schemas.microsoft.com/office/powerpoint/2010/main" val="3528180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00C41B-4786-47AE-8A58-93585C31A83A}"/>
              </a:ext>
            </a:extLst>
          </p:cNvPr>
          <p:cNvSpPr>
            <a:spLocks noGrp="1"/>
          </p:cNvSpPr>
          <p:nvPr>
            <p:ph type="title"/>
          </p:nvPr>
        </p:nvSpPr>
        <p:spPr/>
        <p:txBody>
          <a:bodyPr/>
          <a:lstStyle/>
          <a:p>
            <a:r>
              <a:rPr lang="es-EC" dirty="0"/>
              <a:t>Beneficios de la entrega continua</a:t>
            </a:r>
            <a:endParaRPr lang="en-GB" dirty="0"/>
          </a:p>
        </p:txBody>
      </p:sp>
      <p:sp>
        <p:nvSpPr>
          <p:cNvPr id="4" name="Content Placeholder 3">
            <a:extLst>
              <a:ext uri="{FF2B5EF4-FFF2-40B4-BE49-F238E27FC236}">
                <a16:creationId xmlns:a16="http://schemas.microsoft.com/office/drawing/2014/main" id="{C42CD29F-9E40-44D7-9724-5869F3332191}"/>
              </a:ext>
            </a:extLst>
          </p:cNvPr>
          <p:cNvSpPr>
            <a:spLocks noGrp="1"/>
          </p:cNvSpPr>
          <p:nvPr>
            <p:ph idx="1"/>
          </p:nvPr>
        </p:nvSpPr>
        <p:spPr/>
        <p:txBody>
          <a:bodyPr>
            <a:normAutofit/>
          </a:bodyPr>
          <a:lstStyle/>
          <a:p>
            <a:r>
              <a:rPr lang="es-EC" b="1" dirty="0"/>
              <a:t>Reducción de riesgo de despliegue</a:t>
            </a:r>
          </a:p>
          <a:p>
            <a:pPr lvl="1"/>
            <a:r>
              <a:rPr lang="es-EC" dirty="0"/>
              <a:t>Dado que se hace despliegue con pequeños cambios, surgirán menos problemas y será más fácil solucionarlos cuando aparezcan.</a:t>
            </a:r>
          </a:p>
          <a:p>
            <a:r>
              <a:rPr lang="es-EC" b="1" dirty="0"/>
              <a:t>Avances creíbles</a:t>
            </a:r>
          </a:p>
          <a:p>
            <a:pPr lvl="1"/>
            <a:r>
              <a:rPr lang="es-EC" dirty="0"/>
              <a:t>Mucho control de avance se hace en base a la declaración del desarrollador. Lo cual es mucho menos creíble que si se hace con respecto al despliegue en el ambiente de producción (o similar).</a:t>
            </a:r>
          </a:p>
          <a:p>
            <a:r>
              <a:rPr lang="es-EC" b="1" dirty="0"/>
              <a:t>Retroalimentación del usuario</a:t>
            </a:r>
          </a:p>
          <a:p>
            <a:pPr lvl="1"/>
            <a:r>
              <a:rPr lang="es-EC" dirty="0"/>
              <a:t>El principal riesgo al construir software es terminar con algo que no es útil a los usuarios reales. Mientras antes se obtenga la retroalimentación, mejor.</a:t>
            </a:r>
          </a:p>
          <a:p>
            <a:endParaRPr lang="es-EC" dirty="0"/>
          </a:p>
          <a:p>
            <a:endParaRPr lang="en-GB" dirty="0"/>
          </a:p>
        </p:txBody>
      </p:sp>
    </p:spTree>
    <p:extLst>
      <p:ext uri="{BB962C8B-B14F-4D97-AF65-F5344CB8AC3E}">
        <p14:creationId xmlns:p14="http://schemas.microsoft.com/office/powerpoint/2010/main" val="1748998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4CCB6-C9B5-45BE-913B-77EFED3F28F3}"/>
              </a:ext>
            </a:extLst>
          </p:cNvPr>
          <p:cNvSpPr>
            <a:spLocks noGrp="1"/>
          </p:cNvSpPr>
          <p:nvPr>
            <p:ph type="title"/>
          </p:nvPr>
        </p:nvSpPr>
        <p:spPr/>
        <p:txBody>
          <a:bodyPr>
            <a:normAutofit/>
          </a:bodyPr>
          <a:lstStyle/>
          <a:p>
            <a:r>
              <a:rPr lang="es-EC" dirty="0"/>
              <a:t>Beneficios de la entrega continua</a:t>
            </a:r>
            <a:endParaRPr lang="en-GB" dirty="0"/>
          </a:p>
        </p:txBody>
      </p:sp>
      <p:sp>
        <p:nvSpPr>
          <p:cNvPr id="3" name="Content Placeholder 2">
            <a:extLst>
              <a:ext uri="{FF2B5EF4-FFF2-40B4-BE49-F238E27FC236}">
                <a16:creationId xmlns:a16="http://schemas.microsoft.com/office/drawing/2014/main" id="{C0ED2AB8-C77D-48DE-96F2-1A1E0B65F08F}"/>
              </a:ext>
            </a:extLst>
          </p:cNvPr>
          <p:cNvSpPr>
            <a:spLocks noGrp="1"/>
          </p:cNvSpPr>
          <p:nvPr>
            <p:ph idx="1"/>
          </p:nvPr>
        </p:nvSpPr>
        <p:spPr/>
        <p:txBody>
          <a:bodyPr/>
          <a:lstStyle/>
          <a:p>
            <a:r>
              <a:rPr lang="es-EC" b="1" dirty="0"/>
              <a:t>Automatización de tareas</a:t>
            </a:r>
          </a:p>
          <a:p>
            <a:pPr lvl="1"/>
            <a:r>
              <a:rPr lang="es-EC" dirty="0"/>
              <a:t>La automatización de la construcción y el despliegue permite que los desarrolladores se desentiendan de tareas repetitivas para concentrarse en actividades de mayor valor como la seguridad o usabilidad del sistema.</a:t>
            </a:r>
          </a:p>
          <a:p>
            <a:r>
              <a:rPr lang="es-EC" b="1" dirty="0"/>
              <a:t>Liberar de presión al equipo de desarrollo</a:t>
            </a:r>
          </a:p>
          <a:p>
            <a:pPr lvl="1"/>
            <a:r>
              <a:rPr lang="es-EC" dirty="0"/>
              <a:t>Desaparece el estrés propio del “día de la entrega” del software.</a:t>
            </a:r>
          </a:p>
          <a:p>
            <a:pPr lvl="1"/>
            <a:r>
              <a:rPr lang="es-EC" dirty="0"/>
              <a:t>Los desarrolladores se concentran en la construcción y pueden ver el resultado de su trabajo, en cuestión de minutos, en producción.</a:t>
            </a:r>
          </a:p>
        </p:txBody>
      </p:sp>
    </p:spTree>
    <p:extLst>
      <p:ext uri="{BB962C8B-B14F-4D97-AF65-F5344CB8AC3E}">
        <p14:creationId xmlns:p14="http://schemas.microsoft.com/office/powerpoint/2010/main" val="3074587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1F32367-3752-461E-B2F8-04A4445923EA}"/>
              </a:ext>
            </a:extLst>
          </p:cNvPr>
          <p:cNvSpPr>
            <a:spLocks noGrp="1"/>
          </p:cNvSpPr>
          <p:nvPr>
            <p:ph sz="quarter" idx="10"/>
          </p:nvPr>
        </p:nvSpPr>
        <p:spPr/>
        <p:txBody>
          <a:bodyPr/>
          <a:lstStyle/>
          <a:p>
            <a:r>
              <a:rPr lang="es-EC" dirty="0"/>
              <a:t>Principios de la entrega de software</a:t>
            </a:r>
          </a:p>
        </p:txBody>
      </p:sp>
    </p:spTree>
    <p:extLst>
      <p:ext uri="{BB962C8B-B14F-4D97-AF65-F5344CB8AC3E}">
        <p14:creationId xmlns:p14="http://schemas.microsoft.com/office/powerpoint/2010/main" val="3240045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D8523-6C0E-42C9-9CC4-FB1CE637F76D}"/>
              </a:ext>
            </a:extLst>
          </p:cNvPr>
          <p:cNvSpPr>
            <a:spLocks noGrp="1"/>
          </p:cNvSpPr>
          <p:nvPr>
            <p:ph type="title"/>
          </p:nvPr>
        </p:nvSpPr>
        <p:spPr/>
        <p:txBody>
          <a:bodyPr>
            <a:normAutofit/>
          </a:bodyPr>
          <a:lstStyle/>
          <a:p>
            <a:r>
              <a:rPr lang="es-EC" dirty="0"/>
              <a:t>Principios de la entrega de software</a:t>
            </a:r>
          </a:p>
        </p:txBody>
      </p:sp>
      <p:sp>
        <p:nvSpPr>
          <p:cNvPr id="3" name="Content Placeholder 2">
            <a:extLst>
              <a:ext uri="{FF2B5EF4-FFF2-40B4-BE49-F238E27FC236}">
                <a16:creationId xmlns:a16="http://schemas.microsoft.com/office/drawing/2014/main" id="{537596F2-BF97-47F3-A8DF-381EEB22634C}"/>
              </a:ext>
            </a:extLst>
          </p:cNvPr>
          <p:cNvSpPr>
            <a:spLocks noGrp="1"/>
          </p:cNvSpPr>
          <p:nvPr>
            <p:ph idx="1"/>
          </p:nvPr>
        </p:nvSpPr>
        <p:spPr/>
        <p:txBody>
          <a:bodyPr>
            <a:normAutofit fontScale="92500" lnSpcReduction="20000"/>
          </a:bodyPr>
          <a:lstStyle/>
          <a:p>
            <a:pPr marL="514350" indent="-514350">
              <a:buFont typeface="+mj-lt"/>
              <a:buAutoNum type="arabicPeriod"/>
            </a:pPr>
            <a:r>
              <a:rPr lang="es-EC" b="1" dirty="0"/>
              <a:t>Tener un proceso de entrega de software repetible y confiable</a:t>
            </a:r>
          </a:p>
          <a:p>
            <a:pPr lvl="1"/>
            <a:r>
              <a:rPr lang="es-EC" dirty="0"/>
              <a:t>Entregar software debería ser fácil ya que cada parte del proceso de entrega debió haberse probado cientos de veces.</a:t>
            </a:r>
          </a:p>
          <a:p>
            <a:pPr marL="514350" indent="-514350">
              <a:buFont typeface="+mj-lt"/>
              <a:buAutoNum type="arabicPeriod"/>
            </a:pPr>
            <a:r>
              <a:rPr lang="es-EC" b="1" dirty="0"/>
              <a:t>Tener casi todo automatizado</a:t>
            </a:r>
          </a:p>
          <a:p>
            <a:pPr lvl="1"/>
            <a:r>
              <a:rPr lang="es-EC" dirty="0"/>
              <a:t>Hay cosas que no se pueden automatizar: pruebas exploratorias que dependen de personal de pruebas experimentado, las presentaciones del software a los representantes del cliente, aprobaciones de cumplimiento de regulaciones. Todo el resto debe automatizarse.</a:t>
            </a:r>
          </a:p>
          <a:p>
            <a:pPr marL="514350" indent="-514350">
              <a:buFont typeface="+mj-lt"/>
              <a:buAutoNum type="arabicPeriod"/>
            </a:pPr>
            <a:r>
              <a:rPr lang="es-EC" b="1" dirty="0"/>
              <a:t>Mantener todo con control de versiones</a:t>
            </a:r>
          </a:p>
          <a:p>
            <a:pPr lvl="1"/>
            <a:r>
              <a:rPr lang="es-EC" dirty="0"/>
              <a:t>La documentación de requerimientos, scripts de pruebas, casos de prueba automatizados, scripts de configuración de red, scripts de despliegue, creación de base de datos, scripts de inicialización, librerías, etc. deben ser almacenados en algún tipo de almacenamiento versionado.</a:t>
            </a:r>
          </a:p>
          <a:p>
            <a:endParaRPr lang="es-EC" dirty="0"/>
          </a:p>
        </p:txBody>
      </p:sp>
    </p:spTree>
    <p:extLst>
      <p:ext uri="{BB962C8B-B14F-4D97-AF65-F5344CB8AC3E}">
        <p14:creationId xmlns:p14="http://schemas.microsoft.com/office/powerpoint/2010/main" val="640562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A4989-4AA5-4975-83F9-4878DEF5C41E}"/>
              </a:ext>
            </a:extLst>
          </p:cNvPr>
          <p:cNvSpPr>
            <a:spLocks noGrp="1"/>
          </p:cNvSpPr>
          <p:nvPr>
            <p:ph type="title"/>
          </p:nvPr>
        </p:nvSpPr>
        <p:spPr/>
        <p:txBody>
          <a:bodyPr/>
          <a:lstStyle/>
          <a:p>
            <a:r>
              <a:rPr lang="es-EC" dirty="0"/>
              <a:t>Principios de la entrega de software</a:t>
            </a:r>
          </a:p>
        </p:txBody>
      </p:sp>
      <p:sp>
        <p:nvSpPr>
          <p:cNvPr id="3" name="Content Placeholder 2">
            <a:extLst>
              <a:ext uri="{FF2B5EF4-FFF2-40B4-BE49-F238E27FC236}">
                <a16:creationId xmlns:a16="http://schemas.microsoft.com/office/drawing/2014/main" id="{6BB8A2BC-E6E2-4E88-8FFC-A9066BF1F40B}"/>
              </a:ext>
            </a:extLst>
          </p:cNvPr>
          <p:cNvSpPr>
            <a:spLocks noGrp="1"/>
          </p:cNvSpPr>
          <p:nvPr>
            <p:ph idx="1"/>
          </p:nvPr>
        </p:nvSpPr>
        <p:spPr/>
        <p:txBody>
          <a:bodyPr>
            <a:normAutofit fontScale="92500" lnSpcReduction="20000"/>
          </a:bodyPr>
          <a:lstStyle/>
          <a:p>
            <a:pPr marL="514350" indent="-514350">
              <a:buFont typeface="+mj-lt"/>
              <a:buAutoNum type="arabicPeriod" startAt="4"/>
            </a:pPr>
            <a:r>
              <a:rPr lang="es-EC" b="1" dirty="0"/>
              <a:t>Terminado significa entregado</a:t>
            </a:r>
            <a:endParaRPr lang="es-EC" dirty="0"/>
          </a:p>
          <a:p>
            <a:pPr lvl="1"/>
            <a:r>
              <a:rPr lang="es-EC" dirty="0"/>
              <a:t>Una característica solo está completa cuando ha sido entregada al usuario. Se puede estimar el trabajo restante hasta que algo esté listo, pero solo serán estimaciones.</a:t>
            </a:r>
          </a:p>
          <a:p>
            <a:pPr marL="514350" indent="-514350">
              <a:buFont typeface="+mj-lt"/>
              <a:buAutoNum type="arabicPeriod" startAt="4"/>
            </a:pPr>
            <a:r>
              <a:rPr lang="es-EC" b="1" dirty="0"/>
              <a:t>Mejora continua</a:t>
            </a:r>
          </a:p>
          <a:p>
            <a:pPr lvl="1"/>
            <a:r>
              <a:rPr lang="es-EC" dirty="0"/>
              <a:t>El equipo debería reflexionar en retrospectiva acerca del proceso de entrega. Es decir, qué se hizo bien, qué se hizo mal y como mejorar las cosas.</a:t>
            </a:r>
          </a:p>
          <a:p>
            <a:pPr lvl="1"/>
            <a:r>
              <a:rPr lang="es-EC" dirty="0"/>
              <a:t>Todo sistema de software evoluciona y por lo tanto su proceso de entrega también lo hará.</a:t>
            </a:r>
          </a:p>
          <a:p>
            <a:pPr marL="514350" indent="-514350">
              <a:buFont typeface="+mj-lt"/>
              <a:buAutoNum type="arabicPeriod" startAt="4"/>
            </a:pPr>
            <a:r>
              <a:rPr lang="es-EC" b="1" dirty="0"/>
              <a:t>Todos son responsables del proceso de entrega</a:t>
            </a:r>
          </a:p>
          <a:p>
            <a:pPr lvl="1"/>
            <a:r>
              <a:rPr lang="es-EC" dirty="0"/>
              <a:t>Todo el equipo corre con el éxito o el fracaso del proyecto. La alineación es colectiva y no hay lugar para éxitos o fracasos individuales.</a:t>
            </a:r>
          </a:p>
          <a:p>
            <a:pPr lvl="1"/>
            <a:r>
              <a:rPr lang="es-EC" dirty="0"/>
              <a:t>Este es uno de los principios centrales del movimiento DevOps: promover una mayor colaboración entre todos.</a:t>
            </a:r>
          </a:p>
          <a:p>
            <a:endParaRPr lang="es-EC" dirty="0"/>
          </a:p>
        </p:txBody>
      </p:sp>
    </p:spTree>
    <p:extLst>
      <p:ext uri="{BB962C8B-B14F-4D97-AF65-F5344CB8AC3E}">
        <p14:creationId xmlns:p14="http://schemas.microsoft.com/office/powerpoint/2010/main" val="444818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0BDB882-6E73-4319-8FBD-01984DC3EEC9}"/>
              </a:ext>
            </a:extLst>
          </p:cNvPr>
          <p:cNvSpPr>
            <a:spLocks noGrp="1"/>
          </p:cNvSpPr>
          <p:nvPr>
            <p:ph sz="quarter" idx="10"/>
          </p:nvPr>
        </p:nvSpPr>
        <p:spPr/>
        <p:txBody>
          <a:bodyPr/>
          <a:lstStyle/>
          <a:p>
            <a:r>
              <a:rPr lang="es-EC" dirty="0"/>
              <a:t>Conceptos relacionados</a:t>
            </a:r>
          </a:p>
        </p:txBody>
      </p:sp>
    </p:spTree>
    <p:extLst>
      <p:ext uri="{BB962C8B-B14F-4D97-AF65-F5344CB8AC3E}">
        <p14:creationId xmlns:p14="http://schemas.microsoft.com/office/powerpoint/2010/main" val="266635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8069B-75F2-4173-9D73-5C30DF22C772}"/>
              </a:ext>
            </a:extLst>
          </p:cNvPr>
          <p:cNvSpPr>
            <a:spLocks noGrp="1"/>
          </p:cNvSpPr>
          <p:nvPr>
            <p:ph type="title"/>
          </p:nvPr>
        </p:nvSpPr>
        <p:spPr/>
        <p:txBody>
          <a:bodyPr>
            <a:normAutofit/>
          </a:bodyPr>
          <a:lstStyle/>
          <a:p>
            <a:r>
              <a:rPr lang="es-EC" dirty="0"/>
              <a:t>Integración Continua y Despliegue Continuo</a:t>
            </a:r>
          </a:p>
        </p:txBody>
      </p:sp>
      <p:sp>
        <p:nvSpPr>
          <p:cNvPr id="3" name="Content Placeholder 2">
            <a:extLst>
              <a:ext uri="{FF2B5EF4-FFF2-40B4-BE49-F238E27FC236}">
                <a16:creationId xmlns:a16="http://schemas.microsoft.com/office/drawing/2014/main" id="{70A91A0F-239C-4E36-9DD9-DD0CD6CF9B4E}"/>
              </a:ext>
            </a:extLst>
          </p:cNvPr>
          <p:cNvSpPr>
            <a:spLocks noGrp="1"/>
          </p:cNvSpPr>
          <p:nvPr>
            <p:ph idx="1"/>
          </p:nvPr>
        </p:nvSpPr>
        <p:spPr/>
        <p:txBody>
          <a:bodyPr/>
          <a:lstStyle/>
          <a:p>
            <a:endParaRPr lang="es-EC" dirty="0"/>
          </a:p>
        </p:txBody>
      </p:sp>
      <p:pic>
        <p:nvPicPr>
          <p:cNvPr id="1028" name="Picture 4" descr="What are the differences between continuous integration, continuous delivery, and continuous deployment? | Atlassian CI/CD">
            <a:extLst>
              <a:ext uri="{FF2B5EF4-FFF2-40B4-BE49-F238E27FC236}">
                <a16:creationId xmlns:a16="http://schemas.microsoft.com/office/drawing/2014/main" id="{4752F644-0343-4014-9757-0CFA9929D8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511" y="1271807"/>
            <a:ext cx="8823511" cy="49632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8CB463B-ED6F-4FF1-807C-5E6D17128108}"/>
              </a:ext>
            </a:extLst>
          </p:cNvPr>
          <p:cNvSpPr txBox="1"/>
          <p:nvPr/>
        </p:nvSpPr>
        <p:spPr>
          <a:xfrm>
            <a:off x="1497105" y="5701553"/>
            <a:ext cx="9502588" cy="646331"/>
          </a:xfrm>
          <a:prstGeom prst="rect">
            <a:avLst/>
          </a:prstGeom>
          <a:noFill/>
        </p:spPr>
        <p:txBody>
          <a:bodyPr wrap="square" rtlCol="0">
            <a:spAutoFit/>
          </a:bodyPr>
          <a:lstStyle/>
          <a:p>
            <a:r>
              <a:rPr lang="es-EC" dirty="0"/>
              <a:t>Cortesía: </a:t>
            </a:r>
            <a:r>
              <a:rPr lang="es-EC" dirty="0" err="1"/>
              <a:t>Sten</a:t>
            </a:r>
            <a:r>
              <a:rPr lang="es-EC" dirty="0"/>
              <a:t> </a:t>
            </a:r>
            <a:r>
              <a:rPr lang="es-EC" dirty="0" err="1"/>
              <a:t>Pittet</a:t>
            </a:r>
            <a:r>
              <a:rPr lang="es-EC" dirty="0"/>
              <a:t>, </a:t>
            </a:r>
            <a:r>
              <a:rPr lang="es-EC" b="0" i="0" dirty="0" err="1">
                <a:solidFill>
                  <a:srgbClr val="253858"/>
                </a:solidFill>
                <a:effectLst/>
                <a:latin typeface="Charlie Display"/>
              </a:rPr>
              <a:t>Continuous</a:t>
            </a:r>
            <a:r>
              <a:rPr lang="es-EC" b="0" i="0" dirty="0">
                <a:solidFill>
                  <a:srgbClr val="253858"/>
                </a:solidFill>
                <a:effectLst/>
                <a:latin typeface="Charlie Display"/>
              </a:rPr>
              <a:t> </a:t>
            </a:r>
            <a:r>
              <a:rPr lang="es-EC" b="0" i="0" dirty="0" err="1">
                <a:solidFill>
                  <a:srgbClr val="253858"/>
                </a:solidFill>
                <a:effectLst/>
                <a:latin typeface="Charlie Display"/>
              </a:rPr>
              <a:t>integration</a:t>
            </a:r>
            <a:r>
              <a:rPr lang="es-EC" b="0" i="0" dirty="0">
                <a:solidFill>
                  <a:srgbClr val="253858"/>
                </a:solidFill>
                <a:effectLst/>
                <a:latin typeface="Charlie Display"/>
              </a:rPr>
              <a:t> vs. </a:t>
            </a:r>
            <a:r>
              <a:rPr lang="es-EC" b="0" i="0" dirty="0" err="1">
                <a:solidFill>
                  <a:srgbClr val="253858"/>
                </a:solidFill>
                <a:effectLst/>
                <a:latin typeface="Charlie Display"/>
              </a:rPr>
              <a:t>continuous</a:t>
            </a:r>
            <a:r>
              <a:rPr lang="es-EC" b="0" i="0" dirty="0">
                <a:solidFill>
                  <a:srgbClr val="253858"/>
                </a:solidFill>
                <a:effectLst/>
                <a:latin typeface="Charlie Display"/>
              </a:rPr>
              <a:t> </a:t>
            </a:r>
            <a:r>
              <a:rPr lang="es-EC" b="0" i="0" dirty="0" err="1">
                <a:solidFill>
                  <a:srgbClr val="253858"/>
                </a:solidFill>
                <a:effectLst/>
                <a:latin typeface="Charlie Display"/>
              </a:rPr>
              <a:t>delivery</a:t>
            </a:r>
            <a:r>
              <a:rPr lang="es-EC" b="0" i="0" dirty="0">
                <a:solidFill>
                  <a:srgbClr val="253858"/>
                </a:solidFill>
                <a:effectLst/>
                <a:latin typeface="Charlie Display"/>
              </a:rPr>
              <a:t> vs. </a:t>
            </a:r>
            <a:r>
              <a:rPr lang="es-EC" b="0" i="0" dirty="0" err="1">
                <a:solidFill>
                  <a:srgbClr val="253858"/>
                </a:solidFill>
                <a:effectLst/>
                <a:latin typeface="Charlie Display"/>
              </a:rPr>
              <a:t>continuous</a:t>
            </a:r>
            <a:r>
              <a:rPr lang="es-EC" b="0" i="0" dirty="0">
                <a:solidFill>
                  <a:srgbClr val="253858"/>
                </a:solidFill>
                <a:effectLst/>
                <a:latin typeface="Charlie Display"/>
              </a:rPr>
              <a:t> </a:t>
            </a:r>
            <a:r>
              <a:rPr lang="es-EC" b="0" i="0" dirty="0" err="1">
                <a:solidFill>
                  <a:srgbClr val="253858"/>
                </a:solidFill>
                <a:effectLst/>
                <a:latin typeface="Charlie Display"/>
              </a:rPr>
              <a:t>deployment</a:t>
            </a:r>
            <a:endParaRPr lang="es-EC" b="0" i="0" dirty="0">
              <a:solidFill>
                <a:srgbClr val="253858"/>
              </a:solidFill>
              <a:effectLst/>
              <a:latin typeface="Charlie Display"/>
            </a:endParaRPr>
          </a:p>
          <a:p>
            <a:endParaRPr lang="es-EC" dirty="0"/>
          </a:p>
        </p:txBody>
      </p:sp>
    </p:spTree>
    <p:extLst>
      <p:ext uri="{BB962C8B-B14F-4D97-AF65-F5344CB8AC3E}">
        <p14:creationId xmlns:p14="http://schemas.microsoft.com/office/powerpoint/2010/main" val="608432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5DC76-DD07-4605-8C74-549D91A2E864}"/>
              </a:ext>
            </a:extLst>
          </p:cNvPr>
          <p:cNvSpPr>
            <a:spLocks noGrp="1"/>
          </p:cNvSpPr>
          <p:nvPr>
            <p:ph type="title"/>
          </p:nvPr>
        </p:nvSpPr>
        <p:spPr/>
        <p:txBody>
          <a:bodyPr/>
          <a:lstStyle/>
          <a:p>
            <a:r>
              <a:rPr lang="es-EC" dirty="0"/>
              <a:t>Integración Continua y Entrega Continua</a:t>
            </a:r>
          </a:p>
        </p:txBody>
      </p:sp>
      <p:sp>
        <p:nvSpPr>
          <p:cNvPr id="3" name="Content Placeholder 2">
            <a:extLst>
              <a:ext uri="{FF2B5EF4-FFF2-40B4-BE49-F238E27FC236}">
                <a16:creationId xmlns:a16="http://schemas.microsoft.com/office/drawing/2014/main" id="{DB0F55C9-BBB9-4E5D-8FB2-0DD8EF514600}"/>
              </a:ext>
            </a:extLst>
          </p:cNvPr>
          <p:cNvSpPr>
            <a:spLocks noGrp="1"/>
          </p:cNvSpPr>
          <p:nvPr>
            <p:ph idx="1"/>
          </p:nvPr>
        </p:nvSpPr>
        <p:spPr/>
        <p:txBody>
          <a:bodyPr/>
          <a:lstStyle/>
          <a:p>
            <a:endParaRPr lang="es-EC"/>
          </a:p>
        </p:txBody>
      </p:sp>
      <p:pic>
        <p:nvPicPr>
          <p:cNvPr id="4" name="Picture 3">
            <a:extLst>
              <a:ext uri="{FF2B5EF4-FFF2-40B4-BE49-F238E27FC236}">
                <a16:creationId xmlns:a16="http://schemas.microsoft.com/office/drawing/2014/main" id="{A88DB5B9-BE04-4DA7-8D24-A7B3B59A6B50}"/>
              </a:ext>
            </a:extLst>
          </p:cNvPr>
          <p:cNvPicPr>
            <a:picLocks noChangeAspect="1"/>
          </p:cNvPicPr>
          <p:nvPr/>
        </p:nvPicPr>
        <p:blipFill>
          <a:blip r:embed="rId2"/>
          <a:stretch>
            <a:fillRect/>
          </a:stretch>
        </p:blipFill>
        <p:spPr>
          <a:xfrm>
            <a:off x="988359" y="1825076"/>
            <a:ext cx="10215281" cy="3207848"/>
          </a:xfrm>
          <a:prstGeom prst="rect">
            <a:avLst/>
          </a:prstGeom>
        </p:spPr>
      </p:pic>
    </p:spTree>
    <p:extLst>
      <p:ext uri="{BB962C8B-B14F-4D97-AF65-F5344CB8AC3E}">
        <p14:creationId xmlns:p14="http://schemas.microsoft.com/office/powerpoint/2010/main" val="583606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43B0E92-923A-4C3D-B6DA-24A1A5A71B90}"/>
              </a:ext>
            </a:extLst>
          </p:cNvPr>
          <p:cNvSpPr>
            <a:spLocks noGrp="1"/>
          </p:cNvSpPr>
          <p:nvPr>
            <p:ph sz="quarter" idx="10"/>
          </p:nvPr>
        </p:nvSpPr>
        <p:spPr/>
        <p:txBody>
          <a:bodyPr/>
          <a:lstStyle/>
          <a:p>
            <a:r>
              <a:rPr lang="en-GB" dirty="0"/>
              <a:t>¿</a:t>
            </a:r>
            <a:r>
              <a:rPr lang="en-GB" dirty="0" err="1"/>
              <a:t>Qué</a:t>
            </a:r>
            <a:r>
              <a:rPr lang="en-GB" dirty="0"/>
              <a:t> es DevOps?</a:t>
            </a:r>
          </a:p>
        </p:txBody>
      </p:sp>
    </p:spTree>
    <p:extLst>
      <p:ext uri="{BB962C8B-B14F-4D97-AF65-F5344CB8AC3E}">
        <p14:creationId xmlns:p14="http://schemas.microsoft.com/office/powerpoint/2010/main" val="4089807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lstStyle/>
          <a:p>
            <a:r>
              <a:rPr lang="en-GB" dirty="0"/>
              <a:t>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lstStyle/>
          <a:p>
            <a:r>
              <a:rPr lang="es-EC" dirty="0"/>
              <a:t>DevOps (una palabra compuesta proveniente de desarrollo y operaciones) es una cultura, movimiento o práctica que enfatiza la colaboración y comunicación de los desarrolladores de software y otros profesionales de tecnologías de la información mientras automatizan el proceso de entrega software y cambios de infraestructura.</a:t>
            </a:r>
          </a:p>
          <a:p>
            <a:r>
              <a:rPr lang="es-EC" dirty="0"/>
              <a:t>Su objetivo es establecer una cultura y un ambiente en donde la codificación, pruebas y entrega de software puedan suceder de forma rápida, frecuente y más confiable.</a:t>
            </a:r>
            <a:endParaRPr lang="en-GB" dirty="0"/>
          </a:p>
        </p:txBody>
      </p:sp>
    </p:spTree>
    <p:extLst>
      <p:ext uri="{BB962C8B-B14F-4D97-AF65-F5344CB8AC3E}">
        <p14:creationId xmlns:p14="http://schemas.microsoft.com/office/powerpoint/2010/main" val="2125793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2F57A12-274B-4400-AB3D-F51A2F36CED4}"/>
              </a:ext>
            </a:extLst>
          </p:cNvPr>
          <p:cNvSpPr>
            <a:spLocks noGrp="1"/>
          </p:cNvSpPr>
          <p:nvPr>
            <p:ph sz="quarter" idx="10"/>
          </p:nvPr>
        </p:nvSpPr>
        <p:spPr/>
        <p:txBody>
          <a:bodyPr/>
          <a:lstStyle/>
          <a:p>
            <a:r>
              <a:rPr lang="es-EC" dirty="0"/>
              <a:t>¿Cuál es el origen de DevOps?</a:t>
            </a:r>
          </a:p>
        </p:txBody>
      </p:sp>
    </p:spTree>
    <p:extLst>
      <p:ext uri="{BB962C8B-B14F-4D97-AF65-F5344CB8AC3E}">
        <p14:creationId xmlns:p14="http://schemas.microsoft.com/office/powerpoint/2010/main" val="1436104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lstStyle/>
          <a:p>
            <a:r>
              <a:rPr lang="en-GB" dirty="0"/>
              <a:t>El </a:t>
            </a:r>
            <a:r>
              <a:rPr lang="es-EC" dirty="0"/>
              <a:t>origen</a:t>
            </a:r>
            <a:r>
              <a:rPr lang="en-GB" dirty="0"/>
              <a:t> de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normAutofit fontScale="92500" lnSpcReduction="10000"/>
          </a:bodyPr>
          <a:lstStyle/>
          <a:p>
            <a:r>
              <a:rPr lang="es-EC" dirty="0"/>
              <a:t>El movimiento empezó en 2009 y el término fue acuñado posteriormente por Patrick </a:t>
            </a:r>
            <a:r>
              <a:rPr lang="es-EC" dirty="0" err="1"/>
              <a:t>Debois</a:t>
            </a:r>
            <a:r>
              <a:rPr lang="es-EC" dirty="0"/>
              <a:t>.</a:t>
            </a:r>
          </a:p>
          <a:p>
            <a:r>
              <a:rPr lang="es-EC" dirty="0"/>
              <a:t>El problema era que las aplicaciones Web eran creadas por desarrolladores (el Dev) que generalmente entregaban cambios y actualizaciones a sus aplicaciones de una manera muy rápida. </a:t>
            </a:r>
          </a:p>
          <a:p>
            <a:r>
              <a:rPr lang="es-EC" dirty="0"/>
              <a:t>El principal obstáculo que enfrentaron fue el de las operaciones (</a:t>
            </a:r>
            <a:r>
              <a:rPr lang="es-EC" dirty="0" err="1"/>
              <a:t>Ops</a:t>
            </a:r>
            <a:r>
              <a:rPr lang="es-EC" dirty="0"/>
              <a:t>), que demoraban en implementar esos cambios, ya que tenían procesos de gestión de cambios rígidos y rigurosos.</a:t>
            </a:r>
          </a:p>
          <a:p>
            <a:r>
              <a:rPr lang="es-EC" dirty="0"/>
              <a:t>De aquí que el objetivo seminal del movimiento DevOps fue:</a:t>
            </a:r>
          </a:p>
          <a:p>
            <a:pPr lvl="1"/>
            <a:r>
              <a:rPr lang="es-EC" dirty="0"/>
              <a:t>abordar la falta de acoplamiento entre los equipos Dev y </a:t>
            </a:r>
            <a:r>
              <a:rPr lang="es-EC" dirty="0" err="1"/>
              <a:t>Ops</a:t>
            </a:r>
            <a:r>
              <a:rPr lang="es-EC" dirty="0"/>
              <a:t>;</a:t>
            </a:r>
          </a:p>
          <a:p>
            <a:pPr lvl="1"/>
            <a:r>
              <a:rPr lang="es-EC" dirty="0"/>
              <a:t>cerrar el abismo entre ellos; y </a:t>
            </a:r>
          </a:p>
          <a:p>
            <a:pPr lvl="1"/>
            <a:r>
              <a:rPr lang="es-EC" dirty="0"/>
              <a:t>fomentar más comunicación, colaboración y confianza.</a:t>
            </a:r>
          </a:p>
          <a:p>
            <a:endParaRPr lang="en-GB" dirty="0"/>
          </a:p>
        </p:txBody>
      </p:sp>
    </p:spTree>
    <p:extLst>
      <p:ext uri="{BB962C8B-B14F-4D97-AF65-F5344CB8AC3E}">
        <p14:creationId xmlns:p14="http://schemas.microsoft.com/office/powerpoint/2010/main" val="3155165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lstStyle/>
          <a:p>
            <a:r>
              <a:rPr lang="en-GB" dirty="0"/>
              <a:t>El </a:t>
            </a:r>
            <a:r>
              <a:rPr lang="es-EC" dirty="0"/>
              <a:t>origen</a:t>
            </a:r>
            <a:r>
              <a:rPr lang="en-GB" dirty="0"/>
              <a:t> de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normAutofit lnSpcReduction="10000"/>
          </a:bodyPr>
          <a:lstStyle/>
          <a:p>
            <a:r>
              <a:rPr lang="es-EC" dirty="0"/>
              <a:t>El desarrollo ágil fue el precursor y se convirtió en el motor principal de la necesidad de DevOps. A medida que los desarrolladores comenzaron a entregar el código más rápido, ese código debía probarse más rápido; también necesitaba implementarse en servidores de desarrollo y prueba, y eventualmente en producción, con mayor frecuencia.</a:t>
            </a:r>
          </a:p>
          <a:p>
            <a:pPr lvl="1"/>
            <a:r>
              <a:rPr lang="es-EC" dirty="0"/>
              <a:t>El desarrollo ágil fomenta la satisfacción del cliente y la entrega incremental temprana de software; pequeños equipos de proyecto altamente motivados; métodos informales; productos de trabajo de ingeniería de software mínimos.</a:t>
            </a:r>
          </a:p>
          <a:p>
            <a:pPr lvl="1"/>
            <a:r>
              <a:rPr lang="es-EC" dirty="0"/>
              <a:t>Este desarrollo ágil se perfeccionó con el desarrollo de metodologías como XP y Scrum.</a:t>
            </a:r>
          </a:p>
          <a:p>
            <a:endParaRPr lang="en-GB" dirty="0"/>
          </a:p>
        </p:txBody>
      </p:sp>
    </p:spTree>
    <p:extLst>
      <p:ext uri="{BB962C8B-B14F-4D97-AF65-F5344CB8AC3E}">
        <p14:creationId xmlns:p14="http://schemas.microsoft.com/office/powerpoint/2010/main" val="2816967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lstStyle/>
          <a:p>
            <a:r>
              <a:rPr lang="en-GB" dirty="0"/>
              <a:t>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lstStyle/>
          <a:p>
            <a:r>
              <a:rPr lang="en-GB" dirty="0" err="1"/>
              <a:t>Operaciones</a:t>
            </a:r>
            <a:r>
              <a:rPr lang="en-GB" dirty="0"/>
              <a:t> (Ops) se </a:t>
            </a:r>
            <a:r>
              <a:rPr lang="en-GB" dirty="0" err="1"/>
              <a:t>había</a:t>
            </a:r>
            <a:r>
              <a:rPr lang="en-GB" dirty="0"/>
              <a:t> </a:t>
            </a:r>
            <a:r>
              <a:rPr lang="en-GB" dirty="0" err="1"/>
              <a:t>convertido</a:t>
            </a:r>
            <a:r>
              <a:rPr lang="en-GB" dirty="0"/>
              <a:t> </a:t>
            </a:r>
            <a:r>
              <a:rPr lang="en-GB" dirty="0" err="1"/>
              <a:t>en</a:t>
            </a:r>
            <a:r>
              <a:rPr lang="en-GB" dirty="0"/>
              <a:t> un </a:t>
            </a:r>
            <a:r>
              <a:rPr lang="en-GB" dirty="0" err="1"/>
              <a:t>cuello</a:t>
            </a:r>
            <a:r>
              <a:rPr lang="en-GB" dirty="0"/>
              <a:t> de </a:t>
            </a:r>
            <a:r>
              <a:rPr lang="en-GB" dirty="0" err="1"/>
              <a:t>botella</a:t>
            </a:r>
            <a:r>
              <a:rPr lang="en-GB" dirty="0"/>
              <a:t> para la </a:t>
            </a:r>
            <a:r>
              <a:rPr lang="en-GB" dirty="0" err="1"/>
              <a:t>entrega</a:t>
            </a:r>
            <a:r>
              <a:rPr lang="en-GB" dirty="0"/>
              <a:t> de software.</a:t>
            </a:r>
          </a:p>
        </p:txBody>
      </p:sp>
      <p:pic>
        <p:nvPicPr>
          <p:cNvPr id="4" name="Picture 3">
            <a:extLst>
              <a:ext uri="{FF2B5EF4-FFF2-40B4-BE49-F238E27FC236}">
                <a16:creationId xmlns:a16="http://schemas.microsoft.com/office/drawing/2014/main" id="{D63A17C2-E71C-4F02-9F43-162F0C4001A2}"/>
              </a:ext>
            </a:extLst>
          </p:cNvPr>
          <p:cNvPicPr>
            <a:picLocks noChangeAspect="1"/>
          </p:cNvPicPr>
          <p:nvPr/>
        </p:nvPicPr>
        <p:blipFill>
          <a:blip r:embed="rId2"/>
          <a:stretch>
            <a:fillRect/>
          </a:stretch>
        </p:blipFill>
        <p:spPr>
          <a:xfrm>
            <a:off x="2969858" y="2402578"/>
            <a:ext cx="6479540" cy="3750145"/>
          </a:xfrm>
          <a:prstGeom prst="rect">
            <a:avLst/>
          </a:prstGeom>
        </p:spPr>
      </p:pic>
    </p:spTree>
    <p:extLst>
      <p:ext uri="{BB962C8B-B14F-4D97-AF65-F5344CB8AC3E}">
        <p14:creationId xmlns:p14="http://schemas.microsoft.com/office/powerpoint/2010/main" val="3941186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AB86DD0-01DE-4A84-89BC-BD43C0A8668B}"/>
              </a:ext>
            </a:extLst>
          </p:cNvPr>
          <p:cNvSpPr>
            <a:spLocks noGrp="1"/>
          </p:cNvSpPr>
          <p:nvPr>
            <p:ph sz="quarter" idx="10"/>
          </p:nvPr>
        </p:nvSpPr>
        <p:spPr/>
        <p:txBody>
          <a:bodyPr/>
          <a:lstStyle/>
          <a:p>
            <a:r>
              <a:rPr lang="es-EC" dirty="0"/>
              <a:t>De Dev vs. </a:t>
            </a:r>
            <a:r>
              <a:rPr lang="es-EC" dirty="0" err="1"/>
              <a:t>Ops</a:t>
            </a:r>
            <a:r>
              <a:rPr lang="es-EC" dirty="0"/>
              <a:t> a DevOps</a:t>
            </a:r>
          </a:p>
        </p:txBody>
      </p:sp>
    </p:spTree>
    <p:extLst>
      <p:ext uri="{BB962C8B-B14F-4D97-AF65-F5344CB8AC3E}">
        <p14:creationId xmlns:p14="http://schemas.microsoft.com/office/powerpoint/2010/main" val="3114004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lstStyle/>
          <a:p>
            <a:r>
              <a:rPr lang="en-GB" dirty="0"/>
              <a:t>Dev vs. 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normAutofit lnSpcReduction="10000"/>
          </a:bodyPr>
          <a:lstStyle/>
          <a:p>
            <a:r>
              <a:rPr lang="es-EC" dirty="0"/>
              <a:t>Desarrollo (Dev) tiene la tarea de crear innovación y ponerlo en manos de los usuarios lo antes posible. </a:t>
            </a:r>
          </a:p>
          <a:p>
            <a:pPr lvl="1"/>
            <a:r>
              <a:rPr lang="es-EC" dirty="0"/>
              <a:t>Los desarrolladores quieren, y se espera que produzcan, nuevas características rápidamente. </a:t>
            </a:r>
          </a:p>
          <a:p>
            <a:r>
              <a:rPr lang="es-EC" dirty="0"/>
              <a:t>Operaciones (</a:t>
            </a:r>
            <a:r>
              <a:rPr lang="es-EC" dirty="0" err="1"/>
              <a:t>Ops</a:t>
            </a:r>
            <a:r>
              <a:rPr lang="es-EC" dirty="0"/>
              <a:t>) tiene la tarea de asegurarse de que los usuarios tengan acceso a un servicio estable, rápido y receptivo.</a:t>
            </a:r>
          </a:p>
          <a:p>
            <a:pPr lvl="1"/>
            <a:r>
              <a:rPr lang="es-EC" dirty="0"/>
              <a:t>Las operaciones desean, y se espera que produzcan, un sistema estable en todo momento.</a:t>
            </a:r>
          </a:p>
          <a:p>
            <a:r>
              <a:rPr lang="es-EC" dirty="0"/>
              <a:t>La solución a esta batalla entre Dev y </a:t>
            </a:r>
            <a:r>
              <a:rPr lang="es-EC" dirty="0" err="1"/>
              <a:t>Ops</a:t>
            </a:r>
            <a:r>
              <a:rPr lang="es-EC" dirty="0"/>
              <a:t> es lo que aborda DevOps: lograr el </a:t>
            </a:r>
            <a:r>
              <a:rPr lang="es-EC" b="1" dirty="0"/>
              <a:t>equilibrio</a:t>
            </a:r>
            <a:r>
              <a:rPr lang="es-EC" dirty="0"/>
              <a:t> entre </a:t>
            </a:r>
            <a:r>
              <a:rPr lang="es-EC" b="1" dirty="0"/>
              <a:t>innovación y estabilidad </a:t>
            </a:r>
            <a:r>
              <a:rPr lang="es-EC" dirty="0"/>
              <a:t>y entre </a:t>
            </a:r>
            <a:r>
              <a:rPr lang="es-EC" b="1" dirty="0"/>
              <a:t>velocidad de entrega y calidad</a:t>
            </a:r>
            <a:r>
              <a:rPr lang="es-EC" dirty="0"/>
              <a:t>.</a:t>
            </a:r>
          </a:p>
          <a:p>
            <a:endParaRPr lang="en-GB" dirty="0"/>
          </a:p>
        </p:txBody>
      </p:sp>
    </p:spTree>
    <p:extLst>
      <p:ext uri="{BB962C8B-B14F-4D97-AF65-F5344CB8AC3E}">
        <p14:creationId xmlns:p14="http://schemas.microsoft.com/office/powerpoint/2010/main" val="142717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normAutofit fontScale="90000"/>
          </a:bodyPr>
          <a:lstStyle/>
          <a:p>
            <a:r>
              <a:rPr lang="en-GB" dirty="0"/>
              <a:t>¿</a:t>
            </a:r>
            <a:r>
              <a:rPr lang="en-GB" dirty="0" err="1"/>
              <a:t>Qué</a:t>
            </a:r>
            <a:r>
              <a:rPr lang="en-GB" dirty="0"/>
              <a:t> </a:t>
            </a:r>
            <a:r>
              <a:rPr lang="en-GB" dirty="0" err="1"/>
              <a:t>necesita</a:t>
            </a:r>
            <a:r>
              <a:rPr lang="en-GB" dirty="0"/>
              <a:t> </a:t>
            </a:r>
            <a:r>
              <a:rPr lang="en-GB" dirty="0" err="1"/>
              <a:t>hacer</a:t>
            </a:r>
            <a:r>
              <a:rPr lang="en-GB" dirty="0"/>
              <a:t> Dev para </a:t>
            </a:r>
            <a:r>
              <a:rPr lang="en-GB" dirty="0" err="1"/>
              <a:t>alinearse</a:t>
            </a:r>
            <a:r>
              <a:rPr lang="en-GB" dirty="0"/>
              <a:t> con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normAutofit/>
          </a:bodyPr>
          <a:lstStyle/>
          <a:p>
            <a:pPr marL="514350" indent="-514350">
              <a:buFont typeface="+mj-lt"/>
              <a:buAutoNum type="arabicPeriod"/>
            </a:pPr>
            <a:r>
              <a:rPr lang="es-EC" dirty="0"/>
              <a:t>Dev necesita trabajar con </a:t>
            </a:r>
            <a:r>
              <a:rPr lang="es-EC" dirty="0" err="1"/>
              <a:t>Ops</a:t>
            </a:r>
            <a:r>
              <a:rPr lang="es-EC" dirty="0"/>
              <a:t> para </a:t>
            </a:r>
            <a:r>
              <a:rPr lang="es-EC" b="1" dirty="0"/>
              <a:t>comprender la naturaleza de los sistemas de producción</a:t>
            </a:r>
            <a:r>
              <a:rPr lang="es-EC" dirty="0"/>
              <a:t> en los que se ejecutarán sus aplicaciones. </a:t>
            </a:r>
          </a:p>
          <a:p>
            <a:pPr lvl="1"/>
            <a:r>
              <a:rPr lang="es-EC" dirty="0"/>
              <a:t>¿Cuáles son los estándares para los sistemas de producción (patrones de entorno) y cómo deberían funcionar sus aplicaciones en ellos? </a:t>
            </a:r>
          </a:p>
          <a:p>
            <a:pPr lvl="1"/>
            <a:r>
              <a:rPr lang="es-EC" dirty="0"/>
              <a:t>¿Dentro de qué restricciones deben operar las aplicaciones? </a:t>
            </a:r>
          </a:p>
          <a:p>
            <a:pPr lvl="1"/>
            <a:r>
              <a:rPr lang="es-EC" dirty="0"/>
              <a:t>Dev ahora necesita comprender las arquitecturas empresariales y de sistemas. </a:t>
            </a:r>
            <a:endParaRPr lang="en-GB" dirty="0"/>
          </a:p>
        </p:txBody>
      </p:sp>
    </p:spTree>
    <p:extLst>
      <p:ext uri="{BB962C8B-B14F-4D97-AF65-F5344CB8AC3E}">
        <p14:creationId xmlns:p14="http://schemas.microsoft.com/office/powerpoint/2010/main" val="15934824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normAutofit fontScale="90000"/>
          </a:bodyPr>
          <a:lstStyle/>
          <a:p>
            <a:r>
              <a:rPr lang="en-GB" dirty="0"/>
              <a:t>¿</a:t>
            </a:r>
            <a:r>
              <a:rPr lang="en-GB" dirty="0" err="1"/>
              <a:t>Qué</a:t>
            </a:r>
            <a:r>
              <a:rPr lang="en-GB" dirty="0"/>
              <a:t> </a:t>
            </a:r>
            <a:r>
              <a:rPr lang="en-GB" dirty="0" err="1"/>
              <a:t>necesita</a:t>
            </a:r>
            <a:r>
              <a:rPr lang="en-GB" dirty="0"/>
              <a:t> </a:t>
            </a:r>
            <a:r>
              <a:rPr lang="en-GB" dirty="0" err="1"/>
              <a:t>hacer</a:t>
            </a:r>
            <a:r>
              <a:rPr lang="en-GB" dirty="0"/>
              <a:t> Dev para </a:t>
            </a:r>
            <a:r>
              <a:rPr lang="en-GB" dirty="0" err="1"/>
              <a:t>alinearse</a:t>
            </a:r>
            <a:r>
              <a:rPr lang="en-GB" dirty="0"/>
              <a:t> con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lstStyle/>
          <a:p>
            <a:pPr marL="514350" indent="-514350">
              <a:buFont typeface="+mj-lt"/>
              <a:buAutoNum type="arabicPeriod" startAt="2"/>
            </a:pPr>
            <a:r>
              <a:rPr lang="es-EC" dirty="0"/>
              <a:t>Dev necesita involucrarse más en las pruebas. </a:t>
            </a:r>
          </a:p>
          <a:p>
            <a:pPr lvl="1"/>
            <a:r>
              <a:rPr lang="es-EC" dirty="0"/>
              <a:t>Esto significa </a:t>
            </a:r>
            <a:r>
              <a:rPr lang="es-EC" b="1" dirty="0"/>
              <a:t>no solo asegurarse de que su código esté libre de errores</a:t>
            </a:r>
            <a:r>
              <a:rPr lang="es-EC" dirty="0"/>
              <a:t>, sino también </a:t>
            </a:r>
            <a:r>
              <a:rPr lang="es-EC" b="1" dirty="0"/>
              <a:t>probar la aplicación </a:t>
            </a:r>
            <a:r>
              <a:rPr lang="es-EC" dirty="0"/>
              <a:t>para ver cómo </a:t>
            </a:r>
            <a:r>
              <a:rPr lang="es-EC" b="1" dirty="0"/>
              <a:t>funcionará en producción</a:t>
            </a:r>
            <a:r>
              <a:rPr lang="es-EC" dirty="0"/>
              <a:t>. </a:t>
            </a:r>
          </a:p>
          <a:p>
            <a:pPr lvl="1"/>
            <a:r>
              <a:rPr lang="es-EC" dirty="0"/>
              <a:t>Esto requiere que Dev trabaje estrechamente con </a:t>
            </a:r>
            <a:r>
              <a:rPr lang="es-EC" dirty="0" err="1"/>
              <a:t>Quality</a:t>
            </a:r>
            <a:r>
              <a:rPr lang="es-EC" dirty="0"/>
              <a:t> </a:t>
            </a:r>
            <a:r>
              <a:rPr lang="es-EC" dirty="0" err="1"/>
              <a:t>Assurance</a:t>
            </a:r>
            <a:r>
              <a:rPr lang="es-EC" dirty="0"/>
              <a:t> (QA) y pruebe su aplicación en un sistema similar al de  producción.</a:t>
            </a:r>
            <a:endParaRPr lang="en-GB" dirty="0"/>
          </a:p>
        </p:txBody>
      </p:sp>
    </p:spTree>
    <p:extLst>
      <p:ext uri="{BB962C8B-B14F-4D97-AF65-F5344CB8AC3E}">
        <p14:creationId xmlns:p14="http://schemas.microsoft.com/office/powerpoint/2010/main" val="6291746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normAutofit fontScale="90000"/>
          </a:bodyPr>
          <a:lstStyle/>
          <a:p>
            <a:r>
              <a:rPr lang="en-GB" dirty="0"/>
              <a:t>¿</a:t>
            </a:r>
            <a:r>
              <a:rPr lang="en-GB" dirty="0" err="1"/>
              <a:t>Qué</a:t>
            </a:r>
            <a:r>
              <a:rPr lang="en-GB" dirty="0"/>
              <a:t> </a:t>
            </a:r>
            <a:r>
              <a:rPr lang="en-GB" dirty="0" err="1"/>
              <a:t>necesita</a:t>
            </a:r>
            <a:r>
              <a:rPr lang="en-GB" dirty="0"/>
              <a:t> </a:t>
            </a:r>
            <a:r>
              <a:rPr lang="en-GB" dirty="0" err="1"/>
              <a:t>hacer</a:t>
            </a:r>
            <a:r>
              <a:rPr lang="en-GB" dirty="0"/>
              <a:t> Dev para </a:t>
            </a:r>
            <a:r>
              <a:rPr lang="en-GB" dirty="0" err="1"/>
              <a:t>alinearse</a:t>
            </a:r>
            <a:r>
              <a:rPr lang="en-GB" dirty="0"/>
              <a:t> con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lstStyle/>
          <a:p>
            <a:pPr marL="514350" indent="-514350">
              <a:buFont typeface="+mj-lt"/>
              <a:buAutoNum type="arabicPeriod" startAt="3"/>
            </a:pPr>
            <a:r>
              <a:rPr lang="es-EC" dirty="0"/>
              <a:t>Dev también necesita </a:t>
            </a:r>
            <a:r>
              <a:rPr lang="es-EC" b="1" dirty="0"/>
              <a:t>aprender a monitorear las aplicaciones</a:t>
            </a:r>
            <a:r>
              <a:rPr lang="es-EC" dirty="0"/>
              <a:t> implementadas y </a:t>
            </a:r>
            <a:r>
              <a:rPr lang="es-EC" b="1" dirty="0"/>
              <a:t>entender las métricas </a:t>
            </a:r>
            <a:r>
              <a:rPr lang="es-EC" dirty="0"/>
              <a:t>que le interesan a </a:t>
            </a:r>
            <a:r>
              <a:rPr lang="es-EC" dirty="0" err="1"/>
              <a:t>Ops</a:t>
            </a:r>
            <a:r>
              <a:rPr lang="es-EC" dirty="0"/>
              <a:t>. </a:t>
            </a:r>
          </a:p>
          <a:p>
            <a:pPr lvl="1"/>
            <a:r>
              <a:rPr lang="es-EC" dirty="0"/>
              <a:t>Deben poder </a:t>
            </a:r>
            <a:r>
              <a:rPr lang="es-EC" b="1" dirty="0"/>
              <a:t>descifrar cómo interactúan los procesos </a:t>
            </a:r>
            <a:r>
              <a:rPr lang="es-EC" dirty="0"/>
              <a:t>y cómo </a:t>
            </a:r>
            <a:r>
              <a:rPr lang="es-EC" b="1" dirty="0"/>
              <a:t>un proceso puede hacer que otro se ralentice o incluso se bloquee</a:t>
            </a:r>
            <a:r>
              <a:rPr lang="es-EC" dirty="0"/>
              <a:t>.</a:t>
            </a:r>
          </a:p>
          <a:p>
            <a:pPr lvl="1"/>
            <a:r>
              <a:rPr lang="es-EC" dirty="0"/>
              <a:t>Deben comprender cómo los </a:t>
            </a:r>
            <a:r>
              <a:rPr lang="es-EC" b="1" dirty="0"/>
              <a:t>cambios en su código afectarán a todo el sistema de producción y no solo a su propia aplicación</a:t>
            </a:r>
            <a:r>
              <a:rPr lang="es-EC" dirty="0"/>
              <a:t>.</a:t>
            </a:r>
          </a:p>
          <a:p>
            <a:pPr marL="514350" indent="-514350">
              <a:buFont typeface="+mj-lt"/>
              <a:buAutoNum type="arabicPeriod" startAt="4"/>
            </a:pPr>
            <a:r>
              <a:rPr lang="es-EC" dirty="0"/>
              <a:t>Dev necesita </a:t>
            </a:r>
            <a:r>
              <a:rPr lang="es-EC" b="1" dirty="0"/>
              <a:t>comunicarse</a:t>
            </a:r>
            <a:r>
              <a:rPr lang="es-EC" dirty="0"/>
              <a:t> y colaborar mejor con </a:t>
            </a:r>
            <a:r>
              <a:rPr lang="es-EC" dirty="0" err="1"/>
              <a:t>Ops</a:t>
            </a:r>
            <a:r>
              <a:rPr lang="es-EC" dirty="0"/>
              <a:t>.</a:t>
            </a:r>
            <a:endParaRPr lang="en-GB" dirty="0"/>
          </a:p>
        </p:txBody>
      </p:sp>
    </p:spTree>
    <p:extLst>
      <p:ext uri="{BB962C8B-B14F-4D97-AF65-F5344CB8AC3E}">
        <p14:creationId xmlns:p14="http://schemas.microsoft.com/office/powerpoint/2010/main" val="26631233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normAutofit/>
          </a:bodyPr>
          <a:lstStyle/>
          <a:p>
            <a:r>
              <a:rPr lang="en-GB" dirty="0"/>
              <a:t>¿Y </a:t>
            </a:r>
            <a:r>
              <a:rPr lang="en-GB" dirty="0" err="1"/>
              <a:t>cómo</a:t>
            </a:r>
            <a:r>
              <a:rPr lang="en-GB" dirty="0"/>
              <a:t> Ops se </a:t>
            </a:r>
            <a:r>
              <a:rPr lang="en-GB" dirty="0" err="1"/>
              <a:t>alinea</a:t>
            </a:r>
            <a:r>
              <a:rPr lang="en-GB" dirty="0"/>
              <a:t> con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lstStyle/>
          <a:p>
            <a:pPr marL="514350" indent="-514350">
              <a:buFont typeface="+mj-lt"/>
              <a:buAutoNum type="arabicPeriod"/>
            </a:pPr>
            <a:r>
              <a:rPr lang="es-EC" dirty="0" err="1"/>
              <a:t>Ops</a:t>
            </a:r>
            <a:r>
              <a:rPr lang="es-EC" dirty="0"/>
              <a:t> necesita saber qué código viene y cómo puede afectar su sistema. Esto requiere que se involucren con Dev, desde la </a:t>
            </a:r>
            <a:r>
              <a:rPr lang="es-EC" b="1" dirty="0"/>
              <a:t>comprensión de los requisitos y las especificaciones del sistema </a:t>
            </a:r>
            <a:r>
              <a:rPr lang="es-EC" dirty="0"/>
              <a:t>de las aplicaciones que se están desarrollando.</a:t>
            </a:r>
          </a:p>
          <a:p>
            <a:pPr marL="514350" indent="-514350">
              <a:buFont typeface="+mj-lt"/>
              <a:buAutoNum type="arabicPeriod"/>
            </a:pPr>
            <a:r>
              <a:rPr lang="es-EC" dirty="0" err="1"/>
              <a:t>Ops</a:t>
            </a:r>
            <a:r>
              <a:rPr lang="es-EC" dirty="0"/>
              <a:t> necesita </a:t>
            </a:r>
            <a:r>
              <a:rPr lang="es-EC" b="1" dirty="0"/>
              <a:t>automatizar la forma en que administran sus sistemas</a:t>
            </a:r>
            <a:r>
              <a:rPr lang="es-EC" dirty="0"/>
              <a:t>. No se puede lograr un cambio rápido con estabilidad sin la automatización. La automatización permitirá no solo cambios rápidos sino también retrocesos rápidos, si algo sale mal.</a:t>
            </a:r>
            <a:endParaRPr lang="en-GB" dirty="0"/>
          </a:p>
        </p:txBody>
      </p:sp>
    </p:spTree>
    <p:extLst>
      <p:ext uri="{BB962C8B-B14F-4D97-AF65-F5344CB8AC3E}">
        <p14:creationId xmlns:p14="http://schemas.microsoft.com/office/powerpoint/2010/main" val="2370559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normAutofit/>
          </a:bodyPr>
          <a:lstStyle/>
          <a:p>
            <a:r>
              <a:rPr lang="en-GB" dirty="0"/>
              <a:t>¿Y </a:t>
            </a:r>
            <a:r>
              <a:rPr lang="en-GB" dirty="0" err="1"/>
              <a:t>cómo</a:t>
            </a:r>
            <a:r>
              <a:rPr lang="en-GB" dirty="0"/>
              <a:t> Ops se </a:t>
            </a:r>
            <a:r>
              <a:rPr lang="en-GB" dirty="0" err="1"/>
              <a:t>alinea</a:t>
            </a:r>
            <a:r>
              <a:rPr lang="en-GB" dirty="0"/>
              <a:t> con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lstStyle/>
          <a:p>
            <a:pPr marL="514350" indent="-514350">
              <a:buFont typeface="+mj-lt"/>
              <a:buAutoNum type="arabicPeriod" startAt="3"/>
            </a:pPr>
            <a:r>
              <a:rPr lang="es-EC" dirty="0"/>
              <a:t>Idealmente, </a:t>
            </a:r>
            <a:r>
              <a:rPr lang="es-EC" dirty="0" err="1"/>
              <a:t>Ops</a:t>
            </a:r>
            <a:r>
              <a:rPr lang="es-EC" dirty="0"/>
              <a:t> necesita </a:t>
            </a:r>
            <a:r>
              <a:rPr lang="es-EC" b="1" dirty="0"/>
              <a:t>versionar sus sistemas</a:t>
            </a:r>
            <a:r>
              <a:rPr lang="es-EC" dirty="0"/>
              <a:t>. </a:t>
            </a:r>
          </a:p>
          <a:p>
            <a:pPr lvl="1"/>
            <a:r>
              <a:rPr lang="es-EC" dirty="0"/>
              <a:t>Esto solo se puede hacer cuando la infraestructura y todos sus cambios se capturan y administran como código controlado por versión. Por lo tanto, necesitan aprovechar la infraestructura como código o, mejor aún, entornos definidos por software.</a:t>
            </a:r>
          </a:p>
          <a:p>
            <a:pPr marL="514350" indent="-514350">
              <a:buFont typeface="+mj-lt"/>
              <a:buAutoNum type="arabicPeriod" startAt="3"/>
            </a:pPr>
            <a:r>
              <a:rPr lang="es-EC" dirty="0" err="1"/>
              <a:t>Ops</a:t>
            </a:r>
            <a:r>
              <a:rPr lang="es-EC" dirty="0"/>
              <a:t> necesita </a:t>
            </a:r>
            <a:r>
              <a:rPr lang="es-EC" b="1" dirty="0"/>
              <a:t>comunicarse</a:t>
            </a:r>
            <a:r>
              <a:rPr lang="es-EC" dirty="0"/>
              <a:t> y colaborar mejor con Dev.</a:t>
            </a:r>
            <a:endParaRPr lang="en-GB" dirty="0"/>
          </a:p>
        </p:txBody>
      </p:sp>
    </p:spTree>
    <p:extLst>
      <p:ext uri="{BB962C8B-B14F-4D97-AF65-F5344CB8AC3E}">
        <p14:creationId xmlns:p14="http://schemas.microsoft.com/office/powerpoint/2010/main" val="23144360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normAutofit/>
          </a:bodyPr>
          <a:lstStyle/>
          <a:p>
            <a:r>
              <a:rPr lang="en-GB" dirty="0"/>
              <a:t>¿Y </a:t>
            </a:r>
            <a:r>
              <a:rPr lang="en-GB" dirty="0" err="1"/>
              <a:t>cómo</a:t>
            </a:r>
            <a:r>
              <a:rPr lang="en-GB" dirty="0"/>
              <a:t> Ops se </a:t>
            </a:r>
            <a:r>
              <a:rPr lang="en-GB" dirty="0" err="1"/>
              <a:t>alinea</a:t>
            </a:r>
            <a:r>
              <a:rPr lang="en-GB" dirty="0"/>
              <a:t> con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lstStyle/>
          <a:p>
            <a:pPr marL="514350" indent="-514350">
              <a:buFont typeface="+mj-lt"/>
              <a:buAutoNum type="arabicPeriod" startAt="5"/>
            </a:pPr>
            <a:r>
              <a:rPr lang="es-EC" dirty="0" err="1"/>
              <a:t>Ops</a:t>
            </a:r>
            <a:r>
              <a:rPr lang="es-EC" dirty="0"/>
              <a:t> necesita monitorear todo a lo largo del camino de entrega de software, cualquier entorno que gestionen los equipos de </a:t>
            </a:r>
            <a:r>
              <a:rPr lang="es-EC" dirty="0" err="1"/>
              <a:t>Ops</a:t>
            </a:r>
            <a:r>
              <a:rPr lang="es-EC" dirty="0"/>
              <a:t>. Deben poder detectar la inestabilidad potencial tan pronto como suceda.</a:t>
            </a:r>
            <a:endParaRPr lang="en-GB" dirty="0"/>
          </a:p>
        </p:txBody>
      </p:sp>
    </p:spTree>
    <p:extLst>
      <p:ext uri="{BB962C8B-B14F-4D97-AF65-F5344CB8AC3E}">
        <p14:creationId xmlns:p14="http://schemas.microsoft.com/office/powerpoint/2010/main" val="11952117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E9359C4-C182-4D42-9BC3-0DB092B0BF56}"/>
              </a:ext>
            </a:extLst>
          </p:cNvPr>
          <p:cNvSpPr>
            <a:spLocks noGrp="1"/>
          </p:cNvSpPr>
          <p:nvPr>
            <p:ph sz="quarter" idx="10"/>
          </p:nvPr>
        </p:nvSpPr>
        <p:spPr/>
        <p:txBody>
          <a:bodyPr/>
          <a:lstStyle/>
          <a:p>
            <a:r>
              <a:rPr lang="en-GB" dirty="0"/>
              <a:t>Los </a:t>
            </a:r>
            <a:r>
              <a:rPr lang="en-GB" dirty="0" err="1"/>
              <a:t>desafíos</a:t>
            </a:r>
            <a:r>
              <a:rPr lang="en-GB" dirty="0"/>
              <a:t> de la </a:t>
            </a:r>
            <a:r>
              <a:rPr lang="en-GB" dirty="0" err="1"/>
              <a:t>cultura</a:t>
            </a:r>
            <a:r>
              <a:rPr lang="en-GB" dirty="0"/>
              <a:t> DevOps</a:t>
            </a:r>
            <a:endParaRPr lang="es-EC" dirty="0"/>
          </a:p>
        </p:txBody>
      </p:sp>
    </p:spTree>
    <p:extLst>
      <p:ext uri="{BB962C8B-B14F-4D97-AF65-F5344CB8AC3E}">
        <p14:creationId xmlns:p14="http://schemas.microsoft.com/office/powerpoint/2010/main" val="36855546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lstStyle/>
          <a:p>
            <a:r>
              <a:rPr lang="en-GB" dirty="0"/>
              <a:t>Los </a:t>
            </a:r>
            <a:r>
              <a:rPr lang="en-GB" dirty="0" err="1"/>
              <a:t>desafíos</a:t>
            </a:r>
            <a:r>
              <a:rPr lang="en-GB" dirty="0"/>
              <a:t> de la </a:t>
            </a:r>
            <a:r>
              <a:rPr lang="en-GB" dirty="0" err="1"/>
              <a:t>cultura</a:t>
            </a:r>
            <a:r>
              <a:rPr lang="en-GB" dirty="0"/>
              <a:t>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lstStyle/>
          <a:p>
            <a:r>
              <a:rPr lang="es-EC" dirty="0"/>
              <a:t>¿Qué tipo de cultura necesita la adopción de DevOps? </a:t>
            </a:r>
          </a:p>
          <a:p>
            <a:pPr lvl="1"/>
            <a:r>
              <a:rPr lang="es-EC" dirty="0"/>
              <a:t>Uno de confianza, comunicación y colaboración. La adopción de prácticas de DevOps por sí sola no fomentará tal cultura.</a:t>
            </a:r>
          </a:p>
          <a:p>
            <a:r>
              <a:rPr lang="es-EC" dirty="0"/>
              <a:t>Esta </a:t>
            </a:r>
            <a:r>
              <a:rPr lang="es-EC" b="1" dirty="0"/>
              <a:t>inercia cultural </a:t>
            </a:r>
            <a:r>
              <a:rPr lang="es-EC" dirty="0"/>
              <a:t>puede </a:t>
            </a:r>
            <a:r>
              <a:rPr lang="es-EC" b="1" dirty="0"/>
              <a:t>superarse</a:t>
            </a:r>
            <a:r>
              <a:rPr lang="es-EC" dirty="0"/>
              <a:t> abordando tres áreas:</a:t>
            </a:r>
          </a:p>
          <a:p>
            <a:pPr marL="971550" lvl="1" indent="-514350">
              <a:buFont typeface="+mj-lt"/>
              <a:buAutoNum type="arabicPeriod"/>
            </a:pPr>
            <a:r>
              <a:rPr lang="es-EC" b="1" dirty="0"/>
              <a:t>Visibilidad</a:t>
            </a:r>
            <a:r>
              <a:rPr lang="es-EC" dirty="0"/>
              <a:t>. No hay mayor causa de desconfianza que no tener visibilidad de los equipos o profesionales con los que tiene que involucrarse, y no está seguro de lo que hicieron con los artefactos que le están entregando.</a:t>
            </a:r>
            <a:endParaRPr lang="en-GB" dirty="0"/>
          </a:p>
        </p:txBody>
      </p:sp>
    </p:spTree>
    <p:extLst>
      <p:ext uri="{BB962C8B-B14F-4D97-AF65-F5344CB8AC3E}">
        <p14:creationId xmlns:p14="http://schemas.microsoft.com/office/powerpoint/2010/main" val="887264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1FB8-2F02-4840-9D04-325D525F76ED}"/>
              </a:ext>
            </a:extLst>
          </p:cNvPr>
          <p:cNvSpPr>
            <a:spLocks noGrp="1"/>
          </p:cNvSpPr>
          <p:nvPr>
            <p:ph type="title"/>
          </p:nvPr>
        </p:nvSpPr>
        <p:spPr/>
        <p:txBody>
          <a:bodyPr/>
          <a:lstStyle/>
          <a:p>
            <a:r>
              <a:rPr lang="en-GB" dirty="0"/>
              <a:t>Los </a:t>
            </a:r>
            <a:r>
              <a:rPr lang="en-GB" dirty="0" err="1"/>
              <a:t>desafíos</a:t>
            </a:r>
            <a:r>
              <a:rPr lang="en-GB" dirty="0"/>
              <a:t> de la </a:t>
            </a:r>
            <a:r>
              <a:rPr lang="en-GB" dirty="0" err="1"/>
              <a:t>cultura</a:t>
            </a:r>
            <a:r>
              <a:rPr lang="en-GB" dirty="0"/>
              <a:t> DevOps</a:t>
            </a:r>
          </a:p>
        </p:txBody>
      </p:sp>
      <p:sp>
        <p:nvSpPr>
          <p:cNvPr id="3" name="Content Placeholder 2">
            <a:extLst>
              <a:ext uri="{FF2B5EF4-FFF2-40B4-BE49-F238E27FC236}">
                <a16:creationId xmlns:a16="http://schemas.microsoft.com/office/drawing/2014/main" id="{A1792A9E-FD25-462E-A8B2-804CB9A6452F}"/>
              </a:ext>
            </a:extLst>
          </p:cNvPr>
          <p:cNvSpPr>
            <a:spLocks noGrp="1"/>
          </p:cNvSpPr>
          <p:nvPr>
            <p:ph idx="1"/>
          </p:nvPr>
        </p:nvSpPr>
        <p:spPr/>
        <p:txBody>
          <a:bodyPr>
            <a:normAutofit fontScale="92500"/>
          </a:bodyPr>
          <a:lstStyle/>
          <a:p>
            <a:pPr marL="514350" indent="-514350">
              <a:buFont typeface="+mj-lt"/>
              <a:buAutoNum type="arabicPeriod" startAt="2"/>
            </a:pPr>
            <a:r>
              <a:rPr lang="es-EC" b="1" dirty="0"/>
              <a:t>Comunicación efectiva</a:t>
            </a:r>
            <a:r>
              <a:rPr lang="es-EC" dirty="0"/>
              <a:t>. El correo electrónico y el correo de voz deben eliminarse como fuentes de comunicación en un entorno DevOps; también lo hacen el plan del proyecto y los documentos de estado, diapositivas y hojas de cálculo. </a:t>
            </a:r>
          </a:p>
          <a:p>
            <a:pPr lvl="1"/>
            <a:r>
              <a:rPr lang="es-EC" dirty="0"/>
              <a:t>La comunicación debe ser en vivo y de igual a igual, no por correo electrónico o tickets, ni a través de la administración. </a:t>
            </a:r>
          </a:p>
          <a:p>
            <a:pPr lvl="1"/>
            <a:r>
              <a:rPr lang="es-EC" dirty="0"/>
              <a:t>Un practicante debe poder comunicarse con cualquier otro practicante que necesite, sin tener que pasar por una cadena de mando. </a:t>
            </a:r>
          </a:p>
          <a:p>
            <a:pPr lvl="1"/>
            <a:r>
              <a:rPr lang="es-EC" dirty="0"/>
              <a:t>Estas comunicaciones en vivo deberían reemplazar el correo electrónico, las actualizaciones de estado y la colaboración, y deberían estar transmitiéndose. Como resultado, herramientas como </a:t>
            </a:r>
            <a:r>
              <a:rPr lang="es-EC" dirty="0" err="1"/>
              <a:t>Slack</a:t>
            </a:r>
            <a:r>
              <a:rPr lang="es-EC" dirty="0"/>
              <a:t>, </a:t>
            </a:r>
            <a:r>
              <a:rPr lang="es-EC" dirty="0" err="1"/>
              <a:t>HipChat</a:t>
            </a:r>
            <a:r>
              <a:rPr lang="es-EC" dirty="0"/>
              <a:t>, Yammer y </a:t>
            </a:r>
            <a:r>
              <a:rPr lang="es-EC" dirty="0" err="1"/>
              <a:t>Wrike</a:t>
            </a:r>
            <a:r>
              <a:rPr lang="es-EC" dirty="0"/>
              <a:t> se están volviendo muy populares.</a:t>
            </a:r>
            <a:endParaRPr lang="en-GB" dirty="0"/>
          </a:p>
        </p:txBody>
      </p:sp>
    </p:spTree>
    <p:extLst>
      <p:ext uri="{BB962C8B-B14F-4D97-AF65-F5344CB8AC3E}">
        <p14:creationId xmlns:p14="http://schemas.microsoft.com/office/powerpoint/2010/main" val="3924816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E7B08-2AB0-470C-905F-213A0823AD8B}"/>
              </a:ext>
            </a:extLst>
          </p:cNvPr>
          <p:cNvSpPr>
            <a:spLocks noGrp="1"/>
          </p:cNvSpPr>
          <p:nvPr>
            <p:ph type="title"/>
          </p:nvPr>
        </p:nvSpPr>
        <p:spPr/>
        <p:txBody>
          <a:bodyPr/>
          <a:lstStyle/>
          <a:p>
            <a:r>
              <a:rPr lang="en-GB" dirty="0"/>
              <a:t>Los </a:t>
            </a:r>
            <a:r>
              <a:rPr lang="en-GB" dirty="0" err="1"/>
              <a:t>desafíos</a:t>
            </a:r>
            <a:r>
              <a:rPr lang="en-GB" dirty="0"/>
              <a:t> de la </a:t>
            </a:r>
            <a:r>
              <a:rPr lang="en-GB" dirty="0" err="1"/>
              <a:t>cultura</a:t>
            </a:r>
            <a:r>
              <a:rPr lang="en-GB" dirty="0"/>
              <a:t> DevOps</a:t>
            </a:r>
            <a:endParaRPr lang="es-EC" dirty="0"/>
          </a:p>
        </p:txBody>
      </p:sp>
      <p:sp>
        <p:nvSpPr>
          <p:cNvPr id="3" name="Content Placeholder 2">
            <a:extLst>
              <a:ext uri="{FF2B5EF4-FFF2-40B4-BE49-F238E27FC236}">
                <a16:creationId xmlns:a16="http://schemas.microsoft.com/office/drawing/2014/main" id="{EE470ED8-CB05-43E8-A531-22511C714502}"/>
              </a:ext>
            </a:extLst>
          </p:cNvPr>
          <p:cNvSpPr>
            <a:spLocks noGrp="1"/>
          </p:cNvSpPr>
          <p:nvPr>
            <p:ph idx="1"/>
          </p:nvPr>
        </p:nvSpPr>
        <p:spPr/>
        <p:txBody>
          <a:bodyPr>
            <a:normAutofit lnSpcReduction="10000"/>
          </a:bodyPr>
          <a:lstStyle/>
          <a:p>
            <a:pPr marL="514350" indent="-514350">
              <a:buFont typeface="+mj-lt"/>
              <a:buAutoNum type="arabicPeriod" startAt="3"/>
            </a:pPr>
            <a:r>
              <a:rPr lang="es-EC" b="1" dirty="0"/>
              <a:t>Mediciones comunes</a:t>
            </a:r>
            <a:r>
              <a:rPr lang="es-EC" dirty="0"/>
              <a:t>. De todo lo mencionado, el área de mayor inercia es la falta de medidas correctas para los profesionales y los equipos. </a:t>
            </a:r>
          </a:p>
          <a:p>
            <a:pPr lvl="1"/>
            <a:r>
              <a:rPr lang="es-EC" dirty="0"/>
              <a:t>Las personas no cambiarán sus comportamientos, a menos que la forma en que se miden coincida con los nuevos comportamientos deseados. </a:t>
            </a:r>
          </a:p>
          <a:p>
            <a:pPr lvl="1"/>
            <a:r>
              <a:rPr lang="es-EC" dirty="0"/>
              <a:t>Además, para ofrecer una verdadera colaboración y la sensación de un solo equipo trabajando hacia un conjunto singular de objetivos en todos los silos, estas medidas de éxito deberían ser las mismas para todos los profesionales. </a:t>
            </a:r>
          </a:p>
          <a:p>
            <a:pPr lvl="1"/>
            <a:r>
              <a:rPr lang="es-EC" dirty="0"/>
              <a:t>Dev, test y </a:t>
            </a:r>
            <a:r>
              <a:rPr lang="es-EC" dirty="0" err="1"/>
              <a:t>Ops</a:t>
            </a:r>
            <a:r>
              <a:rPr lang="es-EC" dirty="0"/>
              <a:t> necesitan tener métricas comunes o al menos similares para medir su éxito. Todos deben hacerse responsables de la implementación en producción.</a:t>
            </a:r>
          </a:p>
        </p:txBody>
      </p:sp>
    </p:spTree>
    <p:extLst>
      <p:ext uri="{BB962C8B-B14F-4D97-AF65-F5344CB8AC3E}">
        <p14:creationId xmlns:p14="http://schemas.microsoft.com/office/powerpoint/2010/main" val="412337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7039990-05DC-4F08-BC83-C0E3EA8BD48E}"/>
              </a:ext>
            </a:extLst>
          </p:cNvPr>
          <p:cNvSpPr>
            <a:spLocks noGrp="1"/>
          </p:cNvSpPr>
          <p:nvPr>
            <p:ph sz="quarter" idx="10"/>
          </p:nvPr>
        </p:nvSpPr>
        <p:spPr/>
        <p:txBody>
          <a:bodyPr/>
          <a:lstStyle/>
          <a:p>
            <a:r>
              <a:rPr lang="en-GB" dirty="0"/>
              <a:t>Antes de </a:t>
            </a:r>
            <a:r>
              <a:rPr lang="en-GB" dirty="0" err="1"/>
              <a:t>finalizar</a:t>
            </a:r>
            <a:endParaRPr lang="en-GB" dirty="0"/>
          </a:p>
        </p:txBody>
      </p:sp>
    </p:spTree>
    <p:extLst>
      <p:ext uri="{BB962C8B-B14F-4D97-AF65-F5344CB8AC3E}">
        <p14:creationId xmlns:p14="http://schemas.microsoft.com/office/powerpoint/2010/main" val="35280365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9929C-92E8-4044-AAA3-4C0E2CAF84F9}"/>
              </a:ext>
            </a:extLst>
          </p:cNvPr>
          <p:cNvSpPr>
            <a:spLocks noGrp="1"/>
          </p:cNvSpPr>
          <p:nvPr>
            <p:ph type="title"/>
          </p:nvPr>
        </p:nvSpPr>
        <p:spPr/>
        <p:txBody>
          <a:bodyPr/>
          <a:lstStyle/>
          <a:p>
            <a:r>
              <a:rPr lang="en-GB" dirty="0"/>
              <a:t>Puntos para </a:t>
            </a:r>
            <a:r>
              <a:rPr lang="es-EC" dirty="0"/>
              <a:t>recordar</a:t>
            </a:r>
          </a:p>
        </p:txBody>
      </p:sp>
      <p:sp>
        <p:nvSpPr>
          <p:cNvPr id="5" name="Content Placeholder 4">
            <a:extLst>
              <a:ext uri="{FF2B5EF4-FFF2-40B4-BE49-F238E27FC236}">
                <a16:creationId xmlns:a16="http://schemas.microsoft.com/office/drawing/2014/main" id="{B153A2F4-490D-4A03-965A-9839FCDF255D}"/>
              </a:ext>
            </a:extLst>
          </p:cNvPr>
          <p:cNvSpPr>
            <a:spLocks noGrp="1"/>
          </p:cNvSpPr>
          <p:nvPr>
            <p:ph idx="1"/>
          </p:nvPr>
        </p:nvSpPr>
        <p:spPr/>
        <p:txBody>
          <a:bodyPr>
            <a:normAutofit fontScale="92500" lnSpcReduction="10000"/>
          </a:bodyPr>
          <a:lstStyle/>
          <a:p>
            <a:r>
              <a:rPr lang="es-EC" dirty="0"/>
              <a:t>Entrega</a:t>
            </a:r>
            <a:r>
              <a:rPr lang="en-GB" dirty="0"/>
              <a:t> continua</a:t>
            </a:r>
          </a:p>
          <a:p>
            <a:pPr lvl="1"/>
            <a:r>
              <a:rPr lang="en-GB" dirty="0"/>
              <a:t>¿</a:t>
            </a:r>
            <a:r>
              <a:rPr lang="es-EC" dirty="0"/>
              <a:t>Cuál</a:t>
            </a:r>
            <a:r>
              <a:rPr lang="en-GB" dirty="0"/>
              <a:t> es la </a:t>
            </a:r>
            <a:r>
              <a:rPr lang="es-EC" dirty="0"/>
              <a:t>diferencia</a:t>
            </a:r>
            <a:r>
              <a:rPr lang="en-GB" dirty="0"/>
              <a:t> entre </a:t>
            </a:r>
            <a:r>
              <a:rPr lang="es-EC" dirty="0"/>
              <a:t>despliegue</a:t>
            </a:r>
            <a:r>
              <a:rPr lang="en-GB" dirty="0"/>
              <a:t> y </a:t>
            </a:r>
            <a:r>
              <a:rPr lang="es-EC" dirty="0"/>
              <a:t>entrega</a:t>
            </a:r>
            <a:r>
              <a:rPr lang="en-GB" dirty="0"/>
              <a:t> de software?</a:t>
            </a:r>
          </a:p>
          <a:p>
            <a:pPr lvl="1"/>
            <a:r>
              <a:rPr lang="en-GB" dirty="0"/>
              <a:t>¿</a:t>
            </a:r>
            <a:r>
              <a:rPr lang="es-EC" dirty="0"/>
              <a:t>Qué</a:t>
            </a:r>
            <a:r>
              <a:rPr lang="en-GB" dirty="0"/>
              <a:t> es </a:t>
            </a:r>
            <a:r>
              <a:rPr lang="es-EC" dirty="0"/>
              <a:t>entrega</a:t>
            </a:r>
            <a:r>
              <a:rPr lang="en-GB" dirty="0"/>
              <a:t> continua?</a:t>
            </a:r>
          </a:p>
          <a:p>
            <a:pPr lvl="1"/>
            <a:r>
              <a:rPr lang="en-GB" dirty="0"/>
              <a:t>¿</a:t>
            </a:r>
            <a:r>
              <a:rPr lang="es-EC" dirty="0"/>
              <a:t>Cuáles</a:t>
            </a:r>
            <a:r>
              <a:rPr lang="en-GB" dirty="0"/>
              <a:t> son sus </a:t>
            </a:r>
            <a:r>
              <a:rPr lang="es-EC" dirty="0"/>
              <a:t>principios</a:t>
            </a:r>
            <a:r>
              <a:rPr lang="en-GB" dirty="0"/>
              <a:t>?</a:t>
            </a:r>
          </a:p>
          <a:p>
            <a:pPr lvl="1"/>
            <a:r>
              <a:rPr lang="en-GB" dirty="0"/>
              <a:t>¿</a:t>
            </a:r>
            <a:r>
              <a:rPr lang="es-EC" dirty="0"/>
              <a:t>Qué beneficios</a:t>
            </a:r>
            <a:r>
              <a:rPr lang="en-GB" dirty="0"/>
              <a:t> </a:t>
            </a:r>
            <a:r>
              <a:rPr lang="es-EC" dirty="0"/>
              <a:t>ofrece</a:t>
            </a:r>
            <a:r>
              <a:rPr lang="en-GB" dirty="0"/>
              <a:t>?</a:t>
            </a:r>
          </a:p>
          <a:p>
            <a:pPr lvl="1"/>
            <a:r>
              <a:rPr lang="es-EC" dirty="0"/>
              <a:t>Contextualizar</a:t>
            </a:r>
            <a:r>
              <a:rPr lang="en-GB" dirty="0"/>
              <a:t> </a:t>
            </a:r>
            <a:r>
              <a:rPr lang="es-EC" dirty="0"/>
              <a:t>integración</a:t>
            </a:r>
            <a:r>
              <a:rPr lang="en-GB" dirty="0"/>
              <a:t> continua y </a:t>
            </a:r>
            <a:r>
              <a:rPr lang="es-EC" dirty="0"/>
              <a:t>despliegue</a:t>
            </a:r>
            <a:r>
              <a:rPr lang="en-GB" dirty="0"/>
              <a:t> continua</a:t>
            </a:r>
          </a:p>
          <a:p>
            <a:r>
              <a:rPr lang="en-GB" dirty="0"/>
              <a:t>DevOps</a:t>
            </a:r>
          </a:p>
          <a:p>
            <a:pPr lvl="1"/>
            <a:r>
              <a:rPr lang="en-GB" dirty="0"/>
              <a:t>¿A </a:t>
            </a:r>
            <a:r>
              <a:rPr lang="en-GB" dirty="0" err="1"/>
              <a:t>qué</a:t>
            </a:r>
            <a:r>
              <a:rPr lang="en-GB" dirty="0"/>
              <a:t> se </a:t>
            </a:r>
            <a:r>
              <a:rPr lang="en-GB" dirty="0" err="1"/>
              <a:t>refiere</a:t>
            </a:r>
            <a:r>
              <a:rPr lang="en-GB" dirty="0"/>
              <a:t> Dev? ¿Ops?</a:t>
            </a:r>
          </a:p>
          <a:p>
            <a:pPr lvl="1"/>
            <a:r>
              <a:rPr lang="en-GB" dirty="0"/>
              <a:t>¿</a:t>
            </a:r>
            <a:r>
              <a:rPr lang="en-GB" dirty="0" err="1"/>
              <a:t>Qué</a:t>
            </a:r>
            <a:r>
              <a:rPr lang="en-GB" dirty="0"/>
              <a:t> </a:t>
            </a:r>
            <a:r>
              <a:rPr lang="en-GB" dirty="0" err="1"/>
              <a:t>problema</a:t>
            </a:r>
            <a:r>
              <a:rPr lang="en-GB" dirty="0"/>
              <a:t> </a:t>
            </a:r>
            <a:r>
              <a:rPr lang="en-GB" dirty="0" err="1"/>
              <a:t>resuelve</a:t>
            </a:r>
            <a:r>
              <a:rPr lang="en-GB" dirty="0"/>
              <a:t> DevOps?</a:t>
            </a:r>
          </a:p>
          <a:p>
            <a:pPr lvl="1"/>
            <a:r>
              <a:rPr lang="en-GB" dirty="0"/>
              <a:t>¿Con </a:t>
            </a:r>
            <a:r>
              <a:rPr lang="en-GB" dirty="0" err="1"/>
              <a:t>alinear</a:t>
            </a:r>
            <a:r>
              <a:rPr lang="en-GB" dirty="0"/>
              <a:t> Dev con Ops y </a:t>
            </a:r>
            <a:r>
              <a:rPr lang="en-GB" dirty="0" err="1"/>
              <a:t>viceversa</a:t>
            </a:r>
            <a:r>
              <a:rPr lang="en-GB" dirty="0"/>
              <a:t>?</a:t>
            </a:r>
          </a:p>
          <a:p>
            <a:pPr lvl="1"/>
            <a:r>
              <a:rPr lang="en-GB" dirty="0"/>
              <a:t>¿</a:t>
            </a:r>
            <a:r>
              <a:rPr lang="en-GB" dirty="0" err="1"/>
              <a:t>Cuáles</a:t>
            </a:r>
            <a:r>
              <a:rPr lang="en-GB" dirty="0"/>
              <a:t> son los </a:t>
            </a:r>
            <a:r>
              <a:rPr lang="en-GB" dirty="0" err="1"/>
              <a:t>desafíos</a:t>
            </a:r>
            <a:r>
              <a:rPr lang="en-GB" dirty="0"/>
              <a:t> </a:t>
            </a:r>
            <a:r>
              <a:rPr lang="en-GB" dirty="0" err="1"/>
              <a:t>en</a:t>
            </a:r>
            <a:r>
              <a:rPr lang="en-GB" dirty="0"/>
              <a:t> la </a:t>
            </a:r>
            <a:r>
              <a:rPr lang="en-GB" dirty="0" err="1"/>
              <a:t>adopción</a:t>
            </a:r>
            <a:r>
              <a:rPr lang="en-GB" dirty="0"/>
              <a:t> de DevOps?</a:t>
            </a:r>
          </a:p>
          <a:p>
            <a:pPr lvl="1"/>
            <a:endParaRPr lang="en-GB" dirty="0"/>
          </a:p>
        </p:txBody>
      </p:sp>
    </p:spTree>
    <p:extLst>
      <p:ext uri="{BB962C8B-B14F-4D97-AF65-F5344CB8AC3E}">
        <p14:creationId xmlns:p14="http://schemas.microsoft.com/office/powerpoint/2010/main" val="4123411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8A269B-BBC7-4CD3-AA1E-C2E2753F932F}"/>
              </a:ext>
            </a:extLst>
          </p:cNvPr>
          <p:cNvSpPr>
            <a:spLocks noGrp="1"/>
          </p:cNvSpPr>
          <p:nvPr>
            <p:ph type="title"/>
          </p:nvPr>
        </p:nvSpPr>
        <p:spPr/>
        <p:txBody>
          <a:bodyPr/>
          <a:lstStyle/>
          <a:p>
            <a:r>
              <a:rPr lang="en-GB" dirty="0" err="1"/>
              <a:t>Lectura</a:t>
            </a:r>
            <a:r>
              <a:rPr lang="en-GB" dirty="0"/>
              <a:t> </a:t>
            </a:r>
            <a:r>
              <a:rPr lang="en-GB" dirty="0" err="1"/>
              <a:t>adicional</a:t>
            </a:r>
            <a:endParaRPr lang="en-GB" dirty="0"/>
          </a:p>
        </p:txBody>
      </p:sp>
      <p:sp>
        <p:nvSpPr>
          <p:cNvPr id="5" name="Content Placeholder 4">
            <a:extLst>
              <a:ext uri="{FF2B5EF4-FFF2-40B4-BE49-F238E27FC236}">
                <a16:creationId xmlns:a16="http://schemas.microsoft.com/office/drawing/2014/main" id="{824F8FFF-20FE-482F-9178-6C2C16D74B92}"/>
              </a:ext>
            </a:extLst>
          </p:cNvPr>
          <p:cNvSpPr>
            <a:spLocks noGrp="1"/>
          </p:cNvSpPr>
          <p:nvPr>
            <p:ph idx="1"/>
          </p:nvPr>
        </p:nvSpPr>
        <p:spPr/>
        <p:txBody>
          <a:bodyPr>
            <a:normAutofit fontScale="70000" lnSpcReduction="20000"/>
          </a:bodyPr>
          <a:lstStyle/>
          <a:p>
            <a:r>
              <a:rPr lang="en-GB" dirty="0"/>
              <a:t>Humble and Farley, “Continuous Delivery”</a:t>
            </a:r>
          </a:p>
          <a:p>
            <a:pPr lvl="1"/>
            <a:r>
              <a:rPr lang="en-GB" dirty="0"/>
              <a:t>Chapter 1</a:t>
            </a:r>
          </a:p>
          <a:p>
            <a:r>
              <a:rPr lang="en-GB" dirty="0"/>
              <a:t>Pressman and Maxim, “Software Engineering”</a:t>
            </a:r>
          </a:p>
          <a:p>
            <a:pPr lvl="1"/>
            <a:r>
              <a:rPr lang="en-GB" dirty="0"/>
              <a:t>Chapter 4: Process Models</a:t>
            </a:r>
          </a:p>
          <a:p>
            <a:pPr lvl="1"/>
            <a:r>
              <a:rPr lang="en-GB" dirty="0"/>
              <a:t>Chapter 7: Principles That Guide Practice</a:t>
            </a:r>
          </a:p>
          <a:p>
            <a:r>
              <a:rPr lang="en-GB" dirty="0"/>
              <a:t>Jez Humble, “Continuous Delivery”</a:t>
            </a:r>
          </a:p>
          <a:p>
            <a:pPr lvl="1"/>
            <a:r>
              <a:rPr lang="en-GB" dirty="0"/>
              <a:t>https://continuousdelivery.com</a:t>
            </a:r>
          </a:p>
          <a:p>
            <a:r>
              <a:rPr lang="en-GB" dirty="0"/>
              <a:t>Martin Fowler, “Continuous Delivery”</a:t>
            </a:r>
          </a:p>
          <a:p>
            <a:pPr lvl="1"/>
            <a:r>
              <a:rPr lang="en-GB" dirty="0"/>
              <a:t>https://www.martinfowler.com/bliki/ContinuousDelivery.html</a:t>
            </a:r>
          </a:p>
          <a:p>
            <a:r>
              <a:rPr lang="en-GB" dirty="0" err="1"/>
              <a:t>Sten</a:t>
            </a:r>
            <a:r>
              <a:rPr lang="en-GB" dirty="0"/>
              <a:t> </a:t>
            </a:r>
            <a:r>
              <a:rPr lang="en-GB" dirty="0" err="1"/>
              <a:t>Pittet</a:t>
            </a:r>
            <a:r>
              <a:rPr lang="en-GB" dirty="0"/>
              <a:t>, “Continuous integration vs. continuous delivery vs. continuous deployment”</a:t>
            </a:r>
          </a:p>
          <a:p>
            <a:pPr lvl="1"/>
            <a:r>
              <a:rPr lang="en-GB" dirty="0"/>
              <a:t>https://www.atlassian.com/continuous-delivery/principles/continuous-integration-vs-delivery-vs-deployment</a:t>
            </a:r>
          </a:p>
          <a:p>
            <a:r>
              <a:rPr lang="en-GB" dirty="0"/>
              <a:t>Sanjeev Sharma, “The DevOps Adoption Playbook”</a:t>
            </a:r>
          </a:p>
          <a:p>
            <a:pPr lvl="1"/>
            <a:r>
              <a:rPr lang="en-GB" dirty="0"/>
              <a:t>Chapter 1: DevOps: An Overview</a:t>
            </a:r>
          </a:p>
          <a:p>
            <a:pPr lvl="1"/>
            <a:endParaRPr lang="en-GB" dirty="0"/>
          </a:p>
        </p:txBody>
      </p:sp>
    </p:spTree>
    <p:extLst>
      <p:ext uri="{BB962C8B-B14F-4D97-AF65-F5344CB8AC3E}">
        <p14:creationId xmlns:p14="http://schemas.microsoft.com/office/powerpoint/2010/main" val="1557020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A119DD-89EB-4735-B437-FABE59BF7778}"/>
              </a:ext>
            </a:extLst>
          </p:cNvPr>
          <p:cNvSpPr>
            <a:spLocks noGrp="1"/>
          </p:cNvSpPr>
          <p:nvPr>
            <p:ph type="title"/>
          </p:nvPr>
        </p:nvSpPr>
        <p:spPr/>
        <p:txBody>
          <a:bodyPr/>
          <a:lstStyle/>
          <a:p>
            <a:r>
              <a:rPr lang="en-GB" dirty="0" err="1"/>
              <a:t>Próxima</a:t>
            </a:r>
            <a:r>
              <a:rPr lang="en-GB" dirty="0"/>
              <a:t> </a:t>
            </a:r>
            <a:r>
              <a:rPr lang="en-GB" dirty="0" err="1"/>
              <a:t>sesión</a:t>
            </a:r>
            <a:endParaRPr lang="en-GB" dirty="0"/>
          </a:p>
        </p:txBody>
      </p:sp>
      <p:sp>
        <p:nvSpPr>
          <p:cNvPr id="5" name="Content Placeholder 4">
            <a:extLst>
              <a:ext uri="{FF2B5EF4-FFF2-40B4-BE49-F238E27FC236}">
                <a16:creationId xmlns:a16="http://schemas.microsoft.com/office/drawing/2014/main" id="{93685129-40D4-45E0-BECF-47ACAE1101E9}"/>
              </a:ext>
            </a:extLst>
          </p:cNvPr>
          <p:cNvSpPr>
            <a:spLocks noGrp="1"/>
          </p:cNvSpPr>
          <p:nvPr>
            <p:ph idx="1"/>
          </p:nvPr>
        </p:nvSpPr>
        <p:spPr/>
        <p:txBody>
          <a:bodyPr/>
          <a:lstStyle/>
          <a:p>
            <a:r>
              <a:rPr lang="es-EC" dirty="0"/>
              <a:t>Paradigmas del diseño: orientado a aspectos y orientado a componentes.</a:t>
            </a:r>
          </a:p>
          <a:p>
            <a:r>
              <a:rPr lang="es-EC" dirty="0"/>
              <a:t>Principios del diseño orientado a objetos: abstracción, encapsulamiento, herencia y polimorfismo.</a:t>
            </a:r>
            <a:endParaRPr lang="en-GB" dirty="0"/>
          </a:p>
        </p:txBody>
      </p:sp>
    </p:spTree>
    <p:extLst>
      <p:ext uri="{BB962C8B-B14F-4D97-AF65-F5344CB8AC3E}">
        <p14:creationId xmlns:p14="http://schemas.microsoft.com/office/powerpoint/2010/main" val="193078679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DS.potx" id="{8040D1B8-EAC8-40ED-8E22-C8EDCB33CEA0}" vid="{9B29A380-CA9A-4E84-AF14-35E39B061364}"/>
    </a:ext>
  </a:extLst>
</a:theme>
</file>

<file path=docProps/app.xml><?xml version="1.0" encoding="utf-8"?>
<Properties xmlns="http://schemas.openxmlformats.org/officeDocument/2006/extended-properties" xmlns:vt="http://schemas.openxmlformats.org/officeDocument/2006/docPropsVTypes">
  <Template>Template_DS_unidad1</Template>
  <TotalTime>7553</TotalTime>
  <Words>2574</Words>
  <Application>Microsoft Office PowerPoint</Application>
  <PresentationFormat>Panorámica</PresentationFormat>
  <Paragraphs>193</Paragraphs>
  <Slides>45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45</vt:i4>
      </vt:variant>
    </vt:vector>
  </HeadingPairs>
  <TitlesOfParts>
    <vt:vector size="51" baseType="lpstr">
      <vt:lpstr>Arial</vt:lpstr>
      <vt:lpstr>Calibri</vt:lpstr>
      <vt:lpstr>Calibri (Títulos)</vt:lpstr>
      <vt:lpstr>Calibri Light</vt:lpstr>
      <vt:lpstr>Charlie Display</vt:lpstr>
      <vt:lpstr>Tema de Office</vt:lpstr>
      <vt:lpstr>DevOps y Entrega Continua</vt:lpstr>
      <vt:lpstr>Agenda</vt:lpstr>
      <vt:lpstr>Presentación de PowerPoint</vt:lpstr>
      <vt:lpstr>El problema de entregar software</vt:lpstr>
      <vt:lpstr>La tubería de entrega de software (the delivery pipeline)</vt:lpstr>
      <vt:lpstr>Antipatrones de entrega de software</vt:lpstr>
      <vt:lpstr>¿Cuál es la diferencia entre entrega y despliegue?</vt:lpstr>
      <vt:lpstr>Presentación de PowerPoint</vt:lpstr>
      <vt:lpstr>Entrega continua (continuous delivery)</vt:lpstr>
      <vt:lpstr>Entrega continua (continuous delivery)</vt:lpstr>
      <vt:lpstr>¿Cuándo se hacen las entregas?</vt:lpstr>
      <vt:lpstr>¿Cuándo se hacen las entregas?</vt:lpstr>
      <vt:lpstr>¿Cuándo se hacen las entregas?</vt:lpstr>
      <vt:lpstr>¿Cuándo se hacen las entregas?</vt:lpstr>
      <vt:lpstr>Presentación de PowerPoint</vt:lpstr>
      <vt:lpstr>Beneficios de la entrega continua</vt:lpstr>
      <vt:lpstr>Beneficios de la entrega continua</vt:lpstr>
      <vt:lpstr>Presentación de PowerPoint</vt:lpstr>
      <vt:lpstr>Principios de la entrega de software</vt:lpstr>
      <vt:lpstr>Principios de la entrega de software</vt:lpstr>
      <vt:lpstr>Presentación de PowerPoint</vt:lpstr>
      <vt:lpstr>Integración Continua y Despliegue Continuo</vt:lpstr>
      <vt:lpstr>Integración Continua y Entrega Continua</vt:lpstr>
      <vt:lpstr>Presentación de PowerPoint</vt:lpstr>
      <vt:lpstr>DevOps</vt:lpstr>
      <vt:lpstr>Presentación de PowerPoint</vt:lpstr>
      <vt:lpstr>El origen de DevOps</vt:lpstr>
      <vt:lpstr>El origen de DevOps</vt:lpstr>
      <vt:lpstr>DevOps</vt:lpstr>
      <vt:lpstr>Presentación de PowerPoint</vt:lpstr>
      <vt:lpstr>Dev vs. Ops</vt:lpstr>
      <vt:lpstr>¿Qué necesita hacer Dev para alinearse con DevOps?</vt:lpstr>
      <vt:lpstr>¿Qué necesita hacer Dev para alinearse con DevOps?</vt:lpstr>
      <vt:lpstr>¿Qué necesita hacer Dev para alinearse con DevOps?</vt:lpstr>
      <vt:lpstr>¿Y cómo Ops se alinea con DevOps?</vt:lpstr>
      <vt:lpstr>¿Y cómo Ops se alinea con DevOps?</vt:lpstr>
      <vt:lpstr>¿Y cómo Ops se alinea con DevOps?</vt:lpstr>
      <vt:lpstr>Presentación de PowerPoint</vt:lpstr>
      <vt:lpstr>Los desafíos de la cultura DevOps</vt:lpstr>
      <vt:lpstr>Los desafíos de la cultura DevOps</vt:lpstr>
      <vt:lpstr>Los desafíos de la cultura DevOps</vt:lpstr>
      <vt:lpstr>Presentación de PowerPoint</vt:lpstr>
      <vt:lpstr>Puntos para recordar</vt:lpstr>
      <vt:lpstr>Lectura adicional</vt:lpstr>
      <vt:lpstr>Próxima sesión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Carlos Joseph Mera Gómez</dc:creator>
  <cp:lastModifiedBy>David Alonso Jurado Mosquera</cp:lastModifiedBy>
  <cp:revision>134</cp:revision>
  <dcterms:created xsi:type="dcterms:W3CDTF">2020-05-28T06:40:49Z</dcterms:created>
  <dcterms:modified xsi:type="dcterms:W3CDTF">2020-06-09T13:26:48Z</dcterms:modified>
</cp:coreProperties>
</file>
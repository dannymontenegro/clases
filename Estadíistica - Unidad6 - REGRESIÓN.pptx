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57" r:id="rId17"/>
    <p:sldId id="273" r:id="rId18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FA84D6-44F8-4544-A1F7-CA8B3F549FEE}" type="datetimeFigureOut">
              <a:rPr lang="es-EC" smtClean="0"/>
              <a:t>2/9/2020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4942F-F6FD-4585-8485-59A5D5C1EEEA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20746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2E4C61-1CD6-4F6D-8617-0CC6BB9F94BE}" type="slidenum">
              <a:rPr lang="es-EC" smtClean="0"/>
              <a:t>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4238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2924A-54D4-4614-901F-3A8BC6DCABDB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82972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6BC9-A9E7-41E0-A92B-8E993EB187F7}" type="datetimeFigureOut">
              <a:rPr lang="es-EC" smtClean="0"/>
              <a:t>2/9/2020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47F7-8ED3-4F90-8DB4-DE70015F878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99715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6BC9-A9E7-41E0-A92B-8E993EB187F7}" type="datetimeFigureOut">
              <a:rPr lang="es-EC" smtClean="0"/>
              <a:t>2/9/2020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47F7-8ED3-4F90-8DB4-DE70015F878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76435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6BC9-A9E7-41E0-A92B-8E993EB187F7}" type="datetimeFigureOut">
              <a:rPr lang="es-EC" smtClean="0"/>
              <a:t>2/9/2020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47F7-8ED3-4F90-8DB4-DE70015F878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78341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6BC9-A9E7-41E0-A92B-8E993EB187F7}" type="datetimeFigureOut">
              <a:rPr lang="es-EC" smtClean="0"/>
              <a:t>2/9/2020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47F7-8ED3-4F90-8DB4-DE70015F878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0620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6BC9-A9E7-41E0-A92B-8E993EB187F7}" type="datetimeFigureOut">
              <a:rPr lang="es-EC" smtClean="0"/>
              <a:t>2/9/2020</a:t>
            </a:fld>
            <a:endParaRPr lang="es-EC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47F7-8ED3-4F90-8DB4-DE70015F878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07400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6BC9-A9E7-41E0-A92B-8E993EB187F7}" type="datetimeFigureOut">
              <a:rPr lang="es-EC" smtClean="0"/>
              <a:t>2/9/2020</a:t>
            </a:fld>
            <a:endParaRPr lang="es-EC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47F7-8ED3-4F90-8DB4-DE70015F878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5340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6BC9-A9E7-41E0-A92B-8E993EB187F7}" type="datetimeFigureOut">
              <a:rPr lang="es-EC" smtClean="0"/>
              <a:t>2/9/2020</a:t>
            </a:fld>
            <a:endParaRPr lang="es-EC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47F7-8ED3-4F90-8DB4-DE70015F878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96522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6BC9-A9E7-41E0-A92B-8E993EB187F7}" type="datetimeFigureOut">
              <a:rPr lang="es-EC" smtClean="0"/>
              <a:t>2/9/2020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47F7-8ED3-4F90-8DB4-DE70015F878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37896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6BC9-A9E7-41E0-A92B-8E993EB187F7}" type="datetimeFigureOut">
              <a:rPr lang="es-EC" smtClean="0"/>
              <a:t>2/9/2020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47F7-8ED3-4F90-8DB4-DE70015F878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5166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6BC9-A9E7-41E0-A92B-8E993EB187F7}" type="datetimeFigureOut">
              <a:rPr lang="es-EC" smtClean="0"/>
              <a:t>2/9/2020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47F7-8ED3-4F90-8DB4-DE70015F878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69241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6BC9-A9E7-41E0-A92B-8E993EB187F7}" type="datetimeFigureOut">
              <a:rPr lang="es-EC" smtClean="0"/>
              <a:t>2/9/2020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47F7-8ED3-4F90-8DB4-DE70015F878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66145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66BC9-A9E7-41E0-A92B-8E993EB187F7}" type="datetimeFigureOut">
              <a:rPr lang="es-EC" smtClean="0"/>
              <a:t>2/9/2020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647F7-8ED3-4F90-8DB4-DE70015F878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6901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 dirty="0"/>
              <a:t>Modelos Lineales – Regresión Lineal Simple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524000" y="115093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/>
              <a:t>Estadística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511175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797859" y="15970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ES" sz="2399" dirty="0"/>
                  <a:t>El análisis de regresión es una metodología estadística que utiliza la relación entre dos o más variables cuantitativas, para que una variable de respuesta o resultado (Y) pueda predecirse con ayuda de la otra u otras variables explicativas/</a:t>
                </a:r>
                <a:r>
                  <a:rPr lang="es-ES" sz="2399" dirty="0" err="1"/>
                  <a:t>predictoras</a:t>
                </a:r>
                <a:r>
                  <a:rPr lang="es-ES" sz="2399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39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399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sz="2399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sz="2399" dirty="0"/>
                  <a:t>). </a:t>
                </a:r>
              </a:p>
              <a:p>
                <a:pPr marL="0" indent="0" algn="just">
                  <a:buNone/>
                </a:pPr>
                <a:endParaRPr lang="es-ES" sz="2399" dirty="0"/>
              </a:p>
              <a:p>
                <a:pPr marL="0" indent="0" algn="just">
                  <a:buNone/>
                </a:pPr>
                <a:r>
                  <a:rPr lang="es-ES" sz="2399" dirty="0"/>
                  <a:t>Esta metodología es ampliamente utilizada en los negocios, las ciencias sociales y del comportamiento, las ciencias biológicas y muchas otras disciplinas.</a:t>
                </a:r>
              </a:p>
              <a:p>
                <a:pPr marL="0" indent="0" algn="just">
                  <a:buNone/>
                </a:pPr>
                <a:endParaRPr lang="es-ES" sz="2399" dirty="0"/>
              </a:p>
              <a:p>
                <a:pPr marL="0" indent="0" algn="just">
                  <a:buNone/>
                </a:pPr>
                <a:r>
                  <a:rPr lang="es-ES" sz="2399" dirty="0"/>
                  <a:t>La regresión lineal simple es un modelo de regresión lineal con una sola variable explicativa</a:t>
                </a: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7859" y="1597025"/>
                <a:ext cx="10515600" cy="4351338"/>
              </a:xfrm>
              <a:blipFill rotWithShape="0">
                <a:blip r:embed="rId2"/>
                <a:stretch>
                  <a:fillRect l="-928" t="-1961" r="-870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671451" y="728004"/>
            <a:ext cx="3517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</a:t>
            </a:r>
            <a:endParaRPr lang="es-EC" sz="4000" b="1" dirty="0"/>
          </a:p>
        </p:txBody>
      </p:sp>
    </p:spTree>
    <p:extLst>
      <p:ext uri="{BB962C8B-B14F-4D97-AF65-F5344CB8AC3E}">
        <p14:creationId xmlns:p14="http://schemas.microsoft.com/office/powerpoint/2010/main" val="37080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198" b="1" dirty="0"/>
              <a:t>Ejemplos de aplicaciones:</a:t>
            </a:r>
          </a:p>
          <a:p>
            <a:pPr marL="0" indent="0">
              <a:buNone/>
            </a:pPr>
            <a:endParaRPr lang="es-MX" sz="2198" b="1" dirty="0"/>
          </a:p>
          <a:p>
            <a:pPr marL="456917" indent="-456917" algn="just">
              <a:buAutoNum type="arabicPeriod"/>
            </a:pPr>
            <a:r>
              <a:rPr lang="es-ES" sz="2198" dirty="0"/>
              <a:t>Las ventas de un producto (relación gasto - ventas). </a:t>
            </a:r>
          </a:p>
          <a:p>
            <a:pPr marL="456917" indent="-456917" algn="just">
              <a:buAutoNum type="arabicPeriod"/>
            </a:pPr>
            <a:endParaRPr lang="es-ES" sz="2198" dirty="0"/>
          </a:p>
          <a:p>
            <a:pPr marL="456917" indent="-456917" algn="just">
              <a:buAutoNum type="arabicPeriod"/>
            </a:pPr>
            <a:r>
              <a:rPr lang="es-ES" sz="2198" dirty="0"/>
              <a:t>El rendimiento de un empleado. </a:t>
            </a:r>
          </a:p>
          <a:p>
            <a:pPr marL="456917" indent="-456917" algn="just">
              <a:buAutoNum type="arabicPeriod"/>
            </a:pPr>
            <a:endParaRPr lang="es-ES" sz="2198" dirty="0"/>
          </a:p>
          <a:p>
            <a:pPr marL="456917" indent="-456917" algn="just">
              <a:buAutoNum type="arabicPeriod"/>
            </a:pPr>
            <a:r>
              <a:rPr lang="es-ES" sz="2198" dirty="0"/>
              <a:t>El tamaño del vocabulario de un niño puede predecirse utilizando la relación entre el tamaño del vocabulario y la edad del niño y la cantidad de educación de los padres. </a:t>
            </a:r>
          </a:p>
          <a:p>
            <a:pPr marL="456917" indent="-456917" algn="just">
              <a:buAutoNum type="arabicPeriod"/>
            </a:pPr>
            <a:endParaRPr lang="es-ES" sz="2198" dirty="0"/>
          </a:p>
          <a:p>
            <a:pPr marL="456917" indent="-456917" algn="just">
              <a:buAutoNum type="arabicPeriod"/>
            </a:pPr>
            <a:r>
              <a:rPr lang="es-ES" sz="2198" dirty="0"/>
              <a:t>La duración de la estancia hospitalaria de un paciente quirúrgico (tiempo en el hospital – gravedad de la operación).</a:t>
            </a:r>
          </a:p>
          <a:p>
            <a:endParaRPr lang="es-MX" sz="2198" dirty="0"/>
          </a:p>
        </p:txBody>
      </p:sp>
      <p:sp>
        <p:nvSpPr>
          <p:cNvPr id="5" name="CuadroTexto 4"/>
          <p:cNvSpPr txBox="1"/>
          <p:nvPr/>
        </p:nvSpPr>
        <p:spPr>
          <a:xfrm>
            <a:off x="671451" y="728004"/>
            <a:ext cx="3517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</a:t>
            </a:r>
            <a:endParaRPr lang="es-EC" sz="4000" b="1" dirty="0"/>
          </a:p>
        </p:txBody>
      </p:sp>
    </p:spTree>
    <p:extLst>
      <p:ext uri="{BB962C8B-B14F-4D97-AF65-F5344CB8AC3E}">
        <p14:creationId xmlns:p14="http://schemas.microsoft.com/office/powerpoint/2010/main" val="2608787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MX" sz="2530" dirty="0"/>
                  <a:t>El modelo de regresión puede ser determinista o estadístico.</a:t>
                </a:r>
              </a:p>
              <a:p>
                <a:pPr lvl="1"/>
                <a:r>
                  <a:rPr lang="es-MX" sz="2249" dirty="0"/>
                  <a:t>En el modelo determinista la variable de respuesta esta relacionada con la variable explicativa mediante una función matemática.</a:t>
                </a:r>
              </a:p>
              <a:p>
                <a:pPr marL="0" indent="0">
                  <a:buNone/>
                </a:pPr>
                <a:endParaRPr lang="es-MX" sz="253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MX" sz="253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MX" sz="2530" dirty="0"/>
                  <a:t>				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2530">
                        <a:latin typeface="Cambria Math" panose="02040503050406030204" pitchFamily="18" charset="0"/>
                      </a:rPr>
                      <m:t>Y</m:t>
                    </m:r>
                    <m:r>
                      <a:rPr lang="es-MX" sz="253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53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sz="253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53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53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sz="2530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69" t="-246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736" y="2951326"/>
            <a:ext cx="2818112" cy="250228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632555" y="5392610"/>
            <a:ext cx="947182" cy="3086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6" dirty="0"/>
              <a:t>Figura 1.1.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671451" y="728004"/>
            <a:ext cx="3517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</a:t>
            </a:r>
            <a:endParaRPr lang="es-EC" sz="4000" b="1" dirty="0"/>
          </a:p>
        </p:txBody>
      </p:sp>
    </p:spTree>
    <p:extLst>
      <p:ext uri="{BB962C8B-B14F-4D97-AF65-F5344CB8AC3E}">
        <p14:creationId xmlns:p14="http://schemas.microsoft.com/office/powerpoint/2010/main" val="1382197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Ejemplo:</a:t>
            </a:r>
          </a:p>
          <a:p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62" y="2283646"/>
            <a:ext cx="7258071" cy="3893317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671451" y="728004"/>
            <a:ext cx="3517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</a:t>
            </a:r>
            <a:endParaRPr lang="es-EC" sz="4000" b="1" dirty="0"/>
          </a:p>
        </p:txBody>
      </p:sp>
    </p:spTree>
    <p:extLst>
      <p:ext uri="{BB962C8B-B14F-4D97-AF65-F5344CB8AC3E}">
        <p14:creationId xmlns:p14="http://schemas.microsoft.com/office/powerpoint/2010/main" val="2134828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824753" y="1718047"/>
                <a:ext cx="10515600" cy="4615517"/>
              </a:xfrm>
            </p:spPr>
            <p:txBody>
              <a:bodyPr>
                <a:normAutofit/>
              </a:bodyPr>
              <a:lstStyle/>
              <a:p>
                <a:r>
                  <a:rPr lang="es-MX" sz="2249" dirty="0"/>
                  <a:t>El modelo estadístico a diferencia del determinista (funcional), no es perfecto. El valor de la respuesta es una combinación.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249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MX" sz="2249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249" i="1">
                          <a:latin typeface="Cambria Math" panose="02040503050406030204" pitchFamily="18" charset="0"/>
                        </a:rPr>
                        <m:t>𝑠𝑒</m:t>
                      </m:r>
                      <m:r>
                        <a:rPr lang="es-MX" sz="2249" i="1">
                          <a:latin typeface="Cambria Math" panose="02040503050406030204" pitchFamily="18" charset="0"/>
                        </a:rPr>
                        <m:t>ñ</m:t>
                      </m:r>
                      <m:r>
                        <a:rPr lang="es-MX" sz="2249" i="1">
                          <a:latin typeface="Cambria Math" panose="02040503050406030204" pitchFamily="18" charset="0"/>
                        </a:rPr>
                        <m:t>𝑎𝑙</m:t>
                      </m:r>
                      <m:r>
                        <a:rPr lang="es-MX" sz="2249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249" i="1">
                          <a:latin typeface="Cambria Math" panose="02040503050406030204" pitchFamily="18" charset="0"/>
                        </a:rPr>
                        <m:t>𝑟𝑢𝑖𝑑𝑜</m:t>
                      </m:r>
                    </m:oMath>
                  </m:oMathPara>
                </a14:m>
                <a:endParaRPr lang="es-MX" sz="2249" dirty="0"/>
              </a:p>
              <a:p>
                <a:pPr marL="0" indent="0">
                  <a:buNone/>
                </a:pPr>
                <a:endParaRPr lang="es-MX" sz="2249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4753" y="1718047"/>
                <a:ext cx="10515600" cy="4615517"/>
              </a:xfrm>
              <a:blipFill rotWithShape="0">
                <a:blip r:embed="rId2"/>
                <a:stretch>
                  <a:fillRect l="-696" t="-1585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835" y="2850777"/>
            <a:ext cx="8538882" cy="3326186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671451" y="728004"/>
            <a:ext cx="3517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</a:t>
            </a:r>
            <a:endParaRPr lang="es-EC" sz="4000" b="1" dirty="0"/>
          </a:p>
        </p:txBody>
      </p:sp>
    </p:spTree>
    <p:extLst>
      <p:ext uri="{BB962C8B-B14F-4D97-AF65-F5344CB8AC3E}">
        <p14:creationId xmlns:p14="http://schemas.microsoft.com/office/powerpoint/2010/main" val="3426970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Ejemplo: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723" y="2576328"/>
            <a:ext cx="7986643" cy="360063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671451" y="728004"/>
            <a:ext cx="3517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</a:t>
            </a:r>
            <a:endParaRPr lang="es-EC" sz="4000" b="1" dirty="0"/>
          </a:p>
        </p:txBody>
      </p:sp>
    </p:spTree>
    <p:extLst>
      <p:ext uri="{BB962C8B-B14F-4D97-AF65-F5344CB8AC3E}">
        <p14:creationId xmlns:p14="http://schemas.microsoft.com/office/powerpoint/2010/main" val="1507769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Ejemplo: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099" y="2576328"/>
            <a:ext cx="7986643" cy="3600635"/>
          </a:xfrm>
          <a:prstGeom prst="rect">
            <a:avLst/>
          </a:prstGeom>
        </p:spPr>
      </p:pic>
      <p:sp>
        <p:nvSpPr>
          <p:cNvPr id="6" name="Multiplicar 5"/>
          <p:cNvSpPr/>
          <p:nvPr/>
        </p:nvSpPr>
        <p:spPr>
          <a:xfrm>
            <a:off x="4918261" y="3204369"/>
            <a:ext cx="2355477" cy="1593849"/>
          </a:xfrm>
          <a:prstGeom prst="mathMultiply">
            <a:avLst>
              <a:gd name="adj1" fmla="val 7304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" name="CuadroTexto 7"/>
          <p:cNvSpPr txBox="1"/>
          <p:nvPr/>
        </p:nvSpPr>
        <p:spPr>
          <a:xfrm>
            <a:off x="671451" y="728004"/>
            <a:ext cx="3517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</a:t>
            </a:r>
            <a:endParaRPr lang="es-EC" sz="4000" b="1" dirty="0"/>
          </a:p>
        </p:txBody>
      </p:sp>
    </p:spTree>
    <p:extLst>
      <p:ext uri="{BB962C8B-B14F-4D97-AF65-F5344CB8AC3E}">
        <p14:creationId xmlns:p14="http://schemas.microsoft.com/office/powerpoint/2010/main" val="428399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dirty="0"/>
                  <a:t>Modelos Estadísticos</a:t>
                </a:r>
              </a:p>
              <a:p>
                <a:endParaRPr lang="es-MX" dirty="0"/>
              </a:p>
              <a:p>
                <a:pPr marL="456917" lvl="1" indent="0">
                  <a:buNone/>
                </a:pPr>
                <a:r>
                  <a:rPr lang="es-MX" dirty="0"/>
                  <a:t>	variable respuesta = modelo + error</a:t>
                </a:r>
              </a:p>
              <a:p>
                <a:endParaRPr lang="es-MX" dirty="0"/>
              </a:p>
              <a:p>
                <a:r>
                  <a:rPr lang="es-MX" dirty="0"/>
                  <a:t>Modelos Lineales</a:t>
                </a:r>
              </a:p>
              <a:p>
                <a:endParaRPr lang="es-MX" dirty="0"/>
              </a:p>
              <a:p>
                <a:pPr marL="913835" lvl="2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671451" y="728004"/>
            <a:ext cx="3517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</a:t>
            </a:r>
            <a:endParaRPr lang="es-EC" sz="4000" b="1" dirty="0"/>
          </a:p>
        </p:txBody>
      </p:sp>
    </p:spTree>
    <p:extLst>
      <p:ext uri="{BB962C8B-B14F-4D97-AF65-F5344CB8AC3E}">
        <p14:creationId xmlns:p14="http://schemas.microsoft.com/office/powerpoint/2010/main" val="16423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716381" y="1382914"/>
                <a:ext cx="10538807" cy="484058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s-MX" sz="2249" dirty="0"/>
                  <a:t>El modelo de regresión expresa dos componentes esenciales de una relación estadística:</a:t>
                </a:r>
              </a:p>
              <a:p>
                <a:pPr lvl="1" indent="-342688">
                  <a:buFont typeface="+mj-lt"/>
                  <a:buAutoNum type="arabicPeriod"/>
                </a:pPr>
                <a:endParaRPr lang="es-ES" sz="1687" dirty="0"/>
              </a:p>
              <a:p>
                <a:pPr lvl="1" indent="-342688">
                  <a:buFont typeface="+mj-lt"/>
                  <a:buAutoNum type="arabicPeriod"/>
                </a:pPr>
                <a:r>
                  <a:rPr lang="es-ES" sz="1800" dirty="0"/>
                  <a:t>Una tendencia de la variable de respuesta Y a variar con X de manera sistemática.</a:t>
                </a:r>
              </a:p>
              <a:p>
                <a:pPr lvl="1" indent="-342688">
                  <a:buFont typeface="+mj-lt"/>
                  <a:buAutoNum type="arabicPeriod"/>
                </a:pPr>
                <a:r>
                  <a:rPr lang="es-ES" sz="1800" dirty="0"/>
                  <a:t>Una dispersión de puntos alrededor de la curva.</a:t>
                </a:r>
              </a:p>
              <a:p>
                <a:pPr marL="0" indent="0">
                  <a:buNone/>
                </a:pPr>
                <a:endParaRPr lang="es-MX" sz="2249" dirty="0"/>
              </a:p>
              <a:p>
                <a:pPr marL="0" indent="0">
                  <a:buNone/>
                </a:pPr>
                <a:r>
                  <a:rPr lang="es-MX" sz="2249" dirty="0"/>
                  <a:t>Declaración formal de modelo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249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249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s-MX" sz="2249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MX" sz="2249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249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249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MX" sz="2249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MX" sz="2249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249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249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MX" sz="2249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s-MX" sz="2249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249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s-MX" sz="2249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MX" sz="2249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249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249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s-MX" sz="2249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s-MX" sz="2249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s-MX" sz="2000" dirty="0"/>
                  <a:t> es el valor de la variable de respuesta en el i-</a:t>
                </a:r>
                <a:r>
                  <a:rPr lang="es-MX" sz="2000" dirty="0" err="1"/>
                  <a:t>esimo</a:t>
                </a:r>
                <a:r>
                  <a:rPr lang="es-MX" sz="2000" dirty="0"/>
                  <a:t> evento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s-MX" sz="200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s-MX" sz="2000" dirty="0"/>
                  <a:t> son parámetros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s-MX" sz="2000" dirty="0"/>
                  <a:t> </a:t>
                </a:r>
                <a:r>
                  <a:rPr lang="es-ES" sz="2000" dirty="0"/>
                  <a:t>es una constante conocida, es decir, el valor de la variable predictora en el evento i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s-ES" sz="2000" dirty="0"/>
                  <a:t> es el error aleatorio con media 0 y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s-ES" sz="200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s-ES" sz="2000" dirty="0"/>
                  <a:t> son </a:t>
                </a:r>
                <a:r>
                  <a:rPr lang="es-ES" sz="2000" dirty="0" err="1"/>
                  <a:t>incorrelacionados</a:t>
                </a:r>
                <a:r>
                  <a:rPr lang="es-ES" sz="2000" dirty="0"/>
                  <a:t> por lo que su covarianza es 0 i = 1,…,n (</a:t>
                </a:r>
                <a14:m>
                  <m:oMath xmlns:m="http://schemas.openxmlformats.org/officeDocument/2006/math"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begChr m:val="{"/>
                        <m:endChr m:val="}"/>
                        <m:ctrlPr>
                          <a:rPr lang="es-E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s-MX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MX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s-MX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 ∀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ES" sz="2000" dirty="0"/>
                  <a:t>)</a:t>
                </a:r>
              </a:p>
              <a:p>
                <a:pPr marL="0" indent="0">
                  <a:buNone/>
                </a:pPr>
                <a:endParaRPr lang="es-ES" sz="1406" dirty="0"/>
              </a:p>
              <a:p>
                <a:pPr marL="0" indent="0">
                  <a:buNone/>
                </a:pPr>
                <a:endParaRPr lang="es-MX" sz="1406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6381" y="1382914"/>
                <a:ext cx="10538807" cy="4840584"/>
              </a:xfrm>
              <a:blipFill rotWithShape="0">
                <a:blip r:embed="rId2"/>
                <a:stretch>
                  <a:fillRect l="-810" t="-1511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716381" y="526298"/>
            <a:ext cx="8487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 – Regresión Lineal Simple</a:t>
            </a:r>
            <a:endParaRPr lang="es-EC" sz="4000" b="1" dirty="0"/>
          </a:p>
        </p:txBody>
      </p:sp>
    </p:spTree>
    <p:extLst>
      <p:ext uri="{BB962C8B-B14F-4D97-AF65-F5344CB8AC3E}">
        <p14:creationId xmlns:p14="http://schemas.microsoft.com/office/powerpoint/2010/main" val="3823753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93652" y="1942484"/>
                <a:ext cx="11318736" cy="3476681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AutoNum type="arabicPeriod"/>
                </a:pPr>
                <a:endParaRPr lang="es-MX" sz="2200" dirty="0"/>
              </a:p>
              <a:p>
                <a:pPr marL="457200" indent="-457200">
                  <a:buAutoNum type="arabicPeriod"/>
                </a:pPr>
                <a:r>
                  <a:rPr lang="es-MX" sz="2200" dirty="0"/>
                  <a:t>La respuesta es la suma de dos componentes, el termino constante y el termino aleatorio. Por lo tanto la respuesta es una variable aleatoria.</a:t>
                </a:r>
              </a:p>
              <a:p>
                <a:pPr marL="457200" indent="-457200">
                  <a:buAutoNum type="arabicPeriod"/>
                </a:pPr>
                <a:endParaRPr lang="es-MX" sz="1968" dirty="0"/>
              </a:p>
              <a:p>
                <a:pPr marL="0" indent="0">
                  <a:buNone/>
                </a:pPr>
                <a:r>
                  <a:rPr lang="es-MX" sz="1968" dirty="0"/>
                  <a:t>2.      </a:t>
                </a:r>
                <a14:m>
                  <m:oMath xmlns:m="http://schemas.openxmlformats.org/officeDocument/2006/math">
                    <m:r>
                      <a:rPr lang="es-EC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𝐄</m:t>
                    </m:r>
                    <m:d>
                      <m:dPr>
                        <m:ctrlPr>
                          <a:rPr lang="es-MX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C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s-EC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s-EC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C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s-MX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s-MX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MX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s-MX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s-MX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s-MX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MX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s-MX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s-EC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MX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s-MX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MX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C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  <m:r>
                          <a:rPr lang="es-EC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EC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s-MX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s-MX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MX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s-MX" sz="24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MX" sz="1968" dirty="0"/>
              </a:p>
              <a:p>
                <a:pPr marL="538163" indent="-538163">
                  <a:buAutoNum type="arabicPeriod" startAt="3"/>
                </a:pPr>
                <a:r>
                  <a:rPr lang="es-MX" sz="2200" dirty="0"/>
                  <a:t>La respuesta en un evento i excede o queda por debajo del valor de la función regresión por la   cantidad del término del error.</a:t>
                </a:r>
                <a:endParaRPr lang="es-MX" sz="1968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652" y="1942484"/>
                <a:ext cx="11318736" cy="3476681"/>
              </a:xfrm>
              <a:blipFill rotWithShape="0">
                <a:blip r:embed="rId2"/>
                <a:stretch>
                  <a:fillRect l="-754" r="-647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/>
          <p:cNvSpPr txBox="1"/>
          <p:nvPr/>
        </p:nvSpPr>
        <p:spPr>
          <a:xfrm>
            <a:off x="393652" y="412096"/>
            <a:ext cx="8487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 – Regresión Lineal Simple</a:t>
            </a:r>
            <a:endParaRPr lang="es-EC" sz="4000" b="1" dirty="0"/>
          </a:p>
        </p:txBody>
      </p:sp>
      <p:sp>
        <p:nvSpPr>
          <p:cNvPr id="8" name="Rectángulo 7"/>
          <p:cNvSpPr/>
          <p:nvPr/>
        </p:nvSpPr>
        <p:spPr>
          <a:xfrm>
            <a:off x="393652" y="1269623"/>
            <a:ext cx="5176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b="1" dirty="0"/>
              <a:t>Características importantes del modelo</a:t>
            </a:r>
          </a:p>
        </p:txBody>
      </p:sp>
    </p:spTree>
    <p:extLst>
      <p:ext uri="{BB962C8B-B14F-4D97-AF65-F5344CB8AC3E}">
        <p14:creationId xmlns:p14="http://schemas.microsoft.com/office/powerpoint/2010/main" val="1723700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76954"/>
                <a:ext cx="10515600" cy="3808693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AutoNum type="arabicPeriod" startAt="4"/>
                </a:pPr>
                <a:r>
                  <a:rPr lang="es-MX" sz="2200" dirty="0"/>
                  <a:t>El error tiene varianza constante. La respuesta tiene la misma varianza constante.</a:t>
                </a:r>
              </a:p>
              <a:p>
                <a:pPr marL="0" indent="0">
                  <a:buNone/>
                </a:pPr>
                <a:endParaRPr lang="es-EC" sz="2400" b="1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C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C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s-EC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s-MX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s-EC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s-EC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C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C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s-EC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s-MX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s-MX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s-MX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s-MX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s-MX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s-MX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s-MX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s-EC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MX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MX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MX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s-MX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s-MX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MX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s-EC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C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p>
                              <m:r>
                                <a:rPr lang="es-EC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C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MX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s-MX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EC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s-EC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C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s-EC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MX" sz="2249" dirty="0"/>
              </a:p>
              <a:p>
                <a:pPr marL="0" indent="0">
                  <a:buNone/>
                </a:pPr>
                <a:endParaRPr lang="es-MX" sz="2249" dirty="0"/>
              </a:p>
              <a:p>
                <a:pPr marL="457200" indent="-457200" algn="just">
                  <a:buFont typeface="+mj-lt"/>
                  <a:buAutoNum type="arabicPeriod" startAt="5"/>
                </a:pPr>
                <a:r>
                  <a:rPr lang="es-MX" sz="2249" dirty="0"/>
                  <a:t> </a:t>
                </a:r>
                <a:r>
                  <a:rPr lang="es-MX" sz="2200" dirty="0"/>
                  <a:t>El error no esta correlacionado por lo que las respuesta tampoco.</a:t>
                </a:r>
              </a:p>
              <a:p>
                <a:pPr marL="538163" indent="0" algn="just">
                  <a:buNone/>
                </a:pPr>
                <a:r>
                  <a:rPr lang="es-MX" sz="2200" dirty="0"/>
                  <a:t>El modelo de regresión implica que la respuesta proviene de distribuciones de probabilidad donde sus medias son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200" b="1" i="1"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s-MX" sz="2200" b="1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s-MX" sz="2200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s-MX" sz="22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MX" sz="2200" b="1" i="1">
                        <a:latin typeface="Cambria Math" panose="02040503050406030204" pitchFamily="18" charset="0"/>
                      </a:rPr>
                      <m:t>]=</m:t>
                    </m:r>
                    <m:sSub>
                      <m:sSubPr>
                        <m:ctrlPr>
                          <a:rPr lang="es-MX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s-MX" sz="22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s-MX" sz="22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s-MX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s-MX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2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MX" sz="22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s-MX" sz="2200" dirty="0"/>
                  <a:t> y sus varianzas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MX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sz="2200" dirty="0"/>
                  <a:t>, lo mismo para cada nivel de X. Por tanto, cualesquiera dos respuestas están </a:t>
                </a:r>
                <a:r>
                  <a:rPr lang="es-MX" sz="2200" dirty="0" err="1"/>
                  <a:t>incorrelacionadas</a:t>
                </a:r>
                <a:r>
                  <a:rPr lang="es-MX" sz="2200" dirty="0"/>
                  <a:t>. </a:t>
                </a: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76954"/>
                <a:ext cx="10515600" cy="3808693"/>
              </a:xfrm>
              <a:blipFill rotWithShape="0">
                <a:blip r:embed="rId2"/>
                <a:stretch>
                  <a:fillRect l="-870" t="-2240" r="-696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/>
          <p:cNvSpPr/>
          <p:nvPr/>
        </p:nvSpPr>
        <p:spPr>
          <a:xfrm>
            <a:off x="380205" y="1572155"/>
            <a:ext cx="5176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b="1" dirty="0"/>
              <a:t>Características importantes del modelo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393652" y="412096"/>
            <a:ext cx="8487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 – Regresión Lineal Simple</a:t>
            </a:r>
            <a:endParaRPr lang="es-EC" sz="4000" b="1" dirty="0"/>
          </a:p>
        </p:txBody>
      </p:sp>
    </p:spTree>
    <p:extLst>
      <p:ext uri="{BB962C8B-B14F-4D97-AF65-F5344CB8AC3E}">
        <p14:creationId xmlns:p14="http://schemas.microsoft.com/office/powerpoint/2010/main" val="222157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93652" y="1252854"/>
            <a:ext cx="2875531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399" b="1" dirty="0"/>
              <a:t>Hipótesis del modelo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393652" y="412096"/>
            <a:ext cx="8487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 – Regresión Lineal Simple</a:t>
            </a:r>
            <a:endParaRPr lang="es-EC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393652" y="2020643"/>
                <a:ext cx="11344068" cy="38872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C" sz="2200" dirty="0"/>
                  <a:t>Para que el modelo sea considerado válido deben cumplirse y verificarse los siguientes supuestos:</a:t>
                </a:r>
              </a:p>
              <a:p>
                <a:endParaRPr lang="es-EC" sz="2200" dirty="0"/>
              </a:p>
              <a:p>
                <a:pPr marL="285750" indent="-285750">
                  <a:buFontTx/>
                  <a:buChar char="-"/>
                </a:pPr>
                <a:r>
                  <a:rPr lang="es-EC" sz="2200" dirty="0"/>
                  <a:t>Linealidad: Los datos deben expresar por si solos esa tendencia; nube de puntos</a:t>
                </a:r>
              </a:p>
              <a:p>
                <a:pPr marL="285750" indent="-285750">
                  <a:buFontTx/>
                  <a:buChar char="-"/>
                </a:pPr>
                <a:endParaRPr lang="es-EC" sz="2200" dirty="0"/>
              </a:p>
              <a:p>
                <a:pPr marL="285750" indent="-285750">
                  <a:buFontTx/>
                  <a:buChar char="-"/>
                </a:pPr>
                <a:r>
                  <a:rPr lang="es-EC" sz="2200" dirty="0"/>
                  <a:t>Homogeneidad: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C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  <m:r>
                          <a:rPr lang="es-EC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MX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s-MX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EC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s-EC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s-EC" sz="2200" dirty="0"/>
              </a:p>
              <a:p>
                <a:pPr marL="285750" indent="-285750">
                  <a:buFontTx/>
                  <a:buChar char="-"/>
                </a:pPr>
                <a:endParaRPr lang="es-EC" sz="2200" dirty="0"/>
              </a:p>
              <a:p>
                <a:pPr marL="285750" indent="-285750">
                  <a:buFontTx/>
                  <a:buChar char="-"/>
                </a:pPr>
                <a:r>
                  <a:rPr lang="es-EC" sz="2200" dirty="0" err="1"/>
                  <a:t>Homocedasticidad</a:t>
                </a:r>
                <a:r>
                  <a:rPr lang="es-EC" sz="2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s-EC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C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s-EC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C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MX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s-MX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EC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s-EC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C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s-EC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s-EC" sz="2200" dirty="0"/>
              </a:p>
              <a:p>
                <a:pPr marL="285750" indent="-285750">
                  <a:buFontTx/>
                  <a:buChar char="-"/>
                </a:pPr>
                <a:endParaRPr lang="es-EC" sz="2200" dirty="0"/>
              </a:p>
              <a:p>
                <a:pPr marL="285750" indent="-285750">
                  <a:buFontTx/>
                  <a:buChar char="-"/>
                </a:pPr>
                <a:r>
                  <a:rPr lang="es-EC" sz="2200" dirty="0"/>
                  <a:t>Independencia: </a:t>
                </a:r>
                <a14:m>
                  <m:oMath xmlns:m="http://schemas.openxmlformats.org/officeDocument/2006/math">
                    <m:r>
                      <a:rPr lang="es-E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begChr m:val="{"/>
                        <m:endChr m:val="}"/>
                        <m:ctrlPr>
                          <a:rPr lang="es-E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s-MX" sz="22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s-MX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MX" sz="2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s-MX" sz="2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 ∀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endParaRPr lang="es-EC" sz="2200" dirty="0"/>
              </a:p>
              <a:p>
                <a:pPr marL="285750" indent="-285750">
                  <a:buFontTx/>
                  <a:buChar char="-"/>
                </a:pPr>
                <a:endParaRPr lang="es-EC" sz="2200" dirty="0"/>
              </a:p>
              <a:p>
                <a:pPr marL="285750" indent="-285750">
                  <a:buFontTx/>
                  <a:buChar char="-"/>
                </a:pPr>
                <a:r>
                  <a:rPr lang="es-EC" sz="2200" dirty="0"/>
                  <a:t>Normalidad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s-MX" sz="22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MX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C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s-EC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EC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s-EC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s-EC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C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s-EC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C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C" sz="2200" dirty="0"/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52" y="2020643"/>
                <a:ext cx="11344068" cy="3887283"/>
              </a:xfrm>
              <a:prstGeom prst="rect">
                <a:avLst/>
              </a:prstGeom>
              <a:blipFill rotWithShape="0">
                <a:blip r:embed="rId3"/>
                <a:stretch>
                  <a:fillRect l="-753" t="-940" b="-2351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76608" y="3119718"/>
            <a:ext cx="5081992" cy="180697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1078" y="4808851"/>
            <a:ext cx="5215466" cy="1828800"/>
          </a:xfrm>
          <a:prstGeom prst="rect">
            <a:avLst/>
          </a:prstGeom>
        </p:spPr>
      </p:pic>
      <p:pic>
        <p:nvPicPr>
          <p:cNvPr id="1026" name="Picture 2" descr="Archivo:Visto Bueno.png - Wikipedia, la enciclopedia libr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470" y="4343400"/>
            <a:ext cx="1070701" cy="96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5215" y="4637544"/>
            <a:ext cx="805879" cy="57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9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93652" y="1865360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dirty="0"/>
                  <a:t>Recta de mínimos cuadrados</a:t>
                </a:r>
              </a:p>
              <a:p>
                <a:pPr marL="0" indent="0">
                  <a:buNone/>
                </a:pPr>
                <a:r>
                  <a:rPr lang="es-MX" sz="2000" dirty="0"/>
                  <a:t>La recta de regresión poblacional es:</a:t>
                </a:r>
              </a:p>
              <a:p>
                <a:pPr marL="0" indent="0">
                  <a:buNone/>
                </a:pPr>
                <a:r>
                  <a:rPr lang="es-MX" sz="2000" dirty="0"/>
                  <a:t>La recta de mínimos cuadrados es: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s-MX" sz="200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s-MX" sz="2000" dirty="0"/>
                  <a:t> son los estimadores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s-MX" sz="200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s-MX" sz="20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MX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MX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MX" sz="20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MX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sz="20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MX" sz="2000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s-MX" sz="2000" dirty="0"/>
                  <a:t> se denomina error/residual.</a:t>
                </a:r>
              </a:p>
              <a:p>
                <a:pPr marL="0" indent="0">
                  <a:buNone/>
                </a:pPr>
                <a:r>
                  <a:rPr lang="es-MX" sz="2000" dirty="0"/>
                  <a:t>Criterio de mínimos cuadrados es minimizar el error/residual</a:t>
                </a:r>
              </a:p>
              <a:p>
                <a:pPr marL="0" indent="0">
                  <a:buNone/>
                </a:pPr>
                <a:endParaRPr lang="es-MX" sz="1968" dirty="0"/>
              </a:p>
              <a:p>
                <a:pPr marL="0" indent="0">
                  <a:buNone/>
                </a:pPr>
                <a:endParaRPr lang="es-MX" sz="1968" dirty="0"/>
              </a:p>
              <a:p>
                <a:pPr marL="0" indent="0">
                  <a:buNone/>
                </a:pPr>
                <a:endParaRPr lang="es-MX" sz="1968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652" y="1865360"/>
                <a:ext cx="10515600" cy="4351338"/>
              </a:xfrm>
              <a:blipFill rotWithShape="0">
                <a:blip r:embed="rId2"/>
                <a:stretch>
                  <a:fillRect l="-638" t="-1541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6031767" y="2093643"/>
                <a:ext cx="2332433" cy="4615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399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399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s-MX" sz="2399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MX" sz="2399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399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399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MX" sz="2399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MX" sz="2399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399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399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MX" sz="2399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s-MX" sz="2399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399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s-MX" sz="2399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s-MX" sz="2399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701" y="2975904"/>
                <a:ext cx="3263201" cy="61754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6031767" y="2498597"/>
                <a:ext cx="2287549" cy="4714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399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23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2399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lang="es-MX" sz="2399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MX" sz="2399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399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399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s-MX" sz="2399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MX" sz="2399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399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399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s-MX" sz="2399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s-MX" sz="2399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399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s-MX" sz="2399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s-MX" sz="2399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701" y="3552119"/>
                <a:ext cx="3202287" cy="63171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8625" y="4503422"/>
            <a:ext cx="6764348" cy="1600313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3902882" y="6244990"/>
            <a:ext cx="5065773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999" dirty="0"/>
              <a:t>SCE (SUMA DE LOS CUADRADOS DEL ERROR)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393652" y="412096"/>
            <a:ext cx="8487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 – Regresión Lineal Simple</a:t>
            </a:r>
            <a:endParaRPr lang="es-EC" sz="4000" b="1" dirty="0"/>
          </a:p>
        </p:txBody>
      </p:sp>
      <p:sp>
        <p:nvSpPr>
          <p:cNvPr id="10" name="CuadroTexto 9"/>
          <p:cNvSpPr txBox="1"/>
          <p:nvPr/>
        </p:nvSpPr>
        <p:spPr>
          <a:xfrm>
            <a:off x="393652" y="1252854"/>
            <a:ext cx="3509230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399" b="1" dirty="0"/>
              <a:t>Estimación de parámetros</a:t>
            </a:r>
          </a:p>
        </p:txBody>
      </p:sp>
    </p:spTree>
    <p:extLst>
      <p:ext uri="{BB962C8B-B14F-4D97-AF65-F5344CB8AC3E}">
        <p14:creationId xmlns:p14="http://schemas.microsoft.com/office/powerpoint/2010/main" val="2022423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24753" y="179154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Luego de minimizar obtenemos las “ecuaciones normales”.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La primera ecuación puede ser reescrita así: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Y la segunda: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060" y="2349583"/>
            <a:ext cx="4884209" cy="138287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730" y="3967214"/>
            <a:ext cx="2202681" cy="108514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520" y="5192876"/>
            <a:ext cx="2548033" cy="1062983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393652" y="412096"/>
            <a:ext cx="8487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 – Regresión Lineal Simple</a:t>
            </a:r>
            <a:endParaRPr lang="es-EC" sz="4000" b="1" dirty="0"/>
          </a:p>
        </p:txBody>
      </p:sp>
      <p:sp>
        <p:nvSpPr>
          <p:cNvPr id="9" name="CuadroTexto 8"/>
          <p:cNvSpPr txBox="1"/>
          <p:nvPr/>
        </p:nvSpPr>
        <p:spPr>
          <a:xfrm>
            <a:off x="393652" y="1252854"/>
            <a:ext cx="3509230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399" b="1" dirty="0"/>
              <a:t>Estimación de parámetros</a:t>
            </a:r>
          </a:p>
        </p:txBody>
      </p:sp>
    </p:spTree>
    <p:extLst>
      <p:ext uri="{BB962C8B-B14F-4D97-AF65-F5344CB8AC3E}">
        <p14:creationId xmlns:p14="http://schemas.microsoft.com/office/powerpoint/2010/main" val="253112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contenid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49" y="1966382"/>
            <a:ext cx="9241393" cy="3398994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393652" y="412096"/>
            <a:ext cx="8487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 – Regresión Lineal Simple</a:t>
            </a:r>
            <a:endParaRPr lang="es-EC" sz="4000" b="1" dirty="0"/>
          </a:p>
        </p:txBody>
      </p:sp>
      <p:sp>
        <p:nvSpPr>
          <p:cNvPr id="6" name="CuadroTexto 5"/>
          <p:cNvSpPr txBox="1"/>
          <p:nvPr/>
        </p:nvSpPr>
        <p:spPr>
          <a:xfrm>
            <a:off x="393652" y="1252854"/>
            <a:ext cx="3509230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399" b="1" dirty="0"/>
              <a:t>Estimación de parámetros</a:t>
            </a:r>
          </a:p>
        </p:txBody>
      </p:sp>
    </p:spTree>
    <p:extLst>
      <p:ext uri="{BB962C8B-B14F-4D97-AF65-F5344CB8AC3E}">
        <p14:creationId xmlns:p14="http://schemas.microsoft.com/office/powerpoint/2010/main" val="160100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93652" y="412096"/>
            <a:ext cx="8487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600" b="1" dirty="0"/>
              <a:t>Modelos Lineales – Regresión Lineal Simple</a:t>
            </a:r>
            <a:endParaRPr lang="es-EC" sz="40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93652" y="1252854"/>
            <a:ext cx="3501856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399" b="1" dirty="0"/>
              <a:t>Coeficiente de correlación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393652" y="1908818"/>
            <a:ext cx="2827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2400" dirty="0"/>
              <a:t>Si consideramos que: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393652" y="2662518"/>
                <a:ext cx="2331343" cy="9226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C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𝐱𝐱</m:t>
                          </m:r>
                        </m:sub>
                      </m:sSub>
                      <m:r>
                        <a:rPr lang="es-EC" sz="2200" b="1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C" sz="22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sSup>
                            <m:sSupPr>
                              <m:ctrlPr>
                                <a:rPr lang="es-EC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C" sz="2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C" sz="22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C" sz="2200" b="1" i="0" smtClean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s-EC" sz="2200" b="1" i="0" smtClean="0"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s-EC" sz="2200" b="1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EC" sz="22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C" sz="2200" b="1" i="0" smtClean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EC" sz="2200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C" sz="2200" b="1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52" y="2662518"/>
                <a:ext cx="2331343" cy="92268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/>
              <p:cNvSpPr txBox="1"/>
              <p:nvPr/>
            </p:nvSpPr>
            <p:spPr>
              <a:xfrm>
                <a:off x="3220836" y="2650080"/>
                <a:ext cx="2281137" cy="9210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C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𝐲𝐲</m:t>
                          </m:r>
                        </m:sub>
                      </m:sSub>
                      <m:r>
                        <a:rPr lang="es-EC" sz="2200" b="1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C" sz="22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sSup>
                            <m:sSupPr>
                              <m:ctrlPr>
                                <a:rPr lang="es-EC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C" sz="2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C" sz="22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C" sz="2200" b="1" i="0" smtClean="0"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</m:e>
                                    <m:sub>
                                      <m:r>
                                        <a:rPr lang="es-EC" sz="2200" b="1" i="0" smtClean="0"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s-EC" sz="2200" b="1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EC" sz="22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C" sz="2200" b="1" i="0" smtClean="0"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EC" sz="2200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C" sz="2200" b="1" dirty="0"/>
              </a:p>
            </p:txBody>
          </p:sp>
        </mc:Choice>
        <mc:Fallback xmlns=""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836" y="2650080"/>
                <a:ext cx="2281137" cy="92108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6328287" y="2648478"/>
                <a:ext cx="3096938" cy="9210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C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𝐱𝐲</m:t>
                          </m:r>
                        </m:sub>
                      </m:sSub>
                      <m:r>
                        <a:rPr lang="es-EC" sz="2200" b="1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C" sz="22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s-EC" sz="2200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d>
                            <m:dPr>
                              <m:ctrlPr>
                                <a:rPr lang="es-EC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C" sz="2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C" sz="2200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s-EC" sz="2200" b="1" i="0" smtClean="0"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  <m:r>
                                <a:rPr lang="es-EC" sz="2200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EC" sz="2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C" sz="2200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s-EC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C" sz="2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C" sz="2200" b="1" i="0" smtClean="0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  <m:sub>
                                  <m:r>
                                    <a:rPr lang="es-EC" sz="2200" b="1" i="0" smtClean="0"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  <m:r>
                                <a:rPr lang="es-EC" sz="2200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EC" sz="2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C" sz="2200" b="1" i="0" smtClean="0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s-EC" sz="2200" b="1" dirty="0"/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287" y="2648478"/>
                <a:ext cx="3096938" cy="92108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/>
          <p:cNvSpPr txBox="1"/>
          <p:nvPr/>
        </p:nvSpPr>
        <p:spPr>
          <a:xfrm>
            <a:off x="393652" y="4276022"/>
            <a:ext cx="2311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2400" dirty="0"/>
              <a:t>Podemos definir: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/>
              <p:cNvSpPr txBox="1"/>
              <p:nvPr/>
            </p:nvSpPr>
            <p:spPr>
              <a:xfrm>
                <a:off x="3758001" y="4998251"/>
                <a:ext cx="3487943" cy="863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C" sz="24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s-EC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400" b="1" i="0" smtClean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b>
                              <m:r>
                                <a:rPr lang="es-EC" sz="2400" b="1" i="0" smtClean="0">
                                  <a:latin typeface="Cambria Math" panose="02040503050406030204" pitchFamily="18" charset="0"/>
                                </a:rPr>
                                <m:t>𝐱𝐲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C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s-EC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C" sz="2400" b="1" i="0" smtClean="0">
                                      <a:latin typeface="Cambria Math" panose="02040503050406030204" pitchFamily="18" charset="0"/>
                                    </a:rPr>
                                    <m:t>𝐒</m:t>
                                  </m:r>
                                </m:e>
                                <m:sub>
                                  <m:r>
                                    <a:rPr lang="es-EC" sz="2400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s-EC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C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C" sz="2400" b="1" i="0" smtClean="0">
                                      <a:latin typeface="Cambria Math" panose="02040503050406030204" pitchFamily="18" charset="0"/>
                                    </a:rPr>
                                    <m:t>𝐒</m:t>
                                  </m:r>
                                </m:e>
                                <m:sub>
                                  <m:r>
                                    <a:rPr lang="es-EC" sz="2400" b="1" i="1" smtClean="0">
                                      <a:latin typeface="Cambria Math" panose="02040503050406030204" pitchFamily="18" charset="0"/>
                                    </a:rPr>
                                    <m:t>𝒚𝒚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s-EC" sz="2400" b="1" i="1" smtClean="0">
                          <a:latin typeface="Cambria Math" panose="02040503050406030204" pitchFamily="18" charset="0"/>
                        </a:rPr>
                        <m:t>;−</m:t>
                      </m:r>
                      <m:r>
                        <a:rPr lang="es-EC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C" sz="24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EC" sz="24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s-EC" sz="24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EC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C" sz="2400" b="1" dirty="0"/>
              </a:p>
            </p:txBody>
          </p:sp>
        </mc:Choice>
        <mc:Fallback xmlns="">
          <p:sp>
            <p:nvSpPr>
              <p:cNvPr id="9" name="Cuadro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001" y="4998251"/>
                <a:ext cx="3487943" cy="8636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39147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2B321D7A017040BD6E312D5E50DA25" ma:contentTypeVersion="6" ma:contentTypeDescription="Create a new document." ma:contentTypeScope="" ma:versionID="b4d00eedf62f7c6aca558d3b0ee3daab">
  <xsd:schema xmlns:xsd="http://www.w3.org/2001/XMLSchema" xmlns:xs="http://www.w3.org/2001/XMLSchema" xmlns:p="http://schemas.microsoft.com/office/2006/metadata/properties" xmlns:ns2="1bb2594c-4732-4772-9f8e-ee4d3fc82cb5" targetNamespace="http://schemas.microsoft.com/office/2006/metadata/properties" ma:root="true" ma:fieldsID="8c610ece81bbc7750dc39b9dd8e0c770" ns2:_="">
    <xsd:import namespace="1bb2594c-4732-4772-9f8e-ee4d3fc82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2594c-4732-4772-9f8e-ee4d3fc82c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D2E44F-CAD5-4DCD-9F8A-58DC1C3D91BC}"/>
</file>

<file path=customXml/itemProps2.xml><?xml version="1.0" encoding="utf-8"?>
<ds:datastoreItem xmlns:ds="http://schemas.openxmlformats.org/officeDocument/2006/customXml" ds:itemID="{9747E1D0-6040-492C-A1D6-E9CB626539BF}"/>
</file>

<file path=customXml/itemProps3.xml><?xml version="1.0" encoding="utf-8"?>
<ds:datastoreItem xmlns:ds="http://schemas.openxmlformats.org/officeDocument/2006/customXml" ds:itemID="{D25F4EE9-F008-4D02-B21B-19A3E2213D3A}"/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828</Words>
  <Application>Microsoft Office PowerPoint</Application>
  <PresentationFormat>Widescreen</PresentationFormat>
  <Paragraphs>117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Super Koffre</dc:creator>
  <cp:lastModifiedBy>Heydi Mariana Roa Lopez</cp:lastModifiedBy>
  <cp:revision>14</cp:revision>
  <dcterms:created xsi:type="dcterms:W3CDTF">2020-04-19T16:54:16Z</dcterms:created>
  <dcterms:modified xsi:type="dcterms:W3CDTF">2020-09-02T15:07:04Z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0x010100B82B321D7A017040BD6E312D5E50DA25</vt:lpwstr>
  </property>
</Properties>
</file>
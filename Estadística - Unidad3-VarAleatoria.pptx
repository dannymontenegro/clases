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97" r:id="rId2"/>
    <p:sldId id="305" r:id="rId3"/>
    <p:sldId id="257" r:id="rId4"/>
    <p:sldId id="258" r:id="rId5"/>
    <p:sldId id="259" r:id="rId6"/>
    <p:sldId id="260" r:id="rId7"/>
    <p:sldId id="261" r:id="rId8"/>
    <p:sldId id="262" r:id="rId9"/>
    <p:sldId id="263" r:id="rId10"/>
    <p:sldId id="264" r:id="rId11"/>
    <p:sldId id="298" r:id="rId12"/>
    <p:sldId id="266" r:id="rId13"/>
    <p:sldId id="267" r:id="rId14"/>
    <p:sldId id="265" r:id="rId15"/>
    <p:sldId id="268" r:id="rId16"/>
    <p:sldId id="269" r:id="rId17"/>
    <p:sldId id="270" r:id="rId18"/>
    <p:sldId id="299" r:id="rId19"/>
    <p:sldId id="271" r:id="rId20"/>
    <p:sldId id="272" r:id="rId21"/>
    <p:sldId id="273" r:id="rId22"/>
    <p:sldId id="274" r:id="rId23"/>
    <p:sldId id="300" r:id="rId24"/>
    <p:sldId id="301" r:id="rId25"/>
    <p:sldId id="275" r:id="rId26"/>
    <p:sldId id="276" r:id="rId27"/>
    <p:sldId id="277" r:id="rId28"/>
    <p:sldId id="278" r:id="rId29"/>
    <p:sldId id="279" r:id="rId30"/>
    <p:sldId id="280" r:id="rId31"/>
    <p:sldId id="302" r:id="rId32"/>
    <p:sldId id="281" r:id="rId33"/>
    <p:sldId id="282" r:id="rId34"/>
    <p:sldId id="283" r:id="rId35"/>
    <p:sldId id="303" r:id="rId36"/>
    <p:sldId id="304"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0-06-29T17:09:17.21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24412 7779 0,'0'17'141,"0"1"-141,0 17 15,0 18 1,0 88-16,0 89 15,0 17 1,0 0-16,0-18 16,18-17-1,-18-1-15,0 36 16,0 0 0,35 0-16,-35-35 15,0-36-15,0-70 16,0 0-16,18-18 15,-18 0 1,0-17 0,0 17-16,0-18 15,0 19-15,0-72 16,0 19 0,0-19-16,0 1 15,0-1 1,0 1 31,0 0-32,0-1 32</inkml:trace>
  <inkml:trace contextRef="#ctx0" brushRef="#br0" timeOffset="1909.06">21414 10654 0,'0'-18'47,"17"18"15,1 0-46,0 0 0,-1 0-1,18 0 1,1 0-16,52 0 15,35 0-15,36 36 16,18-36 0,-36 17-16,0-17 15,18 18 1,-54-18-16,1 0 16,35 0-1,53 35-15,-17-35 16,-1 0-1,0 0-15,1 0 16,-1 0 0,1 0-16,34 0 15,1 0 1,0 0-16,-36 0 16,0 0-16,36 0 15,0 0 1,17 0-16,-17 18 15,-36-18 1,1 35-16,34-35 16,1 18-1,0-18-15,17 35 16,-53-35 0,1 18-16,-19 17 15,-17-18-15,36 19 16,-1-36-1,-17 17-15,-18-17 16,-35 18 0,17 17-16,-17-17 15,-18 0 1,1-1-16,16 19 16,-16-19-1,16 1-15,-16-1 16,-1 1-1,-18 17-15,-34-35 32,34 18-32,-34 0 15,-19-18-15,1 0 16,-1 0 0,1 0-1</inkml:trace>
  <inkml:trace contextRef="#ctx0" brushRef="#br0" timeOffset="4589.1">24800 10336 0,'0'-17'125,"18"17"-110,0 0 17,-18-18-32,17 18 15,1 0 1,-18-18-16,17 18 16,19-17-1,-1 17-15,53-18 16,36-35-1,-54 18-15,18-18 16,1 18 0,-19 0-16,-17-18 15,0 17 1,18 1-16,-18 0 16,17-18-16,-17 18 15,-18-1 1,1 1-16,-1-18 15,18-17 1,-18 17 0,0-18-16,1 18 15,16 0 1,-16-35-16,17 0 16,-18 35-1,0-18-15,1 18 16,16 1-1,-16-19 1,-1-17-16,36 0 16,-1-1-1,18 1-15,18-18 16,-18 18-16,18-18 16,-18 18-1,-17 18-15,-18 17 16,17-18-16,-17 18 15,-17 0 1,-1 0-16,0 18 16,18 0-1,0 0 1,0-1-16,17-17 16,-17 18-1,0 0-15,18 0 16,-36 17-1,0 0-15,1 1 16,-19 17 0,1 0-16,0 0 15,-1 0 1,18 0-16,-17 0 16,17 0-1,-17 17 1,17 1-16,1 17 15,-1 36 1,0-18-16,18 0 16,-18 17-1,18-17-15,0 35 16,-18 0 0,18 1-16,-17 34 15,17 36 1,-18-18-16,-18-35 15,1 17 1,17-17-16,-17-18 16,0 0-1,-1-17 1,1 53-16,17-19 16,-17 19-16,0-18 15,-1-18 1,18 0-16,-17-35 15,0 0 1,17 17-16,18-17 16,17 18-16,-17-18 15,53 17 1,-18 1-16,-35-18 16,18 17-1,-18-17-15,17 18 16,-17-18-1,18-18-15,-1 18 16,19-18 0,-1-17-16,0 17 15,-17-17 1,17-1-16,0 1 16,-18-18-1,-34 18-15,-1-18 16,0 0-16,1 0 15,-1 0 1,-18 0-16,1 0 31,0 0 1</inkml:trace>
  <inkml:trace contextRef="#ctx0" brushRef="#br0" timeOffset="6438.53">27076 8237 0,'0'18'63,"0"0"-16,0-1 31,0 1-47,0 0-15,0-1-1,0 1 17,0-1-17,17-17 17,-17 18-32,0 0 15,0-1 1,0 1-1,0 0 1,0-1 0,0 1-1,0 0 1,18-1-16</inkml:trace>
  <inkml:trace contextRef="#ctx0" brushRef="#br0" timeOffset="8071.16">27111 8749 0,'0'0'0,"0"18"141,0-1-125,0 1 15,0-1-16,0 19 1,0-19-16,0 19 16,0 34-1,0 36-15,0-18 16,0-17-16,0-18 16,0-18-1,0 0-15,0-17 16,0 0-1,0-1-15,0 1 16,0-1 0,0 1-1,0 0-15,0-1 16,0 1 0,0 0-1,0-1 1,0 1-16,0 0 15,0-1-15,0 18 16,0 36 0,0 17-16,0-17 15,0-18 1,0 17-16,0-52 16,0 17-1,0 0-15,0 1 16,0-1-1,0-17-15,0-1 16,0 1 0,0 0-16,0-1 15,0 18 1,0 1 0,0-1-16,0 0 15,0 1 1,0-1-16,0-17 31,0-1-31,0 1 16,0-1-1,0 1 17,0 0 30</inkml:trace>
  <inkml:trace contextRef="#ctx0" brushRef="#br0" timeOffset="9074.58">27199 9525 0,'0'18'47,"-17"-18"-47,17 17 16,-18-17-1,0 0-15,1 0 16,-1 18 0,18 0-16,-18-1 15,-17 1 1,-35 17-16,-1 18 16,0-18-16,18 1 15,1-1 1,-19 18-16,18 0 15,-17 17 1,17-17-16,-53 35 16,18 18-1,17-18-15,0 1 16,19-19 0,-1-17-16,35-18 15,18-17 1,-18 0-16,1-1 15</inkml:trace>
  <inkml:trace contextRef="#ctx0" brushRef="#br0" timeOffset="10215.94">27076 9013 0,'-18'0'16,"18"18"-1,-18-18 1,18 18 0,0-1-1,-17 1 1,-1 0-16,1-1 16,-1-17-1,-17 53-15,-18 18 16,-18-18-16,18 17 15,-17-17 1,17 18-16,-18-18 16,18 17-1,-17 18-15,34-35 16,-16 18 0,16-18-16,1 0 15,0 17 1,-1-17-16,-17-18 15,36 1 1,-1-1-16,1-17 16,17-1-16,-18 1 15,0 0 1,1-1-16,-1-17 16,0 18-1,1-1 1,17 1-1,-18 0 17,0-1-17,1 1 1</inkml:trace>
  <inkml:trace contextRef="#ctx0" brushRef="#br0" timeOffset="11365.99">27023 8749 0,'-18'0'16,"1"0"0,-1 18-1,0-1-15,18 1 16,-17-18 0,-1 17-16,-35 19 15,-35 34 1,35-17-16,-18 18 15,18-18 1,-17 17-16,17-17 16,-18 18-1,19-18-15,-19 17 16,18-17-16,-18 18 16,19-18-1,-19 17-15,18-17 16,18-18-1,17 1-15,1-19 16,-1 1 0,0 0-16,1-1 15,-1 1-15,0-1 32,1 1-32,-1 0 15,0-1 1,1 1-16,-1 0 15,1-1 1,-1 1 0,0 0-1,1-1-15,-1 1 16,0-1 0,18 1 30</inkml:trace>
  <inkml:trace contextRef="#ctx0" brushRef="#br0" timeOffset="12520.08">25964 9984 0,'0'17'15,"0"1"17,-17-18-32,17 18 15,-18-1 16,1 1-31,-1-1 16,0-17-16,1 18 16,-36 35-1,0 18-15,-18-19 16,18-16 0,0 17-16,0-36 15,18 1 1,35 0-16,-17-18 15,-1 17-15,0-17 32</inkml:trace>
  <inkml:trace contextRef="#ctx0" brushRef="#br0" timeOffset="13327.04">25629 10107 0,'-17'0'78,"-1"0"-63,0 0 17,1 18-17,-19-18 1,-52 70-16,0 36 15,-18-53-15,18 18 16,35-1 0,-17-35-16,34 1 15,1-1 1,17-17-16,1-1 16,17 1-16,-18 0 15,0-18 1,18 17-16,-17-17 31</inkml:trace>
  <inkml:trace contextRef="#ctx0" brushRef="#br0" timeOffset="27355.24">1041 10195 0,'17'0'94,"1"0"-63,0 0-15,-1 0-16,19 0 16,-1 0-1,0 0-15,71 0 16,35 0-1,-35 0-15,0 0 16,17 0 0,-52 0-16,17 0 15,-18 0-15,1 0 16,-36 0 0,-17 0-16,0 0 15,-1 0 1,1 0-16,0 0 15,-1 0 1,1 0-16,-1 0 78,-17-17 47</inkml:trace>
  <inkml:trace contextRef="#ctx0" brushRef="#br0" timeOffset="28971.31">2152 10072 0,'18'0'141,"-18"17"-126,17-17 1,19 18 0,-19-18-1,1 18-15,-1-18 16,-17 17-16,18-17 15,0 0 1,-1 0 0,-17 18-1,18-18 1,0 0 0,-18 18 15,17-18-16,-17 17 48,0 1 15,0 0 16,0-1-63,-17-17 0,-1 0 1,0 18-1,1-18 0,17 17-15,-18-17-1,18 18 17,-18-18-1,18 18-31,-17-18 31,17 17-15,-18 1 15</inkml:trace>
  <inkml:trace contextRef="#ctx0" brushRef="#br0" timeOffset="66252.28">24448 12241 0,'0'0'0,"0"18"109,0 0-93,0 17-16,17 36 0,-17 87 16,0 19-1,35-1-15,-35-35 16,18 18-1,-18 17-15,35 1 16,-35-1 0,0-35-16,18 18 15,-18-18-15,0-35 16,0 35 0,0 0-16,0-35 15,0 35 1,0-17-16,0-54 15,0 18 1,0-17-16,0-18 16,0-18-1,0 0-15,0 1 16,0-19 0,18 1-1,-18-1-15,0 1 16,17-18-16,-17 35 15,18 1 1,0-1-16,-1 53 16,1-17-1,-1 17 1,1-53-16,-18 0 0,18 1 16,-18-19-1,17 1-15,-17 0 16,0-1-16,18-17 125</inkml:trace>
  <inkml:trace contextRef="#ctx0" brushRef="#br0" timeOffset="67821.27">22842 15275 0,'0'-17'78,"18"17"-16,0 0-62,-1 0 16,19-18 0,34 18-16,107-35 15,69 35 1,1 0-16,-35-18 16,0 18-1,-1-35-15,36 35 16,36 0-1,-36-18-15,-1 18 16,1 0-16,0 0 16,36-35-1,-36 35-15,-1 0 16,-34 0 0,35 0-16,0 0 15,0 0 1,-35 18-16,-1-18 15,-17 17 1,-17-17-16,-1 0 16,36 0-1,-36 0-15,-35 0 16,0 0 0,-17 0-16,-18 0 15,0 0-15,-1 0 16,-16 0-1,16 0-15,-34 0 16,-18 0 0,-18 0-16,0 0 15,-17 0 1,0 0-16</inkml:trace>
  <inkml:trace contextRef="#ctx0" brushRef="#br0" timeOffset="70653.03">25594 13423 0,'18'0'328,"-1"0"-219,-17-17-78,18 17 251,0 0-220</inkml:trace>
  <inkml:trace contextRef="#ctx0" brushRef="#br0" timeOffset="72773.93">25612 13441 0,'-18'0'78,"36"0"157,-1 0-220,1 0 16,0 0-15,-1 0 0,1 0 15,0 0-15,-1 0-1,1 0-15,-1 0 16,1 0-1,0 0 1,-1 17 0,1-17-16,0 0 15,-1 0 1,19 0-16,16 0 16,19 0-1,17 0-15,-53 0 16,1 0-1,-19 0 1,19 0-16,-1 0 16,0 0-1,-17 0-15,17 0 16,-17 0 0,-1 0-16,1 0 15,17 0 1,1 0-16,-1 0 15,0 0 1,0 0-16,18 0 16,-17 0-1,-1 0-15,0 0 16,0 0 0,1 0-1,-1 0-15,0 0 16,1 0-1,-1 0-15,0 0 16,-17 0 0,17 0-16,36 0 15,-36 0 1,18 0-16,0 0 16,0 0-16,-18 0 15,0-17 1,0 17-16,1 0 15,-1 0-15,0 0 16,1 0 0,-1 0-16,0 0 15,-17 0 1,17 0-16,0 0 16,1 0-1,17 0-15,17 0 16,1 0-1,-18 0-15,-18 0 16,0 0 0,0 0-16,1 0 15,-1 0 1,0 0 0,1 0-16,-1 0 15,-18 0 1,1 0-16,17 0 15,1 0 1,-1 0-16,0 0 16,0 0-1,1 0-15,-1 0 16,0 0 0,1-18-16,-1 18 15,-18 0 1,1 0-1,0 0 1,-1 0 0,1 0-16,0 0 31,-1 0 0,1 0 16,0 0 16</inkml:trace>
  <inkml:trace contextRef="#ctx0" brushRef="#br0" timeOffset="74744.39">28804 13406 0,'0'17'78,"0"1"16,18-18-16,0 0 0,-1 0 16,-17-18-47,0 1 16,0-1-32,0 0 16,-17 1 0,-1 17-16,0 0 47,18 17-31,0 1-16,0 0 0,0-1 32,0 1-48,0-1 17,0 1-1,18-18 16,-18 18-47,18-18 62,-18-18 16,0 0-46,0 1 15,0-1-16,-18 18 109</inkml:trace>
  <inkml:trace contextRef="#ctx0" brushRef="#br0" timeOffset="79502.88">25629 13441 0,'0'-18'94,"-17"18"-63,-1 0 32,18 18 15,0-1-47,0 1 32,18-18 62,-1 0-78,-17-18-1,0 1-30,0-1 15,0 1 1,0-1 14,-17 18 1,17-18-31,-18 18 15,0 0 16,18 18 31,-17-18-62,17 18 15,0-1 0,0 1 16,0-1-16,0 1 32,0 0-1,17-18 1,1 0-16,-18-18-32,0 0 64,0 1-33</inkml:trace>
  <inkml:trace contextRef="#ctx0" brushRef="#br0" timeOffset="86932.76">25806 15046 0,'0'18'78,"0"-1"-46,0 1-17,0 0 1,0-1-16,0 1 16,17 17-1,-17 0 1,0 54-1,0-19-15,0 18 16,0-52-16,0-19 31,18 1-31</inkml:trace>
  <inkml:trace contextRef="#ctx0" brushRef="#br0" timeOffset="88861.68">25876 16087 0,'-17'0'125,"-1"0"-110,0 0 17,1 0-1,-1 0-16,0 17-15,1-17 16,-1 18 0,1 0-1,17-1 1,-18 1 46,18 0-30,0-1-1,0 1 0,0-1-15,0 1 15,18-18-15,-1 0-1,-17 18 1,18-18-16,-1 0 31,1 0-15,0 0-1,-1 0 48,1 0-47,0 0 15,-1 0 0,-17-18-15,0 0-1,18 1-15,-18-1 32,0 1-32,18 17 15,-18-18 1,0 0 31,0 1-16,0-1 0,0 0 0,0 1 1,0 34 77,0 1-93,17 0-1,1-1 17,-1-17-17,-17 18 1,18 0-16,-18-1 15,18-17-15,-18 18 16,0-1 0,17-17-1,-17 18 1,18-18 0</inkml:trace>
  <inkml:trace contextRef="#ctx0" brushRef="#br0" timeOffset="90886.28">29087 15081 0,'0'18'141,"0"0"-141,17-1 15,-17 1 1,18-1-16,-18 1 31,17 0-31,-17-1 16,0 1-1,0 0-15</inkml:trace>
  <inkml:trace contextRef="#ctx0" brushRef="#br0" timeOffset="93268.93">28875 15593 0,'0'-18'16,"0"36"124,0-1-124,0 1-16,0 0 16,0-1-1,0 1 1,0 0-1,0-1-15,0 1 16,0 0 0,0-1-16,0 1 15,0-1 17,0 1-1,0 0 0,0-1 32,0-34 249,0-1-281,18 0-15,-1 1 15,1 17 32,-18-18-48,17 18 17,1 0-1,0 0 0,-1 0-15,1 0 15,0 0 31,-1 0-15,1 0-15,-18 18-17,0-1 16,18-17 1,-18 18-17,0 0 17,0-1-1,-18 1 0,0-18-15,1 0-1,17 18-15,0-1 32,-18-17-32,0 18 15,1-18 1,-1 18-16,0-18 15,1 0-15,-1 0 32,1 17-17,-1-17 17,0 0 14</inkml:trace>
  <inkml:trace contextRef="#ctx0" brushRef="#br0" timeOffset="96264.76">25647 13564 0,'0'18'125,"0"0"-94,0-1-15,0 1 15,0 0-15,18-1 15,-18 1-16,0-1-15</inkml:trace>
  <inkml:trace contextRef="#ctx0" brushRef="#br0" timeOffset="97127.08">25682 14129 0,'0'17'63,"18"-17"-48,-18 18 1,0 0 15,0-1-31,0 19 31,0-1-31,0 0 16,0 36-16,0 17 16,0-35-16,0-18 15,0 0 1,0 1-16,0-19 15</inkml:trace>
  <inkml:trace contextRef="#ctx0" brushRef="#br0" timeOffset="97997.52">25753 14905 0,'0'18'32,"0"-1"-17,0 1 1,0-1-1,0 1 17,0 0-17,0-1 1,0 1-16,0 0 16,0-1-1,0 1 1,0 0-1</inkml:trace>
  <inkml:trace contextRef="#ctx0" brushRef="#br0" timeOffset="99635.2">28928 13529 0,'-18'18'63,"18"-1"-16,0 1-47,0 0 15,0-1 1,0 19 0,0-1-16,0 35 15,18 36 1,-18-18-1,0-35-15,17-17 16,-17-1-16</inkml:trace>
  <inkml:trace contextRef="#ctx0" brushRef="#br0" timeOffset="100429.62">29016 14517 0,'0'0'0,"0"17"31,0 1 16,0 0-16,18-1-15,-18 1-1,0 0 1,0 17-1,17 0 1,-17 0 0,18 54-16,-18-19 15,18 1-15</inkml:trace>
  <inkml:trace contextRef="#ctx0" brushRef="#br0" timeOffset="107770.21">22190 16104 0,'0'-17'31,"-18"17"47,0 0-47,1 0-15,-1 17 31,1 1-31,-1 0-1,18-1 1,-18-17-1,18 18 1,0 0 15,0-1-15,0 1 0,0-1-16,0 1 15,0 0 1,0-1-1,0 1-15,0 0 16,0-1 0,0 1-16,0 0 15,0-1 1,18 1 0,-18-1-1,0 1-15,18 0 16,-18-1-1,17 1 1,-17 0-16,0-1 16,0 1-1,0 0-15,0-1 16,18-17 0,-18 18-16,17 17 15,-17 18 1,18-18-16,-18 1 15,18-1 1,-18-17-16,17-1 16,-17 1-1,0-1-15,18 1 16,-18 0 0,0-1-1,18 1-15,-18 0 16,0-1-1,0 1-15,0 0 32,0-1-17,0 1 1,0-1 0,0 1-1,0 0 16,0-1 16,-18 1-31,18 0 0,-18-18-1,18 17 1,-17-17-16,17 18 15,0 0 1,-18-18 0,0 0-1,1 0 17,-1 0-17,1 0 1,-1 0 15</inkml:trace>
  <inkml:trace contextRef="#ctx0" brushRef="#br0" timeOffset="110680.93">21908 17427 0,'-18'0'140,"0"0"-93,1 0-31,-1 0 15,0 0-15,18 18-1,-17-18-15,-1 18 16,18-1 15,0 1 0,-18-1 1,18 1 14,0 0-30,0-1 0,0 1 15,0 0-15,0-1-1,0 1 32,0 0-16,0-1 1,18-17-1,-18 18-31,18-18 15,-1 0 1,1 0 15,0 0-15,-1 0 15,1 0 32,0 0-32,-1 0 0,-17-18-15,0 1 15,18 17-31,-18-18 31,0 0 32,0 1-32,0-1 0,0 0 1,0 1-17,0-1 16,0 0 32,0 1-16,0-1 0,0 36 109,0-1-125,0 1 0,17 0 1,-17-1-17,0 1 1,0 0 0,0-1 15,18-17 0,-18 18-31,0 0 31,18-18-31,-18 17 32,17-17-17,-17 18 1,18-18-1,0 17 1,-1-17 0,-17 18 15,18-18-15,0 0 15,-1 0 16,1 0-16,-1 0 47,-17-18-62,0 1-1,0-1-15,0 1 16</inkml:trace>
  <inkml:trace contextRef="#ctx0" brushRef="#br0" timeOffset="113379.77">22049 15469 0,'0'18'16,"0"0"46,0-1 1,0 1-32,17-18-31,-17 18 16,0-1-16,18-17 15,-18 18 1,0-1-16,18-17 15,-18 18 1,0 0-16,0-1 16,0 1-1,0 0 1,0-1-16,17-17 16,-17 18-1,0 0 1,0-1 15,0 1 16,18-18-47,-18-18 125,0 1-94,0-1-15,0 0 46,0 1-46,17 17 15,-17-18-15,0 0 31,18 18-32,0 0 32,-18-17-31,17 17-1,-17-18 32,18 18-31,0 0 15,-1 0 0,1 0 16,0 0-15,-18 18-17,17-18 16,-17 17-15,0 1 0,0 0 15,0-1 0,18-17 16,-18 18-31,0 0 15,0-1 0,0 1 0,0-1 1,0 1 15,0 0-32,0-1 16,0 1-15,0 0 0,0-1-1,-18-17 32,18 18-16,-17-18-15,-1 18 15,0-18 16,1 0-16,-1 0 1,18-18 30,-18 18-46,1 0 15,17-18 16,-18 18-31,18-17 15</inkml:trace>
  <inkml:trace contextRef="#ctx0" brushRef="#br0" timeOffset="117138.12">23072 16281 0,'0'0'0,"0"-18"63,0 0-32,-18 18 0,0-17 16,1 17-47,-1 0 16,0 0-1,1 0-15,-1 0 16,1 0 0,-1 0-1,0 17 1,1 1-1,-1 0 1,0-18 15,18 17-15,-17 1 0,17 0-1,-18-18 1,18 17-1,0 1 1,-18-18 0,18 18-16,0-1 47,-17-17-32,17 18-15,0-1 31,0 1-15,0 0 0,0-1-1,0 1 17,0 0-1,0-1-31,0 1 15,0 0 1,0-1 0,0 1-1,0-1-15,0 1 16,0 0 0,0-1-16,0 1 15,0 0 1,0-1-1,0 1-15,0 17 16,0-17 0,0 0-1,0-1 1,0 1-16,0-1 31,0 1-15,0 0-16,0-1 47,0 1-16,0 0-15</inkml:trace>
  <inkml:trace contextRef="#ctx0" brushRef="#br0" timeOffset="118067.37">22701 16792 0,'18'0'109,"0"-17"-93,-1 17-1,1 0-15,17-18 16,0 18 0,18-18-16,35 18 15,-52-17 1,-19 17 0,1 0-1,0-18 1,-1 18 46</inkml:trace>
  <inkml:trace contextRef="#ctx0" brushRef="#br0" timeOffset="119351.31">23266 16457 0,'17'0'47,"-34"18"156,17-1-188,0 1 1,-18-18 0,18 18-1,0-1 1,0 1-1,0 0 1,-18 17-16,18 0 16,0 0-1,0 36-15,0 17 16,-17-53 0,17 1-16,0-1 15,0-17 1,0-1-1,0 1 1,0 0 15,0-1-15,0 1 31,17-18-32,1 0 17,0 17 15</inkml:trace>
  <inkml:trace contextRef="#ctx0" brushRef="#br0" timeOffset="120494.83">23389 16704 0,'0'-18'32,"18"18"77,-18 18-93,0 0 15,0-1-15,0 1-1,17-18 16,-17 18 1,18-18-32,-18 17 15,18 1 1,-1-18 0,-17 18-1,18-18-15,-18 17 16,18-17-1,-18 18-15,17-18 16,1 0-16,-18 17 16,18-17-1,-18 18-15,17-18 16,1 18 0,-1-1-1</inkml:trace>
  <inkml:trace contextRef="#ctx0" brushRef="#br0" timeOffset="121859.03">23654 16739 0,'0'-17'32,"-18"17"139,18 17-124,-18-17-31,18 18-16,-17-18 16,-1 0-1,18 18 1,-17-1-1,-1 1-15,0 0 16,18-1 0,0 1-16,-17-18 15,-1 17 17,18 1-17,-18-18 1,18 18-16,-17-18 31,17 17-31,0 1 31,-18-18-15,18 18 0,-18-18-1,18 17 32,0 1-16,-17-18-15,17 18 0,0-1 15,-18-17-16</inkml:trace>
  <inkml:trace contextRef="#ctx0" brushRef="#br0" timeOffset="123325.93">23654 16298 0,'17'0'156,"-17"18"-125,18-18-31,-18 18 16,18-1 0,-1 1-1,1 0 1,-18-1-16,0 1 15,18-1 1,-18 1-16,17-18 16,-17 18-16,18-1 15,-18 1 1,18 0-16,-18-1 16,17-17-1,-17 18-15,0 0 16,18-1-1,-18 1-15,0-1 16,0 1 0,0 0-1,0-1 1,0 1-16,0 0 16,0 17-16,0 0 15,0 18 1,0-18-16,0 1 15,0-1 1,0-17 0,0-1-1,0 1-15,0 0 16,0-1 0,0 1 15,0-1 0,0 1 0,-18-18-15</inkml:trace>
  <inkml:trace contextRef="#ctx0" brushRef="#br0" timeOffset="137697.84">22066 10319 0,'18'0'78,"0"0"-31,-1 0 15,1 0-46,-1 0 15,1 0-15,0 0-1,-1 0 32,1 0-31,0 0-1,-1 0 17,19 0-17,-19 0 1,1 0 0,-1 0-16,1 0 15,0 0 1,-1 0-16,1 0 15,0 0 1,-1 0 0,1 0-1,0 0-15,-1 0 16,1 0 0,0 0-1,-1 0 1,1 0-1,-1 0 1,1 17 0,0-17 15,-1 0 0,1 0-15,0 0-1,-1 0 17,1 0-17,0 0 17,-1 0-1,1 0-31,-1 0 15,1 0 1,0 0-16,-1 0 31,1 0-31,0 0 16,-1 0 0,1 0-16,0 0 15,-1 0 1,1 0-1,-1 0-15,1 0 16,0 0 0,-1 0-16,1 0 31,0 0-31,-1 0 16,1 0-1,0 0-15,-1 0 31,1 0-31,0 0 16,-1 0 0,1 0-16,-1 0 15,1 0 1,0 0 0,-1 0-1,1 0-15,0 0 16,-1 0-1,1 0 1,0 0 0,-1 0-16,1 0 15,-1 0 1,1 0-16,0 0 31,-1 0-15,1 0-16,0 0 15,-1-17 1,1 17-16,0 0 31,-1 0-31,1 0 16,-1 0 0,1 0-16,0 0 15,-1 0 16,1 0-31,0 0 32,-1 0-32,1 0 15,-18-18 1,18 18-16,-1 0 16,1 0-1,0 0-15,-1 0 16,1 0-1,-1 0 1,1 0 0,0 0-16,-1-18 15,1 18 1,0 0 0,-1 0-1,1 0 1,0 0-16,-1 0 15,1 0 1,-1 0-16,1 0 31,0 0-31,-1 0 16,1 0 0,0 0-16,-1 0 31,1 0-16,0 0 1,-1 0-16,1 0 31,-1 0-15,1 0 31,0 0-32,-1 0 1,1 0 0,0 0-16,-1 0 15,1 0 1,0 0 0,-1 0-1,1 0-15,0 0 16,-1 0-1,1 0 1,-1 0 0,1-17-1,0 17-15,-1 0 16,1 0 0,0 0-1,-1 0 1,1 0-16,0 0 15,-1 0 1,1 0-16,-1 0 31,1 0-15,0 0 15,-1 0-15,1 0-1,0 0 17,-1 0-1,1-18 0,0 18-15,-1 0 15,1 0-15,-1 0 15,1 0-15,0 0-1,-1 0 1,1 0-1,0 0 1,-1-17 0,1 17-16,0 0 15,-1 0 1,1-18 0,0 18-16,-1 0 15,1 0 1,-1-18-1,19 18-15,17-17 16,35-1 0,-53-17-16,0 35 15,1-18 1,-19 18-16,1 0 16,0 0-1,-1-18 1,1 18-1,-18-17 1,17 17-16,1-18 31,-18 1 1,18 17-32,-1 0 31,-17-18-31,18 18 15,0-18 1,-1 18 15,1 0-15</inkml:trace>
  <inkml:trace contextRef="#ctx0" brushRef="#br0" timeOffset="140902.87">29528 11165 0,'17'0'172,"1"0"-157,-1 0 1,1 0-16,17 0 15,1 0 1,34 0-16,36-17 16,-18 17-1,-17 0-15,17-18 16,-53 18 0,1 0-16,-1-17 15,0 17 1,0 0-16,1 0 15,-19 0-15,19 0 16,34 0 0,1 0-16,17 0 15,-35-18 1,-18 18-16,0 0 16,1 0-1,-1 0-15,-17 0 16,17 0-1,0 0-15,0 0 16,1 0-16,52 0 16,-18 0-1,19 0-15,-19 0 16,18 0 0,-17 0-16,17 0 15,-70 0 1,17 0-16,0 0 15,1 0 1,16 0-16,19 0 16,-18 0-1,17 0-15,19 0 16,-19 0-16,1 0 16,-54 0-1,19 0-15,-1 0 16,-17 0-1,-1 0-15,1 0 16,0 0 0,-1 0-16,1 0 62,-1 0-15</inkml:trace>
  <inkml:trace contextRef="#ctx0" brushRef="#br0" timeOffset="144085.47">30304 10724 0,'17'0'63,"1"0"-32,0 18-15,-1-18 15,1 0-16,-1 0 1,1 0 31,0 0-31,-1 0 15,1 0-16,0 0 17,-1 0-32,1 0 31,0 0-31,-1 0 16,1 0-1,-1 0-15,1 0 16,0 0-1,-1 0 1,1 0-16,0 0 16,-1 0-16,1 0 15,0 0 1,-1 0 0,1 0-1,0 0-15,-1 0 16,1 0-1,-1 0 1,1 0 0,0 0-16,-1 0 15,1 0 1,0 0 0,-1 0 15,1 0-31,0 0 31,-1 0-15,1 0-1,-1 0 17,1 0-17,0 0 16,-1 0-15,1 0 15,0 0-15,-1 0 0,1 0-1,0 0 1,-1 0-1,1 0 1,-1 0 15,1 0 1,0 0-1,-18-18-31,17 18 15,1 0 1,0-17 0,-1 17 15,-17-18-15,18 18-1,0 0 16,-1-17-15,1 17 0,0 0 15,-1 0 16,1 0-32,-1 0 17,1 0-1,0 0-15,-1 0-1,1 0 63,0 0-31,-1 0 16,1 0-16</inkml:trace>
  <inkml:trace contextRef="#ctx0" brushRef="#br0" timeOffset="161986.07">3616 3298 0</inkml:trace>
  <inkml:trace contextRef="#ctx0" brushRef="#br0" timeOffset="165637.03">21114 12047 0</inkml:trace>
  <inkml:trace contextRef="#ctx0" brushRef="#br0" timeOffset="180945.83">21696 10636 0,'35'-17'141,"0"17"-126,1-18-15,70 0 16,52-17 0,-17 17-16,-35-17 15,-18 18 1,1 17-16,-36-18 15,-18 0 1,0 18-16,0-17 16,-17 17-1,0 0-15,-18-18 16,17 18 0,1 0 62</inkml:trace>
  <inkml:trace contextRef="#ctx0" brushRef="#br0" timeOffset="181925.63">22666 10513 0,'35'0'188,"1"0"-157,-1 0-31,71-18 16,52 1-16,-52-19 15,-18 19 1,-17 17-16,17-18 15,0 18 1,-17-18-16,17 18 16,-17-17-1,17 17-15,-18 0 16,-17 0 0,-17-18-16,-1 18 15,0 0-15,-17 0 16,-1 0-1,1 0-15,0 0 16,-1 0 0</inkml:trace>
  <inkml:trace contextRef="#ctx0" brushRef="#br0" timeOffset="182777.3">24007 10478 0,'17'0'140,"1"-18"-124,17 18-16,0-18 16,71 1-1,71-1-15,17-17 16,-18 17-1,-17-17-15,-53 17 16,17 0 0,-17-34-16,17-1 15,1 17 1,35-17-16,-54 1 16,19 34-1,-1-35-15,-52 35 16,-1 1-1,-34-1-15,-1 18 16,0-18 0</inkml:trace>
  <inkml:trace contextRef="#ctx0" brushRef="#br0" timeOffset="184033.59">25912 10654 0,'17'0'94,"1"-18"-94,-1 18 16,19-17-1,17 17 1,88-36-16,70 19 15,-34-19-15,-18 19 16,-18-1 0,-18-17-16,18-18 15,18 18 1,0-18-16,-18 0 16,-18 0-16,1 0 15,-36 18 1,0-18-16,-17 35 15,17 1 1,0-1-16,-17 0 16,17 1-1,18-19-15,-18 19 16,0-1 0,-17 0-16,17 1 15,0-1 1,-17-17-16,-36 17 15,0 1 1,0 17-16,-17-18 16</inkml:trace>
  <inkml:trace contextRef="#ctx0" brushRef="#br0" timeOffset="185071.31">28116 10971 0,'18'0'15,"0"0"1,-1 0 0,1 0 15,0-17-16,17 17-15,-17-18 16,17 0-16,35-17 16,19-18-1,-1 18-15,0-18 16,0 18 0,0 17-16,-17-17 15,17 17-15,0 1 16,-17-1-1,-36 0-15,0 18 16,1-17 0,-19 17-16,1-18 15,0 18 1,-1 0-16</inkml:trace>
  <inkml:trace contextRef="#ctx0" brushRef="#br0" timeOffset="186921.61">29669 10971 0,'17'0'140,"1"0"-140,0 0 16,-1 0 0,18 0-16,-17 0 15,70-35 1,53 17-16,-17 18 16,-54-17-1,19 17-15,-54 0 16,0-18-1,0 18-15,-17 0 16,0 0 0,-18-17-1,17 17-15</inkml:trace>
  <inkml:trace contextRef="#ctx0" brushRef="#br0" timeOffset="188348.62">30445 11042 0,'17'0'47,"1"0"0,0-18-32,-1 18 1,1-17 0,0-1-1,-1 18 1,18-18 15,1 1-31,52-1 0,-17 0 16,17 1 15,18-18-31,-54 17 0,-16 0 16,-19 18-1,1-17-15,0 17 16,-1 0-1,1-18-15,0 18 16,-1-18 0,1 1 15</inkml:trace>
  <inkml:trace contextRef="#ctx0" brushRef="#br1" timeOffset="-208574.78">25806 9825 0,'0'18'109,"0"-1"-93,0 1 0,0-1 15,0 1-31,0 0 15,0-1 1,0 1 0,0 0-16,0-1 31,0 19-31,0-1 16,0 18-1,0-18-15,0 0 16,0 1-1,0-19-15,0 1 16,0-1 0,0 1-1,0 0 110,0-1-47</inkml:trace>
  <inkml:trace contextRef="#ctx0" brushRef="#br1" timeOffset="-207739.12">25823 10530 0,'0'18'94,"0"0"-63,0-1-15,0 1-1,0 0 17,0-1-17,0 1 1,0 0-1,0-1 1,0 1 0,0-1 46,0 1-31</inkml:trace>
  <inkml:trace contextRef="#ctx0" brushRef="#br1" timeOffset="-205518.62">25894 11201 0,'0'0'0,"0"-18"16,-18 18 0,18-18-1,-17 18 1,17-17 15,-18 17-15,0 0 15,1 0 0,17 17-31,0 1 32,-18-18-32,18 18 15,-18-18 1,18 17-16,-17-17 15,17 18 1,-18-18 0,18 18-1,0-1 1,0 1 15,0 0-15,0-1 15,18-17-15,-18 18-1,17-18 1,1 0 15,0 0 16,-1 0-16,1 0 1,0 0-17,-1 0 16,1 0 16,-18-18-31,0 1 31,0-1-32,0 0 17,0 1-1,0 34 266,0 1-266,0 0-15,0-1-1,0 1 17,0-1 14,0 1-14,18-18-1,-1 18 0,1-18 0,-1 0 1,1 0-1,0 0 0,-1 0 32,1 0-48,0 0 1,-1 0 0,-17-18 15</inkml:trace>
  <inkml:trace contextRef="#ctx0" brushRef="#br1" timeOffset="-202587.87">27164 10918 0,'0'18'94,"0"0"-78,0-1 30,0 1-30,0 0 0,0-1-16,0 1 15,0 0 1,18-18-16,-18 17 16,0 19-1,0-1-15,17 53 16,-17-17-1,0-36-15,0 0 16,18-17-16,-18-1 16,0 1-1,0 0 17,0-36 186,0 0-202,0 1 15,0-1-15,0 0-1,0 1 1,17 17 0,-17-18 15,0 1 0,0-1 0,18 18-15,-18-18 15,18 18 47,-1 0-46,1 0-17,0 0 1,-1 0 0,1 0 15,0 18 0,-1 0-15,1-18-1,-18 17-15,17-17 16,1 18 0,-18-1-1,18 1-15,-18 0 31,0-1 1,0 1-1,0 0 31,0-1-30,-18-17-17,0 0 17,1 0-17,-1 0 1,1 0 15,-1 0 0,18-17 1,-18 17-32,1 0 31,17-18 0,-18 18-15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30T11:45:45.732"/>
    </inkml:context>
    <inkml:brush xml:id="br0">
      <inkml:brushProperty name="width" value="0.05" units="cm"/>
      <inkml:brushProperty name="height" value="0.05" units="cm"/>
    </inkml:brush>
  </inkml:definitions>
  <inkml:trace contextRef="#ctx0" brushRef="#br0">1 1 160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0-06-30T13:32:18.882"/>
    </inkml:context>
    <inkml:brush xml:id="br0">
      <inkml:brushProperty name="width" value="0.05292" units="cm"/>
      <inkml:brushProperty name="height" value="0.05292" units="cm"/>
      <inkml:brushProperty name="color" value="#FF0000"/>
    </inkml:brush>
  </inkml:definitions>
  <inkml:trace contextRef="#ctx0" brushRef="#br0">25612 8819 0,'-18'0'109,"0"0"-77,1 0-1,-1 0 16,0 0-32,1 0 1,-18 36 0,17-19-1,0 1 1,1 0-1,-19 105 17,19-52-32,-19 17 15,19-53-15,-1 36 32,18-36-32,0 0 31,0-17-16,0 0 1,0-1-16,0 1 16,0-1-1,0 1 1,0 0 15,18-18-15,-18 17-1,0 1 17,0 0-1</inkml:trace>
  <inkml:trace contextRef="#ctx0" brushRef="#br0" timeOffset="1190.73">25206 9208 0,'18'0'157,"-1"0"-142,1 0-15,0 0 31,-1 0 1,1 0-17,-1 0 17,1 0-1,0 0 31,-1 0-30</inkml:trace>
  <inkml:trace contextRef="#ctx0" brushRef="#br0" timeOffset="2829.87">25700 9066 0,'-18'0'94,"18"18"-78,-17-18-1,17 18-15,-18-18 16,0 17 0,1 1-16,-1 0 15,18-1 1,-18-17-16,-17 36 31,17-19-31,1 1 16,17-1-1,0 1 1,-18-18 0,18 18-1,-17-18 1,17 17 0,0 1-16,-18 0 15,18-1 1,0 1-16,-18 0 15,18-1 1,0 1 0,0-1-16,0 1 15,0 0 1,0-1 15,0 1 0,0 0 16,18-18-31</inkml:trace>
  <inkml:trace contextRef="#ctx0" brushRef="#br0" timeOffset="3931.04">25576 9384 0,'18'0'140,"0"0"-124,-1 0 0,-17 18-1,18-18 1,0 17-16,-1 1 15,1-1 17,17 1-17,-17-18 1,-1 0 0,-17 18-16,18-18 15,-18 17 1,0 1 15,18-18 0</inkml:trace>
  <inkml:trace contextRef="#ctx0" brushRef="#br0" timeOffset="5278.27">25823 9402 0,'0'-18'31,"-17"36"172,17-1-172,0 1 1,-18-18-17,18 17 1,-18 1 15,1-18-15,-1 18-1,1-18 1,17 17 0,-18-17-1,18 18 1,-18 0 0,1-18-1,17 17 16,-18-17-15,0 18 0,1-18 15,-1 0-15,18 18 15,0-1 0</inkml:trace>
  <inkml:trace contextRef="#ctx0" brushRef="#br0" timeOffset="6687.26">25823 9084 0,'18'0'141,"0"0"-110,-18 18-15,17-18-1,-17 17-15,18-17 16,-18 18-16,0 0 16,35-1-1,-17 1 1,-18 0-1,17-1 1,-17 1-16,18-1 16,-18 1-1,18 35-15,-1-18 16,1 1 0,-18-1-16,18 0 15,-18 0 1,0-17-1,0 0-15,0-1 16,0 1 15</inkml:trace>
  <inkml:trace contextRef="#ctx0" brushRef="#br0" timeOffset="10838.69">25770 9843 0,'-17'0'157,"-1"0"-1,18 17-109,18-17 156,-18-17-109,0-1 46,-18 18 1</inkml:trace>
  <inkml:trace contextRef="#ctx0" brushRef="#br0" timeOffset="81393.14">21572 10283 0,'18'0'250,"0"0"-219,-1 0 1,1 0-17,0 0 16,-1 0 16,1 0-31,-1 0 0,1 0 15,0 0-16,-1 0 1,1 0 0,0 0-1,17 18 1,-17-18 0,-1 0-1,1 0 1,17 0-1,-17 0 1,-1 0 0,1 0-16,0 0 31,-1 0-15,1 0-16,0 18 15,-1-18-15,1 0 31,0 0-31,-1 0 16,1 0 0,-1 0-1,1 0-15,0 0 32,-1 0-32,1 17 15,0-17 1,-1 0-1,1 0-15</inkml:trace>
  <inkml:trace contextRef="#ctx0" brushRef="#br0" timeOffset="137985.85">26846 12559 0,'0'-18'62,"0"1"-31,-17 17 1,-1-18-17,0 18 1,1 0 0,17-18-1,-18 18 16,1 0 1,-1 0-1,0 0 0,1 18 32,17 0-32,0-1-15,0 1-16,0 0 15,-18-1 1,18 36-1,-18-18 1,18 18 0,0-17-16,0-1 15,0 0-15,0 0 16,0 1 15,0-19-31,0 1 31,0 0-15,0-1 0,0 1 15,0 0-15,0-1-1,0 1 1,0-1-1,0 19 1,0-19 0,0 1-1,18 0 17,-18-1-17,0 1 16,0 0 32</inkml:trace>
  <inkml:trace contextRef="#ctx0" brushRef="#br0" timeOffset="138910.75">26547 12982 0,'17'-17'94,"1"17"-79,-1 0 1,19-18-1,-1 18-15,0 0 16,-17 0 0,0 0-1,-1 0 1,1 0 0,-1 0-1,1-18 16</inkml:trace>
  <inkml:trace contextRef="#ctx0" brushRef="#br0" timeOffset="140232.31">27093 12665 0,'0'17'156,"-17"1"-140,17 0 31,-18-1-32,18 1-15,0 0 16,0-1 0,-18 1-16,18-1 15,0 1 1,0 0-16,0 17 16,-17 36-1,17-36 1,0-17-1,0-1 1,0 1 0,0-1 15,0 1-15,0 0-16,0-1 15,0 1 16,0 0-15,0-1-16,0 1 16,0 0-1,0-1-15,17 1 32,-17-1-17,0 1-15,18 0 31,-18-1-15,18-17 62</inkml:trace>
  <inkml:trace contextRef="#ctx0" brushRef="#br0" timeOffset="141691.46">27199 12982 0,'18'18'203,"-1"-18"-203,-17 18 32,18-18-32,0 0 15,17 17 1,-17 1 0,-1-18-1,1 17-15,0-17 16,-1 18-1,1 0 1,-18-1 0,17-17 15,1 0 0,0 18 32</inkml:trace>
  <inkml:trace contextRef="#ctx0" brushRef="#br0" timeOffset="142928.7">27464 13018 0,'-18'0'157,"0"0"-142,1 17 32,-1 1-31,1-1-16,-1 1 15,0 0 1,1-1 0,-1 1-1,0 0 17,1-1-17,17 1 1,-18-18-1,18 18 1,-18-18 0,18 17-1,-17-17 32,17 18 31</inkml:trace>
  <inkml:trace contextRef="#ctx0" brushRef="#br0" timeOffset="144479.95">27481 12647 0,'0'18'109,"18"-18"-78,-18 17-15,0 1 0,18-18-1,-18 18-15,17-18 16,1 17 0,0 1-16,-1-18 15,19 18 1,-1-1-16,-35 54 15,17-1 1,1-34-16,0 34 31,-18-52-15,17-1 0,-17 1-16,0 0 15,0-1 1,0 1 15,0 0 0,0-1-15,0 1 0,0 0-1,0-1 1</inkml:trace>
  <inkml:trace contextRef="#ctx0" brushRef="#br0" timeOffset="-143860.17">1623 4251 0,'17'0'188,"1"0"-173,17 0-15,18 0 16,35 0-16,71 0 31,-71 18-31,-17-18 16,17 17-1,-17-17-15,35 0 16,17 18 0,-17-18-16,53 0 15,-89 0 1,18 18 0,-17-18-16,17 0 15,88 0 1,-52 35-1,52-35 17,-87 0-32,-19 0 15,18 0 1,-17 0-16,17 0 16,124 17-1,-71-17 1,88 18-1,-123-18-15,17 18 16,-17-18 0,159 53-1,-89-18 1,1-35 0,-19 18-16,-17-18 15,1 17-15,16 18 16,125-17-1,-89 17 1,-53-35 0,0 18-1,0-18-15,18 18 16,17-18 0,212 35-1,-211-35-15,175 0 31,-175 0-15,228 0 0,-228 0-1,-1 0 1,-35 0-16,0 0 16,0 0-16,1 0 15,157-18 1,-157 18-1,-19-17-15,-17 17 16,-36 0 0,19 0-16,69 0 31,-105 0-31,88 0 31,-70-18-31,70 18 31,-70-18-31,-36 18 16,0 0 0,0-17-1,1 17-15,-1 0 16,18 0 0,-35 0 249,87-36-234,-69 19-15,17-1 0,52-17-1,-52 35 1,36 0-16,-1-18 16,-18 18-16,1 0 15,-1 0 1,-34 0-16,-19 0 31,1 0-15,0 0-16</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0-06-30T13:37:12.505"/>
    </inkml:context>
    <inkml:brush xml:id="br0">
      <inkml:brushProperty name="width" value="0.05292" units="cm"/>
      <inkml:brushProperty name="height" value="0.05292" units="cm"/>
      <inkml:brushProperty name="color" value="#FF0000"/>
    </inkml:brush>
  </inkml:definitions>
  <inkml:trace contextRef="#ctx0" brushRef="#br0">10971 3757 0,'0'18'172,"0"-1"-156,0 1-16,0 0 15,0-1-15,0 1 16,0 17-1,36 53-15,-19 1 16,1-19 0,17 107-1,-35-107 1,18 18 0,-18-35-16,0 18 15,18-36 1,-18-17-1,0-1 1,17-17 0,-17 18-16,0 0 47,18-18-32,-18 17 1,17 1-1,-17 0 1,18-18 0,0 17 15,-18 1-15,17-1 15,1 1-16,0-18 1,-1 18-16,1-18 16,17 17-16,0-17 31,71 18-31,71-18 0,-1 18 16,-35-18-1,177 0 1,-124 0-16,-18 0 15,0 0 1,177 0 0,-212 0-1,-17 0 1,-18 0-16,35 0 16,0 0-1,0 0-15,0 0 16,0 0-1,-17 0-15,-18 0 16,-1 0-16,125 0 16,-89 0-1,0 0 1,0 0 0,88 0-1,-123 0-15,0 0 16,0 0-1,0 0-15,35 0 16,18 0 0,-54 0-16,1 0 15,53 17 1,-106 36 0,-36-35-1,36-18 298,89 0-298,-1 17-15,35-17 16,283 0 0,-212 0-16,246 36 31,-246-36-31,-35 0 15,17 17 1,89-17 0,-177 18-1,-35-18 1,17 0-16,124 35 16,-123-17-1,-18-18 1,-1 0-16,54 18 15,-71-18 1,-52 0 0,-1 0-1,0 0-15,-17 0 16,17 0-16,71 0 31,-53 0-31,0 0 16,0 0-1,-18 0 1,0 0-16,0 0 0,1 0 31,-19 0-31,1 0 16,0 0 0,-1-18 46,-17 0-31,0-17-15,0-53 0,0-36-16,0-52 15,-35 17 1,17 53-16,1 18 15,-1 0-15,18 17 16,-18 19 0,18-107-1,0 53 1,0-88 0,0 106-1,0 35 1,-17 18-16,17-1 15,0 1 1,-18 17-16,1 1 31,17-1-31,-18 0 32,0 18-17,18-17 1,-17 17-1,-1 0 1,0 0 0,-17 0-1,-35 0 1,-1 0 0,-229 35-1,124-17 1,-1-18-1,-17 35 1,18-17-16,-36 17 16,1-35-16,-230 53 31,229-53-31,0 17 16,-35 19-1,0-19-15,-17 19 16,17-1-16,0-17 15,35 17 1,-35-35-16,0 17 16,18 19-1,17-36 1,1 0-16,-1 0 16,0 0-1,1 0-15,-1 0 16,36 0-16,35 0 15,-1 0 1,-16-18-16,-89 0 31,141 18-31,-18-17 16,19 17-16,-89-18 31,105-17-31,19 35 16,-18 0-1,17-18-15,-17 18 16,17 0 0,-17 0-1,18-17-15,-19 17 16,19 0-16,-18 0 16,17 0-1,18 0-15,-17 0 16,34 0-16,1 0 15,17 0 251,-34 0-250,-37 0-16,-17 0 15,-35 0 1,-70 0 0,105 0-1,18 17 1,17-17-16,-17 0 0,35 0 15,-35 18 1,35-18 0,18 0-1,-1 0-15,1 0 0,17 0 16,1 0 0,-18 0-1,-1 0 1,1 0-16,17 0 15,1 0 1,-1 0-16,0 0 16,1 0 15,-1 0-31,0 0 47,18 18-32</inkml:trace>
  <inkml:trace contextRef="#ctx0" brushRef="#br0" timeOffset="4084.29">22701 4286 0,'0'0'0,"0"-53"15,53 0 48,-53 1-47,53-1-1,-53-53 1,0 53-1,0 0 1,0 0-16,0-53 0,0 53 16,0 0-16,0 0 15,-35 1-15,35-1 16,-53 53 0,53-53-1,-53 53 1,0 0 15,53 53-15,-53-53-1,53 53 1,-53-1 0,53 1-1,-53 0 1,53 0-16,0 0 15,0 0-15,0 53 16,0 0 0,0-53-16,0 0 0,0 158 31,0-52-15,0 0-1,0-1 1,0-105-16,0 53 15,0-53 1,0-106 31</inkml:trace>
  <inkml:trace contextRef="#ctx0" brushRef="#br0" timeOffset="4449.96">22137 4657 0,'0'-53'15,"35"53"32,18 0-31,0-53 0,53 53-1,-53 0-15,0 0 16,0 0 62</inkml:trace>
  <inkml:trace contextRef="#ctx0" brushRef="#br0" timeOffset="5080.62">22913 4498 0,'0'53'79,"0"0"-48,0 0-16,0 0 1,0 0-16,-35-1 16,35 1-1,0 0 1,35 0 0,18-53 15,0-53-16,0 0 1,0-52 0,0 105-1,-53-106 1,0 53-16,0 0 16,0 0-1,52 53 1,-52-53-1</inkml:trace>
  <inkml:trace contextRef="#ctx0" brushRef="#br0" timeOffset="5808.19">23389 4551 0,'0'53'109,"0"0"-93,0 0 0,0 0-16,0-1 15,53 1 1,-53 0-1,0-106 79,0 0-78,0 1-1,0-1 1,53 53-16,-53-53 16,0 0-1,0 0 1,53 53 0,0 0 15,0 0 0,-53 53-15,0 0-1,0 0 1,0 0 0,0-1-1,0 1-15,0 0 16,53-53 46</inkml:trace>
  <inkml:trace contextRef="#ctx0" brushRef="#br0" timeOffset="6678.71">24342 4445 0,'0'0'0,"0"-53"0,-36 53 125,-17 0-109,53 53 0,-52-53-1,52 53 1,-53 0 15,53 0-15,0 0 15,0 0-31,35-53 31,-35 53-15,53-53 0,0-53-1,0 53-15,0-53 16,0 0 15,-53 0-15,0 0 15,0 106 47,0 0-47,0 0-15,0 0 0,0 0 15,52-53-16,1 0 1,-53-53 0</inkml:trace>
  <inkml:trace contextRef="#ctx0" brushRef="#br0" timeOffset="7014.99">24553 4233 0</inkml:trace>
  <inkml:trace contextRef="#ctx0" brushRef="#br0" timeOffset="7806.64">24765 4498 0,'0'53'141,"-35"-53"-125,35 53 15,-53-53-31,53 53 16,0 0 30,0 0 1,35-53-15,18 0-17,0 0 1,0-53-1,0 0 1,-53 0 0,0 0-1,0 0-15,-36 53 16,36-53 0,-52 53-1,-1 0 1,0 0-16,0 53 31,53 0-15,0 0-1</inkml:trace>
  <inkml:trace contextRef="#ctx0" brushRef="#br0" timeOffset="8560.77">25083 4498 0,'0'53'78,"52"0"-62,-52 0 15,0 0 0,0-106 48,0 0-64,0 0 16,0 0-31,53 0 32,0 53-17,-53-53 1,53 53 15,-53 53 0,53-53-15,-53 53 0,0 0-1,0 0 1,0 0 0,0 0-1,0 0 1</inkml:trace>
  <inkml:trace contextRef="#ctx0" brushRef="#br0" timeOffset="9176.09">25188 4022 0,'-35'0'171,"35"53"-155,-53-53-16,0 53 31,53-1-31,-53-52 16,53 53 0,36-106 77</inkml:trace>
  <inkml:trace contextRef="#ctx0" brushRef="#br0" timeOffset="11002.38">26247 4233 0,'53'0'15,"-53"53"1,53-53-1,-1 53 1,-52-106 172,-35 53-173,-18 0 1,53-53-1,-53 53-15,0 0 32,0 0-17,53 53 1,-52 0 0,52 0-1,0 0 16,0 0-15,35-53 0,18 53-1,0-53 1,0 0 0,0-53-1,-1 0 16,-52 0-15,53 0 0,-53 0-16,0 0 0,0 0 15,0 1-15,0-54 16,53 53 0,-53 0-16,0 0 15,0 0 1,-35 53 46,35 53-46,0 0 0,0 0-1,-53 0-15,53 0 16,0 0-16,0-1 15,0 1-15,0 0 32,0 0-32,0 0 15,0 0 17,35-53-1,-35-53 0,53 53-15,-53-53-1,53 53 1,-53-53 0,53 53 124,0 0-109,-53-53 1,0 0 15,-35 53 15,-18 0-31,53 53-15,-53-53-16,53 53 16,0 0-1,0 0 1,35 0 15,18-53-15,0 0-1,0 0 1,0 0-16,0 0 16,0 0 15,-53-53-16</inkml:trace>
  <inkml:trace contextRef="#ctx0" brushRef="#br0" timeOffset="12629">27570 4339 0,'0'0'0,"0"-53"125,0 0-78,0 106 31,0 0-62,0 0-1,0 0-15,0 53 16,0 0 0,0-53-16,0 158 15,0-105 1,0 0-1,-36-53 1,36-106 62,0 0-62,0 0-16,0-53 15,0 53 1,0 0-16,0 1 16,0-1-1,0 0-15,0 0 16,36 0 0,-36 0-1,53 0 1,-1 53 15,1 0 0,0 0 1,0 0 14,-53 53-46,0 0 16,0 0 0,-35 0-1,35 0-15,-53 0 16,0-53 0,53 52-1,-53-52 1,0 0 15,53-52-15,-53-1-16,53 0 15,36 53 63</inkml:trace>
  <inkml:trace contextRef="#ctx0" brushRef="#br0" timeOffset="13596.37">27993 4498 0,'0'-53'94,"0"0"-48,0 106 79,0 0-109,0 0 0,53 0-1,-53 0 1,0 0 0,0-106 109,0 0-110,0 0 1,0 0-1,0 0 1,53 53 15,-53-53-15,53 53-16,0 0 31,0 0 47,-53 53-46</inkml:trace>
  <inkml:trace contextRef="#ctx0" brushRef="#br0" timeOffset="14117.91">28258 4445 0,'0'53'93,"0"0"-77,0 0 0,0 0 15,52-53 0,-52 53-15,53-53-16,0 0 15,0 0 1,-53-53 0,53 53-16,-53-53 15,0 0 1,0 0 15,-35 0-15,-18 53-1,0 0 17,0 53-1,53 0 16</inkml:trace>
  <inkml:trace contextRef="#ctx0" brushRef="#br0" timeOffset="15186.17">28628 4286 0,'0'0'0,"0"-53"31,0 0 0,0 106 63,0 0-79,0 0 1,0 0 0,53-53-1,-53 53-15,0 0 0,0 0 16,0 0 15,0 0-15,0 0 15,0-106 32,0 0-32,0 0-16,0 0 1,0 0 15,53 53 16,0 0-16,0 0 1,0 53-1,-53 0 0,0 0-15,0 0-1,-36-53 1,36 53 0,-53-53-1,0 0 1,0 0 15,53-53 47</inkml:trace>
  <inkml:trace contextRef="#ctx0" brushRef="#br0" timeOffset="16252.39">29263 4498 0,'0'0'16,"53"0"62,-88-53 0,-18 53-47,0 0 0,0 0 1,53 53-17,-53-53 1,53 53 15,0 0 0,35 0 1,18-53-1,0 0-15,0 0-1,-53-53 16,53 53-15,-53-53 0,0 0-1,0 0 17,0 106 61,0 0-61,0 0-1,53-53-16,-53 53 1,53-53 0,0 0-1,0 0 1,-53-53 0,0 0-1</inkml:trace>
  <inkml:trace contextRef="#ctx0" brushRef="#br0" timeOffset="17307.43">29439 4022 0,'0'0'0,"0"53"63,0 0-47,36-53-1,-36 52-15,0 1 16,0 0-16,0 0 15,0 53 1,0-53 0,0 0-1,53 0 1,-53 0 0,0 0-1,0-106 48,0 0-32,0 0-15,0 0-1,0 0 32,52 53-31,1 0 15,0 0 0,0 0 16,0 0-16,-53 53-15,0 0 0,0 0 15,0 0-16,0 0-15,-35-53 47,-18 0-15,0 0-17,0 0 1,0 0-1</inkml:trace>
  <inkml:trace contextRef="#ctx0" brushRef="#br0" timeOffset="18323.83">29916 4445 0,'0'0'0,"0"53"297,35 0-281,-35 0-1,0 0 1,0 0 0,0-106 93</inkml:trace>
  <inkml:trace contextRef="#ctx0" brushRef="#br0" timeOffset="18651.96">29951 4233 0,'0'-53'16</inkml:trace>
  <inkml:trace contextRef="#ctx0" brushRef="#br0" timeOffset="19357.15">30110 4180 0,'0'-52'0,"-36"52"16,36 52 109,0 1-109,0 0-1,0 0 1,0 0-1,0 0 1,0 0 0,0 0-1,0 0-15,0 0 32,36-53-32,-36 53 15</inkml:trace>
  <inkml:trace contextRef="#ctx0" brushRef="#br0" timeOffset="19835.89">30321 4339 0,'0'0'0,"0"53"63,0 0-32,53 0 0,-53 0-15,0 0 0,0 0-1,0 0 1</inkml:trace>
  <inkml:trace contextRef="#ctx0" brushRef="#br0" timeOffset="20128.25">30339 4180 0,'0'-52'15</inkml:trace>
  <inkml:trace contextRef="#ctx0" brushRef="#br0" timeOffset="21292.68">30745 4392 0,'0'53'16,"0"-106"125,-36 53-110,-17 0 0,0 0 0,53 53 16,-52-53-31,52 53-16,0 0 31,0 0-15,35-53-1,-35 53 1,53-53 0,0 0-1,0 0 1,0 0 0,-53-53-1,0 0-15,52 0 31,-52 0-31,0-106 16,-35 106 0,35 0-1,0 1-15,-53-1 32,53 106 77,0-1-93,0 1-1,0 0 1,0 53-1,36-106 1,-36 53-16,0 0 16,0 0-1,52 0 17</inkml:trace>
  <inkml:trace contextRef="#ctx0" brushRef="#br0" timeOffset="22343.93">31274 4445 0,'0'-53'125,"-36"53"-78,-16 0-16,-1 0-15,0 0-1,0 0 17,53 53-17,0 0 16,0 0-15,0 0 15,35-53-15,18 0 0,0 53-1,0-53-15,0 0 31,-53-53-31,53 53 16,-53-53-16,0 0 31,0 0-15,0 0 0,0 106 62,0 0-47,0 0-15,53-53 15,-53 53-31,53-53 15,-1 0 1,1 0 0,0 0-1,0 0 1,-53-53 0,53 53-1</inkml:trace>
  <inkml:trace contextRef="#ctx0" brushRef="#br0" timeOffset="23188.61">31750 4498 0,'0'0'16,"53"0"0,-53-53 15,0 0 0,-35 53 16,35-53-31,-53 53-16,0 0 31,53 53-15,-53-53-16,0 53 31,53 0-16,0 0 17,35 0-17,18-53 1,0 0 0,0 0-1,0 0 1,-53-53-1,53 53-15,-53-53 16,0 0 0,0 0-16,0-106 15,0 106 1,0-52 0,-35 105-16,35-53 15,0 0 1,0 106 78,0 0-79,0 0 1,0-1-16,0 1 15,0 53 1,0-53 0,35 0-1,-35 0-15,0 0 16,0 0 0,53-53-16,-53 53 0,0 0 31</inkml:trace>
  <inkml:trace contextRef="#ctx0" brushRef="#br0" timeOffset="26719.68">33849 6033 0,'0'-53'265</inkml:trace>
  <inkml:trace contextRef="#ctx0" brushRef="#br0" timeOffset="30604.22">21202 4868 0,'0'0'0,"0"-53"47,53 53-16,-53-52-15,53-1 15,-53 0 0,53 53-15,-53-53-1,0 0-15,53 0 32,-53 0-32,0 0 15,53 53 1,-53-53-1,0 0 17,0 0 15,0 0 15,-36 53-15,36 53-31,-53 0-1</inkml:trace>
  <inkml:trace contextRef="#ctx0" brushRef="#br0" timeOffset="34074.42">21802 4233 0,'-53'0'16,"53"-53"-16,0 1 47,0-1 15,0 0-30,0 0 15,0 0-16,0 0 16,0 106 62,0 0-93,0 0-16,0 0 15,0 105-15,0 54 16,0-53-16,0 52 16,0-52-16,0-53 15,0 0-15,0 53 16,35-1 15,-35-105-31,0 106 31,0-106-15,0 0 0,0 0-1,53-53 48,0 0-32,0 0-15,0 0-16,0-53 15,0 53-15,-1 0 16,54 0-16,53-53 15,0 53 1,-53 0-16,52 0 0,266 0 31,-54 0-15,-264 0-16,159 0 16,-107 0-16,-52 0 15,53 0-15,264 0 16,-211 0-1,158 0-15,-158 0 16,370 0 0,-370 0-16,-1 0 15,-52 0-15,264 0 16,1 0 0,-265 0-1,105 0-15,-105 0 16,-53 0-16,52 0 15,213 0 1,-265 0-16,211 53 31,-264-53-31,53 0 0,106 0 16,-159 0 0,52 0-16,-52 0 15,53 0-15,0-53 16,-53 53-1,159 0 1,-160 0-16,1 0 0,106-53 31,-106 53-31,0 0 0,0 0 16,0 0 0,0 0-1,-53-53-15,106 53 16,-1 0-1,1 0 1,0 0 0,-53 0-1,212 0 1,-213 0-16,54 0 16,-53 0-16,0 0 78,0 0-63,0 0 17,0-53-17,0 53 1,-53-53 15,53 53-15,0-53-16,0 53 31,-1-53 0,1 53 16,-53-52-16,0-1 1,0 0-17,0-106 1,0 106-1,0-159 1,0 1-16,0 52 16,0-53-1,-35 1-15,35-1 0,0 159 16,-53-106-16,53 53 16,0-52-1,0-1 1,0 106-16,0 0 15,0 0-15,-53 53 32,53-53-17,-53 53 173,0 0-173,1 0 1,-54 0-16,-159 0 31,53 53-31,54-53 0,-54 0 16,53 0-16,-52 0 16,-795-159-1,583 107 1,-477-54-1,477 106-15,-371-106 16,583 53-16,-160 53 16,-211-106-1,370 106 1,-158-53-16,158 53 16,-158 0-16,158-53 0,1 53 15,-1 0-15,53-53 16,-53 53-16,160 0 15,-107 0-15,-53 0 16,159 0 0,-158 0-1,158 0-15,0 0 16,-53 0-16,53 0 16,0 0-16,0 0 0,0 0 15,-53 0 1,53 0-1,-105 0 1,105 0 0,0 53-1,53 0 17,-53-53-17,53 53 1,0 0-1,0 0 1,0 0 15,0 0-15,0 0 0,0 0-1,0 0 16,0-1-15,0 1 15,0 0-15,0 0 0,-53 0-16,53 0 15,-53 0 1,53 0-16,0 0 0,0 0 15,-53 53 17,53-54-17,0 1 1,0 0 0,-53 0-1,53 0 1,0-106 62</inkml:trace>
  <inkml:trace contextRef="#ctx0" brushRef="#br0" timeOffset="35604.16">20726 6668 0,'-36'0'31,"-16"0"0,87 0 32,176 0-48,1 0-15,0-53 16,158-53 0,-317 53-16,53 53 15,-53-53 1,0 53-1,0 0 64</inkml:trace>
  <inkml:trace contextRef="#ctx0" brushRef="#br0" timeOffset="36325.01">21273 6879 0,'0'0'0,"0"53"140,-53-53-93,53 53-16,-53-53-15,0 0 31,88 0 0,18 0-32,0-53 1,0 53-16,53-53 16,52 0-1,1 0 1,-53 53 0,0 0-1,-106-53-15</inkml:trace>
  <inkml:trace contextRef="#ctx0" brushRef="#br0" timeOffset="36954.3">21696 6297 0,'0'0'16,"0"-53"-16,35 0 47,-35 0 0,0 106 46,0 0-77,0 53 0,-88 159-1,35-107-15,-106 266 16,106-266 0,-52 54-16,-1 106 15,106-265 1,0-1-1,-53-52-15,88 0 79</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0-06-29T17:33:43.856"/>
    </inkml:context>
    <inkml:brush xml:id="br0">
      <inkml:brushProperty name="width" value="0.05292" units="cm"/>
      <inkml:brushProperty name="height" value="0.05292" units="cm"/>
      <inkml:brushProperty name="color" value="#0070C0"/>
    </inkml:brush>
  </inkml:definitions>
  <inkml:trace contextRef="#ctx0" brushRef="#br0">15981 3316 0,'0'18'31,"0"-1"16,-18-17-31,18 18-1,0 0 1,-17 17-1,17-17 1,-18 35 0,18-1-16,-18 54 15,1 0 1,-19 18-16,19-36 16,-1-53-1,18 0-15,-18 1 16,18-19 15,0 1-31,0 0 16,0-1-1,0 1 17,18-18-17,0 17 1,-1-17 15,1 0-15,0 0-1,-1 18-15,1-18 16,17 0 0,0 18-1,18-18-15,18 0 16,17 0-1,-17 0-15,17 0 16,-18 0 0,19 0-16,-54 0 15,0 0 1,-17 0-16,-1 0 16,1 0-1,0 17-15,-1-17 31,1 0 16,-18-17 31</inkml:trace>
  <inkml:trace contextRef="#ctx0" brushRef="#br0" timeOffset="1251.81">15946 3334 0,'0'-18'16,"17"18"62,1 0-62,-1 0 15,1 0-15,0 0-1,-1 0-15,1 0 16,0 0-1,-1 0 1,1 0 0,0 0-16,-1 0 15,1 0 1,0 0 0,-1 0-1,1 18 1,-1-18-16,1 0 15,0 0 1,-1 0-16,1 0 31,0 0 1,-1 0-1</inkml:trace>
  <inkml:trace contextRef="#ctx0" brushRef="#br0" timeOffset="2151.53">15857 3757 0,'18'0'78,"0"0"-47,-1 0-15,19 0-16,-1 0 15,0 0 1,36 0-1,17 0-15,-18 0 16,-17 0-16,18 0 16,-36 0-1,0 0-15,-17 0 16,17 0 0,1 0-1,-1 0-15,0 0 16,-17 0-1,-1 0-15,1 0 16,0 0 0</inkml:trace>
  <inkml:trace contextRef="#ctx0" brushRef="#br0" timeOffset="4143.57">17498 3281 0,'-18'0'78,"1"0"-62,-1 0-1,0 0 1,1 0-1,-19 0 1,1 0-16,0 0 16,-1 0-1,-34 0-15,35 0 16,-1 0 0,1 0-16,17 0 15,1 0 1,-1 0 15,1 0 0,17 17-15,0 1 31,0 0-16,0-1-15,0 1 31,0 0-32,0-1 1,0 19-16,0-1 15,0 0 1,0 71-16,0 35 16,0-70 15,0 17-31,0-35 16,0-18-16,0 0 15,0 1-15,0-19 16,0 1-1,0 0 1,0-1 0,0 1-16,0-1 15,0 1 1,0 0 15,0-1-15,0 1-1,0 0 1,0-1 0,0 1-1,0 0 32,17-18-31,-17 17-16,0 1 31,18-18-31,-18 17 16,17-17-1,1 18-15,0 0 16,-1-18 0,19 0-16,-1 35 15,35-17-15,-34-18 16,-1 17-16,-17-17 15,-1 18 1,1-18-16,0 0 16,-1 0 31,1 0 15</inkml:trace>
  <inkml:trace contextRef="#ctx0" brushRef="#br0" timeOffset="5316.64">17604 3704 0,'17'0'157,"1"18"-142,-18-1 1,18 1-16,-1 0 16,-17-1-1,18 1-15,-1-18 16,1 18-1,17 17-15,18 35 16,18-17 0,-36-17-16,0-1 15,-17-17 1,0-1 0,-1 1-16,1 0 15,-18-1 1,18 1-16,-1-1 31,-17 1-31,18-18 16,-18 18-1,18-1 1,-18 1 15,17-18-15</inkml:trace>
  <inkml:trace contextRef="#ctx0" brushRef="#br0" timeOffset="6698.78">18098 3651 0,'-18'0'15,"0"0"64,1 18-33,17 0-30,-18-1 15,0 1-15,18-1 0,-17-17-16,-1 18 15,0 0 1,1-1-16,-1 19 15,-17 17 1,-18 17-16,18-17 16,17-18-16,-17 1 15,35-19 1,-18 1-16,0 0 16,1-1-16,-1-17 15,1 18 1,17-1-16,0 1 31,-18-18 0,18 18-31,-18-1 47,18 1-16</inkml:trace>
  <inkml:trace contextRef="#ctx0" brushRef="#br0" timeOffset="8840.81">18221 3404 0,'0'18'125,"0"0"-109,0-1-1,0 1 16,0 0-15,0-1 31,0 1-31,0-1 15,0 1-16,0 0 1,0-1 15,0 1 16,0 0 0,0-36 62,0 0-77,0 1-1,0-1-15,0 0-1,0 1 16,0-1-15,0 1 47,0-1-1,18 0-15,-1 18-31,1-17 15,0 17-16,-1 0 17,1-18-17,-1 18 32,1 0 0</inkml:trace>
  <inkml:trace contextRef="#ctx0" brushRef="#br0" timeOffset="11315.22">18239 3210 0,'17'0'110,"1"0"-79,0 0-31,-1 0 15,1 0 1,17 0 0,0 0-1,1 0-15,-1 0 16,0 0 0,0 0-16,-17 0 15,0 0 1,-1 0-1,1 0 17,0 0 46,-18 18 62,0 0-108,0-1-17,-18 1 17,18-1-17,0 1 16,0 0-31,0-1 16,0 1 0,0 0-16,0-1 31,0 1-31,0 0 16,0-1-1,0 1 1,0 0-16,0-1 31,0 1-31,0-1 16,0 1-1,0 0-15,0-1 16,0 1 0,0 0-1,0-1 1,0 1-16,0 0 15,0-1 1,0 18 0,0 1-1,0 17 1,0-18-16,0 0 16,0 0-1,0 1-15,0-19 16,0 1-1,0 0-15,0-1 16,0 1 15,0 0-15,0-1 15,18 1 0,-18 0-15,0-1 15,0 1 1,0-1 14,0 1-14,-18-18 140,0 0-126,1 0-14,-1 0-17,0 0 17,1 0-1,-1 0-16,1 0 32,-1 0-31,0 0 15,1 0 0,-1 0 32</inkml:trace>
  <inkml:trace contextRef="#ctx0" brushRef="#br0" timeOffset="16367.64">15787 5680 0,'-18'0'31,"1"0"32,17-18-63,-18 18 15,0-18 1,1 18 0,-19-17-16,1-1 15,-53 1 1,-18-1-16,18-17 16,0 17-1,17 18-15,-17-18 16,17 18-1,-17 0-15,18 0 16,-19 0 0,19 0-16,17 0 15,18 0 1,-1 0-16,1 0 16,0 0-1,0 0-15,-1 18 16,19-18-16,-1 18 15,0-18 1,1 17-16,17 1 16,-18 0-1,0-18 1,1 17-16,-1 1 16,1-1-1,17 1-15,0 0 16,0-1-1,-18-17-15,18 18 16,0 0 0,0-1-1,0 1 1,0 0 0,0-1-1,0 1 1,0-1-1,0 1-15,0 0 16,0-1 0,0 1-1,0 0 17,0-1-1,-18-17 63,1 0-48</inkml:trace>
  <inkml:trace contextRef="#ctx0" brushRef="#br0" timeOffset="17287.93">14182 5909 0,'0'18'125,"17"-18"-125,-17 17 16,18-17 0,-18 18-1,18-18-15,-18 18 16,17-18 0,-17 17-1,18-17 16,-18 18 16,18-18 16,-1 0-32,1 0-15,-1 0 15,1 0-15,-18-18-1,18 1 1,-1 17-1,1-18-15,0 18 16,-1-18 0,1 1-1</inkml:trace>
  <inkml:trace contextRef="#ctx0" brushRef="#br0" timeOffset="55493.43">12982 10442 0,'0'-17'63,"0"-1"-1,-17 0-46,17 1-1,0-19-15,0 1 16,-18 0 0,18-36-16,0-17 15,-18 35 1,18 18-16,0 0 15,-17-1-15,17 19 16,0-1 0,-18 18-16,18-18 15,0 1 1,0-1-16,-18 1 16,18-1-1,0 0-15,-17 18 16,17-35-16,0 17 15,0 1 1,0-1-16,0 0 16,0 1-1,0-19 1,0 19 0,-18-1-16,18 1 15,0-1 1,0 0-1,0 1 1,0-1 31,0 0 0,18 18 0,-1 0-16,1 0-31,0 0 16,-1 0-1,19 0 1,-1 18-1,0-18-15,53 0 16,-17 0-16,17 0 16,-35 0-1,-18 0-15,1 0 16,-1 0 0,-18 0-1,1 0 1,0 0-16,-1 0 15,1 0 1,0 0-16,-1 0 16,19 0-1,-1 0-15,-17 0 16,-1-18 0,1 18-16,-1 0 15,1 0 16,-18-17 1,0-1 30,0 0 32,0 1-63,-18 17-15,18-18-1,-17 18 1,17-17 15,-18-1 32,18 36 77,0-1-124,0 1 0,0-1 15,0 1 16,0 0-32,0-1 1,0 1 31,0 0-31,0-1 15,0-34 78,0-1-93,0 0-1,0 1 17,0-1-17,0 0 32,0 1-16,0-1 1,0 1-1,0-1 16,18 18 0,-1 0 15,1 18-46,-18-1 15,18-17-15,-1 0-1,-17 18 1,18-18-16,0 0 31,-18 17-31,17-17 31,-17 18 48,0 0-48,-17-18-31,17 17 15,-18-17 1,0 18-16,1-18 16,17 18-1,-18-18 1,0 17-16,1-17 16,-1 0-16,1 0 15,17 18 1,-18-18-16,18 18 15,-18-18 1,1 17 0,-1-17 15,18 18-31</inkml:trace>
  <inkml:trace contextRef="#ctx0" brushRef="#br0" timeOffset="57153.28">14305 8925 0,'0'18'78,"0"0"-47,0-1-15,0 1-1,0-1-15,0 1 16,18-18 0,-18 18-16,0-1 15,0 1 1,0 0-16,0-1 15,0 1 1,0 0 0,0-1-1,0 1 1,0 0-16,0-1 16,0 1-1,0-1 1,0 1-1,0 0 17,0-1-17,0 1 17,17-18 61,1 0-61,0 0-1,-1 0-16,1 0 17,0 0-32,-1 0 31,1 0-31,0 0 16,-1 0-1,1 0 1,-1 0-16,1 0 15,0 0 1,-1 0 0,1 0-1,0 0 17,-18-18 61</inkml:trace>
  <inkml:trace contextRef="#ctx0" brushRef="#br0" timeOffset="58218.37">14305 8837 0,'0'0'0,"-17"0"47,34 0 93,1 0-124,-1 0-1,1 0 1,17 0 0,-17 0-1,17 0-15,1 0 16,-19 0 0,54 0-16,-36 0 15,-17 0 1,-1 0-1,1 0 1</inkml:trace>
  <inkml:trace contextRef="#ctx0" brushRef="#br0" timeOffset="59231.73">14340 9066 0,'18'0'94,"0"0"-78,-1 0 15,1 0-15,0 0-1,-1 0-15,1 0 16,0 0-1,-1-17-15,1 17 32,-1 0-32,1 0 15,0 0 1,-1 0 0,1 0 15</inkml:trace>
  <inkml:trace contextRef="#ctx0" brushRef="#br0" timeOffset="60945.74">15064 8749 0,'0'0'0,"-18"0"94,0 0-79,1 0 32,-1 0-47,0 0 16,1 0 15,-1 0-31,1 0 16,-1 0 31,0 0-32,1 0 1,17 18 62,0-1-47,0 1 0,0-1 1,0 1-1,0 0-15,17-1-1,-17 1-15,0 0 16,18-1-1,-18 19 1,18-1 0,-18 53-1,0-53-15,17 1 16,-17-19 0,0 1-1,18-18 1,-18 18-16,0-1 62,17-17 32,1 0-63,0 0-15,-1 0 15,1 0-15,-18 18-1,18-18 17,-1 0-17,1 0 17</inkml:trace>
  <inkml:trace contextRef="#ctx0" brushRef="#br0" timeOffset="62603.75">15469 8890 0,'0'18'140,"0"-1"-108,0 1-1,0 0-15,18-18-1,-18 17-15,18-17 16,-18 18-1,17-1-15,1 1 16,-18 0 0,18-1-16,-18 1 15,17-18 1,-17 18-16,0-1 31,18 1-15,-18 0-1,17-18 1,-17 17-16,18-17 63</inkml:trace>
  <inkml:trace contextRef="#ctx0" brushRef="#br0" timeOffset="63602.02">15610 8908 0,'0'17'156,"-17"-17"-156,17 18 16,0 0-1,-18-18 1,18 17 0,-17-17-1,17 18 1,-18-18 0,18 17-1,-18 1 1,18 0 15,-17-18-31,17 17 16,0 1 15,-18-18-15</inkml:trace>
  <inkml:trace contextRef="#ctx0" brushRef="#br0" timeOffset="65537.75">15752 8661 0,'-18'0'15,"0"0"17,36 0 171,0 0-156,-1 0-16,1 0 0,-1 0 0,-17 17 1,0 1-1,0 0 31,0-1-30,0 1 15,-17-18 15,-1 18-46,1-18 15,17 17 0,-18-17-31,0 0 47,18 18 16,18-18 93,0 0-141,-1 0 17,1 0-17,-1 0 1,1 0 31,0 0-32,-1 0 17</inkml:trace>
  <inkml:trace contextRef="#ctx0" brushRef="#br0" timeOffset="66909.28">16016 9013 0,'18'0'328,"-1"0"-312,1 0-1,0 0-15,-1 0 16,1 0 31,0 0-32,-1 0 17,-17 18-17,18-18 17,0 0 46</inkml:trace>
  <inkml:trace contextRef="#ctx0" brushRef="#br0" timeOffset="68981.09">16563 8908 0,'0'-18'94,"0"0"-47,0 1-16,0-1 0,0 0 1,0 1-1,18 17-16,-1 0 1,-17-18 0,18 18 15,-1-17-15,1 17-1,0 0 16,-1 0-15,1 0 31,0 0-31,-1 0 15,1 17 0,-18 1 0,18-1 1,-18 1-17,0 0 1,0-1 15,0 1-15,-18 0-1,18-1 1,-18 1-16,18 0 16,-17-1-1,17 1-15,-18-18 16,18 17-1,0 1-15,0 0 16,-18-1 0,1 1-1,-1-18 17,0 0-17,18 18 1,-17-1 15,17 1-15,0 0-1,-18-18 17,18 17-32,18-17 171,-1 0-171,1 0 16,0 0 0,-1 0-16,1 0 31,0 0-31,-1 0 16,1 0-1,0 0 16,17 0 1,-17 0-17,-1 0 32</inkml:trace>
  <inkml:trace contextRef="#ctx0" brushRef="#br0" timeOffset="70093.98">16969 8819 0,'0'0'0,"0"-17"47,0 34 62,0 1-93,17 0 0,-17-1-1,18 1 1,-18 0 0,0-1-1,18 1 1,-18 0-1,17-1-15,1 1 0,-1-18 47,-17 17-47,18 1 0,0 0 63,-18-1-63,0 1 31,17-18-15</inkml:trace>
  <inkml:trace contextRef="#ctx0" brushRef="#br0" timeOffset="70938.61">17145 8802 0,'0'17'78,"0"1"-47,0 0-15,0-1-1,-18 1-15,18 0 31,0-1-31,0 1 16,0 0 0,-17-1-16,17 1 15,-18-18 1,18 17 15,0 1 0,-18-18 1,18 18-32</inkml:trace>
  <inkml:trace contextRef="#ctx0" brushRef="#br0" timeOffset="72582.39">17198 8855 0,'0'-18'31,"0"36"63,-18-1-63,18 1 0,-17-18-31,-1 0 16,18 18-1,-18-18-15,18 17 16,0 1 0,-17-18-1,17 18 1,-18-18-16,0 17 31,1 1-15,-1-18 15,1 17-15,17 1 15,-18-18-16,18 18 1,-18-18 0,18 17 15,-17-17-15,17 18-1,-18-18 1,0 0-1,18 18 17,-17-18-17,17 17 1</inkml:trace>
  <inkml:trace contextRef="#ctx0" brushRef="#br0" timeOffset="73813.89">17092 8925 0,'0'18'109,"0"0"-77,0-1-17,0 1 1,0-1 46,18-17-46,-18 18 0,0 0 15,0-1 0,0 1 0,17-18 16,-17 18-47,18-1 32,-18 1-1,18-18-16,-18 18 17,17-18-17,-17 17 32</inkml:trace>
  <inkml:trace contextRef="#ctx0" brushRef="#br0" timeOffset="76777.14">17339 9190 0,'0'-18'78,"0"1"-31,0-1-32,0 0 1,0 1-1,18 17 17,-1-36-17,-17 19 1,18-1-16,-18 0 16,18 1-1,-18-1-15,17 1 31,-17-1-15,18 18 0,-18-18-1,0 1 17,0-1-1,0 36 141,0-1-141,0 1 0,-18-18-15,18 18-1,0-1 48,0 1-32,0-1 16,18-17 125,0 0-125,-1 0-16,1 0-15,-18-17-1,17 17 1,-17-18 0,18 18-16,0-17 31,-18-1-16,0 0 1,17 1-16,-17-1 16,18 18 15,-18-18-31,18 18 16,-18-17 15,17 17 0,-17-18-15,0 0 46,0 36 79,0 0-110,-17-18 0,17 17-15,-18-17 15,18 18-31,0 0 31,-18-1-15,18 1 0,0 0 15,0-1 16,0 1-16,0-1 0,0 1 1,18 0-17,0-1 1,-1-17 15,1 0-15,-18 18-1,18-18 17,-1 0-17,1 0 16,-18 18-15,17-18 0</inkml:trace>
  <inkml:trace contextRef="#ctx0" brushRef="#br0" timeOffset="78596.45">18098 8819 0,'0'18'32,"0"0"14,-18-18-14,18 17-1,0 1-15,0 0-1,0-1 16,0 19-31,0-1 16,-18 0 0,18 0-1,0-17-15,0 17 16,0 1 0,0-19-16,-17 1 15,17 0 1</inkml:trace>
  <inkml:trace contextRef="#ctx0" brushRef="#br0" timeOffset="79516.25">17956 9084 0,'18'0'109,"0"0"-93,-1-18 15,1 18-15,0 0 0,-1 0-1,1 0 1,0 0-1,-18-17 1,17 17-16,1 0 31,-1 0 16,1 0-16,0 0 1</inkml:trace>
  <inkml:trace contextRef="#ctx0" brushRef="#br0" timeOffset="82783.89">18450 9208 0,'0'-18'203,"0"0"-172,18 1-15,-18-1-1,0 0 1,0 1 0,0-1-16,18 0 15,-18 1 16,17-1-31,-17 0 16,18 1 0,-18-1-16,17 1 15,-17-1 17,18 0-32,-18 1 15,0-1-15,18 18 16,-18-18-1,0 1 1,0-1 47,17 18-63,-17-18 31,0 36 109,0 0-77,0-1-32,0 1 16,0 0-16,0-1 1,0 1-17,0 0 32,0-1-16,0 1 1,0-1 14,18-17-14,0 0-17,-1 0-15,1 0 16,0 0 0,-1 0-1,1 0-15,0 0 16,-1 0-1,1 0-15,-18-17 16,17 17 0,-17-18-1,18 1 1,0 17 0,-18-18 15,17 18-16,-17-18 1,18 1 0,-18-1 15,0 0-15,18 1-1,-18 34 251,0 1-235,0 0 16,0-1-31,0 1-1,0 0 16,0-1 1,0 1-17,0-1 1,0 1 15,17 0-15,1-18 62,0 17-47,-1-17-15,1 0 15,-1 0 16</inkml:trace>
  <inkml:trace contextRef="#ctx0" brushRef="#br0" timeOffset="84770.1">19085 8661 0,'18'0'328,"0"0"-281,-1 0 15,-17 17-46,18-17 15,-18 18-15,0 0 15,0-1 16,0 1 46,0 0-61,-18-18-1,18 17-15,-17-17-1,-1 18 32,0-18 16,1 0-32,17 17-16,17-17 173,1 0-126,0 0-46,-1 0 0,1 0 15,-1 0 0,1 0 16</inkml:trace>
  <inkml:trace contextRef="#ctx0" brushRef="#br0" timeOffset="86465.54">19315 8573 0,'17'0'141,"1"0"-126,0 0 1,-1 0-16,1 0 16,-1 0 30,1 0-30,0 0 15,-18 17 1,17-17-17,-17 18 1,0-1 15,0 1 16,0 0-16,0-1-15,0 1-1,0 0-15,0-1 16,0 19 0,0-19-1,0 18 1,0 18-16,0 36 16,0-54-1,0-18-15,0 1 16,0 0-1,0-1-15,0 1 16,0 0 31,0-1 0,-17-17 125,-1 0-141,0 0 0,1 0 0,-1 0-31,1 0 16,-1 0 0,0 0-16,1 0 15,-1 0 17</inkml:trace>
  <inkml:trace contextRef="#ctx0" brushRef="#br0" timeOffset="87827.12">19756 8943 0,'17'0'140,"1"0"-109,-1 0-15,1 0 0,0 0-1,-1 0 1,1 0-16,0 0 16,-1 0-1,-17-18-15</inkml:trace>
  <inkml:trace contextRef="#ctx0" brushRef="#br0" timeOffset="88675.4">19720 9049 0,'0'17'15,"18"-17"63,0 0-46,-1 0-17,1 0 1,-1 0 0,1 0-1,0 0 1,-1 0-1,1 0 1,0 0-16,-1 0 16,-17 18-1,18-18 17</inkml:trace>
  <inkml:trace contextRef="#ctx0" brushRef="#br0" timeOffset="92782.49">20461 8625 0,'0'18'125,"0"0"-109,0-1-1,0 1 16,-18 0-31,18 17 16,0 0 0,0 0-1,-17 36-15,17 17 16,0-53 0,-18 1-16,18-19 15,0 1 1,0 0-1,0-1 32,0 1 63,0 0-63,18-18-1,-18 17-30,17-17 0,1 0-16,0 0 15,-1 0 17,19 0-32,-19 0 15,19 0 1,-19 0-16,1 0 31,0 0-31,-1 0 31,1 0-15,-1 0 31</inkml:trace>
  <inkml:trace contextRef="#ctx0" brushRef="#br0" timeOffset="94806.72">20549 8661 0,'18'0'31,"0"0"219,-1 0-203,1 0-47,0 0 32,-1 0-17,1 0 16,-1 0 16,1 0 0,0 0-16</inkml:trace>
  <inkml:trace contextRef="#ctx0" brushRef="#br0" timeOffset="95545.34">20549 8802 0,'-17'0'31,"34"0"156,1 0-171</inkml:trace>
  <inkml:trace contextRef="#ctx0" brushRef="#br0" timeOffset="97910.04">20461 8925 0,'0'-17'78,"18"17"31,-1 0-78,1 0-15,0 0 31,-1 0-16,1 0 32,0 0-17,-1 0 17</inkml:trace>
  <inkml:trace contextRef="#ctx0" brushRef="#br0" timeOffset="99569.56">21290 8484 0,'-17'0'63,"-1"0"-32,0 0-15,1 18 15,-1-18-31,0 0 47,18 18-31,-17-18-16,-1 0 31,0 0-16,1 0 1,-1 0 62,18 17-47,-18-17-15,18 18 0,0 0-1,-17-1 1,17 1-16,0-1 16,-18 1-1,18 17-15,-17 54 16,-1-1-16,0-18 15,18-34 1,-17-1-16,17 0 16,-18-17-1,18-1-15,0 1 16,-18-18 0,18 18 15,18-18 141,-18 17-172,18-17 31,-1 0 0,1 0-15,0 0-1,-18 18 1,17-18 0,1 0 15,-1 0-15</inkml:trace>
  <inkml:trace contextRef="#ctx0" brushRef="#br0" timeOffset="100671.24">21220 8714 0,'17'0'62,"1"0"-15,-18 17-31,18 1 0,-1 0-1,-17-1 1,18 1-16,-1-1 31,-17 1-31,0 0 16,0-1-1,18 1-15,-18 0 32,18-18-32,-18 17 46,17-17-14,-17 18-17,18 0 1,0-1 15,-1 1-15,-17-1-1,18-17 17,0 0-1</inkml:trace>
  <inkml:trace contextRef="#ctx0" brushRef="#br0" timeOffset="101830.87">21502 8749 0,'-18'0'63,"18"18"-16,-17-1-16,17 1-16,-18-18 1,18 17 0,0 1-1,-18 0 1,1-1 0,-1 1-16,0 0 15,1-18 1,-1 17-1,18 19-15,-53 34 16,36-35-16,-1-35 16,18 18-1,-18 0-15,18-1 16,-17-17 0,17 18 30</inkml:trace>
  <inkml:trace contextRef="#ctx0" brushRef="#br0" timeOffset="103695.21">21643 8537 0,'18'-17'188,"-1"17"-172,1 0 15,-1 0 0,1 0 78,-18 17-93,0 1 47,0 0-48,0-1 48,0 1-32,-18-18-15,18 17-1,-17-17 16,17 18-15,0 0 31,-18-18-16,18 17 16,18-17 187,-1 0-202,1 0 46,0 0-31,-1 0 0</inkml:trace>
  <inkml:trace contextRef="#ctx0" brushRef="#br0" timeOffset="105545.82">21855 8467 0,'17'0'141,"1"0"-126,0 0 1,-1 0 0,1 0 15,-1 0-31,1 0 16,0 0-16,-1 0 15,1 0 1,0 0 15,-1 0 16,-17 17 31,0 1-47,0 0-15,0-1 15,0 1-15,0 0 15,0-1-15,-17 1-1,17-1-15,0 1 16,0 0 0,0-1-16,0 1 31,0 0-31,-18-1 15,18 1 1,0 0-16,0-1 16,-18 1 15,18-1-31,0 1 16,0 0-1,0-1 16,-17 1 1,17 0-1,0-1-15,0 1-1,0 0 16,-18-18 16,18 17-47,-18-17 47,1 0-16,-1 0 1,1 0-1,-1 0-31,0 0 16,1 0-1,-1 0-15,18 18 16,-18-18-1,1 0-15,-1 0 16,0 0 0,1 0-16,-1 0 31</inkml:trace>
  <inkml:trace contextRef="#ctx0" brushRef="#br0" timeOffset="106609.61">22437 8890 0,'0'-18'31,"17"18"110,1 0-110,0 0-16,-1 0 17,1 0 15,0 0-1</inkml:trace>
  <inkml:trace contextRef="#ctx0" brushRef="#br0" timeOffset="109482.81">22966 8714 0,'0'-18'250,"0"0"-219,0 1 16,0-1 0,0 0-16,17 18-15,1 0-1,0 0 1,-18-17-1,17 17-15,-17-18 16,18 18 0,0 0-1,-18-17 1,17 17-16,1 0 31,0 0 0,-1 0 48,-17 17 14,0 1-61,0-1 46,0 1-63,0 0 1,0-1 15,0 1-31,0 0 31,0-1-15,0 1 0,-17 0-16,17-1 15,-18 1 1,0-1 0,18 1-16,-17 0 15,17-1 1,-18 1-16,0 0 31,18-1-15,-17 1-1,17 0 17,-18-18-32,18 17 31,-18-17-16,18 18 1,-17-18 0,17 17-1,-18-17 79,36 0 31,-1 0-94,1 0-15,0 0 0,-1 0 30,1 0-14,-18-17-17,18 17 1,-1 0 0,1 0-1,0 0 16,-1 0 32,1 0-16,0 0-32,-1 0 17,1 0-1,-1 0 0</inkml:trace>
  <inkml:trace contextRef="#ctx0" brushRef="#br0" timeOffset="155555.96">23372 9172 0,'17'0'157,"-17"-17"-79,18 17-63,-18-18-15,0 0 16,17 18 0,-17-35-1,18 17-15,-18 1 16,18 17-1,-18-18-15,0 0 16,17 1 0,-17-1-16,0 1 15,0-1-15,0 0 32,0 1-32,18-1 15,-18 0 1,0 1-16,18-1 15,-18 0 1,0 1 0,17 17-1,-17-18-15,0 1 16,18-1 0,-18 0 62,0 1-47,0-1 47,0 36 141,0-1-204,-18-17 17,18 18-1,-17 0-15,17-1-1,0 1 16,0-1-15,-18-17 0,18 18-1,0 0 17,0-1-1,0 1 16,0 0 0,18-18 46,-1 0-61,1 0-1,0 0-16,-1 0 1,-17-18 0,0 0-1,18 18 1,-18-17 0,17 17-16,-17-18 31,18 18-31,0 0 31,-18-18-31,17 18 16,-17-17-16,18 17 15,-18-18 1,0 1 0,18 17-1,-18-18 1,17 18-1,-17-18 17,18 18-32,-18-17 15,18-1 17,-18 0-1,17 18 0,-34 0 78,-1 0-77,18 18-1,-18-18-31,18 18 16,-17-1-1,17 1 48,-18-18-63,18 18 15,0-1 17,-18-17-32,18 18 31,0-1 0,0 1 47,0 0-47,18-18-15,-18 17 0,18 1 15,-1 0-15,1-18-1,-18 17 1,18-17-16,-1 0 31,-17 18 0,18-18-15,0 0 31,-1 18-16</inkml:trace>
  <inkml:trace contextRef="#ctx0" brushRef="#br0" timeOffset="157642.53">24306 8484 0,'-17'0'32,"17"18"77,0 0-93,0-1-1,0 1 17,0 0-17,0-1 1,0 1-1,0-1-15,0 1 16,0 0 0,-18-1-16,18 1 31,0 0 0,0-1-15,0 1-1,0 0 1,0-1 0,0 1-16,0-1 31,0 1 0,0 0 47,18-18-46,-1 0-17,1 0 1,0 0-1,-1 0 17,1 0-32,0 0 15,-1 0 1,1 0 0,0 0-16,-1 0 15,1 0 1,-1 0-1,1 0-15,0 0 32,-1 0-32,1 0 31,0 0 0</inkml:trace>
  <inkml:trace contextRef="#ctx0" brushRef="#br0" timeOffset="158786.41">24289 8449 0,'17'0'110,"1"0"-79,0 0-15,-1 0 15,1 0-31,0 0 16,-1 0-16,1 0 15,0 0 1,-1 0-1,1 0 1,-1 0-16,1 0 31,0 0-15,-1 0 15</inkml:trace>
  <inkml:trace contextRef="#ctx0" brushRef="#br0" timeOffset="159617.07">24342 8643 0,'0'0'0,"-18"0"31,36 0 79,-1 0-79,1 0 0,0 0-15,-1 0-16,-17-18 16,18 18-1,0 0-15,-1 0 31,1 0 1,-1 0-17,1 0 17,0-17-17,-1 17 16</inkml:trace>
  <inkml:trace contextRef="#ctx0" brushRef="#br0" timeOffset="161081.76">24924 8326 0,'-18'0'94,"0"0"-63,1 0 1,-1 0 14,1 0-30,-1 0 0,0 0 15,1 0-15,17 17 30,-18-17-30,18 18 0,0-1 15,0 1 0,0 0 0,0-1-15,0 1-16,0 0 16,0-1-1,0 1-15,0 0 16,18 17-16,-18 0 16,0 0-1,0 1-15,17-1 16,-17 0-1,0-17 1,0 17 0,0-17-1,0-1 1,0 1 0,0 0 15,0-1 0,0 1 0,0 0 1,0-1-17,18 1 16,0-18 16,-18 18-31,17-18-16,1 0 31,-1 17-15,1-17 31,0 0-32,-1 0 1,1 0 0,-18 18-1</inkml:trace>
  <inkml:trace contextRef="#ctx0" brushRef="#br0" timeOffset="162046.72">24941 8643 0,'0'-18'15,"18"18"110,-18 18-109,18-18-16,-1 18 31,1-18 1,0 0-32,-1 17 15,1-17 1,0 18-16,-1-18 15,-17 18-15,18-18 16,-1 17 0,1-17-16,0 18 15,-1-18 1,-17 18-16,18-18 31,0 0 0,-1 0 32</inkml:trace>
  <inkml:trace contextRef="#ctx0" brushRef="#br0" timeOffset="162915.07">25206 8555 0,'-18'0'94,"1"0"-47,-1 18-16,0-1-16,1 1 1,17-1 0,0 1-16,-18 0 15,1-18 1,-1 17-16,0 1 16,1 0-1,17-1-15,-18 1 16,18 0-1,-18-18 1,18 17 0,0 1 15,0-1 16,-17-17-32,17 18 32</inkml:trace>
  <inkml:trace contextRef="#ctx0" brushRef="#br0" timeOffset="164643.66">25294 8273 0,'-17'0'0,"-1"0"31,0 0 16,36 0 63,0 0-79,-1 0-31,1 0 31,-1 0-15,1 0-1,0 0 17,-1 0-17,1 0 1,0 0 31,-18 17 47,0 1-79,0 0 1,0-1-16,0 18 15,0 1 1,0-19 0,0 1-1,0 17-15,0 36 16,0-18-16,0 17 16,0-34-1,0-19-15,0 19 16,0-1-1,0 0-15,0-17 16,17 17 0,-17-17-16,0-1 15,18 1 1,-18 0 93,-18-18-31,1 0-62,-1 0 0,0 0 15,1 0-15,-1 0 15</inkml:trace>
  <inkml:trace contextRef="#ctx0" brushRef="#br0" timeOffset="166360.47">26017 8608 0,'0'0'0,"0"-18"15,0 1 32,0 34 94,0 1-126,0-1 1,0 1 15,0 0-15,0-1 0,0 1 15,0 0-31,18-1 15,-18 1 1,0 0-16,0-1 16,0 1-1,0-1 1,0 1 0,0 0 15,0-1 0,0 1 0</inkml:trace>
  <inkml:trace contextRef="#ctx0" brushRef="#br0" timeOffset="167301.29">25964 8749 0,'18'0'188,"0"0"-172,-1 0-1,1 0 1,0 0-1,-1-18 1,1 18-16,0 0 16,-1 0-1,1 0-15,-1 0 16,1 0 15,0 0-15,-1 0 31</inkml:trace>
  <inkml:trace contextRef="#ctx0" brushRef="#br0" timeOffset="184469.34">26723 9084 0,'0'-18'235,"18"18"-220,-18-17-15,17-1 47,-17 0-31,18 18-1,-18-17 1,17 17 15,-17-18-15,0 1-1,0-1 1,0 0-16,18 1 16,-18-1-1,18 0 1,-18 1 0,0-19-16,17 1 15,-17-18 1,18-35-16,-18 53 15,0 0 1,18 17 0,-18 0-1,0 1 1,0-1 62,0 36 47,-18-18-109,18 17-1,0 1 17,0 0-17,-18-18 1,18 17-16,0 1 15,0-1 1,0 1 0,-17-18 15,17 18-15,0-1-1,0 1 16,0 0-15,0-1 15,0 1 1,0 0 30,0-1-15,17-17-31,-17 18-1,0-1 32,18-17-31,0 0 15,-1 0 0,1 0 0,0 0 1,-18-17-17,17-1 1,-17 1 0,0-1 30,18 0-30,-18 1 15,18-1-15,-18 0 0,17 1-1,-17-1 16,18 0-15,-18 1 0,0-1-16,0 1 15,17-1 1,-17 0 0,0 1-1,0-1 16,0 0-15,18 1 31,-18 34 125,0 1-157,-18-18 1,18 18 0,0-1-1,-17 1 17,17 0-1,0-1-16,0 1 1,0-1-16,-18-17 16,18 18-1,0 0 17,0-1-1,0 1-16,0 0 1,0-1 15,0 1 1,0 0 46,18-1-47,-1-17-15,-17 18-16,18-18 15,-18 17 1,18-17 15,-18 18-31,17-18 16,1 0 15,-18 18-15,18-18-1,-1 0 32,-17-18 31,0 0-47</inkml:trace>
  <inkml:trace contextRef="#ctx0" brushRef="#br0" timeOffset="186463.55">27146 8184 0,'-17'0'16,"34"0"203,1 0-188,0 0-16,-1 0 1,1 0 31,-1 0-31,-17 18-1,18-18 1,-18 18-1,18-18 17,-18 17-1,17-17-15,-17 18-1,0 0 32,-17-18 16,17 17-63,-18 1 46,0-18-30,18 18 0,-17-18-1,17 17 1,-18-17 15,1 18-15,-1-18 15,0 17-15,1-17 15,-1 0 16,18 18 15,18-18 63,-1 0-109,1 0 0,0 0-1,-1 0 1,1 0 15,-1 0-15,1 0 15,0 0-15,-1 0-1,1 0 1,0 0 46,-1 0-30</inkml:trace>
  <inkml:trace contextRef="#ctx0" brushRef="#br0" timeOffset="188872.24">19756 9631 0,'17'0'157,"1"0"-142,-1 0 1,1 0-1,0 0-15,-1 0 16,1 0 0,0 0-1,-1 0-15,1 0 16,0 0 0,-1 0 15</inkml:trace>
  <inkml:trace contextRef="#ctx0" brushRef="#br0" timeOffset="189680.53">19844 9790 0,'17'0'187,"1"0"-171,0 0-16,-1 0 16,1 0-1,0 0-15,-1 0 32,1 0-32,0 0 15,-1 0 1,1 0-16,-1 0 31,1 0 0</inkml:trace>
  <inkml:trace contextRef="#ctx0" brushRef="#br0" timeOffset="191888.12">21361 9437 0,'0'17'141,"0"1"-126,0 0 17,0-1-17,0 1 1,0 0 31,0-1-32,0 1 17,0 0-17,0-1 1,0 1 31,0-1-16,0 1 31</inkml:trace>
  <inkml:trace contextRef="#ctx0" brushRef="#br0" timeOffset="193424.39">21273 9578 0,'0'18'156,"17"-18"-140,-17 17 15,18-17-15,-1 0 15,-17 18-31,18-1 31,-18 1 1,0 0-1,18-18 0,-18 17-31,0 1 31,17-18-15,1 0 78,0 0 78,-18-18-110,17 1-46,-17-1-1,0 0 17,18 1-17,-18-1 110</inkml:trace>
  <inkml:trace contextRef="#ctx0" brushRef="#br0" timeOffset="196035.28">22401 9684 0,'18'0'156,"17"0"-109,-17 0-47,0 0 15</inkml:trace>
  <inkml:trace contextRef="#ctx0" brushRef="#br0" timeOffset="197764.29">22983 9543 0,'0'-18'94,"0"0"-63,18 18-15,0-17-1,-1-1 1,1 18-1,-18-18 1,18 1 15,-1 17-15,1 0 15,0 0-15,-1 0-1,1 0 17,0 17 30,-18 1-31,0 0-31,0-1 32,0 1-32,0 0 15,0-1 1,0 1 0,0 0-16,0-1 15,-18-17 1,18 18-1,-18-1-15,18 1 16,-17 0-16,-1-1 16,0 1-1,1-18 1,17 18 0,-18-1-16,0-17 15,18 18-15,-17-18 16,17 18-1,-18-18-15,18 17 16,-18-17 0,18 18 15,-17-18 0,34 0 47,1 0-46,0 0-32,-1 0 31,1 0-31,0 0 31,-1 0-31,1 0 16,0 0-1,-1 0 1,1 0 0,0 0 30,-1 0-30</inkml:trace>
  <inkml:trace contextRef="#ctx0" brushRef="#br0" timeOffset="207307.66">23407 10019 0,'0'-18'140,"17"1"-108,1 17-1,-18-18-16,18-17 1,-18 17 0,0 0-1,0 1-15,17-1 16,1 1 0,-18-1-1,0 0-15,0 1 16,18-1-1,-18 0-15,0 1 32,17-1-32,-17 0 15,0 1 1,0-1 0,0 0-1,0 1 48,0 34 109,0 1-157,0 0 16,0-1-15,0 1 0,0 0 15,0-1 0,0 1 0,0 0-15,0-1 0,0 1 15,0 0-15,18-18 15,0 17 78,-1-17-78,1 0-15,-1 0 0,1 0 15,0-17-15,-18-1 30,17 18-30,-17-18-16,0 1 31,18 17-31,-18-18 16,0 0 0,18 18 15,-18-17-31,0-1 78,0 0-47,0 36 110,-18-18-126,18 18 1,0-1 0,-18-17-1,18 18-15,0 0 16,0-1 0,0 1-1,0 0 16,0-1-31,0 1 16,0-1 0,0 1 15,0 0 0,18-1 63,0-17-78,-1 0 15,1 0-16,0 0 1</inkml:trace>
  <inkml:trace contextRef="#ctx0" brushRef="#br0" timeOffset="209010.45">23830 9243 0,'18'0'125,"-1"0"-109,1 0 15,0 0-31,-1 0 16,1 0-16,0-18 15,-1 18 1,1 0 0,0 0-1,-1 0 17,-17 18 30,0-1-46,0 1 15,0 0-15,0-1-1,-17-17 1,-1 0-1,18 18 1,0 0 0,-18-18-1,18 17-15,-17-17 16,17 18 0,-18-18-1,18 18 1,-18-18-16,18 17 0,-17-17 15,-1 0 1,18 18 0,0-1 15,-18-17-15,18 18-1,18-18 141,0 0-140,-1 0 0,1 0-1,0 0 1,-1 0 0,1 0 15,0 0-16,-1 0 1</inkml:trace>
  <inkml:trace contextRef="#ctx0" brushRef="#br0" timeOffset="210199.58">24306 9596 0,'0'-18'31,"0"0"0,0 36 79,0 0-79,0-1-15,0 1-1,0-1 1,-17 1-1,17 0 1,0-1-16,0 1 16,0 0-1,0-1 1,0 1 0,0 0-16,0-1 15,0 1 1,0 0-16,0-1 47</inkml:trace>
  <inkml:trace contextRef="#ctx0" brushRef="#br0" timeOffset="210924.46">24183 9701 0,'0'-17'78,"18"17"16,-1 0-63,1 0-31,-1 0 16,1 0 0,-18-18-16,18 18 15,-1 0 1,1 0-16,0 0 15,-1 0-15,1 0 16,0 0 15</inkml:trace>
  <inkml:trace contextRef="#ctx0" brushRef="#br0" timeOffset="213234.56">24624 10001 0,'18'0'63,"-18"-17"-32,17 17-15,-17-18-16,0 0 31,0 1 0,18 17-15,-18-18-1,0 0-15,17 1 16,-17-1 0,18 1-16,0-1 31,-18 0-31,17 1 16,-17-1-1,0 0-15,18 18 16,-18-17-16,0-1 31,0 0-31,18 1 16,-18-1-1,0 0-15,17 1 16,-17-1 31,18 1-16,-18-1 0,0 36 110,-18-18-141,18 17 16,-17-17 15,17 18-31,0-1 31,0 1-15,0 0-1,0-1 17,0 1-1,0 0 31,0-1-15,0 1-16,0 0 1,17-1-1,1-17-15,0 0 15,-1 0-16,1 0 1,-1 0 31,1 0-31,-18-17-1,18 17 1,-18-18-16,17 18 15,-17-18-15,18 1 16,0-1 0,-18 0-1,0 1 1,0-1-16,17 0 16,-17 1-1,18 17 1,-18-18-1,0 1 1,18 17 0,-18-18-1,0 36 110,0-1-93,-18-17-1,18 18-16,-18-1 17,18 1-1,0 0 0,0-1-15,0 1-1,0 0 1,0-1 0,0 1-1,0 0 1,0-1 0,18 1 15,0-18 0</inkml:trace>
  <inkml:trace contextRef="#ctx0" brushRef="#br0" timeOffset="-180949.2">5256 12947 0,'0'18'125,"0"-1"-94,0 1 0,0 0 1,0-1-1,0 1-16,18-1 17,-18 1-32,0 0 15,0-1 1,0 1 0,0 0-1,0-1-15,0 1 16,0 0-16,-18-1 15,18 1 1,0-1 0,0 1-1,-17 0-15,17-1 32,-18-17-32,18 18 31,-18-18-16,18 18 1,-17-18 0,17 17-1,-18-17 1,18 18 0,-17 0 15,-1-18-16,0 0 1,18 17 0,-17-17-16,-1 0 15,0 0 1,1 0 0,-1 0-16,0 0 15,1 0 1,-1 0-16,1-17 15,17-1 1,-18 0 15,18 1-31,-18-1 16,1 0 0,17 1-1,0-1 1,-18 0-16,18 1 15,0-1 1,0 1 0,-18-1-16,18 0 31,0 1-31,0-1 31,0 0-15,0 1-1,0-1-15,18 18 16,-18-18 0,18 1-16,-1-1 15,1 18 17,0-17-1,-1 17-31,1 0 15,-1 0 1,1-18-16,0 18 16,-1 0-1,1 0 1,0 0 0,-1 0-16,1-18 15,0 18 1,-1 0-16,18 0 15,1 0 1,34 0 0,-52 0-1,0 0-15,-1 0 16,1 0 0,0 0-1,-1 0 32</inkml:trace>
  <inkml:trace contextRef="#ctx0" brushRef="#br0" timeOffset="-171976.85">21237 10407 0,'-17'0'31,"17"-18"-15,-18 18 15,-17-17 16,17 17-31,-17 0-16,-1-18 15,1 18 1,-53-18-16,17 18 15,-17-35 1,35 35-16,-17-18 16,-1 18-16,36-17 15,-18 17 1,0 0-16,-35 0 16,17-18-1,-17 18-15,18 0 16,-19 0-1,19 0-15,17 0 16,18 0 0,-18 0-16,-18-17 15,18 17-15,-17 0 16,-18-18 0,17 18-1,0 0-15,36 0 16,0 0-16,17 0 15,-17 0 1,0 0-16,-1 0 16,1 0-1,17 0-15,1 0 16,-1 0 0,1 0-16,-1 0 15,18 18 1,-18-18-1,1 0 1,-1 0 0,0 0-16,1 0 15,-1 17 1,0-17 0,1 18-1,-1-18-15,1 17 16,-1 1-1,0-18 1,1 18 0,-1-18-16,0 17 15,1-17-15,-1 18 32,18 0-32,-18-1 15,1 1 1,17 0-1,-18-1 1,1 1 0,17 0-1,-18-1-15,18 1 16,0-1-16,0 1 16,-18 0-1,18 70 1,-35 0-16,35-17 15,-18 17-15,18-35 16,-17-18 0,17 0-16,0 1 15,-18-1 1,18 0-16,0 0 16,0-17-1,0 17-15,-18 1 16,18-1-1,0 0-15,0 0 16,0 1 0,0-1-16,0 0 15,0 1 1,0-19-16,0 1 16,0-1-16,18-17 15,-18 18 1,0 0-1,18-1 1,-18 1 0,17 0-1,-17-1-15,18-17 16,0 18-16,-1 0 31,1-18-31,0 17 16,17 1-1,35 0-15,54-1 16,-18-17 0,-1 0-16,19 35 15,-53-35 1,17 0-16,-18 0 16,18 0-1,-17 0-15,17 0 16,-17 0-1,17 0-15,-53 0 16,1 0-16,-19 0 16,18 0-1,1 0-15,-1 0 16,0 0 0,1 0-16,-1 0 15,18 0 1,0 0-16,35 0 15,-18 0-15,-34 0 16,-1 0 0,0-35-1,1 35-15,-1 0 16,0 0-16,0 0 16,1 0-1,-1 0-15,0-17 16,0 17-1,18 0-15,-17 0 16,-1 0 0,0 0-16,0 0 15,1-18 1,-1 18-16,0 0 16,1-18-16,-19 18 15,1 0 1,0 0 15,-1-17 0,-17-1 1,0 0-17,18 1 16,-18-1-15,0 0-16,0 1 16,0-19-16,0-52 15,0 18 1,0-18-16,0 17 16,0-17-1,0 17-15,0-17 16,0 17-1,0 36-15,0 0 16,0 0 0,-18-1-16,18 1 15,0 0-15,0 0 16,0 17 0,-17 0-16,17 1 31,0-1-31,0 0 15,0 1 1,-18 17-16,18-18 16,0 0-1,0 1 63,-18 17-62,18-18 47,0 1-1</inkml:trace>
  <inkml:trace contextRef="#ctx0" brushRef="#br0" timeOffset="-166957.72">25171 9331 0,'0'0'0,"-18"0"15,0 0 1,18 18 0,-17-18 30,-1 0 1,36 0 110,-1 0-48,1 0-62,0 17 47,-18 1-48,0 0 126,0-1-125,0 1 0,0-1 0,0 1-16,-18-18-15,0 18 31,18-1-16,0 1 0,-17-18-15,17 18 15,-18-18-15,18 17 31,-17-17-1,34 0 95,1 0-94,-18-17-31,17 17 15,1 0 0,0 0-15,-1 0 15,1 0 0,0 0 32,-18-18-1,17 18-46,1 0 15,0 0 0</inkml:trace>
  <inkml:trace contextRef="#ctx0" brushRef="#br0" timeOffset="-155937.99">21696 12647 0,'0'18'156,"0"-1"-109,0 1-31,0 0 31,0 17-32,0-17 1,0-1-16,0 18 15,0-17-15,0 70 16,0-17 0,0-36-16,0 0 15,0-17 1,0 0-16,0-1 16,0 1 15,-18-18 0,18 18 0,-17-18-15,17 17 15,-18-17-31,0 0 47,1 0 16,-1 0-48,0 0 16,1 0-31,-1 0 32,0 0-32,1 0 15,-1 0 1,1 0 0,-1-17-1,0-1 1,18 0-1,0 1-15,-17-1 16,-1 18-16,0-18 16,18 1-1,-17-1-15,17 1 16,-18-1 0,18 0-16,-18 18 15,18-17 1,0-1-16,0 0 15,0 1 1,0-1-16,0 0 16,0 1 15,0-1-31,0 0 31,0 1-15,0-1-1,18 1 17,0 17-32,-1-18 15,1 0 1,0 18-16,-18-17 16,17 17-1,1-18-15,0 18 16,-1-18-1,1 18-15,-1 0 16,1 0 15,0-17-31,-1 17 16,1 0 0,0 0-16,-18-18 15,17 18 1,1 0-16,0 0 15,-1 0 1,1 0-16,-1-18 16,1 18-1,0 0 1,-1 0 0,1 0-1,0-17-15,-1 17 16,1 0-1,0 0 1,-1-18 0,1 18-16,0 0 15,-1-17 1,1 17 46,-1 0 1</inkml:trace>
  <inkml:trace contextRef="#ctx0" brushRef="#br0" timeOffset="-153561.71">22119 12312 0,'0'-18'234,"18"18"-218,-1 0 15,-17-17-31,18 17 16,0 0-1,-1 0 16,1 0 16,0 0 47,-18 17-16,0 1-31,0 0 0,0-1-16,0 1 32,0 0-32,0-1-15,0 1 15,-18-1 0,18 1 0,-18-18 1,18 18-1,-17-1 0,17 1 16,-18 0-16,18-1 32,-18-17-48,18 18 48,18-18 140,0 0-187,-1 0-1,1 0 16,0 0 1,-1 0-1,1 0-15,0 0 15,-1 0 0</inkml:trace>
  <inkml:trace contextRef="#ctx0" brushRef="#br0" timeOffset="-148453.9">22595 12965 0,'18'0'141,"0"0"-126,-1 0 1,1 0-1,17 0 1,1 0-16,-1 0 16,18 0-16,35 0 15,-53 0 1,-17 0 0,-1 0-1,1 0 1</inkml:trace>
  <inkml:trace contextRef="#ctx0" brushRef="#br0" timeOffset="-147544.68">22701 13123 0,'18'0'94,"0"0"-79,-1 0 32,1 0-31,-1 0-16,1 0 15,0 0 1,-1 0-16,1 0 31,0 0-15,-1 0 15</inkml:trace>
  <inkml:trace contextRef="#ctx0" brushRef="#br0" timeOffset="-145598.46">23689 12629 0,'0'18'156,"0"0"-140,0-1 15,0 1-16,0 0 1,0-1 15,0 1-31,0 0 16,0-1-16,-18 1 16,18-1-1,-17 1 1,17 0-1,0-1-15,0 1 16,0 0-16,0-1 31,-18-17-31,18 18 16,0 0 0,0-1 30,0 1-30,0 0 31,-18-18 31,18 17-62,0 1-1,0-1 1,0 1 15,0 0 16,18-18 47,0 0-94,-1 0 15,1 0 1,0 0 0,17 0-1,0 0 1,1 0-16,16 0 16,37 0-1,-54-18-15,0 18 16,0 0-1,-17 0 1,0 0 0,-1-18-1,1 18 1,0 0 0,-1 0 15,-17-17 0</inkml:trace>
  <inkml:trace contextRef="#ctx0" brushRef="#br0" timeOffset="-143921.36">23707 12577 0,'17'0'140,"1"0"-108,0 0-32,-1 0 15,1 0 1,0 0 0,-1 0-1,1 0 1,-1 0-16,1 0 15,0-18 1,-1 18 0,1 0-1,0 0-15,-1 0 16,1 0 0,0 0-1,-1 0 1,1 0-16,-1 0 15,1 0 17,0-18-17</inkml:trace>
  <inkml:trace contextRef="#ctx0" brushRef="#br0" timeOffset="-142882.75">23654 12876 0,'17'0'62,"1"0"-15,0 0-31,-18-17-16,17 17 15,1 0 1,-18-18 0,18 18-1,-1 0 1,-17-18 15,18 18-15,0 0-1,-18-17 17,17 17-32,1 0 31,-1 0-15,1 0-1,0 0 63,-1 0-31</inkml:trace>
  <inkml:trace contextRef="#ctx0" brushRef="#br0" timeOffset="-141133.21">24677 12541 0,'-18'0'125,"1"0"-109,-1 0 15,0 0 0,1 0-15,-1 0-1,0 0-15,1 0 16,-1 0 0,0 0-1,1 0 1,-1 0-16,1 0 15,-1 0 1,0 0 31,18 18-16,0 0 0,0-1 1,0 1-1,0-1 0,0 1-31,0 0 16,0-1-1,0 1 1,0 0-16,0-1 31,0 1-31,0 17 16,0 0 0,0 18-16,0-17 15,0-1 1,0 0-16,0 1 15,0-19 1,0 1 0,0-1 15,0 1 16,18-18 31,-18 18-47,18-18 0,-1 0-15,1 0 0,-1 0-1,1 17 1,0-17 0,-1 0-1,1 18 1,0-18-16,-1 0 15,1 18 1,0-18 0,-1 0-1,1 0-15,-1 0 32,1 0-1,-18 17-16</inkml:trace>
  <inkml:trace contextRef="#ctx0" brushRef="#br0" timeOffset="-140188.5">24747 12841 0,'18'0'109,"0"0"-62,-1 0-31,1 0 0,0 18 15,-1-1-16,1 1 1,17-18 0,0 18-16,18-1 15,18 1 1,-36 0-16,-35-1 16,18 1-1,-1 0-15,1-18 16,0 17 31</inkml:trace>
  <inkml:trace contextRef="#ctx0" brushRef="#br0" timeOffset="-139052.22">25065 12771 0,'-18'0'94,"1"0"-63,17 17-15,-18 1-1,18-1 17,-18-17-17,1 18 17,-1 0-17,18-1 1,-18 1-1,1 0-15,17-1 16,-18-17-16,18 18 16,0 0-1,-18-18-15,18 17 16,-17-17 0,17 18-16,-18-18 31,18 18-16,0-1 17,-17-17-1</inkml:trace>
  <inkml:trace contextRef="#ctx0" brushRef="#br0" timeOffset="-136610.62">25206 12524 0,'0'-18'313,"0"0"-204,18 18-93,-1 0 15,1 0-15,0 0 30,-1 0-14,1 0 15,-1 0 31,-17 18 31,0 0-78,0-1 1,0 1 14,-17-18-14,17 18-17,-18-18 32,1 0 0,17 17-31,0 1 31,-18-18-16,0 17 31,18 1-15,-17-18-31,17 18 62,17-18 16,1 0-47,0 0-16,-1 0 0,1 0-15,-1 0 15,-17-18-15,18 18 15</inkml:trace>
  <inkml:trace contextRef="#ctx0" brushRef="#br0" timeOffset="-134397.41">25576 12347 0,'18'0'141,"0"0"-110,-1 0 16,1 0-31,-18 18-1,18-18 1,-1 0-1,1 0 17,-18 18-1,0-1 47,0 1-47,0-1 1,0 1-17,0 0 32,0-1-31,0 1-1,0 0-15,0-1 16,0 1 15,0 0-31,0-1 16,0 18-1,0 1-15,0 34 16,0 18 0,0-17-16,0-18 15,0-18-15,0 1 16,0-1-16,0-18 16,0 1-1,0 0-15,18-1 16,-18 1 15,0 0-15,0-1-1,0 1 17,0 0-17,0-1 1,0 1 31,0-1 15,0 1 16,-18-18-46,0 0-17,1 0 16,-1 0 16</inkml:trace>
  <inkml:trace contextRef="#ctx0" brushRef="#br0" timeOffset="-133272.84">26211 12912 0,'0'0'0,"0"-18"31,0 0 94,18 18-109,0 0 0,-1 0-1,-17-17-15,18 17 16,0 0-1,-1 0-15,1 0 32,0-18-32,-1 18 15,1 0 1,-1 0-16,1 0 16,0 0 30</inkml:trace>
  <inkml:trace contextRef="#ctx0" brushRef="#br0" timeOffset="-126683.46">26864 13194 0,'0'-18'266,"0"1"-235,18-1-31,-18 0 16,0 1 0,0-1-1,17 0 1,-17 1-16,18-1 15,-18 1 1,18 17 0,-18-18-16,17-17 15,1-18 1,-18 17-16,18 19 16,-18-1-1,0 0-15,0 1 31,17 17-15,-17 17 281,-17 1-266,17 0-15,-18-18-1,18 17 17,-18 1-17,18 0 17,0-1-17,0 1 1,-17-18-1,17 18 17,0-1 15,0 1-1,0 0-14,0-1-1,17-17-15,1 18-1,0-18 16,-1 17-15,1-17 15,-1 0 1,1 0-1,0 0-16,-1 0 1,1 0 15,0 0-15,-18-17 0,0-1-1,17 1 1,-17-1-16,18 0 15,0 1 1,-18-1 0,0 0-1,17 1 1,-17-1 0,0 0-1,18 18-15,-18-17 16,0-1-1,17 18-15,-17-18 16,0 1 0,0-1-1,0 1 17,0 34 155,0 1-187,0-1 31,-17 1-15,17 0 0,0-1 30,0 1-30,0 0 0,0-1 15,0 1-15,0 0-1,0-1 32,0 1-16,17 0 1,-17-1-1,18-17-16,0 0 1,-1 18 15</inkml:trace>
  <inkml:trace contextRef="#ctx0" brushRef="#br0" timeOffset="-123737.38">27464 12330 0,'17'0'15,"-17"-18"188,0 0-171,0 1-1,0-1 16,18 18-32,0 0 32,-1 0 0,1 0 47,0 18 0,-18-1-48,0 1-14,0 0-1,0-1 0,-18-17 0,18 18 16,0 0-31,-18-18 0,18 17-1,-17-17 1,17 18 15,-18-18-31,0 17 47,18 1 15,-17-18-46,34 0 250,1 0-251,0 0 17,-1 0-17,1 0 16,0 0-15,-1 0 15,1 0-15,0 0 0,-1 0-1,1 0 63,-1 0-46</inkml:trace>
  <inkml:trace contextRef="#ctx0" brushRef="#br0" timeOffset="-91868.95">15011 17321 0,'0'18'47,"0"0"-32,0-1 1,0 1 0,0 17-1,0 1-15,-18 52 16,18-18 0,-18 18-16,18-17 15,-17 0 1,17-1-16,0-17 15,-18-18 1,18 1-16,0-19 16,0 1-1,0 0-15,0-1 32,0 1 30,18-18-31,-18 17-15,17-17-16,1 0 16,17 18-1,1-18-15,34 0 16,54 18-1,-54-18 1,71 0 0,-105 0-16,-1 0 15,-17 0 1,17 0-16,0 0 16,-17 0-16,-1 0 15,1 0 1,0 0-1,-18-18 95,0 0-95</inkml:trace>
  <inkml:trace contextRef="#ctx0" brushRef="#br0" timeOffset="-90958.58">15064 17304 0,'-18'0'0,"18"-18"31,0 0 16,18 18-16,17 0-15,0 0-1,53 0-15,36 0 16,-36 0-16,-17 0 16,-36 0-1,0 0-15,-17 0 16,-1 0 0,1 0-16,0 0 46</inkml:trace>
  <inkml:trace contextRef="#ctx0" brushRef="#br0" timeOffset="-90242.65">15028 17657 0,'18'0'62,"0"0"-46,-1 0-1,1 0-15,17 0 16,0 0-16,36 0 16,17 35-1,-17-35-15,-36 0 16,0 0 0,1 17-16,-19-17 15,1 0 1,0 0-1</inkml:trace>
  <inkml:trace contextRef="#ctx0" brushRef="#br0" timeOffset="-88936.11">16369 17163 0,'-18'0'93,"18"17"-77,-17 1 0,-1 0-1,0-1 17,1 1-17,-1-1 1,18 1-16,-18 0 15,18-1 1,0 19-16,0-1 16,-35 18-1,18 17-15,17 1 16,-18-18-16,18-18 16,0 0-1,0 1-15,0-1 16,0-17-1,0-1 1,0 1 0,0 0-16,0 17 15,0-18 1,18 1 0,-18 0-1,17-1-15,-17 1 16,18 0-16,-18-1 15,0 1 17,0 0-1,17-1-31,-17 1 16</inkml:trace>
  <inkml:trace contextRef="#ctx0" brushRef="#br0" timeOffset="-87785.34">16563 17551 0,'0'0'0,"0"-18"15,-18 18 1,18-18 0,18 36 109,0 0-94,-1-1-15,-17 1-1,18 0 1,-18-1-1,17 1-15,-17 0 16,18-1 0,-18 1-16,18-1 15,-1 1 1,-17 0 0,18-1-16,-18 1 15,18 0 1,-18-1-16,0 1 31,17 0-31,-17-1 16,18 1-1,-18-1 1,18-17-16,-18 18 47</inkml:trace>
  <inkml:trace contextRef="#ctx0" brushRef="#br0" timeOffset="-86102.71">16810 17568 0,'0'0'0,"0"18"141,-18-18-126,18 18-15,-17-18 16,-1 0 0,18 17-1,-18 1 1,18 0 0,0-1-16,-17 1 15,-1-1 1,0 1-1,18 0 1,-17-1-16,-1 1 31,18 0-15,-18-18 0,18 17-1,-17-17 220,17 18-220,-18-18 16,18 18-15,-17-18 15,17 17 16,-18-17-16</inkml:trace>
  <inkml:trace contextRef="#ctx0" brushRef="#br0" timeOffset="-84090.83">16951 17163 0,'18'0'313,"-18"17"-313,17-17 15,1 0 16,-18 18-15,18-18 0,-18 18 15,0-1 16,0 1 0,-18-18 0,18 17-47,-18-17 15,18 18 1,-17-18-16,17 18 31,-18-18-15,18 17-1,-18-17-15,1 18 32,-1-18-17,18 18 1,-18-18-16,1 0 31,17 17 0,-18-17-15,18 18 0,-17-18-1,17 18 1,0-1 31,17-17 15,1 0-31,-1 0-15,1 0-16,0 0 16,-1 0-1,1 0-15,0 0 16,-1 0 0,1 0 15,0 0-16,-1-17 17,1 17-1,-18-18 47</inkml:trace>
  <inkml:trace contextRef="#ctx0" brushRef="#br0" timeOffset="-82958.23">17180 17163 0,'18'0'125,"0"0"-94,-18 17-31,17-17 16,-17 18 0,18 0-16,-18-1 15,17 1 1,-17-1-16,18 19 15,0 52-15,-1 0 16,-17-17 0,18-36-16,-18 0 15,0 1 1,0-1-16,0 0 16,0 0-1,0 1-15,0-19 16,0 1-1,0 17-15,0 0 16,0-17 0,-18 0-16,18-1 15,0 1-15,-17 0 16,17-1 0</inkml:trace>
  <inkml:trace contextRef="#ctx0" brushRef="#br0" timeOffset="-81976.24">17992 17657 0,'0'-18'16,"-18"18"-1,36 0 95,-1 0-95,1 0 1,0 0-16,-1 0 15,1 0-15,17 0 16,71 0 0,17-18-16,-52 18 15,0 0 1,-54 0-16,1 0 16,-1 0-1,1 0-15,0 0 16</inkml:trace>
  <inkml:trace contextRef="#ctx0" brushRef="#br0" timeOffset="-81025.25">17921 17798 0,'18'0'31,"-1"0"-15,1 0-1,0 0 16,-1 0-15,1 0-16,0 0 16,-1 0-1,1 0-15,0 0 16,17 35 0,53-35-16,-17 0 15,17 18 1,-53-18-16,0 0 15,1 17 1,-1-17-16,-18 0 16,1 18-16,0-18 47</inkml:trace>
  <inkml:trace contextRef="#ctx0" brushRef="#br0" timeOffset="-77685.84">20391 17022 0,'-18'0'125,"0"0"-94,18 17-31,-17-17 16,-1 18 15,0-18-31,1 17 16,-1-17-16,-17 18 15,0-18 1,-54 18-16,1-1 16,18 1-1,-19-18-15,36 18 16,18-18-16,0 0 16,0 17-1,-1-17-15,-17 0 16,18 18-1,0-18-15,17 0 16,1 0 0,-1 18-16,0-18 31,18 17-15,-17-17-16,17 18 78,17-18-31,1 17-16,0-17-16,-1 0 1,1 0-16,0 18 16,-1-18-16,18 0 31,1 18-31,52 17 16,-53-17-1,0-18-15,-17 0 16,0 17-1,-1 1 1,1 0 0,-18-1 62,0 1-31,-18-18-32,18 18 1,-17-18 0,-1 17-1,0 1 1,1-1-16,-18 1 15,-18 17 1,0 1-16,-18 17 16,36-36-16,0 1 15,17-1 1,0-17-16,18 18 31,-17-18-31,17 18 47,0-1 94,17-17-126,1 0-15,0 0 16,-1 18 0,1-18-16,0 18 15,-1-18 1,1 0-1,17 17-15,18-17 16,35 36 0,-17-36-16,-36 17 15,0-17 1,1 0-16,-1 0 16,0 0-1,0 0-15,1 0 16,-1 0-1,0 0-15,1 18 16,-1-18-16,-18 0 31,1 0-31,0 0 16,-1 0 0,1 0-16,0 0 31,-1 0 0,1 0-15,0 0 15,-1 0 47,1 0 0,-1 0 32</inkml:trace>
  <inkml:trace contextRef="#ctx0" brushRef="#br0" timeOffset="-76339.18">19826 18098 0,'0'17'141,"18"-17"-126,-18 18-15,17-1 16,-17 1 0,18 0-16,-18-1 15,18-17-15,-18 18 16,17 0-1,-17-1-15,0 1 16,0 0 0,18-1-1,0 1 1,-18-1 0,17 1-1,-17 0 1,18-18 15</inkml:trace>
  <inkml:trace contextRef="#ctx0" brushRef="#br0" timeOffset="-75085.86">20020 18115 0,'0'18'141,"0"-1"-126,-17 1 1,17 0 15,-18-18-15,18 17-16,-18-17 15,18 18 1,-17 0 15,-1-18-15,18 17-16,0 1 31,0 0-15,-18-18-1,18 17-15,-17-17 32,17 18-1,-18-1 0,18 1 32,-18-18-32,18 18-16,-17-1 17</inkml:trace>
  <inkml:trace contextRef="#ctx0" brushRef="#br0" timeOffset="-73254.3">20867 17216 0,'0'17'47,"17"-17"-32,1 18 32,0-18-31,-1 0-1,1 17 1,0 1-16,-18 0 16,17-1-16,36 36 15,18 0 1,-36 18-16,0-18 16,-17-18-1,0 0-15,-1-17 16,1 0-1,0-1-15,-1 1 16,-17-1-16,18-17 16,-18 18-1,0 0-15,0-1 32,17 1-17,-17 0 16,18-18 16</inkml:trace>
  <inkml:trace contextRef="#ctx0" brushRef="#br0" timeOffset="-71706.34">21343 17251 0,'-18'0'125,"18"17"-94,0 1-15,-17-18-1,-1 18 17,18-1-17,-17-17 1,17 18-16,-18 0 16,18-1-1,-18-17-15,18 18 16,0 0-1,0-1-15,-17 1 16,17 0 0,-18-1-16,0-17 15,1 18 1,17-1-16,-18 1 16,0 0-16,18-1 15,-17 1 1,-1-18-16,0 35 15,1 1 1,-1-19-16,1 1 16,17-1-1,-18-17-15,18 18 16,-18 0 31,18-1 31,-17-17-78,17 18 31,-18-18 0,18 18-31</inkml:trace>
  <inkml:trace contextRef="#ctx0" brushRef="#br0" timeOffset="-65897.52">21572 17092 0,'0'-18'234,"18"18"-203,0 0 47,-18-17-78,17 17 79,1 0-17,0 0 47,-18 17 110,0 1-156,0 0-1,-18-18 16,18 17-31,-18-17-31,18 18 15,-17-18 0,17 18-15,-18-18 0,0 0 30,18 17-30,-17-17 15,17 18 16,-18-18 16,18 18-16,-18-18-32,36 0 173,0 0-126,-1 0-15,1 0-16,0 0-15,-1 0 0,1 0-1,0 0 32,-1 0-16,1 0 16,-1 0 16</inkml:trace>
  <inkml:trace contextRef="#ctx0" brushRef="#br0" timeOffset="-63687.37">22437 17127 0,'0'0'0,"0"-17"32,-18 17 93,0 0-110,1 0 17,-1 0-17,0 0 1,1 17 31,-1 1-32,1 0 17,-1-1-17,0 1 1,18 0-1,0-1 1,-17 1 0,17-1-16,-18 1 15,0 0 1,18-1-16,0 1 31,-17 0-31,17 17 16,0-17-1,0-1 1,0 1 0,0 0-16,0-1 15,0 1-15,0-1 32,0 1-32,0 0 31,0 17-16,0-17-15,0-1 32,0 1-32,0 0 15,0-1-15,0 1 47,0-1-47,0 1 16,0 0 15,0-1 0,0 1 1</inkml:trace>
  <inkml:trace contextRef="#ctx0" brushRef="#br0" timeOffset="-62599.65">22066 17463 0,'0'0'0,"18"0"125,35 0-62,-18 0-48,0 0 32,248 0-15,-248 0-32,-17 0 15,-1 0 1</inkml:trace>
  <inkml:trace contextRef="#ctx0" brushRef="#br0" timeOffset="-61150.47">22807 17145 0,'0'18'125,"0"-1"-94,0 1 0,-18-18-31,18 18 16,-17-1 0,-1-17 15,18 18-16,-17-1 1,17 1 15,0 0-15,0-1-16,-18 1 16,18 0-1,-18-1 1,18 1-1,0 0-15,0-1 16,0 1-16,-17-18 16,17 18-1,0-1-15,0 1 16,0-1 0,0 1-16,0 0 15,0 17 1,0-17-1,0-1 1,0 1-16,0 0 16,0-1-1,0 1 1,17-1 0,-17 1-1,18 0 1,-18-1-1,18 1 48,-1 0-32</inkml:trace>
  <inkml:trace contextRef="#ctx0" brushRef="#br0" timeOffset="-59918.45">22913 17463 0,'18'0'156,"-1"0"-109,1 17-32,-1 1 1,-17-1 0,18-17-1,0 18-15,-18 0 16,17-1-1,1-17-15,-18 18 16,18 0 0,-1-1-16,-17 1 15,18 0-15,0-18 32,-18 17-32,0 1 31,0-1 0,17-17-15,-17 18 15</inkml:trace>
  <inkml:trace contextRef="#ctx0" brushRef="#br0" timeOffset="-58535.17">23142 17427 0,'-17'0'125,"-1"18"-78,18 0-16,-18-18-31,1 17 31,17 1-15,-18-1 0,18 1 15,-18-18-31,18 18 15,0-1 1,0 1 15,-17-18-31,17 18 16,0-1 0,-18-17-1,18 18 16,0 0-31,0-1 94,-18-17 16</inkml:trace>
  <inkml:trace contextRef="#ctx0" brushRef="#br0" timeOffset="-56600.2">23160 17092 0,'18'0'62,"-1"18"32,-17-1-63,18-17-31,-18 18 16,17-18 0,-17 18-1,18-18-15,-18 17 16,0 1-16,18 0 15,-18-1 1,17 1-16,1-18 31,-18 17-31,18 1 32,-18 0-1,0-1-16,17-17-15,-17 18 16,0 0-16,0-1 31,18 1 1,-18 0-17,0-1 1,18 1-1,-18 0 1,0-1 15,0 1-15,0-1 0,0 1-1,0 0 1,0-1-16,0 1 15,0 0 1,0-1-16,0 1 16,0 0-1,0 17-15,-18 0 16,18 0 0,-18 1-16,1-19 31,17 1-16,0 0 17,-18-1-1,18 1-15,-18-18 15,18 17-31,-17-17 47</inkml:trace>
  <inkml:trace contextRef="#ctx0" brushRef="#br0" timeOffset="-52461.77">8290 17251 0,'0'17'78,"0"19"-63,0-1-15,18 71 16,-18 70 0,18-17-16,-18-53 15,17-18-15,-17-17 16,0-1-1,0-35-15,18 1 16,-18-19 0,0 1-16,0 0 15,0-1 1,0 1-16,0-36 156,0 1-125,0-1-31,-18 18 16,18-18-16,0 1 47</inkml:trace>
  <inkml:trace contextRef="#ctx0" brushRef="#br0" timeOffset="-50860.72">8008 17392 0,'0'0'0,"0"-18"62,0 1-30,18-1-1,-1 18-16,1-18-15,0 18 16,-1 0 0,19-17-1,-1 17 1,18-18-16,35 18 16,0-35-1,-35 35 1,-18 0-16,1 0 15,-1 0-15,0 0 16,-35 17 0,18 1-1,-1 0-15,1-1 16,0 1 0,-1 0-16,1 17 31,-18 0-31,18 1 15,-18-1-15,17 0 16,-17 0 0,0 1-16,0-1 15,18 0 1,-18 0-16,0 1 16,0-1-1,0-17-15,0-1 31,0 1-31,0 0 16,-18-1 0,18 1-16,-17-1 15,-1 1 1,0 0 0,18-1-16,-17 1 15,-19 0 1,1-1-16,0 1 15,0 0 1,-1-1-16,1 1 16,0-18-1,-1 18-15,1-18 16,18 17 0,-1-17-16,0 18 15,1-18 1,-1 0-16,0 17 15,1-17 17,-1 0-1,18 18-15</inkml:trace>
  <inkml:trace contextRef="#ctx0" brushRef="#br0" timeOffset="-49687.3">9031 17568 0,'0'18'109,"0"0"-93,0-1 0,0 1-1,0 0-15,0 17 31,0 0-31,-18 53 16,18 18 0,0-35-16,0 17 15,0-53 1,-17-17-16,17-1 16,0 1 15</inkml:trace>
  <inkml:trace contextRef="#ctx0" brushRef="#br0" timeOffset="-47812.32">9278 17674 0,'-18'0'235,"18"18"-220,-17-18 1,-1 17 31,18 1 15,0 0-31,0-1 1,0 1-17,0 0 17,0-1 77,18-17-47,-1 0-30,1 0-1,0 0 0,-1 0-15,1 0 15,0 18-15,-1-18 15,-17 18 16,18-18-32,-18 17 1,0 1 15,18-18-31,-18 17 16,0 1 0,17 0-1,-17-1-15,0 1 16,0 0-1,0-1-15,0 1 32,0 0-32,0-1 15,0 1 1,0 0 15,-17-18-31,-1 17 31,0-17 1,1 0-17,-1 0 17,0 0-1,1 0-16,-1 0 48</inkml:trace>
  <inkml:trace contextRef="#ctx0" brushRef="#br0" timeOffset="-46348">9772 17551 0,'-18'0'157,"1"0"-110,-1 0-16,0 17 0,18 1 0,-17-18-15,17 18-16,-18-1 31,18 1-15,-18-18-1,1 18 17,17-1-17,-18-17 1,18 18-16,0-1 31,0 1-15,0 0-1,-17-18 1,17 17 15,0 1-15,0 0 0,0-1 15,0 1-16,0 0 1,17-18 0,1 0-1,-18 17 1,17-17 0,1 18-1,0-18 1,-18 17-1,17-17 17,1 0-17</inkml:trace>
  <inkml:trace contextRef="#ctx0" brushRef="#br0" timeOffset="-44285.8">10037 17533 0,'0'18'203,"0"-1"-172,0 1-15,0 0 0,0-1 15,0 1-16,0 0 32,0-1-31,0 1 15,0-1-15,0 1-1,0 0 17,0-1-1,0 1-15,0 0-16,0-1 31,0 1-16,0 0 1,0-1 47,0 1-48,0-1 1,0 1-1,0 0 17,0-1-1,0-34 110,0-1-110,0 0-31,0 1 15,-18-1 1,18 1 0,0-1-1,0 0-15,0 1 16,0-1 0,0 0-16,0 1 15,0-1 1,0 0-1,0 1 1,0-1-16,0 1 16,0-1 15,0 0 0,18 1-15,-18-1 15,17 18-31,-17-18 31,18 18-31,-1-17 47,1 17 47</inkml:trace>
  <inkml:trace contextRef="#ctx0" brushRef="#br0" timeOffset="-42098.92">10301 17586 0,'18'0'141,"-1"0"-141,1 0 16,0 0-1,-1 0-15,1 0 16,0 0 0,-1 0-1,1 0 1,0 0-16,-1 0 15,1 0-15,-1 0 32,1 0-32,0 0 31,-1 0-15,1 0-1,-18-18-15,18 1 78,-18-1 16,0 0-63,0 1 1,0-1-1,-18 18-16,18-17 1,-18 17 0,1 0-1,-1 0 1,0 0 15,1 0 0,-1 0-15,1 0 0,-1 0-1,0 0 1,1 0 0,17 17-16,-18-17 15,0 18 1,1-18-16,-1 17 15,0-17 1,1 18-16,-1-18 47,18 18-31,-18-18-1,18 17-15,0 1 31,-17 0-15,17-1 0,0 1 15,0 0 0,0-1 0,0 1-15,0-1 0,0 1-1,17 0 17,1-18-17,-18 17 1,18 1 15,-1-18-31,1 18 16,0-18-1,-1 17 1,1-17-16,0 0 16,-1 0-1,1 0-15,0 0 16,-1 0-1,1 0-15,-1 0 32,1 0-32</inkml:trace>
  <inkml:trace contextRef="#ctx0" brushRef="#br0" timeOffset="-40712.39">10936 16828 0,'0'17'125,"0"1"-94,0-1-15,0 1-1,0 17-15,0 1 16,0-1-16,0 35 16,-18 36-1,18-18-15,-17 1 16,17-36-1,0-18-15,-18 0 16,18-17-16,0-1 31,0 1-15,-17 0-16,17-1 16,0 1-1,0 0-15,0-1 31,0 1-15,0 0-16,0-1 16,0 1-1,0-1 17,-18-17-32,18 18 15,0 0 16</inkml:trace>
  <inkml:trace contextRef="#ctx0" brushRef="#br0" timeOffset="-39861.33">10760 17463 0,'17'0'125,"1"0"-109,0-18 0,-1 18-1,19-18 1,-1 18-16,0 0 15,36-17 1,17-1-16,-35 0 16,-18 1-1,0 17-15,1-18 32,-19 18-32,1-18 0,0 18 15,-1 0 1,-17-17-16,18 17 31</inkml:trace>
  <inkml:trace contextRef="#ctx0" brushRef="#br0" timeOffset="-38537.06">11430 17445 0,'0'0'0,"-18"0"16,18 18-1,-17-18-15,-1 17 16,0 1-1,18-1 1,-17-17 0,17 18-16,-18-18 15,18 18 1,-17-18-16,17 17 47,0 1-32,0 0 1,0-1 15,0 1-15,17 0 0,1-18 15,-1 0-16,1 17-15,17-17 16,1 0 0,-1 0-16,35 0 15,19-17 1,-1-1-16,-35 0 16,0 1-1,-18-1-15,-17 0 16,-1 1-1,1-1-15,-18 0 16,18 1 0,-18-1-16,0 1 31,0-1-15,0 0 15,-18 18-31,0-17 15,1 17 1,-1-18 0,-17 18-1,-36-18 1,1 18-16,17 0 16,17 0-1,1 0-15,0 0 16,17 0-16,1 0 15,-1 18-15,18 0 16,-18-1 0,1-17-16,-1 18 31,0 0-15,1-1-1</inkml:trace>
  <inkml:trace contextRef="#ctx0" brushRef="#br0" timeOffset="-37160.71">12488 17551 0,'18'0'172,"35"-18"-172,-18 18 16,36-18-1,17 18-15,-18-17 16,54 17 0,-18 0-16,0-35 15,-1 35 1,19 0-16,-54 0 16,36 0-16,0 0 15,-18 0 1,-17 0-1,17 0-15,-53 0 16,1 0-16,-1 0 16,-17 0-1,17 0-15,-18-18 16,1 18 0,0 0-16,-1 0 15,1 0 1,0 0 31</inkml:trace>
  <inkml:trace contextRef="#ctx0" brushRef="#br0" timeOffset="-35855.07">13988 17233 0,'17'0'156,"1"0"-140,-18 18-1,18-18-15,-18 17 16,17-17-16,-17 18 16,18-18-1,-18 18-15,17-18 16,1 17-1,0-17 1,-1 0-16,-17 18 16,18-18-16,-18 18 15,18-1 1,-1 1 0,1-18 15,-18 18-16,18-18 32,-18 17-31,0 1 78,0 0-63,-18-1-15,18 1-1,-18-18-15,1 17 16,-1 1-1,18 0 1,-18-1-16,18 1 16,-17-18-1,17 18-15,-18-18 16,18 17 0,-18-17 15</inkml:trace>
  <inkml:trace contextRef="#ctx0" brushRef="#br0" timeOffset="-778.33">21343 13511 0,'18'0'156,"-1"0"-93,1 0-48,17 0 1,1 0-1,-1 0 1,0 0-16,36 18 16,52 0-1,18-18-15,0 35 16,18-17-16,-18-18 16,0 0-1,18 17-15,-53-17 16,0 36-1,17-19-15,18-17 16,0 18 0,1-18-16,16 35 15,-17-35 1,-35 18-16,18-18 16,17 35-1,35-17-15,18 17 16,-17-35-1,-1 18-15,0-1 16,54-17 0,-19 35-16,36 1 15,-35-19 1,0 19-16,-1-36 16,54 17-1,17 19-15,-35-36 16,0 17-1,35-17-15,159 71 16,0-71 0,-88 35-16,-36-17 15,-34 17-15,-1-35 16,-35 35 0,-53-17-16,-53-18 15,-35 18 1,-18-18-16,-17 17 15,-36-17-15,0 0 47,-17 0-47,-1 18 0,1-18 32,0 0-32,-18-18 109,0 1-93,0-19-16,0-17 15,-18-88 1,0-70-16,-17 17 15,17 17 1,-34 1-16,-1-18 16,0 17-16,0-17 15,0 36 1,0 16-16,0 19 16,18 35-1,-18 0-15,35 35 16,1-18-1,-1 36-15,0 0 16,1-1 0,-1 1-16,0 17 15,1 18-15,17-17 16,-18-1 0,18 0-1,0 1-15,0-1 16,-18 1-16,1 17 31,-1-18 0,1 18-15,-1 0 0,-17 0-1,17 0 1,-123 0-16,-71 0 15,-17 35 1,17-17-16,-35 17 16,36-17-1,-1 17-15,-17-35 16,17 18 0,-35-18-1,-35 35-15,35-35 16,0 0-1,35 0-15,1 35 16,-1-35 0,36 0-16,-1 0 15,54 0-15,17 0 16,35 0 0,-35 0-16,18 0 15,18 0 1,-18-17-16,-18 17 15,35 0 1,-35 0-16,18 0 16,18 0-1,-19 0-15,19 0 16,-36 0 0,-17 0-16,-19 0 15,-34 0 1,35 0-16,0 17 15,0-17-15,17 0 16,18 0 0,-35 0-16,0 18 15,0-18 1,-18 0-16,53 0 16,1 35-1,16-35-15,19 0 16,-18 18-16,17-18 15,-17 0 1,17 17-16,-17-17 16,18 0-1,-19 18-15,1-18 16,35 0 0,0 18-16,18-18 15,0 0 1,0 17-16,-1-17 15,1 18 1,0-18-16,-1 18 16,1-18-16,0 0 15,0 17 1,-1-17-16,1 0 16,0 18-1,0-18-15,17 0 16,-35 17-1,35-17-15,-17 0 16,0 18 0,17-18-16,0 0 15,1 18 1,-1-18-16,1 0 47,17 17 0,0 1 0,0 0-32,0-1 1,0 19-1,0-1-15,0 18 16,17 35 0,-17 18-16,0-18 15,0-17 1,0-19-16,0 19 16,18-36-1,-18-17-15,0 17 16,0 1-1,0-1-15,0 0 16,0 0 0,0 1-16,0-1 15,0 0 1,0-17-16,0-1 16,0 1-1,0 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DE0490-185B-4E87-BFAB-A59139E87E36}" type="datetimeFigureOut">
              <a:rPr lang="es-EC" smtClean="0"/>
              <a:t>30/6/2020</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94838B-8477-4F92-8AE3-2C006E559B40}" type="slidenum">
              <a:rPr lang="es-EC" smtClean="0"/>
              <a:t>‹#›</a:t>
            </a:fld>
            <a:endParaRPr lang="es-EC"/>
          </a:p>
        </p:txBody>
      </p:sp>
    </p:spTree>
    <p:extLst>
      <p:ext uri="{BB962C8B-B14F-4D97-AF65-F5344CB8AC3E}">
        <p14:creationId xmlns:p14="http://schemas.microsoft.com/office/powerpoint/2010/main" val="4029088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a:p>
        </p:txBody>
      </p:sp>
      <p:sp>
        <p:nvSpPr>
          <p:cNvPr id="4" name="Marcador de número de diapositiva 3"/>
          <p:cNvSpPr>
            <a:spLocks noGrp="1"/>
          </p:cNvSpPr>
          <p:nvPr>
            <p:ph type="sldNum" sz="quarter" idx="10"/>
          </p:nvPr>
        </p:nvSpPr>
        <p:spPr/>
        <p:txBody>
          <a:bodyPr/>
          <a:lstStyle/>
          <a:p>
            <a:fld id="{A02E4C61-1CD6-4F6D-8617-0CC6BB9F94BE}" type="slidenum">
              <a:rPr lang="es-EC" smtClean="0"/>
              <a:t>1</a:t>
            </a:fld>
            <a:endParaRPr lang="es-EC"/>
          </a:p>
        </p:txBody>
      </p:sp>
    </p:spTree>
    <p:extLst>
      <p:ext uri="{BB962C8B-B14F-4D97-AF65-F5344CB8AC3E}">
        <p14:creationId xmlns:p14="http://schemas.microsoft.com/office/powerpoint/2010/main" val="1714800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err="1"/>
              <a:t>WALPOLE</a:t>
            </a:r>
            <a:r>
              <a:rPr lang="es-EC" dirty="0"/>
              <a:t> 194(181)</a:t>
            </a:r>
          </a:p>
        </p:txBody>
      </p:sp>
      <p:sp>
        <p:nvSpPr>
          <p:cNvPr id="4" name="Marcador de número de diapositiva 3"/>
          <p:cNvSpPr>
            <a:spLocks noGrp="1"/>
          </p:cNvSpPr>
          <p:nvPr>
            <p:ph type="sldNum" sz="quarter" idx="10"/>
          </p:nvPr>
        </p:nvSpPr>
        <p:spPr/>
        <p:txBody>
          <a:bodyPr/>
          <a:lstStyle/>
          <a:p>
            <a:fld id="{A02E4C61-1CD6-4F6D-8617-0CC6BB9F94BE}" type="slidenum">
              <a:rPr lang="es-EC" smtClean="0"/>
              <a:t>44</a:t>
            </a:fld>
            <a:endParaRPr lang="es-EC"/>
          </a:p>
        </p:txBody>
      </p:sp>
    </p:spTree>
    <p:extLst>
      <p:ext uri="{BB962C8B-B14F-4D97-AF65-F5344CB8AC3E}">
        <p14:creationId xmlns:p14="http://schemas.microsoft.com/office/powerpoint/2010/main" val="1549602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err="1"/>
              <a:t>WALPOLE</a:t>
            </a:r>
            <a:r>
              <a:rPr lang="es-EC" dirty="0"/>
              <a:t> 195(182)</a:t>
            </a:r>
          </a:p>
        </p:txBody>
      </p:sp>
      <p:sp>
        <p:nvSpPr>
          <p:cNvPr id="4" name="Marcador de número de diapositiva 3"/>
          <p:cNvSpPr>
            <a:spLocks noGrp="1"/>
          </p:cNvSpPr>
          <p:nvPr>
            <p:ph type="sldNum" sz="quarter" idx="10"/>
          </p:nvPr>
        </p:nvSpPr>
        <p:spPr/>
        <p:txBody>
          <a:bodyPr/>
          <a:lstStyle/>
          <a:p>
            <a:fld id="{A02E4C61-1CD6-4F6D-8617-0CC6BB9F94BE}" type="slidenum">
              <a:rPr lang="es-EC" smtClean="0"/>
              <a:t>45</a:t>
            </a:fld>
            <a:endParaRPr lang="es-EC"/>
          </a:p>
        </p:txBody>
      </p:sp>
    </p:spTree>
    <p:extLst>
      <p:ext uri="{BB962C8B-B14F-4D97-AF65-F5344CB8AC3E}">
        <p14:creationId xmlns:p14="http://schemas.microsoft.com/office/powerpoint/2010/main" val="2409904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err="1"/>
              <a:t>WALPOLE</a:t>
            </a:r>
            <a:r>
              <a:rPr lang="es-EC" dirty="0"/>
              <a:t> 197(184)</a:t>
            </a:r>
          </a:p>
        </p:txBody>
      </p:sp>
      <p:sp>
        <p:nvSpPr>
          <p:cNvPr id="4" name="Marcador de número de diapositiva 3"/>
          <p:cNvSpPr>
            <a:spLocks noGrp="1"/>
          </p:cNvSpPr>
          <p:nvPr>
            <p:ph type="sldNum" sz="quarter" idx="10"/>
          </p:nvPr>
        </p:nvSpPr>
        <p:spPr/>
        <p:txBody>
          <a:bodyPr/>
          <a:lstStyle/>
          <a:p>
            <a:fld id="{A02E4C61-1CD6-4F6D-8617-0CC6BB9F94BE}" type="slidenum">
              <a:rPr lang="es-EC" smtClean="0"/>
              <a:t>46</a:t>
            </a:fld>
            <a:endParaRPr lang="es-EC"/>
          </a:p>
        </p:txBody>
      </p:sp>
    </p:spTree>
    <p:extLst>
      <p:ext uri="{BB962C8B-B14F-4D97-AF65-F5344CB8AC3E}">
        <p14:creationId xmlns:p14="http://schemas.microsoft.com/office/powerpoint/2010/main" val="3975139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err="1"/>
              <a:t>WALPOLE</a:t>
            </a:r>
            <a:r>
              <a:rPr lang="es-EC"/>
              <a:t> 198(185)</a:t>
            </a:r>
            <a:endParaRPr lang="es-EC" dirty="0"/>
          </a:p>
        </p:txBody>
      </p:sp>
      <p:sp>
        <p:nvSpPr>
          <p:cNvPr id="4" name="Marcador de número de diapositiva 3"/>
          <p:cNvSpPr>
            <a:spLocks noGrp="1"/>
          </p:cNvSpPr>
          <p:nvPr>
            <p:ph type="sldNum" sz="quarter" idx="10"/>
          </p:nvPr>
        </p:nvSpPr>
        <p:spPr/>
        <p:txBody>
          <a:bodyPr/>
          <a:lstStyle/>
          <a:p>
            <a:fld id="{A02E4C61-1CD6-4F6D-8617-0CC6BB9F94BE}" type="slidenum">
              <a:rPr lang="es-EC" smtClean="0"/>
              <a:t>47</a:t>
            </a:fld>
            <a:endParaRPr lang="es-EC"/>
          </a:p>
        </p:txBody>
      </p:sp>
    </p:spTree>
    <p:extLst>
      <p:ext uri="{BB962C8B-B14F-4D97-AF65-F5344CB8AC3E}">
        <p14:creationId xmlns:p14="http://schemas.microsoft.com/office/powerpoint/2010/main" val="748667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err="1"/>
              <a:t>Chevyshev</a:t>
            </a:r>
            <a:r>
              <a:rPr lang="es-EC" baseline="0" dirty="0"/>
              <a:t> Rusia 1821 - 1894</a:t>
            </a:r>
            <a:endParaRPr lang="es-EC" dirty="0"/>
          </a:p>
        </p:txBody>
      </p:sp>
      <p:sp>
        <p:nvSpPr>
          <p:cNvPr id="4" name="Marcador de número de diapositiva 3"/>
          <p:cNvSpPr>
            <a:spLocks noGrp="1"/>
          </p:cNvSpPr>
          <p:nvPr>
            <p:ph type="sldNum" sz="quarter" idx="10"/>
          </p:nvPr>
        </p:nvSpPr>
        <p:spPr/>
        <p:txBody>
          <a:bodyPr/>
          <a:lstStyle/>
          <a:p>
            <a:fld id="{A02E4C61-1CD6-4F6D-8617-0CC6BB9F94BE}" type="slidenum">
              <a:rPr lang="es-EC" smtClean="0"/>
              <a:t>48</a:t>
            </a:fld>
            <a:endParaRPr lang="es-EC"/>
          </a:p>
        </p:txBody>
      </p:sp>
    </p:spTree>
    <p:extLst>
      <p:ext uri="{BB962C8B-B14F-4D97-AF65-F5344CB8AC3E}">
        <p14:creationId xmlns:p14="http://schemas.microsoft.com/office/powerpoint/2010/main" val="4126194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err="1"/>
              <a:t>GUBNER</a:t>
            </a:r>
            <a:r>
              <a:rPr lang="es-EC" dirty="0"/>
              <a:t> </a:t>
            </a:r>
            <a:r>
              <a:rPr lang="es-EC" dirty="0" err="1"/>
              <a:t>PAG</a:t>
            </a:r>
            <a:r>
              <a:rPr lang="es-EC" dirty="0"/>
              <a:t> 71</a:t>
            </a:r>
          </a:p>
          <a:p>
            <a:r>
              <a:rPr lang="es-EC" dirty="0"/>
              <a:t>ROSS 102</a:t>
            </a:r>
          </a:p>
        </p:txBody>
      </p:sp>
      <p:sp>
        <p:nvSpPr>
          <p:cNvPr id="4" name="Marcador de número de diapositiva 3"/>
          <p:cNvSpPr>
            <a:spLocks noGrp="1"/>
          </p:cNvSpPr>
          <p:nvPr>
            <p:ph type="sldNum" sz="quarter" idx="10"/>
          </p:nvPr>
        </p:nvSpPr>
        <p:spPr/>
        <p:txBody>
          <a:bodyPr/>
          <a:lstStyle/>
          <a:p>
            <a:fld id="{A02E4C61-1CD6-4F6D-8617-0CC6BB9F94BE}" type="slidenum">
              <a:rPr lang="es-EC" smtClean="0"/>
              <a:t>49</a:t>
            </a:fld>
            <a:endParaRPr lang="es-EC"/>
          </a:p>
        </p:txBody>
      </p:sp>
    </p:spTree>
    <p:extLst>
      <p:ext uri="{BB962C8B-B14F-4D97-AF65-F5344CB8AC3E}">
        <p14:creationId xmlns:p14="http://schemas.microsoft.com/office/powerpoint/2010/main" val="981650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p:cNvSpPr>
            <a:spLocks noGrp="1"/>
          </p:cNvSpPr>
          <p:nvPr>
            <p:ph type="dt" sz="half" idx="10"/>
          </p:nvPr>
        </p:nvSpPr>
        <p:spPr/>
        <p:txBody>
          <a:bodyPr/>
          <a:lstStyle/>
          <a:p>
            <a:fld id="{8F040707-A5DC-4ABB-BCA4-6EE24A60F5F5}" type="datetimeFigureOut">
              <a:rPr lang="es-EC" smtClean="0"/>
              <a:t>30/6/2020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236166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8F040707-A5DC-4ABB-BCA4-6EE24A60F5F5}" type="datetimeFigureOut">
              <a:rPr lang="es-EC" smtClean="0"/>
              <a:t>30/6/2020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2567186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8F040707-A5DC-4ABB-BCA4-6EE24A60F5F5}" type="datetimeFigureOut">
              <a:rPr lang="es-EC" smtClean="0"/>
              <a:t>30/6/2020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1114852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p:cNvSpPr>
            <a:spLocks noGrp="1"/>
          </p:cNvSpPr>
          <p:nvPr>
            <p:ph type="dt" sz="half" idx="10"/>
          </p:nvPr>
        </p:nvSpPr>
        <p:spPr/>
        <p:txBody>
          <a:bodyPr/>
          <a:lstStyle/>
          <a:p>
            <a:fld id="{8F040707-A5DC-4ABB-BCA4-6EE24A60F5F5}" type="datetimeFigureOut">
              <a:rPr lang="es-EC" smtClean="0"/>
              <a:t>30/6/2020</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1103126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p:cNvSpPr>
            <a:spLocks noGrp="1"/>
          </p:cNvSpPr>
          <p:nvPr>
            <p:ph type="dt" sz="half" idx="10"/>
          </p:nvPr>
        </p:nvSpPr>
        <p:spPr/>
        <p:txBody>
          <a:bodyPr/>
          <a:lstStyle/>
          <a:p>
            <a:fld id="{8F040707-A5DC-4ABB-BCA4-6EE24A60F5F5}" type="datetimeFigureOut">
              <a:rPr lang="es-EC" smtClean="0"/>
              <a:t>30/6/2020</a:t>
            </a:fld>
            <a:endParaRPr lang="es-EC"/>
          </a:p>
        </p:txBody>
      </p:sp>
      <p:sp>
        <p:nvSpPr>
          <p:cNvPr id="8" name="Marcador de pie de página 7"/>
          <p:cNvSpPr>
            <a:spLocks noGrp="1"/>
          </p:cNvSpPr>
          <p:nvPr>
            <p:ph type="ftr" sz="quarter" idx="11"/>
          </p:nvPr>
        </p:nvSpPr>
        <p:spPr/>
        <p:txBody>
          <a:bodyPr/>
          <a:lstStyle/>
          <a:p>
            <a:endParaRPr lang="es-EC"/>
          </a:p>
        </p:txBody>
      </p:sp>
      <p:sp>
        <p:nvSpPr>
          <p:cNvPr id="9" name="Marcador de número de diapositiva 8"/>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2789887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fecha 2"/>
          <p:cNvSpPr>
            <a:spLocks noGrp="1"/>
          </p:cNvSpPr>
          <p:nvPr>
            <p:ph type="dt" sz="half" idx="10"/>
          </p:nvPr>
        </p:nvSpPr>
        <p:spPr/>
        <p:txBody>
          <a:bodyPr/>
          <a:lstStyle/>
          <a:p>
            <a:fld id="{8F040707-A5DC-4ABB-BCA4-6EE24A60F5F5}" type="datetimeFigureOut">
              <a:rPr lang="es-EC" smtClean="0"/>
              <a:t>30/6/2020</a:t>
            </a:fld>
            <a:endParaRPr lang="es-EC"/>
          </a:p>
        </p:txBody>
      </p:sp>
      <p:sp>
        <p:nvSpPr>
          <p:cNvPr id="4" name="Marcador de pie de página 3"/>
          <p:cNvSpPr>
            <a:spLocks noGrp="1"/>
          </p:cNvSpPr>
          <p:nvPr>
            <p:ph type="ftr" sz="quarter" idx="11"/>
          </p:nvPr>
        </p:nvSpPr>
        <p:spPr/>
        <p:txBody>
          <a:bodyPr/>
          <a:lstStyle/>
          <a:p>
            <a:endParaRPr lang="es-EC"/>
          </a:p>
        </p:txBody>
      </p:sp>
      <p:sp>
        <p:nvSpPr>
          <p:cNvPr id="5" name="Marcador de número de diapositiva 4"/>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2523926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F040707-A5DC-4ABB-BCA4-6EE24A60F5F5}" type="datetimeFigureOut">
              <a:rPr lang="es-EC" smtClean="0"/>
              <a:t>30/6/2020</a:t>
            </a:fld>
            <a:endParaRPr lang="es-EC"/>
          </a:p>
        </p:txBody>
      </p:sp>
      <p:sp>
        <p:nvSpPr>
          <p:cNvPr id="3" name="Marcador de pie de página 2"/>
          <p:cNvSpPr>
            <a:spLocks noGrp="1"/>
          </p:cNvSpPr>
          <p:nvPr>
            <p:ph type="ftr" sz="quarter" idx="11"/>
          </p:nvPr>
        </p:nvSpPr>
        <p:spPr/>
        <p:txBody>
          <a:bodyPr/>
          <a:lstStyle/>
          <a:p>
            <a:endParaRPr lang="es-EC"/>
          </a:p>
        </p:txBody>
      </p:sp>
      <p:sp>
        <p:nvSpPr>
          <p:cNvPr id="4" name="Marcador de número de diapositiva 3"/>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611340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8F040707-A5DC-4ABB-BCA4-6EE24A60F5F5}" type="datetimeFigureOut">
              <a:rPr lang="es-EC" smtClean="0"/>
              <a:t>30/6/2020</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18654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8F040707-A5DC-4ABB-BCA4-6EE24A60F5F5}" type="datetimeFigureOut">
              <a:rPr lang="es-EC" smtClean="0"/>
              <a:t>30/6/2020</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110812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8F040707-A5DC-4ABB-BCA4-6EE24A60F5F5}" type="datetimeFigureOut">
              <a:rPr lang="es-EC" smtClean="0"/>
              <a:t>30/6/2020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330942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8F040707-A5DC-4ABB-BCA4-6EE24A60F5F5}" type="datetimeFigureOut">
              <a:rPr lang="es-EC" smtClean="0"/>
              <a:t>30/6/2020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162A7DC6-72A6-48E0-ACF8-0455B3890CDC}" type="slidenum">
              <a:rPr lang="es-EC" smtClean="0"/>
              <a:t>‹#›</a:t>
            </a:fld>
            <a:endParaRPr lang="es-EC"/>
          </a:p>
        </p:txBody>
      </p:sp>
    </p:spTree>
    <p:extLst>
      <p:ext uri="{BB962C8B-B14F-4D97-AF65-F5344CB8AC3E}">
        <p14:creationId xmlns:p14="http://schemas.microsoft.com/office/powerpoint/2010/main" val="804298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40707-A5DC-4ABB-BCA4-6EE24A60F5F5}" type="datetimeFigureOut">
              <a:rPr lang="es-EC" smtClean="0"/>
              <a:t>30/6/2020</a:t>
            </a:fld>
            <a:endParaRPr lang="es-EC"/>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A7DC6-72A6-48E0-ACF8-0455B3890CDC}" type="slidenum">
              <a:rPr lang="es-EC" smtClean="0"/>
              <a:t>‹#›</a:t>
            </a:fld>
            <a:endParaRPr lang="es-EC"/>
          </a:p>
        </p:txBody>
      </p:sp>
    </p:spTree>
    <p:extLst>
      <p:ext uri="{BB962C8B-B14F-4D97-AF65-F5344CB8AC3E}">
        <p14:creationId xmlns:p14="http://schemas.microsoft.com/office/powerpoint/2010/main" val="4193799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38.png"/><Relationship Id="rId7" Type="http://schemas.openxmlformats.org/officeDocument/2006/relationships/image" Target="../media/image3.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4.png"/><Relationship Id="rId5" Type="http://schemas.openxmlformats.org/officeDocument/2006/relationships/image" Target="../media/image40.png"/><Relationship Id="rId10" Type="http://schemas.openxmlformats.org/officeDocument/2006/relationships/customXml" Target="../ink/ink3.xml"/><Relationship Id="rId4" Type="http://schemas.openxmlformats.org/officeDocument/2006/relationships/image" Target="../media/image39.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410.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customXml" Target="../ink/ink5.xml"/><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10.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1.png"/><Relationship Id="rId4" Type="http://schemas.openxmlformats.org/officeDocument/2006/relationships/image" Target="../media/image310.png"/></Relationships>
</file>

<file path=ppt/slides/_rels/slide12.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61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1.png"/><Relationship Id="rId7" Type="http://schemas.openxmlformats.org/officeDocument/2006/relationships/image" Target="../media/image62.png"/><Relationship Id="rId2" Type="http://schemas.openxmlformats.org/officeDocument/2006/relationships/image" Target="../media/image571.png"/><Relationship Id="rId1" Type="http://schemas.openxmlformats.org/officeDocument/2006/relationships/slideLayout" Target="../slideLayouts/slideLayout7.xml"/><Relationship Id="rId6" Type="http://schemas.openxmlformats.org/officeDocument/2006/relationships/image" Target="../media/image610.png"/><Relationship Id="rId5" Type="http://schemas.openxmlformats.org/officeDocument/2006/relationships/image" Target="../media/image601.png"/><Relationship Id="rId4" Type="http://schemas.openxmlformats.org/officeDocument/2006/relationships/image" Target="../media/image591.png"/></Relationships>
</file>

<file path=ppt/slides/_rels/slide21.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710.png"/><Relationship Id="rId7" Type="http://schemas.openxmlformats.org/officeDocument/2006/relationships/image" Target="../media/image75.png"/><Relationship Id="rId2" Type="http://schemas.openxmlformats.org/officeDocument/2006/relationships/image" Target="../media/image700.png"/><Relationship Id="rId1" Type="http://schemas.openxmlformats.org/officeDocument/2006/relationships/slideLayout" Target="../slideLayouts/slideLayout7.xml"/><Relationship Id="rId6" Type="http://schemas.openxmlformats.org/officeDocument/2006/relationships/image" Target="../media/image740.png"/><Relationship Id="rId5" Type="http://schemas.openxmlformats.org/officeDocument/2006/relationships/image" Target="../media/image730.png"/><Relationship Id="rId4" Type="http://schemas.openxmlformats.org/officeDocument/2006/relationships/image" Target="../media/image720.png"/></Relationships>
</file>

<file path=ppt/slides/_rels/slide2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5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57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00.png"/><Relationship Id="rId4" Type="http://schemas.openxmlformats.org/officeDocument/2006/relationships/image" Target="../media/image590.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s>
</file>

<file path=ppt/slides/_rels/slide3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3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 Id="rId4" Type="http://schemas.openxmlformats.org/officeDocument/2006/relationships/image" Target="../media/image98.png"/></Relationships>
</file>

<file path=ppt/slides/_rels/slide35.xml.rels><?xml version="1.0" encoding="UTF-8" standalone="yes"?>
<Relationships xmlns="http://schemas.openxmlformats.org/package/2006/relationships"><Relationship Id="rId8" Type="http://schemas.openxmlformats.org/officeDocument/2006/relationships/image" Target="../media/image170.png"/><Relationship Id="rId7" Type="http://schemas.openxmlformats.org/officeDocument/2006/relationships/image" Target="../media/image160.png"/><Relationship Id="rId1" Type="http://schemas.openxmlformats.org/officeDocument/2006/relationships/slideLayout" Target="../slideLayouts/slideLayout7.xml"/><Relationship Id="rId6" Type="http://schemas.openxmlformats.org/officeDocument/2006/relationships/image" Target="../media/image150.png"/><Relationship Id="rId9" Type="http://schemas.openxmlformats.org/officeDocument/2006/relationships/image" Target="../media/image180.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image" Target="../media/image8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image" Target="../media/image820.png"/><Relationship Id="rId1" Type="http://schemas.openxmlformats.org/officeDocument/2006/relationships/slideLayout" Target="../slideLayouts/slideLayout7.xml"/><Relationship Id="rId5" Type="http://schemas.openxmlformats.org/officeDocument/2006/relationships/image" Target="../media/image850.png"/><Relationship Id="rId4" Type="http://schemas.openxmlformats.org/officeDocument/2006/relationships/image" Target="../media/image840.png"/></Relationships>
</file>

<file path=ppt/slides/_rels/slide39.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image" Target="../media/image860.png"/><Relationship Id="rId1" Type="http://schemas.openxmlformats.org/officeDocument/2006/relationships/slideLayout" Target="../slideLayouts/slideLayout7.xml"/><Relationship Id="rId5" Type="http://schemas.openxmlformats.org/officeDocument/2006/relationships/image" Target="../media/image890.png"/><Relationship Id="rId4" Type="http://schemas.openxmlformats.org/officeDocument/2006/relationships/image" Target="../media/image880.png"/></Relationships>
</file>

<file path=ppt/slides/_rels/slide40.xml.rels><?xml version="1.0" encoding="UTF-8" standalone="yes"?>
<Relationships xmlns="http://schemas.openxmlformats.org/package/2006/relationships"><Relationship Id="rId2" Type="http://schemas.openxmlformats.org/officeDocument/2006/relationships/image" Target="../media/image90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21.png"/><Relationship Id="rId2" Type="http://schemas.openxmlformats.org/officeDocument/2006/relationships/image" Target="../media/image91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image" Target="../media/image9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950.png"/><Relationship Id="rId2" Type="http://schemas.openxmlformats.org/officeDocument/2006/relationships/image" Target="../media/image920.png"/><Relationship Id="rId1" Type="http://schemas.openxmlformats.org/officeDocument/2006/relationships/slideLayout" Target="../slideLayouts/slideLayout7.xml"/><Relationship Id="rId4" Type="http://schemas.openxmlformats.org/officeDocument/2006/relationships/image" Target="../media/image960.png"/></Relationships>
</file>

<file path=ppt/slides/_rels/slide44.xml.rels><?xml version="1.0" encoding="UTF-8" standalone="yes"?>
<Relationships xmlns="http://schemas.openxmlformats.org/package/2006/relationships"><Relationship Id="rId3" Type="http://schemas.openxmlformats.org/officeDocument/2006/relationships/image" Target="../media/image97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81.png"/></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4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3.png"/><Relationship Id="rId4" Type="http://schemas.openxmlformats.org/officeDocument/2006/relationships/image" Target="../media/image102.png"/></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6.png"/><Relationship Id="rId4" Type="http://schemas.openxmlformats.org/officeDocument/2006/relationships/image" Target="../media/image105.png"/></Relationships>
</file>

<file path=ppt/slides/_rels/slide48.xml.rels><?xml version="1.0" encoding="UTF-8" standalone="yes"?>
<Relationships xmlns="http://schemas.openxmlformats.org/package/2006/relationships"><Relationship Id="rId3" Type="http://schemas.openxmlformats.org/officeDocument/2006/relationships/image" Target="../media/image97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80.png"/></Relationships>
</file>

<file path=ppt/slides/_rels/slide49.xml.rels><?xml version="1.0" encoding="UTF-8" standalone="yes"?>
<Relationships xmlns="http://schemas.openxmlformats.org/package/2006/relationships"><Relationship Id="rId3" Type="http://schemas.openxmlformats.org/officeDocument/2006/relationships/image" Target="../media/image990.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010.png"/><Relationship Id="rId4" Type="http://schemas.openxmlformats.org/officeDocument/2006/relationships/image" Target="../media/image10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p:txBody>
          <a:bodyPr/>
          <a:lstStyle/>
          <a:p>
            <a:r>
              <a:rPr lang="es-EC" dirty="0"/>
              <a:t>Variables Aleatorias - Modelos Estocásticos</a:t>
            </a:r>
          </a:p>
        </p:txBody>
      </p:sp>
      <p:sp>
        <p:nvSpPr>
          <p:cNvPr id="5" name="Título 1"/>
          <p:cNvSpPr txBox="1">
            <a:spLocks/>
          </p:cNvSpPr>
          <p:nvPr/>
        </p:nvSpPr>
        <p:spPr>
          <a:xfrm>
            <a:off x="1524000" y="1150939"/>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C"/>
              <a:t>Estadística</a:t>
            </a:r>
            <a:endParaRPr lang="es-EC" dirty="0"/>
          </a:p>
        </p:txBody>
      </p:sp>
    </p:spTree>
    <p:extLst>
      <p:ext uri="{BB962C8B-B14F-4D97-AF65-F5344CB8AC3E}">
        <p14:creationId xmlns:p14="http://schemas.microsoft.com/office/powerpoint/2010/main" val="882891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E1728DA4-BB4A-470B-9F43-9D169FA69BF2}"/>
                  </a:ext>
                </a:extLst>
              </p:cNvPr>
              <p:cNvSpPr/>
              <p:nvPr/>
            </p:nvSpPr>
            <p:spPr>
              <a:xfrm>
                <a:off x="1458686" y="694886"/>
                <a:ext cx="8991600" cy="5776005"/>
              </a:xfrm>
              <a:prstGeom prst="rect">
                <a:avLst/>
              </a:prstGeom>
            </p:spPr>
            <p:txBody>
              <a:bodyPr wrap="square">
                <a:spAutoFit/>
              </a:bodyPr>
              <a:lstStyle/>
              <a:p>
                <a:pPr algn="just"/>
                <a:r>
                  <a:rPr lang="es-EC" sz="2000" dirty="0"/>
                  <a:t>Supongamos el experimento consistente en elegir al azar o aleatoriamente a una individuo de la Comunidad Politécnica. Obviamente el espacio muestral está formado por los distintos individuos. Si los numeramos tenemos Ω = </a:t>
                </a:r>
                <a14:m>
                  <m:oMath xmlns:m="http://schemas.openxmlformats.org/officeDocument/2006/math">
                    <m:sSubSup>
                      <m:sSubSupPr>
                        <m:ctrlPr>
                          <a:rPr lang="es-EC" sz="2000" i="1" dirty="0" smtClean="0">
                            <a:latin typeface="Cambria Math" panose="02040503050406030204" pitchFamily="18" charset="0"/>
                          </a:rPr>
                        </m:ctrlPr>
                      </m:sSubSupPr>
                      <m:e>
                        <m:r>
                          <a:rPr lang="es-EC" sz="2000" i="1" dirty="0">
                            <a:latin typeface="Cambria Math" panose="02040503050406030204" pitchFamily="18" charset="0"/>
                          </a:rPr>
                          <m:t>{</m:t>
                        </m:r>
                        <m:r>
                          <a:rPr lang="es-EC" sz="2000" i="1" dirty="0" err="1">
                            <a:latin typeface="Cambria Math" panose="02040503050406030204" pitchFamily="18" charset="0"/>
                          </a:rPr>
                          <m:t>𝜔</m:t>
                        </m:r>
                        <m:r>
                          <a:rPr lang="es-EC" sz="2000" i="1" dirty="0" err="1">
                            <a:latin typeface="Cambria Math" panose="02040503050406030204" pitchFamily="18" charset="0"/>
                          </a:rPr>
                          <m:t>𝑖</m:t>
                        </m:r>
                        <m:r>
                          <a:rPr lang="es-EC" sz="2000" i="1" dirty="0">
                            <a:latin typeface="Cambria Math" panose="02040503050406030204" pitchFamily="18" charset="0"/>
                          </a:rPr>
                          <m:t>}</m:t>
                        </m:r>
                      </m:e>
                      <m:sub>
                        <m:r>
                          <a:rPr lang="es-EC" sz="2000" b="0" i="1" dirty="0" smtClean="0">
                            <a:latin typeface="Cambria Math" panose="02040503050406030204" pitchFamily="18" charset="0"/>
                          </a:rPr>
                          <m:t>𝑖</m:t>
                        </m:r>
                        <m:r>
                          <a:rPr lang="es-EC" sz="2000" b="0" i="1" dirty="0" smtClean="0">
                            <a:latin typeface="Cambria Math" panose="02040503050406030204" pitchFamily="18" charset="0"/>
                          </a:rPr>
                          <m:t>=1</m:t>
                        </m:r>
                      </m:sub>
                      <m:sup>
                        <m:r>
                          <a:rPr lang="es-EC" sz="2000" b="0" i="1" dirty="0" smtClean="0">
                            <a:latin typeface="Cambria Math" panose="02040503050406030204" pitchFamily="18" charset="0"/>
                          </a:rPr>
                          <m:t>𝑁</m:t>
                        </m:r>
                      </m:sup>
                    </m:sSubSup>
                  </m:oMath>
                </a14:m>
                <a:r>
                  <a:rPr lang="es-EC" sz="2000" dirty="0"/>
                  <a:t> donde N es el número total de personas de la Comunidad. Elección al azar supone que cada individuo tiene la misma probabilidad de ser elegido. Por tanto tenemos</a:t>
                </a:r>
              </a:p>
              <a:p>
                <a:pPr algn="just"/>
                <a:endParaRPr lang="es-EC" sz="2000" dirty="0"/>
              </a:p>
              <a:p>
                <a:pPr algn="ctr"/>
                <a:r>
                  <a:rPr lang="es-EC" sz="2000" dirty="0"/>
                  <a:t>P ({</a:t>
                </a:r>
                <a:r>
                  <a:rPr lang="el-GR" sz="2000" dirty="0"/>
                  <a:t>ω</a:t>
                </a:r>
                <a:r>
                  <a:rPr lang="es-EC" sz="2000" dirty="0"/>
                  <a:t>i}) =</a:t>
                </a:r>
                <a14:m>
                  <m:oMath xmlns:m="http://schemas.openxmlformats.org/officeDocument/2006/math">
                    <m:f>
                      <m:fPr>
                        <m:ctrlPr>
                          <a:rPr lang="es-EC" sz="2000" i="1" smtClean="0">
                            <a:latin typeface="Cambria Math" panose="02040503050406030204" pitchFamily="18" charset="0"/>
                          </a:rPr>
                        </m:ctrlPr>
                      </m:fPr>
                      <m:num>
                        <m:r>
                          <a:rPr lang="es-EC" sz="2000" b="0" i="1" smtClean="0">
                            <a:latin typeface="Cambria Math" panose="02040503050406030204" pitchFamily="18" charset="0"/>
                          </a:rPr>
                          <m:t>1</m:t>
                        </m:r>
                      </m:num>
                      <m:den>
                        <m:r>
                          <a:rPr lang="es-EC" sz="2000" b="0" i="1" smtClean="0">
                            <a:latin typeface="Cambria Math" panose="02040503050406030204" pitchFamily="18" charset="0"/>
                          </a:rPr>
                          <m:t>𝑁</m:t>
                        </m:r>
                      </m:den>
                    </m:f>
                  </m:oMath>
                </a14:m>
                <a:endParaRPr lang="es-EC" sz="2000" dirty="0"/>
              </a:p>
              <a:p>
                <a:pPr algn="just"/>
                <a:endParaRPr lang="es-EC" sz="2000" dirty="0"/>
              </a:p>
              <a:p>
                <a:pPr algn="just"/>
                <a:r>
                  <a:rPr lang="es-EC" sz="2000" dirty="0"/>
                  <a:t>nuestro interés no está en el individuo ω que obtenemos cuando seleccionamos a una persona al azar sino que nuestro interés es un valor asociado a ω que denotamos por X(ω) y que puede ser su tensión arterial. Lo que es aleatorio es ω porque lo seleccionamos aleatoriamente. Una vez tenemos ω el valor X(ω) = x viene dado. Elegimos al azar a una persona, una vez elegida su edad no es aleatoria, es la que tiene. Elegimos al azar una muestra de agua en una planta de tratamiento de aguas residuales. Luego determinamos la demanda química de oxígeno. A la función que asocia a un resultado un valor numérico se le llama variable aleatoria. Lo podemos denotar como	 		     X : </a:t>
                </a:r>
                <a:r>
                  <a:rPr lang="el-GR" sz="2000" dirty="0"/>
                  <a:t>Ω → </a:t>
                </a:r>
                <a:r>
                  <a:rPr lang="es-EC" sz="2000" dirty="0"/>
                  <a:t>R</a:t>
                </a:r>
              </a:p>
              <a:p>
                <a:pPr algn="ctr"/>
                <a:r>
                  <a:rPr lang="es-EC" sz="2000" dirty="0"/>
                  <a:t>                 </a:t>
                </a:r>
                <a:r>
                  <a:rPr lang="el-GR" sz="2000" dirty="0"/>
                  <a:t>ω → </a:t>
                </a:r>
                <a:r>
                  <a:rPr lang="es-EC" sz="2000" dirty="0"/>
                  <a:t>X(</a:t>
                </a:r>
                <a:r>
                  <a:rPr lang="el-GR" sz="2000" dirty="0"/>
                  <a:t>ω) = </a:t>
                </a:r>
                <a:r>
                  <a:rPr lang="es-EC" sz="2000" dirty="0"/>
                  <a:t>x</a:t>
                </a:r>
              </a:p>
            </p:txBody>
          </p:sp>
        </mc:Choice>
        <mc:Fallback>
          <p:sp>
            <p:nvSpPr>
              <p:cNvPr id="2" name="Rectangle 1">
                <a:extLst>
                  <a:ext uri="{FF2B5EF4-FFF2-40B4-BE49-F238E27FC236}">
                    <a16:creationId xmlns:a16="http://schemas.microsoft.com/office/drawing/2014/main" id="{E1728DA4-BB4A-470B-9F43-9D169FA69BF2}"/>
                  </a:ext>
                </a:extLst>
              </p:cNvPr>
              <p:cNvSpPr>
                <a:spLocks noRot="1" noChangeAspect="1" noMove="1" noResize="1" noEditPoints="1" noAdjustHandles="1" noChangeArrowheads="1" noChangeShapeType="1" noTextEdit="1"/>
              </p:cNvSpPr>
              <p:nvPr/>
            </p:nvSpPr>
            <p:spPr>
              <a:xfrm>
                <a:off x="1458686" y="694886"/>
                <a:ext cx="8991600" cy="5776005"/>
              </a:xfrm>
              <a:prstGeom prst="rect">
                <a:avLst/>
              </a:prstGeom>
              <a:blipFill>
                <a:blip r:embed="rId2"/>
                <a:stretch>
                  <a:fillRect l="-678" t="-634" r="-746" b="-950"/>
                </a:stretch>
              </a:blipFill>
            </p:spPr>
            <p:txBody>
              <a:bodyPr/>
              <a:lstStyle/>
              <a:p>
                <a:r>
                  <a:rPr lang="es-EC">
                    <a:noFill/>
                  </a:rPr>
                  <a:t> </a:t>
                </a:r>
              </a:p>
            </p:txBody>
          </p:sp>
        </mc:Fallback>
      </mc:AlternateContent>
    </p:spTree>
    <p:extLst>
      <p:ext uri="{BB962C8B-B14F-4D97-AF65-F5344CB8AC3E}">
        <p14:creationId xmlns:p14="http://schemas.microsoft.com/office/powerpoint/2010/main" val="3965264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p:sp>
        <p:nvSpPr>
          <p:cNvPr id="3" name="CuadroTexto 2"/>
          <p:cNvSpPr txBox="1"/>
          <p:nvPr/>
        </p:nvSpPr>
        <p:spPr>
          <a:xfrm>
            <a:off x="631110" y="996509"/>
            <a:ext cx="9415463" cy="1261884"/>
          </a:xfrm>
          <a:prstGeom prst="rect">
            <a:avLst/>
          </a:prstGeom>
          <a:noFill/>
        </p:spPr>
        <p:txBody>
          <a:bodyPr wrap="square" rtlCol="0">
            <a:spAutoFit/>
          </a:bodyPr>
          <a:lstStyle/>
          <a:p>
            <a:r>
              <a:rPr lang="es-EC" sz="2800" b="1" dirty="0"/>
              <a:t>Definición</a:t>
            </a:r>
          </a:p>
          <a:p>
            <a:r>
              <a:rPr lang="es-EC" sz="2400" b="1" dirty="0"/>
              <a:t>Función</a:t>
            </a:r>
            <a:r>
              <a:rPr lang="es-EC" sz="2400" dirty="0"/>
              <a:t> que considerando los elementos del espacio muestral (</a:t>
            </a:r>
            <a:r>
              <a:rPr lang="el-GR" sz="2400" dirty="0"/>
              <a:t>Ω</a:t>
            </a:r>
            <a:r>
              <a:rPr lang="es-EC" sz="2400" dirty="0"/>
              <a:t>) puede tomar un valor definido dentro de los números reales.</a:t>
            </a:r>
          </a:p>
        </p:txBody>
      </p:sp>
      <p:sp>
        <p:nvSpPr>
          <p:cNvPr id="4" name="CuadroTexto 3"/>
          <p:cNvSpPr txBox="1"/>
          <p:nvPr/>
        </p:nvSpPr>
        <p:spPr>
          <a:xfrm>
            <a:off x="4009568" y="2292161"/>
            <a:ext cx="1979664" cy="584775"/>
          </a:xfrm>
          <a:prstGeom prst="rect">
            <a:avLst/>
          </a:prstGeom>
          <a:noFill/>
        </p:spPr>
        <p:txBody>
          <a:bodyPr wrap="square" rtlCol="0">
            <a:spAutoFit/>
          </a:bodyPr>
          <a:lstStyle/>
          <a:p>
            <a:r>
              <a:rPr lang="es-EC" sz="3200" dirty="0"/>
              <a:t>X: </a:t>
            </a:r>
            <a:r>
              <a:rPr lang="el-GR" sz="3200" dirty="0"/>
              <a:t>Ω</a:t>
            </a:r>
            <a:r>
              <a:rPr lang="es-EC" sz="3200" dirty="0">
                <a:sym typeface="Wingdings" panose="05000000000000000000" pitchFamily="2" charset="2"/>
              </a:rPr>
              <a:t> ℝ</a:t>
            </a:r>
            <a:endParaRPr lang="es-EC" sz="3200" dirty="0"/>
          </a:p>
        </p:txBody>
      </p:sp>
      <p:sp>
        <p:nvSpPr>
          <p:cNvPr id="5" name="CuadroTexto 4"/>
          <p:cNvSpPr txBox="1"/>
          <p:nvPr/>
        </p:nvSpPr>
        <p:spPr>
          <a:xfrm>
            <a:off x="631110" y="2940807"/>
            <a:ext cx="10195227" cy="461665"/>
          </a:xfrm>
          <a:prstGeom prst="rect">
            <a:avLst/>
          </a:prstGeom>
          <a:noFill/>
        </p:spPr>
        <p:txBody>
          <a:bodyPr wrap="none" rtlCol="0">
            <a:spAutoFit/>
          </a:bodyPr>
          <a:lstStyle/>
          <a:p>
            <a:r>
              <a:rPr lang="es-EC" sz="2400" dirty="0"/>
              <a:t>Es decir que para cada </a:t>
            </a:r>
            <a:r>
              <a:rPr lang="el-GR" sz="2400" dirty="0"/>
              <a:t>ω</a:t>
            </a:r>
            <a:r>
              <a:rPr lang="es-EC" sz="2400" dirty="0"/>
              <a:t> </a:t>
            </a:r>
            <a:r>
              <a:rPr lang="el-GR" sz="2400" dirty="0"/>
              <a:t>ϵ</a:t>
            </a:r>
            <a:r>
              <a:rPr lang="es-EC" sz="2400" dirty="0"/>
              <a:t> </a:t>
            </a:r>
            <a:r>
              <a:rPr lang="el-GR" sz="2400" dirty="0"/>
              <a:t>Ω</a:t>
            </a:r>
            <a:r>
              <a:rPr lang="es-EC" sz="2400" dirty="0"/>
              <a:t> se tiene que la función X(</a:t>
            </a:r>
            <a:r>
              <a:rPr lang="el-GR" sz="2400" dirty="0"/>
              <a:t>ω</a:t>
            </a:r>
            <a:r>
              <a:rPr lang="es-EC" sz="2400" dirty="0"/>
              <a:t>) asigna un número real.</a:t>
            </a:r>
            <a:endParaRPr lang="es-EC" sz="2800" dirty="0"/>
          </a:p>
        </p:txBody>
      </p:sp>
      <mc:AlternateContent xmlns:mc="http://schemas.openxmlformats.org/markup-compatibility/2006" xmlns:a14="http://schemas.microsoft.com/office/drawing/2010/main">
        <mc:Choice Requires="a14">
          <p:sp>
            <p:nvSpPr>
              <p:cNvPr id="6" name="CuadroTexto 5"/>
              <p:cNvSpPr txBox="1"/>
              <p:nvPr/>
            </p:nvSpPr>
            <p:spPr>
              <a:xfrm>
                <a:off x="4159211" y="4405778"/>
                <a:ext cx="292179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800" b="0" i="1" smtClean="0">
                          <a:latin typeface="Cambria Math" panose="02040503050406030204" pitchFamily="18" charset="0"/>
                        </a:rPr>
                        <m:t>Ω</m:t>
                      </m:r>
                      <m:r>
                        <a:rPr lang="es-EC" sz="2800" b="0" i="1" smtClean="0">
                          <a:latin typeface="Cambria Math" panose="02040503050406030204" pitchFamily="18" charset="0"/>
                        </a:rPr>
                        <m:t>=</m:t>
                      </m:r>
                      <m:d>
                        <m:dPr>
                          <m:begChr m:val="{"/>
                          <m:endChr m:val="}"/>
                          <m:ctrlPr>
                            <a:rPr lang="es-EC" sz="2800" b="0" i="1" smtClean="0">
                              <a:latin typeface="Cambria Math" panose="02040503050406030204" pitchFamily="18" charset="0"/>
                            </a:rPr>
                          </m:ctrlPr>
                        </m:dPr>
                        <m:e>
                          <m:r>
                            <a:rPr lang="es-EC" sz="2800" b="0" i="1" smtClean="0">
                              <a:latin typeface="Cambria Math" panose="02040503050406030204" pitchFamily="18" charset="0"/>
                            </a:rPr>
                            <m:t>𝑐𝑐</m:t>
                          </m:r>
                          <m:r>
                            <a:rPr lang="es-EC" sz="2800" b="0" i="1" smtClean="0">
                              <a:latin typeface="Cambria Math" panose="02040503050406030204" pitchFamily="18" charset="0"/>
                            </a:rPr>
                            <m:t>,</m:t>
                          </m:r>
                          <m:r>
                            <a:rPr lang="es-EC" sz="2800" b="0" i="1" smtClean="0">
                              <a:latin typeface="Cambria Math" panose="02040503050406030204" pitchFamily="18" charset="0"/>
                            </a:rPr>
                            <m:t>𝑐𝑠</m:t>
                          </m:r>
                          <m:r>
                            <a:rPr lang="es-EC" sz="2800" b="0" i="1" smtClean="0">
                              <a:latin typeface="Cambria Math" panose="02040503050406030204" pitchFamily="18" charset="0"/>
                            </a:rPr>
                            <m:t>;</m:t>
                          </m:r>
                          <m:r>
                            <a:rPr lang="es-EC" sz="2800" b="0" i="1" smtClean="0">
                              <a:latin typeface="Cambria Math" panose="02040503050406030204" pitchFamily="18" charset="0"/>
                            </a:rPr>
                            <m:t>𝑠𝑐</m:t>
                          </m:r>
                          <m:r>
                            <a:rPr lang="es-EC" sz="2800" b="0" i="1" smtClean="0">
                              <a:latin typeface="Cambria Math" panose="02040503050406030204" pitchFamily="18" charset="0"/>
                            </a:rPr>
                            <m:t>;</m:t>
                          </m:r>
                          <m:r>
                            <a:rPr lang="es-EC" sz="2800" b="0" i="1" smtClean="0">
                              <a:latin typeface="Cambria Math" panose="02040503050406030204" pitchFamily="18" charset="0"/>
                            </a:rPr>
                            <m:t>𝑠𝑠</m:t>
                          </m:r>
                        </m:e>
                      </m:d>
                    </m:oMath>
                  </m:oMathPara>
                </a14:m>
                <a:endParaRPr lang="es-EC" sz="28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4159211" y="4405778"/>
                <a:ext cx="2921793" cy="430887"/>
              </a:xfrm>
              <a:prstGeom prst="rect">
                <a:avLst/>
              </a:prstGeom>
              <a:blipFill rotWithShape="0">
                <a:blip r:embed="rId2"/>
                <a:stretch>
                  <a:fillRect/>
                </a:stretch>
              </a:blipFill>
            </p:spPr>
            <p:txBody>
              <a:bodyPr/>
              <a:lstStyle/>
              <a:p>
                <a:r>
                  <a:rPr lang="es-EC">
                    <a:noFill/>
                  </a:rPr>
                  <a:t> </a:t>
                </a:r>
              </a:p>
            </p:txBody>
          </p:sp>
        </mc:Fallback>
      </mc:AlternateContent>
      <p:sp>
        <p:nvSpPr>
          <p:cNvPr id="7" name="CuadroTexto 6"/>
          <p:cNvSpPr txBox="1"/>
          <p:nvPr/>
        </p:nvSpPr>
        <p:spPr>
          <a:xfrm>
            <a:off x="631110" y="3620823"/>
            <a:ext cx="9601201" cy="830997"/>
          </a:xfrm>
          <a:prstGeom prst="rect">
            <a:avLst/>
          </a:prstGeom>
          <a:noFill/>
        </p:spPr>
        <p:txBody>
          <a:bodyPr wrap="square" rtlCol="0">
            <a:spAutoFit/>
          </a:bodyPr>
          <a:lstStyle/>
          <a:p>
            <a:r>
              <a:rPr lang="es-EC" sz="2400" dirty="0"/>
              <a:t>Ejemplo</a:t>
            </a:r>
          </a:p>
          <a:p>
            <a:r>
              <a:rPr lang="es-EC" sz="2400" dirty="0"/>
              <a:t>Espacio muestral: Resultados del lanzamiento de 2 monedas</a:t>
            </a:r>
          </a:p>
        </p:txBody>
      </p:sp>
      <p:sp>
        <p:nvSpPr>
          <p:cNvPr id="8" name="CuadroTexto 7"/>
          <p:cNvSpPr txBox="1"/>
          <p:nvPr/>
        </p:nvSpPr>
        <p:spPr>
          <a:xfrm>
            <a:off x="631110" y="5205176"/>
            <a:ext cx="2822376" cy="461665"/>
          </a:xfrm>
          <a:prstGeom prst="rect">
            <a:avLst/>
          </a:prstGeom>
          <a:noFill/>
        </p:spPr>
        <p:txBody>
          <a:bodyPr wrap="none" rtlCol="0">
            <a:spAutoFit/>
          </a:bodyPr>
          <a:lstStyle/>
          <a:p>
            <a:r>
              <a:rPr lang="es-EC" sz="2400" dirty="0"/>
              <a:t>Evento: Obtener cara</a:t>
            </a:r>
          </a:p>
        </p:txBody>
      </p:sp>
      <p:sp>
        <p:nvSpPr>
          <p:cNvPr id="9" name="CuadroTexto 8"/>
          <p:cNvSpPr txBox="1"/>
          <p:nvPr/>
        </p:nvSpPr>
        <p:spPr>
          <a:xfrm>
            <a:off x="4159211" y="6020372"/>
            <a:ext cx="3223896" cy="461665"/>
          </a:xfrm>
          <a:prstGeom prst="rect">
            <a:avLst/>
          </a:prstGeom>
          <a:noFill/>
        </p:spPr>
        <p:txBody>
          <a:bodyPr wrap="none" rtlCol="0">
            <a:spAutoFit/>
          </a:bodyPr>
          <a:lstStyle/>
          <a:p>
            <a:r>
              <a:rPr lang="es-EC" sz="2400" b="1" dirty="0"/>
              <a:t>¿Qué valores tomará X?</a:t>
            </a:r>
          </a:p>
        </p:txBody>
      </p:sp>
      <p:sp>
        <p:nvSpPr>
          <p:cNvPr id="10" name="CuadroTexto 9"/>
          <p:cNvSpPr txBox="1"/>
          <p:nvPr/>
        </p:nvSpPr>
        <p:spPr>
          <a:xfrm>
            <a:off x="4716411" y="5197686"/>
            <a:ext cx="3976137" cy="461665"/>
          </a:xfrm>
          <a:prstGeom prst="rect">
            <a:avLst/>
          </a:prstGeom>
          <a:noFill/>
        </p:spPr>
        <p:txBody>
          <a:bodyPr wrap="square" rtlCol="0">
            <a:spAutoFit/>
          </a:bodyPr>
          <a:lstStyle/>
          <a:p>
            <a:r>
              <a:rPr lang="es-EC" sz="2400" dirty="0"/>
              <a:t>X: Número de caras obtenidas</a:t>
            </a:r>
          </a:p>
        </p:txBody>
      </p:sp>
    </p:spTree>
    <p:extLst>
      <p:ext uri="{BB962C8B-B14F-4D97-AF65-F5344CB8AC3E}">
        <p14:creationId xmlns:p14="http://schemas.microsoft.com/office/powerpoint/2010/main" val="2081544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1746515"/>
            <a:ext cx="9415463" cy="1323439"/>
          </a:xfrm>
          <a:prstGeom prst="rect">
            <a:avLst/>
          </a:prstGeom>
          <a:noFill/>
        </p:spPr>
        <p:txBody>
          <a:bodyPr wrap="square" rtlCol="0">
            <a:spAutoFit/>
          </a:bodyPr>
          <a:lstStyle/>
          <a:p>
            <a:r>
              <a:rPr lang="es-EC" sz="2800" b="1" dirty="0"/>
              <a:t>Variable Aleatoria Discreta</a:t>
            </a:r>
          </a:p>
          <a:p>
            <a:endParaRPr lang="es-EC" sz="2800" b="1" dirty="0"/>
          </a:p>
          <a:p>
            <a:r>
              <a:rPr lang="es-EC" sz="2400" dirty="0"/>
              <a:t>Aquella que toma valores que se pueden contar  (números enteros)</a:t>
            </a:r>
          </a:p>
        </p:txBody>
      </p:sp>
      <p:sp>
        <p:nvSpPr>
          <p:cNvPr id="3" name="CuadroTexto 2"/>
          <p:cNvSpPr txBox="1"/>
          <p:nvPr/>
        </p:nvSpPr>
        <p:spPr>
          <a:xfrm>
            <a:off x="631110" y="4140200"/>
            <a:ext cx="9701214" cy="1323439"/>
          </a:xfrm>
          <a:prstGeom prst="rect">
            <a:avLst/>
          </a:prstGeom>
          <a:noFill/>
        </p:spPr>
        <p:txBody>
          <a:bodyPr wrap="square" rtlCol="0">
            <a:spAutoFit/>
          </a:bodyPr>
          <a:lstStyle/>
          <a:p>
            <a:r>
              <a:rPr lang="es-EC" sz="2800" b="1" dirty="0"/>
              <a:t>Variable Aleatoria Continua</a:t>
            </a:r>
          </a:p>
          <a:p>
            <a:endParaRPr lang="es-EC" sz="2800" b="1" dirty="0"/>
          </a:p>
          <a:p>
            <a:r>
              <a:rPr lang="es-EC" sz="2400" dirty="0"/>
              <a:t>Aquella que toma valores dentro de una escala continua (números reales)</a:t>
            </a:r>
          </a:p>
        </p:txBody>
      </p:sp>
      <p:sp>
        <p:nvSpPr>
          <p:cNvPr id="7" name="CuadroTexto 6"/>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3857078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uadroTexto 1"/>
              <p:cNvSpPr txBox="1"/>
              <p:nvPr/>
            </p:nvSpPr>
            <p:spPr>
              <a:xfrm>
                <a:off x="631110" y="1021135"/>
                <a:ext cx="9701214" cy="1692771"/>
              </a:xfrm>
              <a:prstGeom prst="rect">
                <a:avLst/>
              </a:prstGeom>
              <a:noFill/>
            </p:spPr>
            <p:txBody>
              <a:bodyPr wrap="square" rtlCol="0">
                <a:spAutoFit/>
              </a:bodyPr>
              <a:lstStyle/>
              <a:p>
                <a:r>
                  <a:rPr lang="es-EC" sz="2800" b="1" dirty="0"/>
                  <a:t>Función de probabilidad - Variables discretas</a:t>
                </a:r>
              </a:p>
              <a:p>
                <a:endParaRPr lang="es-EC" sz="2800" b="1" dirty="0"/>
              </a:p>
              <a:p>
                <a:r>
                  <a:rPr lang="es-EC" sz="2400" dirty="0"/>
                  <a:t>Sea X una </a:t>
                </a:r>
                <a:r>
                  <a:rPr lang="es-EC" sz="2400" dirty="0" err="1"/>
                  <a:t>v.a.</a:t>
                </a:r>
                <a:r>
                  <a:rPr lang="es-EC" sz="2400" dirty="0"/>
                  <a:t> discreta, se dice que la </a:t>
                </a:r>
                <a14:m>
                  <m:oMath xmlns:m="http://schemas.openxmlformats.org/officeDocument/2006/math">
                    <m:r>
                      <a:rPr lang="es-EC" sz="2400" i="1">
                        <a:latin typeface="Cambria Math" panose="02040503050406030204" pitchFamily="18" charset="0"/>
                      </a:rPr>
                      <m:t>𝑓</m:t>
                    </m:r>
                    <m:d>
                      <m:dPr>
                        <m:ctrlPr>
                          <a:rPr lang="es-EC" sz="2400" i="1">
                            <a:latin typeface="Cambria Math" panose="02040503050406030204" pitchFamily="18" charset="0"/>
                          </a:rPr>
                        </m:ctrlPr>
                      </m:dPr>
                      <m:e>
                        <m:r>
                          <a:rPr lang="es-EC" sz="2400" i="1">
                            <a:latin typeface="Cambria Math" panose="02040503050406030204" pitchFamily="18" charset="0"/>
                          </a:rPr>
                          <m:t>𝑥</m:t>
                        </m:r>
                      </m:e>
                    </m:d>
                    <m:r>
                      <a:rPr lang="es-EC" sz="2400" i="1">
                        <a:latin typeface="Cambria Math" panose="02040503050406030204" pitchFamily="18" charset="0"/>
                      </a:rPr>
                      <m:t>:</m:t>
                    </m:r>
                    <m:r>
                      <a:rPr lang="es-EC" sz="2400" i="1">
                        <a:latin typeface="Cambria Math" panose="02040503050406030204" pitchFamily="18" charset="0"/>
                        <a:ea typeface="Cambria Math" panose="02040503050406030204" pitchFamily="18" charset="0"/>
                      </a:rPr>
                      <m:t>ℝ</m:t>
                    </m:r>
                    <m:r>
                      <a:rPr lang="es-EC" sz="2400" i="1">
                        <a:latin typeface="Cambria Math" panose="02040503050406030204" pitchFamily="18" charset="0"/>
                        <a:ea typeface="Cambria Math" panose="02040503050406030204" pitchFamily="18" charset="0"/>
                      </a:rPr>
                      <m:t>→</m:t>
                    </m:r>
                    <m:r>
                      <a:rPr lang="es-EC" sz="2400" i="1">
                        <a:latin typeface="Cambria Math" panose="02040503050406030204" pitchFamily="18" charset="0"/>
                        <a:ea typeface="Cambria Math" panose="02040503050406030204" pitchFamily="18" charset="0"/>
                      </a:rPr>
                      <m:t>ℝ</m:t>
                    </m:r>
                  </m:oMath>
                </a14:m>
                <a:r>
                  <a:rPr lang="es-EC" sz="2400" dirty="0"/>
                  <a:t> es la función de distribución de probabilidad de X si cumple con:</a:t>
                </a:r>
              </a:p>
            </p:txBody>
          </p:sp>
        </mc:Choice>
        <mc:Fallback xmlns="">
          <p:sp>
            <p:nvSpPr>
              <p:cNvPr id="2" name="CuadroTexto 1"/>
              <p:cNvSpPr txBox="1">
                <a:spLocks noRot="1" noChangeAspect="1" noMove="1" noResize="1" noEditPoints="1" noAdjustHandles="1" noChangeArrowheads="1" noChangeShapeType="1" noTextEdit="1"/>
              </p:cNvSpPr>
              <p:nvPr/>
            </p:nvSpPr>
            <p:spPr>
              <a:xfrm>
                <a:off x="631110" y="1021135"/>
                <a:ext cx="9701214" cy="1692771"/>
              </a:xfrm>
              <a:prstGeom prst="rect">
                <a:avLst/>
              </a:prstGeom>
              <a:blipFill rotWithShape="0">
                <a:blip r:embed="rId2"/>
                <a:stretch>
                  <a:fillRect l="-1320" t="-3610" b="-7581"/>
                </a:stretch>
              </a:blipFill>
            </p:spPr>
            <p:txBody>
              <a:bodyPr/>
              <a:lstStyle/>
              <a:p>
                <a:r>
                  <a:rPr lang="es-EC">
                    <a:noFill/>
                  </a:rPr>
                  <a:t> </a:t>
                </a:r>
              </a:p>
            </p:txBody>
          </p:sp>
        </mc:Fallback>
      </mc:AlternateContent>
      <p:sp>
        <p:nvSpPr>
          <p:cNvPr id="3" name="CuadroTexto 2"/>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4" name="CuadroTexto 3"/>
              <p:cNvSpPr txBox="1"/>
              <p:nvPr/>
            </p:nvSpPr>
            <p:spPr>
              <a:xfrm>
                <a:off x="1565116" y="3306555"/>
                <a:ext cx="14723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𝒇</m:t>
                      </m:r>
                      <m:r>
                        <a:rPr lang="es-EC" sz="2800" b="1" i="1" smtClean="0">
                          <a:latin typeface="Cambria Math" panose="02040503050406030204" pitchFamily="18" charset="0"/>
                        </a:rPr>
                        <m:t>(</m:t>
                      </m:r>
                      <m:r>
                        <a:rPr lang="es-EC" sz="2800" b="1" i="1" smtClean="0">
                          <a:latin typeface="Cambria Math" panose="02040503050406030204" pitchFamily="18" charset="0"/>
                        </a:rPr>
                        <m:t>𝒙</m:t>
                      </m:r>
                      <m:r>
                        <a:rPr lang="es-EC" sz="2800" b="1" i="1" smtClean="0">
                          <a:latin typeface="Cambria Math" panose="02040503050406030204" pitchFamily="18" charset="0"/>
                        </a:rPr>
                        <m:t>)≥</m:t>
                      </m:r>
                      <m:r>
                        <a:rPr lang="es-EC" sz="2800" b="1" i="1" smtClean="0">
                          <a:latin typeface="Cambria Math" panose="02040503050406030204" pitchFamily="18" charset="0"/>
                        </a:rPr>
                        <m:t>𝟎</m:t>
                      </m:r>
                    </m:oMath>
                  </m:oMathPara>
                </a14:m>
                <a:endParaRPr lang="es-EC" sz="2800" b="1" dirty="0"/>
              </a:p>
            </p:txBody>
          </p:sp>
        </mc:Choice>
        <mc:Fallback xmlns="">
          <p:sp>
            <p:nvSpPr>
              <p:cNvPr id="4" name="CuadroTexto 3"/>
              <p:cNvSpPr txBox="1">
                <a:spLocks noRot="1" noChangeAspect="1" noMove="1" noResize="1" noEditPoints="1" noAdjustHandles="1" noChangeArrowheads="1" noChangeShapeType="1" noTextEdit="1"/>
              </p:cNvSpPr>
              <p:nvPr/>
            </p:nvSpPr>
            <p:spPr>
              <a:xfrm>
                <a:off x="1565116" y="3306555"/>
                <a:ext cx="1472326" cy="430887"/>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1214056" y="4060967"/>
                <a:ext cx="2600429"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s-EC" sz="2800" b="1" i="1">
                              <a:latin typeface="Cambria Math" panose="02040503050406030204" pitchFamily="18" charset="0"/>
                            </a:rPr>
                          </m:ctrlPr>
                        </m:naryPr>
                        <m:sub>
                          <m:r>
                            <m:rPr>
                              <m:brk m:alnAt="7"/>
                            </m:rPr>
                            <a:rPr lang="es-EC" sz="2800" b="1" i="1">
                              <a:latin typeface="Cambria Math" panose="02040503050406030204" pitchFamily="18" charset="0"/>
                            </a:rPr>
                            <m:t>𝐱</m:t>
                          </m:r>
                        </m:sub>
                        <m:sup/>
                        <m:e>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r>
                            <a:rPr lang="es-EC" sz="2800" b="1">
                              <a:latin typeface="Cambria Math" panose="02040503050406030204" pitchFamily="18" charset="0"/>
                            </a:rPr>
                            <m:t>=</m:t>
                          </m:r>
                          <m:r>
                            <a:rPr lang="es-EC" sz="2800" b="1" i="1">
                              <a:latin typeface="Cambria Math" panose="02040503050406030204" pitchFamily="18" charset="0"/>
                            </a:rPr>
                            <m:t>𝟏</m:t>
                          </m:r>
                        </m:e>
                      </m:nary>
                    </m:oMath>
                  </m:oMathPara>
                </a14:m>
                <a:endParaRPr lang="es-EC" sz="2800" b="1" dirty="0">
                  <a:latin typeface="Papyrus" panose="03070502060502030205" pitchFamily="66" charset="0"/>
                </a:endParaRPr>
              </a:p>
            </p:txBody>
          </p:sp>
        </mc:Choice>
        <mc:Fallback xmlns="">
          <p:sp>
            <p:nvSpPr>
              <p:cNvPr id="5" name="CuadroTexto 4"/>
              <p:cNvSpPr txBox="1">
                <a:spLocks noRot="1" noChangeAspect="1" noMove="1" noResize="1" noEditPoints="1" noAdjustHandles="1" noChangeArrowheads="1" noChangeShapeType="1" noTextEdit="1"/>
              </p:cNvSpPr>
              <p:nvPr/>
            </p:nvSpPr>
            <p:spPr>
              <a:xfrm>
                <a:off x="1214056" y="4060967"/>
                <a:ext cx="2600429" cy="1043234"/>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1565116" y="5671471"/>
                <a:ext cx="285887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a:latin typeface="Cambria Math" panose="02040503050406030204" pitchFamily="18" charset="0"/>
                        </a:rPr>
                        <m:t>𝐏</m:t>
                      </m:r>
                      <m:d>
                        <m:dPr>
                          <m:ctrlPr>
                            <a:rPr lang="es-EC" sz="2800" b="1" i="1">
                              <a:latin typeface="Cambria Math" panose="02040503050406030204" pitchFamily="18" charset="0"/>
                            </a:rPr>
                          </m:ctrlPr>
                        </m:dPr>
                        <m:e>
                          <m:r>
                            <a:rPr lang="es-EC" sz="2800" b="1" i="1">
                              <a:latin typeface="Cambria Math" panose="02040503050406030204" pitchFamily="18" charset="0"/>
                            </a:rPr>
                            <m:t>𝐗</m:t>
                          </m:r>
                          <m:r>
                            <a:rPr lang="es-EC" sz="2800" b="1">
                              <a:latin typeface="Cambria Math" panose="02040503050406030204" pitchFamily="18" charset="0"/>
                            </a:rPr>
                            <m:t>=</m:t>
                          </m:r>
                          <m:r>
                            <a:rPr lang="es-EC" sz="2800" b="1" i="1">
                              <a:latin typeface="Cambria Math" panose="02040503050406030204" pitchFamily="18" charset="0"/>
                            </a:rPr>
                            <m:t>𝐱</m:t>
                          </m:r>
                        </m:e>
                      </m:d>
                      <m:r>
                        <a:rPr lang="es-EC" sz="2800" b="1">
                          <a:latin typeface="Cambria Math" panose="02040503050406030204" pitchFamily="18" charset="0"/>
                        </a:rPr>
                        <m:t>=</m:t>
                      </m:r>
                      <m:r>
                        <a:rPr lang="es-EC" sz="2800" b="1" i="1">
                          <a:latin typeface="Cambria Math" panose="02040503050406030204" pitchFamily="18" charset="0"/>
                        </a:rPr>
                        <m:t>𝐟</m:t>
                      </m:r>
                      <m:r>
                        <a:rPr lang="es-EC" sz="2800" b="1">
                          <a:latin typeface="Cambria Math" panose="02040503050406030204" pitchFamily="18" charset="0"/>
                        </a:rPr>
                        <m:t>(</m:t>
                      </m:r>
                      <m:r>
                        <a:rPr lang="es-EC" sz="2800" b="1" i="1">
                          <a:latin typeface="Cambria Math" panose="02040503050406030204" pitchFamily="18" charset="0"/>
                        </a:rPr>
                        <m:t>𝐱</m:t>
                      </m:r>
                      <m:r>
                        <a:rPr lang="es-EC" sz="2800" b="1">
                          <a:latin typeface="Cambria Math" panose="02040503050406030204" pitchFamily="18" charset="0"/>
                        </a:rPr>
                        <m:t>)</m:t>
                      </m:r>
                    </m:oMath>
                  </m:oMathPara>
                </a14:m>
                <a:endParaRPr lang="es-EC" sz="2800" b="1" dirty="0">
                  <a:latin typeface="Papyrus" panose="03070502060502030205" pitchFamily="66" charset="0"/>
                </a:endParaRPr>
              </a:p>
            </p:txBody>
          </p:sp>
        </mc:Choice>
        <mc:Fallback xmlns="">
          <p:sp>
            <p:nvSpPr>
              <p:cNvPr id="6" name="CuadroTexto 5"/>
              <p:cNvSpPr txBox="1">
                <a:spLocks noRot="1" noChangeAspect="1" noMove="1" noResize="1" noEditPoints="1" noAdjustHandles="1" noChangeArrowheads="1" noChangeShapeType="1" noTextEdit="1"/>
              </p:cNvSpPr>
              <p:nvPr/>
            </p:nvSpPr>
            <p:spPr>
              <a:xfrm>
                <a:off x="1565116" y="5671471"/>
                <a:ext cx="2858875" cy="430887"/>
              </a:xfrm>
              <a:prstGeom prst="rect">
                <a:avLst/>
              </a:prstGeom>
              <a:blipFill rotWithShape="0">
                <a:blip r:embed="rId5"/>
                <a:stretch>
                  <a:fillRect t="-8451" b="-26761"/>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CuadroTexto 6"/>
              <p:cNvSpPr txBox="1"/>
              <p:nvPr/>
            </p:nvSpPr>
            <p:spPr>
              <a:xfrm>
                <a:off x="7440987" y="4642536"/>
                <a:ext cx="2503121" cy="461665"/>
              </a:xfrm>
              <a:prstGeom prst="rect">
                <a:avLst/>
              </a:prstGeom>
              <a:noFill/>
            </p:spPr>
            <p:txBody>
              <a:bodyPr wrap="none" rtlCol="0">
                <a:spAutoFit/>
              </a:bodyPr>
              <a:lstStyle/>
              <a:p>
                <a:r>
                  <a:rPr lang="es-EC" sz="2400" dirty="0"/>
                  <a:t>Si A</a:t>
                </a:r>
                <a14:m>
                  <m:oMath xmlns:m="http://schemas.openxmlformats.org/officeDocument/2006/math">
                    <m:r>
                      <a:rPr lang="es-EC" sz="240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ℝ</m:t>
                    </m:r>
                    <m:r>
                      <a:rPr lang="es-EC" sz="2400" b="0" i="0" smtClean="0">
                        <a:latin typeface="Cambria Math" panose="02040503050406030204" pitchFamily="18" charset="0"/>
                        <a:ea typeface="Cambria Math" panose="02040503050406030204" pitchFamily="18" charset="0"/>
                      </a:rPr>
                      <m:t> </m:t>
                    </m:r>
                    <m:r>
                      <m:rPr>
                        <m:sty m:val="p"/>
                      </m:rPr>
                      <a:rPr lang="es-EC" sz="2400" b="0" i="0" smtClean="0">
                        <a:latin typeface="Cambria Math" panose="02040503050406030204" pitchFamily="18" charset="0"/>
                        <a:ea typeface="Cambria Math" panose="02040503050406030204" pitchFamily="18" charset="0"/>
                      </a:rPr>
                      <m:t>entonces</m:t>
                    </m:r>
                  </m:oMath>
                </a14:m>
                <a:endParaRPr lang="es-EC"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7440987" y="4642536"/>
                <a:ext cx="2503121" cy="461665"/>
              </a:xfrm>
              <a:prstGeom prst="rect">
                <a:avLst/>
              </a:prstGeom>
              <a:blipFill rotWithShape="0">
                <a:blip r:embed="rId6"/>
                <a:stretch>
                  <a:fillRect l="-3902" t="-10667" b="-30667"/>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5959627" y="5365298"/>
                <a:ext cx="4902813"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𝐏</m:t>
                      </m:r>
                      <m:d>
                        <m:dPr>
                          <m:ctrlPr>
                            <a:rPr lang="es-EC" sz="2800" b="1" i="1">
                              <a:latin typeface="Cambria Math" panose="02040503050406030204" pitchFamily="18" charset="0"/>
                            </a:rPr>
                          </m:ctrlPr>
                        </m:dPr>
                        <m:e>
                          <m:r>
                            <a:rPr lang="es-EC" sz="2800" b="1" i="1">
                              <a:latin typeface="Cambria Math" panose="02040503050406030204" pitchFamily="18" charset="0"/>
                            </a:rPr>
                            <m:t>𝐗</m:t>
                          </m:r>
                          <m:r>
                            <a:rPr lang="es-EC" sz="2800" b="1" i="1" smtClean="0">
                              <a:latin typeface="Cambria Math" panose="02040503050406030204" pitchFamily="18" charset="0"/>
                              <a:ea typeface="Cambria Math" panose="02040503050406030204" pitchFamily="18" charset="0"/>
                            </a:rPr>
                            <m:t>∈</m:t>
                          </m:r>
                          <m:r>
                            <a:rPr lang="es-EC" sz="2800" b="1" i="1" smtClean="0">
                              <a:latin typeface="Cambria Math" panose="02040503050406030204" pitchFamily="18" charset="0"/>
                              <a:ea typeface="Cambria Math" panose="02040503050406030204" pitchFamily="18" charset="0"/>
                            </a:rPr>
                            <m:t>𝑨</m:t>
                          </m:r>
                        </m:e>
                      </m:d>
                      <m:r>
                        <a:rPr lang="es-EC" sz="2800" b="1">
                          <a:latin typeface="Cambria Math" panose="02040503050406030204" pitchFamily="18" charset="0"/>
                        </a:rPr>
                        <m:t>=</m:t>
                      </m:r>
                      <m:nary>
                        <m:naryPr>
                          <m:chr m:val="∑"/>
                          <m:supHide m:val="on"/>
                          <m:ctrlPr>
                            <a:rPr lang="es-EC" sz="2800" b="1" i="1" smtClean="0">
                              <a:latin typeface="Cambria Math" panose="02040503050406030204" pitchFamily="18" charset="0"/>
                            </a:rPr>
                          </m:ctrlPr>
                        </m:naryPr>
                        <m:sub>
                          <m:r>
                            <m:rPr>
                              <m:brk m:alnAt="7"/>
                            </m:rPr>
                            <a:rPr lang="es-EC" sz="2800" b="1" i="1">
                              <a:latin typeface="Cambria Math" panose="02040503050406030204" pitchFamily="18" charset="0"/>
                            </a:rPr>
                            <m:t>𝐱</m:t>
                          </m:r>
                          <m:r>
                            <a:rPr lang="es-EC" sz="2800" b="1" i="1" smtClean="0">
                              <a:latin typeface="Cambria Math" panose="02040503050406030204" pitchFamily="18" charset="0"/>
                              <a:ea typeface="Cambria Math" panose="02040503050406030204" pitchFamily="18" charset="0"/>
                            </a:rPr>
                            <m:t>∈</m:t>
                          </m:r>
                          <m:r>
                            <a:rPr lang="es-EC" sz="2800" b="1" i="1" smtClean="0">
                              <a:latin typeface="Cambria Math" panose="02040503050406030204" pitchFamily="18" charset="0"/>
                              <a:ea typeface="Cambria Math" panose="02040503050406030204" pitchFamily="18" charset="0"/>
                            </a:rPr>
                            <m:t>𝑨</m:t>
                          </m:r>
                        </m:sub>
                        <m:sup/>
                        <m:e>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e>
                      </m:nary>
                    </m:oMath>
                  </m:oMathPara>
                </a14:m>
                <a:endParaRPr lang="es-EC" sz="2800" b="1" dirty="0">
                  <a:latin typeface="Papyrus" panose="03070502060502030205" pitchFamily="66" charset="0"/>
                </a:endParaRPr>
              </a:p>
            </p:txBody>
          </p:sp>
        </mc:Choice>
        <mc:Fallback xmlns="">
          <p:sp>
            <p:nvSpPr>
              <p:cNvPr id="8" name="CuadroTexto 7"/>
              <p:cNvSpPr txBox="1">
                <a:spLocks noRot="1" noChangeAspect="1" noMove="1" noResize="1" noEditPoints="1" noAdjustHandles="1" noChangeArrowheads="1" noChangeShapeType="1" noTextEdit="1"/>
              </p:cNvSpPr>
              <p:nvPr/>
            </p:nvSpPr>
            <p:spPr>
              <a:xfrm>
                <a:off x="5959627" y="5365298"/>
                <a:ext cx="4902813" cy="1043234"/>
              </a:xfrm>
              <a:prstGeom prst="rect">
                <a:avLst/>
              </a:prstGeom>
              <a:blipFill rotWithShape="0">
                <a:blip r:embed="rId7"/>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44217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uadroTexto 1"/>
              <p:cNvSpPr txBox="1"/>
              <p:nvPr/>
            </p:nvSpPr>
            <p:spPr>
              <a:xfrm>
                <a:off x="914655" y="5196457"/>
                <a:ext cx="4316695" cy="9773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𝑃</m:t>
                      </m:r>
                      <m:d>
                        <m:dPr>
                          <m:ctrlPr>
                            <a:rPr lang="es-EC" sz="2800" b="0" i="1" smtClean="0">
                              <a:latin typeface="Cambria Math" panose="02040503050406030204" pitchFamily="18" charset="0"/>
                            </a:rPr>
                          </m:ctrlPr>
                        </m:dPr>
                        <m:e>
                          <m:r>
                            <a:rPr lang="es-EC" sz="2800" b="0" i="1" smtClean="0">
                              <a:latin typeface="Cambria Math" panose="02040503050406030204" pitchFamily="18" charset="0"/>
                            </a:rPr>
                            <m:t>𝑎</m:t>
                          </m:r>
                          <m:r>
                            <a:rPr lang="es-EC" sz="2800" b="0" i="1" smtClean="0">
                              <a:latin typeface="Cambria Math" panose="02040503050406030204" pitchFamily="18" charset="0"/>
                            </a:rPr>
                            <m:t>&lt;</m:t>
                          </m:r>
                          <m:r>
                            <a:rPr lang="es-EC" sz="2800" b="0" i="1" smtClean="0">
                              <a:latin typeface="Cambria Math" panose="02040503050406030204" pitchFamily="18" charset="0"/>
                            </a:rPr>
                            <m:t>𝑋</m:t>
                          </m:r>
                          <m:r>
                            <a:rPr lang="es-EC" sz="2800" b="0" i="1" smtClean="0">
                              <a:latin typeface="Cambria Math" panose="02040503050406030204" pitchFamily="18" charset="0"/>
                            </a:rPr>
                            <m:t>&lt;</m:t>
                          </m:r>
                          <m:r>
                            <a:rPr lang="es-EC" sz="2800" b="0" i="1" smtClean="0">
                              <a:latin typeface="Cambria Math" panose="02040503050406030204" pitchFamily="18" charset="0"/>
                            </a:rPr>
                            <m:t>𝑏</m:t>
                          </m:r>
                        </m:e>
                      </m:d>
                      <m:r>
                        <a:rPr lang="es-EC" sz="2800" b="0" i="1" smtClean="0">
                          <a:latin typeface="Cambria Math" panose="02040503050406030204" pitchFamily="18" charset="0"/>
                        </a:rPr>
                        <m:t>= </m:t>
                      </m:r>
                      <m:nary>
                        <m:naryPr>
                          <m:ctrlPr>
                            <a:rPr lang="es-EC" sz="2800" b="0" i="1" smtClean="0">
                              <a:latin typeface="Cambria Math" panose="02040503050406030204" pitchFamily="18" charset="0"/>
                            </a:rPr>
                          </m:ctrlPr>
                        </m:naryPr>
                        <m:sub>
                          <m:r>
                            <m:rPr>
                              <m:brk m:alnAt="23"/>
                            </m:rPr>
                            <a:rPr lang="es-EC" sz="2800" b="0" i="1" smtClean="0">
                              <a:latin typeface="Cambria Math" panose="02040503050406030204" pitchFamily="18" charset="0"/>
                            </a:rPr>
                            <m:t>𝑎</m:t>
                          </m:r>
                        </m:sub>
                        <m:sup>
                          <m:r>
                            <a:rPr lang="es-EC" sz="2800" b="0" i="1" smtClean="0">
                              <a:latin typeface="Cambria Math" panose="02040503050406030204" pitchFamily="18" charset="0"/>
                            </a:rPr>
                            <m:t>𝑏</m:t>
                          </m:r>
                        </m:sup>
                        <m:e>
                          <m:r>
                            <a:rPr lang="es-EC" sz="2800" b="0" i="1" smtClean="0">
                              <a:latin typeface="Cambria Math" panose="02040503050406030204" pitchFamily="18" charset="0"/>
                            </a:rPr>
                            <m:t>𝑓</m:t>
                          </m:r>
                          <m:d>
                            <m:dPr>
                              <m:ctrlPr>
                                <a:rPr lang="es-EC" sz="2800" b="0" i="1" smtClean="0">
                                  <a:latin typeface="Cambria Math" panose="02040503050406030204" pitchFamily="18" charset="0"/>
                                </a:rPr>
                              </m:ctrlPr>
                            </m:dPr>
                            <m:e>
                              <m:r>
                                <a:rPr lang="es-EC" sz="2800" b="0" i="1" smtClean="0">
                                  <a:latin typeface="Cambria Math" panose="02040503050406030204" pitchFamily="18" charset="0"/>
                                </a:rPr>
                                <m:t>𝑥</m:t>
                              </m:r>
                            </m:e>
                          </m:d>
                          <m:r>
                            <a:rPr lang="es-EC" sz="2800" b="0" i="1" smtClean="0">
                              <a:latin typeface="Cambria Math" panose="02040503050406030204" pitchFamily="18" charset="0"/>
                            </a:rPr>
                            <m:t>𝑑𝑥</m:t>
                          </m:r>
                        </m:e>
                      </m:nary>
                    </m:oMath>
                  </m:oMathPara>
                </a14:m>
                <a:endParaRPr lang="es-EC" sz="2800" dirty="0"/>
              </a:p>
            </p:txBody>
          </p:sp>
        </mc:Choice>
        <mc:Fallback xmlns="">
          <p:sp>
            <p:nvSpPr>
              <p:cNvPr id="2" name="CuadroTexto 1"/>
              <p:cNvSpPr txBox="1">
                <a:spLocks noRot="1" noChangeAspect="1" noMove="1" noResize="1" noEditPoints="1" noAdjustHandles="1" noChangeArrowheads="1" noChangeShapeType="1" noTextEdit="1"/>
              </p:cNvSpPr>
              <p:nvPr/>
            </p:nvSpPr>
            <p:spPr>
              <a:xfrm>
                <a:off x="914655" y="5196457"/>
                <a:ext cx="4316695" cy="977383"/>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3" name="CuadroTexto 2"/>
              <p:cNvSpPr txBox="1"/>
              <p:nvPr/>
            </p:nvSpPr>
            <p:spPr>
              <a:xfrm>
                <a:off x="914655" y="3337661"/>
                <a:ext cx="145687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𝑓</m:t>
                      </m:r>
                      <m:r>
                        <a:rPr lang="es-EC" sz="2800" b="0" i="1" smtClean="0">
                          <a:latin typeface="Cambria Math" panose="02040503050406030204" pitchFamily="18" charset="0"/>
                        </a:rPr>
                        <m:t>(</m:t>
                      </m:r>
                      <m:r>
                        <a:rPr lang="es-EC" sz="2800" b="0" i="1" smtClean="0">
                          <a:latin typeface="Cambria Math" panose="02040503050406030204" pitchFamily="18" charset="0"/>
                        </a:rPr>
                        <m:t>𝑥</m:t>
                      </m:r>
                      <m:r>
                        <a:rPr lang="es-EC" sz="2800" b="0" i="1" smtClean="0">
                          <a:latin typeface="Cambria Math" panose="02040503050406030204" pitchFamily="18" charset="0"/>
                        </a:rPr>
                        <m:t>)≥0</m:t>
                      </m:r>
                    </m:oMath>
                  </m:oMathPara>
                </a14:m>
                <a:endParaRPr lang="es-EC" sz="28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914655" y="3337661"/>
                <a:ext cx="1456874" cy="430887"/>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887199" y="4167787"/>
                <a:ext cx="2527872" cy="661078"/>
              </a:xfrm>
              <a:prstGeom prst="rect">
                <a:avLst/>
              </a:prstGeom>
            </p:spPr>
            <p:txBody>
              <a:bodyPr wrap="none">
                <a:spAutoFit/>
              </a:bodyPr>
              <a:lstStyle/>
              <a:p>
                <a14:m>
                  <m:oMath xmlns:m="http://schemas.openxmlformats.org/officeDocument/2006/math">
                    <m:nary>
                      <m:naryPr>
                        <m:ctrlPr>
                          <a:rPr lang="es-EC" sz="2800" i="1" smtClean="0">
                            <a:latin typeface="Cambria Math" panose="02040503050406030204" pitchFamily="18" charset="0"/>
                          </a:rPr>
                        </m:ctrlPr>
                      </m:naryPr>
                      <m:sub>
                        <m:r>
                          <a:rPr lang="es-EC" sz="2800" b="0" i="1" smtClean="0">
                            <a:latin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m:t>
                        </m:r>
                      </m:sub>
                      <m:sup>
                        <m:r>
                          <a:rPr lang="es-EC" sz="2800" b="0" i="1" smtClean="0">
                            <a:latin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m:t>
                        </m:r>
                      </m:sup>
                      <m:e>
                        <m:r>
                          <a:rPr lang="es-EC" sz="2800" i="1">
                            <a:latin typeface="Cambria Math" panose="02040503050406030204" pitchFamily="18" charset="0"/>
                          </a:rPr>
                          <m:t>𝑓</m:t>
                        </m:r>
                        <m:d>
                          <m:dPr>
                            <m:ctrlPr>
                              <a:rPr lang="es-EC" sz="2800" i="1">
                                <a:latin typeface="Cambria Math" panose="02040503050406030204" pitchFamily="18" charset="0"/>
                              </a:rPr>
                            </m:ctrlPr>
                          </m:dPr>
                          <m:e>
                            <m:r>
                              <a:rPr lang="es-EC" sz="2800" i="1">
                                <a:latin typeface="Cambria Math" panose="02040503050406030204" pitchFamily="18" charset="0"/>
                              </a:rPr>
                              <m:t>𝑥</m:t>
                            </m:r>
                          </m:e>
                        </m:d>
                        <m:r>
                          <a:rPr lang="es-EC" sz="2800" i="1">
                            <a:latin typeface="Cambria Math" panose="02040503050406030204" pitchFamily="18" charset="0"/>
                          </a:rPr>
                          <m:t>𝑑𝑥</m:t>
                        </m:r>
                        <m:r>
                          <a:rPr lang="es-EC" sz="2800" b="0" i="1" smtClean="0">
                            <a:latin typeface="Cambria Math" panose="02040503050406030204" pitchFamily="18" charset="0"/>
                          </a:rPr>
                          <m:t> </m:t>
                        </m:r>
                      </m:e>
                    </m:nary>
                  </m:oMath>
                </a14:m>
                <a:r>
                  <a:rPr lang="es-EC" sz="2800" dirty="0"/>
                  <a:t>= 1</a:t>
                </a:r>
              </a:p>
            </p:txBody>
          </p:sp>
        </mc:Choice>
        <mc:Fallback xmlns="">
          <p:sp>
            <p:nvSpPr>
              <p:cNvPr id="4" name="Rectángulo 3"/>
              <p:cNvSpPr>
                <a:spLocks noRot="1" noChangeAspect="1" noMove="1" noResize="1" noEditPoints="1" noAdjustHandles="1" noChangeArrowheads="1" noChangeShapeType="1" noTextEdit="1"/>
              </p:cNvSpPr>
              <p:nvPr/>
            </p:nvSpPr>
            <p:spPr>
              <a:xfrm>
                <a:off x="887199" y="4167787"/>
                <a:ext cx="2527872" cy="661078"/>
              </a:xfrm>
              <a:prstGeom prst="rect">
                <a:avLst/>
              </a:prstGeom>
              <a:blipFill rotWithShape="0">
                <a:blip r:embed="rId4"/>
                <a:stretch>
                  <a:fillRect r="-3865" b="-17593"/>
                </a:stretch>
              </a:blipFill>
            </p:spPr>
            <p:txBody>
              <a:bodyPr/>
              <a:lstStyle/>
              <a:p>
                <a:r>
                  <a:rPr lang="es-EC">
                    <a:noFill/>
                  </a:rPr>
                  <a:t> </a:t>
                </a:r>
              </a:p>
            </p:txBody>
          </p:sp>
        </mc:Fallback>
      </mc:AlternateContent>
      <p:sp>
        <p:nvSpPr>
          <p:cNvPr id="5" name="CuadroTexto 4"/>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6" name="CuadroTexto 5"/>
              <p:cNvSpPr txBox="1"/>
              <p:nvPr/>
            </p:nvSpPr>
            <p:spPr>
              <a:xfrm>
                <a:off x="631110" y="1021135"/>
                <a:ext cx="9701214" cy="1692771"/>
              </a:xfrm>
              <a:prstGeom prst="rect">
                <a:avLst/>
              </a:prstGeom>
              <a:noFill/>
            </p:spPr>
            <p:txBody>
              <a:bodyPr wrap="square" rtlCol="0">
                <a:spAutoFit/>
              </a:bodyPr>
              <a:lstStyle/>
              <a:p>
                <a:r>
                  <a:rPr lang="es-EC" sz="2800" b="1" dirty="0"/>
                  <a:t>Función de probabilidad - Variables continuas</a:t>
                </a:r>
              </a:p>
              <a:p>
                <a:endParaRPr lang="es-EC" sz="2800" b="1" dirty="0"/>
              </a:p>
              <a:p>
                <a:r>
                  <a:rPr lang="es-EC" sz="2400" dirty="0"/>
                  <a:t>Sea X una </a:t>
                </a:r>
                <a:r>
                  <a:rPr lang="es-EC" sz="2400" dirty="0" err="1"/>
                  <a:t>v.a.</a:t>
                </a:r>
                <a:r>
                  <a:rPr lang="es-EC" sz="2400" dirty="0"/>
                  <a:t> continua, se dice que la </a:t>
                </a:r>
                <a14:m>
                  <m:oMath xmlns:m="http://schemas.openxmlformats.org/officeDocument/2006/math">
                    <m:r>
                      <a:rPr lang="es-EC" sz="2400" b="0" i="1" smtClean="0">
                        <a:latin typeface="Cambria Math" panose="02040503050406030204" pitchFamily="18" charset="0"/>
                      </a:rPr>
                      <m:t>𝑓</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m:t>
                        </m:r>
                      </m:e>
                    </m:d>
                    <m:r>
                      <a:rPr lang="es-EC" sz="2400" b="0" i="1" smtClean="0">
                        <a:latin typeface="Cambria Math" panose="02040503050406030204" pitchFamily="18" charset="0"/>
                      </a:rPr>
                      <m:t>:</m:t>
                    </m:r>
                    <m:r>
                      <a:rPr lang="es-EC" sz="2400" i="1">
                        <a:latin typeface="Cambria Math" panose="02040503050406030204" pitchFamily="18" charset="0"/>
                        <a:ea typeface="Cambria Math" panose="02040503050406030204" pitchFamily="18" charset="0"/>
                      </a:rPr>
                      <m:t>ℝ</m:t>
                    </m:r>
                    <m:r>
                      <a:rPr lang="es-EC" sz="2400" i="1">
                        <a:latin typeface="Cambria Math" panose="02040503050406030204" pitchFamily="18" charset="0"/>
                        <a:ea typeface="Cambria Math" panose="02040503050406030204" pitchFamily="18" charset="0"/>
                      </a:rPr>
                      <m:t>→</m:t>
                    </m:r>
                    <m:r>
                      <a:rPr lang="es-EC" sz="2400" i="1">
                        <a:latin typeface="Cambria Math" panose="02040503050406030204" pitchFamily="18" charset="0"/>
                        <a:ea typeface="Cambria Math" panose="02040503050406030204" pitchFamily="18" charset="0"/>
                      </a:rPr>
                      <m:t>ℝ</m:t>
                    </m:r>
                  </m:oMath>
                </a14:m>
                <a:r>
                  <a:rPr lang="es-EC" sz="2400" dirty="0"/>
                  <a:t> es la función de densidad de X si cumple con:</a:t>
                </a:r>
              </a:p>
            </p:txBody>
          </p:sp>
        </mc:Choice>
        <mc:Fallback xmlns="">
          <p:sp>
            <p:nvSpPr>
              <p:cNvPr id="6" name="CuadroTexto 5"/>
              <p:cNvSpPr txBox="1">
                <a:spLocks noRot="1" noChangeAspect="1" noMove="1" noResize="1" noEditPoints="1" noAdjustHandles="1" noChangeArrowheads="1" noChangeShapeType="1" noTextEdit="1"/>
              </p:cNvSpPr>
              <p:nvPr/>
            </p:nvSpPr>
            <p:spPr>
              <a:xfrm>
                <a:off x="631110" y="1021135"/>
                <a:ext cx="9701214" cy="1692771"/>
              </a:xfrm>
              <a:prstGeom prst="rect">
                <a:avLst/>
              </a:prstGeom>
              <a:blipFill rotWithShape="0">
                <a:blip r:embed="rId5"/>
                <a:stretch>
                  <a:fillRect l="-1320" t="-3610" b="-7581"/>
                </a:stretch>
              </a:blipFill>
            </p:spPr>
            <p:txBody>
              <a:bodyPr/>
              <a:lstStyle/>
              <a:p>
                <a:r>
                  <a:rPr lang="es-EC">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D885786-BD47-4233-931F-CF761E18775B}"/>
                  </a:ext>
                </a:extLst>
              </p14:cNvPr>
              <p14:cNvContentPartPr/>
              <p14:nvPr/>
            </p14:nvContentPartPr>
            <p14:xfrm>
              <a:off x="374760" y="1187280"/>
              <a:ext cx="11258640" cy="5194800"/>
            </p14:xfrm>
          </p:contentPart>
        </mc:Choice>
        <mc:Fallback xmlns="">
          <p:pic>
            <p:nvPicPr>
              <p:cNvPr id="7" name="Ink 6">
                <a:extLst>
                  <a:ext uri="{FF2B5EF4-FFF2-40B4-BE49-F238E27FC236}">
                    <a16:creationId xmlns:a16="http://schemas.microsoft.com/office/drawing/2014/main" id="{0D885786-BD47-4233-931F-CF761E18775B}"/>
                  </a:ext>
                </a:extLst>
              </p:cNvPr>
              <p:cNvPicPr/>
              <p:nvPr/>
            </p:nvPicPr>
            <p:blipFill>
              <a:blip r:embed="rId7"/>
              <a:stretch>
                <a:fillRect/>
              </a:stretch>
            </p:blipFill>
            <p:spPr>
              <a:xfrm>
                <a:off x="365400" y="1177920"/>
                <a:ext cx="11277360" cy="52135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E65AB036-8FC5-470E-B44F-A05CA560E50E}"/>
                  </a:ext>
                </a:extLst>
              </p14:cNvPr>
              <p14:cNvContentPartPr/>
              <p14:nvPr/>
            </p14:nvContentPartPr>
            <p14:xfrm>
              <a:off x="1274520" y="4697080"/>
              <a:ext cx="360" cy="360"/>
            </p14:xfrm>
          </p:contentPart>
        </mc:Choice>
        <mc:Fallback>
          <p:pic>
            <p:nvPicPr>
              <p:cNvPr id="8" name="Ink 7">
                <a:extLst>
                  <a:ext uri="{FF2B5EF4-FFF2-40B4-BE49-F238E27FC236}">
                    <a16:creationId xmlns:a16="http://schemas.microsoft.com/office/drawing/2014/main" id="{E65AB036-8FC5-470E-B44F-A05CA560E50E}"/>
                  </a:ext>
                </a:extLst>
              </p:cNvPr>
              <p:cNvPicPr/>
              <p:nvPr/>
            </p:nvPicPr>
            <p:blipFill>
              <a:blip r:embed="rId9"/>
              <a:stretch>
                <a:fillRect/>
              </a:stretch>
            </p:blipFill>
            <p:spPr>
              <a:xfrm>
                <a:off x="1265880" y="468844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983F2DF1-D9D6-4216-B66A-EC04F2E92802}"/>
                  </a:ext>
                </a:extLst>
              </p14:cNvPr>
              <p14:cNvContentPartPr/>
              <p14:nvPr/>
            </p14:nvContentPartPr>
            <p14:xfrm>
              <a:off x="584280" y="1530360"/>
              <a:ext cx="9398160" cy="3264120"/>
            </p14:xfrm>
          </p:contentPart>
        </mc:Choice>
        <mc:Fallback>
          <p:pic>
            <p:nvPicPr>
              <p:cNvPr id="9" name="Ink 8">
                <a:extLst>
                  <a:ext uri="{FF2B5EF4-FFF2-40B4-BE49-F238E27FC236}">
                    <a16:creationId xmlns:a16="http://schemas.microsoft.com/office/drawing/2014/main" id="{983F2DF1-D9D6-4216-B66A-EC04F2E92802}"/>
                  </a:ext>
                </a:extLst>
              </p:cNvPr>
              <p:cNvPicPr/>
              <p:nvPr/>
            </p:nvPicPr>
            <p:blipFill>
              <a:blip r:embed="rId11"/>
              <a:stretch>
                <a:fillRect/>
              </a:stretch>
            </p:blipFill>
            <p:spPr>
              <a:xfrm>
                <a:off x="574920" y="1521000"/>
                <a:ext cx="9416880" cy="3282840"/>
              </a:xfrm>
              <a:prstGeom prst="rect">
                <a:avLst/>
              </a:prstGeom>
            </p:spPr>
          </p:pic>
        </mc:Fallback>
      </mc:AlternateContent>
    </p:spTree>
    <p:extLst>
      <p:ext uri="{BB962C8B-B14F-4D97-AF65-F5344CB8AC3E}">
        <p14:creationId xmlns:p14="http://schemas.microsoft.com/office/powerpoint/2010/main" val="168798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uadroTexto 1"/>
              <p:cNvSpPr txBox="1"/>
              <p:nvPr/>
            </p:nvSpPr>
            <p:spPr>
              <a:xfrm>
                <a:off x="631110" y="1276309"/>
                <a:ext cx="9415463" cy="4517712"/>
              </a:xfrm>
              <a:prstGeom prst="rect">
                <a:avLst/>
              </a:prstGeom>
              <a:noFill/>
            </p:spPr>
            <p:txBody>
              <a:bodyPr wrap="square" rtlCol="0">
                <a:spAutoFit/>
              </a:bodyPr>
              <a:lstStyle/>
              <a:p>
                <a:r>
                  <a:rPr lang="es-EC" sz="2800" b="1" dirty="0"/>
                  <a:t>Función Acumulada o Función de Distribución</a:t>
                </a:r>
              </a:p>
              <a:p>
                <a:endParaRPr lang="es-EC" sz="2800" dirty="0"/>
              </a:p>
              <a:p>
                <a:r>
                  <a:rPr lang="es-EC" sz="2800" b="1" dirty="0"/>
                  <a:t>Discretas</a:t>
                </a:r>
              </a:p>
              <a:p>
                <a:r>
                  <a:rPr lang="es-EC" sz="2800" dirty="0"/>
                  <a:t>F(x) =  </a:t>
                </a:r>
                <a14:m>
                  <m:oMath xmlns:m="http://schemas.openxmlformats.org/officeDocument/2006/math">
                    <m:r>
                      <a:rPr lang="es-EC" sz="2800" b="1" i="1">
                        <a:latin typeface="Cambria Math" panose="02040503050406030204" pitchFamily="18" charset="0"/>
                      </a:rPr>
                      <m:t>𝐏</m:t>
                    </m:r>
                    <m:d>
                      <m:dPr>
                        <m:ctrlPr>
                          <a:rPr lang="es-EC" sz="2800" b="1" i="1">
                            <a:latin typeface="Cambria Math" panose="02040503050406030204" pitchFamily="18" charset="0"/>
                          </a:rPr>
                        </m:ctrlPr>
                      </m:dPr>
                      <m:e>
                        <m:r>
                          <a:rPr lang="es-EC" sz="2800" b="1" i="1">
                            <a:latin typeface="Cambria Math" panose="02040503050406030204" pitchFamily="18" charset="0"/>
                          </a:rPr>
                          <m:t>𝐗</m:t>
                        </m:r>
                        <m:r>
                          <a:rPr lang="es-EC" sz="2800" b="1">
                            <a:latin typeface="Cambria Math" panose="02040503050406030204" pitchFamily="18" charset="0"/>
                            <a:ea typeface="Cambria Math" panose="02040503050406030204" pitchFamily="18" charset="0"/>
                          </a:rPr>
                          <m:t>≤</m:t>
                        </m:r>
                        <m:r>
                          <a:rPr lang="es-EC" sz="2800" b="1" i="1">
                            <a:latin typeface="Cambria Math" panose="02040503050406030204" pitchFamily="18" charset="0"/>
                          </a:rPr>
                          <m:t>𝐱</m:t>
                        </m:r>
                      </m:e>
                    </m:d>
                    <m:r>
                      <a:rPr lang="es-EC" sz="2800" b="1">
                        <a:latin typeface="Cambria Math" panose="02040503050406030204" pitchFamily="18" charset="0"/>
                      </a:rPr>
                      <m:t>=</m:t>
                    </m:r>
                    <m:nary>
                      <m:naryPr>
                        <m:chr m:val="∑"/>
                        <m:supHide m:val="on"/>
                        <m:ctrlPr>
                          <a:rPr lang="es-EC" sz="2800" b="1" i="1" smtClean="0">
                            <a:latin typeface="Cambria Math" panose="02040503050406030204" pitchFamily="18" charset="0"/>
                          </a:rPr>
                        </m:ctrlPr>
                      </m:naryPr>
                      <m:sub>
                        <m:r>
                          <m:rPr>
                            <m:brk m:alnAt="7"/>
                          </m:rPr>
                          <a:rPr lang="es-EC" sz="2800" b="1" i="1" smtClean="0">
                            <a:latin typeface="Cambria Math" panose="02040503050406030204" pitchFamily="18" charset="0"/>
                          </a:rPr>
                          <m:t>𝒕</m:t>
                        </m:r>
                        <m:r>
                          <a:rPr lang="es-EC" sz="2800" b="1" i="1" smtClean="0">
                            <a:latin typeface="Cambria Math" panose="02040503050406030204" pitchFamily="18" charset="0"/>
                            <a:ea typeface="Cambria Math" panose="02040503050406030204" pitchFamily="18" charset="0"/>
                          </a:rPr>
                          <m:t>≤</m:t>
                        </m:r>
                        <m:r>
                          <a:rPr lang="es-EC" sz="2800" b="1" i="1" smtClean="0">
                            <a:latin typeface="Cambria Math" panose="02040503050406030204" pitchFamily="18" charset="0"/>
                            <a:ea typeface="Cambria Math" panose="02040503050406030204" pitchFamily="18" charset="0"/>
                          </a:rPr>
                          <m:t>𝒙</m:t>
                        </m:r>
                      </m:sub>
                      <m:sup/>
                      <m:e>
                        <m:r>
                          <a:rPr lang="es-EC" sz="2800" b="1" i="1">
                            <a:latin typeface="Cambria Math" panose="02040503050406030204" pitchFamily="18" charset="0"/>
                          </a:rPr>
                          <m:t>𝐟</m:t>
                        </m:r>
                        <m:r>
                          <a:rPr lang="es-EC" sz="2800" b="1">
                            <a:latin typeface="Cambria Math" panose="02040503050406030204" pitchFamily="18" charset="0"/>
                          </a:rPr>
                          <m:t>(</m:t>
                        </m:r>
                        <m:r>
                          <a:rPr lang="es-EC" sz="2800" b="1" i="0" smtClean="0">
                            <a:latin typeface="Cambria Math" panose="02040503050406030204" pitchFamily="18" charset="0"/>
                          </a:rPr>
                          <m:t>𝐭</m:t>
                        </m:r>
                        <m:r>
                          <a:rPr lang="es-EC" sz="2800" b="1">
                            <a:latin typeface="Cambria Math" panose="02040503050406030204" pitchFamily="18" charset="0"/>
                          </a:rPr>
                          <m:t>)</m:t>
                        </m:r>
                      </m:e>
                    </m:nary>
                    <m:r>
                      <a:rPr lang="es-EC" sz="2800" b="1" i="1" smtClean="0">
                        <a:latin typeface="Cambria Math" panose="02040503050406030204" pitchFamily="18" charset="0"/>
                      </a:rPr>
                      <m:t>; </m:t>
                    </m:r>
                  </m:oMath>
                </a14:m>
                <a:r>
                  <a:rPr lang="es-EC" sz="2800" b="1" dirty="0"/>
                  <a:t> para -</a:t>
                </a:r>
                <a14:m>
                  <m:oMath xmlns:m="http://schemas.openxmlformats.org/officeDocument/2006/math">
                    <m:r>
                      <a:rPr lang="es-EC" sz="2800" b="1" i="1" smtClean="0">
                        <a:latin typeface="Cambria Math" panose="02040503050406030204" pitchFamily="18" charset="0"/>
                        <a:ea typeface="Cambria Math" panose="02040503050406030204" pitchFamily="18" charset="0"/>
                      </a:rPr>
                      <m:t>∞&lt;</m:t>
                    </m:r>
                    <m:r>
                      <a:rPr lang="es-EC" sz="2800" b="1" i="1" smtClean="0">
                        <a:latin typeface="Cambria Math" panose="02040503050406030204" pitchFamily="18" charset="0"/>
                        <a:ea typeface="Cambria Math" panose="02040503050406030204" pitchFamily="18" charset="0"/>
                      </a:rPr>
                      <m:t>𝒙</m:t>
                    </m:r>
                    <m:r>
                      <a:rPr lang="es-EC" sz="2800" b="1" i="1" smtClean="0">
                        <a:latin typeface="Cambria Math" panose="02040503050406030204" pitchFamily="18" charset="0"/>
                        <a:ea typeface="Cambria Math" panose="02040503050406030204" pitchFamily="18" charset="0"/>
                      </a:rPr>
                      <m:t>&lt;∞</m:t>
                    </m:r>
                  </m:oMath>
                </a14:m>
                <a:endParaRPr lang="es-EC" sz="2800" b="1" dirty="0">
                  <a:ea typeface="Cambria Math" panose="02040503050406030204" pitchFamily="18" charset="0"/>
                </a:endParaRPr>
              </a:p>
              <a:p>
                <a:endParaRPr lang="es-EC" sz="2800" b="1" dirty="0"/>
              </a:p>
              <a:p>
                <a:endParaRPr lang="es-EC" sz="2800" b="1" dirty="0"/>
              </a:p>
              <a:p>
                <a:r>
                  <a:rPr lang="es-EC" sz="2800" b="1" dirty="0"/>
                  <a:t>Continuas</a:t>
                </a:r>
              </a:p>
              <a:p>
                <a:endParaRPr lang="es-EC" sz="2800" b="1" dirty="0"/>
              </a:p>
              <a:p>
                <a:r>
                  <a:rPr lang="es-EC" sz="2800" dirty="0"/>
                  <a:t>F(x) =  </a:t>
                </a:r>
                <a14:m>
                  <m:oMath xmlns:m="http://schemas.openxmlformats.org/officeDocument/2006/math">
                    <m:r>
                      <a:rPr lang="es-EC" sz="2800" b="1" i="1">
                        <a:latin typeface="Cambria Math" panose="02040503050406030204" pitchFamily="18" charset="0"/>
                      </a:rPr>
                      <m:t>𝐏</m:t>
                    </m:r>
                    <m:d>
                      <m:dPr>
                        <m:ctrlPr>
                          <a:rPr lang="es-EC" sz="2800" b="1" i="1">
                            <a:latin typeface="Cambria Math" panose="02040503050406030204" pitchFamily="18" charset="0"/>
                          </a:rPr>
                        </m:ctrlPr>
                      </m:dPr>
                      <m:e>
                        <m:r>
                          <a:rPr lang="es-EC" sz="2800" b="1" i="1">
                            <a:latin typeface="Cambria Math" panose="02040503050406030204" pitchFamily="18" charset="0"/>
                          </a:rPr>
                          <m:t>𝐗</m:t>
                        </m:r>
                        <m:r>
                          <a:rPr lang="es-EC" sz="2800" b="1">
                            <a:latin typeface="Cambria Math" panose="02040503050406030204" pitchFamily="18" charset="0"/>
                            <a:ea typeface="Cambria Math" panose="02040503050406030204" pitchFamily="18" charset="0"/>
                          </a:rPr>
                          <m:t>≤</m:t>
                        </m:r>
                        <m:r>
                          <a:rPr lang="es-EC" sz="2800" b="1" i="1">
                            <a:latin typeface="Cambria Math" panose="02040503050406030204" pitchFamily="18" charset="0"/>
                          </a:rPr>
                          <m:t>𝐱</m:t>
                        </m:r>
                      </m:e>
                    </m:d>
                    <m:r>
                      <a:rPr lang="es-EC" sz="2800" b="1">
                        <a:latin typeface="Cambria Math" panose="02040503050406030204" pitchFamily="18" charset="0"/>
                      </a:rPr>
                      <m:t>=</m:t>
                    </m:r>
                  </m:oMath>
                </a14:m>
                <a:r>
                  <a:rPr lang="es-EC" sz="2800" b="1" dirty="0"/>
                  <a:t> </a:t>
                </a:r>
                <a14:m>
                  <m:oMath xmlns:m="http://schemas.openxmlformats.org/officeDocument/2006/math">
                    <m:nary>
                      <m:naryPr>
                        <m:ctrlPr>
                          <a:rPr lang="es-EC" sz="2800" i="1">
                            <a:latin typeface="Cambria Math" panose="02040503050406030204" pitchFamily="18" charset="0"/>
                          </a:rPr>
                        </m:ctrlPr>
                      </m:naryPr>
                      <m:sub>
                        <m:r>
                          <a:rPr lang="es-EC" sz="2800" i="1">
                            <a:latin typeface="Cambria Math" panose="02040503050406030204" pitchFamily="18" charset="0"/>
                          </a:rPr>
                          <m:t>−</m:t>
                        </m:r>
                        <m:r>
                          <a:rPr lang="es-EC" sz="2800" i="1">
                            <a:latin typeface="Cambria Math" panose="02040503050406030204" pitchFamily="18" charset="0"/>
                            <a:ea typeface="Cambria Math" panose="02040503050406030204" pitchFamily="18" charset="0"/>
                          </a:rPr>
                          <m:t>∞</m:t>
                        </m:r>
                      </m:sub>
                      <m:sup>
                        <m:r>
                          <a:rPr lang="es-EC" sz="2800" b="0" i="1" smtClean="0">
                            <a:latin typeface="Cambria Math" panose="02040503050406030204" pitchFamily="18" charset="0"/>
                          </a:rPr>
                          <m:t>𝑥</m:t>
                        </m:r>
                      </m:sup>
                      <m:e>
                        <m:r>
                          <a:rPr lang="es-EC" sz="2800" i="1">
                            <a:latin typeface="Cambria Math" panose="02040503050406030204" pitchFamily="18" charset="0"/>
                          </a:rPr>
                          <m:t>𝑓</m:t>
                        </m:r>
                        <m:d>
                          <m:dPr>
                            <m:ctrlPr>
                              <a:rPr lang="es-EC" sz="2800" i="1">
                                <a:latin typeface="Cambria Math" panose="02040503050406030204" pitchFamily="18" charset="0"/>
                              </a:rPr>
                            </m:ctrlPr>
                          </m:dPr>
                          <m:e>
                            <m:r>
                              <a:rPr lang="es-EC" sz="2800" b="0" i="1" smtClean="0">
                                <a:latin typeface="Cambria Math" panose="02040503050406030204" pitchFamily="18" charset="0"/>
                              </a:rPr>
                              <m:t>𝑡</m:t>
                            </m:r>
                          </m:e>
                        </m:d>
                        <m:r>
                          <a:rPr lang="es-EC" sz="2800" i="1">
                            <a:latin typeface="Cambria Math" panose="02040503050406030204" pitchFamily="18" charset="0"/>
                          </a:rPr>
                          <m:t>𝑑</m:t>
                        </m:r>
                        <m:r>
                          <a:rPr lang="es-EC" sz="2800" b="0" i="1" smtClean="0">
                            <a:latin typeface="Cambria Math" panose="02040503050406030204" pitchFamily="18" charset="0"/>
                          </a:rPr>
                          <m:t>𝑡</m:t>
                        </m:r>
                        <m:r>
                          <a:rPr lang="es-EC" sz="2800" i="1">
                            <a:latin typeface="Cambria Math" panose="02040503050406030204" pitchFamily="18" charset="0"/>
                          </a:rPr>
                          <m:t> </m:t>
                        </m:r>
                      </m:e>
                    </m:nary>
                    <m:r>
                      <a:rPr lang="es-EC" sz="2800" b="1" i="1">
                        <a:latin typeface="Cambria Math" panose="02040503050406030204" pitchFamily="18" charset="0"/>
                      </a:rPr>
                      <m:t>; </m:t>
                    </m:r>
                    <m:r>
                      <m:rPr>
                        <m:nor/>
                      </m:rPr>
                      <a:rPr lang="es-EC" sz="2800" b="1" dirty="0"/>
                      <m:t> </m:t>
                    </m:r>
                    <m:r>
                      <m:rPr>
                        <m:nor/>
                      </m:rPr>
                      <a:rPr lang="es-EC" sz="2800" b="1" dirty="0"/>
                      <m:t>para</m:t>
                    </m:r>
                    <m:r>
                      <m:rPr>
                        <m:nor/>
                      </m:rPr>
                      <a:rPr lang="es-EC" sz="2800" b="1" dirty="0"/>
                      <m:t> −</m:t>
                    </m:r>
                    <m:r>
                      <a:rPr lang="es-EC" sz="2800" b="1" i="1">
                        <a:latin typeface="Cambria Math" panose="02040503050406030204" pitchFamily="18" charset="0"/>
                        <a:ea typeface="Cambria Math" panose="02040503050406030204" pitchFamily="18" charset="0"/>
                      </a:rPr>
                      <m:t>∞&lt;</m:t>
                    </m:r>
                    <m:r>
                      <a:rPr lang="es-EC" sz="2800" b="1" i="1">
                        <a:latin typeface="Cambria Math" panose="02040503050406030204" pitchFamily="18" charset="0"/>
                        <a:ea typeface="Cambria Math" panose="02040503050406030204" pitchFamily="18" charset="0"/>
                      </a:rPr>
                      <m:t>𝒙</m:t>
                    </m:r>
                    <m:r>
                      <a:rPr lang="es-EC" sz="2800" b="1" i="1">
                        <a:latin typeface="Cambria Math" panose="02040503050406030204" pitchFamily="18" charset="0"/>
                        <a:ea typeface="Cambria Math" panose="02040503050406030204" pitchFamily="18" charset="0"/>
                      </a:rPr>
                      <m:t>&lt;∞</m:t>
                    </m:r>
                  </m:oMath>
                </a14:m>
                <a:endParaRPr lang="es-EC" sz="2800" b="1" dirty="0">
                  <a:ea typeface="Cambria Math" panose="02040503050406030204" pitchFamily="18" charset="0"/>
                </a:endParaRPr>
              </a:p>
              <a:p>
                <a:endParaRPr lang="es-EC" sz="2800" b="1" dirty="0"/>
              </a:p>
            </p:txBody>
          </p:sp>
        </mc:Choice>
        <mc:Fallback xmlns="">
          <p:sp>
            <p:nvSpPr>
              <p:cNvPr id="2" name="CuadroTexto 1"/>
              <p:cNvSpPr txBox="1">
                <a:spLocks noRot="1" noChangeAspect="1" noMove="1" noResize="1" noEditPoints="1" noAdjustHandles="1" noChangeArrowheads="1" noChangeShapeType="1" noTextEdit="1"/>
              </p:cNvSpPr>
              <p:nvPr/>
            </p:nvSpPr>
            <p:spPr>
              <a:xfrm>
                <a:off x="631110" y="1276309"/>
                <a:ext cx="9415463" cy="4517712"/>
              </a:xfrm>
              <a:prstGeom prst="rect">
                <a:avLst/>
              </a:prstGeom>
              <a:blipFill>
                <a:blip r:embed="rId2"/>
                <a:stretch>
                  <a:fillRect l="-1360" t="-1215"/>
                </a:stretch>
              </a:blipFill>
            </p:spPr>
            <p:txBody>
              <a:bodyPr/>
              <a:lstStyle/>
              <a:p>
                <a:r>
                  <a:rPr lang="es-EC">
                    <a:noFill/>
                  </a:rPr>
                  <a:t> </a:t>
                </a:r>
              </a:p>
            </p:txBody>
          </p:sp>
        </mc:Fallback>
      </mc:AlternateContent>
      <p:sp>
        <p:nvSpPr>
          <p:cNvPr id="3" name="CuadroTexto 2"/>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636BF2AF-1E17-4B53-BBE0-6BA5EFF366B7}"/>
                  </a:ext>
                </a:extLst>
              </p14:cNvPr>
              <p14:cNvContentPartPr/>
              <p14:nvPr/>
            </p14:nvContentPartPr>
            <p14:xfrm>
              <a:off x="3930480" y="838080"/>
              <a:ext cx="8255520" cy="2038680"/>
            </p14:xfrm>
          </p:contentPart>
        </mc:Choice>
        <mc:Fallback>
          <p:pic>
            <p:nvPicPr>
              <p:cNvPr id="5" name="Ink 4">
                <a:extLst>
                  <a:ext uri="{FF2B5EF4-FFF2-40B4-BE49-F238E27FC236}">
                    <a16:creationId xmlns:a16="http://schemas.microsoft.com/office/drawing/2014/main" id="{636BF2AF-1E17-4B53-BBE0-6BA5EFF366B7}"/>
                  </a:ext>
                </a:extLst>
              </p:cNvPr>
              <p:cNvPicPr/>
              <p:nvPr/>
            </p:nvPicPr>
            <p:blipFill>
              <a:blip r:embed="rId4"/>
              <a:stretch>
                <a:fillRect/>
              </a:stretch>
            </p:blipFill>
            <p:spPr>
              <a:xfrm>
                <a:off x="3921120" y="828720"/>
                <a:ext cx="8274240" cy="2057400"/>
              </a:xfrm>
              <a:prstGeom prst="rect">
                <a:avLst/>
              </a:prstGeom>
            </p:spPr>
          </p:pic>
        </mc:Fallback>
      </mc:AlternateContent>
    </p:spTree>
    <p:extLst>
      <p:ext uri="{BB962C8B-B14F-4D97-AF65-F5344CB8AC3E}">
        <p14:creationId xmlns:p14="http://schemas.microsoft.com/office/powerpoint/2010/main" val="4040841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31110" y="1393644"/>
            <a:ext cx="6716775" cy="523220"/>
          </a:xfrm>
          <a:prstGeom prst="rect">
            <a:avLst/>
          </a:prstGeom>
        </p:spPr>
        <p:txBody>
          <a:bodyPr wrap="none">
            <a:spAutoFit/>
          </a:bodyPr>
          <a:lstStyle/>
          <a:p>
            <a:r>
              <a:rPr lang="es-EC" sz="2800" b="1" dirty="0"/>
              <a:t>Momentos de variables Aleatorias Discretas</a:t>
            </a:r>
          </a:p>
        </p:txBody>
      </p:sp>
      <p:sp>
        <p:nvSpPr>
          <p:cNvPr id="3" name="Rectángulo 2"/>
          <p:cNvSpPr/>
          <p:nvPr/>
        </p:nvSpPr>
        <p:spPr>
          <a:xfrm>
            <a:off x="2547698" y="2135646"/>
            <a:ext cx="4593373" cy="461665"/>
          </a:xfrm>
          <a:prstGeom prst="rect">
            <a:avLst/>
          </a:prstGeom>
        </p:spPr>
        <p:txBody>
          <a:bodyPr wrap="none">
            <a:spAutoFit/>
          </a:bodyPr>
          <a:lstStyle/>
          <a:p>
            <a:r>
              <a:rPr lang="es-EC" sz="2400" b="1" dirty="0"/>
              <a:t>Momentos  con respecto al origen </a:t>
            </a:r>
            <a:endParaRPr lang="es-EC" sz="2400" b="1" baseline="60000" dirty="0"/>
          </a:p>
        </p:txBody>
      </p:sp>
      <p:sp>
        <p:nvSpPr>
          <p:cNvPr id="4" name="Rectángulo 3"/>
          <p:cNvSpPr/>
          <p:nvPr/>
        </p:nvSpPr>
        <p:spPr>
          <a:xfrm>
            <a:off x="1078786" y="3412079"/>
            <a:ext cx="893193" cy="461665"/>
          </a:xfrm>
          <a:prstGeom prst="rect">
            <a:avLst/>
          </a:prstGeom>
        </p:spPr>
        <p:txBody>
          <a:bodyPr wrap="none">
            <a:spAutoFit/>
          </a:bodyPr>
          <a:lstStyle/>
          <a:p>
            <a:r>
              <a:rPr lang="es-EC" sz="2400" b="1" dirty="0"/>
              <a:t>Si r=1</a:t>
            </a:r>
          </a:p>
        </p:txBody>
      </p:sp>
      <mc:AlternateContent xmlns:mc="http://schemas.openxmlformats.org/markup-compatibility/2006" xmlns:a14="http://schemas.microsoft.com/office/drawing/2010/main">
        <mc:Choice Requires="a14">
          <p:sp>
            <p:nvSpPr>
              <p:cNvPr id="5" name="CuadroTexto 4"/>
              <p:cNvSpPr txBox="1"/>
              <p:nvPr/>
            </p:nvSpPr>
            <p:spPr>
              <a:xfrm>
                <a:off x="2540314" y="3121294"/>
                <a:ext cx="3915167"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𝑬</m:t>
                      </m:r>
                      <m:d>
                        <m:dPr>
                          <m:ctrlPr>
                            <a:rPr lang="es-EC" sz="2800" b="1" i="1" smtClean="0">
                              <a:latin typeface="Cambria Math" panose="02040503050406030204" pitchFamily="18" charset="0"/>
                            </a:rPr>
                          </m:ctrlPr>
                        </m:dPr>
                        <m:e>
                          <m:r>
                            <a:rPr lang="es-EC" sz="2800" b="1" i="1" smtClean="0">
                              <a:latin typeface="Cambria Math" panose="02040503050406030204" pitchFamily="18" charset="0"/>
                            </a:rPr>
                            <m:t>𝑿</m:t>
                          </m:r>
                        </m:e>
                      </m:d>
                      <m:r>
                        <a:rPr lang="es-EC" sz="2800" b="1" i="1" smtClean="0">
                          <a:latin typeface="Cambria Math" panose="02040503050406030204" pitchFamily="18" charset="0"/>
                        </a:rPr>
                        <m:t>=</m:t>
                      </m:r>
                      <m:nary>
                        <m:naryPr>
                          <m:chr m:val="∑"/>
                          <m:supHide m:val="on"/>
                          <m:ctrlPr>
                            <a:rPr lang="es-EC" sz="2800" b="1" i="1">
                              <a:latin typeface="Cambria Math" panose="02040503050406030204" pitchFamily="18" charset="0"/>
                            </a:rPr>
                          </m:ctrlPr>
                        </m:naryPr>
                        <m:sub>
                          <m:r>
                            <m:rPr>
                              <m:brk m:alnAt="7"/>
                            </m:rPr>
                            <a:rPr lang="es-EC" sz="2800" b="1" i="1">
                              <a:latin typeface="Cambria Math" panose="02040503050406030204" pitchFamily="18" charset="0"/>
                            </a:rPr>
                            <m:t>𝐱</m:t>
                          </m:r>
                        </m:sub>
                        <m:sup/>
                        <m:e>
                          <m:r>
                            <a:rPr lang="es-EC" sz="2800" b="1" i="1" smtClean="0">
                              <a:latin typeface="Cambria Math" panose="02040503050406030204" pitchFamily="18" charset="0"/>
                            </a:rPr>
                            <m:t>𝒙</m:t>
                          </m:r>
                          <m:r>
                            <a:rPr lang="es-EC" sz="2800" b="1" i="1" smtClean="0">
                              <a:latin typeface="Cambria Math" panose="02040503050406030204" pitchFamily="18" charset="0"/>
                            </a:rPr>
                            <m:t> </m:t>
                          </m:r>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e>
                      </m:nary>
                    </m:oMath>
                  </m:oMathPara>
                </a14:m>
                <a:endParaRPr lang="es-EC" sz="2800" b="1"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540314" y="3121294"/>
                <a:ext cx="3915167" cy="1043234"/>
              </a:xfrm>
              <a:prstGeom prst="rect">
                <a:avLst/>
              </a:prstGeom>
              <a:blipFill rotWithShape="0">
                <a:blip r:embed="rId2"/>
                <a:stretch>
                  <a:fillRect/>
                </a:stretch>
              </a:blipFill>
            </p:spPr>
            <p:txBody>
              <a:bodyPr/>
              <a:lstStyle/>
              <a:p>
                <a:r>
                  <a:rPr lang="es-EC">
                    <a:noFill/>
                  </a:rPr>
                  <a:t> </a:t>
                </a:r>
              </a:p>
            </p:txBody>
          </p:sp>
        </mc:Fallback>
      </mc:AlternateContent>
      <p:sp>
        <p:nvSpPr>
          <p:cNvPr id="6" name="Rectángulo 5"/>
          <p:cNvSpPr/>
          <p:nvPr/>
        </p:nvSpPr>
        <p:spPr>
          <a:xfrm>
            <a:off x="1078785" y="5297298"/>
            <a:ext cx="893193" cy="461665"/>
          </a:xfrm>
          <a:prstGeom prst="rect">
            <a:avLst/>
          </a:prstGeom>
        </p:spPr>
        <p:txBody>
          <a:bodyPr wrap="none">
            <a:spAutoFit/>
          </a:bodyPr>
          <a:lstStyle/>
          <a:p>
            <a:r>
              <a:rPr lang="es-EC" sz="2400" b="1" dirty="0"/>
              <a:t>Si r=2</a:t>
            </a:r>
          </a:p>
        </p:txBody>
      </p:sp>
      <mc:AlternateContent xmlns:mc="http://schemas.openxmlformats.org/markup-compatibility/2006" xmlns:a14="http://schemas.microsoft.com/office/drawing/2010/main">
        <mc:Choice Requires="a14">
          <p:sp>
            <p:nvSpPr>
              <p:cNvPr id="7" name="CuadroTexto 6"/>
              <p:cNvSpPr txBox="1"/>
              <p:nvPr/>
            </p:nvSpPr>
            <p:spPr>
              <a:xfrm>
                <a:off x="3055691" y="5006514"/>
                <a:ext cx="3915167"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𝑬</m:t>
                      </m:r>
                      <m:d>
                        <m:dPr>
                          <m:ctrlPr>
                            <a:rPr lang="es-EC" sz="2800" b="1" i="1" smtClean="0">
                              <a:latin typeface="Cambria Math" panose="02040503050406030204" pitchFamily="18" charset="0"/>
                            </a:rPr>
                          </m:ctrlPr>
                        </m:dPr>
                        <m:e>
                          <m:sSup>
                            <m:sSupPr>
                              <m:ctrlPr>
                                <a:rPr lang="es-EC" sz="2800" b="1" i="1" smtClean="0">
                                  <a:latin typeface="Cambria Math" panose="02040503050406030204" pitchFamily="18" charset="0"/>
                                </a:rPr>
                              </m:ctrlPr>
                            </m:sSupPr>
                            <m:e>
                              <m:r>
                                <a:rPr lang="es-EC" sz="2800" b="1" i="1" smtClean="0">
                                  <a:latin typeface="Cambria Math" panose="02040503050406030204" pitchFamily="18" charset="0"/>
                                </a:rPr>
                                <m:t>𝑿</m:t>
                              </m:r>
                            </m:e>
                            <m:sup>
                              <m:r>
                                <a:rPr lang="es-EC" sz="2800" b="1" i="1" smtClean="0">
                                  <a:latin typeface="Cambria Math" panose="02040503050406030204" pitchFamily="18" charset="0"/>
                                </a:rPr>
                                <m:t>𝟐</m:t>
                              </m:r>
                            </m:sup>
                          </m:sSup>
                        </m:e>
                      </m:d>
                      <m:r>
                        <a:rPr lang="es-EC" sz="2800" b="1" i="1" smtClean="0">
                          <a:latin typeface="Cambria Math" panose="02040503050406030204" pitchFamily="18" charset="0"/>
                        </a:rPr>
                        <m:t>=</m:t>
                      </m:r>
                      <m:nary>
                        <m:naryPr>
                          <m:chr m:val="∑"/>
                          <m:supHide m:val="on"/>
                          <m:ctrlPr>
                            <a:rPr lang="es-EC" sz="2800" b="1" i="1">
                              <a:latin typeface="Cambria Math" panose="02040503050406030204" pitchFamily="18" charset="0"/>
                            </a:rPr>
                          </m:ctrlPr>
                        </m:naryPr>
                        <m:sub>
                          <m:r>
                            <m:rPr>
                              <m:brk m:alnAt="7"/>
                            </m:rPr>
                            <a:rPr lang="es-EC" sz="2800" b="1" i="1">
                              <a:latin typeface="Cambria Math" panose="02040503050406030204" pitchFamily="18" charset="0"/>
                            </a:rPr>
                            <m:t>𝐱</m:t>
                          </m:r>
                        </m:sub>
                        <m:sup/>
                        <m:e>
                          <m:sSup>
                            <m:sSupPr>
                              <m:ctrlPr>
                                <a:rPr lang="es-EC" sz="2800" b="1" i="1" smtClean="0">
                                  <a:latin typeface="Cambria Math" panose="02040503050406030204" pitchFamily="18" charset="0"/>
                                </a:rPr>
                              </m:ctrlPr>
                            </m:sSupPr>
                            <m:e>
                              <m:r>
                                <a:rPr lang="es-EC" sz="2800" b="1" i="1" smtClean="0">
                                  <a:latin typeface="Cambria Math" panose="02040503050406030204" pitchFamily="18" charset="0"/>
                                </a:rPr>
                                <m:t>𝒙</m:t>
                              </m:r>
                            </m:e>
                            <m:sup>
                              <m:r>
                                <a:rPr lang="es-EC" sz="2800" b="1" i="1" smtClean="0">
                                  <a:latin typeface="Cambria Math" panose="02040503050406030204" pitchFamily="18" charset="0"/>
                                </a:rPr>
                                <m:t>𝟐</m:t>
                              </m:r>
                            </m:sup>
                          </m:sSup>
                          <m:r>
                            <a:rPr lang="es-EC" sz="2800" b="1" i="1" smtClean="0">
                              <a:latin typeface="Cambria Math" panose="02040503050406030204" pitchFamily="18" charset="0"/>
                            </a:rPr>
                            <m:t> </m:t>
                          </m:r>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e>
                      </m:nary>
                    </m:oMath>
                  </m:oMathPara>
                </a14:m>
                <a:endParaRPr lang="es-EC" sz="2800" b="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3055691" y="5006514"/>
                <a:ext cx="3915167" cy="1043234"/>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7525215" y="1959583"/>
                <a:ext cx="3915167"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a:latin typeface="Cambria Math" panose="02040503050406030204" pitchFamily="18" charset="0"/>
                        </a:rPr>
                        <m:t>𝑬</m:t>
                      </m:r>
                      <m:d>
                        <m:dPr>
                          <m:ctrlPr>
                            <a:rPr lang="es-EC" sz="2800" b="1" i="1">
                              <a:latin typeface="Cambria Math" panose="02040503050406030204" pitchFamily="18" charset="0"/>
                            </a:rPr>
                          </m:ctrlPr>
                        </m:dPr>
                        <m:e>
                          <m:sSup>
                            <m:sSupPr>
                              <m:ctrlPr>
                                <a:rPr lang="es-EC" sz="2800" b="1" i="1">
                                  <a:latin typeface="Cambria Math" panose="02040503050406030204" pitchFamily="18" charset="0"/>
                                </a:rPr>
                              </m:ctrlPr>
                            </m:sSupPr>
                            <m:e>
                              <m:r>
                                <a:rPr lang="es-EC" sz="2800" b="1" i="1">
                                  <a:latin typeface="Cambria Math" panose="02040503050406030204" pitchFamily="18" charset="0"/>
                                </a:rPr>
                                <m:t>𝑿</m:t>
                              </m:r>
                            </m:e>
                            <m:sup>
                              <m:r>
                                <a:rPr lang="es-EC" sz="2800" b="1" i="1">
                                  <a:latin typeface="Cambria Math" panose="02040503050406030204" pitchFamily="18" charset="0"/>
                                </a:rPr>
                                <m:t>𝒓</m:t>
                              </m:r>
                            </m:sup>
                          </m:sSup>
                        </m:e>
                      </m:d>
                      <m:r>
                        <a:rPr lang="es-EC" sz="2800" b="1" i="1" smtClean="0">
                          <a:latin typeface="Cambria Math" panose="02040503050406030204" pitchFamily="18" charset="0"/>
                        </a:rPr>
                        <m:t>=</m:t>
                      </m:r>
                      <m:nary>
                        <m:naryPr>
                          <m:chr m:val="∑"/>
                          <m:supHide m:val="on"/>
                          <m:ctrlPr>
                            <a:rPr lang="es-EC" sz="2800" b="1" i="1">
                              <a:latin typeface="Cambria Math" panose="02040503050406030204" pitchFamily="18" charset="0"/>
                            </a:rPr>
                          </m:ctrlPr>
                        </m:naryPr>
                        <m:sub>
                          <m:r>
                            <m:rPr>
                              <m:brk m:alnAt="7"/>
                            </m:rPr>
                            <a:rPr lang="es-EC" sz="2800" b="1" i="1">
                              <a:latin typeface="Cambria Math" panose="02040503050406030204" pitchFamily="18" charset="0"/>
                            </a:rPr>
                            <m:t>𝐱</m:t>
                          </m:r>
                        </m:sub>
                        <m:sup/>
                        <m:e>
                          <m:sSup>
                            <m:sSupPr>
                              <m:ctrlPr>
                                <a:rPr lang="es-EC" sz="2800" b="1" i="1">
                                  <a:latin typeface="Cambria Math" panose="02040503050406030204" pitchFamily="18" charset="0"/>
                                </a:rPr>
                              </m:ctrlPr>
                            </m:sSupPr>
                            <m:e>
                              <m:r>
                                <a:rPr lang="es-EC" sz="2800" b="1" i="1">
                                  <a:latin typeface="Cambria Math" panose="02040503050406030204" pitchFamily="18" charset="0"/>
                                </a:rPr>
                                <m:t>𝒙</m:t>
                              </m:r>
                            </m:e>
                            <m:sup>
                              <m:r>
                                <a:rPr lang="es-EC" sz="2800" b="1" i="1" smtClean="0">
                                  <a:latin typeface="Cambria Math" panose="02040503050406030204" pitchFamily="18" charset="0"/>
                                </a:rPr>
                                <m:t>𝒓</m:t>
                              </m:r>
                            </m:sup>
                          </m:sSup>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e>
                      </m:nary>
                    </m:oMath>
                  </m:oMathPara>
                </a14:m>
                <a:endParaRPr lang="es-EC" sz="2800" b="1" dirty="0"/>
              </a:p>
            </p:txBody>
          </p:sp>
        </mc:Choice>
        <mc:Fallback xmlns="">
          <p:sp>
            <p:nvSpPr>
              <p:cNvPr id="8" name="CuadroTexto 7"/>
              <p:cNvSpPr txBox="1">
                <a:spLocks noRot="1" noChangeAspect="1" noMove="1" noResize="1" noEditPoints="1" noAdjustHandles="1" noChangeArrowheads="1" noChangeShapeType="1" noTextEdit="1"/>
              </p:cNvSpPr>
              <p:nvPr/>
            </p:nvSpPr>
            <p:spPr>
              <a:xfrm>
                <a:off x="7525215" y="1959583"/>
                <a:ext cx="3915167" cy="1043234"/>
              </a:xfrm>
              <a:prstGeom prst="rect">
                <a:avLst/>
              </a:prstGeom>
              <a:blipFill rotWithShape="0">
                <a:blip r:embed="rId4"/>
                <a:stretch>
                  <a:fillRect/>
                </a:stretch>
              </a:blipFill>
            </p:spPr>
            <p:txBody>
              <a:bodyPr/>
              <a:lstStyle/>
              <a:p>
                <a:r>
                  <a:rPr lang="es-EC">
                    <a:noFill/>
                  </a:rPr>
                  <a:t> </a:t>
                </a:r>
              </a:p>
            </p:txBody>
          </p:sp>
        </mc:Fallback>
      </mc:AlternateContent>
      <p:sp>
        <p:nvSpPr>
          <p:cNvPr id="9" name="CuadroTexto 8"/>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1685702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31110" y="1140580"/>
            <a:ext cx="6716775" cy="523220"/>
          </a:xfrm>
          <a:prstGeom prst="rect">
            <a:avLst/>
          </a:prstGeom>
        </p:spPr>
        <p:txBody>
          <a:bodyPr wrap="none">
            <a:spAutoFit/>
          </a:bodyPr>
          <a:lstStyle/>
          <a:p>
            <a:r>
              <a:rPr lang="es-EC" sz="2800" b="1" dirty="0"/>
              <a:t>Momentos de variables Aleatorias Discretas</a:t>
            </a:r>
          </a:p>
        </p:txBody>
      </p:sp>
      <p:sp>
        <p:nvSpPr>
          <p:cNvPr id="3" name="Rectángulo 2"/>
          <p:cNvSpPr/>
          <p:nvPr/>
        </p:nvSpPr>
        <p:spPr>
          <a:xfrm>
            <a:off x="3036362" y="1825904"/>
            <a:ext cx="5530681" cy="523220"/>
          </a:xfrm>
          <a:prstGeom prst="rect">
            <a:avLst/>
          </a:prstGeom>
        </p:spPr>
        <p:txBody>
          <a:bodyPr wrap="none">
            <a:spAutoFit/>
          </a:bodyPr>
          <a:lstStyle/>
          <a:p>
            <a:r>
              <a:rPr lang="es-EC" sz="2800" b="1" dirty="0"/>
              <a:t>Momentos  con respecto a la media</a:t>
            </a:r>
            <a:endParaRPr lang="es-EC" sz="2800" b="1" baseline="60000" dirty="0"/>
          </a:p>
        </p:txBody>
      </p:sp>
      <mc:AlternateContent xmlns:mc="http://schemas.openxmlformats.org/markup-compatibility/2006" xmlns:a14="http://schemas.microsoft.com/office/drawing/2010/main">
        <mc:Choice Requires="a14">
          <p:sp>
            <p:nvSpPr>
              <p:cNvPr id="4" name="CuadroTexto 3"/>
              <p:cNvSpPr txBox="1"/>
              <p:nvPr/>
            </p:nvSpPr>
            <p:spPr>
              <a:xfrm>
                <a:off x="2787267" y="2435809"/>
                <a:ext cx="6058292"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𝑬</m:t>
                      </m:r>
                      <m:sSup>
                        <m:sSupPr>
                          <m:ctrlPr>
                            <a:rPr lang="es-EC" sz="2800" b="1" i="1" smtClean="0">
                              <a:latin typeface="Cambria Math" panose="02040503050406030204" pitchFamily="18" charset="0"/>
                            </a:rPr>
                          </m:ctrlPr>
                        </m:sSupPr>
                        <m:e>
                          <m:d>
                            <m:dPr>
                              <m:ctrlPr>
                                <a:rPr lang="es-EC" sz="2800" b="1" i="1">
                                  <a:latin typeface="Cambria Math" panose="02040503050406030204" pitchFamily="18" charset="0"/>
                                </a:rPr>
                              </m:ctrlPr>
                            </m:dPr>
                            <m:e>
                              <m:r>
                                <a:rPr lang="es-EC" sz="2800" b="1" i="1">
                                  <a:latin typeface="Cambria Math" panose="02040503050406030204" pitchFamily="18" charset="0"/>
                                </a:rPr>
                                <m:t>𝑿</m:t>
                              </m:r>
                              <m:r>
                                <a:rPr lang="es-EC" sz="2800" b="1" i="1">
                                  <a:latin typeface="Cambria Math" panose="02040503050406030204" pitchFamily="18" charset="0"/>
                                </a:rPr>
                                <m:t>−</m:t>
                              </m:r>
                              <m:r>
                                <a:rPr lang="es-EC" sz="2800" b="1" i="1">
                                  <a:latin typeface="Cambria Math" panose="02040503050406030204" pitchFamily="18" charset="0"/>
                                  <a:ea typeface="Cambria Math" panose="02040503050406030204" pitchFamily="18" charset="0"/>
                                </a:rPr>
                                <m:t>𝝁</m:t>
                              </m:r>
                            </m:e>
                          </m:d>
                        </m:e>
                        <m:sup>
                          <m:r>
                            <a:rPr lang="es-EC" sz="2800" b="1" i="1" smtClean="0">
                              <a:latin typeface="Cambria Math" panose="02040503050406030204" pitchFamily="18" charset="0"/>
                            </a:rPr>
                            <m:t>𝒓</m:t>
                          </m:r>
                        </m:sup>
                      </m:sSup>
                      <m:r>
                        <a:rPr lang="es-EC" sz="2800" b="1" i="1" smtClean="0">
                          <a:latin typeface="Cambria Math" panose="02040503050406030204" pitchFamily="18" charset="0"/>
                        </a:rPr>
                        <m:t>=</m:t>
                      </m:r>
                      <m:nary>
                        <m:naryPr>
                          <m:chr m:val="∑"/>
                          <m:supHide m:val="on"/>
                          <m:ctrlPr>
                            <a:rPr lang="es-EC" sz="2800" b="1" i="1">
                              <a:latin typeface="Cambria Math" panose="02040503050406030204" pitchFamily="18" charset="0"/>
                            </a:rPr>
                          </m:ctrlPr>
                        </m:naryPr>
                        <m:sub>
                          <m:r>
                            <m:rPr>
                              <m:brk m:alnAt="7"/>
                            </m:rPr>
                            <a:rPr lang="es-EC" sz="2800" b="1" i="1">
                              <a:latin typeface="Cambria Math" panose="02040503050406030204" pitchFamily="18" charset="0"/>
                            </a:rPr>
                            <m:t>𝐱</m:t>
                          </m:r>
                        </m:sub>
                        <m:sup/>
                        <m:e>
                          <m:sSup>
                            <m:sSupPr>
                              <m:ctrlPr>
                                <a:rPr lang="es-EC" sz="2800" b="1" i="1">
                                  <a:latin typeface="Cambria Math" panose="02040503050406030204" pitchFamily="18" charset="0"/>
                                </a:rPr>
                              </m:ctrlPr>
                            </m:sSupPr>
                            <m:e>
                              <m:d>
                                <m:dPr>
                                  <m:ctrlPr>
                                    <a:rPr lang="es-EC" sz="2800" b="1" i="1">
                                      <a:latin typeface="Cambria Math" panose="02040503050406030204" pitchFamily="18" charset="0"/>
                                    </a:rPr>
                                  </m:ctrlPr>
                                </m:dPr>
                                <m:e>
                                  <m:r>
                                    <a:rPr lang="es-EC" sz="2800" b="1" i="1">
                                      <a:latin typeface="Cambria Math" panose="02040503050406030204" pitchFamily="18" charset="0"/>
                                    </a:rPr>
                                    <m:t>𝑿</m:t>
                                  </m:r>
                                  <m:r>
                                    <a:rPr lang="es-EC" sz="2800" b="1" i="1">
                                      <a:latin typeface="Cambria Math" panose="02040503050406030204" pitchFamily="18" charset="0"/>
                                    </a:rPr>
                                    <m:t>−</m:t>
                                  </m:r>
                                  <m:r>
                                    <a:rPr lang="es-EC" sz="2800" b="1" i="1">
                                      <a:latin typeface="Cambria Math" panose="02040503050406030204" pitchFamily="18" charset="0"/>
                                      <a:ea typeface="Cambria Math" panose="02040503050406030204" pitchFamily="18" charset="0"/>
                                    </a:rPr>
                                    <m:t>𝝁</m:t>
                                  </m:r>
                                </m:e>
                              </m:d>
                            </m:e>
                            <m:sup>
                              <m:r>
                                <a:rPr lang="es-EC" sz="2800" b="1" i="1">
                                  <a:latin typeface="Cambria Math" panose="02040503050406030204" pitchFamily="18" charset="0"/>
                                </a:rPr>
                                <m:t>𝒓</m:t>
                              </m:r>
                            </m:sup>
                          </m:sSup>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e>
                      </m:nary>
                      <m:r>
                        <a:rPr lang="es-EC" sz="2800" b="1" i="1" smtClean="0">
                          <a:latin typeface="Cambria Math" panose="02040503050406030204" pitchFamily="18" charset="0"/>
                        </a:rPr>
                        <m:t>=</m:t>
                      </m:r>
                      <m:sSub>
                        <m:sSubPr>
                          <m:ctrlPr>
                            <a:rPr lang="es-EC" sz="2800" b="1" i="1" smtClean="0">
                              <a:latin typeface="Cambria Math" panose="02040503050406030204" pitchFamily="18" charset="0"/>
                            </a:rPr>
                          </m:ctrlPr>
                        </m:sSubPr>
                        <m:e>
                          <m:r>
                            <a:rPr lang="es-EC" sz="2800" b="1" i="1" smtClean="0">
                              <a:latin typeface="Cambria Math" panose="02040503050406030204" pitchFamily="18" charset="0"/>
                              <a:ea typeface="Cambria Math" panose="02040503050406030204" pitchFamily="18" charset="0"/>
                            </a:rPr>
                            <m:t>𝝁</m:t>
                          </m:r>
                        </m:e>
                        <m:sub>
                          <m:r>
                            <a:rPr lang="es-EC" sz="2800" b="1" i="1" smtClean="0">
                              <a:latin typeface="Cambria Math" panose="02040503050406030204" pitchFamily="18" charset="0"/>
                            </a:rPr>
                            <m:t>𝒓</m:t>
                          </m:r>
                        </m:sub>
                      </m:sSub>
                    </m:oMath>
                  </m:oMathPara>
                </a14:m>
                <a:endParaRPr lang="es-EC" sz="2800" b="1" dirty="0"/>
              </a:p>
            </p:txBody>
          </p:sp>
        </mc:Choice>
        <mc:Fallback xmlns="">
          <p:sp>
            <p:nvSpPr>
              <p:cNvPr id="4" name="CuadroTexto 3"/>
              <p:cNvSpPr txBox="1">
                <a:spLocks noRot="1" noChangeAspect="1" noMove="1" noResize="1" noEditPoints="1" noAdjustHandles="1" noChangeArrowheads="1" noChangeShapeType="1" noTextEdit="1"/>
              </p:cNvSpPr>
              <p:nvPr/>
            </p:nvSpPr>
            <p:spPr>
              <a:xfrm>
                <a:off x="2787267" y="2435809"/>
                <a:ext cx="6058292" cy="1043234"/>
              </a:xfrm>
              <a:prstGeom prst="rect">
                <a:avLst/>
              </a:prstGeom>
              <a:blipFill rotWithShape="0">
                <a:blip r:embed="rId2"/>
                <a:stretch>
                  <a:fillRect/>
                </a:stretch>
              </a:blipFill>
            </p:spPr>
            <p:txBody>
              <a:bodyPr/>
              <a:lstStyle/>
              <a:p>
                <a:r>
                  <a:rPr lang="es-EC">
                    <a:noFill/>
                  </a:rPr>
                  <a:t> </a:t>
                </a:r>
              </a:p>
            </p:txBody>
          </p:sp>
        </mc:Fallback>
      </mc:AlternateContent>
      <p:sp>
        <p:nvSpPr>
          <p:cNvPr id="5" name="Rectángulo 4"/>
          <p:cNvSpPr/>
          <p:nvPr/>
        </p:nvSpPr>
        <p:spPr>
          <a:xfrm>
            <a:off x="2143169" y="3909447"/>
            <a:ext cx="893193" cy="461665"/>
          </a:xfrm>
          <a:prstGeom prst="rect">
            <a:avLst/>
          </a:prstGeom>
        </p:spPr>
        <p:txBody>
          <a:bodyPr wrap="none">
            <a:spAutoFit/>
          </a:bodyPr>
          <a:lstStyle/>
          <a:p>
            <a:r>
              <a:rPr lang="es-EC" sz="2400" b="1" dirty="0"/>
              <a:t>Si r=1</a:t>
            </a:r>
          </a:p>
        </p:txBody>
      </p:sp>
      <mc:AlternateContent xmlns:mc="http://schemas.openxmlformats.org/markup-compatibility/2006" xmlns:a14="http://schemas.microsoft.com/office/drawing/2010/main">
        <mc:Choice Requires="a14">
          <p:sp>
            <p:nvSpPr>
              <p:cNvPr id="6" name="CuadroTexto 5"/>
              <p:cNvSpPr txBox="1"/>
              <p:nvPr/>
            </p:nvSpPr>
            <p:spPr>
              <a:xfrm>
                <a:off x="252021" y="4726098"/>
                <a:ext cx="4958154"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𝑬</m:t>
                      </m:r>
                      <m:d>
                        <m:dPr>
                          <m:ctrlPr>
                            <a:rPr lang="es-EC" sz="2800" b="1" i="1">
                              <a:latin typeface="Cambria Math" panose="02040503050406030204" pitchFamily="18" charset="0"/>
                            </a:rPr>
                          </m:ctrlPr>
                        </m:dPr>
                        <m:e>
                          <m:r>
                            <a:rPr lang="es-EC" sz="2800" b="1" i="1">
                              <a:latin typeface="Cambria Math" panose="02040503050406030204" pitchFamily="18" charset="0"/>
                            </a:rPr>
                            <m:t>𝑿</m:t>
                          </m:r>
                          <m:r>
                            <a:rPr lang="es-EC" sz="2800" b="1" i="1">
                              <a:latin typeface="Cambria Math" panose="02040503050406030204" pitchFamily="18" charset="0"/>
                            </a:rPr>
                            <m:t>−</m:t>
                          </m:r>
                          <m:r>
                            <a:rPr lang="es-EC" sz="2800" b="1" i="1">
                              <a:latin typeface="Cambria Math" panose="02040503050406030204" pitchFamily="18" charset="0"/>
                              <a:ea typeface="Cambria Math" panose="02040503050406030204" pitchFamily="18" charset="0"/>
                            </a:rPr>
                            <m:t>𝝁</m:t>
                          </m:r>
                        </m:e>
                      </m:d>
                      <m:r>
                        <a:rPr lang="es-EC" sz="2800" b="1" i="1" smtClean="0">
                          <a:latin typeface="Cambria Math" panose="02040503050406030204" pitchFamily="18" charset="0"/>
                        </a:rPr>
                        <m:t>=</m:t>
                      </m:r>
                      <m:nary>
                        <m:naryPr>
                          <m:chr m:val="∑"/>
                          <m:supHide m:val="on"/>
                          <m:ctrlPr>
                            <a:rPr lang="es-EC" sz="2800" b="1" i="1">
                              <a:latin typeface="Cambria Math" panose="02040503050406030204" pitchFamily="18" charset="0"/>
                            </a:rPr>
                          </m:ctrlPr>
                        </m:naryPr>
                        <m:sub>
                          <m:r>
                            <m:rPr>
                              <m:brk m:alnAt="7"/>
                            </m:rPr>
                            <a:rPr lang="es-EC" sz="2800" b="1" i="1">
                              <a:latin typeface="Cambria Math" panose="02040503050406030204" pitchFamily="18" charset="0"/>
                            </a:rPr>
                            <m:t>𝐱</m:t>
                          </m:r>
                        </m:sub>
                        <m:sup/>
                        <m:e>
                          <m:d>
                            <m:dPr>
                              <m:ctrlPr>
                                <a:rPr lang="es-EC" sz="2800" b="1" i="1">
                                  <a:latin typeface="Cambria Math" panose="02040503050406030204" pitchFamily="18" charset="0"/>
                                </a:rPr>
                              </m:ctrlPr>
                            </m:dPr>
                            <m:e>
                              <m:r>
                                <a:rPr lang="es-EC" sz="2800" b="1" i="1">
                                  <a:latin typeface="Cambria Math" panose="02040503050406030204" pitchFamily="18" charset="0"/>
                                </a:rPr>
                                <m:t>𝑿</m:t>
                              </m:r>
                              <m:r>
                                <a:rPr lang="es-EC" sz="2800" b="1" i="1">
                                  <a:latin typeface="Cambria Math" panose="02040503050406030204" pitchFamily="18" charset="0"/>
                                </a:rPr>
                                <m:t>−</m:t>
                              </m:r>
                              <m:r>
                                <a:rPr lang="es-EC" sz="2800" b="1" i="1">
                                  <a:latin typeface="Cambria Math" panose="02040503050406030204" pitchFamily="18" charset="0"/>
                                  <a:ea typeface="Cambria Math" panose="02040503050406030204" pitchFamily="18" charset="0"/>
                                </a:rPr>
                                <m:t>𝝁</m:t>
                              </m:r>
                            </m:e>
                          </m:d>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e>
                      </m:nary>
                    </m:oMath>
                  </m:oMathPara>
                </a14:m>
                <a:endParaRPr lang="es-EC" sz="2800" b="1" dirty="0"/>
              </a:p>
            </p:txBody>
          </p:sp>
        </mc:Choice>
        <mc:Fallback xmlns="">
          <p:sp>
            <p:nvSpPr>
              <p:cNvPr id="6" name="CuadroTexto 5"/>
              <p:cNvSpPr txBox="1">
                <a:spLocks noRot="1" noChangeAspect="1" noMove="1" noResize="1" noEditPoints="1" noAdjustHandles="1" noChangeArrowheads="1" noChangeShapeType="1" noTextEdit="1"/>
              </p:cNvSpPr>
              <p:nvPr/>
            </p:nvSpPr>
            <p:spPr>
              <a:xfrm>
                <a:off x="252021" y="4726098"/>
                <a:ext cx="4958154" cy="1043234"/>
              </a:xfrm>
              <a:prstGeom prst="rect">
                <a:avLst/>
              </a:prstGeom>
              <a:blipFill rotWithShape="0">
                <a:blip r:embed="rId3"/>
                <a:stretch>
                  <a:fillRect/>
                </a:stretch>
              </a:blipFill>
            </p:spPr>
            <p:txBody>
              <a:bodyPr/>
              <a:lstStyle/>
              <a:p>
                <a:r>
                  <a:rPr lang="es-EC">
                    <a:noFill/>
                  </a:rPr>
                  <a:t> </a:t>
                </a:r>
              </a:p>
            </p:txBody>
          </p:sp>
        </mc:Fallback>
      </mc:AlternateContent>
      <p:sp>
        <p:nvSpPr>
          <p:cNvPr id="7" name="Rectángulo 6"/>
          <p:cNvSpPr/>
          <p:nvPr/>
        </p:nvSpPr>
        <p:spPr>
          <a:xfrm>
            <a:off x="8382044" y="3909447"/>
            <a:ext cx="893193" cy="461665"/>
          </a:xfrm>
          <a:prstGeom prst="rect">
            <a:avLst/>
          </a:prstGeom>
        </p:spPr>
        <p:txBody>
          <a:bodyPr wrap="none">
            <a:spAutoFit/>
          </a:bodyPr>
          <a:lstStyle/>
          <a:p>
            <a:r>
              <a:rPr lang="es-EC" sz="2400" b="1" dirty="0"/>
              <a:t>Si r=2</a:t>
            </a:r>
          </a:p>
        </p:txBody>
      </p:sp>
      <mc:AlternateContent xmlns:mc="http://schemas.openxmlformats.org/markup-compatibility/2006" xmlns:a14="http://schemas.microsoft.com/office/drawing/2010/main">
        <mc:Choice Requires="a14">
          <p:sp>
            <p:nvSpPr>
              <p:cNvPr id="8" name="CuadroTexto 7"/>
              <p:cNvSpPr txBox="1"/>
              <p:nvPr/>
            </p:nvSpPr>
            <p:spPr>
              <a:xfrm>
                <a:off x="6033696" y="4723033"/>
                <a:ext cx="4958154" cy="1043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𝑬</m:t>
                      </m:r>
                      <m:sSup>
                        <m:sSupPr>
                          <m:ctrlPr>
                            <a:rPr lang="es-EC" sz="2800" b="1" i="1" smtClean="0">
                              <a:latin typeface="Cambria Math" panose="02040503050406030204" pitchFamily="18" charset="0"/>
                            </a:rPr>
                          </m:ctrlPr>
                        </m:sSupPr>
                        <m:e>
                          <m:d>
                            <m:dPr>
                              <m:ctrlPr>
                                <a:rPr lang="es-EC" sz="2800" b="1" i="1">
                                  <a:latin typeface="Cambria Math" panose="02040503050406030204" pitchFamily="18" charset="0"/>
                                </a:rPr>
                              </m:ctrlPr>
                            </m:dPr>
                            <m:e>
                              <m:r>
                                <a:rPr lang="es-EC" sz="2800" b="1" i="1">
                                  <a:latin typeface="Cambria Math" panose="02040503050406030204" pitchFamily="18" charset="0"/>
                                </a:rPr>
                                <m:t>𝑿</m:t>
                              </m:r>
                              <m:r>
                                <a:rPr lang="es-EC" sz="2800" b="1" i="1">
                                  <a:latin typeface="Cambria Math" panose="02040503050406030204" pitchFamily="18" charset="0"/>
                                </a:rPr>
                                <m:t>−</m:t>
                              </m:r>
                              <m:r>
                                <a:rPr lang="es-EC" sz="2800" b="1" i="1">
                                  <a:latin typeface="Cambria Math" panose="02040503050406030204" pitchFamily="18" charset="0"/>
                                  <a:ea typeface="Cambria Math" panose="02040503050406030204" pitchFamily="18" charset="0"/>
                                </a:rPr>
                                <m:t>𝝁</m:t>
                              </m:r>
                            </m:e>
                          </m:d>
                        </m:e>
                        <m:sup>
                          <m:r>
                            <a:rPr lang="es-EC" sz="2800" b="1" i="1" smtClean="0">
                              <a:latin typeface="Cambria Math" panose="02040503050406030204" pitchFamily="18" charset="0"/>
                            </a:rPr>
                            <m:t>𝟐</m:t>
                          </m:r>
                        </m:sup>
                      </m:sSup>
                      <m:r>
                        <a:rPr lang="es-EC" sz="2800" b="1" i="1" smtClean="0">
                          <a:latin typeface="Cambria Math" panose="02040503050406030204" pitchFamily="18" charset="0"/>
                        </a:rPr>
                        <m:t>=</m:t>
                      </m:r>
                      <m:nary>
                        <m:naryPr>
                          <m:chr m:val="∑"/>
                          <m:supHide m:val="on"/>
                          <m:ctrlPr>
                            <a:rPr lang="es-EC" sz="2800" b="1" i="1">
                              <a:latin typeface="Cambria Math" panose="02040503050406030204" pitchFamily="18" charset="0"/>
                            </a:rPr>
                          </m:ctrlPr>
                        </m:naryPr>
                        <m:sub>
                          <m:r>
                            <m:rPr>
                              <m:brk m:alnAt="7"/>
                            </m:rPr>
                            <a:rPr lang="es-EC" sz="2800" b="1" i="1">
                              <a:latin typeface="Cambria Math" panose="02040503050406030204" pitchFamily="18" charset="0"/>
                            </a:rPr>
                            <m:t>𝐱</m:t>
                          </m:r>
                        </m:sub>
                        <m:sup/>
                        <m:e>
                          <m:sSup>
                            <m:sSupPr>
                              <m:ctrlPr>
                                <a:rPr lang="es-EC" sz="2800" b="1" i="1">
                                  <a:latin typeface="Cambria Math" panose="02040503050406030204" pitchFamily="18" charset="0"/>
                                </a:rPr>
                              </m:ctrlPr>
                            </m:sSupPr>
                            <m:e>
                              <m:d>
                                <m:dPr>
                                  <m:ctrlPr>
                                    <a:rPr lang="es-EC" sz="2800" b="1" i="1">
                                      <a:latin typeface="Cambria Math" panose="02040503050406030204" pitchFamily="18" charset="0"/>
                                    </a:rPr>
                                  </m:ctrlPr>
                                </m:dPr>
                                <m:e>
                                  <m:r>
                                    <a:rPr lang="es-EC" sz="2800" b="1" i="1">
                                      <a:latin typeface="Cambria Math" panose="02040503050406030204" pitchFamily="18" charset="0"/>
                                    </a:rPr>
                                    <m:t>𝑿</m:t>
                                  </m:r>
                                  <m:r>
                                    <a:rPr lang="es-EC" sz="2800" b="1" i="1">
                                      <a:latin typeface="Cambria Math" panose="02040503050406030204" pitchFamily="18" charset="0"/>
                                    </a:rPr>
                                    <m:t>−</m:t>
                                  </m:r>
                                  <m:r>
                                    <a:rPr lang="es-EC" sz="2800" b="1" i="1">
                                      <a:latin typeface="Cambria Math" panose="02040503050406030204" pitchFamily="18" charset="0"/>
                                      <a:ea typeface="Cambria Math" panose="02040503050406030204" pitchFamily="18" charset="0"/>
                                    </a:rPr>
                                    <m:t>𝝁</m:t>
                                  </m:r>
                                </m:e>
                              </m:d>
                            </m:e>
                            <m:sup>
                              <m:r>
                                <a:rPr lang="es-EC" sz="2800" b="1" i="1" smtClean="0">
                                  <a:latin typeface="Cambria Math" panose="02040503050406030204" pitchFamily="18" charset="0"/>
                                  <a:ea typeface="Cambria Math" panose="02040503050406030204" pitchFamily="18" charset="0"/>
                                </a:rPr>
                                <m:t>𝟐</m:t>
                              </m:r>
                            </m:sup>
                          </m:sSup>
                          <m:r>
                            <a:rPr lang="es-EC" sz="2800" b="1" i="1">
                              <a:latin typeface="Cambria Math" panose="02040503050406030204" pitchFamily="18" charset="0"/>
                            </a:rPr>
                            <m:t>𝐟</m:t>
                          </m:r>
                          <m:d>
                            <m:dPr>
                              <m:ctrlPr>
                                <a:rPr lang="es-EC" sz="2800" b="1" i="1">
                                  <a:latin typeface="Cambria Math" panose="02040503050406030204" pitchFamily="18" charset="0"/>
                                </a:rPr>
                              </m:ctrlPr>
                            </m:dPr>
                            <m:e>
                              <m:r>
                                <a:rPr lang="es-EC" sz="2800" b="1" i="1">
                                  <a:latin typeface="Cambria Math" panose="02040503050406030204" pitchFamily="18" charset="0"/>
                                </a:rPr>
                                <m:t>𝐱</m:t>
                              </m:r>
                            </m:e>
                          </m:d>
                        </m:e>
                      </m:nary>
                    </m:oMath>
                  </m:oMathPara>
                </a14:m>
                <a:endParaRPr lang="es-EC" sz="2800" b="1" dirty="0"/>
              </a:p>
            </p:txBody>
          </p:sp>
        </mc:Choice>
        <mc:Fallback xmlns="">
          <p:sp>
            <p:nvSpPr>
              <p:cNvPr id="8" name="CuadroTexto 7"/>
              <p:cNvSpPr txBox="1">
                <a:spLocks noRot="1" noChangeAspect="1" noMove="1" noResize="1" noEditPoints="1" noAdjustHandles="1" noChangeArrowheads="1" noChangeShapeType="1" noTextEdit="1"/>
              </p:cNvSpPr>
              <p:nvPr/>
            </p:nvSpPr>
            <p:spPr>
              <a:xfrm>
                <a:off x="6033696" y="4723033"/>
                <a:ext cx="4958154" cy="1043234"/>
              </a:xfrm>
              <a:prstGeom prst="rect">
                <a:avLst/>
              </a:prstGeom>
              <a:blipFill rotWithShape="0">
                <a:blip r:embed="rId4"/>
                <a:stretch>
                  <a:fillRect/>
                </a:stretch>
              </a:blipFill>
            </p:spPr>
            <p:txBody>
              <a:bodyPr/>
              <a:lstStyle/>
              <a:p>
                <a:r>
                  <a:rPr lang="es-EC">
                    <a:noFill/>
                  </a:rPr>
                  <a:t> </a:t>
                </a:r>
              </a:p>
            </p:txBody>
          </p:sp>
        </mc:Fallback>
      </mc:AlternateContent>
      <p:sp>
        <p:nvSpPr>
          <p:cNvPr id="9" name="CuadroTexto 8"/>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2598835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52498" y="2082180"/>
            <a:ext cx="3505202" cy="461665"/>
          </a:xfrm>
          <a:prstGeom prst="rect">
            <a:avLst/>
          </a:prstGeom>
          <a:noFill/>
        </p:spPr>
        <p:txBody>
          <a:bodyPr wrap="square" rtlCol="0">
            <a:spAutoFit/>
          </a:bodyPr>
          <a:lstStyle/>
          <a:p>
            <a:r>
              <a:rPr lang="es-EC" sz="2400" b="1" dirty="0"/>
              <a:t>Esperanza Matemática</a:t>
            </a:r>
          </a:p>
        </p:txBody>
      </p:sp>
      <mc:AlternateContent xmlns:mc="http://schemas.openxmlformats.org/markup-compatibility/2006" xmlns:a14="http://schemas.microsoft.com/office/drawing/2010/main">
        <mc:Choice Requires="a14">
          <p:sp>
            <p:nvSpPr>
              <p:cNvPr id="3" name="CuadroTexto 2"/>
              <p:cNvSpPr txBox="1"/>
              <p:nvPr/>
            </p:nvSpPr>
            <p:spPr>
              <a:xfrm>
                <a:off x="4992989" y="1904825"/>
                <a:ext cx="3485891" cy="8163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ea typeface="Cambria Math" panose="02040503050406030204" pitchFamily="18" charset="0"/>
                        </a:rPr>
                        <m:t>𝜇</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𝐸</m:t>
                      </m:r>
                      <m:d>
                        <m:dPr>
                          <m:ctrlPr>
                            <a:rPr lang="es-EC" sz="2400" b="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𝑥</m:t>
                          </m:r>
                        </m:e>
                      </m:d>
                      <m:r>
                        <a:rPr lang="es-EC" sz="2400" b="0" i="1" smtClean="0">
                          <a:latin typeface="Cambria Math" panose="02040503050406030204" pitchFamily="18" charset="0"/>
                          <a:ea typeface="Cambria Math" panose="02040503050406030204" pitchFamily="18" charset="0"/>
                        </a:rPr>
                        <m:t>= </m:t>
                      </m:r>
                      <m:nary>
                        <m:naryPr>
                          <m:ctrlPr>
                            <a:rPr lang="es-EC" sz="2400" b="0" i="1" smtClean="0">
                              <a:latin typeface="Cambria Math" panose="02040503050406030204" pitchFamily="18" charset="0"/>
                              <a:ea typeface="Cambria Math" panose="02040503050406030204" pitchFamily="18" charset="0"/>
                            </a:rPr>
                          </m:ctrlPr>
                        </m:naryPr>
                        <m:sub>
                          <m:r>
                            <m:rPr>
                              <m:brk m:alnAt="23"/>
                            </m:rP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m:t>
                          </m:r>
                        </m:sub>
                        <m:sup>
                          <m:r>
                            <a:rPr lang="es-EC" sz="2400" b="0" i="1" smtClean="0">
                              <a:latin typeface="Cambria Math" panose="02040503050406030204" pitchFamily="18" charset="0"/>
                              <a:ea typeface="Cambria Math" panose="02040503050406030204" pitchFamily="18" charset="0"/>
                            </a:rPr>
                            <m:t>+∞</m:t>
                          </m:r>
                        </m:sup>
                        <m:e>
                          <m:r>
                            <a:rPr lang="es-EC" sz="2400" b="0" i="1" smtClean="0">
                              <a:latin typeface="Cambria Math" panose="02040503050406030204" pitchFamily="18" charset="0"/>
                              <a:ea typeface="Cambria Math" panose="02040503050406030204" pitchFamily="18" charset="0"/>
                            </a:rPr>
                            <m:t>𝑥𝑓</m:t>
                          </m:r>
                          <m:d>
                            <m:dPr>
                              <m:ctrlPr>
                                <a:rPr lang="es-EC" sz="2400" b="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𝑥</m:t>
                              </m:r>
                            </m:e>
                          </m:d>
                          <m:r>
                            <a:rPr lang="es-EC" sz="2400" b="0" i="1" smtClean="0">
                              <a:latin typeface="Cambria Math" panose="02040503050406030204" pitchFamily="18" charset="0"/>
                              <a:ea typeface="Cambria Math" panose="02040503050406030204" pitchFamily="18" charset="0"/>
                            </a:rPr>
                            <m:t>𝑑𝑥</m:t>
                          </m:r>
                        </m:e>
                      </m:nary>
                    </m:oMath>
                  </m:oMathPara>
                </a14:m>
                <a:endParaRPr lang="es-EC"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4992989" y="1904825"/>
                <a:ext cx="3485891" cy="816377"/>
              </a:xfrm>
              <a:prstGeom prst="rect">
                <a:avLst/>
              </a:prstGeom>
              <a:blipFill rotWithShape="0">
                <a:blip r:embed="rId2"/>
                <a:stretch>
                  <a:fillRect/>
                </a:stretch>
              </a:blipFill>
            </p:spPr>
            <p:txBody>
              <a:bodyPr/>
              <a:lstStyle/>
              <a:p>
                <a:r>
                  <a:rPr lang="es-EC">
                    <a:noFill/>
                  </a:rPr>
                  <a:t> </a:t>
                </a:r>
              </a:p>
            </p:txBody>
          </p:sp>
        </mc:Fallback>
      </mc:AlternateContent>
      <p:sp>
        <p:nvSpPr>
          <p:cNvPr id="4" name="CuadroTexto 3"/>
          <p:cNvSpPr txBox="1"/>
          <p:nvPr/>
        </p:nvSpPr>
        <p:spPr>
          <a:xfrm>
            <a:off x="952498" y="3710367"/>
            <a:ext cx="1789717" cy="461665"/>
          </a:xfrm>
          <a:prstGeom prst="rect">
            <a:avLst/>
          </a:prstGeom>
          <a:noFill/>
        </p:spPr>
        <p:txBody>
          <a:bodyPr wrap="square" rtlCol="0">
            <a:spAutoFit/>
          </a:bodyPr>
          <a:lstStyle/>
          <a:p>
            <a:r>
              <a:rPr lang="es-EC" sz="2400" b="1" dirty="0"/>
              <a:t>Varianza</a:t>
            </a:r>
          </a:p>
        </p:txBody>
      </p:sp>
      <mc:AlternateContent xmlns:mc="http://schemas.openxmlformats.org/markup-compatibility/2006" xmlns:a14="http://schemas.microsoft.com/office/drawing/2010/main">
        <mc:Choice Requires="a14">
          <p:sp>
            <p:nvSpPr>
              <p:cNvPr id="5" name="CuadroTexto 4"/>
              <p:cNvSpPr txBox="1"/>
              <p:nvPr/>
            </p:nvSpPr>
            <p:spPr>
              <a:xfrm>
                <a:off x="3618925" y="3710367"/>
                <a:ext cx="5592300" cy="486352"/>
              </a:xfrm>
              <a:prstGeom prst="rect">
                <a:avLst/>
              </a:prstGeom>
              <a:noFill/>
            </p:spPr>
            <p:txBody>
              <a:bodyPr wrap="none" lIns="0" tIns="0" rIns="0" bIns="0" rtlCol="0">
                <a:spAutoFit/>
              </a:bodyPr>
              <a:lstStyle/>
              <a:p>
                <a14:m>
                  <m:oMath xmlns:m="http://schemas.openxmlformats.org/officeDocument/2006/math">
                    <m:sSup>
                      <m:sSupPr>
                        <m:ctrlPr>
                          <a:rPr lang="es-EC" sz="2800" b="0" i="1" smtClean="0">
                            <a:latin typeface="Cambria Math" panose="02040503050406030204" pitchFamily="18" charset="0"/>
                            <a:ea typeface="Cambria Math" panose="02040503050406030204" pitchFamily="18" charset="0"/>
                          </a:rPr>
                        </m:ctrlPr>
                      </m:sSupPr>
                      <m:e>
                        <m:r>
                          <a:rPr lang="es-EC" sz="2800" b="0" i="1" smtClean="0">
                            <a:latin typeface="Cambria Math" panose="02040503050406030204" pitchFamily="18" charset="0"/>
                            <a:ea typeface="Cambria Math" panose="02040503050406030204" pitchFamily="18" charset="0"/>
                          </a:rPr>
                          <m:t>𝜎</m:t>
                        </m:r>
                      </m:e>
                      <m:sup>
                        <m:r>
                          <a:rPr lang="es-EC" sz="2800" b="0" i="1" smtClean="0">
                            <a:latin typeface="Cambria Math" panose="02040503050406030204" pitchFamily="18" charset="0"/>
                            <a:ea typeface="Cambria Math" panose="02040503050406030204" pitchFamily="18" charset="0"/>
                          </a:rPr>
                          <m:t>2</m:t>
                        </m:r>
                      </m:sup>
                    </m:sSup>
                    <m:r>
                      <a:rPr lang="es-EC" sz="2800" b="0" i="1" smtClean="0">
                        <a:latin typeface="Cambria Math" panose="02040503050406030204" pitchFamily="18" charset="0"/>
                        <a:ea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𝐸</m:t>
                    </m:r>
                    <m:d>
                      <m:dPr>
                        <m:begChr m:val="["/>
                        <m:endChr m:val="]"/>
                        <m:ctrlPr>
                          <a:rPr lang="es-EC" sz="2800" b="0" i="1" smtClean="0">
                            <a:latin typeface="Cambria Math" panose="02040503050406030204" pitchFamily="18" charset="0"/>
                            <a:ea typeface="Cambria Math" panose="02040503050406030204" pitchFamily="18" charset="0"/>
                          </a:rPr>
                        </m:ctrlPr>
                      </m:dPr>
                      <m:e>
                        <m:sSup>
                          <m:sSupPr>
                            <m:ctrlPr>
                              <a:rPr lang="es-EC" sz="2800" b="0" i="1" smtClean="0">
                                <a:latin typeface="Cambria Math" panose="02040503050406030204" pitchFamily="18" charset="0"/>
                                <a:ea typeface="Cambria Math" panose="02040503050406030204" pitchFamily="18" charset="0"/>
                              </a:rPr>
                            </m:ctrlPr>
                          </m:sSupPr>
                          <m:e>
                            <m:d>
                              <m:dPr>
                                <m:ctrlPr>
                                  <a:rPr lang="es-EC" sz="2800" i="1">
                                    <a:latin typeface="Cambria Math" panose="02040503050406030204" pitchFamily="18" charset="0"/>
                                    <a:ea typeface="Cambria Math" panose="02040503050406030204" pitchFamily="18" charset="0"/>
                                  </a:rPr>
                                </m:ctrlPr>
                              </m:dPr>
                              <m:e>
                                <m:r>
                                  <a:rPr lang="es-EC" sz="2800" i="1">
                                    <a:latin typeface="Cambria Math" panose="02040503050406030204" pitchFamily="18" charset="0"/>
                                    <a:ea typeface="Cambria Math" panose="02040503050406030204" pitchFamily="18" charset="0"/>
                                  </a:rPr>
                                  <m:t>𝑥</m:t>
                                </m:r>
                                <m:r>
                                  <a:rPr lang="es-EC" sz="2800" i="1">
                                    <a:latin typeface="Cambria Math" panose="02040503050406030204" pitchFamily="18" charset="0"/>
                                    <a:ea typeface="Cambria Math" panose="02040503050406030204" pitchFamily="18" charset="0"/>
                                  </a:rPr>
                                  <m:t>−</m:t>
                                </m:r>
                                <m:r>
                                  <a:rPr lang="es-EC" sz="2800" i="1">
                                    <a:latin typeface="Cambria Math" panose="02040503050406030204" pitchFamily="18" charset="0"/>
                                    <a:ea typeface="Cambria Math" panose="02040503050406030204" pitchFamily="18" charset="0"/>
                                  </a:rPr>
                                  <m:t>𝜇</m:t>
                                </m:r>
                              </m:e>
                            </m:d>
                          </m:e>
                          <m:sup>
                            <m:r>
                              <a:rPr lang="es-EC" sz="2800" b="0" i="1" smtClean="0">
                                <a:latin typeface="Cambria Math" panose="02040503050406030204" pitchFamily="18" charset="0"/>
                                <a:ea typeface="Cambria Math" panose="02040503050406030204" pitchFamily="18" charset="0"/>
                              </a:rPr>
                              <m:t>2</m:t>
                            </m:r>
                          </m:sup>
                        </m:sSup>
                      </m:e>
                    </m:d>
                    <m:r>
                      <a:rPr lang="es-EC" sz="2800" b="0" i="1" smtClean="0">
                        <a:latin typeface="Cambria Math" panose="02040503050406030204" pitchFamily="18" charset="0"/>
                        <a:ea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𝐸</m:t>
                    </m:r>
                    <m:d>
                      <m:dPr>
                        <m:ctrlPr>
                          <a:rPr lang="es-EC" sz="2800" b="0" i="1" smtClean="0">
                            <a:latin typeface="Cambria Math" panose="02040503050406030204" pitchFamily="18" charset="0"/>
                            <a:ea typeface="Cambria Math" panose="02040503050406030204" pitchFamily="18" charset="0"/>
                          </a:rPr>
                        </m:ctrlPr>
                      </m:dPr>
                      <m:e>
                        <m:sSup>
                          <m:sSupPr>
                            <m:ctrlPr>
                              <a:rPr lang="es-EC" sz="2800" b="0" i="1" smtClean="0">
                                <a:latin typeface="Cambria Math" panose="02040503050406030204" pitchFamily="18" charset="0"/>
                                <a:ea typeface="Cambria Math" panose="02040503050406030204" pitchFamily="18" charset="0"/>
                              </a:rPr>
                            </m:ctrlPr>
                          </m:sSupPr>
                          <m:e>
                            <m:r>
                              <a:rPr lang="es-EC" sz="2800" b="0" i="1" smtClean="0">
                                <a:latin typeface="Cambria Math" panose="02040503050406030204" pitchFamily="18" charset="0"/>
                                <a:ea typeface="Cambria Math" panose="02040503050406030204" pitchFamily="18" charset="0"/>
                              </a:rPr>
                              <m:t>𝑥</m:t>
                            </m:r>
                          </m:e>
                          <m:sup>
                            <m:r>
                              <a:rPr lang="es-EC" sz="2800" b="0" i="1" smtClean="0">
                                <a:latin typeface="Cambria Math" panose="02040503050406030204" pitchFamily="18" charset="0"/>
                                <a:ea typeface="Cambria Math" panose="02040503050406030204" pitchFamily="18" charset="0"/>
                              </a:rPr>
                              <m:t>2</m:t>
                            </m:r>
                          </m:sup>
                        </m:sSup>
                      </m:e>
                    </m:d>
                    <m:r>
                      <a:rPr lang="es-EC" sz="2800" b="0" i="1" smtClean="0">
                        <a:latin typeface="Cambria Math" panose="02040503050406030204" pitchFamily="18" charset="0"/>
                        <a:ea typeface="Cambria Math" panose="02040503050406030204" pitchFamily="18" charset="0"/>
                      </a:rPr>
                      <m:t>−</m:t>
                    </m:r>
                    <m:sSup>
                      <m:sSupPr>
                        <m:ctrlPr>
                          <a:rPr lang="es-EC" sz="2800" b="0" i="1" smtClean="0">
                            <a:latin typeface="Cambria Math" panose="02040503050406030204" pitchFamily="18" charset="0"/>
                            <a:ea typeface="Cambria Math" panose="02040503050406030204" pitchFamily="18" charset="0"/>
                          </a:rPr>
                        </m:ctrlPr>
                      </m:sSupPr>
                      <m:e>
                        <m:d>
                          <m:dPr>
                            <m:begChr m:val="["/>
                            <m:endChr m:val="]"/>
                            <m:ctrlPr>
                              <a:rPr lang="es-EC" sz="2800" i="1">
                                <a:latin typeface="Cambria Math" panose="02040503050406030204" pitchFamily="18" charset="0"/>
                                <a:ea typeface="Cambria Math" panose="02040503050406030204" pitchFamily="18" charset="0"/>
                              </a:rPr>
                            </m:ctrlPr>
                          </m:dPr>
                          <m:e>
                            <m:r>
                              <a:rPr lang="es-EC" sz="2800" b="0" i="1" smtClean="0">
                                <a:latin typeface="Cambria Math" panose="02040503050406030204" pitchFamily="18" charset="0"/>
                                <a:ea typeface="Cambria Math" panose="02040503050406030204" pitchFamily="18" charset="0"/>
                              </a:rPr>
                              <m:t>𝐸</m:t>
                            </m:r>
                            <m:r>
                              <a:rPr lang="es-EC" sz="2800" b="0" i="1" smtClean="0">
                                <a:latin typeface="Cambria Math" panose="02040503050406030204" pitchFamily="18" charset="0"/>
                                <a:ea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𝑥</m:t>
                            </m:r>
                            <m:r>
                              <a:rPr lang="es-EC" sz="2800" b="0" i="1" smtClean="0">
                                <a:latin typeface="Cambria Math" panose="02040503050406030204" pitchFamily="18" charset="0"/>
                                <a:ea typeface="Cambria Math" panose="02040503050406030204" pitchFamily="18" charset="0"/>
                              </a:rPr>
                              <m:t>)</m:t>
                            </m:r>
                          </m:e>
                        </m:d>
                      </m:e>
                      <m:sup>
                        <m:r>
                          <a:rPr lang="es-EC" sz="2800" b="0" i="1" smtClean="0">
                            <a:latin typeface="Cambria Math" panose="02040503050406030204" pitchFamily="18" charset="0"/>
                            <a:ea typeface="Cambria Math" panose="02040503050406030204" pitchFamily="18" charset="0"/>
                          </a:rPr>
                          <m:t>2</m:t>
                        </m:r>
                      </m:sup>
                    </m:sSup>
                  </m:oMath>
                </a14:m>
                <a:r>
                  <a:rPr lang="es-EC" sz="2800" dirty="0"/>
                  <a:t> </a:t>
                </a:r>
              </a:p>
            </p:txBody>
          </p:sp>
        </mc:Choice>
        <mc:Fallback xmlns="">
          <p:sp>
            <p:nvSpPr>
              <p:cNvPr id="5" name="CuadroTexto 4"/>
              <p:cNvSpPr txBox="1">
                <a:spLocks noRot="1" noChangeAspect="1" noMove="1" noResize="1" noEditPoints="1" noAdjustHandles="1" noChangeArrowheads="1" noChangeShapeType="1" noTextEdit="1"/>
              </p:cNvSpPr>
              <p:nvPr/>
            </p:nvSpPr>
            <p:spPr>
              <a:xfrm>
                <a:off x="3618925" y="3710367"/>
                <a:ext cx="5592300" cy="486352"/>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5375923" y="5094256"/>
                <a:ext cx="3242683" cy="8163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ea typeface="Cambria Math" panose="02040503050406030204" pitchFamily="18" charset="0"/>
                        </a:rPr>
                        <m:t>𝐸</m:t>
                      </m:r>
                      <m:d>
                        <m:dPr>
                          <m:ctrlPr>
                            <a:rPr lang="es-EC" sz="2400" b="0" i="1" smtClean="0">
                              <a:latin typeface="Cambria Math" panose="02040503050406030204" pitchFamily="18" charset="0"/>
                              <a:ea typeface="Cambria Math" panose="02040503050406030204" pitchFamily="18" charset="0"/>
                            </a:rPr>
                          </m:ctrlPr>
                        </m:dPr>
                        <m:e>
                          <m:sSup>
                            <m:sSupPr>
                              <m:ctrlPr>
                                <a:rPr lang="es-EC" sz="2400" b="0" i="1" smtClean="0">
                                  <a:latin typeface="Cambria Math" panose="02040503050406030204" pitchFamily="18" charset="0"/>
                                  <a:ea typeface="Cambria Math" panose="02040503050406030204" pitchFamily="18" charset="0"/>
                                </a:rPr>
                              </m:ctrlPr>
                            </m:sSupPr>
                            <m:e>
                              <m:r>
                                <a:rPr lang="es-EC" sz="2400" b="0" i="1" smtClean="0">
                                  <a:latin typeface="Cambria Math" panose="02040503050406030204" pitchFamily="18" charset="0"/>
                                  <a:ea typeface="Cambria Math" panose="02040503050406030204" pitchFamily="18" charset="0"/>
                                </a:rPr>
                                <m:t>𝑥</m:t>
                              </m:r>
                            </m:e>
                            <m:sup>
                              <m:r>
                                <a:rPr lang="es-EC" sz="2400" b="0" i="1" smtClean="0">
                                  <a:latin typeface="Cambria Math" panose="02040503050406030204" pitchFamily="18" charset="0"/>
                                  <a:ea typeface="Cambria Math" panose="02040503050406030204" pitchFamily="18" charset="0"/>
                                </a:rPr>
                                <m:t>2</m:t>
                              </m:r>
                            </m:sup>
                          </m:sSup>
                        </m:e>
                      </m:d>
                      <m:r>
                        <a:rPr lang="es-EC" sz="2400" b="0" i="1" smtClean="0">
                          <a:latin typeface="Cambria Math" panose="02040503050406030204" pitchFamily="18" charset="0"/>
                          <a:ea typeface="Cambria Math" panose="02040503050406030204" pitchFamily="18" charset="0"/>
                        </a:rPr>
                        <m:t>= </m:t>
                      </m:r>
                      <m:nary>
                        <m:naryPr>
                          <m:ctrlPr>
                            <a:rPr lang="es-EC" sz="2400" b="0" i="1" smtClean="0">
                              <a:latin typeface="Cambria Math" panose="02040503050406030204" pitchFamily="18" charset="0"/>
                              <a:ea typeface="Cambria Math" panose="02040503050406030204" pitchFamily="18" charset="0"/>
                            </a:rPr>
                          </m:ctrlPr>
                        </m:naryPr>
                        <m:sub>
                          <m:r>
                            <m:rPr>
                              <m:brk m:alnAt="23"/>
                            </m:rP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m:t>
                          </m:r>
                        </m:sub>
                        <m:sup>
                          <m:r>
                            <a:rPr lang="es-EC" sz="2400" b="0" i="1" smtClean="0">
                              <a:latin typeface="Cambria Math" panose="02040503050406030204" pitchFamily="18" charset="0"/>
                              <a:ea typeface="Cambria Math" panose="02040503050406030204" pitchFamily="18" charset="0"/>
                            </a:rPr>
                            <m:t>+∞</m:t>
                          </m:r>
                        </m:sup>
                        <m:e>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𝑥</m:t>
                              </m:r>
                            </m:e>
                            <m:sup>
                              <m:r>
                                <a:rPr lang="es-EC" sz="2400" i="1">
                                  <a:latin typeface="Cambria Math" panose="02040503050406030204" pitchFamily="18" charset="0"/>
                                  <a:ea typeface="Cambria Math" panose="02040503050406030204" pitchFamily="18" charset="0"/>
                                </a:rPr>
                                <m:t>2</m:t>
                              </m:r>
                            </m:sup>
                          </m:sSup>
                          <m:r>
                            <a:rPr lang="es-EC" sz="2400" b="0" i="1" smtClean="0">
                              <a:latin typeface="Cambria Math" panose="02040503050406030204" pitchFamily="18" charset="0"/>
                              <a:ea typeface="Cambria Math" panose="02040503050406030204" pitchFamily="18" charset="0"/>
                            </a:rPr>
                            <m:t>𝑓</m:t>
                          </m:r>
                          <m:d>
                            <m:dPr>
                              <m:ctrlPr>
                                <a:rPr lang="es-EC" sz="2400" b="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𝑥</m:t>
                              </m:r>
                            </m:e>
                          </m:d>
                          <m:r>
                            <a:rPr lang="es-EC" sz="2400" b="0" i="1" smtClean="0">
                              <a:latin typeface="Cambria Math" panose="02040503050406030204" pitchFamily="18" charset="0"/>
                              <a:ea typeface="Cambria Math" panose="02040503050406030204" pitchFamily="18" charset="0"/>
                            </a:rPr>
                            <m:t>𝑑𝑥</m:t>
                          </m:r>
                        </m:e>
                      </m:nary>
                    </m:oMath>
                  </m:oMathPara>
                </a14:m>
                <a:endParaRPr lang="es-EC"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5375923" y="5094256"/>
                <a:ext cx="3242683" cy="816377"/>
              </a:xfrm>
              <a:prstGeom prst="rect">
                <a:avLst/>
              </a:prstGeom>
              <a:blipFill rotWithShape="0">
                <a:blip r:embed="rId4"/>
                <a:stretch>
                  <a:fillRect/>
                </a:stretch>
              </a:blipFill>
            </p:spPr>
            <p:txBody>
              <a:bodyPr/>
              <a:lstStyle/>
              <a:p>
                <a:r>
                  <a:rPr lang="es-EC">
                    <a:noFill/>
                  </a:rPr>
                  <a:t> </a:t>
                </a:r>
              </a:p>
            </p:txBody>
          </p:sp>
        </mc:Fallback>
      </mc:AlternateContent>
      <p:cxnSp>
        <p:nvCxnSpPr>
          <p:cNvPr id="8" name="Conector recto de flecha 7"/>
          <p:cNvCxnSpPr/>
          <p:nvPr/>
        </p:nvCxnSpPr>
        <p:spPr>
          <a:xfrm>
            <a:off x="7110248" y="4196719"/>
            <a:ext cx="0" cy="792000"/>
          </a:xfrm>
          <a:prstGeom prst="straightConnector1">
            <a:avLst/>
          </a:prstGeom>
          <a:ln w="31750">
            <a:tailEnd type="triangle"/>
          </a:ln>
        </p:spPr>
        <p:style>
          <a:lnRef idx="1">
            <a:schemeClr val="dk1"/>
          </a:lnRef>
          <a:fillRef idx="0">
            <a:schemeClr val="dk1"/>
          </a:fillRef>
          <a:effectRef idx="0">
            <a:schemeClr val="dk1"/>
          </a:effectRef>
          <a:fontRef idx="minor">
            <a:schemeClr val="tx1"/>
          </a:fontRef>
        </p:style>
      </p:cxnSp>
      <p:sp>
        <p:nvSpPr>
          <p:cNvPr id="9" name="CuadroTexto 8"/>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BD815DE9-AF76-4962-8F2C-4C05075494D7}"/>
                  </a:ext>
                </a:extLst>
              </p14:cNvPr>
              <p14:cNvContentPartPr/>
              <p14:nvPr/>
            </p14:nvContentPartPr>
            <p14:xfrm>
              <a:off x="1752480" y="1155600"/>
              <a:ext cx="9297000" cy="5467680"/>
            </p14:xfrm>
          </p:contentPart>
        </mc:Choice>
        <mc:Fallback xmlns="">
          <p:pic>
            <p:nvPicPr>
              <p:cNvPr id="7" name="Ink 6">
                <a:extLst>
                  <a:ext uri="{FF2B5EF4-FFF2-40B4-BE49-F238E27FC236}">
                    <a16:creationId xmlns:a16="http://schemas.microsoft.com/office/drawing/2014/main" id="{BD815DE9-AF76-4962-8F2C-4C05075494D7}"/>
                  </a:ext>
                </a:extLst>
              </p:cNvPr>
              <p:cNvPicPr/>
              <p:nvPr/>
            </p:nvPicPr>
            <p:blipFill>
              <a:blip r:embed="rId6"/>
              <a:stretch>
                <a:fillRect/>
              </a:stretch>
            </p:blipFill>
            <p:spPr>
              <a:xfrm>
                <a:off x="1743120" y="1146240"/>
                <a:ext cx="9315720" cy="5486400"/>
              </a:xfrm>
              <a:prstGeom prst="rect">
                <a:avLst/>
              </a:prstGeom>
            </p:spPr>
          </p:pic>
        </mc:Fallback>
      </mc:AlternateContent>
    </p:spTree>
    <p:extLst>
      <p:ext uri="{BB962C8B-B14F-4D97-AF65-F5344CB8AC3E}">
        <p14:creationId xmlns:p14="http://schemas.microsoft.com/office/powerpoint/2010/main" val="715371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31110" y="976947"/>
            <a:ext cx="5452134" cy="523220"/>
          </a:xfrm>
          <a:prstGeom prst="rect">
            <a:avLst/>
          </a:prstGeom>
        </p:spPr>
        <p:txBody>
          <a:bodyPr wrap="none">
            <a:spAutoFit/>
          </a:bodyPr>
          <a:lstStyle/>
          <a:p>
            <a:r>
              <a:rPr lang="es-EC" sz="2800" b="1" dirty="0"/>
              <a:t>Momentos de variables Aleatorias</a:t>
            </a:r>
          </a:p>
        </p:txBody>
      </p:sp>
      <p:sp>
        <p:nvSpPr>
          <p:cNvPr id="4" name="Rectángulo 3"/>
          <p:cNvSpPr/>
          <p:nvPr/>
        </p:nvSpPr>
        <p:spPr>
          <a:xfrm>
            <a:off x="900375" y="1915410"/>
            <a:ext cx="5530681" cy="523220"/>
          </a:xfrm>
          <a:prstGeom prst="rect">
            <a:avLst/>
          </a:prstGeom>
        </p:spPr>
        <p:txBody>
          <a:bodyPr wrap="none">
            <a:spAutoFit/>
          </a:bodyPr>
          <a:lstStyle/>
          <a:p>
            <a:r>
              <a:rPr lang="es-EC" sz="2800" dirty="0"/>
              <a:t>Momentos  con respecto a la media</a:t>
            </a:r>
            <a:endParaRPr lang="es-EC" sz="2800" baseline="60000" dirty="0"/>
          </a:p>
        </p:txBody>
      </p:sp>
      <mc:AlternateContent xmlns:mc="http://schemas.openxmlformats.org/markup-compatibility/2006" xmlns:a14="http://schemas.microsoft.com/office/drawing/2010/main">
        <mc:Choice Requires="a14">
          <p:sp>
            <p:nvSpPr>
              <p:cNvPr id="10" name="CuadroTexto 9"/>
              <p:cNvSpPr txBox="1"/>
              <p:nvPr/>
            </p:nvSpPr>
            <p:spPr>
              <a:xfrm>
                <a:off x="6598519" y="1729910"/>
                <a:ext cx="4958154" cy="8942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400" b="1" i="1" smtClean="0">
                          <a:latin typeface="Cambria Math" panose="02040503050406030204" pitchFamily="18" charset="0"/>
                        </a:rPr>
                        <m:t>𝑬</m:t>
                      </m:r>
                      <m:sSup>
                        <m:sSupPr>
                          <m:ctrlPr>
                            <a:rPr lang="es-EC" sz="2400" b="1" i="1" smtClean="0">
                              <a:latin typeface="Cambria Math" panose="02040503050406030204" pitchFamily="18" charset="0"/>
                            </a:rPr>
                          </m:ctrlPr>
                        </m:sSupPr>
                        <m:e>
                          <m:d>
                            <m:dPr>
                              <m:ctrlPr>
                                <a:rPr lang="es-EC" sz="2400" b="1" i="1">
                                  <a:latin typeface="Cambria Math" panose="02040503050406030204" pitchFamily="18" charset="0"/>
                                </a:rPr>
                              </m:ctrlPr>
                            </m:dPr>
                            <m:e>
                              <m:r>
                                <a:rPr lang="es-EC" sz="2400" b="1" i="1">
                                  <a:latin typeface="Cambria Math" panose="02040503050406030204" pitchFamily="18" charset="0"/>
                                </a:rPr>
                                <m:t>𝑿</m:t>
                              </m:r>
                              <m:r>
                                <a:rPr lang="es-EC" sz="2400" b="1" i="1">
                                  <a:latin typeface="Cambria Math" panose="02040503050406030204" pitchFamily="18" charset="0"/>
                                </a:rPr>
                                <m:t>−</m:t>
                              </m:r>
                              <m:r>
                                <a:rPr lang="es-EC" sz="2400" b="1" i="1">
                                  <a:latin typeface="Cambria Math" panose="02040503050406030204" pitchFamily="18" charset="0"/>
                                  <a:ea typeface="Cambria Math" panose="02040503050406030204" pitchFamily="18" charset="0"/>
                                </a:rPr>
                                <m:t>𝝁</m:t>
                              </m:r>
                            </m:e>
                          </m:d>
                        </m:e>
                        <m:sup>
                          <m:r>
                            <a:rPr lang="es-EC" sz="2400" b="1" i="1" smtClean="0">
                              <a:latin typeface="Cambria Math" panose="02040503050406030204" pitchFamily="18" charset="0"/>
                            </a:rPr>
                            <m:t>𝒓</m:t>
                          </m:r>
                        </m:sup>
                      </m:sSup>
                      <m:r>
                        <a:rPr lang="es-EC" sz="2400" b="1" i="1" smtClean="0">
                          <a:latin typeface="Cambria Math" panose="02040503050406030204" pitchFamily="18" charset="0"/>
                        </a:rPr>
                        <m:t>=</m:t>
                      </m:r>
                      <m:nary>
                        <m:naryPr>
                          <m:chr m:val="∑"/>
                          <m:supHide m:val="on"/>
                          <m:ctrlPr>
                            <a:rPr lang="es-EC" sz="2400" b="1" i="1">
                              <a:latin typeface="Cambria Math" panose="02040503050406030204" pitchFamily="18" charset="0"/>
                            </a:rPr>
                          </m:ctrlPr>
                        </m:naryPr>
                        <m:sub>
                          <m:r>
                            <m:rPr>
                              <m:brk m:alnAt="7"/>
                            </m:rPr>
                            <a:rPr lang="es-EC" sz="2400" b="1" i="1">
                              <a:latin typeface="Cambria Math" panose="02040503050406030204" pitchFamily="18" charset="0"/>
                            </a:rPr>
                            <m:t>𝐱</m:t>
                          </m:r>
                        </m:sub>
                        <m:sup/>
                        <m:e>
                          <m:sSup>
                            <m:sSupPr>
                              <m:ctrlPr>
                                <a:rPr lang="es-EC" sz="2400" b="1" i="1">
                                  <a:latin typeface="Cambria Math" panose="02040503050406030204" pitchFamily="18" charset="0"/>
                                </a:rPr>
                              </m:ctrlPr>
                            </m:sSupPr>
                            <m:e>
                              <m:d>
                                <m:dPr>
                                  <m:ctrlPr>
                                    <a:rPr lang="es-EC" sz="2400" b="1" i="1">
                                      <a:latin typeface="Cambria Math" panose="02040503050406030204" pitchFamily="18" charset="0"/>
                                    </a:rPr>
                                  </m:ctrlPr>
                                </m:dPr>
                                <m:e>
                                  <m:r>
                                    <a:rPr lang="es-EC" sz="2400" b="1" i="1">
                                      <a:latin typeface="Cambria Math" panose="02040503050406030204" pitchFamily="18" charset="0"/>
                                    </a:rPr>
                                    <m:t>𝑿</m:t>
                                  </m:r>
                                  <m:r>
                                    <a:rPr lang="es-EC" sz="2400" b="1" i="1">
                                      <a:latin typeface="Cambria Math" panose="02040503050406030204" pitchFamily="18" charset="0"/>
                                    </a:rPr>
                                    <m:t>−</m:t>
                                  </m:r>
                                  <m:r>
                                    <a:rPr lang="es-EC" sz="2400" b="1" i="1">
                                      <a:latin typeface="Cambria Math" panose="02040503050406030204" pitchFamily="18" charset="0"/>
                                      <a:ea typeface="Cambria Math" panose="02040503050406030204" pitchFamily="18" charset="0"/>
                                    </a:rPr>
                                    <m:t>𝝁</m:t>
                                  </m:r>
                                </m:e>
                              </m:d>
                            </m:e>
                            <m:sup>
                              <m:r>
                                <a:rPr lang="es-EC" sz="2400" b="1" i="1">
                                  <a:latin typeface="Cambria Math" panose="02040503050406030204" pitchFamily="18" charset="0"/>
                                </a:rPr>
                                <m:t>𝒓</m:t>
                              </m:r>
                            </m:sup>
                          </m:sSup>
                          <m:r>
                            <a:rPr lang="es-EC" sz="2400" b="1" i="1">
                              <a:latin typeface="Cambria Math" panose="02040503050406030204" pitchFamily="18" charset="0"/>
                            </a:rPr>
                            <m:t>𝐟</m:t>
                          </m:r>
                          <m:d>
                            <m:dPr>
                              <m:ctrlPr>
                                <a:rPr lang="es-EC" sz="2400" b="1" i="1">
                                  <a:latin typeface="Cambria Math" panose="02040503050406030204" pitchFamily="18" charset="0"/>
                                </a:rPr>
                              </m:ctrlPr>
                            </m:dPr>
                            <m:e>
                              <m:r>
                                <a:rPr lang="es-EC" sz="2400" b="1" i="1">
                                  <a:latin typeface="Cambria Math" panose="02040503050406030204" pitchFamily="18" charset="0"/>
                                </a:rPr>
                                <m:t>𝐱</m:t>
                              </m:r>
                            </m:e>
                          </m:d>
                        </m:e>
                      </m:nary>
                    </m:oMath>
                  </m:oMathPara>
                </a14:m>
                <a:endParaRPr lang="es-EC" sz="2400" b="1" dirty="0">
                  <a:latin typeface="Papyrus" panose="03070502060502030205" pitchFamily="66" charset="0"/>
                </a:endParaRPr>
              </a:p>
            </p:txBody>
          </p:sp>
        </mc:Choice>
        <mc:Fallback xmlns="">
          <p:sp>
            <p:nvSpPr>
              <p:cNvPr id="10" name="CuadroTexto 9"/>
              <p:cNvSpPr txBox="1">
                <a:spLocks noRot="1" noChangeAspect="1" noMove="1" noResize="1" noEditPoints="1" noAdjustHandles="1" noChangeArrowheads="1" noChangeShapeType="1" noTextEdit="1"/>
              </p:cNvSpPr>
              <p:nvPr/>
            </p:nvSpPr>
            <p:spPr>
              <a:xfrm>
                <a:off x="6598519" y="1729910"/>
                <a:ext cx="4958154" cy="894219"/>
              </a:xfrm>
              <a:prstGeom prst="rect">
                <a:avLst/>
              </a:prstGeom>
              <a:blipFill rotWithShape="0">
                <a:blip r:embed="rId2"/>
                <a:stretch>
                  <a:fillRect/>
                </a:stretch>
              </a:blipFill>
            </p:spPr>
            <p:txBody>
              <a:bodyPr/>
              <a:lstStyle/>
              <a:p>
                <a:r>
                  <a:rPr lang="es-EC">
                    <a:noFill/>
                  </a:rPr>
                  <a:t> </a:t>
                </a:r>
              </a:p>
            </p:txBody>
          </p:sp>
        </mc:Fallback>
      </mc:AlternateContent>
      <p:sp>
        <p:nvSpPr>
          <p:cNvPr id="11" name="Rectángulo 10"/>
          <p:cNvSpPr/>
          <p:nvPr/>
        </p:nvSpPr>
        <p:spPr>
          <a:xfrm>
            <a:off x="1006052" y="2818777"/>
            <a:ext cx="1000595" cy="523220"/>
          </a:xfrm>
          <a:prstGeom prst="rect">
            <a:avLst/>
          </a:prstGeom>
        </p:spPr>
        <p:txBody>
          <a:bodyPr wrap="none">
            <a:spAutoFit/>
          </a:bodyPr>
          <a:lstStyle/>
          <a:p>
            <a:r>
              <a:rPr lang="es-EC" sz="2800" dirty="0"/>
              <a:t>Si r=3</a:t>
            </a:r>
          </a:p>
        </p:txBody>
      </p:sp>
      <mc:AlternateContent xmlns:mc="http://schemas.openxmlformats.org/markup-compatibility/2006" xmlns:a14="http://schemas.microsoft.com/office/drawing/2010/main">
        <mc:Choice Requires="a14">
          <p:sp>
            <p:nvSpPr>
              <p:cNvPr id="12" name="CuadroTexto 11"/>
              <p:cNvSpPr txBox="1"/>
              <p:nvPr/>
            </p:nvSpPr>
            <p:spPr>
              <a:xfrm>
                <a:off x="2429604" y="2521203"/>
                <a:ext cx="5791591" cy="9687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600" b="1" i="1" smtClean="0">
                          <a:latin typeface="Cambria Math" panose="02040503050406030204" pitchFamily="18" charset="0"/>
                        </a:rPr>
                        <m:t>𝑬</m:t>
                      </m:r>
                      <m:sSup>
                        <m:sSupPr>
                          <m:ctrlPr>
                            <a:rPr lang="es-EC" sz="2600" b="1" i="1" smtClean="0">
                              <a:latin typeface="Cambria Math" panose="02040503050406030204" pitchFamily="18" charset="0"/>
                            </a:rPr>
                          </m:ctrlPr>
                        </m:sSupPr>
                        <m:e>
                          <m:d>
                            <m:dPr>
                              <m:ctrlPr>
                                <a:rPr lang="es-EC" sz="2600" b="1" i="1">
                                  <a:latin typeface="Cambria Math" panose="02040503050406030204" pitchFamily="18" charset="0"/>
                                </a:rPr>
                              </m:ctrlPr>
                            </m:dPr>
                            <m:e>
                              <m:r>
                                <a:rPr lang="es-EC" sz="2600" b="1" i="1">
                                  <a:latin typeface="Cambria Math" panose="02040503050406030204" pitchFamily="18" charset="0"/>
                                </a:rPr>
                                <m:t>𝑿</m:t>
                              </m:r>
                              <m:r>
                                <a:rPr lang="es-EC" sz="2600" b="1" i="1">
                                  <a:latin typeface="Cambria Math" panose="02040503050406030204" pitchFamily="18" charset="0"/>
                                </a:rPr>
                                <m:t>−</m:t>
                              </m:r>
                              <m:r>
                                <a:rPr lang="es-EC" sz="2600" b="1" i="1">
                                  <a:latin typeface="Cambria Math" panose="02040503050406030204" pitchFamily="18" charset="0"/>
                                  <a:ea typeface="Cambria Math" panose="02040503050406030204" pitchFamily="18" charset="0"/>
                                </a:rPr>
                                <m:t>𝝁</m:t>
                              </m:r>
                            </m:e>
                          </m:d>
                        </m:e>
                        <m:sup>
                          <m:r>
                            <a:rPr lang="es-EC" sz="2600" b="1" i="1" smtClean="0">
                              <a:latin typeface="Cambria Math" panose="02040503050406030204" pitchFamily="18" charset="0"/>
                            </a:rPr>
                            <m:t>𝟑</m:t>
                          </m:r>
                        </m:sup>
                      </m:sSup>
                      <m:r>
                        <a:rPr lang="es-EC" sz="2600" b="1" i="1" smtClean="0">
                          <a:latin typeface="Cambria Math" panose="02040503050406030204" pitchFamily="18" charset="0"/>
                        </a:rPr>
                        <m:t>=</m:t>
                      </m:r>
                      <m:nary>
                        <m:naryPr>
                          <m:chr m:val="∑"/>
                          <m:supHide m:val="on"/>
                          <m:ctrlPr>
                            <a:rPr lang="es-EC" sz="2600" b="1" i="1">
                              <a:latin typeface="Cambria Math" panose="02040503050406030204" pitchFamily="18" charset="0"/>
                            </a:rPr>
                          </m:ctrlPr>
                        </m:naryPr>
                        <m:sub>
                          <m:r>
                            <m:rPr>
                              <m:brk m:alnAt="7"/>
                            </m:rPr>
                            <a:rPr lang="es-EC" sz="2600" b="1" i="1">
                              <a:latin typeface="Cambria Math" panose="02040503050406030204" pitchFamily="18" charset="0"/>
                            </a:rPr>
                            <m:t>𝐱</m:t>
                          </m:r>
                        </m:sub>
                        <m:sup/>
                        <m:e>
                          <m:sSup>
                            <m:sSupPr>
                              <m:ctrlPr>
                                <a:rPr lang="es-EC" sz="2600" b="1" i="1">
                                  <a:latin typeface="Cambria Math" panose="02040503050406030204" pitchFamily="18" charset="0"/>
                                </a:rPr>
                              </m:ctrlPr>
                            </m:sSupPr>
                            <m:e>
                              <m:d>
                                <m:dPr>
                                  <m:ctrlPr>
                                    <a:rPr lang="es-EC" sz="2600" b="1" i="1">
                                      <a:latin typeface="Cambria Math" panose="02040503050406030204" pitchFamily="18" charset="0"/>
                                    </a:rPr>
                                  </m:ctrlPr>
                                </m:dPr>
                                <m:e>
                                  <m:r>
                                    <a:rPr lang="es-EC" sz="2600" b="1" i="1">
                                      <a:latin typeface="Cambria Math" panose="02040503050406030204" pitchFamily="18" charset="0"/>
                                    </a:rPr>
                                    <m:t>𝑿</m:t>
                                  </m:r>
                                  <m:r>
                                    <a:rPr lang="es-EC" sz="2600" b="1" i="1">
                                      <a:latin typeface="Cambria Math" panose="02040503050406030204" pitchFamily="18" charset="0"/>
                                    </a:rPr>
                                    <m:t>−</m:t>
                                  </m:r>
                                  <m:r>
                                    <a:rPr lang="es-EC" sz="2600" b="1" i="1">
                                      <a:latin typeface="Cambria Math" panose="02040503050406030204" pitchFamily="18" charset="0"/>
                                      <a:ea typeface="Cambria Math" panose="02040503050406030204" pitchFamily="18" charset="0"/>
                                    </a:rPr>
                                    <m:t>𝝁</m:t>
                                  </m:r>
                                </m:e>
                              </m:d>
                            </m:e>
                            <m:sup>
                              <m:r>
                                <a:rPr lang="es-EC" sz="2600" b="1" i="1" smtClean="0">
                                  <a:latin typeface="Cambria Math" panose="02040503050406030204" pitchFamily="18" charset="0"/>
                                  <a:ea typeface="Cambria Math" panose="02040503050406030204" pitchFamily="18" charset="0"/>
                                </a:rPr>
                                <m:t>𝟑</m:t>
                              </m:r>
                            </m:sup>
                          </m:sSup>
                          <m:r>
                            <a:rPr lang="es-EC" sz="2600" b="1" i="1">
                              <a:latin typeface="Cambria Math" panose="02040503050406030204" pitchFamily="18" charset="0"/>
                            </a:rPr>
                            <m:t>𝐟</m:t>
                          </m:r>
                          <m:d>
                            <m:dPr>
                              <m:ctrlPr>
                                <a:rPr lang="es-EC" sz="2600" b="1" i="1">
                                  <a:latin typeface="Cambria Math" panose="02040503050406030204" pitchFamily="18" charset="0"/>
                                </a:rPr>
                              </m:ctrlPr>
                            </m:dPr>
                            <m:e>
                              <m:r>
                                <a:rPr lang="es-EC" sz="2600" b="1" i="1">
                                  <a:latin typeface="Cambria Math" panose="02040503050406030204" pitchFamily="18" charset="0"/>
                                </a:rPr>
                                <m:t>𝐱</m:t>
                              </m:r>
                            </m:e>
                          </m:d>
                        </m:e>
                      </m:nary>
                    </m:oMath>
                  </m:oMathPara>
                </a14:m>
                <a:endParaRPr lang="es-EC" sz="2600" b="1" dirty="0">
                  <a:latin typeface="Papyrus" panose="03070502060502030205" pitchFamily="66" charset="0"/>
                </a:endParaRPr>
              </a:p>
            </p:txBody>
          </p:sp>
        </mc:Choice>
        <mc:Fallback xmlns="">
          <p:sp>
            <p:nvSpPr>
              <p:cNvPr id="12" name="CuadroTexto 11"/>
              <p:cNvSpPr txBox="1">
                <a:spLocks noRot="1" noChangeAspect="1" noMove="1" noResize="1" noEditPoints="1" noAdjustHandles="1" noChangeArrowheads="1" noChangeShapeType="1" noTextEdit="1"/>
              </p:cNvSpPr>
              <p:nvPr/>
            </p:nvSpPr>
            <p:spPr>
              <a:xfrm>
                <a:off x="2429604" y="2521203"/>
                <a:ext cx="5791591" cy="968791"/>
              </a:xfrm>
              <a:prstGeom prst="rect">
                <a:avLst/>
              </a:prstGeom>
              <a:blipFill rotWithShape="0">
                <a:blip r:embed="rId3"/>
                <a:stretch>
                  <a:fillRect/>
                </a:stretch>
              </a:blipFill>
            </p:spPr>
            <p:txBody>
              <a:bodyPr/>
              <a:lstStyle/>
              <a:p>
                <a:r>
                  <a:rPr lang="es-EC">
                    <a:noFill/>
                  </a:rPr>
                  <a:t> </a:t>
                </a:r>
              </a:p>
            </p:txBody>
          </p:sp>
        </mc:Fallback>
      </mc:AlternateContent>
      <p:sp>
        <p:nvSpPr>
          <p:cNvPr id="13" name="Rectángulo 12"/>
          <p:cNvSpPr/>
          <p:nvPr/>
        </p:nvSpPr>
        <p:spPr>
          <a:xfrm>
            <a:off x="1820048" y="3791624"/>
            <a:ext cx="3191964" cy="523220"/>
          </a:xfrm>
          <a:prstGeom prst="rect">
            <a:avLst/>
          </a:prstGeom>
        </p:spPr>
        <p:txBody>
          <a:bodyPr wrap="none">
            <a:spAutoFit/>
          </a:bodyPr>
          <a:lstStyle/>
          <a:p>
            <a:r>
              <a:rPr lang="es-EC" sz="2800" dirty="0"/>
              <a:t>Coeficiente de Sesgo</a:t>
            </a:r>
          </a:p>
        </p:txBody>
      </p:sp>
      <mc:AlternateContent xmlns:mc="http://schemas.openxmlformats.org/markup-compatibility/2006" xmlns:a14="http://schemas.microsoft.com/office/drawing/2010/main">
        <mc:Choice Requires="a14">
          <p:sp>
            <p:nvSpPr>
              <p:cNvPr id="14" name="CuadroTexto 13"/>
              <p:cNvSpPr txBox="1"/>
              <p:nvPr/>
            </p:nvSpPr>
            <p:spPr>
              <a:xfrm>
                <a:off x="3037982" y="4599508"/>
                <a:ext cx="4958154" cy="9687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600" b="1" i="1" smtClean="0">
                          <a:latin typeface="Cambria Math" panose="02040503050406030204" pitchFamily="18" charset="0"/>
                        </a:rPr>
                        <m:t>𝑬</m:t>
                      </m:r>
                      <m:sSup>
                        <m:sSupPr>
                          <m:ctrlPr>
                            <a:rPr lang="es-EC" sz="2600" b="1" i="1" smtClean="0">
                              <a:latin typeface="Cambria Math" panose="02040503050406030204" pitchFamily="18" charset="0"/>
                            </a:rPr>
                          </m:ctrlPr>
                        </m:sSupPr>
                        <m:e>
                          <m:d>
                            <m:dPr>
                              <m:ctrlPr>
                                <a:rPr lang="es-EC" sz="2600" b="1" i="1">
                                  <a:latin typeface="Cambria Math" panose="02040503050406030204" pitchFamily="18" charset="0"/>
                                </a:rPr>
                              </m:ctrlPr>
                            </m:dPr>
                            <m:e>
                              <m:r>
                                <a:rPr lang="es-EC" sz="2600" b="1" i="1">
                                  <a:latin typeface="Cambria Math" panose="02040503050406030204" pitchFamily="18" charset="0"/>
                                </a:rPr>
                                <m:t>𝑿</m:t>
                              </m:r>
                              <m:r>
                                <a:rPr lang="es-EC" sz="2600" b="1" i="1">
                                  <a:latin typeface="Cambria Math" panose="02040503050406030204" pitchFamily="18" charset="0"/>
                                </a:rPr>
                                <m:t>−</m:t>
                              </m:r>
                              <m:r>
                                <a:rPr lang="es-EC" sz="2600" b="1" i="1">
                                  <a:latin typeface="Cambria Math" panose="02040503050406030204" pitchFamily="18" charset="0"/>
                                  <a:ea typeface="Cambria Math" panose="02040503050406030204" pitchFamily="18" charset="0"/>
                                </a:rPr>
                                <m:t>𝝁</m:t>
                              </m:r>
                            </m:e>
                          </m:d>
                        </m:e>
                        <m:sup>
                          <m:r>
                            <a:rPr lang="es-EC" sz="2600" b="1" i="1" smtClean="0">
                              <a:latin typeface="Cambria Math" panose="02040503050406030204" pitchFamily="18" charset="0"/>
                              <a:ea typeface="Cambria Math" panose="02040503050406030204" pitchFamily="18" charset="0"/>
                            </a:rPr>
                            <m:t>𝟒</m:t>
                          </m:r>
                        </m:sup>
                      </m:sSup>
                      <m:r>
                        <a:rPr lang="es-EC" sz="2600" b="1" i="1" smtClean="0">
                          <a:latin typeface="Cambria Math" panose="02040503050406030204" pitchFamily="18" charset="0"/>
                        </a:rPr>
                        <m:t>=</m:t>
                      </m:r>
                      <m:nary>
                        <m:naryPr>
                          <m:chr m:val="∑"/>
                          <m:supHide m:val="on"/>
                          <m:ctrlPr>
                            <a:rPr lang="es-EC" sz="2600" b="1" i="1">
                              <a:latin typeface="Cambria Math" panose="02040503050406030204" pitchFamily="18" charset="0"/>
                            </a:rPr>
                          </m:ctrlPr>
                        </m:naryPr>
                        <m:sub>
                          <m:r>
                            <m:rPr>
                              <m:brk m:alnAt="7"/>
                            </m:rPr>
                            <a:rPr lang="es-EC" sz="2600" b="1" i="1">
                              <a:latin typeface="Cambria Math" panose="02040503050406030204" pitchFamily="18" charset="0"/>
                            </a:rPr>
                            <m:t>𝐱</m:t>
                          </m:r>
                        </m:sub>
                        <m:sup/>
                        <m:e>
                          <m:sSup>
                            <m:sSupPr>
                              <m:ctrlPr>
                                <a:rPr lang="es-EC" sz="2600" b="1" i="1">
                                  <a:latin typeface="Cambria Math" panose="02040503050406030204" pitchFamily="18" charset="0"/>
                                </a:rPr>
                              </m:ctrlPr>
                            </m:sSupPr>
                            <m:e>
                              <m:d>
                                <m:dPr>
                                  <m:ctrlPr>
                                    <a:rPr lang="es-EC" sz="2600" b="1" i="1">
                                      <a:latin typeface="Cambria Math" panose="02040503050406030204" pitchFamily="18" charset="0"/>
                                    </a:rPr>
                                  </m:ctrlPr>
                                </m:dPr>
                                <m:e>
                                  <m:r>
                                    <a:rPr lang="es-EC" sz="2600" b="1" i="1">
                                      <a:latin typeface="Cambria Math" panose="02040503050406030204" pitchFamily="18" charset="0"/>
                                    </a:rPr>
                                    <m:t>𝑿</m:t>
                                  </m:r>
                                  <m:r>
                                    <a:rPr lang="es-EC" sz="2600" b="1" i="1">
                                      <a:latin typeface="Cambria Math" panose="02040503050406030204" pitchFamily="18" charset="0"/>
                                    </a:rPr>
                                    <m:t>−</m:t>
                                  </m:r>
                                  <m:r>
                                    <a:rPr lang="es-EC" sz="2600" b="1" i="1">
                                      <a:latin typeface="Cambria Math" panose="02040503050406030204" pitchFamily="18" charset="0"/>
                                      <a:ea typeface="Cambria Math" panose="02040503050406030204" pitchFamily="18" charset="0"/>
                                    </a:rPr>
                                    <m:t>𝝁</m:t>
                                  </m:r>
                                </m:e>
                              </m:d>
                            </m:e>
                            <m:sup>
                              <m:r>
                                <a:rPr lang="es-EC" sz="2600" b="1" i="1" smtClean="0">
                                  <a:latin typeface="Cambria Math" panose="02040503050406030204" pitchFamily="18" charset="0"/>
                                  <a:ea typeface="Cambria Math" panose="02040503050406030204" pitchFamily="18" charset="0"/>
                                </a:rPr>
                                <m:t>𝟒</m:t>
                              </m:r>
                            </m:sup>
                          </m:sSup>
                          <m:r>
                            <a:rPr lang="es-EC" sz="2600" b="1" i="1">
                              <a:latin typeface="Cambria Math" panose="02040503050406030204" pitchFamily="18" charset="0"/>
                            </a:rPr>
                            <m:t>𝐟</m:t>
                          </m:r>
                          <m:d>
                            <m:dPr>
                              <m:ctrlPr>
                                <a:rPr lang="es-EC" sz="2600" b="1" i="1">
                                  <a:latin typeface="Cambria Math" panose="02040503050406030204" pitchFamily="18" charset="0"/>
                                </a:rPr>
                              </m:ctrlPr>
                            </m:dPr>
                            <m:e>
                              <m:r>
                                <a:rPr lang="es-EC" sz="2600" b="1" i="1">
                                  <a:latin typeface="Cambria Math" panose="02040503050406030204" pitchFamily="18" charset="0"/>
                                </a:rPr>
                                <m:t>𝐱</m:t>
                              </m:r>
                            </m:e>
                          </m:d>
                        </m:e>
                      </m:nary>
                    </m:oMath>
                  </m:oMathPara>
                </a14:m>
                <a:endParaRPr lang="es-EC" sz="2600" b="1" dirty="0">
                  <a:latin typeface="Papyrus" panose="03070502060502030205" pitchFamily="66" charset="0"/>
                </a:endParaRPr>
              </a:p>
            </p:txBody>
          </p:sp>
        </mc:Choice>
        <mc:Fallback xmlns="">
          <p:sp>
            <p:nvSpPr>
              <p:cNvPr id="14" name="CuadroTexto 13"/>
              <p:cNvSpPr txBox="1">
                <a:spLocks noRot="1" noChangeAspect="1" noMove="1" noResize="1" noEditPoints="1" noAdjustHandles="1" noChangeArrowheads="1" noChangeShapeType="1" noTextEdit="1"/>
              </p:cNvSpPr>
              <p:nvPr/>
            </p:nvSpPr>
            <p:spPr>
              <a:xfrm>
                <a:off x="3037982" y="4599508"/>
                <a:ext cx="4958154" cy="968791"/>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5002329" y="3713751"/>
                <a:ext cx="1372876" cy="6174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b="1" i="1" smtClean="0">
                          <a:latin typeface="Cambria Math" panose="02040503050406030204" pitchFamily="18" charset="0"/>
                        </a:rPr>
                        <m:t>=</m:t>
                      </m:r>
                      <m:f>
                        <m:fPr>
                          <m:type m:val="skw"/>
                          <m:ctrlPr>
                            <a:rPr lang="es-EC" sz="2400" b="1" i="1" smtClean="0">
                              <a:latin typeface="Cambria Math" panose="02040503050406030204" pitchFamily="18" charset="0"/>
                            </a:rPr>
                          </m:ctrlPr>
                        </m:fPr>
                        <m:num>
                          <m:sSub>
                            <m:sSubPr>
                              <m:ctrlPr>
                                <a:rPr lang="es-EC" sz="2400" b="1" i="1">
                                  <a:latin typeface="Cambria Math" panose="02040503050406030204" pitchFamily="18" charset="0"/>
                                </a:rPr>
                              </m:ctrlPr>
                            </m:sSubPr>
                            <m:e>
                              <m:r>
                                <a:rPr lang="es-EC" sz="2400" b="1" i="1">
                                  <a:latin typeface="Cambria Math" panose="02040503050406030204" pitchFamily="18" charset="0"/>
                                  <a:ea typeface="Cambria Math" panose="02040503050406030204" pitchFamily="18" charset="0"/>
                                </a:rPr>
                                <m:t>𝝁</m:t>
                              </m:r>
                            </m:e>
                            <m:sub>
                              <m:r>
                                <a:rPr lang="es-EC" sz="2400" b="1" i="1">
                                  <a:latin typeface="Cambria Math" panose="02040503050406030204" pitchFamily="18" charset="0"/>
                                </a:rPr>
                                <m:t>𝟑</m:t>
                              </m:r>
                            </m:sub>
                          </m:sSub>
                        </m:num>
                        <m:den>
                          <m:sSup>
                            <m:sSupPr>
                              <m:ctrlPr>
                                <a:rPr lang="es-EC" sz="2400" b="1" i="1" smtClean="0">
                                  <a:latin typeface="Cambria Math" panose="02040503050406030204" pitchFamily="18" charset="0"/>
                                </a:rPr>
                              </m:ctrlPr>
                            </m:sSupPr>
                            <m:e>
                              <m:r>
                                <a:rPr lang="es-EC" sz="2400" b="1" i="1" smtClean="0">
                                  <a:latin typeface="Cambria Math" panose="02040503050406030204" pitchFamily="18" charset="0"/>
                                  <a:ea typeface="Cambria Math" panose="02040503050406030204" pitchFamily="18" charset="0"/>
                                </a:rPr>
                                <m:t>𝝈</m:t>
                              </m:r>
                            </m:e>
                            <m:sup>
                              <m:r>
                                <a:rPr lang="es-EC" sz="2400" b="1" i="1" smtClean="0">
                                  <a:latin typeface="Cambria Math" panose="02040503050406030204" pitchFamily="18" charset="0"/>
                                </a:rPr>
                                <m:t>𝟑</m:t>
                              </m:r>
                            </m:sup>
                          </m:sSup>
                        </m:den>
                      </m:f>
                    </m:oMath>
                  </m:oMathPara>
                </a14:m>
                <a:endParaRPr lang="es-EC" sz="2400" dirty="0"/>
              </a:p>
            </p:txBody>
          </p:sp>
        </mc:Choice>
        <mc:Fallback xmlns="">
          <p:sp>
            <p:nvSpPr>
              <p:cNvPr id="5" name="Rectángulo 4"/>
              <p:cNvSpPr>
                <a:spLocks noRot="1" noChangeAspect="1" noMove="1" noResize="1" noEditPoints="1" noAdjustHandles="1" noChangeArrowheads="1" noChangeShapeType="1" noTextEdit="1"/>
              </p:cNvSpPr>
              <p:nvPr/>
            </p:nvSpPr>
            <p:spPr>
              <a:xfrm>
                <a:off x="5002329" y="3713751"/>
                <a:ext cx="1372876" cy="617413"/>
              </a:xfrm>
              <a:prstGeom prst="rect">
                <a:avLst/>
              </a:prstGeom>
              <a:blipFill rotWithShape="0">
                <a:blip r:embed="rId5"/>
                <a:stretch>
                  <a:fillRect/>
                </a:stretch>
              </a:blipFill>
            </p:spPr>
            <p:txBody>
              <a:bodyPr/>
              <a:lstStyle/>
              <a:p>
                <a:r>
                  <a:rPr lang="es-EC">
                    <a:noFill/>
                  </a:rPr>
                  <a:t> </a:t>
                </a:r>
              </a:p>
            </p:txBody>
          </p:sp>
        </mc:Fallback>
      </mc:AlternateContent>
      <p:sp>
        <p:nvSpPr>
          <p:cNvPr id="15" name="Rectángulo 14"/>
          <p:cNvSpPr/>
          <p:nvPr/>
        </p:nvSpPr>
        <p:spPr>
          <a:xfrm>
            <a:off x="1006052" y="4771743"/>
            <a:ext cx="1000595" cy="523220"/>
          </a:xfrm>
          <a:prstGeom prst="rect">
            <a:avLst/>
          </a:prstGeom>
        </p:spPr>
        <p:txBody>
          <a:bodyPr wrap="none">
            <a:spAutoFit/>
          </a:bodyPr>
          <a:lstStyle/>
          <a:p>
            <a:r>
              <a:rPr lang="es-EC" sz="2800" dirty="0"/>
              <a:t>Si r=4</a:t>
            </a:r>
          </a:p>
        </p:txBody>
      </p:sp>
      <p:sp>
        <p:nvSpPr>
          <p:cNvPr id="16" name="Rectángulo 15"/>
          <p:cNvSpPr/>
          <p:nvPr/>
        </p:nvSpPr>
        <p:spPr>
          <a:xfrm>
            <a:off x="1910682" y="5822465"/>
            <a:ext cx="3513398" cy="523220"/>
          </a:xfrm>
          <a:prstGeom prst="rect">
            <a:avLst/>
          </a:prstGeom>
        </p:spPr>
        <p:txBody>
          <a:bodyPr wrap="none">
            <a:spAutoFit/>
          </a:bodyPr>
          <a:lstStyle/>
          <a:p>
            <a:r>
              <a:rPr lang="es-EC" sz="2800" dirty="0"/>
              <a:t>Coeficiente de </a:t>
            </a:r>
            <a:r>
              <a:rPr lang="es-EC" sz="2800" dirty="0" err="1"/>
              <a:t>Kurtosis</a:t>
            </a:r>
            <a:endParaRPr lang="es-EC" sz="2800" dirty="0"/>
          </a:p>
        </p:txBody>
      </p:sp>
      <mc:AlternateContent xmlns:mc="http://schemas.openxmlformats.org/markup-compatibility/2006" xmlns:a14="http://schemas.microsoft.com/office/drawing/2010/main">
        <mc:Choice Requires="a14">
          <p:sp>
            <p:nvSpPr>
              <p:cNvPr id="17" name="Rectángulo 16"/>
              <p:cNvSpPr/>
              <p:nvPr/>
            </p:nvSpPr>
            <p:spPr>
              <a:xfrm>
                <a:off x="5554114" y="5780318"/>
                <a:ext cx="1396921" cy="6146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b="1" i="1" smtClean="0">
                          <a:latin typeface="Cambria Math" panose="02040503050406030204" pitchFamily="18" charset="0"/>
                        </a:rPr>
                        <m:t>=</m:t>
                      </m:r>
                      <m:f>
                        <m:fPr>
                          <m:type m:val="skw"/>
                          <m:ctrlPr>
                            <a:rPr lang="es-EC" sz="2400" b="1" i="1" smtClean="0">
                              <a:latin typeface="Cambria Math" panose="02040503050406030204" pitchFamily="18" charset="0"/>
                            </a:rPr>
                          </m:ctrlPr>
                        </m:fPr>
                        <m:num>
                          <m:sSub>
                            <m:sSubPr>
                              <m:ctrlPr>
                                <a:rPr lang="es-EC" sz="2400" b="1" i="1">
                                  <a:latin typeface="Cambria Math" panose="02040503050406030204" pitchFamily="18" charset="0"/>
                                </a:rPr>
                              </m:ctrlPr>
                            </m:sSubPr>
                            <m:e>
                              <m:r>
                                <a:rPr lang="es-EC" sz="2400" b="1" i="1">
                                  <a:latin typeface="Cambria Math" panose="02040503050406030204" pitchFamily="18" charset="0"/>
                                  <a:ea typeface="Cambria Math" panose="02040503050406030204" pitchFamily="18" charset="0"/>
                                </a:rPr>
                                <m:t>𝝁</m:t>
                              </m:r>
                            </m:e>
                            <m:sub>
                              <m:r>
                                <a:rPr lang="es-EC" sz="2400" b="1" i="1" smtClean="0">
                                  <a:latin typeface="Cambria Math" panose="02040503050406030204" pitchFamily="18" charset="0"/>
                                  <a:ea typeface="Cambria Math" panose="02040503050406030204" pitchFamily="18" charset="0"/>
                                </a:rPr>
                                <m:t>𝟒</m:t>
                              </m:r>
                            </m:sub>
                          </m:sSub>
                        </m:num>
                        <m:den>
                          <m:sSup>
                            <m:sSupPr>
                              <m:ctrlPr>
                                <a:rPr lang="es-EC" sz="2400" b="1" i="1" smtClean="0">
                                  <a:latin typeface="Cambria Math" panose="02040503050406030204" pitchFamily="18" charset="0"/>
                                </a:rPr>
                              </m:ctrlPr>
                            </m:sSupPr>
                            <m:e>
                              <m:r>
                                <a:rPr lang="es-EC" sz="2400" b="1" i="1" smtClean="0">
                                  <a:latin typeface="Cambria Math" panose="02040503050406030204" pitchFamily="18" charset="0"/>
                                  <a:ea typeface="Cambria Math" panose="02040503050406030204" pitchFamily="18" charset="0"/>
                                </a:rPr>
                                <m:t>𝝈</m:t>
                              </m:r>
                            </m:e>
                            <m:sup>
                              <m:r>
                                <a:rPr lang="es-EC" sz="2400" b="1" i="1" smtClean="0">
                                  <a:latin typeface="Cambria Math" panose="02040503050406030204" pitchFamily="18" charset="0"/>
                                </a:rPr>
                                <m:t>𝟒</m:t>
                              </m:r>
                            </m:sup>
                          </m:sSup>
                        </m:den>
                      </m:f>
                    </m:oMath>
                  </m:oMathPara>
                </a14:m>
                <a:endParaRPr lang="es-EC" sz="2400" dirty="0"/>
              </a:p>
            </p:txBody>
          </p:sp>
        </mc:Choice>
        <mc:Fallback xmlns="">
          <p:sp>
            <p:nvSpPr>
              <p:cNvPr id="17" name="Rectángulo 16"/>
              <p:cNvSpPr>
                <a:spLocks noRot="1" noChangeAspect="1" noMove="1" noResize="1" noEditPoints="1" noAdjustHandles="1" noChangeArrowheads="1" noChangeShapeType="1" noTextEdit="1"/>
              </p:cNvSpPr>
              <p:nvPr/>
            </p:nvSpPr>
            <p:spPr>
              <a:xfrm>
                <a:off x="5554114" y="5780318"/>
                <a:ext cx="1396921" cy="614655"/>
              </a:xfrm>
              <a:prstGeom prst="rect">
                <a:avLst/>
              </a:prstGeom>
              <a:blipFill rotWithShape="0">
                <a:blip r:embed="rId6"/>
                <a:stretch>
                  <a:fillRect/>
                </a:stretch>
              </a:blipFill>
            </p:spPr>
            <p:txBody>
              <a:bodyPr/>
              <a:lstStyle/>
              <a:p>
                <a:r>
                  <a:rPr lang="es-EC">
                    <a:noFill/>
                  </a:rPr>
                  <a:t> </a:t>
                </a:r>
              </a:p>
            </p:txBody>
          </p:sp>
        </mc:Fallback>
      </mc:AlternateContent>
      <p:sp>
        <p:nvSpPr>
          <p:cNvPr id="18" name="CuadroTexto 17"/>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3317494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4" name="CuadroTexto 3"/>
              <p:cNvSpPr txBox="1"/>
              <p:nvPr/>
            </p:nvSpPr>
            <p:spPr>
              <a:xfrm>
                <a:off x="631110" y="1478336"/>
                <a:ext cx="9701214" cy="4278094"/>
              </a:xfrm>
              <a:prstGeom prst="rect">
                <a:avLst/>
              </a:prstGeom>
              <a:noFill/>
            </p:spPr>
            <p:txBody>
              <a:bodyPr wrap="square" rtlCol="0">
                <a:spAutoFit/>
              </a:bodyPr>
              <a:lstStyle/>
              <a:p>
                <a:r>
                  <a:rPr lang="es-EC" sz="2800" b="1" dirty="0"/>
                  <a:t>Esperanza - Propiedades</a:t>
                </a:r>
              </a:p>
              <a:p>
                <a:endParaRPr lang="es-EC" sz="2800" b="1" dirty="0"/>
              </a:p>
              <a:p>
                <a:r>
                  <a:rPr lang="es-EC" sz="2400" dirty="0"/>
                  <a:t>Sea X una </a:t>
                </a:r>
                <a:r>
                  <a:rPr lang="es-EC" sz="2400" dirty="0" err="1"/>
                  <a:t>v.a.</a:t>
                </a:r>
                <a:r>
                  <a:rPr lang="es-EC" sz="2400" dirty="0"/>
                  <a:t> con esperanza finita y c una constante. Entonces</a:t>
                </a:r>
              </a:p>
              <a:p>
                <a:endParaRPr lang="es-EC" sz="2400" dirty="0"/>
              </a:p>
              <a:p>
                <a:pPr marL="457200" indent="-457200">
                  <a:buAutoNum type="alphaLcParenR"/>
                </a:pPr>
                <a14:m>
                  <m:oMath xmlns:m="http://schemas.openxmlformats.org/officeDocument/2006/math">
                    <m:r>
                      <a:rPr lang="es-EC" sz="2400" b="0" i="1" smtClean="0">
                        <a:latin typeface="Cambria Math" panose="02040503050406030204" pitchFamily="18" charset="0"/>
                      </a:rPr>
                      <m:t>𝐸</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𝑐</m:t>
                        </m:r>
                      </m:e>
                    </m:d>
                    <m:r>
                      <a:rPr lang="es-EC" sz="2400" b="0" i="1" smtClean="0">
                        <a:latin typeface="Cambria Math" panose="02040503050406030204" pitchFamily="18" charset="0"/>
                      </a:rPr>
                      <m:t>=</m:t>
                    </m:r>
                    <m:r>
                      <a:rPr lang="es-EC" sz="2400" b="0" i="1" smtClean="0">
                        <a:latin typeface="Cambria Math" panose="02040503050406030204" pitchFamily="18" charset="0"/>
                      </a:rPr>
                      <m:t>𝑐</m:t>
                    </m:r>
                  </m:oMath>
                </a14:m>
                <a:endParaRPr lang="es-EC" sz="2400" dirty="0"/>
              </a:p>
              <a:p>
                <a:pPr marL="457200" indent="-457200">
                  <a:buAutoNum type="alphaLcParenR"/>
                </a:pPr>
                <a:endParaRPr lang="es-EC" sz="2400" dirty="0"/>
              </a:p>
              <a:p>
                <a:pPr marL="457200" indent="-457200">
                  <a:buFontTx/>
                  <a:buAutoNum type="alphaLcParenR"/>
                </a:pPr>
                <a14:m>
                  <m:oMath xmlns:m="http://schemas.openxmlformats.org/officeDocument/2006/math">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i="1">
                            <a:latin typeface="Cambria Math" panose="02040503050406030204" pitchFamily="18" charset="0"/>
                          </a:rPr>
                          <m:t>𝑐</m:t>
                        </m:r>
                        <m:r>
                          <a:rPr lang="es-EC" sz="2400" b="0" i="1" smtClean="0">
                            <a:latin typeface="Cambria Math" panose="02040503050406030204" pitchFamily="18" charset="0"/>
                          </a:rPr>
                          <m:t>𝑋</m:t>
                        </m:r>
                      </m:e>
                    </m:d>
                    <m:r>
                      <a:rPr lang="es-EC" sz="2400" i="1">
                        <a:latin typeface="Cambria Math" panose="02040503050406030204" pitchFamily="18" charset="0"/>
                      </a:rPr>
                      <m:t>=</m:t>
                    </m:r>
                    <m:r>
                      <a:rPr lang="es-EC" sz="2400" i="1">
                        <a:latin typeface="Cambria Math" panose="02040503050406030204" pitchFamily="18" charset="0"/>
                      </a:rPr>
                      <m:t>𝑐𝐸</m:t>
                    </m:r>
                    <m:r>
                      <a:rPr lang="es-EC" sz="2400" b="0" i="1" smtClean="0">
                        <a:latin typeface="Cambria Math" panose="02040503050406030204" pitchFamily="18" charset="0"/>
                      </a:rPr>
                      <m:t>(</m:t>
                    </m:r>
                    <m:r>
                      <a:rPr lang="es-EC" sz="2400" b="0" i="1" smtClean="0">
                        <a:latin typeface="Cambria Math" panose="02040503050406030204" pitchFamily="18" charset="0"/>
                      </a:rPr>
                      <m:t>𝑋</m:t>
                    </m:r>
                    <m:r>
                      <a:rPr lang="es-EC" sz="2400" b="0" i="1" smtClean="0">
                        <a:latin typeface="Cambria Math" panose="02040503050406030204" pitchFamily="18" charset="0"/>
                      </a:rPr>
                      <m:t>)</m:t>
                    </m:r>
                  </m:oMath>
                </a14:m>
                <a:endParaRPr lang="es-EC" sz="2400" dirty="0"/>
              </a:p>
              <a:p>
                <a:pPr marL="457200" indent="-457200">
                  <a:buFontTx/>
                  <a:buAutoNum type="alphaLcParenR"/>
                </a:pPr>
                <a:endParaRPr lang="es-EC" sz="2400" dirty="0"/>
              </a:p>
              <a:p>
                <a:pPr marL="457200" indent="-457200">
                  <a:buFontTx/>
                  <a:buAutoNum type="alphaLcParenR"/>
                </a:pPr>
                <a14:m>
                  <m:oMath xmlns:m="http://schemas.openxmlformats.org/officeDocument/2006/math">
                    <m:r>
                      <a:rPr lang="es-EC" sz="2400" b="0" i="1" smtClean="0">
                        <a:latin typeface="Cambria Math" panose="02040503050406030204" pitchFamily="18" charset="0"/>
                      </a:rPr>
                      <m:t>𝑆𝑖</m:t>
                    </m:r>
                    <m:r>
                      <a:rPr lang="es-EC" sz="2400" b="0" i="1" smtClean="0">
                        <a:latin typeface="Cambria Math" panose="02040503050406030204" pitchFamily="18" charset="0"/>
                      </a:rPr>
                      <m:t> </m:t>
                    </m:r>
                    <m:r>
                      <a:rPr lang="es-EC" sz="2400" b="0" i="1" smtClean="0">
                        <a:latin typeface="Cambria Math" panose="02040503050406030204" pitchFamily="18" charset="0"/>
                      </a:rPr>
                      <m:t>𝑋</m:t>
                    </m:r>
                    <m:r>
                      <a:rPr lang="es-EC" sz="2400" b="0" i="1" smtClean="0">
                        <a:latin typeface="Cambria Math" panose="02040503050406030204" pitchFamily="18" charset="0"/>
                        <a:ea typeface="Cambria Math" panose="02040503050406030204" pitchFamily="18" charset="0"/>
                      </a:rPr>
                      <m:t>≥0 </m:t>
                    </m:r>
                    <m:r>
                      <a:rPr lang="es-EC" sz="2400" b="0" i="1" smtClean="0">
                        <a:latin typeface="Cambria Math" panose="02040503050406030204" pitchFamily="18" charset="0"/>
                        <a:ea typeface="Cambria Math" panose="02040503050406030204" pitchFamily="18" charset="0"/>
                      </a:rPr>
                      <m:t>𝑒𝑛𝑡𝑜𝑛𝑐𝑒𝑠</m:t>
                    </m:r>
                    <m:r>
                      <a:rPr lang="es-EC" sz="2400" b="0" i="1" smtClean="0">
                        <a:latin typeface="Cambria Math" panose="02040503050406030204" pitchFamily="18" charset="0"/>
                        <a:ea typeface="Cambria Math" panose="02040503050406030204" pitchFamily="18" charset="0"/>
                      </a:rPr>
                      <m:t> </m:t>
                    </m:r>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b="0" i="1" smtClean="0">
                            <a:latin typeface="Cambria Math" panose="02040503050406030204" pitchFamily="18" charset="0"/>
                          </a:rPr>
                          <m:t>𝑋</m:t>
                        </m:r>
                      </m:e>
                    </m:d>
                    <m:r>
                      <a:rPr lang="es-EC" sz="240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0</m:t>
                    </m:r>
                  </m:oMath>
                </a14:m>
                <a:endParaRPr lang="es-EC" sz="2400" b="0" dirty="0">
                  <a:ea typeface="Cambria Math" panose="02040503050406030204" pitchFamily="18" charset="0"/>
                </a:endParaRPr>
              </a:p>
              <a:p>
                <a:pPr marL="457200" indent="-457200">
                  <a:buFontTx/>
                  <a:buAutoNum type="alphaLcParenR"/>
                </a:pPr>
                <a:endParaRPr lang="es-EC" sz="2400" dirty="0"/>
              </a:p>
              <a:p>
                <a:pPr marL="457200" indent="-457200">
                  <a:buFontTx/>
                  <a:buAutoNum type="alphaLcParenR"/>
                </a:pPr>
                <a14:m>
                  <m:oMath xmlns:m="http://schemas.openxmlformats.org/officeDocument/2006/math">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b="0" i="1" smtClean="0">
                            <a:latin typeface="Cambria Math" panose="02040503050406030204" pitchFamily="18" charset="0"/>
                          </a:rPr>
                          <m:t>𝑋</m:t>
                        </m:r>
                        <m:r>
                          <a:rPr lang="es-EC" sz="2400" b="0" i="1" smtClean="0">
                            <a:latin typeface="Cambria Math" panose="02040503050406030204" pitchFamily="18" charset="0"/>
                          </a:rPr>
                          <m:t>+</m:t>
                        </m:r>
                        <m:r>
                          <a:rPr lang="es-EC" sz="2400" b="0" i="1" smtClean="0">
                            <a:latin typeface="Cambria Math" panose="02040503050406030204" pitchFamily="18" charset="0"/>
                          </a:rPr>
                          <m:t>𝑌</m:t>
                        </m:r>
                      </m:e>
                    </m:d>
                    <m:r>
                      <a:rPr lang="es-EC" sz="2400" i="1">
                        <a:latin typeface="Cambria Math" panose="02040503050406030204" pitchFamily="18" charset="0"/>
                      </a:rPr>
                      <m:t>=</m:t>
                    </m:r>
                    <m:r>
                      <a:rPr lang="es-EC" sz="2400" b="0" i="1" smtClean="0">
                        <a:latin typeface="Cambria Math" panose="02040503050406030204" pitchFamily="18" charset="0"/>
                      </a:rPr>
                      <m:t>𝐸</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𝑋</m:t>
                        </m:r>
                      </m:e>
                    </m:d>
                    <m:r>
                      <a:rPr lang="es-EC" sz="2400" b="0" i="1" smtClean="0">
                        <a:latin typeface="Cambria Math" panose="02040503050406030204" pitchFamily="18" charset="0"/>
                      </a:rPr>
                      <m:t>+</m:t>
                    </m:r>
                    <m:r>
                      <a:rPr lang="es-EC" sz="2400" b="0" i="1" smtClean="0">
                        <a:latin typeface="Cambria Math" panose="02040503050406030204" pitchFamily="18" charset="0"/>
                      </a:rPr>
                      <m:t>𝐸</m:t>
                    </m:r>
                    <m:r>
                      <a:rPr lang="es-EC" sz="2400" b="0" i="1" smtClean="0">
                        <a:latin typeface="Cambria Math" panose="02040503050406030204" pitchFamily="18" charset="0"/>
                      </a:rPr>
                      <m:t>(</m:t>
                    </m:r>
                    <m:r>
                      <a:rPr lang="es-EC" sz="2400" b="0" i="1" smtClean="0">
                        <a:latin typeface="Cambria Math" panose="02040503050406030204" pitchFamily="18" charset="0"/>
                      </a:rPr>
                      <m:t>𝑌</m:t>
                    </m:r>
                    <m:r>
                      <a:rPr lang="es-EC" sz="2400" b="0" i="1" smtClean="0">
                        <a:latin typeface="Cambria Math" panose="02040503050406030204" pitchFamily="18" charset="0"/>
                      </a:rPr>
                      <m:t>)</m:t>
                    </m:r>
                  </m:oMath>
                </a14:m>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631110" y="1478336"/>
                <a:ext cx="9701214" cy="4278094"/>
              </a:xfrm>
              <a:prstGeom prst="rect">
                <a:avLst/>
              </a:prstGeom>
              <a:blipFill rotWithShape="0">
                <a:blip r:embed="rId2"/>
                <a:stretch>
                  <a:fillRect l="-1320" t="-1427" b="-1997"/>
                </a:stretch>
              </a:blipFill>
            </p:spPr>
            <p:txBody>
              <a:bodyPr/>
              <a:lstStyle/>
              <a:p>
                <a:r>
                  <a:rPr lang="es-EC">
                    <a:noFill/>
                  </a:rPr>
                  <a:t> </a:t>
                </a:r>
              </a:p>
            </p:txBody>
          </p:sp>
        </mc:Fallback>
      </mc:AlternateContent>
    </p:spTree>
    <p:extLst>
      <p:ext uri="{BB962C8B-B14F-4D97-AF65-F5344CB8AC3E}">
        <p14:creationId xmlns:p14="http://schemas.microsoft.com/office/powerpoint/2010/main" val="728722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3" name="CuadroTexto 2"/>
              <p:cNvSpPr txBox="1"/>
              <p:nvPr/>
            </p:nvSpPr>
            <p:spPr>
              <a:xfrm>
                <a:off x="631110" y="944029"/>
                <a:ext cx="9701214" cy="5386090"/>
              </a:xfrm>
              <a:prstGeom prst="rect">
                <a:avLst/>
              </a:prstGeom>
              <a:noFill/>
            </p:spPr>
            <p:txBody>
              <a:bodyPr wrap="square" rtlCol="0">
                <a:spAutoFit/>
              </a:bodyPr>
              <a:lstStyle/>
              <a:p>
                <a:r>
                  <a:rPr lang="es-EC" sz="2800" b="1" dirty="0"/>
                  <a:t>Varianza - Interpretación</a:t>
                </a:r>
              </a:p>
              <a:p>
                <a:r>
                  <a:rPr lang="es-EC" sz="2400" dirty="0"/>
                  <a:t>Medida del grado de dispersión de los valores de la </a:t>
                </a:r>
                <a:r>
                  <a:rPr lang="es-EC" sz="2400" dirty="0" err="1"/>
                  <a:t>v.a.</a:t>
                </a:r>
                <a:r>
                  <a:rPr lang="es-EC" sz="2400" dirty="0"/>
                  <a:t> alrededor de la media, ponderados por sus respectivas probabilidades</a:t>
                </a:r>
              </a:p>
              <a:p>
                <a:endParaRPr lang="es-EC" sz="2400" dirty="0"/>
              </a:p>
              <a:p>
                <a:r>
                  <a:rPr lang="es-EC" sz="2800" b="1" dirty="0"/>
                  <a:t>Varianza – Propiedades</a:t>
                </a:r>
              </a:p>
              <a:p>
                <a:pPr/>
                <a14:m>
                  <m:oMathPara xmlns:m="http://schemas.openxmlformats.org/officeDocument/2006/math">
                    <m:oMathParaPr>
                      <m:jc m:val="left"/>
                    </m:oMathParaPr>
                    <m:oMath xmlns:m="http://schemas.openxmlformats.org/officeDocument/2006/math">
                      <m:r>
                        <a:rPr lang="es-EC" sz="2400" b="0" i="1" smtClean="0">
                          <a:latin typeface="Cambria Math" panose="02040503050406030204" pitchFamily="18" charset="0"/>
                        </a:rPr>
                        <m:t>𝑎</m:t>
                      </m:r>
                      <m:r>
                        <a:rPr lang="es-EC" sz="2400" b="0" i="1" smtClean="0">
                          <a:latin typeface="Cambria Math" panose="02040503050406030204" pitchFamily="18" charset="0"/>
                        </a:rPr>
                        <m:t>) </m:t>
                      </m:r>
                      <m:r>
                        <a:rPr lang="es-EC" sz="2400" b="0" i="1" smtClean="0">
                          <a:latin typeface="Cambria Math" panose="02040503050406030204" pitchFamily="18" charset="0"/>
                        </a:rPr>
                        <m:t>𝑉</m:t>
                      </m:r>
                      <m:r>
                        <a:rPr lang="es-EC" sz="2400" b="0" i="1" smtClean="0">
                          <a:latin typeface="Cambria Math" panose="02040503050406030204" pitchFamily="18" charset="0"/>
                        </a:rPr>
                        <m:t>(</m:t>
                      </m:r>
                      <m:r>
                        <a:rPr lang="es-EC" sz="2400" i="1">
                          <a:latin typeface="Cambria Math" panose="02040503050406030204" pitchFamily="18" charset="0"/>
                        </a:rPr>
                        <m:t>𝑋</m:t>
                      </m:r>
                      <m:r>
                        <a:rPr lang="es-EC" sz="2400" b="0" i="1" smtClean="0">
                          <a:latin typeface="Cambria Math" panose="02040503050406030204" pitchFamily="18" charset="0"/>
                        </a:rPr>
                        <m:t>)</m:t>
                      </m:r>
                      <m:r>
                        <a:rPr lang="es-EC" sz="2400" i="1">
                          <a:latin typeface="Cambria Math" panose="02040503050406030204" pitchFamily="18" charset="0"/>
                          <a:ea typeface="Cambria Math" panose="02040503050406030204" pitchFamily="18" charset="0"/>
                        </a:rPr>
                        <m:t>≥0</m:t>
                      </m:r>
                    </m:oMath>
                  </m:oMathPara>
                </a14:m>
                <a:endParaRPr lang="es-EC" sz="2400" dirty="0"/>
              </a:p>
              <a:p>
                <a:endParaRPr lang="es-EC" sz="2400" dirty="0"/>
              </a:p>
              <a:p>
                <a:pPr/>
                <a14:m>
                  <m:oMathPara xmlns:m="http://schemas.openxmlformats.org/officeDocument/2006/math">
                    <m:oMathParaPr>
                      <m:jc m:val="left"/>
                    </m:oMathParaPr>
                    <m:oMath xmlns:m="http://schemas.openxmlformats.org/officeDocument/2006/math">
                      <m:r>
                        <a:rPr lang="es-EC" sz="2400" b="0" i="1" smtClean="0">
                          <a:latin typeface="Cambria Math" panose="02040503050406030204" pitchFamily="18" charset="0"/>
                        </a:rPr>
                        <m:t>𝑏</m:t>
                      </m:r>
                      <m:r>
                        <a:rPr lang="es-EC" sz="2400" b="0" i="1" smtClean="0">
                          <a:latin typeface="Cambria Math" panose="02040503050406030204" pitchFamily="18" charset="0"/>
                        </a:rPr>
                        <m:t>) </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𝑐</m:t>
                          </m:r>
                        </m:e>
                      </m:d>
                      <m:r>
                        <a:rPr lang="es-EC" sz="2400" b="0" i="1" smtClean="0">
                          <a:latin typeface="Cambria Math" panose="02040503050406030204" pitchFamily="18" charset="0"/>
                        </a:rPr>
                        <m:t>=</m:t>
                      </m:r>
                      <m:r>
                        <a:rPr lang="es-EC" sz="2400" i="1">
                          <a:latin typeface="Cambria Math" panose="02040503050406030204" pitchFamily="18" charset="0"/>
                          <a:ea typeface="Cambria Math" panose="02040503050406030204" pitchFamily="18" charset="0"/>
                        </a:rPr>
                        <m:t>0</m:t>
                      </m:r>
                    </m:oMath>
                  </m:oMathPara>
                </a14:m>
                <a:endParaRPr lang="es-EC" sz="2400" dirty="0"/>
              </a:p>
              <a:p>
                <a:endParaRPr lang="es-EC" sz="2400" dirty="0"/>
              </a:p>
              <a:p>
                <a:pPr/>
                <a14:m>
                  <m:oMathPara xmlns:m="http://schemas.openxmlformats.org/officeDocument/2006/math">
                    <m:oMathParaPr>
                      <m:jc m:val="left"/>
                    </m:oMathParaPr>
                    <m:oMath xmlns:m="http://schemas.openxmlformats.org/officeDocument/2006/math">
                      <m:r>
                        <a:rPr lang="es-EC" sz="2400" b="0" i="1" smtClean="0">
                          <a:latin typeface="Cambria Math" panose="02040503050406030204" pitchFamily="18" charset="0"/>
                        </a:rPr>
                        <m:t>𝑐</m:t>
                      </m:r>
                      <m:r>
                        <a:rPr lang="es-EC" sz="2400" b="0" i="1" smtClean="0">
                          <a:latin typeface="Cambria Math" panose="02040503050406030204" pitchFamily="18" charset="0"/>
                        </a:rPr>
                        <m:t>) </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𝑐</m:t>
                          </m:r>
                          <m:r>
                            <a:rPr lang="es-EC" sz="2400" i="1">
                              <a:latin typeface="Cambria Math" panose="02040503050406030204" pitchFamily="18" charset="0"/>
                            </a:rPr>
                            <m:t>𝑋</m:t>
                          </m:r>
                        </m:e>
                      </m:d>
                      <m:r>
                        <a:rPr lang="es-EC" sz="2400" b="0" i="1" smtClean="0">
                          <a:latin typeface="Cambria Math" panose="02040503050406030204" pitchFamily="18" charset="0"/>
                          <a:ea typeface="Cambria Math" panose="02040503050406030204" pitchFamily="18" charset="0"/>
                        </a:rPr>
                        <m:t>=</m:t>
                      </m:r>
                      <m:sSup>
                        <m:sSupPr>
                          <m:ctrlPr>
                            <a:rPr lang="es-EC" sz="2400" b="0" i="1" smtClean="0">
                              <a:latin typeface="Cambria Math" panose="02040503050406030204" pitchFamily="18" charset="0"/>
                              <a:ea typeface="Cambria Math" panose="02040503050406030204" pitchFamily="18" charset="0"/>
                            </a:rPr>
                          </m:ctrlPr>
                        </m:sSupPr>
                        <m:e>
                          <m:r>
                            <a:rPr lang="es-EC" sz="2400" b="0" i="1" smtClean="0">
                              <a:latin typeface="Cambria Math" panose="02040503050406030204" pitchFamily="18" charset="0"/>
                              <a:ea typeface="Cambria Math" panose="02040503050406030204" pitchFamily="18" charset="0"/>
                            </a:rPr>
                            <m:t>𝑐</m:t>
                          </m:r>
                        </m:e>
                        <m:sup>
                          <m:r>
                            <a:rPr lang="es-EC" sz="2400" b="0" i="1" smtClean="0">
                              <a:latin typeface="Cambria Math" panose="02040503050406030204" pitchFamily="18" charset="0"/>
                              <a:ea typeface="Cambria Math" panose="02040503050406030204" pitchFamily="18" charset="0"/>
                            </a:rPr>
                            <m:t>2</m:t>
                          </m:r>
                        </m:sup>
                      </m:sSup>
                      <m:r>
                        <a:rPr lang="es-EC" sz="2400" b="0" i="1" smtClean="0">
                          <a:latin typeface="Cambria Math" panose="02040503050406030204" pitchFamily="18" charset="0"/>
                          <a:ea typeface="Cambria Math" panose="02040503050406030204" pitchFamily="18" charset="0"/>
                        </a:rPr>
                        <m:t>𝑉</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𝑋</m:t>
                      </m:r>
                      <m:r>
                        <a:rPr lang="es-EC" sz="2400" b="0" i="1" smtClean="0">
                          <a:latin typeface="Cambria Math" panose="02040503050406030204" pitchFamily="18" charset="0"/>
                          <a:ea typeface="Cambria Math" panose="02040503050406030204" pitchFamily="18" charset="0"/>
                        </a:rPr>
                        <m:t>)</m:t>
                      </m:r>
                    </m:oMath>
                  </m:oMathPara>
                </a14:m>
                <a:endParaRPr lang="es-EC" sz="2400" dirty="0"/>
              </a:p>
              <a:p>
                <a:endParaRPr lang="es-EC" sz="2400" dirty="0"/>
              </a:p>
              <a:p>
                <a:pPr/>
                <a14:m>
                  <m:oMathPara xmlns:m="http://schemas.openxmlformats.org/officeDocument/2006/math">
                    <m:oMathParaPr>
                      <m:jc m:val="left"/>
                    </m:oMathParaPr>
                    <m:oMath xmlns:m="http://schemas.openxmlformats.org/officeDocument/2006/math">
                      <m:r>
                        <a:rPr lang="es-EC" sz="2400" b="0" i="1" smtClean="0">
                          <a:latin typeface="Cambria Math" panose="02040503050406030204" pitchFamily="18" charset="0"/>
                        </a:rPr>
                        <m:t>𝑑</m:t>
                      </m:r>
                      <m:r>
                        <a:rPr lang="es-EC" sz="2400" b="0" i="1" smtClean="0">
                          <a:latin typeface="Cambria Math" panose="02040503050406030204" pitchFamily="18" charset="0"/>
                        </a:rPr>
                        <m:t>) </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i="1">
                              <a:latin typeface="Cambria Math" panose="02040503050406030204" pitchFamily="18" charset="0"/>
                            </a:rPr>
                            <m:t>𝑋</m:t>
                          </m:r>
                          <m:r>
                            <a:rPr lang="es-EC" sz="2400" b="0" i="1" smtClean="0">
                              <a:latin typeface="Cambria Math" panose="02040503050406030204" pitchFamily="18" charset="0"/>
                            </a:rPr>
                            <m:t>+</m:t>
                          </m:r>
                          <m:r>
                            <a:rPr lang="es-EC" sz="2400" b="0" i="1" smtClean="0">
                              <a:latin typeface="Cambria Math" panose="02040503050406030204" pitchFamily="18" charset="0"/>
                            </a:rPr>
                            <m:t>𝑐</m:t>
                          </m:r>
                        </m:e>
                      </m:d>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𝑉</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𝑋</m:t>
                      </m:r>
                      <m:r>
                        <a:rPr lang="es-EC" sz="2400" b="0" i="1" smtClean="0">
                          <a:latin typeface="Cambria Math" panose="02040503050406030204" pitchFamily="18" charset="0"/>
                          <a:ea typeface="Cambria Math" panose="02040503050406030204" pitchFamily="18" charset="0"/>
                        </a:rPr>
                        <m:t>)</m:t>
                      </m:r>
                    </m:oMath>
                  </m:oMathPara>
                </a14:m>
                <a:endParaRPr lang="es-EC" sz="2400" dirty="0"/>
              </a:p>
              <a:p>
                <a:endParaRPr lang="es-EC" sz="2400" dirty="0"/>
              </a:p>
              <a:p>
                <a:pPr/>
                <a14:m>
                  <m:oMathPara xmlns:m="http://schemas.openxmlformats.org/officeDocument/2006/math">
                    <m:oMathParaPr>
                      <m:jc m:val="left"/>
                    </m:oMathParaPr>
                    <m:oMath xmlns:m="http://schemas.openxmlformats.org/officeDocument/2006/math">
                      <m:r>
                        <a:rPr lang="es-EC" sz="2400" b="0" i="1" smtClean="0">
                          <a:latin typeface="Cambria Math" panose="02040503050406030204" pitchFamily="18" charset="0"/>
                        </a:rPr>
                        <m:t>𝑒</m:t>
                      </m:r>
                      <m:r>
                        <a:rPr lang="es-EC" sz="2400" b="0" i="1" smtClean="0">
                          <a:latin typeface="Cambria Math" panose="02040503050406030204" pitchFamily="18" charset="0"/>
                        </a:rPr>
                        <m:t>) </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i="1">
                              <a:latin typeface="Cambria Math" panose="02040503050406030204" pitchFamily="18" charset="0"/>
                            </a:rPr>
                            <m:t>𝑋</m:t>
                          </m:r>
                          <m:r>
                            <a:rPr lang="es-EC" sz="2400" b="0" i="1" smtClean="0">
                              <a:latin typeface="Cambria Math" panose="02040503050406030204" pitchFamily="18" charset="0"/>
                            </a:rPr>
                            <m:t>+</m:t>
                          </m:r>
                          <m:r>
                            <a:rPr lang="es-EC" sz="2400" b="0" i="1" smtClean="0">
                              <a:latin typeface="Cambria Math" panose="02040503050406030204" pitchFamily="18" charset="0"/>
                            </a:rPr>
                            <m:t>𝑌</m:t>
                          </m:r>
                        </m:e>
                      </m:d>
                      <m:r>
                        <a:rPr lang="es-EC" sz="240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𝑉</m:t>
                      </m:r>
                      <m:d>
                        <m:dPr>
                          <m:ctrlPr>
                            <a:rPr lang="es-EC" sz="2400" b="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𝑋</m:t>
                          </m:r>
                        </m:e>
                      </m:d>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𝑉</m:t>
                      </m:r>
                      <m:d>
                        <m:dPr>
                          <m:ctrlPr>
                            <a:rPr lang="es-EC" sz="2400" b="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𝑌</m:t>
                          </m:r>
                        </m:e>
                      </m:d>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𝑠𝑎𝑙𝑣𝑜</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𝑒𝑙</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𝑐𝑎𝑠𝑜</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𝑑𝑒</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𝑖𝑛𝑑𝑒𝑝𝑒𝑛𝑑𝑒𝑛𝑐𝑖𝑎</m:t>
                      </m:r>
                    </m:oMath>
                  </m:oMathPara>
                </a14:m>
                <a:endParaRPr lang="es-EC"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631110" y="944029"/>
                <a:ext cx="9701214" cy="5386090"/>
              </a:xfrm>
              <a:prstGeom prst="rect">
                <a:avLst/>
              </a:prstGeom>
              <a:blipFill rotWithShape="0">
                <a:blip r:embed="rId2"/>
                <a:stretch>
                  <a:fillRect l="-1320" t="-1133" b="-680"/>
                </a:stretch>
              </a:blipFill>
            </p:spPr>
            <p:txBody>
              <a:bodyPr/>
              <a:lstStyle/>
              <a:p>
                <a:r>
                  <a:rPr lang="es-EC">
                    <a:noFill/>
                  </a:rPr>
                  <a:t> </a:t>
                </a:r>
              </a:p>
            </p:txBody>
          </p:sp>
        </mc:Fallback>
      </mc:AlternateContent>
    </p:spTree>
    <p:extLst>
      <p:ext uri="{BB962C8B-B14F-4D97-AF65-F5344CB8AC3E}">
        <p14:creationId xmlns:p14="http://schemas.microsoft.com/office/powerpoint/2010/main" val="3140949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4" name="CuadroTexto 3"/>
              <p:cNvSpPr txBox="1"/>
              <p:nvPr/>
            </p:nvSpPr>
            <p:spPr>
              <a:xfrm>
                <a:off x="631110" y="1068432"/>
                <a:ext cx="9701214" cy="2431435"/>
              </a:xfrm>
              <a:prstGeom prst="rect">
                <a:avLst/>
              </a:prstGeom>
              <a:noFill/>
            </p:spPr>
            <p:txBody>
              <a:bodyPr wrap="square" rtlCol="0">
                <a:spAutoFit/>
              </a:bodyPr>
              <a:lstStyle/>
              <a:p>
                <a:r>
                  <a:rPr lang="es-EC" sz="2800" b="1" dirty="0"/>
                  <a:t>Esperanza  de funciones de variables aleatorias</a:t>
                </a:r>
              </a:p>
              <a:p>
                <a:endParaRPr lang="es-EC" sz="2800" b="1" dirty="0"/>
              </a:p>
              <a:p>
                <a:r>
                  <a:rPr lang="es-EC" sz="2400" dirty="0"/>
                  <a:t>Sea X una </a:t>
                </a:r>
                <a:r>
                  <a:rPr lang="es-EC" sz="2400" dirty="0" err="1"/>
                  <a:t>v.a.</a:t>
                </a:r>
                <a:r>
                  <a:rPr lang="es-EC" sz="2400" dirty="0"/>
                  <a:t> discreta con función de probabilidad </a:t>
                </a:r>
                <a14:m>
                  <m:oMath xmlns:m="http://schemas.openxmlformats.org/officeDocument/2006/math">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oMath>
                </a14:m>
                <a:r>
                  <a:rPr lang="es-EC" sz="2400" dirty="0"/>
                  <a:t>. Sea </a:t>
                </a:r>
                <a14:m>
                  <m:oMath xmlns:m="http://schemas.openxmlformats.org/officeDocument/2006/math">
                    <m:r>
                      <m:rPr>
                        <m:sty m:val="p"/>
                      </m:rPr>
                      <a:rPr lang="es-EC" sz="2400" b="0" i="0" smtClean="0">
                        <a:latin typeface="Cambria Math" panose="02040503050406030204" pitchFamily="18" charset="0"/>
                      </a:rPr>
                      <m:t>G</m:t>
                    </m:r>
                    <m:r>
                      <a:rPr lang="es-EC" sz="2400" b="0" i="1" smtClean="0">
                        <a:latin typeface="Cambria Math" panose="02040503050406030204" pitchFamily="18" charset="0"/>
                      </a:rPr>
                      <m:t>:</m:t>
                    </m:r>
                    <m:r>
                      <a:rPr lang="es-EC" sz="2400" i="1">
                        <a:latin typeface="Cambria Math" panose="02040503050406030204" pitchFamily="18" charset="0"/>
                        <a:ea typeface="Cambria Math" panose="02040503050406030204" pitchFamily="18" charset="0"/>
                      </a:rPr>
                      <m:t>ℝ</m:t>
                    </m:r>
                    <m:r>
                      <a:rPr lang="es-EC" sz="2400" i="1">
                        <a:latin typeface="Cambria Math" panose="02040503050406030204" pitchFamily="18" charset="0"/>
                        <a:ea typeface="Cambria Math" panose="02040503050406030204" pitchFamily="18" charset="0"/>
                      </a:rPr>
                      <m:t>→</m:t>
                    </m:r>
                    <m:r>
                      <a:rPr lang="es-EC" sz="2400" i="1">
                        <a:latin typeface="Cambria Math" panose="02040503050406030204" pitchFamily="18" charset="0"/>
                        <a:ea typeface="Cambria Math" panose="02040503050406030204" pitchFamily="18" charset="0"/>
                      </a:rPr>
                      <m:t>ℝ</m:t>
                    </m:r>
                  </m:oMath>
                </a14:m>
                <a:r>
                  <a:rPr lang="es-EC" sz="2400" dirty="0"/>
                  <a:t> una función tal que G(x) es una </a:t>
                </a:r>
                <a:r>
                  <a:rPr lang="es-EC" sz="2400" dirty="0" err="1"/>
                  <a:t>v.a.</a:t>
                </a:r>
                <a:r>
                  <a:rPr lang="es-EC" sz="2400" dirty="0"/>
                  <a:t> con esperanza finita. Entonces</a:t>
                </a:r>
              </a:p>
              <a:p>
                <a:endParaRPr lang="es-EC" sz="2400" dirty="0"/>
              </a:p>
              <a:p>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631110" y="1068432"/>
                <a:ext cx="9701214" cy="2431435"/>
              </a:xfrm>
              <a:prstGeom prst="rect">
                <a:avLst/>
              </a:prstGeom>
              <a:blipFill rotWithShape="0">
                <a:blip r:embed="rId2"/>
                <a:stretch>
                  <a:fillRect l="-1320" t="-2256"/>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3" name="Rectángulo 2"/>
              <p:cNvSpPr/>
              <p:nvPr/>
            </p:nvSpPr>
            <p:spPr>
              <a:xfrm>
                <a:off x="3506753" y="3499867"/>
                <a:ext cx="3949927" cy="11378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i="1">
                          <a:latin typeface="Cambria Math" panose="02040503050406030204" pitchFamily="18" charset="0"/>
                        </a:rPr>
                        <m:t>𝐸</m:t>
                      </m:r>
                      <m:d>
                        <m:dPr>
                          <m:begChr m:val="["/>
                          <m:endChr m:val="]"/>
                          <m:ctrlPr>
                            <a:rPr lang="es-EC" sz="2800" i="1">
                              <a:latin typeface="Cambria Math" panose="02040503050406030204" pitchFamily="18" charset="0"/>
                            </a:rPr>
                          </m:ctrlPr>
                        </m:dPr>
                        <m:e>
                          <m:r>
                            <a:rPr lang="es-EC" sz="2800" i="1">
                              <a:latin typeface="Cambria Math" panose="02040503050406030204" pitchFamily="18" charset="0"/>
                            </a:rPr>
                            <m:t>𝐺</m:t>
                          </m:r>
                          <m:d>
                            <m:dPr>
                              <m:ctrlPr>
                                <a:rPr lang="es-EC" sz="2800" i="1">
                                  <a:latin typeface="Cambria Math" panose="02040503050406030204" pitchFamily="18" charset="0"/>
                                </a:rPr>
                              </m:ctrlPr>
                            </m:dPr>
                            <m:e>
                              <m:r>
                                <a:rPr lang="es-EC" sz="2800" i="1">
                                  <a:latin typeface="Cambria Math" panose="02040503050406030204" pitchFamily="18" charset="0"/>
                                </a:rPr>
                                <m:t>𝑥</m:t>
                              </m:r>
                            </m:e>
                          </m:d>
                        </m:e>
                      </m:d>
                      <m:r>
                        <a:rPr lang="es-EC" sz="2800" i="1">
                          <a:latin typeface="Cambria Math" panose="02040503050406030204" pitchFamily="18" charset="0"/>
                        </a:rPr>
                        <m:t>=</m:t>
                      </m:r>
                      <m:nary>
                        <m:naryPr>
                          <m:chr m:val="∑"/>
                          <m:supHide m:val="on"/>
                          <m:ctrlPr>
                            <a:rPr lang="es-EC" sz="2800" i="1">
                              <a:latin typeface="Cambria Math" panose="02040503050406030204" pitchFamily="18" charset="0"/>
                            </a:rPr>
                          </m:ctrlPr>
                        </m:naryPr>
                        <m:sub>
                          <m:r>
                            <m:rPr>
                              <m:brk m:alnAt="7"/>
                            </m:rPr>
                            <a:rPr lang="es-EC" sz="2800" i="1">
                              <a:latin typeface="Cambria Math" panose="02040503050406030204" pitchFamily="18" charset="0"/>
                            </a:rPr>
                            <m:t>𝑥</m:t>
                          </m:r>
                        </m:sub>
                        <m:sup/>
                        <m:e>
                          <m:r>
                            <a:rPr lang="es-EC" sz="2800" i="1">
                              <a:latin typeface="Cambria Math" panose="02040503050406030204" pitchFamily="18" charset="0"/>
                            </a:rPr>
                            <m:t>𝐺</m:t>
                          </m:r>
                          <m:d>
                            <m:dPr>
                              <m:ctrlPr>
                                <a:rPr lang="es-EC" sz="2800" i="1">
                                  <a:latin typeface="Cambria Math" panose="02040503050406030204" pitchFamily="18" charset="0"/>
                                </a:rPr>
                              </m:ctrlPr>
                            </m:dPr>
                            <m:e>
                              <m:r>
                                <a:rPr lang="es-EC" sz="2800" i="1">
                                  <a:latin typeface="Cambria Math" panose="02040503050406030204" pitchFamily="18" charset="0"/>
                                </a:rPr>
                                <m:t>𝑥</m:t>
                              </m:r>
                            </m:e>
                          </m:d>
                          <m:r>
                            <a:rPr lang="es-EC" sz="2800" i="1">
                              <a:latin typeface="Cambria Math" panose="02040503050406030204" pitchFamily="18" charset="0"/>
                            </a:rPr>
                            <m:t>𝑓</m:t>
                          </m:r>
                          <m:r>
                            <a:rPr lang="es-EC" sz="2800" i="1">
                              <a:latin typeface="Cambria Math" panose="02040503050406030204" pitchFamily="18" charset="0"/>
                            </a:rPr>
                            <m:t>(</m:t>
                          </m:r>
                          <m:r>
                            <a:rPr lang="es-EC" sz="2800" i="1">
                              <a:latin typeface="Cambria Math" panose="02040503050406030204" pitchFamily="18" charset="0"/>
                            </a:rPr>
                            <m:t>𝑥</m:t>
                          </m:r>
                          <m:r>
                            <a:rPr lang="es-EC" sz="2800" i="1">
                              <a:latin typeface="Cambria Math" panose="02040503050406030204" pitchFamily="18" charset="0"/>
                            </a:rPr>
                            <m:t>)</m:t>
                          </m:r>
                        </m:e>
                      </m:nary>
                    </m:oMath>
                  </m:oMathPara>
                </a14:m>
                <a:endParaRPr lang="es-EC" sz="2800" dirty="0"/>
              </a:p>
            </p:txBody>
          </p:sp>
        </mc:Choice>
        <mc:Fallback xmlns="">
          <p:sp>
            <p:nvSpPr>
              <p:cNvPr id="3" name="Rectángulo 2"/>
              <p:cNvSpPr>
                <a:spLocks noRot="1" noChangeAspect="1" noMove="1" noResize="1" noEditPoints="1" noAdjustHandles="1" noChangeArrowheads="1" noChangeShapeType="1" noTextEdit="1"/>
              </p:cNvSpPr>
              <p:nvPr/>
            </p:nvSpPr>
            <p:spPr>
              <a:xfrm>
                <a:off x="3506753" y="3499867"/>
                <a:ext cx="3949927" cy="1137876"/>
              </a:xfrm>
              <a:prstGeom prst="rect">
                <a:avLst/>
              </a:prstGeom>
              <a:blipFill rotWithShape="0">
                <a:blip r:embed="rId3"/>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3425276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3" name="CuadroTexto 2"/>
              <p:cNvSpPr txBox="1"/>
              <p:nvPr/>
            </p:nvSpPr>
            <p:spPr>
              <a:xfrm>
                <a:off x="631110" y="1068432"/>
                <a:ext cx="9701214" cy="4249497"/>
              </a:xfrm>
              <a:prstGeom prst="rect">
                <a:avLst/>
              </a:prstGeom>
              <a:noFill/>
            </p:spPr>
            <p:txBody>
              <a:bodyPr wrap="square" rtlCol="0">
                <a:spAutoFit/>
              </a:bodyPr>
              <a:lstStyle/>
              <a:p>
                <a:r>
                  <a:rPr lang="es-EC" sz="2800" b="1" dirty="0"/>
                  <a:t>Función generadora de momentos</a:t>
                </a:r>
              </a:p>
              <a:p>
                <a:endParaRPr lang="es-EC" sz="2800" b="1" dirty="0"/>
              </a:p>
              <a:p>
                <a:r>
                  <a:rPr lang="es-EC" sz="2400" dirty="0"/>
                  <a:t>Sea X una </a:t>
                </a:r>
                <a:r>
                  <a:rPr lang="es-EC" sz="2400" dirty="0" err="1"/>
                  <a:t>v.a.</a:t>
                </a:r>
                <a:r>
                  <a:rPr lang="es-EC" sz="2400" dirty="0"/>
                  <a:t> discreta con función de probabilidad </a:t>
                </a:r>
                <a14:m>
                  <m:oMath xmlns:m="http://schemas.openxmlformats.org/officeDocument/2006/math">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oMath>
                </a14:m>
                <a:r>
                  <a:rPr lang="es-EC" sz="2400" dirty="0"/>
                  <a:t>. Se define la función generadora de momentos (</a:t>
                </a:r>
                <a:r>
                  <a:rPr lang="es-EC" sz="2400" dirty="0" err="1"/>
                  <a:t>fgm</a:t>
                </a:r>
                <a:r>
                  <a:rPr lang="es-EC" sz="2400" dirty="0"/>
                  <a:t>) de X como</a:t>
                </a:r>
              </a:p>
              <a:p>
                <a:endParaRPr lang="es-EC" sz="2400" dirty="0"/>
              </a:p>
              <a:p>
                <a:pPr/>
                <a14:m>
                  <m:oMathPara xmlns:m="http://schemas.openxmlformats.org/officeDocument/2006/math">
                    <m:oMathParaPr>
                      <m:jc m:val="centerGroup"/>
                    </m:oMathParaPr>
                    <m:oMath xmlns:m="http://schemas.openxmlformats.org/officeDocument/2006/math">
                      <m:sSub>
                        <m:sSubPr>
                          <m:ctrlPr>
                            <a:rPr lang="es-EC" sz="2400" b="0" i="1" smtClean="0">
                              <a:latin typeface="Cambria Math" panose="02040503050406030204" pitchFamily="18" charset="0"/>
                            </a:rPr>
                          </m:ctrlPr>
                        </m:sSubPr>
                        <m:e>
                          <m:r>
                            <a:rPr lang="es-EC" sz="2400" b="0" i="1" smtClean="0">
                              <a:latin typeface="Cambria Math" panose="02040503050406030204" pitchFamily="18" charset="0"/>
                            </a:rPr>
                            <m:t>𝑀</m:t>
                          </m:r>
                        </m:e>
                        <m:sub>
                          <m:r>
                            <a:rPr lang="es-EC" sz="2400" b="0" i="1" smtClean="0">
                              <a:latin typeface="Cambria Math" panose="02040503050406030204" pitchFamily="18" charset="0"/>
                            </a:rPr>
                            <m:t>𝑥</m:t>
                          </m:r>
                        </m:sub>
                      </m:sSub>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𝑡</m:t>
                          </m:r>
                        </m:e>
                      </m:d>
                      <m:r>
                        <a:rPr lang="es-EC" sz="2400" b="0" i="1" smtClean="0">
                          <a:latin typeface="Cambria Math" panose="02040503050406030204" pitchFamily="18" charset="0"/>
                        </a:rPr>
                        <m:t>=</m:t>
                      </m:r>
                      <m:r>
                        <a:rPr lang="es-EC" sz="2400" b="0" i="1" smtClean="0">
                          <a:latin typeface="Cambria Math" panose="02040503050406030204" pitchFamily="18" charset="0"/>
                        </a:rPr>
                        <m:t>𝐸</m:t>
                      </m:r>
                      <m:d>
                        <m:dPr>
                          <m:ctrlPr>
                            <a:rPr lang="es-EC" sz="2400" b="0" i="1" smtClean="0">
                              <a:latin typeface="Cambria Math" panose="02040503050406030204" pitchFamily="18" charset="0"/>
                            </a:rPr>
                          </m:ctrlPr>
                        </m:dPr>
                        <m:e>
                          <m:sSup>
                            <m:sSupPr>
                              <m:ctrlPr>
                                <a:rPr lang="es-EC" sz="2400" b="0" i="1" smtClean="0">
                                  <a:latin typeface="Cambria Math" panose="02040503050406030204" pitchFamily="18" charset="0"/>
                                </a:rPr>
                              </m:ctrlPr>
                            </m:sSupPr>
                            <m:e>
                              <m:r>
                                <a:rPr lang="es-EC" sz="2400" b="0" i="1" smtClean="0">
                                  <a:latin typeface="Cambria Math" panose="02040503050406030204" pitchFamily="18" charset="0"/>
                                </a:rPr>
                                <m:t>𝑒</m:t>
                              </m:r>
                            </m:e>
                            <m:sup>
                              <m:r>
                                <a:rPr lang="es-EC" sz="2400" b="0" i="1" smtClean="0">
                                  <a:latin typeface="Cambria Math" panose="02040503050406030204" pitchFamily="18" charset="0"/>
                                </a:rPr>
                                <m:t>𝑡𝑥</m:t>
                              </m:r>
                            </m:sup>
                          </m:sSup>
                        </m:e>
                      </m:d>
                    </m:oMath>
                  </m:oMathPara>
                </a14:m>
                <a:endParaRPr lang="es-EC" sz="2400" b="0" dirty="0"/>
              </a:p>
              <a:p>
                <a:endParaRPr lang="es-EC" sz="2400" b="0" dirty="0"/>
              </a:p>
              <a:p>
                <a:endParaRPr lang="es-EC" sz="2400" b="0" dirty="0"/>
              </a:p>
              <a:p>
                <a:pPr/>
                <a14:m>
                  <m:oMathPara xmlns:m="http://schemas.openxmlformats.org/officeDocument/2006/math">
                    <m:oMathParaPr>
                      <m:jc m:val="centerGroup"/>
                    </m:oMathParaPr>
                    <m:oMath xmlns:m="http://schemas.openxmlformats.org/officeDocument/2006/math">
                      <m:nary>
                        <m:naryPr>
                          <m:chr m:val="∑"/>
                          <m:supHide m:val="on"/>
                          <m:ctrlPr>
                            <a:rPr lang="es-EC" sz="2400" i="1" smtClean="0">
                              <a:latin typeface="Cambria Math" panose="02040503050406030204" pitchFamily="18" charset="0"/>
                            </a:rPr>
                          </m:ctrlPr>
                        </m:naryPr>
                        <m:sub>
                          <m:r>
                            <m:rPr>
                              <m:brk m:alnAt="7"/>
                            </m:rPr>
                            <a:rPr lang="es-EC" sz="2400" b="0" i="1" smtClean="0">
                              <a:latin typeface="Cambria Math" panose="02040503050406030204" pitchFamily="18" charset="0"/>
                            </a:rPr>
                            <m:t>𝑥</m:t>
                          </m:r>
                        </m:sub>
                        <m:sup/>
                        <m:e>
                          <m:sSup>
                            <m:sSupPr>
                              <m:ctrlPr>
                                <a:rPr lang="es-EC" sz="2400" i="1">
                                  <a:latin typeface="Cambria Math" panose="02040503050406030204" pitchFamily="18" charset="0"/>
                                </a:rPr>
                              </m:ctrlPr>
                            </m:sSupPr>
                            <m:e>
                              <m:r>
                                <a:rPr lang="es-EC" sz="2400" i="1">
                                  <a:latin typeface="Cambria Math" panose="02040503050406030204" pitchFamily="18" charset="0"/>
                                </a:rPr>
                                <m:t>𝑒</m:t>
                              </m:r>
                            </m:e>
                            <m:sup>
                              <m:r>
                                <a:rPr lang="es-EC" sz="2400" i="1">
                                  <a:latin typeface="Cambria Math" panose="02040503050406030204" pitchFamily="18" charset="0"/>
                                </a:rPr>
                                <m:t>𝑡𝑥</m:t>
                              </m:r>
                            </m:sup>
                          </m:sSup>
                        </m:e>
                      </m:nary>
                      <m:r>
                        <a:rPr lang="es-EC" sz="2400" b="0" i="1" smtClean="0">
                          <a:latin typeface="Cambria Math" panose="02040503050406030204" pitchFamily="18" charset="0"/>
                        </a:rPr>
                        <m:t>𝑓</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m:t>
                          </m:r>
                        </m:e>
                      </m:d>
                      <m:r>
                        <a:rPr lang="es-EC" sz="2400" b="0" i="1" smtClean="0">
                          <a:latin typeface="Cambria Math" panose="02040503050406030204" pitchFamily="18" charset="0"/>
                        </a:rPr>
                        <m:t>                                      </m:t>
                      </m:r>
                      <m:nary>
                        <m:naryPr>
                          <m:limLoc m:val="undOvr"/>
                          <m:ctrlPr>
                            <a:rPr lang="es-EC" sz="2400" b="0" i="1" smtClean="0">
                              <a:latin typeface="Cambria Math" panose="02040503050406030204" pitchFamily="18" charset="0"/>
                            </a:rPr>
                          </m:ctrlPr>
                        </m:naryPr>
                        <m:sub>
                          <m:r>
                            <m:rPr>
                              <m:brk m:alnAt="24"/>
                            </m:rP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m:t>
                          </m:r>
                        </m:sub>
                        <m:sup>
                          <m:r>
                            <a:rPr lang="es-EC" sz="2400" b="0" i="1" smtClean="0">
                              <a:latin typeface="Cambria Math" panose="02040503050406030204" pitchFamily="18" charset="0"/>
                              <a:ea typeface="Cambria Math" panose="02040503050406030204" pitchFamily="18" charset="0"/>
                            </a:rPr>
                            <m:t>∞</m:t>
                          </m:r>
                        </m:sup>
                        <m:e>
                          <m:sSup>
                            <m:sSupPr>
                              <m:ctrlPr>
                                <a:rPr lang="es-EC" sz="2400" i="1">
                                  <a:latin typeface="Cambria Math" panose="02040503050406030204" pitchFamily="18" charset="0"/>
                                </a:rPr>
                              </m:ctrlPr>
                            </m:sSupPr>
                            <m:e>
                              <m:r>
                                <a:rPr lang="es-EC" sz="2400" i="1">
                                  <a:latin typeface="Cambria Math" panose="02040503050406030204" pitchFamily="18" charset="0"/>
                                </a:rPr>
                                <m:t>𝑒</m:t>
                              </m:r>
                            </m:e>
                            <m:sup>
                              <m:r>
                                <a:rPr lang="es-EC" sz="2400" i="1">
                                  <a:latin typeface="Cambria Math" panose="02040503050406030204" pitchFamily="18" charset="0"/>
                                </a:rPr>
                                <m:t>𝑡𝑥</m:t>
                              </m:r>
                            </m:sup>
                          </m:sSup>
                          <m:r>
                            <a:rPr lang="es-EC" sz="2400" b="0" i="1" smtClean="0">
                              <a:latin typeface="Cambria Math" panose="02040503050406030204" pitchFamily="18" charset="0"/>
                            </a:rPr>
                            <m:t>𝑓</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m:t>
                              </m:r>
                            </m:e>
                          </m:d>
                          <m:r>
                            <a:rPr lang="es-EC" sz="2400" b="0" i="1" smtClean="0">
                              <a:latin typeface="Cambria Math" panose="02040503050406030204" pitchFamily="18" charset="0"/>
                            </a:rPr>
                            <m:t>𝑑𝑥</m:t>
                          </m:r>
                        </m:e>
                      </m:nary>
                    </m:oMath>
                  </m:oMathPara>
                </a14:m>
                <a:endParaRPr lang="es-EC"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631110" y="1068432"/>
                <a:ext cx="9701214" cy="4249497"/>
              </a:xfrm>
              <a:prstGeom prst="rect">
                <a:avLst/>
              </a:prstGeom>
              <a:blipFill rotWithShape="0">
                <a:blip r:embed="rId2"/>
                <a:stretch>
                  <a:fillRect l="-1320" t="-1291" r="-1508"/>
                </a:stretch>
              </a:blipFill>
            </p:spPr>
            <p:txBody>
              <a:bodyPr/>
              <a:lstStyle/>
              <a:p>
                <a:r>
                  <a:rPr lang="es-EC">
                    <a:noFill/>
                  </a:rPr>
                  <a:t> </a:t>
                </a:r>
              </a:p>
            </p:txBody>
          </p:sp>
        </mc:Fallback>
      </mc:AlternateContent>
    </p:spTree>
    <p:extLst>
      <p:ext uri="{BB962C8B-B14F-4D97-AF65-F5344CB8AC3E}">
        <p14:creationId xmlns:p14="http://schemas.microsoft.com/office/powerpoint/2010/main" val="3845030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3" name="CuadroTexto 2"/>
              <p:cNvSpPr txBox="1"/>
              <p:nvPr/>
            </p:nvSpPr>
            <p:spPr>
              <a:xfrm>
                <a:off x="631110" y="1068432"/>
                <a:ext cx="9701214" cy="4490525"/>
              </a:xfrm>
              <a:prstGeom prst="rect">
                <a:avLst/>
              </a:prstGeom>
              <a:noFill/>
            </p:spPr>
            <p:txBody>
              <a:bodyPr wrap="square" rtlCol="0">
                <a:spAutoFit/>
              </a:bodyPr>
              <a:lstStyle/>
              <a:p>
                <a:r>
                  <a:rPr lang="es-EC" sz="2800" b="1" dirty="0"/>
                  <a:t>FGM – Propiedades </a:t>
                </a:r>
              </a:p>
              <a:p>
                <a:endParaRPr lang="es-EC" sz="2800" b="1" dirty="0"/>
              </a:p>
              <a:p>
                <a:pPr/>
                <a14:m>
                  <m:oMathPara xmlns:m="http://schemas.openxmlformats.org/officeDocument/2006/math">
                    <m:oMathParaPr>
                      <m:jc m:val="left"/>
                    </m:oMathParaPr>
                    <m:oMath xmlns:m="http://schemas.openxmlformats.org/officeDocument/2006/math">
                      <m:r>
                        <a:rPr lang="es-EC" sz="2400" b="0" i="1" smtClean="0">
                          <a:latin typeface="Cambria Math" panose="02040503050406030204" pitchFamily="18" charset="0"/>
                        </a:rPr>
                        <m:t>𝑎</m:t>
                      </m:r>
                      <m:r>
                        <a:rPr lang="es-EC" sz="2400" b="0" i="1" smtClean="0">
                          <a:latin typeface="Cambria Math" panose="02040503050406030204" pitchFamily="18" charset="0"/>
                        </a:rPr>
                        <m:t>) </m:t>
                      </m:r>
                      <m:sSub>
                        <m:sSubPr>
                          <m:ctrlPr>
                            <a:rPr lang="es-EC" sz="2400" b="0" i="1" smtClean="0">
                              <a:latin typeface="Cambria Math" panose="02040503050406030204" pitchFamily="18" charset="0"/>
                            </a:rPr>
                          </m:ctrlPr>
                        </m:sSubPr>
                        <m:e>
                          <m:r>
                            <a:rPr lang="es-EC" sz="2400" b="0" i="1" smtClean="0">
                              <a:latin typeface="Cambria Math" panose="02040503050406030204" pitchFamily="18" charset="0"/>
                            </a:rPr>
                            <m:t>𝑀</m:t>
                          </m:r>
                        </m:e>
                        <m:sub>
                          <m:r>
                            <a:rPr lang="es-EC" sz="2400" b="0" i="1" smtClean="0">
                              <a:latin typeface="Cambria Math" panose="02040503050406030204" pitchFamily="18" charset="0"/>
                            </a:rPr>
                            <m:t>𝑥</m:t>
                          </m:r>
                        </m:sub>
                      </m:sSub>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𝑡</m:t>
                          </m:r>
                        </m:e>
                      </m:d>
                      <m:r>
                        <a:rPr lang="es-EC" sz="2400" b="0" i="1" smtClean="0">
                          <a:latin typeface="Cambria Math" panose="02040503050406030204" pitchFamily="18" charset="0"/>
                        </a:rPr>
                        <m:t>=</m:t>
                      </m:r>
                      <m:nary>
                        <m:naryPr>
                          <m:chr m:val="∑"/>
                          <m:ctrlPr>
                            <a:rPr lang="es-EC" sz="2400" b="0" i="1" smtClean="0">
                              <a:latin typeface="Cambria Math" panose="02040503050406030204" pitchFamily="18" charset="0"/>
                            </a:rPr>
                          </m:ctrlPr>
                        </m:naryPr>
                        <m:sub>
                          <m:r>
                            <m:rPr>
                              <m:brk m:alnAt="23"/>
                            </m:rPr>
                            <a:rPr lang="es-EC" sz="2400" b="0" i="1" smtClean="0">
                              <a:latin typeface="Cambria Math" panose="02040503050406030204" pitchFamily="18" charset="0"/>
                            </a:rPr>
                            <m:t>𝑛</m:t>
                          </m:r>
                          <m:r>
                            <a:rPr lang="es-EC" sz="2400" b="0" i="1" smtClean="0">
                              <a:latin typeface="Cambria Math" panose="02040503050406030204" pitchFamily="18" charset="0"/>
                            </a:rPr>
                            <m:t>=0</m:t>
                          </m:r>
                        </m:sub>
                        <m:sup>
                          <m:r>
                            <a:rPr lang="es-EC" sz="2400" b="0" i="1" smtClean="0">
                              <a:latin typeface="Cambria Math" panose="02040503050406030204" pitchFamily="18" charset="0"/>
                              <a:ea typeface="Cambria Math" panose="02040503050406030204" pitchFamily="18" charset="0"/>
                            </a:rPr>
                            <m:t>∞</m:t>
                          </m:r>
                        </m:sup>
                        <m:e>
                          <m:f>
                            <m:fPr>
                              <m:ctrlPr>
                                <a:rPr lang="es-EC" sz="2400" b="0" i="1" smtClean="0">
                                  <a:latin typeface="Cambria Math" panose="02040503050406030204" pitchFamily="18" charset="0"/>
                                </a:rPr>
                              </m:ctrlPr>
                            </m:fPr>
                            <m:num>
                              <m:sSup>
                                <m:sSupPr>
                                  <m:ctrlPr>
                                    <a:rPr lang="es-EC" sz="2400" b="0" i="1" smtClean="0">
                                      <a:latin typeface="Cambria Math" panose="02040503050406030204" pitchFamily="18" charset="0"/>
                                    </a:rPr>
                                  </m:ctrlPr>
                                </m:sSupPr>
                                <m:e>
                                  <m:r>
                                    <a:rPr lang="es-EC" sz="2400" b="0" i="1" smtClean="0">
                                      <a:latin typeface="Cambria Math" panose="02040503050406030204" pitchFamily="18" charset="0"/>
                                    </a:rPr>
                                    <m:t>𝑡</m:t>
                                  </m:r>
                                </m:e>
                                <m:sup>
                                  <m:r>
                                    <a:rPr lang="es-EC" sz="2400" b="0" i="1" smtClean="0">
                                      <a:latin typeface="Cambria Math" panose="02040503050406030204" pitchFamily="18" charset="0"/>
                                    </a:rPr>
                                    <m:t>𝑛</m:t>
                                  </m:r>
                                </m:sup>
                              </m:sSup>
                            </m:num>
                            <m:den>
                              <m:r>
                                <a:rPr lang="es-EC" sz="2400" b="0" i="1" smtClean="0">
                                  <a:latin typeface="Cambria Math" panose="02040503050406030204" pitchFamily="18" charset="0"/>
                                </a:rPr>
                                <m:t>𝑛</m:t>
                              </m:r>
                              <m:r>
                                <a:rPr lang="es-EC" sz="2400" b="0" i="1" smtClean="0">
                                  <a:latin typeface="Cambria Math" panose="02040503050406030204" pitchFamily="18" charset="0"/>
                                </a:rPr>
                                <m:t>!</m:t>
                              </m:r>
                            </m:den>
                          </m:f>
                        </m:e>
                      </m:nary>
                      <m:r>
                        <a:rPr lang="es-EC" sz="2400" b="0" i="1" smtClean="0">
                          <a:latin typeface="Cambria Math" panose="02040503050406030204" pitchFamily="18" charset="0"/>
                        </a:rPr>
                        <m:t>𝐸</m:t>
                      </m:r>
                      <m:d>
                        <m:dPr>
                          <m:ctrlPr>
                            <a:rPr lang="es-EC" sz="2400" b="0" i="1" smtClean="0">
                              <a:latin typeface="Cambria Math" panose="02040503050406030204" pitchFamily="18" charset="0"/>
                            </a:rPr>
                          </m:ctrlPr>
                        </m:dPr>
                        <m:e>
                          <m:sSup>
                            <m:sSupPr>
                              <m:ctrlPr>
                                <a:rPr lang="es-EC" sz="2400" b="0" i="1" smtClean="0">
                                  <a:latin typeface="Cambria Math" panose="02040503050406030204" pitchFamily="18" charset="0"/>
                                </a:rPr>
                              </m:ctrlPr>
                            </m:sSupPr>
                            <m:e>
                              <m:r>
                                <a:rPr lang="es-EC" sz="2400" b="0" i="1" smtClean="0">
                                  <a:latin typeface="Cambria Math" panose="02040503050406030204" pitchFamily="18" charset="0"/>
                                </a:rPr>
                                <m:t>𝑥</m:t>
                              </m:r>
                            </m:e>
                            <m:sup>
                              <m:r>
                                <a:rPr lang="es-EC" sz="2400" b="0" i="1" smtClean="0">
                                  <a:latin typeface="Cambria Math" panose="02040503050406030204" pitchFamily="18" charset="0"/>
                                </a:rPr>
                                <m:t>𝑛</m:t>
                              </m:r>
                            </m:sup>
                          </m:sSup>
                        </m:e>
                      </m:d>
                    </m:oMath>
                  </m:oMathPara>
                </a14:m>
                <a:endParaRPr lang="es-EC" sz="2400" b="0" dirty="0"/>
              </a:p>
              <a:p>
                <a:endParaRPr lang="es-EC" sz="2400" b="0" dirty="0"/>
              </a:p>
              <a:p>
                <a:endParaRPr lang="es-EC" sz="2400" b="0" dirty="0"/>
              </a:p>
              <a:p>
                <a:pPr/>
                <a14:m>
                  <m:oMathPara xmlns:m="http://schemas.openxmlformats.org/officeDocument/2006/math">
                    <m:oMathParaPr>
                      <m:jc m:val="left"/>
                    </m:oMathParaPr>
                    <m:oMath xmlns:m="http://schemas.openxmlformats.org/officeDocument/2006/math">
                      <m:sSub>
                        <m:sSubPr>
                          <m:ctrlPr>
                            <a:rPr lang="es-EC" sz="2400" i="1">
                              <a:latin typeface="Cambria Math" panose="02040503050406030204" pitchFamily="18" charset="0"/>
                            </a:rPr>
                          </m:ctrlPr>
                        </m:sSubPr>
                        <m:e>
                          <m:r>
                            <a:rPr lang="es-EC" sz="2400" b="0" i="1" smtClean="0">
                              <a:latin typeface="Cambria Math" panose="02040503050406030204" pitchFamily="18" charset="0"/>
                            </a:rPr>
                            <m:t>𝑏</m:t>
                          </m:r>
                          <m:r>
                            <a:rPr lang="es-EC" sz="2400" b="0" i="1" smtClean="0">
                              <a:latin typeface="Cambria Math" panose="02040503050406030204" pitchFamily="18" charset="0"/>
                            </a:rPr>
                            <m:t>) </m:t>
                          </m:r>
                          <m:f>
                            <m:fPr>
                              <m:ctrlPr>
                                <a:rPr lang="es-EC" sz="2400" b="0" i="1" smtClean="0">
                                  <a:latin typeface="Cambria Math" panose="02040503050406030204" pitchFamily="18" charset="0"/>
                                </a:rPr>
                              </m:ctrlPr>
                            </m:fPr>
                            <m:num>
                              <m:sSup>
                                <m:sSupPr>
                                  <m:ctrlPr>
                                    <a:rPr lang="es-EC" sz="2400" b="0" i="1" smtClean="0">
                                      <a:latin typeface="Cambria Math" panose="02040503050406030204" pitchFamily="18" charset="0"/>
                                    </a:rPr>
                                  </m:ctrlPr>
                                </m:sSupPr>
                                <m:e>
                                  <m:r>
                                    <a:rPr lang="es-EC" sz="2400" b="0" i="1" smtClean="0">
                                      <a:latin typeface="Cambria Math" panose="02040503050406030204" pitchFamily="18" charset="0"/>
                                    </a:rPr>
                                    <m:t>𝑑</m:t>
                                  </m:r>
                                </m:e>
                                <m:sup>
                                  <m:r>
                                    <a:rPr lang="es-EC" sz="2400" b="0" i="1" smtClean="0">
                                      <a:latin typeface="Cambria Math" panose="02040503050406030204" pitchFamily="18" charset="0"/>
                                    </a:rPr>
                                    <m:t>𝑛</m:t>
                                  </m:r>
                                </m:sup>
                              </m:sSup>
                            </m:num>
                            <m:den>
                              <m:r>
                                <a:rPr lang="es-EC" sz="2400" b="0" i="1" smtClean="0">
                                  <a:latin typeface="Cambria Math" panose="02040503050406030204" pitchFamily="18" charset="0"/>
                                </a:rPr>
                                <m:t>𝑑𝑡</m:t>
                              </m:r>
                            </m:den>
                          </m:f>
                          <m:r>
                            <a:rPr lang="es-EC" sz="2400" i="1">
                              <a:latin typeface="Cambria Math" panose="02040503050406030204" pitchFamily="18" charset="0"/>
                            </a:rPr>
                            <m:t>𝑀</m:t>
                          </m:r>
                        </m:e>
                        <m:sub>
                          <m:r>
                            <a:rPr lang="es-EC" sz="2400" i="1">
                              <a:latin typeface="Cambria Math" panose="02040503050406030204" pitchFamily="18" charset="0"/>
                            </a:rPr>
                            <m:t>𝑥</m:t>
                          </m:r>
                        </m:sub>
                      </m:sSub>
                      <m:d>
                        <m:dPr>
                          <m:ctrlPr>
                            <a:rPr lang="es-EC" sz="2400" i="1">
                              <a:latin typeface="Cambria Math" panose="02040503050406030204" pitchFamily="18" charset="0"/>
                            </a:rPr>
                          </m:ctrlPr>
                        </m:dPr>
                        <m:e>
                          <m:r>
                            <a:rPr lang="es-EC" sz="2400" i="1">
                              <a:latin typeface="Cambria Math" panose="02040503050406030204" pitchFamily="18" charset="0"/>
                            </a:rPr>
                            <m:t>𝑡</m:t>
                          </m:r>
                          <m:r>
                            <a:rPr lang="es-EC" sz="2400" b="0" i="1" smtClean="0">
                              <a:latin typeface="Cambria Math" panose="02040503050406030204" pitchFamily="18" charset="0"/>
                            </a:rPr>
                            <m:t>=0</m:t>
                          </m:r>
                        </m:e>
                      </m:d>
                      <m:r>
                        <a:rPr lang="es-EC" sz="2400" i="1">
                          <a:latin typeface="Cambria Math" panose="02040503050406030204" pitchFamily="18" charset="0"/>
                        </a:rPr>
                        <m:t>=</m:t>
                      </m:r>
                      <m:r>
                        <a:rPr lang="es-EC" sz="2400" i="1">
                          <a:latin typeface="Cambria Math" panose="02040503050406030204" pitchFamily="18" charset="0"/>
                        </a:rPr>
                        <m:t>𝐸</m:t>
                      </m:r>
                      <m:d>
                        <m:dPr>
                          <m:ctrlPr>
                            <a:rPr lang="es-EC" sz="2400" i="1">
                              <a:latin typeface="Cambria Math" panose="02040503050406030204" pitchFamily="18" charset="0"/>
                            </a:rPr>
                          </m:ctrlPr>
                        </m:dPr>
                        <m:e>
                          <m:sSup>
                            <m:sSupPr>
                              <m:ctrlPr>
                                <a:rPr lang="es-EC" sz="2400" i="1">
                                  <a:latin typeface="Cambria Math" panose="02040503050406030204" pitchFamily="18" charset="0"/>
                                </a:rPr>
                              </m:ctrlPr>
                            </m:sSupPr>
                            <m:e>
                              <m:r>
                                <a:rPr lang="es-EC" sz="2400" i="1">
                                  <a:latin typeface="Cambria Math" panose="02040503050406030204" pitchFamily="18" charset="0"/>
                                </a:rPr>
                                <m:t>𝑥</m:t>
                              </m:r>
                            </m:e>
                            <m:sup>
                              <m:r>
                                <a:rPr lang="es-EC" sz="2400" i="1">
                                  <a:latin typeface="Cambria Math" panose="02040503050406030204" pitchFamily="18" charset="0"/>
                                </a:rPr>
                                <m:t>𝑛</m:t>
                              </m:r>
                            </m:sup>
                          </m:sSup>
                        </m:e>
                      </m:d>
                    </m:oMath>
                  </m:oMathPara>
                </a14:m>
                <a:endParaRPr lang="es-EC" sz="2400" b="0" dirty="0"/>
              </a:p>
              <a:p>
                <a:pPr/>
                <a14:m>
                  <m:oMathPara xmlns:m="http://schemas.openxmlformats.org/officeDocument/2006/math">
                    <m:oMathParaPr>
                      <m:jc m:val="centerGroup"/>
                    </m:oMathParaPr>
                    <m:oMath xmlns:m="http://schemas.openxmlformats.org/officeDocument/2006/math">
                      <m:nary>
                        <m:naryPr>
                          <m:chr m:val="∑"/>
                          <m:supHide m:val="on"/>
                          <m:ctrlPr>
                            <a:rPr lang="es-EC" sz="2400" i="1" smtClean="0">
                              <a:latin typeface="Cambria Math" panose="02040503050406030204" pitchFamily="18" charset="0"/>
                            </a:rPr>
                          </m:ctrlPr>
                        </m:naryPr>
                        <m:sub>
                          <m:r>
                            <m:rPr>
                              <m:brk m:alnAt="7"/>
                            </m:rPr>
                            <a:rPr lang="es-EC" sz="2400" b="0" i="1" smtClean="0">
                              <a:latin typeface="Cambria Math" panose="02040503050406030204" pitchFamily="18" charset="0"/>
                            </a:rPr>
                            <m:t>𝑥</m:t>
                          </m:r>
                        </m:sub>
                        <m:sup/>
                        <m:e>
                          <m:sSup>
                            <m:sSupPr>
                              <m:ctrlPr>
                                <a:rPr lang="es-EC" sz="2400" i="1">
                                  <a:latin typeface="Cambria Math" panose="02040503050406030204" pitchFamily="18" charset="0"/>
                                </a:rPr>
                              </m:ctrlPr>
                            </m:sSupPr>
                            <m:e>
                              <m:r>
                                <a:rPr lang="es-EC" sz="2400" i="1">
                                  <a:latin typeface="Cambria Math" panose="02040503050406030204" pitchFamily="18" charset="0"/>
                                </a:rPr>
                                <m:t>𝑒</m:t>
                              </m:r>
                            </m:e>
                            <m:sup>
                              <m:r>
                                <a:rPr lang="es-EC" sz="2400" i="1">
                                  <a:latin typeface="Cambria Math" panose="02040503050406030204" pitchFamily="18" charset="0"/>
                                </a:rPr>
                                <m:t>𝑡𝑥</m:t>
                              </m:r>
                            </m:sup>
                          </m:sSup>
                        </m:e>
                      </m:nary>
                      <m:r>
                        <a:rPr lang="es-EC" sz="2400" b="0" i="1" smtClean="0">
                          <a:latin typeface="Cambria Math" panose="02040503050406030204" pitchFamily="18" charset="0"/>
                        </a:rPr>
                        <m:t>𝑓</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m:t>
                          </m:r>
                        </m:e>
                      </m:d>
                      <m:r>
                        <a:rPr lang="es-EC" sz="2400" b="0" i="1" smtClean="0">
                          <a:latin typeface="Cambria Math" panose="02040503050406030204" pitchFamily="18" charset="0"/>
                        </a:rPr>
                        <m:t>                                      </m:t>
                      </m:r>
                      <m:nary>
                        <m:naryPr>
                          <m:limLoc m:val="undOvr"/>
                          <m:ctrlPr>
                            <a:rPr lang="es-EC" sz="2400" b="0" i="1" smtClean="0">
                              <a:latin typeface="Cambria Math" panose="02040503050406030204" pitchFamily="18" charset="0"/>
                            </a:rPr>
                          </m:ctrlPr>
                        </m:naryPr>
                        <m:sub>
                          <m:r>
                            <m:rPr>
                              <m:brk m:alnAt="24"/>
                            </m:rP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m:t>
                          </m:r>
                        </m:sub>
                        <m:sup>
                          <m:r>
                            <a:rPr lang="es-EC" sz="2400" b="0" i="1" smtClean="0">
                              <a:latin typeface="Cambria Math" panose="02040503050406030204" pitchFamily="18" charset="0"/>
                              <a:ea typeface="Cambria Math" panose="02040503050406030204" pitchFamily="18" charset="0"/>
                            </a:rPr>
                            <m:t>∞</m:t>
                          </m:r>
                        </m:sup>
                        <m:e>
                          <m:sSup>
                            <m:sSupPr>
                              <m:ctrlPr>
                                <a:rPr lang="es-EC" sz="2400" i="1">
                                  <a:latin typeface="Cambria Math" panose="02040503050406030204" pitchFamily="18" charset="0"/>
                                </a:rPr>
                              </m:ctrlPr>
                            </m:sSupPr>
                            <m:e>
                              <m:r>
                                <a:rPr lang="es-EC" sz="2400" i="1">
                                  <a:latin typeface="Cambria Math" panose="02040503050406030204" pitchFamily="18" charset="0"/>
                                </a:rPr>
                                <m:t>𝑒</m:t>
                              </m:r>
                            </m:e>
                            <m:sup>
                              <m:r>
                                <a:rPr lang="es-EC" sz="2400" i="1">
                                  <a:latin typeface="Cambria Math" panose="02040503050406030204" pitchFamily="18" charset="0"/>
                                </a:rPr>
                                <m:t>𝑡𝑥</m:t>
                              </m:r>
                            </m:sup>
                          </m:sSup>
                          <m:r>
                            <a:rPr lang="es-EC" sz="2400" b="0" i="1" smtClean="0">
                              <a:latin typeface="Cambria Math" panose="02040503050406030204" pitchFamily="18" charset="0"/>
                            </a:rPr>
                            <m:t>𝑓</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m:t>
                              </m:r>
                            </m:e>
                          </m:d>
                          <m:r>
                            <a:rPr lang="es-EC" sz="2400" b="0" i="1" smtClean="0">
                              <a:latin typeface="Cambria Math" panose="02040503050406030204" pitchFamily="18" charset="0"/>
                            </a:rPr>
                            <m:t>𝑑𝑥</m:t>
                          </m:r>
                        </m:e>
                      </m:nary>
                    </m:oMath>
                  </m:oMathPara>
                </a14:m>
                <a:endParaRPr lang="es-EC"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631110" y="1068432"/>
                <a:ext cx="9701214" cy="4490525"/>
              </a:xfrm>
              <a:prstGeom prst="rect">
                <a:avLst/>
              </a:prstGeom>
              <a:blipFill rotWithShape="0">
                <a:blip r:embed="rId2"/>
                <a:stretch>
                  <a:fillRect l="-1320" t="-1221"/>
                </a:stretch>
              </a:blipFill>
            </p:spPr>
            <p:txBody>
              <a:bodyPr/>
              <a:lstStyle/>
              <a:p>
                <a:r>
                  <a:rPr lang="es-EC">
                    <a:noFill/>
                  </a:rPr>
                  <a:t> </a:t>
                </a:r>
              </a:p>
            </p:txBody>
          </p:sp>
        </mc:Fallback>
      </mc:AlternateContent>
    </p:spTree>
    <p:extLst>
      <p:ext uri="{BB962C8B-B14F-4D97-AF65-F5344CB8AC3E}">
        <p14:creationId xmlns:p14="http://schemas.microsoft.com/office/powerpoint/2010/main" val="3426932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631110" y="297698"/>
            <a:ext cx="8061438" cy="646331"/>
          </a:xfrm>
          <a:prstGeom prst="rect">
            <a:avLst/>
          </a:prstGeom>
          <a:noFill/>
        </p:spPr>
        <p:txBody>
          <a:bodyPr wrap="none" rtlCol="0">
            <a:spAutoFit/>
          </a:bodyPr>
          <a:lstStyle/>
          <a:p>
            <a:r>
              <a:rPr lang="es-EC" sz="3600" b="1" dirty="0"/>
              <a:t>PROBABILIDAD – VARIABLES ALEATORIAS</a:t>
            </a:r>
            <a:endParaRPr lang="es-EC" sz="4000" b="1" dirty="0"/>
          </a:p>
        </p:txBody>
      </p:sp>
      <mc:AlternateContent xmlns:mc="http://schemas.openxmlformats.org/markup-compatibility/2006" xmlns:a14="http://schemas.microsoft.com/office/drawing/2010/main">
        <mc:Choice Requires="a14">
          <p:sp>
            <p:nvSpPr>
              <p:cNvPr id="3" name="CuadroTexto 2"/>
              <p:cNvSpPr txBox="1"/>
              <p:nvPr/>
            </p:nvSpPr>
            <p:spPr>
              <a:xfrm>
                <a:off x="631110" y="944029"/>
                <a:ext cx="9701214" cy="2369880"/>
              </a:xfrm>
              <a:prstGeom prst="rect">
                <a:avLst/>
              </a:prstGeom>
              <a:noFill/>
            </p:spPr>
            <p:txBody>
              <a:bodyPr wrap="square" rtlCol="0">
                <a:spAutoFit/>
              </a:bodyPr>
              <a:lstStyle/>
              <a:p>
                <a:r>
                  <a:rPr lang="es-EC" sz="2800" b="1" dirty="0"/>
                  <a:t>Variable aleatoria indicadora - </a:t>
                </a:r>
                <a14:m>
                  <m:oMath xmlns:m="http://schemas.openxmlformats.org/officeDocument/2006/math">
                    <m:sSub>
                      <m:sSubPr>
                        <m:ctrlPr>
                          <a:rPr lang="es-EC" sz="2800" b="1" i="1" smtClean="0">
                            <a:latin typeface="Cambria Math" panose="02040503050406030204" pitchFamily="18" charset="0"/>
                          </a:rPr>
                        </m:ctrlPr>
                      </m:sSubPr>
                      <m:e>
                        <m:r>
                          <a:rPr lang="es-EC" sz="2800" b="1" i="1" smtClean="0">
                            <a:latin typeface="Cambria Math" panose="02040503050406030204" pitchFamily="18" charset="0"/>
                          </a:rPr>
                          <m:t>𝑰</m:t>
                        </m:r>
                      </m:e>
                      <m:sub>
                        <m:r>
                          <a:rPr lang="es-EC" sz="2800" b="1" i="1" smtClean="0">
                            <a:latin typeface="Cambria Math" panose="02040503050406030204" pitchFamily="18" charset="0"/>
                          </a:rPr>
                          <m:t>𝑨</m:t>
                        </m:r>
                      </m:sub>
                    </m:sSub>
                  </m:oMath>
                </a14:m>
                <a:endParaRPr lang="es-EC" sz="2800" b="1" dirty="0"/>
              </a:p>
              <a:p>
                <a:r>
                  <a:rPr lang="es-EC" sz="2400" dirty="0"/>
                  <a:t>Para cada evento A en un modelo probabilístico se define a la variable aleatoria indicadora </a:t>
                </a:r>
                <a14:m>
                  <m:oMath xmlns:m="http://schemas.openxmlformats.org/officeDocument/2006/math">
                    <m:sSub>
                      <m:sSubPr>
                        <m:ctrlPr>
                          <a:rPr lang="es-EC" sz="2400" b="1" i="1">
                            <a:latin typeface="Cambria Math" panose="02040503050406030204" pitchFamily="18" charset="0"/>
                          </a:rPr>
                        </m:ctrlPr>
                      </m:sSubPr>
                      <m:e>
                        <m:r>
                          <a:rPr lang="es-EC" sz="2400" b="1" i="1">
                            <a:latin typeface="Cambria Math" panose="02040503050406030204" pitchFamily="18" charset="0"/>
                          </a:rPr>
                          <m:t>𝑰</m:t>
                        </m:r>
                      </m:e>
                      <m:sub>
                        <m:r>
                          <a:rPr lang="es-EC" sz="2400" b="1" i="1">
                            <a:latin typeface="Cambria Math" panose="02040503050406030204" pitchFamily="18" charset="0"/>
                          </a:rPr>
                          <m:t>𝑨</m:t>
                        </m:r>
                      </m:sub>
                    </m:sSub>
                  </m:oMath>
                </a14:m>
                <a:r>
                  <a:rPr lang="es-EC" sz="2400" dirty="0"/>
                  <a:t> de tal forma que </a:t>
                </a:r>
                <a14:m>
                  <m:oMath xmlns:m="http://schemas.openxmlformats.org/officeDocument/2006/math">
                    <m:sSub>
                      <m:sSubPr>
                        <m:ctrlPr>
                          <a:rPr lang="es-EC" sz="2400" b="1" i="1">
                            <a:latin typeface="Cambria Math" panose="02040503050406030204" pitchFamily="18" charset="0"/>
                          </a:rPr>
                        </m:ctrlPr>
                      </m:sSubPr>
                      <m:e>
                        <m:r>
                          <a:rPr lang="es-EC" sz="2400" b="1" i="1">
                            <a:latin typeface="Cambria Math" panose="02040503050406030204" pitchFamily="18" charset="0"/>
                          </a:rPr>
                          <m:t>𝑰</m:t>
                        </m:r>
                      </m:e>
                      <m:sub>
                        <m:r>
                          <a:rPr lang="es-EC" sz="2400" b="1" i="1">
                            <a:latin typeface="Cambria Math" panose="02040503050406030204" pitchFamily="18" charset="0"/>
                          </a:rPr>
                          <m:t>𝑨</m:t>
                        </m:r>
                      </m:sub>
                    </m:sSub>
                    <m:r>
                      <a:rPr lang="es-EC" sz="2400" b="1" i="1" smtClean="0">
                        <a:latin typeface="Cambria Math" panose="02040503050406030204" pitchFamily="18" charset="0"/>
                      </a:rPr>
                      <m:t>(</m:t>
                    </m:r>
                    <m:r>
                      <a:rPr lang="es-EC" sz="2400" b="1" i="1" smtClean="0">
                        <a:latin typeface="Cambria Math" panose="02040503050406030204" pitchFamily="18" charset="0"/>
                      </a:rPr>
                      <m:t>𝒘</m:t>
                    </m:r>
                    <m:r>
                      <a:rPr lang="es-EC" sz="2400" b="1" i="1" smtClean="0">
                        <a:latin typeface="Cambria Math" panose="02040503050406030204" pitchFamily="18" charset="0"/>
                      </a:rPr>
                      <m:t>)=</m:t>
                    </m:r>
                    <m:r>
                      <a:rPr lang="es-EC" sz="2400" b="1" i="1" smtClean="0">
                        <a:latin typeface="Cambria Math" panose="02040503050406030204" pitchFamily="18" charset="0"/>
                      </a:rPr>
                      <m:t>𝟏</m:t>
                    </m:r>
                  </m:oMath>
                </a14:m>
                <a:r>
                  <a:rPr lang="es-EC" sz="2400" dirty="0"/>
                  <a:t>, si </a:t>
                </a:r>
                <a14:m>
                  <m:oMath xmlns:m="http://schemas.openxmlformats.org/officeDocument/2006/math">
                    <m:r>
                      <a:rPr lang="es-EC" sz="2400" i="1" smtClean="0">
                        <a:latin typeface="Cambria Math" panose="02040503050406030204" pitchFamily="18" charset="0"/>
                        <a:ea typeface="Cambria Math" panose="02040503050406030204" pitchFamily="18" charset="0"/>
                      </a:rPr>
                      <m:t>𝜔</m:t>
                    </m:r>
                    <m:r>
                      <a:rPr lang="es-EC" sz="240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𝐴</m:t>
                    </m:r>
                  </m:oMath>
                </a14:m>
                <a:r>
                  <a:rPr lang="es-EC" sz="2400" dirty="0"/>
                  <a:t> y </a:t>
                </a:r>
                <a14:m>
                  <m:oMath xmlns:m="http://schemas.openxmlformats.org/officeDocument/2006/math">
                    <m:sSub>
                      <m:sSubPr>
                        <m:ctrlPr>
                          <a:rPr lang="es-EC" sz="2400" b="1" i="1">
                            <a:latin typeface="Cambria Math" panose="02040503050406030204" pitchFamily="18" charset="0"/>
                          </a:rPr>
                        </m:ctrlPr>
                      </m:sSubPr>
                      <m:e>
                        <m:r>
                          <a:rPr lang="es-EC" sz="2400" b="1" i="1">
                            <a:latin typeface="Cambria Math" panose="02040503050406030204" pitchFamily="18" charset="0"/>
                          </a:rPr>
                          <m:t>𝑰</m:t>
                        </m:r>
                      </m:e>
                      <m:sub>
                        <m:r>
                          <a:rPr lang="es-EC" sz="2400" b="1" i="1">
                            <a:latin typeface="Cambria Math" panose="02040503050406030204" pitchFamily="18" charset="0"/>
                          </a:rPr>
                          <m:t>𝑨</m:t>
                        </m:r>
                      </m:sub>
                    </m:sSub>
                    <m:d>
                      <m:dPr>
                        <m:ctrlPr>
                          <a:rPr lang="es-EC" sz="2400" b="1" i="1" smtClean="0">
                            <a:latin typeface="Cambria Math" panose="02040503050406030204" pitchFamily="18" charset="0"/>
                          </a:rPr>
                        </m:ctrlPr>
                      </m:dPr>
                      <m:e>
                        <m:r>
                          <a:rPr lang="es-EC" sz="2400" b="1" i="1" smtClean="0">
                            <a:latin typeface="Cambria Math" panose="02040503050406030204" pitchFamily="18" charset="0"/>
                          </a:rPr>
                          <m:t>𝒘</m:t>
                        </m:r>
                      </m:e>
                    </m:d>
                    <m:r>
                      <a:rPr lang="es-EC" sz="2400" b="1" i="1" smtClean="0">
                        <a:latin typeface="Cambria Math" panose="02040503050406030204" pitchFamily="18" charset="0"/>
                      </a:rPr>
                      <m:t>=</m:t>
                    </m:r>
                    <m:r>
                      <a:rPr lang="es-EC" sz="2400" b="1" i="1" smtClean="0">
                        <a:latin typeface="Cambria Math" panose="02040503050406030204" pitchFamily="18" charset="0"/>
                      </a:rPr>
                      <m:t>𝟎</m:t>
                    </m:r>
                  </m:oMath>
                </a14:m>
                <a:r>
                  <a:rPr lang="es-EC" sz="2400" dirty="0"/>
                  <a:t>, en cualquier otro caso.</a:t>
                </a:r>
              </a:p>
              <a:p>
                <a:endParaRPr lang="es-EC" sz="2400" dirty="0"/>
              </a:p>
              <a:p>
                <a:endParaRPr lang="es-EC"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631110" y="944029"/>
                <a:ext cx="9701214" cy="2369880"/>
              </a:xfrm>
              <a:prstGeom prst="rect">
                <a:avLst/>
              </a:prstGeom>
              <a:blipFill rotWithShape="0">
                <a:blip r:embed="rId2"/>
                <a:stretch>
                  <a:fillRect l="-1320" t="-2571"/>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631110" y="3083076"/>
                <a:ext cx="3177408"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0" smtClean="0">
                          <a:latin typeface="Cambria Math" panose="02040503050406030204" pitchFamily="18" charset="0"/>
                        </a:rPr>
                        <m:t>P</m:t>
                      </m:r>
                      <m:d>
                        <m:dPr>
                          <m:ctrlPr>
                            <a:rPr lang="es-EC" b="0" i="1" smtClean="0">
                              <a:latin typeface="Cambria Math" panose="02040503050406030204" pitchFamily="18" charset="0"/>
                            </a:rPr>
                          </m:ctrlPr>
                        </m:dPr>
                        <m:e>
                          <m:sSub>
                            <m:sSubPr>
                              <m:ctrlPr>
                                <a:rPr lang="es-EC" i="1">
                                  <a:latin typeface="Cambria Math" panose="02040503050406030204" pitchFamily="18" charset="0"/>
                                </a:rPr>
                              </m:ctrlPr>
                            </m:sSubPr>
                            <m:e>
                              <m:r>
                                <a:rPr lang="es-EC" i="1">
                                  <a:latin typeface="Cambria Math" panose="02040503050406030204" pitchFamily="18" charset="0"/>
                                </a:rPr>
                                <m:t>𝑰</m:t>
                              </m:r>
                            </m:e>
                            <m:sub>
                              <m:r>
                                <a:rPr lang="es-EC" i="1">
                                  <a:latin typeface="Cambria Math" panose="02040503050406030204" pitchFamily="18" charset="0"/>
                                </a:rPr>
                                <m:t>𝑨</m:t>
                              </m:r>
                            </m:sub>
                          </m:sSub>
                          <m:r>
                            <a:rPr lang="es-EC" b="0" i="0" smtClean="0">
                              <a:latin typeface="Cambria Math" panose="02040503050406030204" pitchFamily="18" charset="0"/>
                            </a:rPr>
                            <m:t>=</m:t>
                          </m:r>
                          <m:r>
                            <a:rPr lang="es-EC" b="0" i="1">
                              <a:latin typeface="Cambria Math" panose="02040503050406030204" pitchFamily="18" charset="0"/>
                            </a:rPr>
                            <m:t>0</m:t>
                          </m:r>
                        </m:e>
                      </m:d>
                      <m:r>
                        <a:rPr lang="es-EC" b="0" i="0" smtClean="0">
                          <a:latin typeface="Cambria Math" panose="02040503050406030204" pitchFamily="18" charset="0"/>
                        </a:rPr>
                        <m:t>= </m:t>
                      </m:r>
                      <m:r>
                        <a:rPr lang="es-EC" b="0" i="1">
                          <a:latin typeface="Cambria Math" panose="02040503050406030204" pitchFamily="18" charset="0"/>
                        </a:rPr>
                        <m:t>1</m:t>
                      </m:r>
                      <m:r>
                        <a:rPr lang="es-EC" b="0" i="0" smtClean="0">
                          <a:latin typeface="Cambria Math" panose="02040503050406030204" pitchFamily="18" charset="0"/>
                        </a:rPr>
                        <m:t>−</m:t>
                      </m:r>
                      <m:r>
                        <m:rPr>
                          <m:sty m:val="p"/>
                        </m:rPr>
                        <a:rPr lang="es-EC" b="0" i="0" smtClean="0">
                          <a:latin typeface="Cambria Math" panose="02040503050406030204" pitchFamily="18" charset="0"/>
                        </a:rPr>
                        <m:t>P</m:t>
                      </m:r>
                      <m:r>
                        <a:rPr lang="es-EC" b="0" i="0" smtClean="0">
                          <a:latin typeface="Cambria Math" panose="02040503050406030204" pitchFamily="18" charset="0"/>
                        </a:rPr>
                        <m:t>(</m:t>
                      </m:r>
                      <m:r>
                        <m:rPr>
                          <m:sty m:val="p"/>
                        </m:rPr>
                        <a:rPr lang="es-EC" b="0" i="0" smtClean="0">
                          <a:latin typeface="Cambria Math" panose="02040503050406030204" pitchFamily="18" charset="0"/>
                        </a:rPr>
                        <m:t>A</m:t>
                      </m:r>
                      <m:r>
                        <a:rPr lang="es-EC" b="0" i="0" smtClean="0">
                          <a:latin typeface="Cambria Math" panose="02040503050406030204" pitchFamily="18" charset="0"/>
                        </a:rPr>
                        <m:t>)</m:t>
                      </m:r>
                    </m:oMath>
                  </m:oMathPara>
                </a14:m>
                <a:endParaRPr lang="es-EC" b="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631110" y="3083076"/>
                <a:ext cx="3177408" cy="461665"/>
              </a:xfrm>
              <a:prstGeom prst="rect">
                <a:avLst/>
              </a:prstGeom>
              <a:blipFill rotWithShape="0">
                <a:blip r:embed="rId3"/>
                <a:stretch>
                  <a:fillRect b="-18667"/>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631110" y="3960240"/>
                <a:ext cx="2641428"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0" smtClean="0">
                          <a:latin typeface="Cambria Math" panose="02040503050406030204" pitchFamily="18" charset="0"/>
                        </a:rPr>
                        <m:t>P</m:t>
                      </m:r>
                      <m:d>
                        <m:dPr>
                          <m:ctrlPr>
                            <a:rPr lang="es-EC" b="0" i="1" smtClean="0">
                              <a:latin typeface="Cambria Math" panose="02040503050406030204" pitchFamily="18" charset="0"/>
                            </a:rPr>
                          </m:ctrlPr>
                        </m:dPr>
                        <m:e>
                          <m:sSub>
                            <m:sSubPr>
                              <m:ctrlPr>
                                <a:rPr lang="es-EC" i="1">
                                  <a:latin typeface="Cambria Math" panose="02040503050406030204" pitchFamily="18" charset="0"/>
                                </a:rPr>
                              </m:ctrlPr>
                            </m:sSubPr>
                            <m:e>
                              <m:r>
                                <a:rPr lang="es-EC" i="1">
                                  <a:latin typeface="Cambria Math" panose="02040503050406030204" pitchFamily="18" charset="0"/>
                                </a:rPr>
                                <m:t>𝑰</m:t>
                              </m:r>
                            </m:e>
                            <m:sub>
                              <m:r>
                                <a:rPr lang="es-EC" i="1">
                                  <a:latin typeface="Cambria Math" panose="02040503050406030204" pitchFamily="18" charset="0"/>
                                </a:rPr>
                                <m:t>𝑨</m:t>
                              </m:r>
                            </m:sub>
                          </m:sSub>
                          <m:r>
                            <a:rPr lang="es-EC" b="0" i="0" smtClean="0">
                              <a:latin typeface="Cambria Math" panose="02040503050406030204" pitchFamily="18" charset="0"/>
                            </a:rPr>
                            <m:t>=</m:t>
                          </m:r>
                          <m:r>
                            <a:rPr lang="es-EC" b="0" i="1" smtClean="0">
                              <a:latin typeface="Cambria Math" panose="02040503050406030204" pitchFamily="18" charset="0"/>
                            </a:rPr>
                            <m:t>1</m:t>
                          </m:r>
                        </m:e>
                      </m:d>
                      <m:r>
                        <a:rPr lang="es-EC" b="0" i="0" smtClean="0">
                          <a:latin typeface="Cambria Math" panose="02040503050406030204" pitchFamily="18" charset="0"/>
                        </a:rPr>
                        <m:t>= </m:t>
                      </m:r>
                      <m:r>
                        <m:rPr>
                          <m:sty m:val="p"/>
                        </m:rPr>
                        <a:rPr lang="es-EC" b="0" i="0" smtClean="0">
                          <a:latin typeface="Cambria Math" panose="02040503050406030204" pitchFamily="18" charset="0"/>
                        </a:rPr>
                        <m:t>P</m:t>
                      </m:r>
                      <m:r>
                        <a:rPr lang="es-EC" b="0" i="0" smtClean="0">
                          <a:latin typeface="Cambria Math" panose="02040503050406030204" pitchFamily="18" charset="0"/>
                        </a:rPr>
                        <m:t>(</m:t>
                      </m:r>
                      <m:r>
                        <m:rPr>
                          <m:sty m:val="p"/>
                        </m:rPr>
                        <a:rPr lang="es-EC" b="0" i="0" smtClean="0">
                          <a:latin typeface="Cambria Math" panose="02040503050406030204" pitchFamily="18" charset="0"/>
                        </a:rPr>
                        <m:t>A</m:t>
                      </m:r>
                      <m:r>
                        <a:rPr lang="es-EC" b="0" i="0" smtClean="0">
                          <a:latin typeface="Cambria Math" panose="02040503050406030204" pitchFamily="18" charset="0"/>
                        </a:rPr>
                        <m:t>)</m:t>
                      </m:r>
                    </m:oMath>
                  </m:oMathPara>
                </a14:m>
                <a:endParaRPr lang="es-EC" b="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631110" y="3960240"/>
                <a:ext cx="2641428" cy="461665"/>
              </a:xfrm>
              <a:prstGeom prst="rect">
                <a:avLst/>
              </a:prstGeom>
              <a:blipFill rotWithShape="0">
                <a:blip r:embed="rId4"/>
                <a:stretch>
                  <a:fillRect r="-231" b="-18667"/>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781119" y="4837404"/>
                <a:ext cx="203369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𝐸</m:t>
                      </m:r>
                      <m:d>
                        <m:dPr>
                          <m:ctrlPr>
                            <a:rPr lang="es-EC" sz="2400" i="1">
                              <a:latin typeface="Cambria Math" panose="02040503050406030204" pitchFamily="18" charset="0"/>
                            </a:rPr>
                          </m:ctrlPr>
                        </m:dPr>
                        <m:e>
                          <m:sSub>
                            <m:sSubPr>
                              <m:ctrlPr>
                                <a:rPr lang="es-EC" sz="2400" b="1" i="1">
                                  <a:latin typeface="Cambria Math" panose="02040503050406030204" pitchFamily="18" charset="0"/>
                                </a:rPr>
                              </m:ctrlPr>
                            </m:sSubPr>
                            <m:e>
                              <m:r>
                                <a:rPr lang="es-EC" sz="2400" b="1" i="1">
                                  <a:latin typeface="Cambria Math" panose="02040503050406030204" pitchFamily="18" charset="0"/>
                                </a:rPr>
                                <m:t>𝑰</m:t>
                              </m:r>
                            </m:e>
                            <m:sub>
                              <m:r>
                                <a:rPr lang="es-EC" sz="2400" b="1" i="1">
                                  <a:latin typeface="Cambria Math" panose="02040503050406030204" pitchFamily="18" charset="0"/>
                                </a:rPr>
                                <m:t>𝑨</m:t>
                              </m:r>
                            </m:sub>
                          </m:sSub>
                        </m:e>
                      </m:d>
                      <m:r>
                        <a:rPr lang="es-EC" sz="2400" b="0" i="1">
                          <a:latin typeface="Cambria Math" panose="02040503050406030204" pitchFamily="18" charset="0"/>
                        </a:rPr>
                        <m:t>=</m:t>
                      </m:r>
                      <m:r>
                        <m:rPr>
                          <m:sty m:val="p"/>
                        </m:rPr>
                        <a:rPr lang="es-EC" sz="2400">
                          <a:latin typeface="Cambria Math" panose="02040503050406030204" pitchFamily="18" charset="0"/>
                        </a:rPr>
                        <m:t>P</m:t>
                      </m:r>
                      <m:r>
                        <a:rPr lang="es-EC" sz="2400">
                          <a:latin typeface="Cambria Math" panose="02040503050406030204" pitchFamily="18" charset="0"/>
                        </a:rPr>
                        <m:t>(</m:t>
                      </m:r>
                      <m:r>
                        <m:rPr>
                          <m:sty m:val="p"/>
                        </m:rPr>
                        <a:rPr lang="es-EC" sz="2400">
                          <a:latin typeface="Cambria Math" panose="02040503050406030204" pitchFamily="18" charset="0"/>
                        </a:rPr>
                        <m:t>A</m:t>
                      </m:r>
                      <m:r>
                        <a:rPr lang="es-EC" sz="2400">
                          <a:latin typeface="Cambria Math" panose="02040503050406030204" pitchFamily="18" charset="0"/>
                        </a:rPr>
                        <m:t>)</m:t>
                      </m:r>
                    </m:oMath>
                  </m:oMathPara>
                </a14:m>
                <a:endParaRPr lang="es-EC" sz="2400" dirty="0"/>
              </a:p>
            </p:txBody>
          </p:sp>
        </mc:Choice>
        <mc:Fallback xmlns="">
          <p:sp>
            <p:nvSpPr>
              <p:cNvPr id="6" name="Rectángulo 5"/>
              <p:cNvSpPr>
                <a:spLocks noRot="1" noChangeAspect="1" noMove="1" noResize="1" noEditPoints="1" noAdjustHandles="1" noChangeArrowheads="1" noChangeShapeType="1" noTextEdit="1"/>
              </p:cNvSpPr>
              <p:nvPr/>
            </p:nvSpPr>
            <p:spPr>
              <a:xfrm>
                <a:off x="781119" y="4837404"/>
                <a:ext cx="2033698" cy="461665"/>
              </a:xfrm>
              <a:prstGeom prst="rect">
                <a:avLst/>
              </a:prstGeom>
              <a:blipFill rotWithShape="0">
                <a:blip r:embed="rId5"/>
                <a:stretch>
                  <a:fillRect r="-299" b="-18667"/>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3624718" y="4837403"/>
                <a:ext cx="34631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𝑉</m:t>
                      </m:r>
                      <m:d>
                        <m:dPr>
                          <m:ctrlPr>
                            <a:rPr lang="es-EC" sz="2400" i="1">
                              <a:latin typeface="Cambria Math" panose="02040503050406030204" pitchFamily="18" charset="0"/>
                            </a:rPr>
                          </m:ctrlPr>
                        </m:dPr>
                        <m:e>
                          <m:sSub>
                            <m:sSubPr>
                              <m:ctrlPr>
                                <a:rPr lang="es-EC" sz="2400" b="1" i="1">
                                  <a:latin typeface="Cambria Math" panose="02040503050406030204" pitchFamily="18" charset="0"/>
                                </a:rPr>
                              </m:ctrlPr>
                            </m:sSubPr>
                            <m:e>
                              <m:r>
                                <a:rPr lang="es-EC" sz="2400" b="1" i="1">
                                  <a:latin typeface="Cambria Math" panose="02040503050406030204" pitchFamily="18" charset="0"/>
                                </a:rPr>
                                <m:t>𝑰</m:t>
                              </m:r>
                            </m:e>
                            <m:sub>
                              <m:r>
                                <a:rPr lang="es-EC" sz="2400" b="1" i="1">
                                  <a:latin typeface="Cambria Math" panose="02040503050406030204" pitchFamily="18" charset="0"/>
                                </a:rPr>
                                <m:t>𝑨</m:t>
                              </m:r>
                            </m:sub>
                          </m:sSub>
                        </m:e>
                      </m:d>
                      <m:r>
                        <a:rPr lang="es-EC" sz="2400" i="1">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𝑃</m:t>
                      </m:r>
                      <m:d>
                        <m:dPr>
                          <m:ctrlPr>
                            <a:rPr lang="es-EC" sz="2400" b="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𝐴</m:t>
                          </m:r>
                        </m:e>
                      </m:d>
                      <m:r>
                        <a:rPr lang="es-EC" sz="2400" b="0" i="1" smtClean="0">
                          <a:latin typeface="Cambria Math" panose="02040503050406030204" pitchFamily="18" charset="0"/>
                          <a:ea typeface="Cambria Math" panose="02040503050406030204" pitchFamily="18" charset="0"/>
                        </a:rPr>
                        <m:t>[1−</m:t>
                      </m:r>
                      <m:r>
                        <a:rPr lang="es-EC" sz="2400" b="0" i="1" smtClean="0">
                          <a:latin typeface="Cambria Math" panose="02040503050406030204" pitchFamily="18" charset="0"/>
                          <a:ea typeface="Cambria Math" panose="02040503050406030204" pitchFamily="18" charset="0"/>
                        </a:rPr>
                        <m:t>𝑃</m:t>
                      </m:r>
                      <m:d>
                        <m:dPr>
                          <m:ctrlPr>
                            <a:rPr lang="es-EC" sz="2400" b="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𝐴</m:t>
                          </m:r>
                        </m:e>
                      </m:d>
                      <m:r>
                        <a:rPr lang="es-EC" sz="2400" b="0" i="1" smtClean="0">
                          <a:latin typeface="Cambria Math" panose="02040503050406030204" pitchFamily="18" charset="0"/>
                          <a:ea typeface="Cambria Math" panose="02040503050406030204" pitchFamily="18" charset="0"/>
                        </a:rPr>
                        <m:t>]</m:t>
                      </m:r>
                    </m:oMath>
                  </m:oMathPara>
                </a14:m>
                <a:endParaRPr lang="es-EC" sz="2400" dirty="0"/>
              </a:p>
            </p:txBody>
          </p:sp>
        </mc:Choice>
        <mc:Fallback xmlns="">
          <p:sp>
            <p:nvSpPr>
              <p:cNvPr id="7" name="Rectángulo 6"/>
              <p:cNvSpPr>
                <a:spLocks noRot="1" noChangeAspect="1" noMove="1" noResize="1" noEditPoints="1" noAdjustHandles="1" noChangeArrowheads="1" noChangeShapeType="1" noTextEdit="1"/>
              </p:cNvSpPr>
              <p:nvPr/>
            </p:nvSpPr>
            <p:spPr>
              <a:xfrm>
                <a:off x="3624718" y="4837403"/>
                <a:ext cx="3463191" cy="461665"/>
              </a:xfrm>
              <a:prstGeom prst="rect">
                <a:avLst/>
              </a:prstGeom>
              <a:blipFill rotWithShape="0">
                <a:blip r:embed="rId6"/>
                <a:stretch>
                  <a:fillRect r="-176" b="-18667"/>
                </a:stretch>
              </a:blipFill>
            </p:spPr>
            <p:txBody>
              <a:bodyPr/>
              <a:lstStyle/>
              <a:p>
                <a:r>
                  <a:rPr lang="es-EC">
                    <a:noFill/>
                  </a:rPr>
                  <a:t> </a:t>
                </a:r>
              </a:p>
            </p:txBody>
          </p:sp>
        </mc:Fallback>
      </mc:AlternateContent>
    </p:spTree>
    <p:extLst>
      <p:ext uri="{BB962C8B-B14F-4D97-AF65-F5344CB8AC3E}">
        <p14:creationId xmlns:p14="http://schemas.microsoft.com/office/powerpoint/2010/main" val="2414264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31110" y="965771"/>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631110" y="1688719"/>
            <a:ext cx="4777013" cy="523220"/>
          </a:xfrm>
          <a:prstGeom prst="rect">
            <a:avLst/>
          </a:prstGeom>
        </p:spPr>
        <p:txBody>
          <a:bodyPr wrap="none">
            <a:spAutoFit/>
          </a:bodyPr>
          <a:lstStyle/>
          <a:p>
            <a:r>
              <a:rPr lang="es-EC" sz="2800" b="1" dirty="0"/>
              <a:t>Distribución Uniforme Discreta</a:t>
            </a:r>
            <a:endParaRPr lang="es-EC" sz="2800" b="1" baseline="60000" dirty="0"/>
          </a:p>
        </p:txBody>
      </p:sp>
      <p:sp>
        <p:nvSpPr>
          <p:cNvPr id="5" name="Rectángulo 4"/>
          <p:cNvSpPr/>
          <p:nvPr/>
        </p:nvSpPr>
        <p:spPr>
          <a:xfrm>
            <a:off x="1084990" y="2349948"/>
            <a:ext cx="9507731" cy="461665"/>
          </a:xfrm>
          <a:prstGeom prst="rect">
            <a:avLst/>
          </a:prstGeom>
        </p:spPr>
        <p:txBody>
          <a:bodyPr wrap="none">
            <a:spAutoFit/>
          </a:bodyPr>
          <a:lstStyle/>
          <a:p>
            <a:r>
              <a:rPr lang="es-EC" sz="2400" b="1" dirty="0"/>
              <a:t>Todos los valores posibles de X tienen la misma probabilidad de ocurrir.</a:t>
            </a:r>
          </a:p>
        </p:txBody>
      </p:sp>
      <p:sp>
        <p:nvSpPr>
          <p:cNvPr id="6" name="Rectángulo 5"/>
          <p:cNvSpPr/>
          <p:nvPr/>
        </p:nvSpPr>
        <p:spPr>
          <a:xfrm>
            <a:off x="1084990" y="3119389"/>
            <a:ext cx="1494896" cy="400110"/>
          </a:xfrm>
          <a:prstGeom prst="rect">
            <a:avLst/>
          </a:prstGeom>
        </p:spPr>
        <p:txBody>
          <a:bodyPr wrap="none">
            <a:spAutoFit/>
          </a:bodyPr>
          <a:lstStyle/>
          <a:p>
            <a:r>
              <a:rPr lang="es-EC" sz="2000" b="1" dirty="0"/>
              <a:t>Valores de X</a:t>
            </a:r>
            <a:endParaRPr lang="es-EC" sz="2000" dirty="0"/>
          </a:p>
        </p:txBody>
      </p:sp>
      <mc:AlternateContent xmlns:mc="http://schemas.openxmlformats.org/markup-compatibility/2006" xmlns:a14="http://schemas.microsoft.com/office/drawing/2010/main">
        <mc:Choice Requires="a14">
          <p:sp>
            <p:nvSpPr>
              <p:cNvPr id="7" name="CuadroTexto 6"/>
              <p:cNvSpPr txBox="1"/>
              <p:nvPr/>
            </p:nvSpPr>
            <p:spPr>
              <a:xfrm>
                <a:off x="4094480" y="3072896"/>
                <a:ext cx="284911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𝑋</m:t>
                      </m:r>
                      <m:r>
                        <a:rPr lang="es-EC" sz="2800" b="0" i="1" smtClean="0">
                          <a:latin typeface="Cambria Math" panose="02040503050406030204" pitchFamily="18" charset="0"/>
                        </a:rPr>
                        <m:t>: </m:t>
                      </m:r>
                      <m:sSub>
                        <m:sSubPr>
                          <m:ctrlPr>
                            <a:rPr lang="es-EC" sz="2800" i="1" smtClean="0">
                              <a:latin typeface="Cambria Math" panose="02040503050406030204" pitchFamily="18" charset="0"/>
                            </a:rPr>
                          </m:ctrlPr>
                        </m:sSubPr>
                        <m:e>
                          <m:r>
                            <a:rPr lang="es-EC" sz="2800" b="0" i="1" smtClean="0">
                              <a:latin typeface="Cambria Math" panose="02040503050406030204" pitchFamily="18" charset="0"/>
                            </a:rPr>
                            <m:t>𝑥</m:t>
                          </m:r>
                        </m:e>
                        <m:sub>
                          <m:r>
                            <a:rPr lang="es-EC" sz="2800" b="0" i="1" smtClean="0">
                              <a:latin typeface="Cambria Math" panose="02040503050406030204" pitchFamily="18" charset="0"/>
                            </a:rPr>
                            <m:t>1</m:t>
                          </m:r>
                        </m:sub>
                      </m:sSub>
                      <m:r>
                        <a:rPr lang="es-EC" sz="2800" b="0" i="1" smtClean="0">
                          <a:latin typeface="Cambria Math" panose="02040503050406030204" pitchFamily="18" charset="0"/>
                        </a:rPr>
                        <m:t>,</m:t>
                      </m:r>
                      <m:sSub>
                        <m:sSubPr>
                          <m:ctrlPr>
                            <a:rPr lang="es-EC" sz="2800" i="1">
                              <a:latin typeface="Cambria Math" panose="02040503050406030204" pitchFamily="18" charset="0"/>
                            </a:rPr>
                          </m:ctrlPr>
                        </m:sSubPr>
                        <m:e>
                          <m:r>
                            <a:rPr lang="es-EC" sz="2800" b="0" i="1">
                              <a:latin typeface="Cambria Math" panose="02040503050406030204" pitchFamily="18" charset="0"/>
                            </a:rPr>
                            <m:t>𝑥</m:t>
                          </m:r>
                        </m:e>
                        <m:sub>
                          <m:r>
                            <a:rPr lang="es-EC" sz="2800" b="0" i="1" smtClean="0">
                              <a:latin typeface="Cambria Math" panose="02040503050406030204" pitchFamily="18" charset="0"/>
                            </a:rPr>
                            <m:t>2</m:t>
                          </m:r>
                        </m:sub>
                      </m:sSub>
                      <m:r>
                        <a:rPr lang="es-EC" sz="2800" b="0" i="1" smtClean="0">
                          <a:latin typeface="Cambria Math" panose="02040503050406030204" pitchFamily="18" charset="0"/>
                        </a:rPr>
                        <m:t>,</m:t>
                      </m:r>
                      <m:sSub>
                        <m:sSubPr>
                          <m:ctrlPr>
                            <a:rPr lang="es-EC" sz="2800" i="1">
                              <a:latin typeface="Cambria Math" panose="02040503050406030204" pitchFamily="18" charset="0"/>
                            </a:rPr>
                          </m:ctrlPr>
                        </m:sSubPr>
                        <m:e>
                          <m:r>
                            <a:rPr lang="es-EC" sz="2800" b="0" i="1">
                              <a:latin typeface="Cambria Math" panose="02040503050406030204" pitchFamily="18" charset="0"/>
                            </a:rPr>
                            <m:t>𝑥</m:t>
                          </m:r>
                        </m:e>
                        <m:sub>
                          <m:r>
                            <a:rPr lang="es-EC" sz="2800" b="0" i="1" smtClean="0">
                              <a:latin typeface="Cambria Math" panose="02040503050406030204" pitchFamily="18" charset="0"/>
                            </a:rPr>
                            <m:t>3</m:t>
                          </m:r>
                        </m:sub>
                      </m:sSub>
                      <m:r>
                        <a:rPr lang="es-EC" sz="2800" b="0" i="1" smtClean="0">
                          <a:latin typeface="Cambria Math" panose="02040503050406030204" pitchFamily="18" charset="0"/>
                        </a:rPr>
                        <m:t>,…,</m:t>
                      </m:r>
                      <m:sSub>
                        <m:sSubPr>
                          <m:ctrlPr>
                            <a:rPr lang="es-EC" sz="2800" i="1">
                              <a:latin typeface="Cambria Math" panose="02040503050406030204" pitchFamily="18" charset="0"/>
                            </a:rPr>
                          </m:ctrlPr>
                        </m:sSubPr>
                        <m:e>
                          <m:r>
                            <a:rPr lang="es-EC" sz="2800" b="0" i="1">
                              <a:latin typeface="Cambria Math" panose="02040503050406030204" pitchFamily="18" charset="0"/>
                            </a:rPr>
                            <m:t>𝑥</m:t>
                          </m:r>
                        </m:e>
                        <m:sub>
                          <m:r>
                            <a:rPr lang="es-EC" sz="2800" b="0" i="1" smtClean="0">
                              <a:latin typeface="Cambria Math" panose="02040503050406030204" pitchFamily="18" charset="0"/>
                            </a:rPr>
                            <m:t>𝑛</m:t>
                          </m:r>
                        </m:sub>
                      </m:sSub>
                    </m:oMath>
                  </m:oMathPara>
                </a14:m>
                <a:endParaRPr lang="es-EC" sz="2800" i="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094480" y="3072896"/>
                <a:ext cx="2849113" cy="430887"/>
              </a:xfrm>
              <a:prstGeom prst="rect">
                <a:avLst/>
              </a:prstGeom>
              <a:blipFill rotWithShape="0">
                <a:blip r:embed="rId2"/>
                <a:stretch>
                  <a:fillRect/>
                </a:stretch>
              </a:blipFill>
            </p:spPr>
            <p:txBody>
              <a:bodyPr/>
              <a:lstStyle/>
              <a:p>
                <a:r>
                  <a:rPr lang="es-EC">
                    <a:noFill/>
                  </a:rPr>
                  <a:t> </a:t>
                </a:r>
              </a:p>
            </p:txBody>
          </p:sp>
        </mc:Fallback>
      </mc:AlternateContent>
      <p:sp>
        <p:nvSpPr>
          <p:cNvPr id="8" name="Rectángulo 7"/>
          <p:cNvSpPr/>
          <p:nvPr/>
        </p:nvSpPr>
        <p:spPr>
          <a:xfrm>
            <a:off x="1084990" y="3995245"/>
            <a:ext cx="2863284" cy="400110"/>
          </a:xfrm>
          <a:prstGeom prst="rect">
            <a:avLst/>
          </a:prstGeom>
        </p:spPr>
        <p:txBody>
          <a:bodyPr wrap="none">
            <a:spAutoFit/>
          </a:bodyPr>
          <a:lstStyle/>
          <a:p>
            <a:r>
              <a:rPr lang="es-EC" sz="2000" b="1" dirty="0"/>
              <a:t>Función de probabilidad</a:t>
            </a:r>
            <a:endParaRPr lang="es-EC" sz="2000" dirty="0"/>
          </a:p>
        </p:txBody>
      </p:sp>
      <mc:AlternateContent xmlns:mc="http://schemas.openxmlformats.org/markup-compatibility/2006" xmlns:a14="http://schemas.microsoft.com/office/drawing/2010/main">
        <mc:Choice Requires="a14">
          <p:sp>
            <p:nvSpPr>
              <p:cNvPr id="9" name="CuadroTexto 8"/>
              <p:cNvSpPr txBox="1"/>
              <p:nvPr/>
            </p:nvSpPr>
            <p:spPr>
              <a:xfrm>
                <a:off x="3442682" y="3765066"/>
                <a:ext cx="4792345"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𝑃</m:t>
                      </m:r>
                      <m:d>
                        <m:dPr>
                          <m:ctrlPr>
                            <a:rPr lang="es-EC" sz="2800" i="1">
                              <a:latin typeface="Cambria Math" panose="02040503050406030204" pitchFamily="18" charset="0"/>
                            </a:rPr>
                          </m:ctrlPr>
                        </m:dPr>
                        <m:e>
                          <m:r>
                            <a:rPr lang="es-EC" sz="2800" b="0" i="1">
                              <a:latin typeface="Cambria Math" panose="02040503050406030204" pitchFamily="18" charset="0"/>
                            </a:rPr>
                            <m:t>𝑋</m:t>
                          </m:r>
                          <m:r>
                            <a:rPr lang="es-EC" sz="2800" b="0">
                              <a:latin typeface="Cambria Math" panose="02040503050406030204" pitchFamily="18" charset="0"/>
                            </a:rPr>
                            <m:t>=</m:t>
                          </m:r>
                          <m:r>
                            <a:rPr lang="es-EC" sz="2800" b="0" i="1">
                              <a:latin typeface="Cambria Math" panose="02040503050406030204" pitchFamily="18" charset="0"/>
                            </a:rPr>
                            <m:t>𝑥</m:t>
                          </m:r>
                        </m:e>
                      </m:d>
                      <m:r>
                        <a:rPr lang="es-EC" sz="2800" b="0">
                          <a:latin typeface="Cambria Math" panose="02040503050406030204" pitchFamily="18" charset="0"/>
                        </a:rPr>
                        <m:t>=</m:t>
                      </m:r>
                      <m:r>
                        <a:rPr lang="es-EC" sz="2800" b="0" i="1">
                          <a:latin typeface="Cambria Math" panose="02040503050406030204" pitchFamily="18" charset="0"/>
                        </a:rPr>
                        <m:t>𝑓</m:t>
                      </m:r>
                      <m:d>
                        <m:dPr>
                          <m:ctrlPr>
                            <a:rPr lang="es-EC" sz="2800" i="1">
                              <a:latin typeface="Cambria Math" panose="02040503050406030204" pitchFamily="18" charset="0"/>
                            </a:rPr>
                          </m:ctrlPr>
                        </m:dPr>
                        <m:e>
                          <m:r>
                            <a:rPr lang="es-EC" sz="2800" b="0" i="1">
                              <a:latin typeface="Cambria Math" panose="02040503050406030204" pitchFamily="18" charset="0"/>
                            </a:rPr>
                            <m:t>𝑥</m:t>
                          </m:r>
                        </m:e>
                      </m:d>
                      <m:r>
                        <a:rPr lang="es-EC" sz="2800" b="0" i="0" smtClean="0">
                          <a:latin typeface="Cambria Math" panose="02040503050406030204" pitchFamily="18" charset="0"/>
                        </a:rPr>
                        <m:t>=</m:t>
                      </m:r>
                      <m:f>
                        <m:fPr>
                          <m:ctrlPr>
                            <a:rPr lang="es-EC" sz="2800" i="1" smtClean="0">
                              <a:latin typeface="Cambria Math" panose="02040503050406030204" pitchFamily="18" charset="0"/>
                            </a:rPr>
                          </m:ctrlPr>
                        </m:fPr>
                        <m:num>
                          <m:r>
                            <a:rPr lang="es-EC" sz="2800" b="0" i="1" smtClean="0">
                              <a:latin typeface="Cambria Math" panose="02040503050406030204" pitchFamily="18" charset="0"/>
                            </a:rPr>
                            <m:t>1</m:t>
                          </m:r>
                        </m:num>
                        <m:den>
                          <m:r>
                            <a:rPr lang="es-EC" sz="2800" b="0" i="1" smtClean="0">
                              <a:latin typeface="Cambria Math" panose="02040503050406030204" pitchFamily="18" charset="0"/>
                            </a:rPr>
                            <m:t>𝑛</m:t>
                          </m:r>
                        </m:den>
                      </m:f>
                    </m:oMath>
                  </m:oMathPara>
                </a14:m>
                <a:endParaRPr lang="es-EC" sz="2800" dirty="0">
                  <a:latin typeface="Papyrus" panose="03070502060502030205" pitchFamily="66" charset="0"/>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3442682" y="3765066"/>
                <a:ext cx="4792345" cy="806631"/>
              </a:xfrm>
              <a:prstGeom prst="rect">
                <a:avLst/>
              </a:prstGeom>
              <a:blipFill rotWithShape="0">
                <a:blip r:embed="rId3"/>
                <a:stretch>
                  <a:fillRect/>
                </a:stretch>
              </a:blipFill>
            </p:spPr>
            <p:txBody>
              <a:bodyPr/>
              <a:lstStyle/>
              <a:p>
                <a:r>
                  <a:rPr lang="es-EC">
                    <a:noFill/>
                  </a:rPr>
                  <a:t> </a:t>
                </a:r>
              </a:p>
            </p:txBody>
          </p:sp>
        </mc:Fallback>
      </mc:AlternateContent>
      <p:sp>
        <p:nvSpPr>
          <p:cNvPr id="10" name="Rectángulo 9"/>
          <p:cNvSpPr/>
          <p:nvPr/>
        </p:nvSpPr>
        <p:spPr>
          <a:xfrm>
            <a:off x="1084990" y="4847388"/>
            <a:ext cx="1321196" cy="400110"/>
          </a:xfrm>
          <a:prstGeom prst="rect">
            <a:avLst/>
          </a:prstGeom>
        </p:spPr>
        <p:txBody>
          <a:bodyPr wrap="none">
            <a:spAutoFit/>
          </a:bodyPr>
          <a:lstStyle/>
          <a:p>
            <a:r>
              <a:rPr lang="es-EC" sz="2000" b="1" dirty="0"/>
              <a:t>Parámetro</a:t>
            </a:r>
            <a:endParaRPr lang="es-EC" sz="2000" dirty="0"/>
          </a:p>
        </p:txBody>
      </p:sp>
      <mc:AlternateContent xmlns:mc="http://schemas.openxmlformats.org/markup-compatibility/2006" xmlns:a14="http://schemas.microsoft.com/office/drawing/2010/main">
        <mc:Choice Requires="a14">
          <p:sp>
            <p:nvSpPr>
              <p:cNvPr id="11" name="Rectángulo 10"/>
              <p:cNvSpPr/>
              <p:nvPr/>
            </p:nvSpPr>
            <p:spPr>
              <a:xfrm>
                <a:off x="4294463" y="4766437"/>
                <a:ext cx="47936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a:latin typeface="Cambria Math" panose="02040503050406030204" pitchFamily="18" charset="0"/>
                        </a:rPr>
                        <m:t>𝑛</m:t>
                      </m:r>
                    </m:oMath>
                  </m:oMathPara>
                </a14:m>
                <a:endParaRPr lang="es-EC" sz="2800" dirty="0"/>
              </a:p>
            </p:txBody>
          </p:sp>
        </mc:Choice>
        <mc:Fallback xmlns="">
          <p:sp>
            <p:nvSpPr>
              <p:cNvPr id="11" name="Rectángulo 10"/>
              <p:cNvSpPr>
                <a:spLocks noRot="1" noChangeAspect="1" noMove="1" noResize="1" noEditPoints="1" noAdjustHandles="1" noChangeArrowheads="1" noChangeShapeType="1" noTextEdit="1"/>
              </p:cNvSpPr>
              <p:nvPr/>
            </p:nvSpPr>
            <p:spPr>
              <a:xfrm>
                <a:off x="4294463" y="4766437"/>
                <a:ext cx="479362" cy="523220"/>
              </a:xfrm>
              <a:prstGeom prst="rect">
                <a:avLst/>
              </a:prstGeom>
              <a:blipFill rotWithShape="0">
                <a:blip r:embed="rId4"/>
                <a:stretch>
                  <a:fillRect/>
                </a:stretch>
              </a:blipFill>
            </p:spPr>
            <p:txBody>
              <a:bodyPr/>
              <a:lstStyle/>
              <a:p>
                <a:r>
                  <a:rPr lang="es-EC">
                    <a:noFill/>
                  </a:rPr>
                  <a:t> </a:t>
                </a:r>
              </a:p>
            </p:txBody>
          </p:sp>
        </mc:Fallback>
      </mc:AlternateContent>
      <p:sp>
        <p:nvSpPr>
          <p:cNvPr id="12" name="Rectángulo 11"/>
          <p:cNvSpPr/>
          <p:nvPr/>
        </p:nvSpPr>
        <p:spPr>
          <a:xfrm>
            <a:off x="1084990" y="5699531"/>
            <a:ext cx="865943" cy="400110"/>
          </a:xfrm>
          <a:prstGeom prst="rect">
            <a:avLst/>
          </a:prstGeom>
        </p:spPr>
        <p:txBody>
          <a:bodyPr wrap="none">
            <a:spAutoFit/>
          </a:bodyPr>
          <a:lstStyle/>
          <a:p>
            <a:r>
              <a:rPr lang="es-EC" sz="2000" b="1" dirty="0"/>
              <a:t>Media</a:t>
            </a:r>
            <a:endParaRPr lang="es-EC" sz="2000" dirty="0"/>
          </a:p>
        </p:txBody>
      </p:sp>
      <p:sp>
        <p:nvSpPr>
          <p:cNvPr id="13" name="Rectángulo 12"/>
          <p:cNvSpPr/>
          <p:nvPr/>
        </p:nvSpPr>
        <p:spPr>
          <a:xfrm>
            <a:off x="6159267" y="5699531"/>
            <a:ext cx="1093761" cy="400110"/>
          </a:xfrm>
          <a:prstGeom prst="rect">
            <a:avLst/>
          </a:prstGeom>
        </p:spPr>
        <p:txBody>
          <a:bodyPr wrap="none">
            <a:spAutoFit/>
          </a:bodyPr>
          <a:lstStyle/>
          <a:p>
            <a:r>
              <a:rPr lang="es-EC" sz="2000" b="1" dirty="0"/>
              <a:t>Varianza</a:t>
            </a:r>
            <a:endParaRPr lang="es-EC" sz="2000" dirty="0"/>
          </a:p>
        </p:txBody>
      </p:sp>
      <mc:AlternateContent xmlns:mc="http://schemas.openxmlformats.org/markup-compatibility/2006" xmlns:a14="http://schemas.microsoft.com/office/drawing/2010/main">
        <mc:Choice Requires="a14">
          <p:sp>
            <p:nvSpPr>
              <p:cNvPr id="14" name="Rectángulo 13"/>
              <p:cNvSpPr/>
              <p:nvPr/>
            </p:nvSpPr>
            <p:spPr>
              <a:xfrm>
                <a:off x="2410737" y="5483190"/>
                <a:ext cx="2494465"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𝐸</m:t>
                      </m:r>
                      <m:d>
                        <m:dPr>
                          <m:ctrlPr>
                            <a:rPr lang="es-EC" sz="2800" i="1">
                              <a:latin typeface="Cambria Math" panose="02040503050406030204" pitchFamily="18" charset="0"/>
                            </a:rPr>
                          </m:ctrlPr>
                        </m:dPr>
                        <m:e>
                          <m:r>
                            <a:rPr lang="es-EC" sz="2800" b="0" i="1">
                              <a:latin typeface="Cambria Math" panose="02040503050406030204" pitchFamily="18" charset="0"/>
                            </a:rPr>
                            <m:t>𝑋</m:t>
                          </m:r>
                        </m:e>
                      </m:d>
                      <m:r>
                        <a:rPr lang="es-EC" sz="2800" b="0" i="1">
                          <a:latin typeface="Cambria Math" panose="02040503050406030204" pitchFamily="18" charset="0"/>
                        </a:rPr>
                        <m:t>=</m:t>
                      </m:r>
                      <m:f>
                        <m:fPr>
                          <m:ctrlPr>
                            <a:rPr lang="es-EC" sz="2800" i="1" smtClean="0">
                              <a:latin typeface="Cambria Math" panose="02040503050406030204" pitchFamily="18" charset="0"/>
                            </a:rPr>
                          </m:ctrlPr>
                        </m:fPr>
                        <m:num>
                          <m:r>
                            <a:rPr lang="es-EC" sz="2800" b="0" i="1" smtClean="0">
                              <a:latin typeface="Cambria Math" panose="02040503050406030204" pitchFamily="18" charset="0"/>
                            </a:rPr>
                            <m:t>𝑛</m:t>
                          </m:r>
                          <m:r>
                            <a:rPr lang="es-EC" sz="2800" b="0" i="1" smtClean="0">
                              <a:latin typeface="Cambria Math" panose="02040503050406030204" pitchFamily="18" charset="0"/>
                            </a:rPr>
                            <m:t>+1</m:t>
                          </m:r>
                        </m:num>
                        <m:den>
                          <m:r>
                            <a:rPr lang="es-EC" sz="2800" b="0" i="1" smtClean="0">
                              <a:latin typeface="Cambria Math" panose="02040503050406030204" pitchFamily="18" charset="0"/>
                            </a:rPr>
                            <m:t>2</m:t>
                          </m:r>
                        </m:den>
                      </m:f>
                      <m:r>
                        <a:rPr lang="es-EC" sz="2800" b="0" i="1" smtClean="0">
                          <a:latin typeface="Cambria Math" panose="02040503050406030204" pitchFamily="18" charset="0"/>
                        </a:rPr>
                        <m:t> </m:t>
                      </m:r>
                    </m:oMath>
                  </m:oMathPara>
                </a14:m>
                <a:endParaRPr lang="es-EC" sz="2800" dirty="0"/>
              </a:p>
            </p:txBody>
          </p:sp>
        </mc:Choice>
        <mc:Fallback xmlns="">
          <p:sp>
            <p:nvSpPr>
              <p:cNvPr id="14" name="Rectángulo 13"/>
              <p:cNvSpPr>
                <a:spLocks noRot="1" noChangeAspect="1" noMove="1" noResize="1" noEditPoints="1" noAdjustHandles="1" noChangeArrowheads="1" noChangeShapeType="1" noTextEdit="1"/>
              </p:cNvSpPr>
              <p:nvPr/>
            </p:nvSpPr>
            <p:spPr>
              <a:xfrm>
                <a:off x="2410737" y="5483190"/>
                <a:ext cx="2494465" cy="898964"/>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5" name="Rectángulo 14"/>
              <p:cNvSpPr/>
              <p:nvPr/>
            </p:nvSpPr>
            <p:spPr>
              <a:xfrm>
                <a:off x="7578049" y="5417018"/>
                <a:ext cx="2663230" cy="965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𝑉</m:t>
                      </m:r>
                      <m:d>
                        <m:dPr>
                          <m:ctrlPr>
                            <a:rPr lang="es-EC" sz="2800" i="1">
                              <a:latin typeface="Cambria Math" panose="02040503050406030204" pitchFamily="18" charset="0"/>
                            </a:rPr>
                          </m:ctrlPr>
                        </m:dPr>
                        <m:e>
                          <m:r>
                            <a:rPr lang="es-EC" sz="2800" b="0" i="1">
                              <a:latin typeface="Cambria Math" panose="02040503050406030204" pitchFamily="18" charset="0"/>
                            </a:rPr>
                            <m:t>𝑋</m:t>
                          </m:r>
                        </m:e>
                      </m:d>
                      <m:r>
                        <a:rPr lang="es-EC" sz="2800" b="0" i="1">
                          <a:latin typeface="Cambria Math" panose="02040503050406030204" pitchFamily="18" charset="0"/>
                        </a:rPr>
                        <m:t>=</m:t>
                      </m:r>
                      <m:f>
                        <m:fPr>
                          <m:ctrlPr>
                            <a:rPr lang="es-EC" sz="2800" i="1" smtClean="0">
                              <a:latin typeface="Cambria Math" panose="02040503050406030204" pitchFamily="18" charset="0"/>
                            </a:rPr>
                          </m:ctrlPr>
                        </m:fPr>
                        <m:num>
                          <m:sSup>
                            <m:sSupPr>
                              <m:ctrlPr>
                                <a:rPr lang="es-EC" sz="2800" i="1" smtClean="0">
                                  <a:latin typeface="Cambria Math" panose="02040503050406030204" pitchFamily="18" charset="0"/>
                                </a:rPr>
                              </m:ctrlPr>
                            </m:sSupPr>
                            <m:e>
                              <m:r>
                                <a:rPr lang="es-EC" sz="2800" b="0" i="1" smtClean="0">
                                  <a:latin typeface="Cambria Math" panose="02040503050406030204" pitchFamily="18" charset="0"/>
                                </a:rPr>
                                <m:t>𝑛</m:t>
                              </m:r>
                            </m:e>
                            <m:sup>
                              <m:r>
                                <a:rPr lang="es-EC" sz="2800" b="0" i="1" smtClean="0">
                                  <a:latin typeface="Cambria Math" panose="02040503050406030204" pitchFamily="18" charset="0"/>
                                </a:rPr>
                                <m:t>2</m:t>
                              </m:r>
                            </m:sup>
                          </m:sSup>
                          <m:r>
                            <a:rPr lang="es-EC" sz="2800" b="0" i="1" smtClean="0">
                              <a:latin typeface="Cambria Math" panose="02040503050406030204" pitchFamily="18" charset="0"/>
                            </a:rPr>
                            <m:t>−1</m:t>
                          </m:r>
                        </m:num>
                        <m:den>
                          <m:r>
                            <a:rPr lang="es-EC" sz="2800" b="0" i="1" smtClean="0">
                              <a:latin typeface="Cambria Math" panose="02040503050406030204" pitchFamily="18" charset="0"/>
                            </a:rPr>
                            <m:t>12</m:t>
                          </m:r>
                        </m:den>
                      </m:f>
                      <m:r>
                        <a:rPr lang="es-EC" sz="2800" b="0" i="1" smtClean="0">
                          <a:latin typeface="Cambria Math" panose="02040503050406030204" pitchFamily="18" charset="0"/>
                        </a:rPr>
                        <m:t> </m:t>
                      </m:r>
                    </m:oMath>
                  </m:oMathPara>
                </a14:m>
                <a:endParaRPr lang="es-EC" sz="2800" dirty="0"/>
              </a:p>
            </p:txBody>
          </p:sp>
        </mc:Choice>
        <mc:Fallback xmlns="">
          <p:sp>
            <p:nvSpPr>
              <p:cNvPr id="15" name="Rectángulo 14"/>
              <p:cNvSpPr>
                <a:spLocks noRot="1" noChangeAspect="1" noMove="1" noResize="1" noEditPoints="1" noAdjustHandles="1" noChangeArrowheads="1" noChangeShapeType="1" noTextEdit="1"/>
              </p:cNvSpPr>
              <p:nvPr/>
            </p:nvSpPr>
            <p:spPr>
              <a:xfrm>
                <a:off x="7578049" y="5417018"/>
                <a:ext cx="2663230" cy="965136"/>
              </a:xfrm>
              <a:prstGeom prst="rect">
                <a:avLst/>
              </a:prstGeom>
              <a:blipFill rotWithShape="0">
                <a:blip r:embed="rId6"/>
                <a:stretch>
                  <a:fillRect/>
                </a:stretch>
              </a:blipFill>
            </p:spPr>
            <p:txBody>
              <a:bodyPr/>
              <a:lstStyle/>
              <a:p>
                <a:r>
                  <a:rPr lang="es-EC">
                    <a:noFill/>
                  </a:rPr>
                  <a:t> </a:t>
                </a:r>
              </a:p>
            </p:txBody>
          </p:sp>
        </mc:Fallback>
      </mc:AlternateContent>
      <p:sp>
        <p:nvSpPr>
          <p:cNvPr id="16" name="CuadroTexto 15"/>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2724621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44045" y="1054845"/>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644045" y="1718967"/>
            <a:ext cx="5151923" cy="523220"/>
          </a:xfrm>
          <a:prstGeom prst="rect">
            <a:avLst/>
          </a:prstGeom>
        </p:spPr>
        <p:txBody>
          <a:bodyPr wrap="none">
            <a:spAutoFit/>
          </a:bodyPr>
          <a:lstStyle/>
          <a:p>
            <a:r>
              <a:rPr lang="es-EC" sz="2800" b="1" dirty="0"/>
              <a:t>Experimento Binomial (Bernoulli)</a:t>
            </a:r>
            <a:endParaRPr lang="es-EC" sz="2800" b="1" baseline="60000" dirty="0"/>
          </a:p>
        </p:txBody>
      </p:sp>
      <p:sp>
        <p:nvSpPr>
          <p:cNvPr id="16" name="CuadroTexto 15"/>
          <p:cNvSpPr txBox="1"/>
          <p:nvPr/>
        </p:nvSpPr>
        <p:spPr>
          <a:xfrm>
            <a:off x="644045" y="2598848"/>
            <a:ext cx="9286875" cy="3046988"/>
          </a:xfrm>
          <a:prstGeom prst="rect">
            <a:avLst/>
          </a:prstGeom>
          <a:noFill/>
        </p:spPr>
        <p:txBody>
          <a:bodyPr wrap="square" rtlCol="0">
            <a:spAutoFit/>
          </a:bodyPr>
          <a:lstStyle/>
          <a:p>
            <a:pPr algn="just"/>
            <a:r>
              <a:rPr lang="es-EC" sz="2400" dirty="0"/>
              <a:t>1.- Se definen n repeticiones de un experimento.</a:t>
            </a:r>
          </a:p>
          <a:p>
            <a:pPr algn="just"/>
            <a:endParaRPr lang="es-EC" sz="2400" dirty="0"/>
          </a:p>
          <a:p>
            <a:pPr algn="just"/>
            <a:r>
              <a:rPr lang="es-EC" sz="2400" dirty="0"/>
              <a:t>2.- El experimento tiene dos posibles resultados; éxito o fracaso</a:t>
            </a:r>
          </a:p>
          <a:p>
            <a:pPr algn="just"/>
            <a:endParaRPr lang="es-EC" sz="2400" dirty="0"/>
          </a:p>
          <a:p>
            <a:pPr algn="just"/>
            <a:r>
              <a:rPr lang="es-EC" sz="2400" dirty="0"/>
              <a:t>3.- La probabilidad éxito (p) se mantiene para cada repetición, al igual que la de fracaso (1-p)</a:t>
            </a:r>
          </a:p>
          <a:p>
            <a:pPr algn="just"/>
            <a:endParaRPr lang="es-EC" sz="2400" dirty="0"/>
          </a:p>
          <a:p>
            <a:pPr algn="just"/>
            <a:r>
              <a:rPr lang="es-EC" sz="2400" dirty="0"/>
              <a:t>4.- Toda repetición es independiente de las demás</a:t>
            </a:r>
          </a:p>
        </p:txBody>
      </p:sp>
      <p:sp>
        <p:nvSpPr>
          <p:cNvPr id="7" name="CuadroTexto 6"/>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1615210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44045" y="1054845"/>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644045" y="1718967"/>
            <a:ext cx="3534109" cy="523220"/>
          </a:xfrm>
          <a:prstGeom prst="rect">
            <a:avLst/>
          </a:prstGeom>
        </p:spPr>
        <p:txBody>
          <a:bodyPr wrap="none">
            <a:spAutoFit/>
          </a:bodyPr>
          <a:lstStyle/>
          <a:p>
            <a:r>
              <a:rPr lang="es-EC" sz="2800" b="1" dirty="0"/>
              <a:t>Distribución Bernoulli</a:t>
            </a:r>
            <a:endParaRPr lang="es-EC" sz="2800" b="1" baseline="60000" dirty="0"/>
          </a:p>
        </p:txBody>
      </p:sp>
      <p:sp>
        <p:nvSpPr>
          <p:cNvPr id="5" name="Rectángulo 4"/>
          <p:cNvSpPr/>
          <p:nvPr/>
        </p:nvSpPr>
        <p:spPr>
          <a:xfrm>
            <a:off x="644045" y="2383089"/>
            <a:ext cx="2820965" cy="461665"/>
          </a:xfrm>
          <a:prstGeom prst="rect">
            <a:avLst/>
          </a:prstGeom>
        </p:spPr>
        <p:txBody>
          <a:bodyPr wrap="none">
            <a:spAutoFit/>
          </a:bodyPr>
          <a:lstStyle/>
          <a:p>
            <a:r>
              <a:rPr lang="es-EC" sz="2400" dirty="0"/>
              <a:t>Éxito (1) o fracaso (0)</a:t>
            </a:r>
          </a:p>
        </p:txBody>
      </p:sp>
      <p:sp>
        <p:nvSpPr>
          <p:cNvPr id="6" name="Rectángulo 5"/>
          <p:cNvSpPr/>
          <p:nvPr/>
        </p:nvSpPr>
        <p:spPr>
          <a:xfrm>
            <a:off x="644045" y="2985656"/>
            <a:ext cx="1755994" cy="461665"/>
          </a:xfrm>
          <a:prstGeom prst="rect">
            <a:avLst/>
          </a:prstGeom>
        </p:spPr>
        <p:txBody>
          <a:bodyPr wrap="square">
            <a:spAutoFit/>
          </a:bodyPr>
          <a:lstStyle/>
          <a:p>
            <a:r>
              <a:rPr lang="es-EC" sz="2400" b="1" dirty="0"/>
              <a:t>Valores de X</a:t>
            </a:r>
            <a:endParaRPr lang="es-EC" sz="2400" dirty="0"/>
          </a:p>
        </p:txBody>
      </p:sp>
      <p:sp>
        <p:nvSpPr>
          <p:cNvPr id="7" name="Rectángulo 6"/>
          <p:cNvSpPr/>
          <p:nvPr/>
        </p:nvSpPr>
        <p:spPr>
          <a:xfrm>
            <a:off x="644045" y="3861512"/>
            <a:ext cx="3274679" cy="461665"/>
          </a:xfrm>
          <a:prstGeom prst="rect">
            <a:avLst/>
          </a:prstGeom>
        </p:spPr>
        <p:txBody>
          <a:bodyPr wrap="square">
            <a:spAutoFit/>
          </a:bodyPr>
          <a:lstStyle/>
          <a:p>
            <a:r>
              <a:rPr lang="es-EC" sz="2400" b="1" dirty="0"/>
              <a:t>Función de probabilidad</a:t>
            </a:r>
          </a:p>
        </p:txBody>
      </p:sp>
      <p:sp>
        <p:nvSpPr>
          <p:cNvPr id="8" name="Rectángulo 7"/>
          <p:cNvSpPr/>
          <p:nvPr/>
        </p:nvSpPr>
        <p:spPr>
          <a:xfrm>
            <a:off x="644045" y="4713655"/>
            <a:ext cx="1653594" cy="461665"/>
          </a:xfrm>
          <a:prstGeom prst="rect">
            <a:avLst/>
          </a:prstGeom>
        </p:spPr>
        <p:txBody>
          <a:bodyPr wrap="square">
            <a:spAutoFit/>
          </a:bodyPr>
          <a:lstStyle/>
          <a:p>
            <a:r>
              <a:rPr lang="es-EC" sz="2400" b="1" dirty="0"/>
              <a:t>Parámetros</a:t>
            </a:r>
          </a:p>
        </p:txBody>
      </p:sp>
      <p:sp>
        <p:nvSpPr>
          <p:cNvPr id="9" name="Rectángulo 8"/>
          <p:cNvSpPr/>
          <p:nvPr/>
        </p:nvSpPr>
        <p:spPr>
          <a:xfrm>
            <a:off x="644045" y="5565798"/>
            <a:ext cx="1002197" cy="461665"/>
          </a:xfrm>
          <a:prstGeom prst="rect">
            <a:avLst/>
          </a:prstGeom>
        </p:spPr>
        <p:txBody>
          <a:bodyPr wrap="square">
            <a:spAutoFit/>
          </a:bodyPr>
          <a:lstStyle/>
          <a:p>
            <a:r>
              <a:rPr lang="es-EC" sz="2400" b="1" dirty="0"/>
              <a:t>Media</a:t>
            </a:r>
          </a:p>
        </p:txBody>
      </p:sp>
      <mc:AlternateContent xmlns:mc="http://schemas.openxmlformats.org/markup-compatibility/2006" xmlns:a14="http://schemas.microsoft.com/office/drawing/2010/main">
        <mc:Choice Requires="a14">
          <p:sp>
            <p:nvSpPr>
              <p:cNvPr id="10" name="CuadroTexto 9"/>
              <p:cNvSpPr txBox="1"/>
              <p:nvPr/>
            </p:nvSpPr>
            <p:spPr>
              <a:xfrm>
                <a:off x="3800229" y="2985656"/>
                <a:ext cx="965328"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1">
                          <a:latin typeface="Cambria Math" panose="02040503050406030204" pitchFamily="18" charset="0"/>
                        </a:rPr>
                        <m:t>X</m:t>
                      </m:r>
                      <m:r>
                        <a:rPr lang="es-EC" b="0">
                          <a:latin typeface="Cambria Math" panose="02040503050406030204" pitchFamily="18" charset="0"/>
                        </a:rPr>
                        <m:t>:</m:t>
                      </m:r>
                      <m:r>
                        <a:rPr lang="es-EC" b="0" i="1">
                          <a:latin typeface="Cambria Math" panose="02040503050406030204" pitchFamily="18" charset="0"/>
                        </a:rPr>
                        <m:t>0</m:t>
                      </m:r>
                      <m:r>
                        <a:rPr lang="es-EC" b="0">
                          <a:latin typeface="Cambria Math" panose="02040503050406030204" pitchFamily="18" charset="0"/>
                        </a:rPr>
                        <m:t>,</m:t>
                      </m:r>
                      <m:r>
                        <a:rPr lang="es-EC" b="0" i="1">
                          <a:latin typeface="Cambria Math" panose="02040503050406030204" pitchFamily="18" charset="0"/>
                        </a:rPr>
                        <m:t>1</m:t>
                      </m:r>
                    </m:oMath>
                  </m:oMathPara>
                </a14:m>
                <a:endParaRPr lang="es-EC" b="0" dirty="0"/>
              </a:p>
            </p:txBody>
          </p:sp>
        </mc:Choice>
        <mc:Fallback xmlns="">
          <p:sp>
            <p:nvSpPr>
              <p:cNvPr id="10" name="CuadroTexto 9"/>
              <p:cNvSpPr txBox="1">
                <a:spLocks noRot="1" noChangeAspect="1" noMove="1" noResize="1" noEditPoints="1" noAdjustHandles="1" noChangeArrowheads="1" noChangeShapeType="1" noTextEdit="1"/>
              </p:cNvSpPr>
              <p:nvPr/>
            </p:nvSpPr>
            <p:spPr>
              <a:xfrm>
                <a:off x="3800229" y="2985656"/>
                <a:ext cx="965328" cy="461665"/>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4178154" y="3861512"/>
                <a:ext cx="2706190"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0" smtClean="0">
                          <a:latin typeface="Cambria Math" panose="02040503050406030204" pitchFamily="18" charset="0"/>
                        </a:rPr>
                        <m:t>P</m:t>
                      </m:r>
                      <m:d>
                        <m:dPr>
                          <m:ctrlPr>
                            <a:rPr lang="es-EC" b="0" i="1" smtClean="0">
                              <a:latin typeface="Cambria Math" panose="02040503050406030204" pitchFamily="18" charset="0"/>
                            </a:rPr>
                          </m:ctrlPr>
                        </m:dPr>
                        <m:e>
                          <m:r>
                            <m:rPr>
                              <m:sty m:val="p"/>
                            </m:rPr>
                            <a:rPr lang="es-EC" b="0" i="1" smtClean="0">
                              <a:latin typeface="Cambria Math" panose="02040503050406030204" pitchFamily="18" charset="0"/>
                            </a:rPr>
                            <m:t>X</m:t>
                          </m:r>
                          <m:r>
                            <a:rPr lang="es-EC" b="0" i="0" smtClean="0">
                              <a:latin typeface="Cambria Math" panose="02040503050406030204" pitchFamily="18" charset="0"/>
                            </a:rPr>
                            <m:t>=</m:t>
                          </m:r>
                          <m:r>
                            <a:rPr lang="es-EC" b="0" i="1">
                              <a:latin typeface="Cambria Math" panose="02040503050406030204" pitchFamily="18" charset="0"/>
                            </a:rPr>
                            <m:t>0</m:t>
                          </m:r>
                        </m:e>
                      </m:d>
                      <m:r>
                        <a:rPr lang="es-EC" b="0" i="0" smtClean="0">
                          <a:latin typeface="Cambria Math" panose="02040503050406030204" pitchFamily="18" charset="0"/>
                        </a:rPr>
                        <m:t>= </m:t>
                      </m:r>
                      <m:r>
                        <a:rPr lang="es-EC" b="0" i="1">
                          <a:latin typeface="Cambria Math" panose="02040503050406030204" pitchFamily="18" charset="0"/>
                        </a:rPr>
                        <m:t>1</m:t>
                      </m:r>
                      <m:r>
                        <a:rPr lang="es-EC" b="0" i="0" smtClean="0">
                          <a:latin typeface="Cambria Math" panose="02040503050406030204" pitchFamily="18" charset="0"/>
                        </a:rPr>
                        <m:t>−</m:t>
                      </m:r>
                      <m:r>
                        <m:rPr>
                          <m:sty m:val="p"/>
                        </m:rPr>
                        <a:rPr lang="es-EC" b="0" i="0" smtClean="0">
                          <a:latin typeface="Cambria Math" panose="02040503050406030204" pitchFamily="18" charset="0"/>
                        </a:rPr>
                        <m:t>p</m:t>
                      </m:r>
                    </m:oMath>
                  </m:oMathPara>
                </a14:m>
                <a:endParaRPr lang="es-EC" b="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4178154" y="3861512"/>
                <a:ext cx="2706190" cy="461665"/>
              </a:xfrm>
              <a:prstGeom prst="rect">
                <a:avLst/>
              </a:prstGeom>
              <a:blipFill rotWithShape="0">
                <a:blip r:embed="rId3"/>
                <a:stretch>
                  <a:fillRect b="-10526"/>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7546720" y="3861511"/>
                <a:ext cx="2001894"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0" smtClean="0">
                          <a:latin typeface="Cambria Math" panose="02040503050406030204" pitchFamily="18" charset="0"/>
                        </a:rPr>
                        <m:t>P</m:t>
                      </m:r>
                      <m:d>
                        <m:dPr>
                          <m:ctrlPr>
                            <a:rPr lang="es-EC" b="0" i="1" smtClean="0">
                              <a:latin typeface="Cambria Math" panose="02040503050406030204" pitchFamily="18" charset="0"/>
                            </a:rPr>
                          </m:ctrlPr>
                        </m:dPr>
                        <m:e>
                          <m:r>
                            <m:rPr>
                              <m:sty m:val="p"/>
                            </m:rPr>
                            <a:rPr lang="es-EC" b="0" i="1" smtClean="0">
                              <a:latin typeface="Cambria Math" panose="02040503050406030204" pitchFamily="18" charset="0"/>
                            </a:rPr>
                            <m:t>X</m:t>
                          </m:r>
                          <m:r>
                            <a:rPr lang="es-EC" b="0" i="0" smtClean="0">
                              <a:latin typeface="Cambria Math" panose="02040503050406030204" pitchFamily="18" charset="0"/>
                            </a:rPr>
                            <m:t>=1</m:t>
                          </m:r>
                        </m:e>
                      </m:d>
                      <m:r>
                        <a:rPr lang="es-EC" b="0" i="0" smtClean="0">
                          <a:latin typeface="Cambria Math" panose="02040503050406030204" pitchFamily="18" charset="0"/>
                        </a:rPr>
                        <m:t>=</m:t>
                      </m:r>
                      <m:r>
                        <m:rPr>
                          <m:sty m:val="p"/>
                        </m:rPr>
                        <a:rPr lang="es-EC" b="0" i="0" smtClean="0">
                          <a:latin typeface="Cambria Math" panose="02040503050406030204" pitchFamily="18" charset="0"/>
                        </a:rPr>
                        <m:t>p</m:t>
                      </m:r>
                    </m:oMath>
                  </m:oMathPara>
                </a14:m>
                <a:endParaRPr lang="es-EC" b="0"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7546720" y="3861511"/>
                <a:ext cx="2001894" cy="461665"/>
              </a:xfrm>
              <a:prstGeom prst="rect">
                <a:avLst/>
              </a:prstGeom>
              <a:blipFill rotWithShape="0">
                <a:blip r:embed="rId4"/>
                <a:stretch>
                  <a:fillRect b="-10526"/>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2888108" y="4713654"/>
                <a:ext cx="441146"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0" smtClean="0">
                          <a:latin typeface="Cambria Math" panose="02040503050406030204" pitchFamily="18" charset="0"/>
                        </a:rPr>
                        <m:t>p</m:t>
                      </m:r>
                    </m:oMath>
                  </m:oMathPara>
                </a14:m>
                <a:endParaRPr lang="es-EC" b="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2888108" y="4713654"/>
                <a:ext cx="441146" cy="461665"/>
              </a:xfrm>
              <a:prstGeom prst="rect">
                <a:avLst/>
              </a:prstGeom>
              <a:blipFill rotWithShape="0">
                <a:blip r:embed="rId5"/>
                <a:stretch>
                  <a:fillRect b="-10526"/>
                </a:stretch>
              </a:blipFill>
            </p:spPr>
            <p:txBody>
              <a:bodyPr/>
              <a:lstStyle/>
              <a:p>
                <a:r>
                  <a:rPr lang="es-EC">
                    <a:noFill/>
                  </a:rPr>
                  <a:t> </a:t>
                </a:r>
              </a:p>
            </p:txBody>
          </p:sp>
        </mc:Fallback>
      </mc:AlternateContent>
      <p:sp>
        <p:nvSpPr>
          <p:cNvPr id="14" name="Rectángulo 13"/>
          <p:cNvSpPr/>
          <p:nvPr/>
        </p:nvSpPr>
        <p:spPr>
          <a:xfrm>
            <a:off x="5828191" y="5565797"/>
            <a:ext cx="1274644" cy="461665"/>
          </a:xfrm>
          <a:prstGeom prst="rect">
            <a:avLst/>
          </a:prstGeom>
        </p:spPr>
        <p:txBody>
          <a:bodyPr wrap="none">
            <a:spAutoFit/>
          </a:bodyPr>
          <a:lstStyle/>
          <a:p>
            <a:r>
              <a:rPr lang="es-EC" sz="2400" b="1" dirty="0"/>
              <a:t>Varianza</a:t>
            </a:r>
          </a:p>
        </p:txBody>
      </p:sp>
      <mc:AlternateContent xmlns:mc="http://schemas.openxmlformats.org/markup-compatibility/2006" xmlns:a14="http://schemas.microsoft.com/office/drawing/2010/main">
        <mc:Choice Requires="a14">
          <p:sp>
            <p:nvSpPr>
              <p:cNvPr id="15" name="CuadroTexto 14"/>
              <p:cNvSpPr txBox="1"/>
              <p:nvPr/>
            </p:nvSpPr>
            <p:spPr>
              <a:xfrm>
                <a:off x="2446962" y="5561221"/>
                <a:ext cx="441146"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0" smtClean="0">
                          <a:latin typeface="Cambria Math" panose="02040503050406030204" pitchFamily="18" charset="0"/>
                        </a:rPr>
                        <m:t>p</m:t>
                      </m:r>
                    </m:oMath>
                  </m:oMathPara>
                </a14:m>
                <a:endParaRPr lang="es-EC" b="0" dirty="0"/>
              </a:p>
            </p:txBody>
          </p:sp>
        </mc:Choice>
        <mc:Fallback xmlns="">
          <p:sp>
            <p:nvSpPr>
              <p:cNvPr id="15" name="CuadroTexto 14"/>
              <p:cNvSpPr txBox="1">
                <a:spLocks noRot="1" noChangeAspect="1" noMove="1" noResize="1" noEditPoints="1" noAdjustHandles="1" noChangeArrowheads="1" noChangeShapeType="1" noTextEdit="1"/>
              </p:cNvSpPr>
              <p:nvPr/>
            </p:nvSpPr>
            <p:spPr>
              <a:xfrm>
                <a:off x="2446962" y="5561221"/>
                <a:ext cx="441146" cy="461665"/>
              </a:xfrm>
              <a:prstGeom prst="rect">
                <a:avLst/>
              </a:prstGeom>
              <a:blipFill rotWithShape="0">
                <a:blip r:embed="rId6"/>
                <a:stretch>
                  <a:fillRect b="-10526"/>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6" name="CuadroTexto 15"/>
              <p:cNvSpPr txBox="1"/>
              <p:nvPr/>
            </p:nvSpPr>
            <p:spPr>
              <a:xfrm>
                <a:off x="7546720" y="5561220"/>
                <a:ext cx="1435586"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0" smtClean="0">
                          <a:latin typeface="Cambria Math" panose="02040503050406030204" pitchFamily="18" charset="0"/>
                        </a:rPr>
                        <m:t>p</m:t>
                      </m:r>
                      <m:r>
                        <a:rPr lang="es-EC" b="0" i="0" smtClean="0">
                          <a:latin typeface="Cambria Math" panose="02040503050406030204" pitchFamily="18" charset="0"/>
                        </a:rPr>
                        <m:t>(1−</m:t>
                      </m:r>
                      <m:r>
                        <m:rPr>
                          <m:sty m:val="p"/>
                        </m:rPr>
                        <a:rPr lang="es-EC" b="0" i="0" smtClean="0">
                          <a:latin typeface="Cambria Math" panose="02040503050406030204" pitchFamily="18" charset="0"/>
                        </a:rPr>
                        <m:t>p</m:t>
                      </m:r>
                      <m:r>
                        <a:rPr lang="es-EC" b="0" i="0" smtClean="0">
                          <a:latin typeface="Cambria Math" panose="02040503050406030204" pitchFamily="18" charset="0"/>
                        </a:rPr>
                        <m:t>)</m:t>
                      </m:r>
                    </m:oMath>
                  </m:oMathPara>
                </a14:m>
                <a:endParaRPr lang="es-EC" b="0" dirty="0"/>
              </a:p>
            </p:txBody>
          </p:sp>
        </mc:Choice>
        <mc:Fallback xmlns="">
          <p:sp>
            <p:nvSpPr>
              <p:cNvPr id="16" name="CuadroTexto 15"/>
              <p:cNvSpPr txBox="1">
                <a:spLocks noRot="1" noChangeAspect="1" noMove="1" noResize="1" noEditPoints="1" noAdjustHandles="1" noChangeArrowheads="1" noChangeShapeType="1" noTextEdit="1"/>
              </p:cNvSpPr>
              <p:nvPr/>
            </p:nvSpPr>
            <p:spPr>
              <a:xfrm>
                <a:off x="7546720" y="5561220"/>
                <a:ext cx="1435586" cy="461665"/>
              </a:xfrm>
              <a:prstGeom prst="rect">
                <a:avLst/>
              </a:prstGeom>
              <a:blipFill rotWithShape="0">
                <a:blip r:embed="rId7"/>
                <a:stretch>
                  <a:fillRect b="-17105"/>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4396161" y="1754044"/>
                <a:ext cx="1442318"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1" smtClean="0">
                          <a:latin typeface="Cambria Math" panose="02040503050406030204" pitchFamily="18" charset="0"/>
                        </a:rPr>
                        <m:t>X</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𝐵𝑒</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𝑝</m:t>
                      </m:r>
                      <m:r>
                        <a:rPr lang="es-EC" b="0" i="1" smtClean="0">
                          <a:latin typeface="Cambria Math" panose="02040503050406030204" pitchFamily="18" charset="0"/>
                          <a:ea typeface="Cambria Math" panose="02040503050406030204" pitchFamily="18" charset="0"/>
                        </a:rPr>
                        <m:t>)</m:t>
                      </m:r>
                    </m:oMath>
                  </m:oMathPara>
                </a14:m>
                <a:endParaRPr lang="es-EC" b="0" dirty="0"/>
              </a:p>
            </p:txBody>
          </p:sp>
        </mc:Choice>
        <mc:Fallback xmlns="">
          <p:sp>
            <p:nvSpPr>
              <p:cNvPr id="17" name="CuadroTexto 16"/>
              <p:cNvSpPr txBox="1">
                <a:spLocks noRot="1" noChangeAspect="1" noMove="1" noResize="1" noEditPoints="1" noAdjustHandles="1" noChangeArrowheads="1" noChangeShapeType="1" noTextEdit="1"/>
              </p:cNvSpPr>
              <p:nvPr/>
            </p:nvSpPr>
            <p:spPr>
              <a:xfrm>
                <a:off x="4396161" y="1754044"/>
                <a:ext cx="1442318" cy="461665"/>
              </a:xfrm>
              <a:prstGeom prst="rect">
                <a:avLst/>
              </a:prstGeom>
              <a:blipFill rotWithShape="0">
                <a:blip r:embed="rId8"/>
                <a:stretch>
                  <a:fillRect r="-844" b="-18667"/>
                </a:stretch>
              </a:blipFill>
            </p:spPr>
            <p:txBody>
              <a:bodyPr/>
              <a:lstStyle/>
              <a:p>
                <a:r>
                  <a:rPr lang="es-EC">
                    <a:noFill/>
                  </a:rPr>
                  <a:t> </a:t>
                </a:r>
              </a:p>
            </p:txBody>
          </p:sp>
        </mc:Fallback>
      </mc:AlternateContent>
      <p:sp>
        <p:nvSpPr>
          <p:cNvPr id="18" name="CuadroTexto 17"/>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2347001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965934"/>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1084990" y="1688882"/>
            <a:ext cx="3389839" cy="523220"/>
          </a:xfrm>
          <a:prstGeom prst="rect">
            <a:avLst/>
          </a:prstGeom>
        </p:spPr>
        <p:txBody>
          <a:bodyPr wrap="none">
            <a:spAutoFit/>
          </a:bodyPr>
          <a:lstStyle/>
          <a:p>
            <a:r>
              <a:rPr lang="es-EC" sz="2800" b="1" dirty="0"/>
              <a:t>Distribución Binomial</a:t>
            </a:r>
            <a:endParaRPr lang="es-EC" sz="2800" b="1" baseline="60000" dirty="0"/>
          </a:p>
        </p:txBody>
      </p:sp>
      <p:sp>
        <p:nvSpPr>
          <p:cNvPr id="6" name="Rectángulo 5"/>
          <p:cNvSpPr/>
          <p:nvPr/>
        </p:nvSpPr>
        <p:spPr>
          <a:xfrm>
            <a:off x="1084990" y="2599127"/>
            <a:ext cx="1755994" cy="461665"/>
          </a:xfrm>
          <a:prstGeom prst="rect">
            <a:avLst/>
          </a:prstGeom>
        </p:spPr>
        <p:txBody>
          <a:bodyPr wrap="square">
            <a:spAutoFit/>
          </a:bodyPr>
          <a:lstStyle/>
          <a:p>
            <a:r>
              <a:rPr lang="es-EC" sz="2400" b="1" dirty="0"/>
              <a:t>Valores de X</a:t>
            </a:r>
            <a:endParaRPr lang="es-EC" sz="2400" dirty="0"/>
          </a:p>
        </p:txBody>
      </p:sp>
      <mc:AlternateContent xmlns:mc="http://schemas.openxmlformats.org/markup-compatibility/2006" xmlns:a14="http://schemas.microsoft.com/office/drawing/2010/main">
        <mc:Choice Requires="a14">
          <p:sp>
            <p:nvSpPr>
              <p:cNvPr id="7" name="CuadroTexto 6"/>
              <p:cNvSpPr txBox="1"/>
              <p:nvPr/>
            </p:nvSpPr>
            <p:spPr>
              <a:xfrm>
                <a:off x="4068242" y="2599127"/>
                <a:ext cx="2111475"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1">
                          <a:latin typeface="Cambria Math" panose="02040503050406030204" pitchFamily="18" charset="0"/>
                        </a:rPr>
                        <m:t>X</m:t>
                      </m:r>
                      <m:r>
                        <a:rPr lang="es-EC" b="0">
                          <a:latin typeface="Cambria Math" panose="02040503050406030204" pitchFamily="18" charset="0"/>
                        </a:rPr>
                        <m:t>:</m:t>
                      </m:r>
                      <m:r>
                        <a:rPr lang="es-EC" b="0" i="1">
                          <a:latin typeface="Cambria Math" panose="02040503050406030204" pitchFamily="18" charset="0"/>
                        </a:rPr>
                        <m:t>0</m:t>
                      </m:r>
                      <m:r>
                        <a:rPr lang="es-EC" b="0">
                          <a:latin typeface="Cambria Math" panose="02040503050406030204" pitchFamily="18" charset="0"/>
                        </a:rPr>
                        <m:t>,</m:t>
                      </m:r>
                      <m:r>
                        <a:rPr lang="es-EC" b="0" i="1">
                          <a:latin typeface="Cambria Math" panose="02040503050406030204" pitchFamily="18" charset="0"/>
                        </a:rPr>
                        <m:t>1</m:t>
                      </m:r>
                      <m:r>
                        <a:rPr lang="es-EC" b="0">
                          <a:latin typeface="Cambria Math" panose="02040503050406030204" pitchFamily="18" charset="0"/>
                        </a:rPr>
                        <m:t>,</m:t>
                      </m:r>
                      <m:r>
                        <a:rPr lang="es-EC" b="0" i="1">
                          <a:latin typeface="Cambria Math" panose="02040503050406030204" pitchFamily="18" charset="0"/>
                        </a:rPr>
                        <m:t>2</m:t>
                      </m:r>
                      <m:r>
                        <a:rPr lang="es-EC" b="0">
                          <a:latin typeface="Cambria Math" panose="02040503050406030204" pitchFamily="18" charset="0"/>
                        </a:rPr>
                        <m:t>,</m:t>
                      </m:r>
                      <m:r>
                        <a:rPr lang="es-EC" b="0" i="1">
                          <a:latin typeface="Cambria Math" panose="02040503050406030204" pitchFamily="18" charset="0"/>
                        </a:rPr>
                        <m:t>3</m:t>
                      </m:r>
                      <m:r>
                        <a:rPr lang="es-EC" b="0">
                          <a:latin typeface="Cambria Math" panose="02040503050406030204" pitchFamily="18" charset="0"/>
                        </a:rPr>
                        <m:t>,…,</m:t>
                      </m:r>
                      <m:r>
                        <m:rPr>
                          <m:sty m:val="p"/>
                        </m:rPr>
                        <a:rPr lang="es-EC" b="0" i="1">
                          <a:latin typeface="Cambria Math" panose="02040503050406030204" pitchFamily="18" charset="0"/>
                        </a:rPr>
                        <m:t>n</m:t>
                      </m:r>
                    </m:oMath>
                  </m:oMathPara>
                </a14:m>
                <a:endParaRPr lang="es-EC" b="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068242" y="2599127"/>
                <a:ext cx="2111475" cy="461665"/>
              </a:xfrm>
              <a:prstGeom prst="rect">
                <a:avLst/>
              </a:prstGeom>
              <a:blipFill rotWithShape="0">
                <a:blip r:embed="rId2"/>
                <a:stretch>
                  <a:fillRect/>
                </a:stretch>
              </a:blipFill>
            </p:spPr>
            <p:txBody>
              <a:bodyPr/>
              <a:lstStyle/>
              <a:p>
                <a:r>
                  <a:rPr lang="es-EC">
                    <a:noFill/>
                  </a:rPr>
                  <a:t> </a:t>
                </a:r>
              </a:p>
            </p:txBody>
          </p:sp>
        </mc:Fallback>
      </mc:AlternateContent>
      <p:sp>
        <p:nvSpPr>
          <p:cNvPr id="8" name="Rectángulo 7"/>
          <p:cNvSpPr/>
          <p:nvPr/>
        </p:nvSpPr>
        <p:spPr>
          <a:xfrm>
            <a:off x="1084990" y="3474983"/>
            <a:ext cx="3274679" cy="461665"/>
          </a:xfrm>
          <a:prstGeom prst="rect">
            <a:avLst/>
          </a:prstGeom>
        </p:spPr>
        <p:txBody>
          <a:bodyPr wrap="square">
            <a:spAutoFit/>
          </a:bodyPr>
          <a:lstStyle/>
          <a:p>
            <a:r>
              <a:rPr lang="es-EC" sz="2400" b="1" dirty="0"/>
              <a:t>Función de probabilidad</a:t>
            </a:r>
          </a:p>
        </p:txBody>
      </p:sp>
      <mc:AlternateContent xmlns:mc="http://schemas.openxmlformats.org/markup-compatibility/2006" xmlns:a14="http://schemas.microsoft.com/office/drawing/2010/main">
        <mc:Choice Requires="a14">
          <p:sp>
            <p:nvSpPr>
              <p:cNvPr id="9" name="CuadroTexto 8"/>
              <p:cNvSpPr txBox="1"/>
              <p:nvPr/>
            </p:nvSpPr>
            <p:spPr>
              <a:xfrm>
                <a:off x="4524429" y="3383291"/>
                <a:ext cx="4108497" cy="645048"/>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a:latin typeface="Cambria Math" panose="02040503050406030204" pitchFamily="18" charset="0"/>
                        </a:rPr>
                        <m:t>P</m:t>
                      </m:r>
                      <m:d>
                        <m:dPr>
                          <m:ctrlPr>
                            <a:rPr lang="es-EC" i="1">
                              <a:latin typeface="Cambria Math" panose="02040503050406030204" pitchFamily="18" charset="0"/>
                            </a:rPr>
                          </m:ctrlPr>
                        </m:dPr>
                        <m:e>
                          <m:r>
                            <m:rPr>
                              <m:sty m:val="p"/>
                            </m:rPr>
                            <a:rPr lang="es-EC">
                              <a:latin typeface="Cambria Math" panose="02040503050406030204" pitchFamily="18" charset="0"/>
                            </a:rPr>
                            <m:t>X</m:t>
                          </m:r>
                          <m:r>
                            <a:rPr lang="es-EC">
                              <a:latin typeface="Cambria Math" panose="02040503050406030204" pitchFamily="18" charset="0"/>
                            </a:rPr>
                            <m:t>=</m:t>
                          </m:r>
                          <m:r>
                            <m:rPr>
                              <m:sty m:val="p"/>
                            </m:rPr>
                            <a:rPr lang="es-EC">
                              <a:latin typeface="Cambria Math" panose="02040503050406030204" pitchFamily="18" charset="0"/>
                            </a:rPr>
                            <m:t>x</m:t>
                          </m:r>
                        </m:e>
                      </m:d>
                      <m:r>
                        <a:rPr lang="es-EC">
                          <a:latin typeface="Cambria Math" panose="02040503050406030204" pitchFamily="18" charset="0"/>
                        </a:rPr>
                        <m:t>=</m:t>
                      </m:r>
                      <m:r>
                        <m:rPr>
                          <m:sty m:val="p"/>
                        </m:rPr>
                        <a:rPr lang="es-EC">
                          <a:latin typeface="Cambria Math" panose="02040503050406030204" pitchFamily="18" charset="0"/>
                        </a:rPr>
                        <m:t>f</m:t>
                      </m:r>
                      <m:d>
                        <m:dPr>
                          <m:ctrlPr>
                            <a:rPr lang="es-EC" i="1">
                              <a:latin typeface="Cambria Math" panose="02040503050406030204" pitchFamily="18" charset="0"/>
                            </a:rPr>
                          </m:ctrlPr>
                        </m:dPr>
                        <m:e>
                          <m:r>
                            <m:rPr>
                              <m:sty m:val="p"/>
                            </m:rPr>
                            <a:rPr lang="es-EC">
                              <a:latin typeface="Cambria Math" panose="02040503050406030204" pitchFamily="18" charset="0"/>
                            </a:rPr>
                            <m:t>x</m:t>
                          </m:r>
                        </m:e>
                      </m:d>
                      <m:r>
                        <a:rPr lang="es-EC">
                          <a:latin typeface="Cambria Math" panose="02040503050406030204" pitchFamily="18" charset="0"/>
                        </a:rPr>
                        <m:t>=</m:t>
                      </m:r>
                      <m:d>
                        <m:dPr>
                          <m:ctrlPr>
                            <a:rPr lang="es-EC" i="1">
                              <a:latin typeface="Cambria Math" panose="02040503050406030204" pitchFamily="18" charset="0"/>
                            </a:rPr>
                          </m:ctrlPr>
                        </m:dPr>
                        <m:e>
                          <m:m>
                            <m:mPr>
                              <m:mcs>
                                <m:mc>
                                  <m:mcPr>
                                    <m:count m:val="1"/>
                                    <m:mcJc m:val="center"/>
                                  </m:mcPr>
                                </m:mc>
                              </m:mcs>
                              <m:ctrlPr>
                                <a:rPr lang="es-EC" i="1">
                                  <a:latin typeface="Cambria Math" panose="02040503050406030204" pitchFamily="18" charset="0"/>
                                </a:rPr>
                              </m:ctrlPr>
                            </m:mPr>
                            <m:mr>
                              <m:e>
                                <m:r>
                                  <m:rPr>
                                    <m:sty m:val="p"/>
                                    <m:brk m:alnAt="7"/>
                                  </m:rPr>
                                  <a:rPr lang="es-EC">
                                    <a:latin typeface="Cambria Math" panose="02040503050406030204" pitchFamily="18" charset="0"/>
                                  </a:rPr>
                                  <m:t>n</m:t>
                                </m:r>
                              </m:e>
                            </m:mr>
                            <m:mr>
                              <m:e>
                                <m:r>
                                  <m:rPr>
                                    <m:sty m:val="p"/>
                                  </m:rPr>
                                  <a:rPr lang="es-EC">
                                    <a:latin typeface="Cambria Math" panose="02040503050406030204" pitchFamily="18" charset="0"/>
                                  </a:rPr>
                                  <m:t>x</m:t>
                                </m:r>
                              </m:e>
                            </m:mr>
                          </m:m>
                        </m:e>
                      </m:d>
                      <m:sSup>
                        <m:sSupPr>
                          <m:ctrlPr>
                            <a:rPr lang="es-EC" i="1">
                              <a:latin typeface="Cambria Math" panose="02040503050406030204" pitchFamily="18" charset="0"/>
                            </a:rPr>
                          </m:ctrlPr>
                        </m:sSupPr>
                        <m:e>
                          <m:r>
                            <m:rPr>
                              <m:sty m:val="p"/>
                            </m:rPr>
                            <a:rPr lang="es-EC">
                              <a:latin typeface="Cambria Math" panose="02040503050406030204" pitchFamily="18" charset="0"/>
                            </a:rPr>
                            <m:t>p</m:t>
                          </m:r>
                        </m:e>
                        <m:sup>
                          <m:r>
                            <m:rPr>
                              <m:sty m:val="p"/>
                            </m:rPr>
                            <a:rPr lang="es-EC">
                              <a:latin typeface="Cambria Math" panose="02040503050406030204" pitchFamily="18" charset="0"/>
                            </a:rPr>
                            <m:t>x</m:t>
                          </m:r>
                        </m:sup>
                      </m:sSup>
                      <m:sSup>
                        <m:sSupPr>
                          <m:ctrlPr>
                            <a:rPr lang="es-EC" i="1">
                              <a:latin typeface="Cambria Math" panose="02040503050406030204" pitchFamily="18" charset="0"/>
                            </a:rPr>
                          </m:ctrlPr>
                        </m:sSupPr>
                        <m:e>
                          <m:r>
                            <m:rPr>
                              <m:sty m:val="p"/>
                            </m:rPr>
                            <a:rPr lang="es-EC">
                              <a:latin typeface="Cambria Math" panose="02040503050406030204" pitchFamily="18" charset="0"/>
                            </a:rPr>
                            <m:t>q</m:t>
                          </m:r>
                        </m:e>
                        <m:sup>
                          <m:r>
                            <m:rPr>
                              <m:sty m:val="p"/>
                            </m:rPr>
                            <a:rPr lang="es-EC">
                              <a:latin typeface="Cambria Math" panose="02040503050406030204" pitchFamily="18" charset="0"/>
                            </a:rPr>
                            <m:t>n</m:t>
                          </m:r>
                          <m:r>
                            <a:rPr lang="es-EC">
                              <a:latin typeface="Cambria Math" panose="02040503050406030204" pitchFamily="18" charset="0"/>
                            </a:rPr>
                            <m:t>−</m:t>
                          </m:r>
                          <m:r>
                            <m:rPr>
                              <m:sty m:val="p"/>
                            </m:rPr>
                            <a:rPr lang="es-EC">
                              <a:latin typeface="Cambria Math" panose="02040503050406030204" pitchFamily="18" charset="0"/>
                            </a:rPr>
                            <m:t>x</m:t>
                          </m:r>
                        </m:sup>
                      </m:sSup>
                    </m:oMath>
                  </m:oMathPara>
                </a14:m>
                <a:endParaRPr lang="es-EC" dirty="0"/>
              </a:p>
            </p:txBody>
          </p:sp>
        </mc:Choice>
        <mc:Fallback xmlns="">
          <p:sp>
            <p:nvSpPr>
              <p:cNvPr id="9" name="CuadroTexto 8"/>
              <p:cNvSpPr txBox="1">
                <a:spLocks noRot="1" noChangeAspect="1" noMove="1" noResize="1" noEditPoints="1" noAdjustHandles="1" noChangeArrowheads="1" noChangeShapeType="1" noTextEdit="1"/>
              </p:cNvSpPr>
              <p:nvPr/>
            </p:nvSpPr>
            <p:spPr>
              <a:xfrm>
                <a:off x="4524429" y="3383291"/>
                <a:ext cx="4108497" cy="645048"/>
              </a:xfrm>
              <a:prstGeom prst="rect">
                <a:avLst/>
              </a:prstGeom>
              <a:blipFill rotWithShape="0">
                <a:blip r:embed="rId3"/>
                <a:stretch>
                  <a:fillRect/>
                </a:stretch>
              </a:blipFill>
            </p:spPr>
            <p:txBody>
              <a:bodyPr/>
              <a:lstStyle/>
              <a:p>
                <a:r>
                  <a:rPr lang="es-EC">
                    <a:noFill/>
                  </a:rPr>
                  <a:t> </a:t>
                </a:r>
              </a:p>
            </p:txBody>
          </p:sp>
        </mc:Fallback>
      </mc:AlternateContent>
      <p:sp>
        <p:nvSpPr>
          <p:cNvPr id="10" name="Rectángulo 9"/>
          <p:cNvSpPr/>
          <p:nvPr/>
        </p:nvSpPr>
        <p:spPr>
          <a:xfrm>
            <a:off x="1084990" y="4327126"/>
            <a:ext cx="1653594" cy="461665"/>
          </a:xfrm>
          <a:prstGeom prst="rect">
            <a:avLst/>
          </a:prstGeom>
        </p:spPr>
        <p:txBody>
          <a:bodyPr wrap="square">
            <a:spAutoFit/>
          </a:bodyPr>
          <a:lstStyle/>
          <a:p>
            <a:r>
              <a:rPr lang="es-EC" sz="2400" b="1" dirty="0"/>
              <a:t>Parámetros</a:t>
            </a:r>
          </a:p>
        </p:txBody>
      </p:sp>
      <mc:AlternateContent xmlns:mc="http://schemas.openxmlformats.org/markup-compatibility/2006" xmlns:a14="http://schemas.microsoft.com/office/drawing/2010/main">
        <mc:Choice Requires="a14">
          <p:sp>
            <p:nvSpPr>
              <p:cNvPr id="11" name="Rectángulo 10"/>
              <p:cNvSpPr/>
              <p:nvPr/>
            </p:nvSpPr>
            <p:spPr>
              <a:xfrm>
                <a:off x="3357791" y="4317078"/>
                <a:ext cx="71045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400" b="0" i="1">
                          <a:latin typeface="Cambria Math" panose="02040503050406030204" pitchFamily="18" charset="0"/>
                        </a:rPr>
                        <m:t>n</m:t>
                      </m:r>
                      <m:r>
                        <a:rPr lang="es-EC" sz="2400" b="0">
                          <a:latin typeface="Cambria Math" panose="02040503050406030204" pitchFamily="18" charset="0"/>
                        </a:rPr>
                        <m:t>,</m:t>
                      </m:r>
                      <m:r>
                        <m:rPr>
                          <m:sty m:val="p"/>
                        </m:rPr>
                        <a:rPr lang="es-EC" sz="2400" b="0" i="1">
                          <a:latin typeface="Cambria Math" panose="02040503050406030204" pitchFamily="18" charset="0"/>
                        </a:rPr>
                        <m:t>p</m:t>
                      </m:r>
                    </m:oMath>
                  </m:oMathPara>
                </a14:m>
                <a:endParaRPr lang="es-EC" sz="2400" dirty="0"/>
              </a:p>
            </p:txBody>
          </p:sp>
        </mc:Choice>
        <mc:Fallback xmlns="">
          <p:sp>
            <p:nvSpPr>
              <p:cNvPr id="11" name="Rectángulo 10"/>
              <p:cNvSpPr>
                <a:spLocks noRot="1" noChangeAspect="1" noMove="1" noResize="1" noEditPoints="1" noAdjustHandles="1" noChangeArrowheads="1" noChangeShapeType="1" noTextEdit="1"/>
              </p:cNvSpPr>
              <p:nvPr/>
            </p:nvSpPr>
            <p:spPr>
              <a:xfrm>
                <a:off x="3357791" y="4317078"/>
                <a:ext cx="710451" cy="461665"/>
              </a:xfrm>
              <a:prstGeom prst="rect">
                <a:avLst/>
              </a:prstGeom>
              <a:blipFill rotWithShape="0">
                <a:blip r:embed="rId4"/>
                <a:stretch>
                  <a:fillRect b="-10526"/>
                </a:stretch>
              </a:blipFill>
            </p:spPr>
            <p:txBody>
              <a:bodyPr/>
              <a:lstStyle/>
              <a:p>
                <a:r>
                  <a:rPr lang="es-EC">
                    <a:noFill/>
                  </a:rPr>
                  <a:t> </a:t>
                </a:r>
              </a:p>
            </p:txBody>
          </p:sp>
        </mc:Fallback>
      </mc:AlternateContent>
      <p:sp>
        <p:nvSpPr>
          <p:cNvPr id="12" name="Rectángulo 11"/>
          <p:cNvSpPr/>
          <p:nvPr/>
        </p:nvSpPr>
        <p:spPr>
          <a:xfrm>
            <a:off x="1084990" y="5179269"/>
            <a:ext cx="1002197" cy="461665"/>
          </a:xfrm>
          <a:prstGeom prst="rect">
            <a:avLst/>
          </a:prstGeom>
        </p:spPr>
        <p:txBody>
          <a:bodyPr wrap="square">
            <a:spAutoFit/>
          </a:bodyPr>
          <a:lstStyle/>
          <a:p>
            <a:r>
              <a:rPr lang="es-EC" sz="2400" b="1" dirty="0"/>
              <a:t>Media</a:t>
            </a:r>
          </a:p>
        </p:txBody>
      </p:sp>
      <p:sp>
        <p:nvSpPr>
          <p:cNvPr id="13" name="Rectángulo 12"/>
          <p:cNvSpPr/>
          <p:nvPr/>
        </p:nvSpPr>
        <p:spPr>
          <a:xfrm>
            <a:off x="6159267" y="5179269"/>
            <a:ext cx="1274644" cy="461665"/>
          </a:xfrm>
          <a:prstGeom prst="rect">
            <a:avLst/>
          </a:prstGeom>
        </p:spPr>
        <p:txBody>
          <a:bodyPr wrap="none">
            <a:spAutoFit/>
          </a:bodyPr>
          <a:lstStyle/>
          <a:p>
            <a:r>
              <a:rPr lang="es-EC" sz="2400" b="1" dirty="0"/>
              <a:t>Varianza</a:t>
            </a:r>
          </a:p>
        </p:txBody>
      </p:sp>
      <mc:AlternateContent xmlns:mc="http://schemas.openxmlformats.org/markup-compatibility/2006" xmlns:a14="http://schemas.microsoft.com/office/drawing/2010/main">
        <mc:Choice Requires="a14">
          <p:sp>
            <p:nvSpPr>
              <p:cNvPr id="14" name="Rectángulo 13"/>
              <p:cNvSpPr/>
              <p:nvPr/>
            </p:nvSpPr>
            <p:spPr>
              <a:xfrm>
                <a:off x="2487387" y="5159173"/>
                <a:ext cx="16722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400" b="0" i="0">
                          <a:latin typeface="Cambria Math" panose="02040503050406030204" pitchFamily="18" charset="0"/>
                        </a:rPr>
                        <m:t>E</m:t>
                      </m:r>
                      <m:d>
                        <m:dPr>
                          <m:ctrlPr>
                            <a:rPr lang="es-EC" sz="2400" i="1">
                              <a:latin typeface="Cambria Math" panose="02040503050406030204" pitchFamily="18" charset="0"/>
                            </a:rPr>
                          </m:ctrlPr>
                        </m:dPr>
                        <m:e>
                          <m:r>
                            <m:rPr>
                              <m:sty m:val="p"/>
                            </m:rPr>
                            <a:rPr lang="es-EC" sz="2400" b="0" i="0">
                              <a:latin typeface="Cambria Math" panose="02040503050406030204" pitchFamily="18" charset="0"/>
                            </a:rPr>
                            <m:t>X</m:t>
                          </m:r>
                        </m:e>
                      </m:d>
                      <m:r>
                        <a:rPr lang="es-EC" sz="2400" b="0" i="0">
                          <a:latin typeface="Cambria Math" panose="02040503050406030204" pitchFamily="18" charset="0"/>
                        </a:rPr>
                        <m:t>=</m:t>
                      </m:r>
                      <m:r>
                        <m:rPr>
                          <m:sty m:val="p"/>
                        </m:rPr>
                        <a:rPr lang="es-EC" sz="2400" b="0" i="0">
                          <a:latin typeface="Cambria Math" panose="02040503050406030204" pitchFamily="18" charset="0"/>
                        </a:rPr>
                        <m:t>np</m:t>
                      </m:r>
                      <m:r>
                        <a:rPr lang="es-EC" sz="2400" b="0" i="0">
                          <a:latin typeface="Cambria Math" panose="02040503050406030204" pitchFamily="18" charset="0"/>
                        </a:rPr>
                        <m:t> </m:t>
                      </m:r>
                    </m:oMath>
                  </m:oMathPara>
                </a14:m>
                <a:endParaRPr lang="es-EC" sz="2400" dirty="0"/>
              </a:p>
            </p:txBody>
          </p:sp>
        </mc:Choice>
        <mc:Fallback xmlns="">
          <p:sp>
            <p:nvSpPr>
              <p:cNvPr id="14" name="Rectángulo 13"/>
              <p:cNvSpPr>
                <a:spLocks noRot="1" noChangeAspect="1" noMove="1" noResize="1" noEditPoints="1" noAdjustHandles="1" noChangeArrowheads="1" noChangeShapeType="1" noTextEdit="1"/>
              </p:cNvSpPr>
              <p:nvPr/>
            </p:nvSpPr>
            <p:spPr>
              <a:xfrm>
                <a:off x="2487387" y="5159173"/>
                <a:ext cx="1672253" cy="461665"/>
              </a:xfrm>
              <a:prstGeom prst="rect">
                <a:avLst/>
              </a:prstGeom>
              <a:blipFill rotWithShape="0">
                <a:blip r:embed="rId5"/>
                <a:stretch>
                  <a:fillRect b="-10526"/>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5" name="Rectángulo 14"/>
              <p:cNvSpPr/>
              <p:nvPr/>
            </p:nvSpPr>
            <p:spPr>
              <a:xfrm>
                <a:off x="7834111" y="5179269"/>
                <a:ext cx="185018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400" b="0" i="1">
                          <a:latin typeface="Cambria Math" panose="02040503050406030204" pitchFamily="18" charset="0"/>
                        </a:rPr>
                        <m:t>V</m:t>
                      </m:r>
                      <m:d>
                        <m:dPr>
                          <m:ctrlPr>
                            <a:rPr lang="es-EC" sz="2400" i="1">
                              <a:latin typeface="Cambria Math" panose="02040503050406030204" pitchFamily="18" charset="0"/>
                            </a:rPr>
                          </m:ctrlPr>
                        </m:dPr>
                        <m:e>
                          <m:r>
                            <m:rPr>
                              <m:sty m:val="p"/>
                            </m:rPr>
                            <a:rPr lang="es-EC" sz="2400" b="0" i="1">
                              <a:latin typeface="Cambria Math" panose="02040503050406030204" pitchFamily="18" charset="0"/>
                            </a:rPr>
                            <m:t>X</m:t>
                          </m:r>
                        </m:e>
                      </m:d>
                      <m:r>
                        <a:rPr lang="es-EC" sz="2400" b="0">
                          <a:latin typeface="Cambria Math" panose="02040503050406030204" pitchFamily="18" charset="0"/>
                        </a:rPr>
                        <m:t>=</m:t>
                      </m:r>
                      <m:r>
                        <m:rPr>
                          <m:sty m:val="p"/>
                        </m:rPr>
                        <a:rPr lang="es-EC" sz="2400" b="0" i="1">
                          <a:latin typeface="Cambria Math" panose="02040503050406030204" pitchFamily="18" charset="0"/>
                        </a:rPr>
                        <m:t>npq</m:t>
                      </m:r>
                      <m:r>
                        <a:rPr lang="es-EC" sz="2400" b="0">
                          <a:latin typeface="Cambria Math" panose="02040503050406030204" pitchFamily="18" charset="0"/>
                        </a:rPr>
                        <m:t> </m:t>
                      </m:r>
                    </m:oMath>
                  </m:oMathPara>
                </a14:m>
                <a:endParaRPr lang="es-EC" sz="2400" dirty="0"/>
              </a:p>
            </p:txBody>
          </p:sp>
        </mc:Choice>
        <mc:Fallback xmlns="">
          <p:sp>
            <p:nvSpPr>
              <p:cNvPr id="15" name="Rectángulo 14"/>
              <p:cNvSpPr>
                <a:spLocks noRot="1" noChangeAspect="1" noMove="1" noResize="1" noEditPoints="1" noAdjustHandles="1" noChangeArrowheads="1" noChangeShapeType="1" noTextEdit="1"/>
              </p:cNvSpPr>
              <p:nvPr/>
            </p:nvSpPr>
            <p:spPr>
              <a:xfrm>
                <a:off x="7834111" y="5179269"/>
                <a:ext cx="1850185" cy="461665"/>
              </a:xfrm>
              <a:prstGeom prst="rect">
                <a:avLst/>
              </a:prstGeom>
              <a:blipFill rotWithShape="0">
                <a:blip r:embed="rId6"/>
                <a:stretch>
                  <a:fillRect b="-10667"/>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8" name="CuadroTexto 17"/>
              <p:cNvSpPr txBox="1"/>
              <p:nvPr/>
            </p:nvSpPr>
            <p:spPr>
              <a:xfrm>
                <a:off x="4867029" y="1723271"/>
                <a:ext cx="1586973" cy="461665"/>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1" smtClean="0">
                          <a:latin typeface="Cambria Math" panose="02040503050406030204" pitchFamily="18" charset="0"/>
                        </a:rPr>
                        <m:t>X</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𝐵</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𝑛</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𝑝</m:t>
                      </m:r>
                      <m:r>
                        <a:rPr lang="es-EC" b="0" i="1" smtClean="0">
                          <a:latin typeface="Cambria Math" panose="02040503050406030204" pitchFamily="18" charset="0"/>
                          <a:ea typeface="Cambria Math" panose="02040503050406030204" pitchFamily="18" charset="0"/>
                        </a:rPr>
                        <m:t>)</m:t>
                      </m:r>
                    </m:oMath>
                  </m:oMathPara>
                </a14:m>
                <a:endParaRPr lang="es-EC" b="0" dirty="0"/>
              </a:p>
            </p:txBody>
          </p:sp>
        </mc:Choice>
        <mc:Fallback xmlns="">
          <p:sp>
            <p:nvSpPr>
              <p:cNvPr id="18" name="CuadroTexto 17"/>
              <p:cNvSpPr txBox="1">
                <a:spLocks noRot="1" noChangeAspect="1" noMove="1" noResize="1" noEditPoints="1" noAdjustHandles="1" noChangeArrowheads="1" noChangeShapeType="1" noTextEdit="1"/>
              </p:cNvSpPr>
              <p:nvPr/>
            </p:nvSpPr>
            <p:spPr>
              <a:xfrm>
                <a:off x="4867029" y="1723271"/>
                <a:ext cx="1586973" cy="461665"/>
              </a:xfrm>
              <a:prstGeom prst="rect">
                <a:avLst/>
              </a:prstGeom>
              <a:blipFill rotWithShape="0">
                <a:blip r:embed="rId7"/>
                <a:stretch>
                  <a:fillRect r="-766" b="-18667"/>
                </a:stretch>
              </a:blipFill>
            </p:spPr>
            <p:txBody>
              <a:bodyPr/>
              <a:lstStyle/>
              <a:p>
                <a:r>
                  <a:rPr lang="es-EC">
                    <a:noFill/>
                  </a:rPr>
                  <a:t> </a:t>
                </a:r>
              </a:p>
            </p:txBody>
          </p:sp>
        </mc:Fallback>
      </mc:AlternateContent>
      <p:sp>
        <p:nvSpPr>
          <p:cNvPr id="16" name="CuadroTexto 15"/>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3766771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965934"/>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1084990" y="1688882"/>
            <a:ext cx="3810082" cy="523220"/>
          </a:xfrm>
          <a:prstGeom prst="rect">
            <a:avLst/>
          </a:prstGeom>
        </p:spPr>
        <p:txBody>
          <a:bodyPr wrap="none">
            <a:spAutoFit/>
          </a:bodyPr>
          <a:lstStyle/>
          <a:p>
            <a:r>
              <a:rPr lang="es-EC" sz="2800" b="1" dirty="0"/>
              <a:t>Distribución Geométrica</a:t>
            </a:r>
          </a:p>
        </p:txBody>
      </p:sp>
      <p:sp>
        <p:nvSpPr>
          <p:cNvPr id="5" name="Rectángulo 4"/>
          <p:cNvSpPr/>
          <p:nvPr/>
        </p:nvSpPr>
        <p:spPr>
          <a:xfrm>
            <a:off x="1084990" y="2349948"/>
            <a:ext cx="6257932" cy="461665"/>
          </a:xfrm>
          <a:prstGeom prst="rect">
            <a:avLst/>
          </a:prstGeom>
        </p:spPr>
        <p:txBody>
          <a:bodyPr wrap="none">
            <a:spAutoFit/>
          </a:bodyPr>
          <a:lstStyle/>
          <a:p>
            <a:r>
              <a:rPr lang="es-EC" sz="2400" dirty="0"/>
              <a:t>Número de intentos hasta lograr el primer éxito</a:t>
            </a:r>
          </a:p>
        </p:txBody>
      </p:sp>
      <p:sp>
        <p:nvSpPr>
          <p:cNvPr id="6" name="Rectángulo 5"/>
          <p:cNvSpPr/>
          <p:nvPr/>
        </p:nvSpPr>
        <p:spPr>
          <a:xfrm>
            <a:off x="1084990" y="3119389"/>
            <a:ext cx="1755994" cy="461665"/>
          </a:xfrm>
          <a:prstGeom prst="rect">
            <a:avLst/>
          </a:prstGeom>
        </p:spPr>
        <p:txBody>
          <a:bodyPr wrap="square">
            <a:spAutoFit/>
          </a:bodyPr>
          <a:lstStyle/>
          <a:p>
            <a:r>
              <a:rPr lang="es-EC" sz="2400" b="1" dirty="0"/>
              <a:t>Valores de X</a:t>
            </a:r>
          </a:p>
        </p:txBody>
      </p:sp>
      <mc:AlternateContent xmlns:mc="http://schemas.openxmlformats.org/markup-compatibility/2006" xmlns:a14="http://schemas.microsoft.com/office/drawing/2010/main">
        <mc:Choice Requires="a14">
          <p:sp>
            <p:nvSpPr>
              <p:cNvPr id="7" name="CuadroTexto 6"/>
              <p:cNvSpPr txBox="1"/>
              <p:nvPr/>
            </p:nvSpPr>
            <p:spPr>
              <a:xfrm>
                <a:off x="4094480" y="3072896"/>
                <a:ext cx="162243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𝑋</m:t>
                      </m:r>
                      <m:r>
                        <a:rPr lang="es-EC" sz="2800" b="0" i="1" smtClean="0">
                          <a:latin typeface="Cambria Math" panose="02040503050406030204" pitchFamily="18" charset="0"/>
                        </a:rPr>
                        <m:t>:1,2,3,…</m:t>
                      </m:r>
                    </m:oMath>
                  </m:oMathPara>
                </a14:m>
                <a:endParaRPr lang="es-EC" sz="2800" i="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094480" y="3072896"/>
                <a:ext cx="1622432" cy="430887"/>
              </a:xfrm>
              <a:prstGeom prst="rect">
                <a:avLst/>
              </a:prstGeom>
              <a:blipFill rotWithShape="0">
                <a:blip r:embed="rId2"/>
                <a:stretch>
                  <a:fillRect/>
                </a:stretch>
              </a:blipFill>
            </p:spPr>
            <p:txBody>
              <a:bodyPr/>
              <a:lstStyle/>
              <a:p>
                <a:r>
                  <a:rPr lang="es-EC">
                    <a:noFill/>
                  </a:rPr>
                  <a:t> </a:t>
                </a:r>
              </a:p>
            </p:txBody>
          </p:sp>
        </mc:Fallback>
      </mc:AlternateContent>
      <p:sp>
        <p:nvSpPr>
          <p:cNvPr id="8" name="Rectángulo 7"/>
          <p:cNvSpPr/>
          <p:nvPr/>
        </p:nvSpPr>
        <p:spPr>
          <a:xfrm>
            <a:off x="1084990" y="3995245"/>
            <a:ext cx="3274679" cy="461665"/>
          </a:xfrm>
          <a:prstGeom prst="rect">
            <a:avLst/>
          </a:prstGeom>
        </p:spPr>
        <p:txBody>
          <a:bodyPr wrap="square">
            <a:spAutoFit/>
          </a:bodyPr>
          <a:lstStyle/>
          <a:p>
            <a:r>
              <a:rPr lang="es-EC" sz="2400" b="1" dirty="0"/>
              <a:t>Función de probabilidad</a:t>
            </a:r>
          </a:p>
        </p:txBody>
      </p:sp>
      <mc:AlternateContent xmlns:mc="http://schemas.openxmlformats.org/markup-compatibility/2006" xmlns:a14="http://schemas.microsoft.com/office/drawing/2010/main">
        <mc:Choice Requires="a14">
          <p:sp>
            <p:nvSpPr>
              <p:cNvPr id="9" name="CuadroTexto 8"/>
              <p:cNvSpPr txBox="1"/>
              <p:nvPr/>
            </p:nvSpPr>
            <p:spPr>
              <a:xfrm>
                <a:off x="3869656" y="3910104"/>
                <a:ext cx="6158518" cy="4406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𝑃</m:t>
                      </m:r>
                      <m:d>
                        <m:dPr>
                          <m:ctrlPr>
                            <a:rPr lang="es-EC" sz="2800" i="1">
                              <a:latin typeface="Cambria Math" panose="02040503050406030204" pitchFamily="18" charset="0"/>
                            </a:rPr>
                          </m:ctrlPr>
                        </m:dPr>
                        <m:e>
                          <m:r>
                            <a:rPr lang="es-EC" sz="2800" b="0" i="1">
                              <a:latin typeface="Cambria Math" panose="02040503050406030204" pitchFamily="18" charset="0"/>
                            </a:rPr>
                            <m:t>𝑋</m:t>
                          </m:r>
                          <m:r>
                            <a:rPr lang="es-EC" sz="2800" b="0">
                              <a:latin typeface="Cambria Math" panose="02040503050406030204" pitchFamily="18" charset="0"/>
                            </a:rPr>
                            <m:t>=</m:t>
                          </m:r>
                          <m:r>
                            <a:rPr lang="es-EC" sz="2800" b="0" i="1">
                              <a:latin typeface="Cambria Math" panose="02040503050406030204" pitchFamily="18" charset="0"/>
                            </a:rPr>
                            <m:t>𝑥</m:t>
                          </m:r>
                        </m:e>
                      </m:d>
                      <m:r>
                        <a:rPr lang="es-EC" sz="2800" b="0">
                          <a:latin typeface="Cambria Math" panose="02040503050406030204" pitchFamily="18" charset="0"/>
                        </a:rPr>
                        <m:t>=</m:t>
                      </m:r>
                      <m:r>
                        <a:rPr lang="es-EC" sz="2800" b="0" i="1">
                          <a:latin typeface="Cambria Math" panose="02040503050406030204" pitchFamily="18" charset="0"/>
                        </a:rPr>
                        <m:t>𝑓</m:t>
                      </m:r>
                      <m:d>
                        <m:dPr>
                          <m:ctrlPr>
                            <a:rPr lang="es-EC" sz="2800" i="1">
                              <a:latin typeface="Cambria Math" panose="02040503050406030204" pitchFamily="18" charset="0"/>
                            </a:rPr>
                          </m:ctrlPr>
                        </m:dPr>
                        <m:e>
                          <m:r>
                            <a:rPr lang="es-EC" sz="2800" b="0" i="1">
                              <a:latin typeface="Cambria Math" panose="02040503050406030204" pitchFamily="18" charset="0"/>
                            </a:rPr>
                            <m:t>𝑥</m:t>
                          </m:r>
                        </m:e>
                      </m:d>
                      <m:r>
                        <a:rPr lang="es-EC" sz="2800" b="0" i="0" smtClean="0">
                          <a:latin typeface="Cambria Math" panose="02040503050406030204" pitchFamily="18" charset="0"/>
                        </a:rPr>
                        <m:t>=</m:t>
                      </m:r>
                      <m:r>
                        <a:rPr lang="es-EC" sz="2800" b="0" i="1" smtClean="0">
                          <a:latin typeface="Cambria Math" panose="02040503050406030204" pitchFamily="18" charset="0"/>
                        </a:rPr>
                        <m:t>𝑝</m:t>
                      </m:r>
                      <m:sSup>
                        <m:sSupPr>
                          <m:ctrlPr>
                            <a:rPr lang="es-EC" sz="2800" i="1">
                              <a:latin typeface="Cambria Math" panose="02040503050406030204" pitchFamily="18" charset="0"/>
                            </a:rPr>
                          </m:ctrlPr>
                        </m:sSupPr>
                        <m:e>
                          <m:r>
                            <a:rPr lang="es-EC" sz="2800" b="0" i="1">
                              <a:latin typeface="Cambria Math" panose="02040503050406030204" pitchFamily="18" charset="0"/>
                            </a:rPr>
                            <m:t>𝑞</m:t>
                          </m:r>
                        </m:e>
                        <m:sup>
                          <m:r>
                            <a:rPr lang="es-EC" sz="2800" b="0" i="1" smtClean="0">
                              <a:latin typeface="Cambria Math" panose="02040503050406030204" pitchFamily="18" charset="0"/>
                            </a:rPr>
                            <m:t>𝑥</m:t>
                          </m:r>
                          <m:r>
                            <a:rPr lang="es-EC" sz="2800" b="0" i="1">
                              <a:latin typeface="Cambria Math" panose="02040503050406030204" pitchFamily="18" charset="0"/>
                            </a:rPr>
                            <m:t>−</m:t>
                          </m:r>
                          <m:r>
                            <a:rPr lang="es-EC" sz="2800" b="0" i="1" smtClean="0">
                              <a:latin typeface="Cambria Math" panose="02040503050406030204" pitchFamily="18" charset="0"/>
                            </a:rPr>
                            <m:t>1</m:t>
                          </m:r>
                        </m:sup>
                      </m:sSup>
                    </m:oMath>
                  </m:oMathPara>
                </a14:m>
                <a:endParaRPr lang="es-EC" sz="2800" dirty="0">
                  <a:latin typeface="Papyrus" panose="03070502060502030205" pitchFamily="66" charset="0"/>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3869656" y="3910104"/>
                <a:ext cx="6158518" cy="440633"/>
              </a:xfrm>
              <a:prstGeom prst="rect">
                <a:avLst/>
              </a:prstGeom>
              <a:blipFill rotWithShape="0">
                <a:blip r:embed="rId3"/>
                <a:stretch>
                  <a:fillRect t="-5479" b="-21918"/>
                </a:stretch>
              </a:blipFill>
            </p:spPr>
            <p:txBody>
              <a:bodyPr/>
              <a:lstStyle/>
              <a:p>
                <a:r>
                  <a:rPr lang="es-EC">
                    <a:noFill/>
                  </a:rPr>
                  <a:t> </a:t>
                </a:r>
              </a:p>
            </p:txBody>
          </p:sp>
        </mc:Fallback>
      </mc:AlternateContent>
      <p:sp>
        <p:nvSpPr>
          <p:cNvPr id="10" name="Rectángulo 9"/>
          <p:cNvSpPr/>
          <p:nvPr/>
        </p:nvSpPr>
        <p:spPr>
          <a:xfrm>
            <a:off x="1084990" y="4847388"/>
            <a:ext cx="1530162" cy="461665"/>
          </a:xfrm>
          <a:prstGeom prst="rect">
            <a:avLst/>
          </a:prstGeom>
        </p:spPr>
        <p:txBody>
          <a:bodyPr wrap="square">
            <a:spAutoFit/>
          </a:bodyPr>
          <a:lstStyle/>
          <a:p>
            <a:r>
              <a:rPr lang="es-EC" sz="2400" b="1" dirty="0"/>
              <a:t>Parámetro</a:t>
            </a:r>
          </a:p>
        </p:txBody>
      </p:sp>
      <mc:AlternateContent xmlns:mc="http://schemas.openxmlformats.org/markup-compatibility/2006" xmlns:a14="http://schemas.microsoft.com/office/drawing/2010/main">
        <mc:Choice Requires="a14">
          <p:sp>
            <p:nvSpPr>
              <p:cNvPr id="11" name="Rectángulo 10"/>
              <p:cNvSpPr/>
              <p:nvPr/>
            </p:nvSpPr>
            <p:spPr>
              <a:xfrm>
                <a:off x="4294463" y="4766437"/>
                <a:ext cx="4711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𝑝</m:t>
                      </m:r>
                    </m:oMath>
                  </m:oMathPara>
                </a14:m>
                <a:endParaRPr lang="es-EC" sz="2800" dirty="0"/>
              </a:p>
            </p:txBody>
          </p:sp>
        </mc:Choice>
        <mc:Fallback xmlns="">
          <p:sp>
            <p:nvSpPr>
              <p:cNvPr id="11" name="Rectángulo 10"/>
              <p:cNvSpPr>
                <a:spLocks noRot="1" noChangeAspect="1" noMove="1" noResize="1" noEditPoints="1" noAdjustHandles="1" noChangeArrowheads="1" noChangeShapeType="1" noTextEdit="1"/>
              </p:cNvSpPr>
              <p:nvPr/>
            </p:nvSpPr>
            <p:spPr>
              <a:xfrm>
                <a:off x="4294463" y="4766437"/>
                <a:ext cx="471155" cy="523220"/>
              </a:xfrm>
              <a:prstGeom prst="rect">
                <a:avLst/>
              </a:prstGeom>
              <a:blipFill rotWithShape="0">
                <a:blip r:embed="rId4"/>
                <a:stretch>
                  <a:fillRect/>
                </a:stretch>
              </a:blipFill>
            </p:spPr>
            <p:txBody>
              <a:bodyPr/>
              <a:lstStyle/>
              <a:p>
                <a:r>
                  <a:rPr lang="es-EC">
                    <a:noFill/>
                  </a:rPr>
                  <a:t> </a:t>
                </a:r>
              </a:p>
            </p:txBody>
          </p:sp>
        </mc:Fallback>
      </mc:AlternateContent>
      <p:sp>
        <p:nvSpPr>
          <p:cNvPr id="12" name="Rectángulo 11"/>
          <p:cNvSpPr/>
          <p:nvPr/>
        </p:nvSpPr>
        <p:spPr>
          <a:xfrm>
            <a:off x="1084990" y="5699531"/>
            <a:ext cx="1002197" cy="461665"/>
          </a:xfrm>
          <a:prstGeom prst="rect">
            <a:avLst/>
          </a:prstGeom>
        </p:spPr>
        <p:txBody>
          <a:bodyPr wrap="square">
            <a:spAutoFit/>
          </a:bodyPr>
          <a:lstStyle/>
          <a:p>
            <a:r>
              <a:rPr lang="es-EC" sz="2400" b="1" dirty="0"/>
              <a:t>Media</a:t>
            </a:r>
          </a:p>
        </p:txBody>
      </p:sp>
      <p:sp>
        <p:nvSpPr>
          <p:cNvPr id="13" name="Rectángulo 12"/>
          <p:cNvSpPr/>
          <p:nvPr/>
        </p:nvSpPr>
        <p:spPr>
          <a:xfrm>
            <a:off x="5583628" y="5709663"/>
            <a:ext cx="1274644" cy="461665"/>
          </a:xfrm>
          <a:prstGeom prst="rect">
            <a:avLst/>
          </a:prstGeom>
        </p:spPr>
        <p:txBody>
          <a:bodyPr wrap="square">
            <a:spAutoFit/>
          </a:bodyPr>
          <a:lstStyle/>
          <a:p>
            <a:r>
              <a:rPr lang="es-EC" sz="2400" b="1" dirty="0"/>
              <a:t>Varianza</a:t>
            </a:r>
          </a:p>
        </p:txBody>
      </p:sp>
      <mc:AlternateContent xmlns:mc="http://schemas.openxmlformats.org/markup-compatibility/2006" xmlns:a14="http://schemas.microsoft.com/office/drawing/2010/main">
        <mc:Choice Requires="a14">
          <p:sp>
            <p:nvSpPr>
              <p:cNvPr id="14" name="Rectángulo 13"/>
              <p:cNvSpPr/>
              <p:nvPr/>
            </p:nvSpPr>
            <p:spPr>
              <a:xfrm>
                <a:off x="2516632" y="5289657"/>
                <a:ext cx="1842812" cy="97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𝐸</m:t>
                      </m:r>
                      <m:d>
                        <m:dPr>
                          <m:ctrlPr>
                            <a:rPr lang="es-EC" sz="2800" i="1">
                              <a:latin typeface="Cambria Math" panose="02040503050406030204" pitchFamily="18" charset="0"/>
                            </a:rPr>
                          </m:ctrlPr>
                        </m:dPr>
                        <m:e>
                          <m:r>
                            <a:rPr lang="es-EC" sz="2800" b="0" i="1">
                              <a:latin typeface="Cambria Math" panose="02040503050406030204" pitchFamily="18" charset="0"/>
                            </a:rPr>
                            <m:t>𝑋</m:t>
                          </m:r>
                        </m:e>
                      </m:d>
                      <m:r>
                        <a:rPr lang="es-EC" sz="2800" b="0" i="1">
                          <a:latin typeface="Cambria Math" panose="02040503050406030204" pitchFamily="18" charset="0"/>
                        </a:rPr>
                        <m:t>=</m:t>
                      </m:r>
                      <m:f>
                        <m:fPr>
                          <m:ctrlPr>
                            <a:rPr lang="es-EC" sz="2800" i="1" smtClean="0">
                              <a:latin typeface="Cambria Math" panose="02040503050406030204" pitchFamily="18" charset="0"/>
                            </a:rPr>
                          </m:ctrlPr>
                        </m:fPr>
                        <m:num>
                          <m:r>
                            <a:rPr lang="es-EC" sz="2800" b="0" i="1" smtClean="0">
                              <a:latin typeface="Cambria Math" panose="02040503050406030204" pitchFamily="18" charset="0"/>
                            </a:rPr>
                            <m:t>1</m:t>
                          </m:r>
                        </m:num>
                        <m:den>
                          <m:r>
                            <a:rPr lang="es-EC" sz="2800" b="0" i="1" smtClean="0">
                              <a:latin typeface="Cambria Math" panose="02040503050406030204" pitchFamily="18" charset="0"/>
                            </a:rPr>
                            <m:t>𝑝</m:t>
                          </m:r>
                        </m:den>
                      </m:f>
                      <m:r>
                        <a:rPr lang="es-EC" sz="2800" b="0" i="1" smtClean="0">
                          <a:latin typeface="Cambria Math" panose="02040503050406030204" pitchFamily="18" charset="0"/>
                        </a:rPr>
                        <m:t> </m:t>
                      </m:r>
                    </m:oMath>
                  </m:oMathPara>
                </a14:m>
                <a:endParaRPr lang="es-EC" sz="2800" dirty="0"/>
              </a:p>
            </p:txBody>
          </p:sp>
        </mc:Choice>
        <mc:Fallback xmlns="">
          <p:sp>
            <p:nvSpPr>
              <p:cNvPr id="14" name="Rectángulo 13"/>
              <p:cNvSpPr>
                <a:spLocks noRot="1" noChangeAspect="1" noMove="1" noResize="1" noEditPoints="1" noAdjustHandles="1" noChangeArrowheads="1" noChangeShapeType="1" noTextEdit="1"/>
              </p:cNvSpPr>
              <p:nvPr/>
            </p:nvSpPr>
            <p:spPr>
              <a:xfrm>
                <a:off x="2516632" y="5289657"/>
                <a:ext cx="1842812" cy="974369"/>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5" name="Rectángulo 14"/>
              <p:cNvSpPr/>
              <p:nvPr/>
            </p:nvSpPr>
            <p:spPr>
              <a:xfrm>
                <a:off x="6948915" y="5369344"/>
                <a:ext cx="1933029" cy="9089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𝑉</m:t>
                      </m:r>
                      <m:d>
                        <m:dPr>
                          <m:ctrlPr>
                            <a:rPr lang="es-EC" sz="2800" i="1">
                              <a:latin typeface="Cambria Math" panose="02040503050406030204" pitchFamily="18" charset="0"/>
                            </a:rPr>
                          </m:ctrlPr>
                        </m:dPr>
                        <m:e>
                          <m:r>
                            <a:rPr lang="es-EC" sz="2800" b="0" i="1">
                              <a:latin typeface="Cambria Math" panose="02040503050406030204" pitchFamily="18" charset="0"/>
                            </a:rPr>
                            <m:t>𝑋</m:t>
                          </m:r>
                        </m:e>
                      </m:d>
                      <m:r>
                        <a:rPr lang="es-EC" sz="2800" b="0" i="1">
                          <a:latin typeface="Cambria Math" panose="02040503050406030204" pitchFamily="18" charset="0"/>
                        </a:rPr>
                        <m:t>=</m:t>
                      </m:r>
                      <m:f>
                        <m:fPr>
                          <m:ctrlPr>
                            <a:rPr lang="es-EC" sz="2800" i="1" smtClean="0">
                              <a:latin typeface="Cambria Math" panose="02040503050406030204" pitchFamily="18" charset="0"/>
                            </a:rPr>
                          </m:ctrlPr>
                        </m:fPr>
                        <m:num>
                          <m:r>
                            <a:rPr lang="es-EC" sz="2800" b="0" i="1" smtClean="0">
                              <a:latin typeface="Cambria Math" panose="02040503050406030204" pitchFamily="18" charset="0"/>
                            </a:rPr>
                            <m:t>𝑞</m:t>
                          </m:r>
                        </m:num>
                        <m:den>
                          <m:sSup>
                            <m:sSupPr>
                              <m:ctrlPr>
                                <a:rPr lang="es-EC" sz="2800" i="1" smtClean="0">
                                  <a:latin typeface="Cambria Math" panose="02040503050406030204" pitchFamily="18" charset="0"/>
                                </a:rPr>
                              </m:ctrlPr>
                            </m:sSupPr>
                            <m:e>
                              <m:r>
                                <a:rPr lang="es-EC" sz="2800" b="0" i="1" smtClean="0">
                                  <a:latin typeface="Cambria Math" panose="02040503050406030204" pitchFamily="18" charset="0"/>
                                </a:rPr>
                                <m:t>𝑝</m:t>
                              </m:r>
                            </m:e>
                            <m:sup>
                              <m:r>
                                <a:rPr lang="es-EC" sz="2800" b="0" i="1" smtClean="0">
                                  <a:latin typeface="Cambria Math" panose="02040503050406030204" pitchFamily="18" charset="0"/>
                                </a:rPr>
                                <m:t>2</m:t>
                              </m:r>
                            </m:sup>
                          </m:sSup>
                        </m:den>
                      </m:f>
                    </m:oMath>
                  </m:oMathPara>
                </a14:m>
                <a:endParaRPr lang="es-EC" sz="2800" dirty="0"/>
              </a:p>
            </p:txBody>
          </p:sp>
        </mc:Choice>
        <mc:Fallback xmlns="">
          <p:sp>
            <p:nvSpPr>
              <p:cNvPr id="15" name="Rectángulo 14"/>
              <p:cNvSpPr>
                <a:spLocks noRot="1" noChangeAspect="1" noMove="1" noResize="1" noEditPoints="1" noAdjustHandles="1" noChangeArrowheads="1" noChangeShapeType="1" noTextEdit="1"/>
              </p:cNvSpPr>
              <p:nvPr/>
            </p:nvSpPr>
            <p:spPr>
              <a:xfrm>
                <a:off x="6948915" y="5369344"/>
                <a:ext cx="1933029" cy="908967"/>
              </a:xfrm>
              <a:prstGeom prst="rect">
                <a:avLst/>
              </a:prstGeom>
              <a:blipFill rotWithShape="0">
                <a:blip r:embed="rId6"/>
                <a:stretch>
                  <a:fillRect/>
                </a:stretch>
              </a:blipFill>
            </p:spPr>
            <p:txBody>
              <a:bodyPr/>
              <a:lstStyle/>
              <a:p>
                <a:r>
                  <a:rPr lang="es-EC">
                    <a:noFill/>
                  </a:rPr>
                  <a:t> </a:t>
                </a:r>
              </a:p>
            </p:txBody>
          </p:sp>
        </mc:Fallback>
      </mc:AlternateContent>
      <p:sp>
        <p:nvSpPr>
          <p:cNvPr id="17" name="CuadroTexto 16"/>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1440836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801063"/>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1084990" y="1344609"/>
            <a:ext cx="4558620" cy="523220"/>
          </a:xfrm>
          <a:prstGeom prst="rect">
            <a:avLst/>
          </a:prstGeom>
        </p:spPr>
        <p:txBody>
          <a:bodyPr wrap="none">
            <a:spAutoFit/>
          </a:bodyPr>
          <a:lstStyle/>
          <a:p>
            <a:r>
              <a:rPr lang="es-EC" sz="2800" b="1" dirty="0"/>
              <a:t>Distribución Hipergeométrica</a:t>
            </a:r>
            <a:endParaRPr lang="es-EC" sz="2800" b="1" baseline="60000" dirty="0"/>
          </a:p>
        </p:txBody>
      </p:sp>
      <p:sp>
        <p:nvSpPr>
          <p:cNvPr id="5" name="Rectángulo 4"/>
          <p:cNvSpPr/>
          <p:nvPr/>
        </p:nvSpPr>
        <p:spPr>
          <a:xfrm>
            <a:off x="1084990" y="1872567"/>
            <a:ext cx="9917790" cy="830997"/>
          </a:xfrm>
          <a:prstGeom prst="rect">
            <a:avLst/>
          </a:prstGeom>
        </p:spPr>
        <p:txBody>
          <a:bodyPr wrap="square">
            <a:spAutoFit/>
          </a:bodyPr>
          <a:lstStyle/>
          <a:p>
            <a:r>
              <a:rPr lang="es-EC" sz="2400" dirty="0"/>
              <a:t>Número de éxitos en una muestra  de n elementos tomados de una población N de los cuáles k elementos tienen una característica de interés</a:t>
            </a:r>
          </a:p>
        </p:txBody>
      </p:sp>
      <p:sp>
        <p:nvSpPr>
          <p:cNvPr id="6" name="Rectángulo 5"/>
          <p:cNvSpPr/>
          <p:nvPr/>
        </p:nvSpPr>
        <p:spPr>
          <a:xfrm>
            <a:off x="1084990" y="3119389"/>
            <a:ext cx="1494896" cy="400110"/>
          </a:xfrm>
          <a:prstGeom prst="rect">
            <a:avLst/>
          </a:prstGeom>
        </p:spPr>
        <p:txBody>
          <a:bodyPr wrap="none">
            <a:spAutoFit/>
          </a:bodyPr>
          <a:lstStyle/>
          <a:p>
            <a:r>
              <a:rPr lang="es-EC" sz="2000" b="1" dirty="0"/>
              <a:t>Valores de X</a:t>
            </a:r>
            <a:endParaRPr lang="es-EC" sz="2000" dirty="0"/>
          </a:p>
        </p:txBody>
      </p:sp>
      <mc:AlternateContent xmlns:mc="http://schemas.openxmlformats.org/markup-compatibility/2006" xmlns:a14="http://schemas.microsoft.com/office/drawing/2010/main">
        <mc:Choice Requires="a14">
          <p:sp>
            <p:nvSpPr>
              <p:cNvPr id="7" name="CuadroTexto 6"/>
              <p:cNvSpPr txBox="1"/>
              <p:nvPr/>
            </p:nvSpPr>
            <p:spPr>
              <a:xfrm>
                <a:off x="4142680" y="2976576"/>
                <a:ext cx="230127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𝑋</m:t>
                      </m:r>
                      <m:r>
                        <a:rPr lang="es-EC" sz="2800" b="0" i="1" smtClean="0">
                          <a:latin typeface="Cambria Math" panose="02040503050406030204" pitchFamily="18" charset="0"/>
                        </a:rPr>
                        <m:t>:0,1,2,3,…,</m:t>
                      </m:r>
                      <m:r>
                        <a:rPr lang="es-EC" sz="2800" b="0" i="1" smtClean="0">
                          <a:latin typeface="Cambria Math" panose="02040503050406030204" pitchFamily="18" charset="0"/>
                        </a:rPr>
                        <m:t>𝑛</m:t>
                      </m:r>
                    </m:oMath>
                  </m:oMathPara>
                </a14:m>
                <a:endParaRPr lang="es-EC" sz="2800" i="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142680" y="2976576"/>
                <a:ext cx="2301271" cy="430887"/>
              </a:xfrm>
              <a:prstGeom prst="rect">
                <a:avLst/>
              </a:prstGeom>
              <a:blipFill rotWithShape="0">
                <a:blip r:embed="rId2"/>
                <a:stretch>
                  <a:fillRect/>
                </a:stretch>
              </a:blipFill>
            </p:spPr>
            <p:txBody>
              <a:bodyPr/>
              <a:lstStyle/>
              <a:p>
                <a:r>
                  <a:rPr lang="es-EC">
                    <a:noFill/>
                  </a:rPr>
                  <a:t> </a:t>
                </a:r>
              </a:p>
            </p:txBody>
          </p:sp>
        </mc:Fallback>
      </mc:AlternateContent>
      <p:sp>
        <p:nvSpPr>
          <p:cNvPr id="8" name="Rectángulo 7"/>
          <p:cNvSpPr/>
          <p:nvPr/>
        </p:nvSpPr>
        <p:spPr>
          <a:xfrm>
            <a:off x="1084990" y="3995245"/>
            <a:ext cx="2863284" cy="400110"/>
          </a:xfrm>
          <a:prstGeom prst="rect">
            <a:avLst/>
          </a:prstGeom>
        </p:spPr>
        <p:txBody>
          <a:bodyPr wrap="none">
            <a:spAutoFit/>
          </a:bodyPr>
          <a:lstStyle/>
          <a:p>
            <a:r>
              <a:rPr lang="es-EC" sz="2000" b="1" dirty="0"/>
              <a:t>Función de probabilidad</a:t>
            </a:r>
            <a:endParaRPr lang="es-EC" sz="2000" dirty="0"/>
          </a:p>
        </p:txBody>
      </p:sp>
      <p:sp>
        <p:nvSpPr>
          <p:cNvPr id="10" name="Rectángulo 9"/>
          <p:cNvSpPr/>
          <p:nvPr/>
        </p:nvSpPr>
        <p:spPr>
          <a:xfrm>
            <a:off x="1084990" y="4847388"/>
            <a:ext cx="1435008" cy="400110"/>
          </a:xfrm>
          <a:prstGeom prst="rect">
            <a:avLst/>
          </a:prstGeom>
        </p:spPr>
        <p:txBody>
          <a:bodyPr wrap="none">
            <a:spAutoFit/>
          </a:bodyPr>
          <a:lstStyle/>
          <a:p>
            <a:r>
              <a:rPr lang="es-EC" sz="2000" b="1" dirty="0"/>
              <a:t>Parámetros</a:t>
            </a:r>
            <a:endParaRPr lang="es-EC" sz="2000" dirty="0"/>
          </a:p>
        </p:txBody>
      </p:sp>
      <p:sp>
        <p:nvSpPr>
          <p:cNvPr id="12" name="Rectángulo 11"/>
          <p:cNvSpPr/>
          <p:nvPr/>
        </p:nvSpPr>
        <p:spPr>
          <a:xfrm>
            <a:off x="1084990" y="5699531"/>
            <a:ext cx="865943" cy="400110"/>
          </a:xfrm>
          <a:prstGeom prst="rect">
            <a:avLst/>
          </a:prstGeom>
        </p:spPr>
        <p:txBody>
          <a:bodyPr wrap="none">
            <a:spAutoFit/>
          </a:bodyPr>
          <a:lstStyle/>
          <a:p>
            <a:r>
              <a:rPr lang="es-EC" sz="2000" b="1" dirty="0"/>
              <a:t>Media</a:t>
            </a:r>
            <a:endParaRPr lang="es-EC" sz="2000" dirty="0"/>
          </a:p>
        </p:txBody>
      </p:sp>
      <p:sp>
        <p:nvSpPr>
          <p:cNvPr id="13" name="Rectángulo 12"/>
          <p:cNvSpPr/>
          <p:nvPr/>
        </p:nvSpPr>
        <p:spPr>
          <a:xfrm>
            <a:off x="5583628" y="5699530"/>
            <a:ext cx="1093761" cy="400110"/>
          </a:xfrm>
          <a:prstGeom prst="rect">
            <a:avLst/>
          </a:prstGeom>
        </p:spPr>
        <p:txBody>
          <a:bodyPr wrap="none">
            <a:spAutoFit/>
          </a:bodyPr>
          <a:lstStyle/>
          <a:p>
            <a:r>
              <a:rPr lang="es-EC" sz="2000" b="1" dirty="0"/>
              <a:t>Varianza</a:t>
            </a:r>
            <a:endParaRPr lang="es-EC" sz="2000" dirty="0"/>
          </a:p>
        </p:txBody>
      </p:sp>
      <mc:AlternateContent xmlns:mc="http://schemas.openxmlformats.org/markup-compatibility/2006" xmlns:a14="http://schemas.microsoft.com/office/drawing/2010/main">
        <mc:Choice Requires="a14">
          <p:sp>
            <p:nvSpPr>
              <p:cNvPr id="16" name="CuadroTexto 15"/>
              <p:cNvSpPr txBox="1"/>
              <p:nvPr/>
            </p:nvSpPr>
            <p:spPr>
              <a:xfrm>
                <a:off x="3655646" y="3444954"/>
                <a:ext cx="6158518" cy="139711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𝑃</m:t>
                      </m:r>
                      <m:d>
                        <m:dPr>
                          <m:ctrlPr>
                            <a:rPr lang="es-EC" sz="2600" i="1">
                              <a:latin typeface="Cambria Math" panose="02040503050406030204" pitchFamily="18" charset="0"/>
                            </a:rPr>
                          </m:ctrlPr>
                        </m:dPr>
                        <m:e>
                          <m:r>
                            <a:rPr lang="es-EC" sz="2600" b="0" i="1">
                              <a:latin typeface="Cambria Math" panose="02040503050406030204" pitchFamily="18" charset="0"/>
                            </a:rPr>
                            <m:t>𝑋</m:t>
                          </m:r>
                          <m:r>
                            <a:rPr lang="es-EC" sz="2600" b="0">
                              <a:latin typeface="Cambria Math" panose="02040503050406030204" pitchFamily="18" charset="0"/>
                            </a:rPr>
                            <m:t>=</m:t>
                          </m:r>
                          <m:r>
                            <a:rPr lang="es-EC" sz="2600" b="0" i="1">
                              <a:latin typeface="Cambria Math" panose="02040503050406030204" pitchFamily="18" charset="0"/>
                            </a:rPr>
                            <m:t>𝑥</m:t>
                          </m:r>
                        </m:e>
                      </m:d>
                      <m:r>
                        <a:rPr lang="es-EC" sz="2600" b="0">
                          <a:latin typeface="Cambria Math" panose="02040503050406030204" pitchFamily="18" charset="0"/>
                        </a:rPr>
                        <m:t>=</m:t>
                      </m:r>
                      <m:r>
                        <a:rPr lang="es-EC" sz="2600" b="0" i="1">
                          <a:latin typeface="Cambria Math" panose="02040503050406030204" pitchFamily="18" charset="0"/>
                        </a:rPr>
                        <m:t>𝑓</m:t>
                      </m:r>
                      <m:d>
                        <m:dPr>
                          <m:ctrlPr>
                            <a:rPr lang="es-EC" sz="2600" i="1">
                              <a:latin typeface="Cambria Math" panose="02040503050406030204" pitchFamily="18" charset="0"/>
                            </a:rPr>
                          </m:ctrlPr>
                        </m:dPr>
                        <m:e>
                          <m:r>
                            <a:rPr lang="es-EC" sz="2600" b="0" i="1">
                              <a:latin typeface="Cambria Math" panose="02040503050406030204" pitchFamily="18" charset="0"/>
                            </a:rPr>
                            <m:t>𝑥</m:t>
                          </m:r>
                        </m:e>
                      </m:d>
                      <m:r>
                        <a:rPr lang="es-EC" sz="2600" b="0" i="0" smtClean="0">
                          <a:latin typeface="Cambria Math" panose="02040503050406030204" pitchFamily="18" charset="0"/>
                        </a:rPr>
                        <m:t>=</m:t>
                      </m:r>
                      <m:f>
                        <m:fPr>
                          <m:ctrlPr>
                            <a:rPr lang="es-EC" sz="2600" i="1" smtClean="0">
                              <a:latin typeface="Cambria Math" panose="02040503050406030204" pitchFamily="18" charset="0"/>
                            </a:rPr>
                          </m:ctrlPr>
                        </m:fPr>
                        <m:num>
                          <m:d>
                            <m:dPr>
                              <m:ctrlPr>
                                <a:rPr lang="es-EC" sz="2600" i="1" smtClean="0">
                                  <a:latin typeface="Cambria Math" panose="02040503050406030204" pitchFamily="18" charset="0"/>
                                </a:rPr>
                              </m:ctrlPr>
                            </m:dPr>
                            <m:e>
                              <m:m>
                                <m:mPr>
                                  <m:mcs>
                                    <m:mc>
                                      <m:mcPr>
                                        <m:count m:val="1"/>
                                        <m:mcJc m:val="center"/>
                                      </m:mcPr>
                                    </m:mc>
                                  </m:mcs>
                                  <m:ctrlPr>
                                    <a:rPr lang="es-EC" sz="2600" i="1" smtClean="0">
                                      <a:latin typeface="Cambria Math" panose="02040503050406030204" pitchFamily="18" charset="0"/>
                                    </a:rPr>
                                  </m:ctrlPr>
                                </m:mPr>
                                <m:mr>
                                  <m:e>
                                    <m:r>
                                      <m:rPr>
                                        <m:brk m:alnAt="7"/>
                                      </m:rPr>
                                      <a:rPr lang="es-EC" sz="2600" b="0" i="1" smtClean="0">
                                        <a:latin typeface="Cambria Math" panose="02040503050406030204" pitchFamily="18" charset="0"/>
                                      </a:rPr>
                                      <m:t>𝑘</m:t>
                                    </m:r>
                                  </m:e>
                                </m:mr>
                                <m:mr>
                                  <m:e>
                                    <m:r>
                                      <a:rPr lang="es-EC" sz="2600" b="0" i="1" smtClean="0">
                                        <a:latin typeface="Cambria Math" panose="02040503050406030204" pitchFamily="18" charset="0"/>
                                      </a:rPr>
                                      <m:t>𝑥</m:t>
                                    </m:r>
                                  </m:e>
                                </m:mr>
                              </m:m>
                            </m:e>
                          </m:d>
                          <m:d>
                            <m:dPr>
                              <m:ctrlPr>
                                <a:rPr lang="es-EC" sz="2600" i="1">
                                  <a:latin typeface="Cambria Math" panose="02040503050406030204" pitchFamily="18" charset="0"/>
                                </a:rPr>
                              </m:ctrlPr>
                            </m:dPr>
                            <m:e>
                              <m:m>
                                <m:mPr>
                                  <m:mcs>
                                    <m:mc>
                                      <m:mcPr>
                                        <m:count m:val="1"/>
                                        <m:mcJc m:val="center"/>
                                      </m:mcPr>
                                    </m:mc>
                                  </m:mcs>
                                  <m:ctrlPr>
                                    <a:rPr lang="es-EC" sz="2600" i="1">
                                      <a:latin typeface="Cambria Math" panose="02040503050406030204" pitchFamily="18" charset="0"/>
                                    </a:rPr>
                                  </m:ctrlPr>
                                </m:mPr>
                                <m:mr>
                                  <m:e>
                                    <m:r>
                                      <a:rPr lang="es-EC" sz="2600" b="0" i="1" smtClean="0">
                                        <a:latin typeface="Cambria Math" panose="02040503050406030204" pitchFamily="18" charset="0"/>
                                      </a:rPr>
                                      <m:t>𝑁</m:t>
                                    </m:r>
                                    <m:r>
                                      <a:rPr lang="es-EC" sz="2600" b="0" i="1" smtClean="0">
                                        <a:latin typeface="Cambria Math" panose="02040503050406030204" pitchFamily="18" charset="0"/>
                                      </a:rPr>
                                      <m:t>−</m:t>
                                    </m:r>
                                    <m:r>
                                      <a:rPr lang="es-EC" sz="2600" b="0" i="1" smtClean="0">
                                        <a:latin typeface="Cambria Math" panose="02040503050406030204" pitchFamily="18" charset="0"/>
                                      </a:rPr>
                                      <m:t>𝑘</m:t>
                                    </m:r>
                                  </m:e>
                                </m:mr>
                                <m:mr>
                                  <m:e>
                                    <m:r>
                                      <a:rPr lang="es-EC" sz="2600" b="0" i="1" smtClean="0">
                                        <a:latin typeface="Cambria Math" panose="02040503050406030204" pitchFamily="18" charset="0"/>
                                      </a:rPr>
                                      <m:t>𝑛</m:t>
                                    </m:r>
                                    <m:r>
                                      <a:rPr lang="es-EC" sz="2600" b="0" i="1" smtClean="0">
                                        <a:latin typeface="Cambria Math" panose="02040503050406030204" pitchFamily="18" charset="0"/>
                                      </a:rPr>
                                      <m:t>−</m:t>
                                    </m:r>
                                    <m:r>
                                      <a:rPr lang="es-EC" sz="2600" b="0" i="1" smtClean="0">
                                        <a:latin typeface="Cambria Math" panose="02040503050406030204" pitchFamily="18" charset="0"/>
                                      </a:rPr>
                                      <m:t>𝑥</m:t>
                                    </m:r>
                                  </m:e>
                                </m:mr>
                              </m:m>
                            </m:e>
                          </m:d>
                        </m:num>
                        <m:den>
                          <m:d>
                            <m:dPr>
                              <m:ctrlPr>
                                <a:rPr lang="es-EC" sz="2600" i="1" smtClean="0">
                                  <a:latin typeface="Cambria Math" panose="02040503050406030204" pitchFamily="18" charset="0"/>
                                </a:rPr>
                              </m:ctrlPr>
                            </m:dPr>
                            <m:e>
                              <m:m>
                                <m:mPr>
                                  <m:mcs>
                                    <m:mc>
                                      <m:mcPr>
                                        <m:count m:val="1"/>
                                        <m:mcJc m:val="center"/>
                                      </m:mcPr>
                                    </m:mc>
                                  </m:mcs>
                                  <m:ctrlPr>
                                    <a:rPr lang="es-EC" sz="2600" i="1" smtClean="0">
                                      <a:latin typeface="Cambria Math" panose="02040503050406030204" pitchFamily="18" charset="0"/>
                                    </a:rPr>
                                  </m:ctrlPr>
                                </m:mPr>
                                <m:mr>
                                  <m:e>
                                    <m:r>
                                      <m:rPr>
                                        <m:brk m:alnAt="7"/>
                                      </m:rPr>
                                      <a:rPr lang="es-EC" sz="2600" b="0" i="1" smtClean="0">
                                        <a:latin typeface="Cambria Math" panose="02040503050406030204" pitchFamily="18" charset="0"/>
                                      </a:rPr>
                                      <m:t>𝑁</m:t>
                                    </m:r>
                                  </m:e>
                                </m:mr>
                                <m:mr>
                                  <m:e>
                                    <m:r>
                                      <a:rPr lang="es-EC" sz="2600" b="0" i="1" smtClean="0">
                                        <a:latin typeface="Cambria Math" panose="02040503050406030204" pitchFamily="18" charset="0"/>
                                      </a:rPr>
                                      <m:t>𝑛</m:t>
                                    </m:r>
                                  </m:e>
                                </m:mr>
                              </m:m>
                            </m:e>
                          </m:d>
                        </m:den>
                      </m:f>
                    </m:oMath>
                  </m:oMathPara>
                </a14:m>
                <a:endParaRPr lang="es-EC" sz="2600" dirty="0">
                  <a:latin typeface="Papyrus" panose="03070502060502030205" pitchFamily="66" charset="0"/>
                </a:endParaRPr>
              </a:p>
            </p:txBody>
          </p:sp>
        </mc:Choice>
        <mc:Fallback xmlns="">
          <p:sp>
            <p:nvSpPr>
              <p:cNvPr id="16" name="CuadroTexto 15"/>
              <p:cNvSpPr txBox="1">
                <a:spLocks noRot="1" noChangeAspect="1" noMove="1" noResize="1" noEditPoints="1" noAdjustHandles="1" noChangeArrowheads="1" noChangeShapeType="1" noTextEdit="1"/>
              </p:cNvSpPr>
              <p:nvPr/>
            </p:nvSpPr>
            <p:spPr>
              <a:xfrm>
                <a:off x="3655646" y="3444954"/>
                <a:ext cx="6158518" cy="1397114"/>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7" name="Rectángulo 16"/>
              <p:cNvSpPr/>
              <p:nvPr/>
            </p:nvSpPr>
            <p:spPr>
              <a:xfrm>
                <a:off x="4294463" y="4766437"/>
                <a:ext cx="12274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𝑁</m:t>
                      </m:r>
                      <m:r>
                        <a:rPr lang="es-EC" sz="2800" b="0" i="1" smtClean="0">
                          <a:latin typeface="Cambria Math" panose="02040503050406030204" pitchFamily="18" charset="0"/>
                        </a:rPr>
                        <m:t>,</m:t>
                      </m:r>
                      <m:r>
                        <a:rPr lang="es-EC" sz="2800" b="0" i="1" smtClean="0">
                          <a:latin typeface="Cambria Math" panose="02040503050406030204" pitchFamily="18" charset="0"/>
                        </a:rPr>
                        <m:t>𝑛</m:t>
                      </m:r>
                      <m:r>
                        <a:rPr lang="es-EC" sz="2800" b="0" i="1" smtClean="0">
                          <a:latin typeface="Cambria Math" panose="02040503050406030204" pitchFamily="18" charset="0"/>
                        </a:rPr>
                        <m:t>,</m:t>
                      </m:r>
                      <m:r>
                        <a:rPr lang="es-EC" sz="2800" b="0" i="1" smtClean="0">
                          <a:latin typeface="Cambria Math" panose="02040503050406030204" pitchFamily="18" charset="0"/>
                        </a:rPr>
                        <m:t>𝑘</m:t>
                      </m:r>
                    </m:oMath>
                  </m:oMathPara>
                </a14:m>
                <a:endParaRPr lang="es-EC" sz="2800" dirty="0"/>
              </a:p>
            </p:txBody>
          </p:sp>
        </mc:Choice>
        <mc:Fallback xmlns="">
          <p:sp>
            <p:nvSpPr>
              <p:cNvPr id="17" name="Rectángulo 16"/>
              <p:cNvSpPr>
                <a:spLocks noRot="1" noChangeAspect="1" noMove="1" noResize="1" noEditPoints="1" noAdjustHandles="1" noChangeArrowheads="1" noChangeShapeType="1" noTextEdit="1"/>
              </p:cNvSpPr>
              <p:nvPr/>
            </p:nvSpPr>
            <p:spPr>
              <a:xfrm>
                <a:off x="4294463" y="4766437"/>
                <a:ext cx="1227452" cy="523220"/>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9" name="Rectángulo 18"/>
              <p:cNvSpPr/>
              <p:nvPr/>
            </p:nvSpPr>
            <p:spPr>
              <a:xfrm>
                <a:off x="2533784" y="5455549"/>
                <a:ext cx="1873333" cy="849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𝐸</m:t>
                      </m:r>
                      <m:d>
                        <m:dPr>
                          <m:ctrlPr>
                            <a:rPr lang="es-EC" sz="2600" i="1">
                              <a:latin typeface="Cambria Math" panose="02040503050406030204" pitchFamily="18" charset="0"/>
                            </a:rPr>
                          </m:ctrlPr>
                        </m:dPr>
                        <m:e>
                          <m:r>
                            <a:rPr lang="es-EC" sz="2600" b="0" i="1">
                              <a:latin typeface="Cambria Math" panose="02040503050406030204" pitchFamily="18" charset="0"/>
                            </a:rPr>
                            <m:t>𝑋</m:t>
                          </m:r>
                        </m:e>
                      </m:d>
                      <m:r>
                        <a:rPr lang="es-EC" sz="2600" b="0" i="1">
                          <a:latin typeface="Cambria Math" panose="02040503050406030204" pitchFamily="18" charset="0"/>
                        </a:rPr>
                        <m:t>=</m:t>
                      </m:r>
                      <m:f>
                        <m:fPr>
                          <m:ctrlPr>
                            <a:rPr lang="es-EC" sz="2600" i="1" smtClean="0">
                              <a:latin typeface="Cambria Math" panose="02040503050406030204" pitchFamily="18" charset="0"/>
                            </a:rPr>
                          </m:ctrlPr>
                        </m:fPr>
                        <m:num>
                          <m:r>
                            <a:rPr lang="es-EC" sz="2600" b="0" i="1" smtClean="0">
                              <a:latin typeface="Cambria Math" panose="02040503050406030204" pitchFamily="18" charset="0"/>
                            </a:rPr>
                            <m:t>𝑛𝑘</m:t>
                          </m:r>
                        </m:num>
                        <m:den>
                          <m:r>
                            <a:rPr lang="es-EC" sz="2600" b="0" i="1" smtClean="0">
                              <a:latin typeface="Cambria Math" panose="02040503050406030204" pitchFamily="18" charset="0"/>
                            </a:rPr>
                            <m:t>𝑁</m:t>
                          </m:r>
                        </m:den>
                      </m:f>
                      <m:r>
                        <a:rPr lang="es-EC" sz="2600" b="0" i="1" smtClean="0">
                          <a:latin typeface="Cambria Math" panose="02040503050406030204" pitchFamily="18" charset="0"/>
                        </a:rPr>
                        <m:t> </m:t>
                      </m:r>
                    </m:oMath>
                  </m:oMathPara>
                </a14:m>
                <a:endParaRPr lang="es-EC" sz="2600" dirty="0"/>
              </a:p>
            </p:txBody>
          </p:sp>
        </mc:Choice>
        <mc:Fallback xmlns="">
          <p:sp>
            <p:nvSpPr>
              <p:cNvPr id="19" name="Rectángulo 18"/>
              <p:cNvSpPr>
                <a:spLocks noRot="1" noChangeAspect="1" noMove="1" noResize="1" noEditPoints="1" noAdjustHandles="1" noChangeArrowheads="1" noChangeShapeType="1" noTextEdit="1"/>
              </p:cNvSpPr>
              <p:nvPr/>
            </p:nvSpPr>
            <p:spPr>
              <a:xfrm>
                <a:off x="2533784" y="5455549"/>
                <a:ext cx="1873333" cy="849463"/>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20" name="Rectángulo 19"/>
              <p:cNvSpPr/>
              <p:nvPr/>
            </p:nvSpPr>
            <p:spPr>
              <a:xfrm>
                <a:off x="6948915" y="5369344"/>
                <a:ext cx="4424994" cy="991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𝑉</m:t>
                      </m:r>
                      <m:d>
                        <m:dPr>
                          <m:ctrlPr>
                            <a:rPr lang="es-EC" sz="2600" i="1">
                              <a:latin typeface="Cambria Math" panose="02040503050406030204" pitchFamily="18" charset="0"/>
                            </a:rPr>
                          </m:ctrlPr>
                        </m:dPr>
                        <m:e>
                          <m:r>
                            <a:rPr lang="es-EC" sz="2600" b="0" i="1">
                              <a:latin typeface="Cambria Math" panose="02040503050406030204" pitchFamily="18" charset="0"/>
                            </a:rPr>
                            <m:t>𝑋</m:t>
                          </m:r>
                        </m:e>
                      </m:d>
                      <m:r>
                        <a:rPr lang="es-EC" sz="2600" b="0" i="1">
                          <a:latin typeface="Cambria Math" panose="02040503050406030204" pitchFamily="18" charset="0"/>
                        </a:rPr>
                        <m:t>=</m:t>
                      </m:r>
                      <m:f>
                        <m:fPr>
                          <m:ctrlPr>
                            <a:rPr lang="es-EC" sz="2600" i="1" smtClean="0">
                              <a:latin typeface="Cambria Math" panose="02040503050406030204" pitchFamily="18" charset="0"/>
                            </a:rPr>
                          </m:ctrlPr>
                        </m:fPr>
                        <m:num>
                          <m:r>
                            <a:rPr lang="es-EC" sz="2600" b="0" i="1" smtClean="0">
                              <a:latin typeface="Cambria Math" panose="02040503050406030204" pitchFamily="18" charset="0"/>
                            </a:rPr>
                            <m:t>𝑁</m:t>
                          </m:r>
                          <m:r>
                            <a:rPr lang="es-EC" sz="2600" b="0" i="1" smtClean="0">
                              <a:latin typeface="Cambria Math" panose="02040503050406030204" pitchFamily="18" charset="0"/>
                            </a:rPr>
                            <m:t>−</m:t>
                          </m:r>
                          <m:r>
                            <a:rPr lang="es-EC" sz="2600" b="0" i="1" smtClean="0">
                              <a:latin typeface="Cambria Math" panose="02040503050406030204" pitchFamily="18" charset="0"/>
                            </a:rPr>
                            <m:t>𝑛</m:t>
                          </m:r>
                        </m:num>
                        <m:den>
                          <m:r>
                            <a:rPr lang="es-EC" sz="2600" b="0" i="1" smtClean="0">
                              <a:latin typeface="Cambria Math" panose="02040503050406030204" pitchFamily="18" charset="0"/>
                            </a:rPr>
                            <m:t>𝑁</m:t>
                          </m:r>
                          <m:r>
                            <a:rPr lang="es-EC" sz="2600" b="0" i="1" smtClean="0">
                              <a:latin typeface="Cambria Math" panose="02040503050406030204" pitchFamily="18" charset="0"/>
                            </a:rPr>
                            <m:t>−1</m:t>
                          </m:r>
                        </m:den>
                      </m:f>
                      <m:d>
                        <m:dPr>
                          <m:ctrlPr>
                            <a:rPr lang="es-EC" sz="2600" i="1" smtClean="0">
                              <a:latin typeface="Cambria Math" panose="02040503050406030204" pitchFamily="18" charset="0"/>
                            </a:rPr>
                          </m:ctrlPr>
                        </m:dPr>
                        <m:e>
                          <m:f>
                            <m:fPr>
                              <m:ctrlPr>
                                <a:rPr lang="es-EC" sz="2600" i="1">
                                  <a:latin typeface="Cambria Math" panose="02040503050406030204" pitchFamily="18" charset="0"/>
                                </a:rPr>
                              </m:ctrlPr>
                            </m:fPr>
                            <m:num>
                              <m:r>
                                <a:rPr lang="es-EC" sz="2600" b="0" i="1">
                                  <a:latin typeface="Cambria Math" panose="02040503050406030204" pitchFamily="18" charset="0"/>
                                </a:rPr>
                                <m:t>𝑛𝑘</m:t>
                              </m:r>
                            </m:num>
                            <m:den>
                              <m:r>
                                <a:rPr lang="es-EC" sz="2600" b="0" i="1">
                                  <a:latin typeface="Cambria Math" panose="02040503050406030204" pitchFamily="18" charset="0"/>
                                </a:rPr>
                                <m:t>𝑁</m:t>
                              </m:r>
                            </m:den>
                          </m:f>
                        </m:e>
                      </m:d>
                      <m:d>
                        <m:dPr>
                          <m:ctrlPr>
                            <a:rPr lang="es-EC" sz="2600" i="1" smtClean="0">
                              <a:latin typeface="Cambria Math" panose="02040503050406030204" pitchFamily="18" charset="0"/>
                            </a:rPr>
                          </m:ctrlPr>
                        </m:dPr>
                        <m:e>
                          <m:r>
                            <a:rPr lang="es-EC" sz="2600" b="0" i="1">
                              <a:latin typeface="Cambria Math" panose="02040503050406030204" pitchFamily="18" charset="0"/>
                            </a:rPr>
                            <m:t>1−</m:t>
                          </m:r>
                          <m:f>
                            <m:fPr>
                              <m:ctrlPr>
                                <a:rPr lang="es-EC" sz="2600" i="1">
                                  <a:latin typeface="Cambria Math" panose="02040503050406030204" pitchFamily="18" charset="0"/>
                                </a:rPr>
                              </m:ctrlPr>
                            </m:fPr>
                            <m:num>
                              <m:r>
                                <a:rPr lang="es-EC" sz="2600" b="0" i="1">
                                  <a:latin typeface="Cambria Math" panose="02040503050406030204" pitchFamily="18" charset="0"/>
                                </a:rPr>
                                <m:t>𝑘</m:t>
                              </m:r>
                            </m:num>
                            <m:den>
                              <m:r>
                                <a:rPr lang="es-EC" sz="2600" b="0" i="1">
                                  <a:latin typeface="Cambria Math" panose="02040503050406030204" pitchFamily="18" charset="0"/>
                                </a:rPr>
                                <m:t>𝑁</m:t>
                              </m:r>
                            </m:den>
                          </m:f>
                        </m:e>
                      </m:d>
                      <m:r>
                        <a:rPr lang="es-EC" sz="2600" b="0" i="1" smtClean="0">
                          <a:latin typeface="Cambria Math" panose="02040503050406030204" pitchFamily="18" charset="0"/>
                        </a:rPr>
                        <m:t> </m:t>
                      </m:r>
                    </m:oMath>
                  </m:oMathPara>
                </a14:m>
                <a:endParaRPr lang="es-EC" sz="2600" dirty="0"/>
              </a:p>
            </p:txBody>
          </p:sp>
        </mc:Choice>
        <mc:Fallback xmlns="">
          <p:sp>
            <p:nvSpPr>
              <p:cNvPr id="20" name="Rectángulo 19"/>
              <p:cNvSpPr>
                <a:spLocks noRot="1" noChangeAspect="1" noMove="1" noResize="1" noEditPoints="1" noAdjustHandles="1" noChangeArrowheads="1" noChangeShapeType="1" noTextEdit="1"/>
              </p:cNvSpPr>
              <p:nvPr/>
            </p:nvSpPr>
            <p:spPr>
              <a:xfrm>
                <a:off x="6948915" y="5369344"/>
                <a:ext cx="4424994" cy="991362"/>
              </a:xfrm>
              <a:prstGeom prst="rect">
                <a:avLst/>
              </a:prstGeom>
              <a:blipFill rotWithShape="0">
                <a:blip r:embed="rId6"/>
                <a:stretch>
                  <a:fillRect/>
                </a:stretch>
              </a:blipFill>
            </p:spPr>
            <p:txBody>
              <a:bodyPr/>
              <a:lstStyle/>
              <a:p>
                <a:r>
                  <a:rPr lang="es-EC">
                    <a:noFill/>
                  </a:rPr>
                  <a:t> </a:t>
                </a:r>
              </a:p>
            </p:txBody>
          </p:sp>
        </mc:Fallback>
      </mc:AlternateContent>
      <p:sp>
        <p:nvSpPr>
          <p:cNvPr id="18" name="CuadroTexto 17"/>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771039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965934"/>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1084990" y="1688882"/>
            <a:ext cx="4784130" cy="523220"/>
          </a:xfrm>
          <a:prstGeom prst="rect">
            <a:avLst/>
          </a:prstGeom>
        </p:spPr>
        <p:txBody>
          <a:bodyPr wrap="none">
            <a:spAutoFit/>
          </a:bodyPr>
          <a:lstStyle/>
          <a:p>
            <a:r>
              <a:rPr lang="es-EC" sz="2800" b="1" dirty="0"/>
              <a:t>Distribución Binomial Negativa</a:t>
            </a:r>
            <a:endParaRPr lang="es-EC" sz="2800" b="1" baseline="60000" dirty="0"/>
          </a:p>
        </p:txBody>
      </p:sp>
      <p:sp>
        <p:nvSpPr>
          <p:cNvPr id="6" name="Rectángulo 5"/>
          <p:cNvSpPr/>
          <p:nvPr/>
        </p:nvSpPr>
        <p:spPr>
          <a:xfrm>
            <a:off x="1084990" y="3119389"/>
            <a:ext cx="1494896" cy="400110"/>
          </a:xfrm>
          <a:prstGeom prst="rect">
            <a:avLst/>
          </a:prstGeom>
        </p:spPr>
        <p:txBody>
          <a:bodyPr wrap="none">
            <a:spAutoFit/>
          </a:bodyPr>
          <a:lstStyle/>
          <a:p>
            <a:r>
              <a:rPr lang="es-EC" sz="2000" b="1" dirty="0"/>
              <a:t>Valores de X</a:t>
            </a:r>
          </a:p>
        </p:txBody>
      </p:sp>
      <mc:AlternateContent xmlns:mc="http://schemas.openxmlformats.org/markup-compatibility/2006" xmlns:a14="http://schemas.microsoft.com/office/drawing/2010/main">
        <mc:Choice Requires="a14">
          <p:sp>
            <p:nvSpPr>
              <p:cNvPr id="7" name="CuadroTexto 6"/>
              <p:cNvSpPr txBox="1"/>
              <p:nvPr/>
            </p:nvSpPr>
            <p:spPr>
              <a:xfrm>
                <a:off x="4094480" y="3072896"/>
                <a:ext cx="3709734" cy="400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𝑋</m:t>
                      </m:r>
                      <m:r>
                        <a:rPr lang="es-EC" sz="2600" b="0" i="1" smtClean="0">
                          <a:latin typeface="Cambria Math" panose="02040503050406030204" pitchFamily="18" charset="0"/>
                        </a:rPr>
                        <m:t>:</m:t>
                      </m:r>
                      <m:r>
                        <a:rPr lang="es-EC" sz="2600" b="0" i="1" smtClean="0">
                          <a:latin typeface="Cambria Math" panose="02040503050406030204" pitchFamily="18" charset="0"/>
                        </a:rPr>
                        <m:t>𝑘</m:t>
                      </m:r>
                      <m:r>
                        <a:rPr lang="es-EC" sz="2600" b="0" i="1" smtClean="0">
                          <a:latin typeface="Cambria Math" panose="02040503050406030204" pitchFamily="18" charset="0"/>
                        </a:rPr>
                        <m:t>,</m:t>
                      </m:r>
                      <m:r>
                        <a:rPr lang="es-EC" sz="2600" b="0" i="1" smtClean="0">
                          <a:latin typeface="Cambria Math" panose="02040503050406030204" pitchFamily="18" charset="0"/>
                        </a:rPr>
                        <m:t>𝑘</m:t>
                      </m:r>
                      <m:r>
                        <a:rPr lang="es-EC" sz="2600" b="0" i="1" smtClean="0">
                          <a:latin typeface="Cambria Math" panose="02040503050406030204" pitchFamily="18" charset="0"/>
                        </a:rPr>
                        <m:t>+1,</m:t>
                      </m:r>
                      <m:r>
                        <a:rPr lang="es-EC" sz="2600" b="0" i="1" smtClean="0">
                          <a:latin typeface="Cambria Math" panose="02040503050406030204" pitchFamily="18" charset="0"/>
                        </a:rPr>
                        <m:t>𝑘</m:t>
                      </m:r>
                      <m:r>
                        <a:rPr lang="es-EC" sz="2600" b="0" i="1" smtClean="0">
                          <a:latin typeface="Cambria Math" panose="02040503050406030204" pitchFamily="18" charset="0"/>
                        </a:rPr>
                        <m:t>+2,</m:t>
                      </m:r>
                      <m:r>
                        <a:rPr lang="es-EC" sz="2600" b="0" i="1" smtClean="0">
                          <a:latin typeface="Cambria Math" panose="02040503050406030204" pitchFamily="18" charset="0"/>
                        </a:rPr>
                        <m:t>𝑘</m:t>
                      </m:r>
                      <m:r>
                        <a:rPr lang="es-EC" sz="2600" b="0" i="1" smtClean="0">
                          <a:latin typeface="Cambria Math" panose="02040503050406030204" pitchFamily="18" charset="0"/>
                        </a:rPr>
                        <m:t>+3,…</m:t>
                      </m:r>
                    </m:oMath>
                  </m:oMathPara>
                </a14:m>
                <a:endParaRPr lang="es-EC" sz="2600" i="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094480" y="3072896"/>
                <a:ext cx="3709734" cy="400110"/>
              </a:xfrm>
              <a:prstGeom prst="rect">
                <a:avLst/>
              </a:prstGeom>
              <a:blipFill rotWithShape="0">
                <a:blip r:embed="rId2"/>
                <a:stretch>
                  <a:fillRect/>
                </a:stretch>
              </a:blipFill>
            </p:spPr>
            <p:txBody>
              <a:bodyPr/>
              <a:lstStyle/>
              <a:p>
                <a:r>
                  <a:rPr lang="es-EC">
                    <a:noFill/>
                  </a:rPr>
                  <a:t> </a:t>
                </a:r>
              </a:p>
            </p:txBody>
          </p:sp>
        </mc:Fallback>
      </mc:AlternateContent>
      <p:sp>
        <p:nvSpPr>
          <p:cNvPr id="8" name="Rectángulo 7"/>
          <p:cNvSpPr/>
          <p:nvPr/>
        </p:nvSpPr>
        <p:spPr>
          <a:xfrm>
            <a:off x="1084990" y="3995245"/>
            <a:ext cx="2762359" cy="400110"/>
          </a:xfrm>
          <a:prstGeom prst="rect">
            <a:avLst/>
          </a:prstGeom>
        </p:spPr>
        <p:txBody>
          <a:bodyPr wrap="none">
            <a:spAutoFit/>
          </a:bodyPr>
          <a:lstStyle/>
          <a:p>
            <a:r>
              <a:rPr lang="es-EC" sz="2000" b="1" dirty="0"/>
              <a:t>Función de probabilidad</a:t>
            </a:r>
          </a:p>
        </p:txBody>
      </p:sp>
      <mc:AlternateContent xmlns:mc="http://schemas.openxmlformats.org/markup-compatibility/2006" xmlns:a14="http://schemas.microsoft.com/office/drawing/2010/main">
        <mc:Choice Requires="a14">
          <p:sp>
            <p:nvSpPr>
              <p:cNvPr id="9" name="CuadroTexto 8"/>
              <p:cNvSpPr txBox="1"/>
              <p:nvPr/>
            </p:nvSpPr>
            <p:spPr>
              <a:xfrm>
                <a:off x="3948274" y="3804326"/>
                <a:ext cx="6158518" cy="66710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𝑃</m:t>
                      </m:r>
                      <m:d>
                        <m:dPr>
                          <m:ctrlPr>
                            <a:rPr lang="es-EC" sz="2600" i="1">
                              <a:latin typeface="Cambria Math" panose="02040503050406030204" pitchFamily="18" charset="0"/>
                            </a:rPr>
                          </m:ctrlPr>
                        </m:dPr>
                        <m:e>
                          <m:r>
                            <a:rPr lang="es-EC" sz="2600" b="0" i="1">
                              <a:latin typeface="Cambria Math" panose="02040503050406030204" pitchFamily="18" charset="0"/>
                            </a:rPr>
                            <m:t>𝑋</m:t>
                          </m:r>
                          <m:r>
                            <a:rPr lang="es-EC" sz="2600" b="0">
                              <a:latin typeface="Cambria Math" panose="02040503050406030204" pitchFamily="18" charset="0"/>
                            </a:rPr>
                            <m:t>=</m:t>
                          </m:r>
                          <m:r>
                            <a:rPr lang="es-EC" sz="2600" b="0" i="1">
                              <a:latin typeface="Cambria Math" panose="02040503050406030204" pitchFamily="18" charset="0"/>
                            </a:rPr>
                            <m:t>𝑥</m:t>
                          </m:r>
                        </m:e>
                      </m:d>
                      <m:r>
                        <a:rPr lang="es-EC" sz="2600" b="0">
                          <a:latin typeface="Cambria Math" panose="02040503050406030204" pitchFamily="18" charset="0"/>
                        </a:rPr>
                        <m:t>=</m:t>
                      </m:r>
                      <m:r>
                        <a:rPr lang="es-EC" sz="2600" b="0" i="1">
                          <a:latin typeface="Cambria Math" panose="02040503050406030204" pitchFamily="18" charset="0"/>
                        </a:rPr>
                        <m:t>𝑓</m:t>
                      </m:r>
                      <m:d>
                        <m:dPr>
                          <m:ctrlPr>
                            <a:rPr lang="es-EC" sz="2600" i="1">
                              <a:latin typeface="Cambria Math" panose="02040503050406030204" pitchFamily="18" charset="0"/>
                            </a:rPr>
                          </m:ctrlPr>
                        </m:dPr>
                        <m:e>
                          <m:r>
                            <a:rPr lang="es-EC" sz="2600" b="0" i="1">
                              <a:latin typeface="Cambria Math" panose="02040503050406030204" pitchFamily="18" charset="0"/>
                            </a:rPr>
                            <m:t>𝑥</m:t>
                          </m:r>
                        </m:e>
                      </m:d>
                      <m:r>
                        <a:rPr lang="es-EC" sz="2600" b="0" i="0" smtClean="0">
                          <a:latin typeface="Cambria Math" panose="02040503050406030204" pitchFamily="18" charset="0"/>
                        </a:rPr>
                        <m:t>=</m:t>
                      </m:r>
                      <m:d>
                        <m:dPr>
                          <m:ctrlPr>
                            <a:rPr lang="es-EC" sz="2600" i="1" smtClean="0">
                              <a:latin typeface="Cambria Math" panose="02040503050406030204" pitchFamily="18" charset="0"/>
                            </a:rPr>
                          </m:ctrlPr>
                        </m:dPr>
                        <m:e>
                          <m:m>
                            <m:mPr>
                              <m:mcs>
                                <m:mc>
                                  <m:mcPr>
                                    <m:count m:val="1"/>
                                    <m:mcJc m:val="center"/>
                                  </m:mcPr>
                                </m:mc>
                              </m:mcs>
                              <m:ctrlPr>
                                <a:rPr lang="es-EC" sz="2600" i="1" smtClean="0">
                                  <a:latin typeface="Cambria Math" panose="02040503050406030204" pitchFamily="18" charset="0"/>
                                </a:rPr>
                              </m:ctrlPr>
                            </m:mPr>
                            <m:mr>
                              <m:e>
                                <m:r>
                                  <a:rPr lang="es-EC" sz="2600" b="0" i="1" smtClean="0">
                                    <a:latin typeface="Cambria Math" panose="02040503050406030204" pitchFamily="18" charset="0"/>
                                  </a:rPr>
                                  <m:t>𝑥</m:t>
                                </m:r>
                                <m:r>
                                  <a:rPr lang="es-EC" sz="2600" b="0" i="1" smtClean="0">
                                    <a:latin typeface="Cambria Math" panose="02040503050406030204" pitchFamily="18" charset="0"/>
                                  </a:rPr>
                                  <m:t>−1</m:t>
                                </m:r>
                              </m:e>
                            </m:mr>
                            <m:mr>
                              <m:e>
                                <m:r>
                                  <a:rPr lang="es-EC" sz="2600" b="0" i="1" smtClean="0">
                                    <a:latin typeface="Cambria Math" panose="02040503050406030204" pitchFamily="18" charset="0"/>
                                  </a:rPr>
                                  <m:t>𝑘</m:t>
                                </m:r>
                                <m:r>
                                  <a:rPr lang="es-EC" sz="2600" b="0" i="1" smtClean="0">
                                    <a:latin typeface="Cambria Math" panose="02040503050406030204" pitchFamily="18" charset="0"/>
                                  </a:rPr>
                                  <m:t>−1</m:t>
                                </m:r>
                              </m:e>
                            </m:mr>
                          </m:m>
                        </m:e>
                      </m:d>
                      <m:sSup>
                        <m:sSupPr>
                          <m:ctrlPr>
                            <a:rPr lang="es-EC" sz="2600" i="1" smtClean="0">
                              <a:latin typeface="Cambria Math" panose="02040503050406030204" pitchFamily="18" charset="0"/>
                            </a:rPr>
                          </m:ctrlPr>
                        </m:sSupPr>
                        <m:e>
                          <m:r>
                            <a:rPr lang="es-EC" sz="2600" b="0" i="1" smtClean="0">
                              <a:latin typeface="Cambria Math" panose="02040503050406030204" pitchFamily="18" charset="0"/>
                            </a:rPr>
                            <m:t>𝑝</m:t>
                          </m:r>
                        </m:e>
                        <m:sup>
                          <m:r>
                            <a:rPr lang="es-EC" sz="2600" b="0" i="1" smtClean="0">
                              <a:latin typeface="Cambria Math" panose="02040503050406030204" pitchFamily="18" charset="0"/>
                            </a:rPr>
                            <m:t>𝑘</m:t>
                          </m:r>
                        </m:sup>
                      </m:sSup>
                      <m:sSup>
                        <m:sSupPr>
                          <m:ctrlPr>
                            <a:rPr lang="es-EC" sz="2600" i="1">
                              <a:latin typeface="Cambria Math" panose="02040503050406030204" pitchFamily="18" charset="0"/>
                            </a:rPr>
                          </m:ctrlPr>
                        </m:sSupPr>
                        <m:e>
                          <m:r>
                            <a:rPr lang="es-EC" sz="2600" b="0" i="1" smtClean="0">
                              <a:latin typeface="Cambria Math" panose="02040503050406030204" pitchFamily="18" charset="0"/>
                            </a:rPr>
                            <m:t>𝑞</m:t>
                          </m:r>
                        </m:e>
                        <m:sup>
                          <m:r>
                            <a:rPr lang="es-EC" sz="2600" b="0" i="1" smtClean="0">
                              <a:latin typeface="Cambria Math" panose="02040503050406030204" pitchFamily="18" charset="0"/>
                            </a:rPr>
                            <m:t>𝑥</m:t>
                          </m:r>
                          <m:r>
                            <a:rPr lang="es-EC" sz="2600" b="0" i="1" smtClean="0">
                              <a:latin typeface="Cambria Math" panose="02040503050406030204" pitchFamily="18" charset="0"/>
                            </a:rPr>
                            <m:t>−</m:t>
                          </m:r>
                          <m:r>
                            <a:rPr lang="es-EC" sz="2600" b="0" i="1" smtClean="0">
                              <a:latin typeface="Cambria Math" panose="02040503050406030204" pitchFamily="18" charset="0"/>
                            </a:rPr>
                            <m:t>𝑘</m:t>
                          </m:r>
                        </m:sup>
                      </m:sSup>
                    </m:oMath>
                  </m:oMathPara>
                </a14:m>
                <a:endParaRPr lang="es-EC" sz="2600" dirty="0">
                  <a:latin typeface="Papyrus" panose="03070502060502030205" pitchFamily="66" charset="0"/>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3948274" y="3804326"/>
                <a:ext cx="6158518" cy="667106"/>
              </a:xfrm>
              <a:prstGeom prst="rect">
                <a:avLst/>
              </a:prstGeom>
              <a:blipFill rotWithShape="0">
                <a:blip r:embed="rId3"/>
                <a:stretch>
                  <a:fillRect/>
                </a:stretch>
              </a:blipFill>
            </p:spPr>
            <p:txBody>
              <a:bodyPr/>
              <a:lstStyle/>
              <a:p>
                <a:r>
                  <a:rPr lang="es-EC">
                    <a:noFill/>
                  </a:rPr>
                  <a:t> </a:t>
                </a:r>
              </a:p>
            </p:txBody>
          </p:sp>
        </mc:Fallback>
      </mc:AlternateContent>
      <p:sp>
        <p:nvSpPr>
          <p:cNvPr id="10" name="Rectángulo 9"/>
          <p:cNvSpPr/>
          <p:nvPr/>
        </p:nvSpPr>
        <p:spPr>
          <a:xfrm>
            <a:off x="1084990" y="4847388"/>
            <a:ext cx="1435008" cy="400110"/>
          </a:xfrm>
          <a:prstGeom prst="rect">
            <a:avLst/>
          </a:prstGeom>
        </p:spPr>
        <p:txBody>
          <a:bodyPr wrap="none">
            <a:spAutoFit/>
          </a:bodyPr>
          <a:lstStyle/>
          <a:p>
            <a:r>
              <a:rPr lang="es-EC" sz="2000" b="1" dirty="0"/>
              <a:t>Parámetros</a:t>
            </a:r>
          </a:p>
        </p:txBody>
      </p:sp>
      <mc:AlternateContent xmlns:mc="http://schemas.openxmlformats.org/markup-compatibility/2006" xmlns:a14="http://schemas.microsoft.com/office/drawing/2010/main">
        <mc:Choice Requires="a14">
          <p:sp>
            <p:nvSpPr>
              <p:cNvPr id="11" name="Rectángulo 10"/>
              <p:cNvSpPr/>
              <p:nvPr/>
            </p:nvSpPr>
            <p:spPr>
              <a:xfrm>
                <a:off x="4294463" y="4766437"/>
                <a:ext cx="768608"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𝑘</m:t>
                      </m:r>
                      <m:r>
                        <a:rPr lang="es-EC" sz="2600" b="0" i="1" smtClean="0">
                          <a:latin typeface="Cambria Math" panose="02040503050406030204" pitchFamily="18" charset="0"/>
                        </a:rPr>
                        <m:t>,</m:t>
                      </m:r>
                      <m:r>
                        <a:rPr lang="es-EC" sz="2600" b="0" i="1" smtClean="0">
                          <a:latin typeface="Cambria Math" panose="02040503050406030204" pitchFamily="18" charset="0"/>
                        </a:rPr>
                        <m:t>𝑝</m:t>
                      </m:r>
                    </m:oMath>
                  </m:oMathPara>
                </a14:m>
                <a:endParaRPr lang="es-EC" sz="2600" dirty="0"/>
              </a:p>
            </p:txBody>
          </p:sp>
        </mc:Choice>
        <mc:Fallback xmlns="">
          <p:sp>
            <p:nvSpPr>
              <p:cNvPr id="11" name="Rectángulo 10"/>
              <p:cNvSpPr>
                <a:spLocks noRot="1" noChangeAspect="1" noMove="1" noResize="1" noEditPoints="1" noAdjustHandles="1" noChangeArrowheads="1" noChangeShapeType="1" noTextEdit="1"/>
              </p:cNvSpPr>
              <p:nvPr/>
            </p:nvSpPr>
            <p:spPr>
              <a:xfrm>
                <a:off x="4294463" y="4766437"/>
                <a:ext cx="768608" cy="492443"/>
              </a:xfrm>
              <a:prstGeom prst="rect">
                <a:avLst/>
              </a:prstGeom>
              <a:blipFill rotWithShape="0">
                <a:blip r:embed="rId4"/>
                <a:stretch>
                  <a:fillRect/>
                </a:stretch>
              </a:blipFill>
            </p:spPr>
            <p:txBody>
              <a:bodyPr/>
              <a:lstStyle/>
              <a:p>
                <a:r>
                  <a:rPr lang="es-EC">
                    <a:noFill/>
                  </a:rPr>
                  <a:t> </a:t>
                </a:r>
              </a:p>
            </p:txBody>
          </p:sp>
        </mc:Fallback>
      </mc:AlternateContent>
      <p:sp>
        <p:nvSpPr>
          <p:cNvPr id="12" name="Rectángulo 11"/>
          <p:cNvSpPr/>
          <p:nvPr/>
        </p:nvSpPr>
        <p:spPr>
          <a:xfrm>
            <a:off x="1084990" y="5699531"/>
            <a:ext cx="865943" cy="400110"/>
          </a:xfrm>
          <a:prstGeom prst="rect">
            <a:avLst/>
          </a:prstGeom>
        </p:spPr>
        <p:txBody>
          <a:bodyPr wrap="none">
            <a:spAutoFit/>
          </a:bodyPr>
          <a:lstStyle/>
          <a:p>
            <a:r>
              <a:rPr lang="es-EC" sz="2000" b="1" dirty="0"/>
              <a:t>Media</a:t>
            </a:r>
          </a:p>
        </p:txBody>
      </p:sp>
      <p:sp>
        <p:nvSpPr>
          <p:cNvPr id="13" name="Rectángulo 12"/>
          <p:cNvSpPr/>
          <p:nvPr/>
        </p:nvSpPr>
        <p:spPr>
          <a:xfrm>
            <a:off x="6159267" y="5699531"/>
            <a:ext cx="1093761" cy="400110"/>
          </a:xfrm>
          <a:prstGeom prst="rect">
            <a:avLst/>
          </a:prstGeom>
        </p:spPr>
        <p:txBody>
          <a:bodyPr wrap="none">
            <a:spAutoFit/>
          </a:bodyPr>
          <a:lstStyle/>
          <a:p>
            <a:r>
              <a:rPr lang="es-EC" sz="2000" b="1" dirty="0"/>
              <a:t>Varianza</a:t>
            </a:r>
          </a:p>
        </p:txBody>
      </p:sp>
      <p:sp>
        <p:nvSpPr>
          <p:cNvPr id="16" name="Rectángulo 15"/>
          <p:cNvSpPr/>
          <p:nvPr/>
        </p:nvSpPr>
        <p:spPr>
          <a:xfrm>
            <a:off x="1084990" y="2349948"/>
            <a:ext cx="6450805" cy="461665"/>
          </a:xfrm>
          <a:prstGeom prst="rect">
            <a:avLst/>
          </a:prstGeom>
        </p:spPr>
        <p:txBody>
          <a:bodyPr wrap="none">
            <a:spAutoFit/>
          </a:bodyPr>
          <a:lstStyle/>
          <a:p>
            <a:r>
              <a:rPr lang="es-EC" sz="2400" dirty="0"/>
              <a:t>Número de intentos hasta lograr el k-</a:t>
            </a:r>
            <a:r>
              <a:rPr lang="es-EC" sz="2400" dirty="0" err="1"/>
              <a:t>ésimo</a:t>
            </a:r>
            <a:r>
              <a:rPr lang="es-EC" sz="2400" dirty="0"/>
              <a:t> éxito</a:t>
            </a:r>
          </a:p>
        </p:txBody>
      </p:sp>
      <mc:AlternateContent xmlns:mc="http://schemas.openxmlformats.org/markup-compatibility/2006" xmlns:a14="http://schemas.microsoft.com/office/drawing/2010/main">
        <mc:Choice Requires="a14">
          <p:sp>
            <p:nvSpPr>
              <p:cNvPr id="17" name="Rectángulo 16"/>
              <p:cNvSpPr/>
              <p:nvPr/>
            </p:nvSpPr>
            <p:spPr>
              <a:xfrm>
                <a:off x="2516632" y="5289657"/>
                <a:ext cx="1682575" cy="9194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𝐸</m:t>
                      </m:r>
                      <m:d>
                        <m:dPr>
                          <m:ctrlPr>
                            <a:rPr lang="es-EC" sz="2600" i="1">
                              <a:latin typeface="Cambria Math" panose="02040503050406030204" pitchFamily="18" charset="0"/>
                            </a:rPr>
                          </m:ctrlPr>
                        </m:dPr>
                        <m:e>
                          <m:r>
                            <a:rPr lang="es-EC" sz="2600" b="0" i="1">
                              <a:latin typeface="Cambria Math" panose="02040503050406030204" pitchFamily="18" charset="0"/>
                            </a:rPr>
                            <m:t>𝑋</m:t>
                          </m:r>
                        </m:e>
                      </m:d>
                      <m:r>
                        <a:rPr lang="es-EC" sz="2600" b="0" i="1">
                          <a:latin typeface="Cambria Math" panose="02040503050406030204" pitchFamily="18" charset="0"/>
                        </a:rPr>
                        <m:t>=</m:t>
                      </m:r>
                      <m:f>
                        <m:fPr>
                          <m:ctrlPr>
                            <a:rPr lang="es-EC" sz="2600" i="1" smtClean="0">
                              <a:latin typeface="Cambria Math" panose="02040503050406030204" pitchFamily="18" charset="0"/>
                            </a:rPr>
                          </m:ctrlPr>
                        </m:fPr>
                        <m:num>
                          <m:r>
                            <a:rPr lang="es-EC" sz="2600" b="0" i="1" smtClean="0">
                              <a:latin typeface="Cambria Math" panose="02040503050406030204" pitchFamily="18" charset="0"/>
                            </a:rPr>
                            <m:t>𝑘</m:t>
                          </m:r>
                        </m:num>
                        <m:den>
                          <m:r>
                            <a:rPr lang="es-EC" sz="2600" b="0" i="1" smtClean="0">
                              <a:latin typeface="Cambria Math" panose="02040503050406030204" pitchFamily="18" charset="0"/>
                            </a:rPr>
                            <m:t>𝑝</m:t>
                          </m:r>
                        </m:den>
                      </m:f>
                      <m:r>
                        <a:rPr lang="es-EC" sz="2600" b="0" i="1" smtClean="0">
                          <a:latin typeface="Cambria Math" panose="02040503050406030204" pitchFamily="18" charset="0"/>
                        </a:rPr>
                        <m:t> </m:t>
                      </m:r>
                    </m:oMath>
                  </m:oMathPara>
                </a14:m>
                <a:endParaRPr lang="es-EC" sz="2600" dirty="0"/>
              </a:p>
            </p:txBody>
          </p:sp>
        </mc:Choice>
        <mc:Fallback xmlns="">
          <p:sp>
            <p:nvSpPr>
              <p:cNvPr id="17" name="Rectángulo 16"/>
              <p:cNvSpPr>
                <a:spLocks noRot="1" noChangeAspect="1" noMove="1" noResize="1" noEditPoints="1" noAdjustHandles="1" noChangeArrowheads="1" noChangeShapeType="1" noTextEdit="1"/>
              </p:cNvSpPr>
              <p:nvPr/>
            </p:nvSpPr>
            <p:spPr>
              <a:xfrm>
                <a:off x="2516632" y="5289657"/>
                <a:ext cx="1682575" cy="919419"/>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7607638" y="5445102"/>
                <a:ext cx="1786258" cy="9194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600" b="0" i="1" smtClean="0">
                          <a:latin typeface="Cambria Math" panose="02040503050406030204" pitchFamily="18" charset="0"/>
                        </a:rPr>
                        <m:t>𝑉</m:t>
                      </m:r>
                      <m:d>
                        <m:dPr>
                          <m:ctrlPr>
                            <a:rPr lang="es-EC" sz="2600" i="1">
                              <a:latin typeface="Cambria Math" panose="02040503050406030204" pitchFamily="18" charset="0"/>
                            </a:rPr>
                          </m:ctrlPr>
                        </m:dPr>
                        <m:e>
                          <m:r>
                            <a:rPr lang="es-EC" sz="2600" b="0" i="1">
                              <a:latin typeface="Cambria Math" panose="02040503050406030204" pitchFamily="18" charset="0"/>
                            </a:rPr>
                            <m:t>𝑋</m:t>
                          </m:r>
                        </m:e>
                      </m:d>
                      <m:r>
                        <a:rPr lang="es-EC" sz="2600" b="0" i="1">
                          <a:latin typeface="Cambria Math" panose="02040503050406030204" pitchFamily="18" charset="0"/>
                        </a:rPr>
                        <m:t>=</m:t>
                      </m:r>
                      <m:f>
                        <m:fPr>
                          <m:ctrlPr>
                            <a:rPr lang="es-EC" sz="2600" i="1" smtClean="0">
                              <a:latin typeface="Cambria Math" panose="02040503050406030204" pitchFamily="18" charset="0"/>
                            </a:rPr>
                          </m:ctrlPr>
                        </m:fPr>
                        <m:num>
                          <m:r>
                            <a:rPr lang="es-EC" sz="2600" b="0" i="1" smtClean="0">
                              <a:latin typeface="Cambria Math" panose="02040503050406030204" pitchFamily="18" charset="0"/>
                            </a:rPr>
                            <m:t>𝑘𝑞</m:t>
                          </m:r>
                        </m:num>
                        <m:den>
                          <m:sSup>
                            <m:sSupPr>
                              <m:ctrlPr>
                                <a:rPr lang="es-EC" sz="2600" i="1" smtClean="0">
                                  <a:latin typeface="Cambria Math" panose="02040503050406030204" pitchFamily="18" charset="0"/>
                                </a:rPr>
                              </m:ctrlPr>
                            </m:sSupPr>
                            <m:e>
                              <m:r>
                                <a:rPr lang="es-EC" sz="2600" b="0" i="1" smtClean="0">
                                  <a:latin typeface="Cambria Math" panose="02040503050406030204" pitchFamily="18" charset="0"/>
                                </a:rPr>
                                <m:t>𝑝</m:t>
                              </m:r>
                            </m:e>
                            <m:sup>
                              <m:r>
                                <a:rPr lang="es-EC" sz="2600" b="0" i="1" smtClean="0">
                                  <a:latin typeface="Cambria Math" panose="02040503050406030204" pitchFamily="18" charset="0"/>
                                </a:rPr>
                                <m:t>2</m:t>
                              </m:r>
                            </m:sup>
                          </m:sSup>
                        </m:den>
                      </m:f>
                    </m:oMath>
                  </m:oMathPara>
                </a14:m>
                <a:endParaRPr lang="es-EC" sz="2600" dirty="0"/>
              </a:p>
            </p:txBody>
          </p:sp>
        </mc:Choice>
        <mc:Fallback xmlns="">
          <p:sp>
            <p:nvSpPr>
              <p:cNvPr id="18" name="Rectángulo 17"/>
              <p:cNvSpPr>
                <a:spLocks noRot="1" noChangeAspect="1" noMove="1" noResize="1" noEditPoints="1" noAdjustHandles="1" noChangeArrowheads="1" noChangeShapeType="1" noTextEdit="1"/>
              </p:cNvSpPr>
              <p:nvPr/>
            </p:nvSpPr>
            <p:spPr>
              <a:xfrm>
                <a:off x="7607638" y="5445102"/>
                <a:ext cx="1786258" cy="919419"/>
              </a:xfrm>
              <a:prstGeom prst="rect">
                <a:avLst/>
              </a:prstGeom>
              <a:blipFill rotWithShape="0">
                <a:blip r:embed="rId6"/>
                <a:stretch>
                  <a:fillRect/>
                </a:stretch>
              </a:blipFill>
            </p:spPr>
            <p:txBody>
              <a:bodyPr/>
              <a:lstStyle/>
              <a:p>
                <a:r>
                  <a:rPr lang="es-EC">
                    <a:noFill/>
                  </a:rPr>
                  <a:t> </a:t>
                </a:r>
              </a:p>
            </p:txBody>
          </p:sp>
        </mc:Fallback>
      </mc:AlternateContent>
      <p:sp>
        <p:nvSpPr>
          <p:cNvPr id="19" name="CuadroTexto 18"/>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3912829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084990" y="1596189"/>
            <a:ext cx="3296865" cy="523220"/>
          </a:xfrm>
          <a:prstGeom prst="rect">
            <a:avLst/>
          </a:prstGeom>
        </p:spPr>
        <p:txBody>
          <a:bodyPr wrap="none">
            <a:spAutoFit/>
          </a:bodyPr>
          <a:lstStyle/>
          <a:p>
            <a:r>
              <a:rPr lang="es-EC" sz="2800" b="1" dirty="0"/>
              <a:t>Distribución </a:t>
            </a:r>
            <a:r>
              <a:rPr lang="es-EC" sz="2800" b="1" dirty="0" err="1"/>
              <a:t>Poisson</a:t>
            </a:r>
            <a:endParaRPr lang="es-EC" sz="2800" b="1" dirty="0"/>
          </a:p>
        </p:txBody>
      </p:sp>
      <p:sp>
        <p:nvSpPr>
          <p:cNvPr id="5" name="Rectángulo 4"/>
          <p:cNvSpPr/>
          <p:nvPr/>
        </p:nvSpPr>
        <p:spPr>
          <a:xfrm>
            <a:off x="1084990" y="2371916"/>
            <a:ext cx="5577168" cy="461665"/>
          </a:xfrm>
          <a:prstGeom prst="rect">
            <a:avLst/>
          </a:prstGeom>
        </p:spPr>
        <p:txBody>
          <a:bodyPr wrap="none">
            <a:spAutoFit/>
          </a:bodyPr>
          <a:lstStyle/>
          <a:p>
            <a:r>
              <a:rPr lang="es-EC" sz="2400" dirty="0"/>
              <a:t>Número de éxitos en un intervalo o región</a:t>
            </a:r>
          </a:p>
        </p:txBody>
      </p:sp>
      <mc:AlternateContent xmlns:mc="http://schemas.openxmlformats.org/markup-compatibility/2006" xmlns:a14="http://schemas.microsoft.com/office/drawing/2010/main">
        <mc:Choice Requires="a14">
          <p:sp>
            <p:nvSpPr>
              <p:cNvPr id="7" name="CuadroTexto 6"/>
              <p:cNvSpPr txBox="1"/>
              <p:nvPr/>
            </p:nvSpPr>
            <p:spPr>
              <a:xfrm>
                <a:off x="3576253" y="2978949"/>
                <a:ext cx="189494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𝑋</m:t>
                      </m:r>
                      <m:r>
                        <a:rPr lang="es-EC" sz="2800" b="0" i="1" smtClean="0">
                          <a:latin typeface="Cambria Math" panose="02040503050406030204" pitchFamily="18" charset="0"/>
                        </a:rPr>
                        <m:t>:0,1,2,3,…</m:t>
                      </m:r>
                    </m:oMath>
                  </m:oMathPara>
                </a14:m>
                <a:endParaRPr lang="es-EC" sz="2800" i="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3576253" y="2978949"/>
                <a:ext cx="1894941" cy="430887"/>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3873574" y="3575994"/>
                <a:ext cx="6158518" cy="8999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𝑃</m:t>
                      </m:r>
                      <m:d>
                        <m:dPr>
                          <m:ctrlPr>
                            <a:rPr lang="es-EC" sz="2800" i="1">
                              <a:latin typeface="Cambria Math" panose="02040503050406030204" pitchFamily="18" charset="0"/>
                            </a:rPr>
                          </m:ctrlPr>
                        </m:dPr>
                        <m:e>
                          <m:r>
                            <a:rPr lang="es-EC" sz="2800" b="0" i="1">
                              <a:latin typeface="Cambria Math" panose="02040503050406030204" pitchFamily="18" charset="0"/>
                            </a:rPr>
                            <m:t>𝑋</m:t>
                          </m:r>
                          <m:r>
                            <a:rPr lang="es-EC" sz="2800" b="0">
                              <a:latin typeface="Cambria Math" panose="02040503050406030204" pitchFamily="18" charset="0"/>
                            </a:rPr>
                            <m:t>=</m:t>
                          </m:r>
                          <m:r>
                            <a:rPr lang="es-EC" sz="2800" b="0" i="1">
                              <a:latin typeface="Cambria Math" panose="02040503050406030204" pitchFamily="18" charset="0"/>
                            </a:rPr>
                            <m:t>𝑥</m:t>
                          </m:r>
                        </m:e>
                      </m:d>
                      <m:r>
                        <a:rPr lang="es-EC" sz="2800" b="0">
                          <a:latin typeface="Cambria Math" panose="02040503050406030204" pitchFamily="18" charset="0"/>
                        </a:rPr>
                        <m:t>=</m:t>
                      </m:r>
                      <m:r>
                        <a:rPr lang="es-EC" sz="2800" b="0" i="1">
                          <a:latin typeface="Cambria Math" panose="02040503050406030204" pitchFamily="18" charset="0"/>
                        </a:rPr>
                        <m:t>𝑓</m:t>
                      </m:r>
                      <m:d>
                        <m:dPr>
                          <m:ctrlPr>
                            <a:rPr lang="es-EC" sz="2800" i="1">
                              <a:latin typeface="Cambria Math" panose="02040503050406030204" pitchFamily="18" charset="0"/>
                            </a:rPr>
                          </m:ctrlPr>
                        </m:dPr>
                        <m:e>
                          <m:r>
                            <a:rPr lang="es-EC" sz="2800" b="0" i="1">
                              <a:latin typeface="Cambria Math" panose="02040503050406030204" pitchFamily="18" charset="0"/>
                            </a:rPr>
                            <m:t>𝑥</m:t>
                          </m:r>
                        </m:e>
                      </m:d>
                      <m:r>
                        <a:rPr lang="es-EC" sz="2800" b="0" i="0" smtClean="0">
                          <a:latin typeface="Cambria Math" panose="02040503050406030204" pitchFamily="18" charset="0"/>
                        </a:rPr>
                        <m:t>=</m:t>
                      </m:r>
                      <m:f>
                        <m:fPr>
                          <m:ctrlPr>
                            <a:rPr lang="es-EC" sz="2800" i="1" smtClean="0">
                              <a:latin typeface="Cambria Math" panose="02040503050406030204" pitchFamily="18" charset="0"/>
                            </a:rPr>
                          </m:ctrlPr>
                        </m:fPr>
                        <m:num>
                          <m:sSup>
                            <m:sSupPr>
                              <m:ctrlPr>
                                <a:rPr lang="es-EC" sz="2800" i="1" smtClean="0">
                                  <a:latin typeface="Cambria Math" panose="02040503050406030204" pitchFamily="18" charset="0"/>
                                </a:rPr>
                              </m:ctrlPr>
                            </m:sSupPr>
                            <m:e>
                              <m:r>
                                <a:rPr lang="es-EC" sz="2800" b="0" i="1" smtClean="0">
                                  <a:latin typeface="Cambria Math" panose="02040503050406030204" pitchFamily="18" charset="0"/>
                                </a:rPr>
                                <m:t>𝑒</m:t>
                              </m:r>
                            </m:e>
                            <m:sup>
                              <m:r>
                                <a:rPr lang="es-EC" sz="2800" b="0" i="1" smtClean="0">
                                  <a:latin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𝜆</m:t>
                              </m:r>
                            </m:sup>
                          </m:sSup>
                          <m:sSup>
                            <m:sSupPr>
                              <m:ctrlPr>
                                <a:rPr lang="es-EC" sz="2800" i="1" smtClean="0">
                                  <a:latin typeface="Cambria Math" panose="02040503050406030204" pitchFamily="18" charset="0"/>
                                </a:rPr>
                              </m:ctrlPr>
                            </m:sSupPr>
                            <m:e>
                              <m:r>
                                <a:rPr lang="es-EC" sz="2800" b="0" i="1" smtClean="0">
                                  <a:latin typeface="Cambria Math" panose="02040503050406030204" pitchFamily="18" charset="0"/>
                                  <a:ea typeface="Cambria Math" panose="02040503050406030204" pitchFamily="18" charset="0"/>
                                </a:rPr>
                                <m:t>𝜆</m:t>
                              </m:r>
                            </m:e>
                            <m:sup>
                              <m:r>
                                <a:rPr lang="es-EC" sz="2800" b="0" i="1" smtClean="0">
                                  <a:latin typeface="Cambria Math" panose="02040503050406030204" pitchFamily="18" charset="0"/>
                                </a:rPr>
                                <m:t>𝑥</m:t>
                              </m:r>
                            </m:sup>
                          </m:sSup>
                        </m:num>
                        <m:den>
                          <m:r>
                            <a:rPr lang="es-EC" sz="2800" b="0" i="1" smtClean="0">
                              <a:latin typeface="Cambria Math" panose="02040503050406030204" pitchFamily="18" charset="0"/>
                            </a:rPr>
                            <m:t>𝑥</m:t>
                          </m:r>
                          <m:r>
                            <a:rPr lang="es-EC" sz="2800" b="0" i="1" smtClean="0">
                              <a:latin typeface="Cambria Math" panose="02040503050406030204" pitchFamily="18" charset="0"/>
                            </a:rPr>
                            <m:t>!</m:t>
                          </m:r>
                        </m:den>
                      </m:f>
                    </m:oMath>
                  </m:oMathPara>
                </a14:m>
                <a:endParaRPr lang="es-EC" sz="28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3873574" y="3575994"/>
                <a:ext cx="6158518" cy="899926"/>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3415051" y="4678840"/>
                <a:ext cx="45852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ea typeface="Cambria Math" panose="02040503050406030204" pitchFamily="18" charset="0"/>
                        </a:rPr>
                        <m:t>𝜆</m:t>
                      </m:r>
                    </m:oMath>
                  </m:oMathPara>
                </a14:m>
                <a:endParaRPr lang="es-EC" sz="2800" dirty="0"/>
              </a:p>
            </p:txBody>
          </p:sp>
        </mc:Choice>
        <mc:Fallback xmlns="">
          <p:sp>
            <p:nvSpPr>
              <p:cNvPr id="11" name="Rectángulo 10"/>
              <p:cNvSpPr>
                <a:spLocks noRot="1" noChangeAspect="1" noMove="1" noResize="1" noEditPoints="1" noAdjustHandles="1" noChangeArrowheads="1" noChangeShapeType="1" noTextEdit="1"/>
              </p:cNvSpPr>
              <p:nvPr/>
            </p:nvSpPr>
            <p:spPr>
              <a:xfrm>
                <a:off x="3415051" y="4678840"/>
                <a:ext cx="458523" cy="523220"/>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2700532" y="5551671"/>
                <a:ext cx="17514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𝐸</m:t>
                      </m:r>
                      <m:d>
                        <m:dPr>
                          <m:ctrlPr>
                            <a:rPr lang="es-EC" sz="2800" i="1">
                              <a:latin typeface="Cambria Math" panose="02040503050406030204" pitchFamily="18" charset="0"/>
                            </a:rPr>
                          </m:ctrlPr>
                        </m:dPr>
                        <m:e>
                          <m:r>
                            <a:rPr lang="es-EC" sz="2800" b="0" i="1">
                              <a:latin typeface="Cambria Math" panose="02040503050406030204" pitchFamily="18" charset="0"/>
                            </a:rPr>
                            <m:t>𝑋</m:t>
                          </m:r>
                        </m:e>
                      </m:d>
                      <m:r>
                        <a:rPr lang="es-EC" sz="2800" b="0" i="1">
                          <a:latin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𝜆</m:t>
                      </m:r>
                      <m:r>
                        <a:rPr lang="es-EC" sz="2800" b="0" i="1" smtClean="0">
                          <a:latin typeface="Cambria Math" panose="02040503050406030204" pitchFamily="18" charset="0"/>
                        </a:rPr>
                        <m:t> </m:t>
                      </m:r>
                    </m:oMath>
                  </m:oMathPara>
                </a14:m>
                <a:endParaRPr lang="es-EC" sz="2800" dirty="0"/>
              </a:p>
            </p:txBody>
          </p:sp>
        </mc:Choice>
        <mc:Fallback xmlns="">
          <p:sp>
            <p:nvSpPr>
              <p:cNvPr id="14" name="Rectángulo 13"/>
              <p:cNvSpPr>
                <a:spLocks noRot="1" noChangeAspect="1" noMove="1" noResize="1" noEditPoints="1" noAdjustHandles="1" noChangeArrowheads="1" noChangeShapeType="1" noTextEdit="1"/>
              </p:cNvSpPr>
              <p:nvPr/>
            </p:nvSpPr>
            <p:spPr>
              <a:xfrm>
                <a:off x="2700532" y="5551671"/>
                <a:ext cx="1751442" cy="523220"/>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5" name="Rectángulo 14"/>
              <p:cNvSpPr/>
              <p:nvPr/>
            </p:nvSpPr>
            <p:spPr>
              <a:xfrm>
                <a:off x="7944469" y="5551671"/>
                <a:ext cx="181876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𝑉</m:t>
                      </m:r>
                      <m:d>
                        <m:dPr>
                          <m:ctrlPr>
                            <a:rPr lang="es-EC" sz="2800" i="1">
                              <a:latin typeface="Cambria Math" panose="02040503050406030204" pitchFamily="18" charset="0"/>
                            </a:rPr>
                          </m:ctrlPr>
                        </m:dPr>
                        <m:e>
                          <m:r>
                            <a:rPr lang="es-EC" sz="2800" b="0" i="1">
                              <a:latin typeface="Cambria Math" panose="02040503050406030204" pitchFamily="18" charset="0"/>
                            </a:rPr>
                            <m:t>𝑋</m:t>
                          </m:r>
                        </m:e>
                      </m:d>
                      <m:r>
                        <a:rPr lang="es-EC" sz="2800" b="0" i="1">
                          <a:latin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𝜆</m:t>
                      </m:r>
                      <m:r>
                        <a:rPr lang="es-EC" sz="2800" b="0" i="1" smtClean="0">
                          <a:latin typeface="Cambria Math" panose="02040503050406030204" pitchFamily="18" charset="0"/>
                        </a:rPr>
                        <m:t> </m:t>
                      </m:r>
                    </m:oMath>
                  </m:oMathPara>
                </a14:m>
                <a:endParaRPr lang="es-EC" sz="2800" dirty="0"/>
              </a:p>
            </p:txBody>
          </p:sp>
        </mc:Choice>
        <mc:Fallback xmlns="">
          <p:sp>
            <p:nvSpPr>
              <p:cNvPr id="15" name="Rectángulo 14"/>
              <p:cNvSpPr>
                <a:spLocks noRot="1" noChangeAspect="1" noMove="1" noResize="1" noEditPoints="1" noAdjustHandles="1" noChangeArrowheads="1" noChangeShapeType="1" noTextEdit="1"/>
              </p:cNvSpPr>
              <p:nvPr/>
            </p:nvSpPr>
            <p:spPr>
              <a:xfrm>
                <a:off x="7944469" y="5551671"/>
                <a:ext cx="1818768" cy="523220"/>
              </a:xfrm>
              <a:prstGeom prst="rect">
                <a:avLst/>
              </a:prstGeom>
              <a:blipFill rotWithShape="0">
                <a:blip r:embed="rId6"/>
                <a:stretch>
                  <a:fillRect/>
                </a:stretch>
              </a:blipFill>
            </p:spPr>
            <p:txBody>
              <a:bodyPr/>
              <a:lstStyle/>
              <a:p>
                <a:r>
                  <a:rPr lang="es-EC">
                    <a:noFill/>
                  </a:rPr>
                  <a:t> </a:t>
                </a:r>
              </a:p>
            </p:txBody>
          </p:sp>
        </mc:Fallback>
      </mc:AlternateContent>
      <p:sp>
        <p:nvSpPr>
          <p:cNvPr id="16" name="Rectángulo 15"/>
          <p:cNvSpPr/>
          <p:nvPr/>
        </p:nvSpPr>
        <p:spPr>
          <a:xfrm>
            <a:off x="1084990" y="965934"/>
            <a:ext cx="4545603" cy="523220"/>
          </a:xfrm>
          <a:prstGeom prst="rect">
            <a:avLst/>
          </a:prstGeom>
        </p:spPr>
        <p:txBody>
          <a:bodyPr wrap="none">
            <a:spAutoFit/>
          </a:bodyPr>
          <a:lstStyle/>
          <a:p>
            <a:r>
              <a:rPr lang="es-EC" sz="2800" b="1" dirty="0"/>
              <a:t>Modelos Aleatorios Discretos</a:t>
            </a:r>
          </a:p>
        </p:txBody>
      </p:sp>
      <p:sp>
        <p:nvSpPr>
          <p:cNvPr id="18" name="Rectángulo 17"/>
          <p:cNvSpPr/>
          <p:nvPr/>
        </p:nvSpPr>
        <p:spPr>
          <a:xfrm>
            <a:off x="1084990" y="2982011"/>
            <a:ext cx="1755994" cy="461665"/>
          </a:xfrm>
          <a:prstGeom prst="rect">
            <a:avLst/>
          </a:prstGeom>
        </p:spPr>
        <p:txBody>
          <a:bodyPr wrap="square">
            <a:spAutoFit/>
          </a:bodyPr>
          <a:lstStyle/>
          <a:p>
            <a:r>
              <a:rPr lang="es-EC" sz="2400" b="1" dirty="0"/>
              <a:t>Valores de X</a:t>
            </a:r>
            <a:endParaRPr lang="es-EC" sz="2400" dirty="0"/>
          </a:p>
        </p:txBody>
      </p:sp>
      <p:sp>
        <p:nvSpPr>
          <p:cNvPr id="19" name="Rectángulo 18"/>
          <p:cNvSpPr/>
          <p:nvPr/>
        </p:nvSpPr>
        <p:spPr>
          <a:xfrm>
            <a:off x="1084990" y="3857867"/>
            <a:ext cx="3274679" cy="461665"/>
          </a:xfrm>
          <a:prstGeom prst="rect">
            <a:avLst/>
          </a:prstGeom>
        </p:spPr>
        <p:txBody>
          <a:bodyPr wrap="square">
            <a:spAutoFit/>
          </a:bodyPr>
          <a:lstStyle/>
          <a:p>
            <a:r>
              <a:rPr lang="es-EC" sz="2400" b="1" dirty="0"/>
              <a:t>Función de probabilidad</a:t>
            </a:r>
          </a:p>
        </p:txBody>
      </p:sp>
      <p:sp>
        <p:nvSpPr>
          <p:cNvPr id="20" name="Rectángulo 19"/>
          <p:cNvSpPr/>
          <p:nvPr/>
        </p:nvSpPr>
        <p:spPr>
          <a:xfrm>
            <a:off x="1084990" y="4710010"/>
            <a:ext cx="1653594" cy="461665"/>
          </a:xfrm>
          <a:prstGeom prst="rect">
            <a:avLst/>
          </a:prstGeom>
        </p:spPr>
        <p:txBody>
          <a:bodyPr wrap="square">
            <a:spAutoFit/>
          </a:bodyPr>
          <a:lstStyle/>
          <a:p>
            <a:r>
              <a:rPr lang="es-EC" sz="2400" b="1" dirty="0"/>
              <a:t>Parámetros</a:t>
            </a:r>
          </a:p>
        </p:txBody>
      </p:sp>
      <p:sp>
        <p:nvSpPr>
          <p:cNvPr id="21" name="Rectángulo 20"/>
          <p:cNvSpPr/>
          <p:nvPr/>
        </p:nvSpPr>
        <p:spPr>
          <a:xfrm>
            <a:off x="1084990" y="5562153"/>
            <a:ext cx="1002197" cy="461665"/>
          </a:xfrm>
          <a:prstGeom prst="rect">
            <a:avLst/>
          </a:prstGeom>
        </p:spPr>
        <p:txBody>
          <a:bodyPr wrap="square">
            <a:spAutoFit/>
          </a:bodyPr>
          <a:lstStyle/>
          <a:p>
            <a:r>
              <a:rPr lang="es-EC" sz="2400" b="1" dirty="0"/>
              <a:t>Media</a:t>
            </a:r>
          </a:p>
        </p:txBody>
      </p:sp>
      <p:sp>
        <p:nvSpPr>
          <p:cNvPr id="22" name="Rectángulo 21"/>
          <p:cNvSpPr/>
          <p:nvPr/>
        </p:nvSpPr>
        <p:spPr>
          <a:xfrm>
            <a:off x="6159267" y="5562153"/>
            <a:ext cx="1274644" cy="461665"/>
          </a:xfrm>
          <a:prstGeom prst="rect">
            <a:avLst/>
          </a:prstGeom>
        </p:spPr>
        <p:txBody>
          <a:bodyPr wrap="none">
            <a:spAutoFit/>
          </a:bodyPr>
          <a:lstStyle/>
          <a:p>
            <a:r>
              <a:rPr lang="es-EC" sz="2400" b="1" dirty="0"/>
              <a:t>Varianza</a:t>
            </a:r>
          </a:p>
        </p:txBody>
      </p:sp>
      <mc:AlternateContent xmlns:mc="http://schemas.openxmlformats.org/markup-compatibility/2006" xmlns:a14="http://schemas.microsoft.com/office/drawing/2010/main">
        <mc:Choice Requires="a14">
          <p:sp>
            <p:nvSpPr>
              <p:cNvPr id="23" name="CuadroTexto 22"/>
              <p:cNvSpPr txBox="1"/>
              <p:nvPr/>
            </p:nvSpPr>
            <p:spPr>
              <a:xfrm>
                <a:off x="4677707" y="1629503"/>
                <a:ext cx="2353714" cy="461665"/>
              </a:xfrm>
              <a:prstGeom prst="rect">
                <a:avLst/>
              </a:prstGeom>
            </p:spPr>
            <p:txBody>
              <a:bodyPr wrap="squar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m:rPr>
                          <m:sty m:val="p"/>
                        </m:rPr>
                        <a:rPr lang="es-EC" b="0" i="1" smtClean="0">
                          <a:latin typeface="Cambria Math" panose="02040503050406030204" pitchFamily="18" charset="0"/>
                        </a:rPr>
                        <m:t>X</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𝑃</m:t>
                      </m:r>
                      <m:d>
                        <m:dPr>
                          <m:ctrlPr>
                            <a:rPr lang="es-EC" b="0" i="1" smtClean="0">
                              <a:latin typeface="Cambria Math" panose="02040503050406030204" pitchFamily="18" charset="0"/>
                              <a:ea typeface="Cambria Math" panose="02040503050406030204" pitchFamily="18" charset="0"/>
                            </a:rPr>
                          </m:ctrlPr>
                        </m:dPr>
                        <m:e>
                          <m:r>
                            <a:rPr lang="es-EC" b="0" i="1">
                              <a:latin typeface="Cambria Math" panose="02040503050406030204" pitchFamily="18" charset="0"/>
                              <a:ea typeface="Cambria Math" panose="02040503050406030204" pitchFamily="18" charset="0"/>
                            </a:rPr>
                            <m:t>𝜆</m:t>
                          </m:r>
                        </m:e>
                      </m:d>
                      <m:r>
                        <a:rPr lang="es-EC" b="0" i="1" smtClean="0">
                          <a:latin typeface="Cambria Math" panose="02040503050406030204" pitchFamily="18" charset="0"/>
                          <a:ea typeface="Cambria Math" panose="02040503050406030204" pitchFamily="18" charset="0"/>
                        </a:rPr>
                        <m:t>,</m:t>
                      </m:r>
                      <m:r>
                        <a:rPr lang="es-EC" b="0" i="1">
                          <a:latin typeface="Cambria Math" panose="02040503050406030204" pitchFamily="18" charset="0"/>
                          <a:ea typeface="Cambria Math" panose="02040503050406030204" pitchFamily="18" charset="0"/>
                        </a:rPr>
                        <m:t>𝜆</m:t>
                      </m:r>
                      <m:r>
                        <a:rPr lang="es-EC" b="0" i="1" smtClean="0">
                          <a:latin typeface="Cambria Math" panose="02040503050406030204" pitchFamily="18" charset="0"/>
                          <a:ea typeface="Cambria Math" panose="02040503050406030204" pitchFamily="18" charset="0"/>
                        </a:rPr>
                        <m:t>&gt;0</m:t>
                      </m:r>
                    </m:oMath>
                  </m:oMathPara>
                </a14:m>
                <a:endParaRPr lang="es-EC" dirty="0"/>
              </a:p>
            </p:txBody>
          </p:sp>
        </mc:Choice>
        <mc:Fallback xmlns="">
          <p:sp>
            <p:nvSpPr>
              <p:cNvPr id="23" name="CuadroTexto 22"/>
              <p:cNvSpPr txBox="1">
                <a:spLocks noRot="1" noChangeAspect="1" noMove="1" noResize="1" noEditPoints="1" noAdjustHandles="1" noChangeArrowheads="1" noChangeShapeType="1" noTextEdit="1"/>
              </p:cNvSpPr>
              <p:nvPr/>
            </p:nvSpPr>
            <p:spPr>
              <a:xfrm>
                <a:off x="4677707" y="1629503"/>
                <a:ext cx="2353714" cy="461665"/>
              </a:xfrm>
              <a:prstGeom prst="rect">
                <a:avLst/>
              </a:prstGeom>
              <a:blipFill rotWithShape="0">
                <a:blip r:embed="rId7"/>
                <a:stretch>
                  <a:fillRect/>
                </a:stretch>
              </a:blipFill>
            </p:spPr>
            <p:txBody>
              <a:bodyPr/>
              <a:lstStyle/>
              <a:p>
                <a:r>
                  <a:rPr lang="es-EC">
                    <a:noFill/>
                  </a:rPr>
                  <a:t> </a:t>
                </a:r>
              </a:p>
            </p:txBody>
          </p:sp>
        </mc:Fallback>
      </mc:AlternateContent>
      <p:sp>
        <p:nvSpPr>
          <p:cNvPr id="24" name="CuadroTexto 23"/>
          <p:cNvSpPr txBox="1"/>
          <p:nvPr/>
        </p:nvSpPr>
        <p:spPr>
          <a:xfrm>
            <a:off x="631110" y="29769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598490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965934"/>
            <a:ext cx="4545603" cy="523220"/>
          </a:xfrm>
          <a:prstGeom prst="rect">
            <a:avLst/>
          </a:prstGeom>
        </p:spPr>
        <p:txBody>
          <a:bodyPr wrap="none">
            <a:spAutoFit/>
          </a:bodyPr>
          <a:lstStyle/>
          <a:p>
            <a:r>
              <a:rPr lang="es-EC" sz="2800" b="1" dirty="0"/>
              <a:t>Modelos Aleatorios Discretos</a:t>
            </a:r>
          </a:p>
        </p:txBody>
      </p:sp>
      <p:sp>
        <p:nvSpPr>
          <p:cNvPr id="4" name="Rectángulo 3"/>
          <p:cNvSpPr/>
          <p:nvPr/>
        </p:nvSpPr>
        <p:spPr>
          <a:xfrm>
            <a:off x="1084990" y="1596189"/>
            <a:ext cx="4264501" cy="523220"/>
          </a:xfrm>
          <a:prstGeom prst="rect">
            <a:avLst/>
          </a:prstGeom>
        </p:spPr>
        <p:txBody>
          <a:bodyPr wrap="none">
            <a:spAutoFit/>
          </a:bodyPr>
          <a:lstStyle/>
          <a:p>
            <a:r>
              <a:rPr lang="es-EC" sz="2800" b="1" dirty="0"/>
              <a:t>Relación </a:t>
            </a:r>
            <a:r>
              <a:rPr lang="es-EC" sz="2800" b="1" dirty="0" err="1"/>
              <a:t>Poisson</a:t>
            </a:r>
            <a:r>
              <a:rPr lang="es-EC" sz="2800" b="1" dirty="0"/>
              <a:t> - Binomial</a:t>
            </a:r>
          </a:p>
        </p:txBody>
      </p:sp>
      <mc:AlternateContent xmlns:mc="http://schemas.openxmlformats.org/markup-compatibility/2006" xmlns:a14="http://schemas.microsoft.com/office/drawing/2010/main">
        <mc:Choice Requires="a14">
          <p:sp>
            <p:nvSpPr>
              <p:cNvPr id="5" name="CuadroTexto 4"/>
              <p:cNvSpPr txBox="1"/>
              <p:nvPr/>
            </p:nvSpPr>
            <p:spPr>
              <a:xfrm>
                <a:off x="1084990" y="2053018"/>
                <a:ext cx="7358938" cy="793743"/>
              </a:xfrm>
              <a:prstGeom prst="rect">
                <a:avLst/>
              </a:prstGeom>
            </p:spPr>
            <p:txBody>
              <a:bodyPr wrap="none">
                <a:spAutoFit/>
              </a:bodyPr>
              <a:lstStyle>
                <a:defPPr>
                  <a:defRPr lang="es-EC"/>
                </a:defPPr>
                <a:lvl1pPr>
                  <a:defRPr sz="2400" b="1"/>
                </a:lvl1pPr>
              </a:lstStyle>
              <a:p>
                <a:pPr/>
                <a14:m>
                  <m:oMathPara xmlns:m="http://schemas.openxmlformats.org/officeDocument/2006/math">
                    <m:oMathParaPr>
                      <m:jc m:val="centerGroup"/>
                    </m:oMathParaPr>
                    <m:oMath xmlns:m="http://schemas.openxmlformats.org/officeDocument/2006/math">
                      <m:r>
                        <a:rPr lang="es-EC" b="0" i="1" smtClean="0">
                          <a:latin typeface="Cambria Math" panose="02040503050406030204" pitchFamily="18" charset="0"/>
                        </a:rPr>
                        <m:t>𝑆𝑒𝑎</m:t>
                      </m:r>
                      <m:r>
                        <a:rPr lang="es-EC" b="0" i="1" smtClean="0">
                          <a:latin typeface="Cambria Math" panose="02040503050406030204" pitchFamily="18" charset="0"/>
                        </a:rPr>
                        <m:t> </m:t>
                      </m:r>
                      <m:r>
                        <m:rPr>
                          <m:sty m:val="p"/>
                        </m:rPr>
                        <a:rPr lang="es-EC" b="0" i="1" smtClean="0">
                          <a:latin typeface="Cambria Math" panose="02040503050406030204" pitchFamily="18" charset="0"/>
                        </a:rPr>
                        <m:t>X</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𝐵</m:t>
                      </m:r>
                      <m:d>
                        <m:dPr>
                          <m:ctrlPr>
                            <a:rPr lang="es-EC" b="0" i="1" smtClean="0">
                              <a:latin typeface="Cambria Math" panose="02040503050406030204" pitchFamily="18" charset="0"/>
                              <a:ea typeface="Cambria Math" panose="02040503050406030204" pitchFamily="18" charset="0"/>
                            </a:rPr>
                          </m:ctrlPr>
                        </m:dPr>
                        <m:e>
                          <m:r>
                            <a:rPr lang="es-EC" b="0" i="1" smtClean="0">
                              <a:latin typeface="Cambria Math" panose="02040503050406030204" pitchFamily="18" charset="0"/>
                              <a:ea typeface="Cambria Math" panose="02040503050406030204" pitchFamily="18" charset="0"/>
                            </a:rPr>
                            <m:t>𝑛</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𝑝</m:t>
                          </m:r>
                        </m:e>
                      </m:d>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𝑠𝑖</m:t>
                      </m:r>
                      <m:r>
                        <a:rPr lang="es-EC" b="0" i="1" smtClean="0">
                          <a:latin typeface="Cambria Math" panose="02040503050406030204" pitchFamily="18" charset="0"/>
                          <a:ea typeface="Cambria Math" panose="02040503050406030204" pitchFamily="18" charset="0"/>
                        </a:rPr>
                        <m:t> </m:t>
                      </m:r>
                      <m:r>
                        <a:rPr lang="es-EC" b="0" i="1" smtClean="0">
                          <a:latin typeface="Cambria Math" panose="02040503050406030204" pitchFamily="18" charset="0"/>
                          <a:ea typeface="Cambria Math" panose="02040503050406030204" pitchFamily="18" charset="0"/>
                        </a:rPr>
                        <m:t>𝑛</m:t>
                      </m:r>
                      <m:r>
                        <a:rPr lang="es-EC" b="0" i="1" smtClean="0">
                          <a:latin typeface="Cambria Math" panose="02040503050406030204" pitchFamily="18" charset="0"/>
                          <a:ea typeface="Cambria Math" panose="02040503050406030204" pitchFamily="18" charset="0"/>
                        </a:rPr>
                        <m:t>→∞ </m:t>
                      </m:r>
                      <m:r>
                        <a:rPr lang="es-EC" b="0" i="1" smtClean="0">
                          <a:latin typeface="Cambria Math" panose="02040503050406030204" pitchFamily="18" charset="0"/>
                          <a:ea typeface="Cambria Math" panose="02040503050406030204" pitchFamily="18" charset="0"/>
                        </a:rPr>
                        <m:t>𝑦</m:t>
                      </m:r>
                      <m:r>
                        <a:rPr lang="es-EC" b="0" i="1" smtClean="0">
                          <a:latin typeface="Cambria Math" panose="02040503050406030204" pitchFamily="18" charset="0"/>
                          <a:ea typeface="Cambria Math" panose="02040503050406030204" pitchFamily="18" charset="0"/>
                        </a:rPr>
                        <m:t> </m:t>
                      </m:r>
                      <m:r>
                        <a:rPr lang="es-EC" b="0" i="1" smtClean="0">
                          <a:latin typeface="Cambria Math" panose="02040503050406030204" pitchFamily="18" charset="0"/>
                          <a:ea typeface="Cambria Math" panose="02040503050406030204" pitchFamily="18" charset="0"/>
                        </a:rPr>
                        <m:t>𝑝</m:t>
                      </m:r>
                      <m:r>
                        <a:rPr lang="es-EC" b="0" i="1" smtClean="0">
                          <a:latin typeface="Cambria Math" panose="02040503050406030204" pitchFamily="18" charset="0"/>
                          <a:ea typeface="Cambria Math" panose="02040503050406030204" pitchFamily="18" charset="0"/>
                        </a:rPr>
                        <m:t>=</m:t>
                      </m:r>
                      <m:f>
                        <m:fPr>
                          <m:ctrlPr>
                            <a:rPr lang="es-EC" b="0" i="1" smtClean="0">
                              <a:latin typeface="Cambria Math" panose="02040503050406030204" pitchFamily="18" charset="0"/>
                              <a:ea typeface="Cambria Math" panose="02040503050406030204" pitchFamily="18" charset="0"/>
                            </a:rPr>
                          </m:ctrlPr>
                        </m:fPr>
                        <m:num>
                          <m:r>
                            <a:rPr lang="es-EC" b="0" i="1">
                              <a:latin typeface="Cambria Math" panose="02040503050406030204" pitchFamily="18" charset="0"/>
                              <a:ea typeface="Cambria Math" panose="02040503050406030204" pitchFamily="18" charset="0"/>
                            </a:rPr>
                            <m:t>𝜆</m:t>
                          </m:r>
                        </m:num>
                        <m:den>
                          <m:r>
                            <a:rPr lang="es-EC" b="0" i="1" smtClean="0">
                              <a:latin typeface="Cambria Math" panose="02040503050406030204" pitchFamily="18" charset="0"/>
                              <a:ea typeface="Cambria Math" panose="02040503050406030204" pitchFamily="18" charset="0"/>
                            </a:rPr>
                            <m:t>𝑛</m:t>
                          </m:r>
                        </m:den>
                      </m:f>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𝑐𝑜𝑛</m:t>
                      </m:r>
                      <m:r>
                        <a:rPr lang="es-EC" b="0" i="1" smtClean="0">
                          <a:latin typeface="Cambria Math" panose="02040503050406030204" pitchFamily="18" charset="0"/>
                          <a:ea typeface="Cambria Math" panose="02040503050406030204" pitchFamily="18" charset="0"/>
                        </a:rPr>
                        <m:t> </m:t>
                      </m:r>
                      <m:r>
                        <a:rPr lang="es-EC" b="0" i="1" smtClean="0">
                          <a:latin typeface="Cambria Math" panose="02040503050406030204" pitchFamily="18" charset="0"/>
                          <a:ea typeface="Cambria Math" panose="02040503050406030204" pitchFamily="18" charset="0"/>
                        </a:rPr>
                        <m:t>𝜆</m:t>
                      </m:r>
                      <m:r>
                        <a:rPr lang="es-EC" b="0" i="1" smtClean="0">
                          <a:latin typeface="Cambria Math" panose="02040503050406030204" pitchFamily="18" charset="0"/>
                          <a:ea typeface="Cambria Math" panose="02040503050406030204" pitchFamily="18" charset="0"/>
                        </a:rPr>
                        <m:t>&gt;0, </m:t>
                      </m:r>
                      <m:r>
                        <a:rPr lang="es-EC" b="0" i="1" smtClean="0">
                          <a:latin typeface="Cambria Math" panose="02040503050406030204" pitchFamily="18" charset="0"/>
                          <a:ea typeface="Cambria Math" panose="02040503050406030204" pitchFamily="18" charset="0"/>
                        </a:rPr>
                        <m:t>𝑒𝑛𝑡𝑜𝑛𝑐𝑒𝑠</m:t>
                      </m:r>
                    </m:oMath>
                  </m:oMathPara>
                </a14:m>
                <a:endParaRPr lang="es-EC" b="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1084990" y="2053018"/>
                <a:ext cx="7358938" cy="793743"/>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1417186" y="2953796"/>
                <a:ext cx="6158518" cy="8999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𝑃</m:t>
                      </m:r>
                      <m:d>
                        <m:dPr>
                          <m:ctrlPr>
                            <a:rPr lang="es-EC" sz="2800" i="1">
                              <a:latin typeface="Cambria Math" panose="02040503050406030204" pitchFamily="18" charset="0"/>
                            </a:rPr>
                          </m:ctrlPr>
                        </m:dPr>
                        <m:e>
                          <m:r>
                            <a:rPr lang="es-EC" sz="2800" b="0" i="1">
                              <a:latin typeface="Cambria Math" panose="02040503050406030204" pitchFamily="18" charset="0"/>
                            </a:rPr>
                            <m:t>𝑋</m:t>
                          </m:r>
                          <m:r>
                            <a:rPr lang="es-EC" sz="2800" b="0">
                              <a:latin typeface="Cambria Math" panose="02040503050406030204" pitchFamily="18" charset="0"/>
                            </a:rPr>
                            <m:t>=</m:t>
                          </m:r>
                          <m:r>
                            <a:rPr lang="es-EC" sz="2800" b="0" i="1">
                              <a:latin typeface="Cambria Math" panose="02040503050406030204" pitchFamily="18" charset="0"/>
                            </a:rPr>
                            <m:t>𝑥</m:t>
                          </m:r>
                        </m:e>
                      </m:d>
                      <m:r>
                        <a:rPr lang="es-EC" sz="2800" b="0" i="1" smtClean="0">
                          <a:latin typeface="Cambria Math" panose="02040503050406030204" pitchFamily="18" charset="0"/>
                          <a:ea typeface="Cambria Math" panose="02040503050406030204" pitchFamily="18" charset="0"/>
                        </a:rPr>
                        <m:t>→</m:t>
                      </m:r>
                      <m:f>
                        <m:fPr>
                          <m:ctrlPr>
                            <a:rPr lang="es-EC" sz="2800" i="1" smtClean="0">
                              <a:latin typeface="Cambria Math" panose="02040503050406030204" pitchFamily="18" charset="0"/>
                            </a:rPr>
                          </m:ctrlPr>
                        </m:fPr>
                        <m:num>
                          <m:sSup>
                            <m:sSupPr>
                              <m:ctrlPr>
                                <a:rPr lang="es-EC" sz="2800" i="1" smtClean="0">
                                  <a:latin typeface="Cambria Math" panose="02040503050406030204" pitchFamily="18" charset="0"/>
                                </a:rPr>
                              </m:ctrlPr>
                            </m:sSupPr>
                            <m:e>
                              <m:r>
                                <a:rPr lang="es-EC" sz="2800" b="0" i="1" smtClean="0">
                                  <a:latin typeface="Cambria Math" panose="02040503050406030204" pitchFamily="18" charset="0"/>
                                </a:rPr>
                                <m:t>𝑒</m:t>
                              </m:r>
                            </m:e>
                            <m:sup>
                              <m:r>
                                <a:rPr lang="es-EC" sz="2800" b="0" i="1" smtClean="0">
                                  <a:latin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𝜆</m:t>
                              </m:r>
                            </m:sup>
                          </m:sSup>
                          <m:sSup>
                            <m:sSupPr>
                              <m:ctrlPr>
                                <a:rPr lang="es-EC" sz="2800" i="1" smtClean="0">
                                  <a:latin typeface="Cambria Math" panose="02040503050406030204" pitchFamily="18" charset="0"/>
                                </a:rPr>
                              </m:ctrlPr>
                            </m:sSupPr>
                            <m:e>
                              <m:r>
                                <a:rPr lang="es-EC" sz="2800" b="0" i="1" smtClean="0">
                                  <a:latin typeface="Cambria Math" panose="02040503050406030204" pitchFamily="18" charset="0"/>
                                  <a:ea typeface="Cambria Math" panose="02040503050406030204" pitchFamily="18" charset="0"/>
                                </a:rPr>
                                <m:t>𝜆</m:t>
                              </m:r>
                            </m:e>
                            <m:sup>
                              <m:r>
                                <a:rPr lang="es-EC" sz="2800" b="0" i="1" smtClean="0">
                                  <a:latin typeface="Cambria Math" panose="02040503050406030204" pitchFamily="18" charset="0"/>
                                </a:rPr>
                                <m:t>𝑥</m:t>
                              </m:r>
                            </m:sup>
                          </m:sSup>
                        </m:num>
                        <m:den>
                          <m:r>
                            <a:rPr lang="es-EC" sz="2800" b="0" i="1" smtClean="0">
                              <a:latin typeface="Cambria Math" panose="02040503050406030204" pitchFamily="18" charset="0"/>
                            </a:rPr>
                            <m:t>𝑥</m:t>
                          </m:r>
                          <m:r>
                            <a:rPr lang="es-EC" sz="2800" b="0" i="1" smtClean="0">
                              <a:latin typeface="Cambria Math" panose="02040503050406030204" pitchFamily="18" charset="0"/>
                            </a:rPr>
                            <m:t>!</m:t>
                          </m:r>
                        </m:den>
                      </m:f>
                    </m:oMath>
                  </m:oMathPara>
                </a14:m>
                <a:endParaRPr lang="es-EC" sz="28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1417186" y="2953796"/>
                <a:ext cx="6158518" cy="899926"/>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CuadroTexto 6"/>
              <p:cNvSpPr txBox="1"/>
              <p:nvPr/>
            </p:nvSpPr>
            <p:spPr>
              <a:xfrm>
                <a:off x="1084989" y="4618706"/>
                <a:ext cx="4885505" cy="461665"/>
              </a:xfrm>
              <a:prstGeom prst="rect">
                <a:avLst/>
              </a:prstGeom>
            </p:spPr>
            <p:txBody>
              <a:bodyPr wrap="square">
                <a:spAutoFit/>
              </a:bodyPr>
              <a:lstStyle>
                <a:defPPr>
                  <a:defRPr lang="es-EC"/>
                </a:defPPr>
                <a:lvl1pPr>
                  <a:defRPr sz="2400" b="1"/>
                </a:lvl1pPr>
              </a:lstStyle>
              <a:p>
                <a:pPr/>
                <a14:m>
                  <m:oMathPara xmlns:m="http://schemas.openxmlformats.org/officeDocument/2006/math">
                    <m:oMathParaPr>
                      <m:jc m:val="left"/>
                    </m:oMathParaPr>
                    <m:oMath xmlns:m="http://schemas.openxmlformats.org/officeDocument/2006/math">
                      <m:r>
                        <a:rPr lang="es-EC" b="0" i="1" smtClean="0">
                          <a:latin typeface="Cambria Math" panose="02040503050406030204" pitchFamily="18" charset="0"/>
                        </a:rPr>
                        <m:t>𝑆𝑒𝑎</m:t>
                      </m:r>
                      <m:r>
                        <a:rPr lang="es-EC" b="0" i="1" smtClean="0">
                          <a:latin typeface="Cambria Math" panose="02040503050406030204" pitchFamily="18" charset="0"/>
                        </a:rPr>
                        <m:t> </m:t>
                      </m:r>
                      <m:r>
                        <m:rPr>
                          <m:sty m:val="p"/>
                        </m:rPr>
                        <a:rPr lang="es-EC" b="0" i="1" smtClean="0">
                          <a:latin typeface="Cambria Math" panose="02040503050406030204" pitchFamily="18" charset="0"/>
                        </a:rPr>
                        <m:t>X</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𝐻</m:t>
                      </m:r>
                      <m:d>
                        <m:dPr>
                          <m:ctrlPr>
                            <a:rPr lang="es-EC" b="0" i="1" smtClean="0">
                              <a:latin typeface="Cambria Math" panose="02040503050406030204" pitchFamily="18" charset="0"/>
                              <a:ea typeface="Cambria Math" panose="02040503050406030204" pitchFamily="18" charset="0"/>
                            </a:rPr>
                          </m:ctrlPr>
                        </m:dPr>
                        <m:e>
                          <m:r>
                            <a:rPr lang="es-EC" b="0" i="1" smtClean="0">
                              <a:latin typeface="Cambria Math" panose="02040503050406030204" pitchFamily="18" charset="0"/>
                              <a:ea typeface="Cambria Math" panose="02040503050406030204" pitchFamily="18" charset="0"/>
                            </a:rPr>
                            <m:t>𝑁</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𝑛</m:t>
                          </m:r>
                          <m:r>
                            <a:rPr lang="es-EC" b="0" i="1" smtClean="0">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𝑘</m:t>
                          </m:r>
                        </m:e>
                      </m:d>
                      <m:r>
                        <a:rPr lang="es-EC" b="0" i="1">
                          <a:latin typeface="Cambria Math" panose="02040503050406030204" pitchFamily="18" charset="0"/>
                          <a:ea typeface="Cambria Math" panose="02040503050406030204" pitchFamily="18" charset="0"/>
                        </a:rPr>
                        <m:t>;</m:t>
                      </m:r>
                      <m:r>
                        <a:rPr lang="es-EC" b="0" i="1">
                          <a:latin typeface="Cambria Math" panose="02040503050406030204" pitchFamily="18" charset="0"/>
                          <a:ea typeface="Cambria Math" panose="02040503050406030204" pitchFamily="18" charset="0"/>
                        </a:rPr>
                        <m:t>𝑠𝑖</m:t>
                      </m:r>
                      <m:r>
                        <a:rPr lang="es-EC" b="0" i="1" smtClean="0">
                          <a:latin typeface="Cambria Math" panose="02040503050406030204" pitchFamily="18" charset="0"/>
                          <a:ea typeface="Cambria Math" panose="02040503050406030204" pitchFamily="18" charset="0"/>
                        </a:rPr>
                        <m:t> </m:t>
                      </m:r>
                      <m:r>
                        <a:rPr lang="es-EC" b="0" i="1" smtClean="0">
                          <a:latin typeface="Cambria Math" panose="02040503050406030204" pitchFamily="18" charset="0"/>
                          <a:ea typeface="Cambria Math" panose="02040503050406030204" pitchFamily="18" charset="0"/>
                        </a:rPr>
                        <m:t>𝑁</m:t>
                      </m:r>
                      <m:r>
                        <a:rPr lang="es-EC" b="0" i="1">
                          <a:latin typeface="Cambria Math" panose="02040503050406030204" pitchFamily="18" charset="0"/>
                          <a:ea typeface="Cambria Math" panose="02040503050406030204" pitchFamily="18" charset="0"/>
                        </a:rPr>
                        <m:t>→∞</m:t>
                      </m:r>
                      <m:r>
                        <a:rPr lang="es-EC" b="0" i="1" smtClean="0">
                          <a:latin typeface="Cambria Math" panose="02040503050406030204" pitchFamily="18" charset="0"/>
                          <a:ea typeface="Cambria Math" panose="02040503050406030204" pitchFamily="18" charset="0"/>
                        </a:rPr>
                        <m:t> </m:t>
                      </m:r>
                      <m:r>
                        <a:rPr lang="es-EC" b="0" i="1" smtClean="0">
                          <a:latin typeface="Cambria Math" panose="02040503050406030204" pitchFamily="18" charset="0"/>
                          <a:ea typeface="Cambria Math" panose="02040503050406030204" pitchFamily="18" charset="0"/>
                        </a:rPr>
                        <m:t>𝑦</m:t>
                      </m:r>
                      <m:r>
                        <a:rPr lang="es-EC" b="0" i="1" smtClean="0">
                          <a:latin typeface="Cambria Math" panose="02040503050406030204" pitchFamily="18" charset="0"/>
                          <a:ea typeface="Cambria Math" panose="02040503050406030204" pitchFamily="18" charset="0"/>
                        </a:rPr>
                        <m:t> </m:t>
                      </m:r>
                      <m:r>
                        <a:rPr lang="es-EC" b="0" i="1">
                          <a:latin typeface="Cambria Math" panose="02040503050406030204" pitchFamily="18" charset="0"/>
                          <a:ea typeface="Cambria Math" panose="02040503050406030204" pitchFamily="18" charset="0"/>
                        </a:rPr>
                        <m:t>𝑛</m:t>
                      </m:r>
                      <m:r>
                        <a:rPr lang="es-EC" b="0" i="1">
                          <a:latin typeface="Cambria Math" panose="02040503050406030204" pitchFamily="18" charset="0"/>
                          <a:ea typeface="Cambria Math" panose="02040503050406030204" pitchFamily="18" charset="0"/>
                        </a:rPr>
                        <m:t>→0</m:t>
                      </m:r>
                    </m:oMath>
                  </m:oMathPara>
                </a14:m>
                <a:endParaRPr lang="es-EC" dirty="0"/>
              </a:p>
            </p:txBody>
          </p:sp>
        </mc:Choice>
        <mc:Fallback xmlns="">
          <p:sp>
            <p:nvSpPr>
              <p:cNvPr id="7" name="CuadroTexto 6"/>
              <p:cNvSpPr txBox="1">
                <a:spLocks noRot="1" noChangeAspect="1" noMove="1" noResize="1" noEditPoints="1" noAdjustHandles="1" noChangeArrowheads="1" noChangeShapeType="1" noTextEdit="1"/>
              </p:cNvSpPr>
              <p:nvPr/>
            </p:nvSpPr>
            <p:spPr>
              <a:xfrm>
                <a:off x="1084989" y="4618706"/>
                <a:ext cx="4885505" cy="461665"/>
              </a:xfrm>
              <a:prstGeom prst="rect">
                <a:avLst/>
              </a:prstGeom>
              <a:blipFill rotWithShape="0">
                <a:blip r:embed="rId4"/>
                <a:stretch>
                  <a:fillRect l="-375" r="-125" b="-10667"/>
                </a:stretch>
              </a:blipFill>
            </p:spPr>
            <p:txBody>
              <a:bodyPr/>
              <a:lstStyle/>
              <a:p>
                <a:r>
                  <a:rPr lang="es-EC">
                    <a:noFill/>
                  </a:rPr>
                  <a:t> </a:t>
                </a:r>
              </a:p>
            </p:txBody>
          </p:sp>
        </mc:Fallback>
      </mc:AlternateContent>
      <p:sp>
        <p:nvSpPr>
          <p:cNvPr id="9" name="CuadroTexto 8"/>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
        <p:nvSpPr>
          <p:cNvPr id="10" name="Rectángulo 9"/>
          <p:cNvSpPr/>
          <p:nvPr/>
        </p:nvSpPr>
        <p:spPr>
          <a:xfrm>
            <a:off x="1084989" y="3853722"/>
            <a:ext cx="5618589" cy="523220"/>
          </a:xfrm>
          <a:prstGeom prst="rect">
            <a:avLst/>
          </a:prstGeom>
        </p:spPr>
        <p:txBody>
          <a:bodyPr wrap="none">
            <a:spAutoFit/>
          </a:bodyPr>
          <a:lstStyle/>
          <a:p>
            <a:r>
              <a:rPr lang="es-EC" sz="2800" b="1" dirty="0"/>
              <a:t>Relación Hipergeométrica - Binomial</a:t>
            </a:r>
          </a:p>
        </p:txBody>
      </p:sp>
      <mc:AlternateContent xmlns:mc="http://schemas.openxmlformats.org/markup-compatibility/2006" xmlns:a14="http://schemas.microsoft.com/office/drawing/2010/main">
        <mc:Choice Requires="a14">
          <p:sp>
            <p:nvSpPr>
              <p:cNvPr id="11" name="CuadroTexto 10"/>
              <p:cNvSpPr txBox="1"/>
              <p:nvPr/>
            </p:nvSpPr>
            <p:spPr>
              <a:xfrm>
                <a:off x="1084989" y="5322135"/>
                <a:ext cx="9622314" cy="622286"/>
              </a:xfrm>
              <a:prstGeom prst="rect">
                <a:avLst/>
              </a:prstGeom>
              <a:noFill/>
            </p:spPr>
            <p:txBody>
              <a:bodyPr wrap="none" rtlCol="0">
                <a:spAutoFit/>
              </a:bodyPr>
              <a:lstStyle/>
              <a:p>
                <a:r>
                  <a:rPr lang="es-EC" sz="2400" dirty="0"/>
                  <a:t>Se toma </a:t>
                </a:r>
                <a14:m>
                  <m:oMath xmlns:m="http://schemas.openxmlformats.org/officeDocument/2006/math">
                    <m:r>
                      <a:rPr lang="es-EC" sz="2400" b="0" i="1" smtClean="0">
                        <a:latin typeface="Cambria Math" panose="02040503050406030204" pitchFamily="18" charset="0"/>
                      </a:rPr>
                      <m:t>𝑝</m:t>
                    </m:r>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r>
                          <a:rPr lang="es-EC" sz="2400" b="0" i="1" smtClean="0">
                            <a:latin typeface="Cambria Math" panose="02040503050406030204" pitchFamily="18" charset="0"/>
                          </a:rPr>
                          <m:t>𝑘</m:t>
                        </m:r>
                      </m:num>
                      <m:den>
                        <m:r>
                          <a:rPr lang="es-EC" sz="2400" b="0" i="1" smtClean="0">
                            <a:latin typeface="Cambria Math" panose="02040503050406030204" pitchFamily="18" charset="0"/>
                          </a:rPr>
                          <m:t>𝑁</m:t>
                        </m:r>
                      </m:den>
                    </m:f>
                  </m:oMath>
                </a14:m>
                <a:r>
                  <a:rPr lang="es-EC" sz="2400" dirty="0"/>
                  <a:t> y por tanto X se aproxima a una binomial de parámetros n, p</a:t>
                </a:r>
              </a:p>
            </p:txBody>
          </p:sp>
        </mc:Choice>
        <mc:Fallback xmlns="">
          <p:sp>
            <p:nvSpPr>
              <p:cNvPr id="11" name="CuadroTexto 10"/>
              <p:cNvSpPr txBox="1">
                <a:spLocks noRot="1" noChangeAspect="1" noMove="1" noResize="1" noEditPoints="1" noAdjustHandles="1" noChangeArrowheads="1" noChangeShapeType="1" noTextEdit="1"/>
              </p:cNvSpPr>
              <p:nvPr/>
            </p:nvSpPr>
            <p:spPr>
              <a:xfrm>
                <a:off x="1084989" y="5322135"/>
                <a:ext cx="9622314" cy="622286"/>
              </a:xfrm>
              <a:prstGeom prst="rect">
                <a:avLst/>
              </a:prstGeom>
              <a:blipFill rotWithShape="0">
                <a:blip r:embed="rId5"/>
                <a:stretch>
                  <a:fillRect l="-1014" b="-9804"/>
                </a:stretch>
              </a:blipFill>
            </p:spPr>
            <p:txBody>
              <a:bodyPr/>
              <a:lstStyle/>
              <a:p>
                <a:r>
                  <a:rPr lang="es-EC">
                    <a:noFill/>
                  </a:rPr>
                  <a:t> </a:t>
                </a:r>
              </a:p>
            </p:txBody>
          </p:sp>
        </mc:Fallback>
      </mc:AlternateContent>
    </p:spTree>
    <p:extLst>
      <p:ext uri="{BB962C8B-B14F-4D97-AF65-F5344CB8AC3E}">
        <p14:creationId xmlns:p14="http://schemas.microsoft.com/office/powerpoint/2010/main" val="320436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815499"/>
            <a:ext cx="4683718" cy="523220"/>
          </a:xfrm>
          <a:prstGeom prst="rect">
            <a:avLst/>
          </a:prstGeom>
        </p:spPr>
        <p:txBody>
          <a:bodyPr wrap="none">
            <a:spAutoFit/>
          </a:bodyPr>
          <a:lstStyle/>
          <a:p>
            <a:r>
              <a:rPr lang="es-EC" sz="2800" b="1" dirty="0"/>
              <a:t>Modelos Aleatorios Continuos</a:t>
            </a:r>
          </a:p>
        </p:txBody>
      </p:sp>
      <p:sp>
        <p:nvSpPr>
          <p:cNvPr id="4" name="Rectángulo 3"/>
          <p:cNvSpPr/>
          <p:nvPr/>
        </p:nvSpPr>
        <p:spPr>
          <a:xfrm>
            <a:off x="1084990" y="1407315"/>
            <a:ext cx="3485378" cy="523220"/>
          </a:xfrm>
          <a:prstGeom prst="rect">
            <a:avLst/>
          </a:prstGeom>
        </p:spPr>
        <p:txBody>
          <a:bodyPr wrap="none">
            <a:spAutoFit/>
          </a:bodyPr>
          <a:lstStyle/>
          <a:p>
            <a:r>
              <a:rPr lang="es-EC" sz="2800" b="1" dirty="0"/>
              <a:t>Distribución Uniforme</a:t>
            </a:r>
          </a:p>
        </p:txBody>
      </p:sp>
      <p:sp>
        <p:nvSpPr>
          <p:cNvPr id="5" name="Rectángulo 4"/>
          <p:cNvSpPr/>
          <p:nvPr/>
        </p:nvSpPr>
        <p:spPr>
          <a:xfrm>
            <a:off x="1084990" y="1989032"/>
            <a:ext cx="7109639" cy="461665"/>
          </a:xfrm>
          <a:prstGeom prst="rect">
            <a:avLst/>
          </a:prstGeom>
        </p:spPr>
        <p:txBody>
          <a:bodyPr wrap="none">
            <a:spAutoFit/>
          </a:bodyPr>
          <a:lstStyle/>
          <a:p>
            <a:r>
              <a:rPr lang="es-EC" sz="2400" dirty="0"/>
              <a:t>Probabilidad es uniforme en un intervalo cerrado [</a:t>
            </a:r>
            <a:r>
              <a:rPr lang="es-EC" sz="2400" dirty="0" err="1"/>
              <a:t>a,b</a:t>
            </a:r>
            <a:r>
              <a:rPr lang="es-EC" sz="2400" dirty="0"/>
              <a:t>]</a:t>
            </a:r>
          </a:p>
        </p:txBody>
      </p:sp>
      <p:sp>
        <p:nvSpPr>
          <p:cNvPr id="6" name="Rectángulo 5"/>
          <p:cNvSpPr/>
          <p:nvPr/>
        </p:nvSpPr>
        <p:spPr>
          <a:xfrm>
            <a:off x="1084990" y="2900955"/>
            <a:ext cx="3274679" cy="461665"/>
          </a:xfrm>
          <a:prstGeom prst="rect">
            <a:avLst/>
          </a:prstGeom>
        </p:spPr>
        <p:txBody>
          <a:bodyPr wrap="square">
            <a:spAutoFit/>
          </a:bodyPr>
          <a:lstStyle/>
          <a:p>
            <a:r>
              <a:rPr lang="es-EC" sz="2400" b="1" dirty="0"/>
              <a:t>Función de probabilidad</a:t>
            </a:r>
          </a:p>
        </p:txBody>
      </p:sp>
      <mc:AlternateContent xmlns:mc="http://schemas.openxmlformats.org/markup-compatibility/2006" xmlns:a14="http://schemas.microsoft.com/office/drawing/2010/main">
        <mc:Choice Requires="a14">
          <p:sp>
            <p:nvSpPr>
              <p:cNvPr id="7" name="Rectángulo 6"/>
              <p:cNvSpPr/>
              <p:nvPr/>
            </p:nvSpPr>
            <p:spPr>
              <a:xfrm>
                <a:off x="4347282" y="2509194"/>
                <a:ext cx="5081776" cy="14597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ea typeface="Cambria Math" panose="02040503050406030204" pitchFamily="18" charset="0"/>
                        </a:rPr>
                        <m:t>𝑓</m:t>
                      </m:r>
                      <m:d>
                        <m:dPr>
                          <m:ctrlPr>
                            <a:rPr lang="es-EC" sz="2400" i="1">
                              <a:latin typeface="Cambria Math" panose="02040503050406030204" pitchFamily="18" charset="0"/>
                              <a:ea typeface="Cambria Math" panose="02040503050406030204" pitchFamily="18" charset="0"/>
                            </a:rPr>
                          </m:ctrlPr>
                        </m:dPr>
                        <m:e>
                          <m:r>
                            <a:rPr lang="es-EC" sz="2400" b="0" i="1">
                              <a:latin typeface="Cambria Math" panose="02040503050406030204" pitchFamily="18" charset="0"/>
                              <a:ea typeface="Cambria Math" panose="02040503050406030204" pitchFamily="18" charset="0"/>
                            </a:rPr>
                            <m:t>𝑥</m:t>
                          </m:r>
                        </m:e>
                      </m:d>
                      <m:r>
                        <a:rPr lang="es-EC" sz="2400" b="0">
                          <a:latin typeface="Cambria Math" panose="02040503050406030204" pitchFamily="18" charset="0"/>
                          <a:ea typeface="Cambria Math" panose="02040503050406030204" pitchFamily="18" charset="0"/>
                        </a:rPr>
                        <m:t>=</m:t>
                      </m:r>
                      <m:d>
                        <m:dPr>
                          <m:begChr m:val="{"/>
                          <m:endChr m:val=""/>
                          <m:ctrlPr>
                            <a:rPr lang="es-EC" sz="2400" i="1" smtClean="0">
                              <a:latin typeface="Cambria Math" panose="02040503050406030204" pitchFamily="18" charset="0"/>
                              <a:ea typeface="Cambria Math" panose="02040503050406030204" pitchFamily="18" charset="0"/>
                            </a:rPr>
                          </m:ctrlPr>
                        </m:dPr>
                        <m:e>
                          <m:eqArr>
                            <m:eqArrPr>
                              <m:ctrlPr>
                                <a:rPr lang="es-EC" sz="2400" i="1">
                                  <a:latin typeface="Cambria Math" panose="02040503050406030204" pitchFamily="18" charset="0"/>
                                  <a:ea typeface="Cambria Math" panose="02040503050406030204" pitchFamily="18" charset="0"/>
                                </a:rPr>
                              </m:ctrlPr>
                            </m:eqArrPr>
                            <m:e>
                              <m:f>
                                <m:fPr>
                                  <m:ctrlPr>
                                    <a:rPr lang="es-EC" sz="2400" i="1">
                                      <a:latin typeface="Cambria Math" panose="02040503050406030204" pitchFamily="18" charset="0"/>
                                      <a:ea typeface="Cambria Math" panose="02040503050406030204" pitchFamily="18" charset="0"/>
                                    </a:rPr>
                                  </m:ctrlPr>
                                </m:fPr>
                                <m:num>
                                  <m:r>
                                    <a:rPr lang="es-EC" sz="2400" b="0" i="1">
                                      <a:latin typeface="Cambria Math" panose="02040503050406030204" pitchFamily="18" charset="0"/>
                                      <a:ea typeface="Cambria Math" panose="02040503050406030204" pitchFamily="18" charset="0"/>
                                    </a:rPr>
                                    <m:t>1</m:t>
                                  </m:r>
                                </m:num>
                                <m:den>
                                  <m:r>
                                    <a:rPr lang="es-EC" sz="2400" b="0" i="1">
                                      <a:latin typeface="Cambria Math" panose="02040503050406030204" pitchFamily="18" charset="0"/>
                                      <a:ea typeface="Cambria Math" panose="02040503050406030204" pitchFamily="18" charset="0"/>
                                    </a:rPr>
                                    <m:t>𝑏</m:t>
                                  </m:r>
                                  <m:r>
                                    <a:rPr lang="es-EC" sz="2400" b="0" i="1">
                                      <a:latin typeface="Cambria Math" panose="02040503050406030204" pitchFamily="18" charset="0"/>
                                      <a:ea typeface="Cambria Math" panose="02040503050406030204" pitchFamily="18" charset="0"/>
                                    </a:rPr>
                                    <m:t>−</m:t>
                                  </m:r>
                                  <m:r>
                                    <a:rPr lang="es-EC" sz="2400" b="0" i="1">
                                      <a:latin typeface="Cambria Math" panose="02040503050406030204" pitchFamily="18" charset="0"/>
                                      <a:ea typeface="Cambria Math" panose="02040503050406030204" pitchFamily="18" charset="0"/>
                                    </a:rPr>
                                    <m:t>𝑎</m:t>
                                  </m:r>
                                </m:den>
                              </m:f>
                              <m:r>
                                <a:rPr lang="es-EC" sz="2400" b="0" i="1">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                   </m:t>
                              </m:r>
                              <m:r>
                                <a:rPr lang="es-EC" sz="2400" b="0" i="1">
                                  <a:latin typeface="Cambria Math" panose="02040503050406030204" pitchFamily="18" charset="0"/>
                                  <a:ea typeface="Cambria Math" panose="02040503050406030204" pitchFamily="18" charset="0"/>
                                </a:rPr>
                                <m:t>𝑎</m:t>
                              </m:r>
                              <m:r>
                                <a:rPr lang="es-EC" sz="2400" b="0" i="1">
                                  <a:latin typeface="Cambria Math" panose="02040503050406030204" pitchFamily="18" charset="0"/>
                                  <a:ea typeface="Cambria Math" panose="02040503050406030204" pitchFamily="18" charset="0"/>
                                </a:rPr>
                                <m:t>≤</m:t>
                              </m:r>
                              <m:r>
                                <a:rPr lang="es-EC" sz="2400" b="0" i="1">
                                  <a:latin typeface="Cambria Math" panose="02040503050406030204" pitchFamily="18" charset="0"/>
                                  <a:ea typeface="Cambria Math" panose="02040503050406030204" pitchFamily="18" charset="0"/>
                                </a:rPr>
                                <m:t>𝑋</m:t>
                              </m:r>
                              <m:r>
                                <a:rPr lang="es-EC" sz="2400" b="0" i="1">
                                  <a:latin typeface="Cambria Math" panose="02040503050406030204" pitchFamily="18" charset="0"/>
                                  <a:ea typeface="Cambria Math" panose="02040503050406030204" pitchFamily="18" charset="0"/>
                                </a:rPr>
                                <m:t> ≤</m:t>
                              </m:r>
                              <m:r>
                                <a:rPr lang="es-EC" sz="2400" b="0" i="1">
                                  <a:latin typeface="Cambria Math" panose="02040503050406030204" pitchFamily="18" charset="0"/>
                                  <a:ea typeface="Cambria Math" panose="02040503050406030204" pitchFamily="18" charset="0"/>
                                </a:rPr>
                                <m:t>𝑏</m:t>
                              </m:r>
                            </m:e>
                            <m:e>
                              <m:r>
                                <m:rPr>
                                  <m:nor/>
                                </m:rPr>
                                <a:rPr lang="es-EC" sz="2400" i="1" dirty="0">
                                  <a:latin typeface="Cambria Math" panose="02040503050406030204" pitchFamily="18" charset="0"/>
                                  <a:ea typeface="Cambria Math" panose="02040503050406030204" pitchFamily="18" charset="0"/>
                                </a:rPr>
                                <m:t> </m:t>
                              </m:r>
                            </m:e>
                            <m:e>
                              <m:r>
                                <a:rPr lang="es-EC" sz="2400" b="0" i="1">
                                  <a:latin typeface="Cambria Math" panose="02040503050406030204" pitchFamily="18" charset="0"/>
                                  <a:ea typeface="Cambria Math" panose="02040503050406030204" pitchFamily="18" charset="0"/>
                                </a:rPr>
                                <m:t>0    </m:t>
                              </m:r>
                              <m:r>
                                <a:rPr lang="es-EC" sz="2400" b="0" i="1">
                                  <a:latin typeface="Cambria Math" panose="02040503050406030204" pitchFamily="18" charset="0"/>
                                  <a:ea typeface="Cambria Math" panose="02040503050406030204" pitchFamily="18" charset="0"/>
                                </a:rPr>
                                <m:t>𝑒𝑛</m:t>
                              </m:r>
                              <m:r>
                                <a:rPr lang="es-EC" sz="2400" b="0" i="1">
                                  <a:latin typeface="Cambria Math" panose="02040503050406030204" pitchFamily="18" charset="0"/>
                                  <a:ea typeface="Cambria Math" panose="02040503050406030204" pitchFamily="18" charset="0"/>
                                </a:rPr>
                                <m:t> </m:t>
                              </m:r>
                              <m:r>
                                <a:rPr lang="es-EC" sz="2400" b="0" i="1">
                                  <a:latin typeface="Cambria Math" panose="02040503050406030204" pitchFamily="18" charset="0"/>
                                  <a:ea typeface="Cambria Math" panose="02040503050406030204" pitchFamily="18" charset="0"/>
                                </a:rPr>
                                <m:t>𝑐𝑢𝑎𝑙𝑞𝑢𝑖𝑒𝑟</m:t>
                              </m:r>
                              <m:r>
                                <a:rPr lang="es-EC" sz="2400" b="0" i="1">
                                  <a:latin typeface="Cambria Math" panose="02040503050406030204" pitchFamily="18" charset="0"/>
                                  <a:ea typeface="Cambria Math" panose="02040503050406030204" pitchFamily="18" charset="0"/>
                                </a:rPr>
                                <m:t> </m:t>
                              </m:r>
                              <m:r>
                                <a:rPr lang="es-EC" sz="2400" b="0" i="1">
                                  <a:latin typeface="Cambria Math" panose="02040503050406030204" pitchFamily="18" charset="0"/>
                                  <a:ea typeface="Cambria Math" panose="02040503050406030204" pitchFamily="18" charset="0"/>
                                </a:rPr>
                                <m:t>𝑜𝑡𝑟𝑜</m:t>
                              </m:r>
                              <m:r>
                                <a:rPr lang="es-EC" sz="2400" b="0" i="1">
                                  <a:latin typeface="Cambria Math" panose="02040503050406030204" pitchFamily="18" charset="0"/>
                                  <a:ea typeface="Cambria Math" panose="02040503050406030204" pitchFamily="18" charset="0"/>
                                </a:rPr>
                                <m:t> </m:t>
                              </m:r>
                              <m:r>
                                <a:rPr lang="es-EC" sz="2400" b="0" i="1">
                                  <a:latin typeface="Cambria Math" panose="02040503050406030204" pitchFamily="18" charset="0"/>
                                  <a:ea typeface="Cambria Math" panose="02040503050406030204" pitchFamily="18" charset="0"/>
                                </a:rPr>
                                <m:t>𝑐𝑎𝑠𝑜</m:t>
                              </m:r>
                              <m:r>
                                <m:rPr>
                                  <m:nor/>
                                </m:rPr>
                                <a:rPr lang="es-EC" sz="2400" dirty="0">
                                  <a:latin typeface="Cambria Math" panose="02040503050406030204" pitchFamily="18" charset="0"/>
                                  <a:ea typeface="Cambria Math" panose="02040503050406030204" pitchFamily="18" charset="0"/>
                                </a:rPr>
                                <m:t> </m:t>
                              </m:r>
                            </m:e>
                          </m:eqArr>
                        </m:e>
                      </m:d>
                    </m:oMath>
                  </m:oMathPara>
                </a14:m>
                <a:endParaRPr lang="es-EC" sz="2400" dirty="0">
                  <a:latin typeface="Cambria Math" panose="02040503050406030204" pitchFamily="18" charset="0"/>
                  <a:ea typeface="Cambria Math" panose="02040503050406030204" pitchFamily="18" charset="0"/>
                </a:endParaRPr>
              </a:p>
            </p:txBody>
          </p:sp>
        </mc:Choice>
        <mc:Fallback xmlns="">
          <p:sp>
            <p:nvSpPr>
              <p:cNvPr id="7" name="Rectángulo 6"/>
              <p:cNvSpPr>
                <a:spLocks noRot="1" noChangeAspect="1" noMove="1" noResize="1" noEditPoints="1" noAdjustHandles="1" noChangeArrowheads="1" noChangeShapeType="1" noTextEdit="1"/>
              </p:cNvSpPr>
              <p:nvPr/>
            </p:nvSpPr>
            <p:spPr>
              <a:xfrm>
                <a:off x="4347282" y="2509194"/>
                <a:ext cx="5081776" cy="1459759"/>
              </a:xfrm>
              <a:prstGeom prst="rect">
                <a:avLst/>
              </a:prstGeom>
              <a:blipFill rotWithShape="0">
                <a:blip r:embed="rId2"/>
                <a:stretch>
                  <a:fillRect/>
                </a:stretch>
              </a:blipFill>
            </p:spPr>
            <p:txBody>
              <a:bodyPr/>
              <a:lstStyle/>
              <a:p>
                <a:r>
                  <a:rPr lang="es-EC">
                    <a:noFill/>
                  </a:rPr>
                  <a:t> </a:t>
                </a:r>
              </a:p>
            </p:txBody>
          </p:sp>
        </mc:Fallback>
      </mc:AlternateContent>
      <p:sp>
        <p:nvSpPr>
          <p:cNvPr id="8" name="Rectángulo 7"/>
          <p:cNvSpPr/>
          <p:nvPr/>
        </p:nvSpPr>
        <p:spPr>
          <a:xfrm>
            <a:off x="1084990" y="4566382"/>
            <a:ext cx="1653594" cy="461665"/>
          </a:xfrm>
          <a:prstGeom prst="rect">
            <a:avLst/>
          </a:prstGeom>
        </p:spPr>
        <p:txBody>
          <a:bodyPr wrap="square">
            <a:spAutoFit/>
          </a:bodyPr>
          <a:lstStyle/>
          <a:p>
            <a:r>
              <a:rPr lang="es-EC" sz="2400" b="1" dirty="0"/>
              <a:t>Parámetros</a:t>
            </a:r>
          </a:p>
        </p:txBody>
      </p:sp>
      <mc:AlternateContent xmlns:mc="http://schemas.openxmlformats.org/markup-compatibility/2006" xmlns:a14="http://schemas.microsoft.com/office/drawing/2010/main">
        <mc:Choice Requires="a14">
          <p:sp>
            <p:nvSpPr>
              <p:cNvPr id="9" name="Rectángulo 8"/>
              <p:cNvSpPr/>
              <p:nvPr/>
            </p:nvSpPr>
            <p:spPr>
              <a:xfrm>
                <a:off x="3480826" y="4421414"/>
                <a:ext cx="71987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ea typeface="Cambria Math" panose="02040503050406030204" pitchFamily="18" charset="0"/>
                        </a:rPr>
                        <m:t>𝑎</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𝑏</m:t>
                      </m:r>
                    </m:oMath>
                  </m:oMathPara>
                </a14:m>
                <a:endParaRPr lang="es-EC" sz="2400" dirty="0"/>
              </a:p>
            </p:txBody>
          </p:sp>
        </mc:Choice>
        <mc:Fallback xmlns="">
          <p:sp>
            <p:nvSpPr>
              <p:cNvPr id="9" name="Rectángulo 8"/>
              <p:cNvSpPr>
                <a:spLocks noRot="1" noChangeAspect="1" noMove="1" noResize="1" noEditPoints="1" noAdjustHandles="1" noChangeArrowheads="1" noChangeShapeType="1" noTextEdit="1"/>
              </p:cNvSpPr>
              <p:nvPr/>
            </p:nvSpPr>
            <p:spPr>
              <a:xfrm>
                <a:off x="3480826" y="4421414"/>
                <a:ext cx="719876" cy="461665"/>
              </a:xfrm>
              <a:prstGeom prst="rect">
                <a:avLst/>
              </a:prstGeom>
              <a:blipFill rotWithShape="0">
                <a:blip r:embed="rId3"/>
                <a:stretch>
                  <a:fillRect/>
                </a:stretch>
              </a:blipFill>
            </p:spPr>
            <p:txBody>
              <a:bodyPr/>
              <a:lstStyle/>
              <a:p>
                <a:r>
                  <a:rPr lang="es-EC">
                    <a:noFill/>
                  </a:rPr>
                  <a:t> </a:t>
                </a:r>
              </a:p>
            </p:txBody>
          </p:sp>
        </mc:Fallback>
      </mc:AlternateContent>
      <p:sp>
        <p:nvSpPr>
          <p:cNvPr id="10" name="Rectángulo 9"/>
          <p:cNvSpPr/>
          <p:nvPr/>
        </p:nvSpPr>
        <p:spPr>
          <a:xfrm>
            <a:off x="1078582" y="5630254"/>
            <a:ext cx="1002197" cy="461665"/>
          </a:xfrm>
          <a:prstGeom prst="rect">
            <a:avLst/>
          </a:prstGeom>
        </p:spPr>
        <p:txBody>
          <a:bodyPr wrap="square">
            <a:spAutoFit/>
          </a:bodyPr>
          <a:lstStyle/>
          <a:p>
            <a:r>
              <a:rPr lang="es-EC" sz="2400" b="1" dirty="0"/>
              <a:t>Media</a:t>
            </a:r>
          </a:p>
        </p:txBody>
      </p:sp>
      <p:sp>
        <p:nvSpPr>
          <p:cNvPr id="11" name="Rectángulo 10"/>
          <p:cNvSpPr/>
          <p:nvPr/>
        </p:nvSpPr>
        <p:spPr>
          <a:xfrm>
            <a:off x="5904434" y="5592698"/>
            <a:ext cx="1274644" cy="461665"/>
          </a:xfrm>
          <a:prstGeom prst="rect">
            <a:avLst/>
          </a:prstGeom>
        </p:spPr>
        <p:txBody>
          <a:bodyPr wrap="square">
            <a:spAutoFit/>
          </a:bodyPr>
          <a:lstStyle/>
          <a:p>
            <a:r>
              <a:rPr lang="es-EC" sz="2400" b="1" dirty="0"/>
              <a:t>Varianza</a:t>
            </a:r>
          </a:p>
        </p:txBody>
      </p:sp>
      <mc:AlternateContent xmlns:mc="http://schemas.openxmlformats.org/markup-compatibility/2006" xmlns:a14="http://schemas.microsoft.com/office/drawing/2010/main">
        <mc:Choice Requires="a14">
          <p:sp>
            <p:nvSpPr>
              <p:cNvPr id="12" name="Rectángulo 11"/>
              <p:cNvSpPr/>
              <p:nvPr/>
            </p:nvSpPr>
            <p:spPr>
              <a:xfrm>
                <a:off x="2370726" y="5337372"/>
                <a:ext cx="1946943" cy="7913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400" b="0" i="0" smtClean="0">
                          <a:latin typeface="Cambria Math" panose="02040503050406030204" pitchFamily="18" charset="0"/>
                        </a:rPr>
                        <m:t>E</m:t>
                      </m:r>
                      <m:d>
                        <m:dPr>
                          <m:ctrlPr>
                            <a:rPr lang="es-EC" sz="2400" i="1">
                              <a:latin typeface="Cambria Math" panose="02040503050406030204" pitchFamily="18" charset="0"/>
                            </a:rPr>
                          </m:ctrlPr>
                        </m:dPr>
                        <m:e>
                          <m:r>
                            <m:rPr>
                              <m:sty m:val="p"/>
                            </m:rPr>
                            <a:rPr lang="es-EC" sz="2400" b="0" i="0">
                              <a:latin typeface="Cambria Math" panose="02040503050406030204" pitchFamily="18" charset="0"/>
                            </a:rPr>
                            <m:t>X</m:t>
                          </m:r>
                        </m:e>
                      </m:d>
                      <m:r>
                        <a:rPr lang="es-EC" sz="2400" b="0" i="0">
                          <a:latin typeface="Cambria Math" panose="02040503050406030204" pitchFamily="18" charset="0"/>
                        </a:rPr>
                        <m:t>=</m:t>
                      </m:r>
                      <m:f>
                        <m:fPr>
                          <m:ctrlPr>
                            <a:rPr lang="es-EC" sz="2400" i="1">
                              <a:latin typeface="Cambria Math" panose="02040503050406030204" pitchFamily="18" charset="0"/>
                            </a:rPr>
                          </m:ctrlPr>
                        </m:fPr>
                        <m:num>
                          <m:r>
                            <m:rPr>
                              <m:sty m:val="p"/>
                            </m:rPr>
                            <a:rPr lang="es-EC" sz="2400" b="0" i="0" smtClean="0">
                              <a:latin typeface="Cambria Math" panose="02040503050406030204" pitchFamily="18" charset="0"/>
                            </a:rPr>
                            <m:t>a</m:t>
                          </m:r>
                          <m:r>
                            <a:rPr lang="es-EC" sz="2400" b="0" i="0" smtClean="0">
                              <a:latin typeface="Cambria Math" panose="02040503050406030204" pitchFamily="18" charset="0"/>
                            </a:rPr>
                            <m:t>+</m:t>
                          </m:r>
                          <m:r>
                            <m:rPr>
                              <m:sty m:val="p"/>
                            </m:rPr>
                            <a:rPr lang="es-EC" sz="2400" b="0" i="0" smtClean="0">
                              <a:latin typeface="Cambria Math" panose="02040503050406030204" pitchFamily="18" charset="0"/>
                            </a:rPr>
                            <m:t>b</m:t>
                          </m:r>
                        </m:num>
                        <m:den>
                          <m:r>
                            <a:rPr lang="es-EC" sz="2400" b="0" i="0" smtClean="0">
                              <a:latin typeface="Cambria Math" panose="02040503050406030204" pitchFamily="18" charset="0"/>
                            </a:rPr>
                            <m:t>2</m:t>
                          </m:r>
                        </m:den>
                      </m:f>
                    </m:oMath>
                  </m:oMathPara>
                </a14:m>
                <a:endParaRPr lang="es-EC" sz="2400" dirty="0"/>
              </a:p>
            </p:txBody>
          </p:sp>
        </mc:Choice>
        <mc:Fallback xmlns="">
          <p:sp>
            <p:nvSpPr>
              <p:cNvPr id="12" name="Rectángulo 11"/>
              <p:cNvSpPr>
                <a:spLocks noRot="1" noChangeAspect="1" noMove="1" noResize="1" noEditPoints="1" noAdjustHandles="1" noChangeArrowheads="1" noChangeShapeType="1" noTextEdit="1"/>
              </p:cNvSpPr>
              <p:nvPr/>
            </p:nvSpPr>
            <p:spPr>
              <a:xfrm>
                <a:off x="2370726" y="5337372"/>
                <a:ext cx="1946943" cy="791307"/>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7462686" y="5296623"/>
                <a:ext cx="2355645" cy="8310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400" b="0" i="0" smtClean="0">
                          <a:latin typeface="Cambria Math" panose="02040503050406030204" pitchFamily="18" charset="0"/>
                        </a:rPr>
                        <m:t>V</m:t>
                      </m:r>
                      <m:d>
                        <m:dPr>
                          <m:ctrlPr>
                            <a:rPr lang="es-EC" sz="2400" i="1">
                              <a:latin typeface="Cambria Math" panose="02040503050406030204" pitchFamily="18" charset="0"/>
                            </a:rPr>
                          </m:ctrlPr>
                        </m:dPr>
                        <m:e>
                          <m:r>
                            <m:rPr>
                              <m:sty m:val="p"/>
                            </m:rPr>
                            <a:rPr lang="es-EC" sz="2400" b="0" i="0">
                              <a:latin typeface="Cambria Math" panose="02040503050406030204" pitchFamily="18" charset="0"/>
                            </a:rPr>
                            <m:t>X</m:t>
                          </m:r>
                        </m:e>
                      </m:d>
                      <m:r>
                        <a:rPr lang="es-EC" sz="2400" b="0" i="0">
                          <a:latin typeface="Cambria Math" panose="02040503050406030204" pitchFamily="18" charset="0"/>
                        </a:rPr>
                        <m:t>=</m:t>
                      </m:r>
                      <m:f>
                        <m:fPr>
                          <m:ctrlPr>
                            <a:rPr lang="es-EC" sz="2400" i="1">
                              <a:latin typeface="Cambria Math" panose="02040503050406030204" pitchFamily="18" charset="0"/>
                            </a:rPr>
                          </m:ctrlPr>
                        </m:fPr>
                        <m:num>
                          <m:sSup>
                            <m:sSupPr>
                              <m:ctrlPr>
                                <a:rPr lang="es-EC" sz="2400" i="1" smtClean="0">
                                  <a:latin typeface="Cambria Math" panose="02040503050406030204" pitchFamily="18" charset="0"/>
                                </a:rPr>
                              </m:ctrlPr>
                            </m:sSupPr>
                            <m:e>
                              <m:r>
                                <a:rPr lang="es-EC" sz="2400" b="0" i="0">
                                  <a:latin typeface="Cambria Math" panose="02040503050406030204" pitchFamily="18" charset="0"/>
                                </a:rPr>
                                <m:t>(</m:t>
                              </m:r>
                              <m:r>
                                <m:rPr>
                                  <m:sty m:val="p"/>
                                </m:rPr>
                                <a:rPr lang="es-EC" sz="2400" b="0" i="0" smtClean="0">
                                  <a:latin typeface="Cambria Math" panose="02040503050406030204" pitchFamily="18" charset="0"/>
                                </a:rPr>
                                <m:t>b</m:t>
                              </m:r>
                              <m:r>
                                <a:rPr lang="es-EC" sz="2400" b="0" i="0" smtClean="0">
                                  <a:latin typeface="Cambria Math" panose="02040503050406030204" pitchFamily="18" charset="0"/>
                                </a:rPr>
                                <m:t>−</m:t>
                              </m:r>
                              <m:r>
                                <m:rPr>
                                  <m:sty m:val="p"/>
                                </m:rPr>
                                <a:rPr lang="es-EC" sz="2400" b="0" i="0" smtClean="0">
                                  <a:latin typeface="Cambria Math" panose="02040503050406030204" pitchFamily="18" charset="0"/>
                                </a:rPr>
                                <m:t>a</m:t>
                              </m:r>
                              <m:r>
                                <a:rPr lang="es-EC" sz="2400" b="0" i="0">
                                  <a:latin typeface="Cambria Math" panose="02040503050406030204" pitchFamily="18" charset="0"/>
                                </a:rPr>
                                <m:t>)</m:t>
                              </m:r>
                            </m:e>
                            <m:sup>
                              <m:r>
                                <a:rPr lang="es-EC" sz="2400" b="0" i="0" smtClean="0">
                                  <a:latin typeface="Cambria Math" panose="02040503050406030204" pitchFamily="18" charset="0"/>
                                </a:rPr>
                                <m:t>2</m:t>
                              </m:r>
                            </m:sup>
                          </m:sSup>
                        </m:num>
                        <m:den>
                          <m:r>
                            <a:rPr lang="es-EC" sz="2400" b="0" i="0" smtClean="0">
                              <a:latin typeface="Cambria Math" panose="02040503050406030204" pitchFamily="18" charset="0"/>
                            </a:rPr>
                            <m:t>1</m:t>
                          </m:r>
                          <m:r>
                            <a:rPr lang="es-EC" sz="2400" b="0" i="0">
                              <a:latin typeface="Cambria Math" panose="02040503050406030204" pitchFamily="18" charset="0"/>
                            </a:rPr>
                            <m:t>2</m:t>
                          </m:r>
                        </m:den>
                      </m:f>
                    </m:oMath>
                  </m:oMathPara>
                </a14:m>
                <a:endParaRPr lang="es-EC" sz="2400" dirty="0"/>
              </a:p>
            </p:txBody>
          </p:sp>
        </mc:Choice>
        <mc:Fallback xmlns="">
          <p:sp>
            <p:nvSpPr>
              <p:cNvPr id="13" name="Rectángulo 12"/>
              <p:cNvSpPr>
                <a:spLocks noRot="1" noChangeAspect="1" noMove="1" noResize="1" noEditPoints="1" noAdjustHandles="1" noChangeArrowheads="1" noChangeShapeType="1" noTextEdit="1"/>
              </p:cNvSpPr>
              <p:nvPr/>
            </p:nvSpPr>
            <p:spPr>
              <a:xfrm>
                <a:off x="7462686" y="5296623"/>
                <a:ext cx="2355645" cy="831061"/>
              </a:xfrm>
              <a:prstGeom prst="rect">
                <a:avLst/>
              </a:prstGeom>
              <a:blipFill rotWithShape="0">
                <a:blip r:embed="rId5"/>
                <a:stretch>
                  <a:fillRect/>
                </a:stretch>
              </a:blipFill>
            </p:spPr>
            <p:txBody>
              <a:bodyPr/>
              <a:lstStyle/>
              <a:p>
                <a:r>
                  <a:rPr lang="es-EC">
                    <a:noFill/>
                  </a:rPr>
                  <a:t> </a:t>
                </a:r>
              </a:p>
            </p:txBody>
          </p:sp>
        </mc:Fallback>
      </mc:AlternateContent>
      <p:sp>
        <p:nvSpPr>
          <p:cNvPr id="15" name="CuadroTexto 14"/>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3410033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815499"/>
            <a:ext cx="4683718" cy="523220"/>
          </a:xfrm>
          <a:prstGeom prst="rect">
            <a:avLst/>
          </a:prstGeom>
        </p:spPr>
        <p:txBody>
          <a:bodyPr wrap="none">
            <a:spAutoFit/>
          </a:bodyPr>
          <a:lstStyle/>
          <a:p>
            <a:r>
              <a:rPr lang="es-EC" sz="2800" b="1" dirty="0"/>
              <a:t>Modelos Aleatorios Continuos</a:t>
            </a:r>
          </a:p>
        </p:txBody>
      </p:sp>
      <p:sp>
        <p:nvSpPr>
          <p:cNvPr id="4" name="Rectángulo 3"/>
          <p:cNvSpPr/>
          <p:nvPr/>
        </p:nvSpPr>
        <p:spPr>
          <a:xfrm>
            <a:off x="1084990" y="1407315"/>
            <a:ext cx="3184654" cy="523220"/>
          </a:xfrm>
          <a:prstGeom prst="rect">
            <a:avLst/>
          </a:prstGeom>
        </p:spPr>
        <p:txBody>
          <a:bodyPr wrap="none">
            <a:spAutoFit/>
          </a:bodyPr>
          <a:lstStyle/>
          <a:p>
            <a:r>
              <a:rPr lang="es-EC" sz="2800" b="1" dirty="0"/>
              <a:t>Distribución Normal</a:t>
            </a:r>
            <a:endParaRPr lang="es-EC" sz="2800" b="1" baseline="60000" dirty="0"/>
          </a:p>
        </p:txBody>
      </p:sp>
      <p:sp>
        <p:nvSpPr>
          <p:cNvPr id="5" name="CuadroTexto 4"/>
          <p:cNvSpPr txBox="1"/>
          <p:nvPr/>
        </p:nvSpPr>
        <p:spPr>
          <a:xfrm>
            <a:off x="1084990" y="1833278"/>
            <a:ext cx="10918502" cy="4893647"/>
          </a:xfrm>
          <a:prstGeom prst="rect">
            <a:avLst/>
          </a:prstGeom>
          <a:noFill/>
        </p:spPr>
        <p:txBody>
          <a:bodyPr wrap="none" rtlCol="0">
            <a:spAutoFit/>
          </a:bodyPr>
          <a:lstStyle/>
          <a:p>
            <a:pPr indent="-285750">
              <a:buFontTx/>
              <a:buChar char="-"/>
            </a:pPr>
            <a:r>
              <a:rPr lang="es-EC" sz="2400" dirty="0"/>
              <a:t>Muchos fenómenos de la naturaleza siguen está distribución</a:t>
            </a:r>
          </a:p>
          <a:p>
            <a:pPr indent="-285750">
              <a:buFontTx/>
              <a:buChar char="-"/>
            </a:pPr>
            <a:endParaRPr lang="es-EC" sz="2400" dirty="0"/>
          </a:p>
          <a:p>
            <a:pPr indent="-285750">
              <a:buFontTx/>
              <a:buChar char="-"/>
            </a:pPr>
            <a:r>
              <a:rPr lang="es-EC" sz="2400" dirty="0"/>
              <a:t>Se identifican los parámetros </a:t>
            </a:r>
            <a:r>
              <a:rPr lang="el-GR" sz="2400" dirty="0"/>
              <a:t>μ</a:t>
            </a:r>
            <a:r>
              <a:rPr lang="es-EC" sz="2400" dirty="0"/>
              <a:t> para la media y </a:t>
            </a:r>
            <a:r>
              <a:rPr lang="el-GR" sz="2400" dirty="0"/>
              <a:t>σ</a:t>
            </a:r>
            <a:r>
              <a:rPr lang="es-EC" sz="2400" baseline="30000" dirty="0"/>
              <a:t>2</a:t>
            </a:r>
            <a:r>
              <a:rPr lang="es-EC" sz="2400" dirty="0"/>
              <a:t> para la varianza</a:t>
            </a:r>
          </a:p>
          <a:p>
            <a:pPr indent="-285750">
              <a:buFontTx/>
              <a:buChar char="-"/>
            </a:pPr>
            <a:endParaRPr lang="es-EC" sz="2400" dirty="0"/>
          </a:p>
          <a:p>
            <a:pPr indent="-285750">
              <a:buFontTx/>
              <a:buChar char="-"/>
            </a:pPr>
            <a:r>
              <a:rPr lang="es-EC" sz="2400" dirty="0"/>
              <a:t>La curva es simétrica en </a:t>
            </a:r>
            <a:r>
              <a:rPr lang="el-GR" sz="2400" dirty="0"/>
              <a:t>μ</a:t>
            </a:r>
            <a:endParaRPr lang="es-EC" sz="2400" dirty="0"/>
          </a:p>
          <a:p>
            <a:pPr indent="-285750">
              <a:buFontTx/>
              <a:buChar char="-"/>
            </a:pPr>
            <a:endParaRPr lang="es-EC" sz="2400" dirty="0"/>
          </a:p>
          <a:p>
            <a:pPr indent="-285750">
              <a:buFontTx/>
              <a:buChar char="-"/>
            </a:pPr>
            <a:r>
              <a:rPr lang="es-EC" sz="2400" dirty="0"/>
              <a:t>La moda es el punto en el eje horizontal donde la curva alcanza su máximo (</a:t>
            </a:r>
            <a:r>
              <a:rPr lang="el-GR" sz="2400" dirty="0"/>
              <a:t>μ</a:t>
            </a:r>
            <a:r>
              <a:rPr lang="es-EC" sz="2400" dirty="0"/>
              <a:t>)</a:t>
            </a:r>
          </a:p>
          <a:p>
            <a:pPr indent="-285750">
              <a:buFontTx/>
              <a:buChar char="-"/>
            </a:pPr>
            <a:endParaRPr lang="es-EC" sz="2400" dirty="0"/>
          </a:p>
          <a:p>
            <a:pPr indent="-285750">
              <a:buFontTx/>
              <a:buChar char="-"/>
            </a:pPr>
            <a:r>
              <a:rPr lang="es-EC" sz="2400" dirty="0"/>
              <a:t>La curva tiene puntos de inflexión en x = </a:t>
            </a:r>
            <a:r>
              <a:rPr lang="el-GR" sz="2400" dirty="0"/>
              <a:t>μ</a:t>
            </a:r>
            <a:r>
              <a:rPr lang="es-EC" sz="2400" dirty="0"/>
              <a:t> </a:t>
            </a:r>
            <a:r>
              <a:rPr lang="el-GR" sz="2400" dirty="0"/>
              <a:t>± </a:t>
            </a:r>
            <a:r>
              <a:rPr lang="es-EC" sz="2400" dirty="0"/>
              <a:t> </a:t>
            </a:r>
            <a:r>
              <a:rPr lang="el-GR" sz="2400" dirty="0"/>
              <a:t>σ</a:t>
            </a:r>
            <a:endParaRPr lang="es-EC" sz="2400" dirty="0"/>
          </a:p>
          <a:p>
            <a:pPr indent="-285750">
              <a:buFontTx/>
              <a:buChar char="-"/>
            </a:pPr>
            <a:endParaRPr lang="es-EC" sz="2400" dirty="0"/>
          </a:p>
          <a:p>
            <a:pPr indent="-285750">
              <a:buFontTx/>
              <a:buChar char="-"/>
            </a:pPr>
            <a:r>
              <a:rPr lang="es-EC" sz="2400" dirty="0"/>
              <a:t>La curva es asintótica al eje horizontal conforme se aleja de </a:t>
            </a:r>
            <a:r>
              <a:rPr lang="el-GR" sz="2400" dirty="0"/>
              <a:t>μ</a:t>
            </a:r>
            <a:r>
              <a:rPr lang="es-EC" sz="2400" dirty="0"/>
              <a:t> en cualquier dirección</a:t>
            </a:r>
          </a:p>
          <a:p>
            <a:pPr indent="-285750">
              <a:buFontTx/>
              <a:buChar char="-"/>
            </a:pPr>
            <a:endParaRPr lang="es-EC" sz="2400" dirty="0"/>
          </a:p>
          <a:p>
            <a:pPr indent="-285750">
              <a:buFontTx/>
              <a:buChar char="-"/>
            </a:pPr>
            <a:r>
              <a:rPr lang="es-EC" sz="2400" dirty="0"/>
              <a:t>El área bajo la curva es 1</a:t>
            </a:r>
          </a:p>
        </p:txBody>
      </p:sp>
      <p:sp>
        <p:nvSpPr>
          <p:cNvPr id="7" name="CuadroTexto 6"/>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2462775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p:cNvSpPr txBox="1"/>
              <p:nvPr/>
            </p:nvSpPr>
            <p:spPr>
              <a:xfrm>
                <a:off x="5738231" y="4412262"/>
                <a:ext cx="3612527" cy="929165"/>
              </a:xfrm>
              <a:prstGeom prst="rect">
                <a:avLst/>
              </a:prstGeom>
              <a:noFill/>
            </p:spPr>
            <p:txBody>
              <a:bodyPr wrap="none" lIns="0" tIns="0" rIns="0" bIns="0" rtlCol="0">
                <a:spAutoFit/>
              </a:bodyPr>
              <a:lstStyle/>
              <a:p>
                <a14:m>
                  <m:oMath xmlns:m="http://schemas.openxmlformats.org/officeDocument/2006/math">
                    <m:r>
                      <a:rPr lang="pt-BR" sz="3200" i="1" smtClean="0">
                        <a:latin typeface="Cambria Math" panose="02040503050406030204" pitchFamily="18" charset="0"/>
                        <a:ea typeface="Cambria Math" panose="02040503050406030204" pitchFamily="18" charset="0"/>
                      </a:rPr>
                      <m:t>𝑓</m:t>
                    </m:r>
                    <m:d>
                      <m:dPr>
                        <m:ctrlPr>
                          <a:rPr lang="pt-BR" sz="3200" i="1" smtClean="0">
                            <a:latin typeface="Cambria Math" panose="02040503050406030204" pitchFamily="18" charset="0"/>
                            <a:ea typeface="Cambria Math" panose="02040503050406030204" pitchFamily="18" charset="0"/>
                          </a:rPr>
                        </m:ctrlPr>
                      </m:dPr>
                      <m:e>
                        <m:r>
                          <a:rPr lang="pt-BR" sz="3200" i="1" smtClean="0">
                            <a:latin typeface="Cambria Math" panose="02040503050406030204" pitchFamily="18" charset="0"/>
                            <a:ea typeface="Cambria Math" panose="02040503050406030204" pitchFamily="18" charset="0"/>
                          </a:rPr>
                          <m:t>𝑥</m:t>
                        </m:r>
                      </m:e>
                    </m:d>
                    <m:r>
                      <a:rPr lang="pt-BR" sz="3200" i="1" smtClean="0">
                        <a:latin typeface="Cambria Math" panose="02040503050406030204" pitchFamily="18" charset="0"/>
                        <a:ea typeface="Cambria Math" panose="02040503050406030204" pitchFamily="18" charset="0"/>
                      </a:rPr>
                      <m:t>=</m:t>
                    </m:r>
                    <m:f>
                      <m:fPr>
                        <m:ctrlPr>
                          <a:rPr lang="pt-BR" sz="3200" i="1" smtClean="0">
                            <a:latin typeface="Cambria Math" panose="02040503050406030204" pitchFamily="18" charset="0"/>
                            <a:ea typeface="Cambria Math" panose="02040503050406030204" pitchFamily="18" charset="0"/>
                          </a:rPr>
                        </m:ctrlPr>
                      </m:fPr>
                      <m:num>
                        <m:r>
                          <a:rPr lang="es-EC" sz="3200" b="0" i="1" smtClean="0">
                            <a:latin typeface="Cambria Math" panose="02040503050406030204" pitchFamily="18" charset="0"/>
                            <a:ea typeface="Cambria Math" panose="02040503050406030204" pitchFamily="18" charset="0"/>
                          </a:rPr>
                          <m:t>1</m:t>
                        </m:r>
                      </m:num>
                      <m:den>
                        <m:rad>
                          <m:radPr>
                            <m:degHide m:val="on"/>
                            <m:ctrlPr>
                              <a:rPr lang="pt-BR" sz="3200" i="1" smtClean="0">
                                <a:latin typeface="Cambria Math" panose="02040503050406030204" pitchFamily="18" charset="0"/>
                                <a:ea typeface="Cambria Math" panose="02040503050406030204" pitchFamily="18" charset="0"/>
                              </a:rPr>
                            </m:ctrlPr>
                          </m:radPr>
                          <m:deg/>
                          <m:e>
                            <m:r>
                              <a:rPr lang="es-EC" sz="3200" b="0" i="1" smtClean="0">
                                <a:latin typeface="Cambria Math" panose="02040503050406030204" pitchFamily="18" charset="0"/>
                                <a:ea typeface="Cambria Math" panose="02040503050406030204" pitchFamily="18" charset="0"/>
                              </a:rPr>
                              <m:t>2</m:t>
                            </m:r>
                            <m:r>
                              <a:rPr lang="es-EC" sz="3200" b="0" i="1" smtClean="0">
                                <a:latin typeface="Cambria Math" panose="02040503050406030204" pitchFamily="18" charset="0"/>
                                <a:ea typeface="Cambria Math" panose="02040503050406030204" pitchFamily="18" charset="0"/>
                              </a:rPr>
                              <m:t>𝜋𝜎</m:t>
                            </m:r>
                          </m:e>
                        </m:rad>
                      </m:den>
                    </m:f>
                    <m:sSup>
                      <m:sSupPr>
                        <m:ctrlPr>
                          <a:rPr lang="pt-BR" sz="3200" i="1" smtClean="0">
                            <a:latin typeface="Cambria Math" panose="02040503050406030204" pitchFamily="18" charset="0"/>
                            <a:ea typeface="Cambria Math" panose="02040503050406030204" pitchFamily="18" charset="0"/>
                          </a:rPr>
                        </m:ctrlPr>
                      </m:sSupPr>
                      <m:e>
                        <m:r>
                          <a:rPr lang="pt-BR" sz="3200" i="1" smtClean="0">
                            <a:latin typeface="Cambria Math" panose="02040503050406030204" pitchFamily="18" charset="0"/>
                            <a:ea typeface="Cambria Math" panose="02040503050406030204" pitchFamily="18" charset="0"/>
                          </a:rPr>
                          <m:t>𝑒</m:t>
                        </m:r>
                      </m:e>
                      <m:sup>
                        <m:r>
                          <a:rPr lang="pt-BR" sz="3200" i="1" smtClean="0">
                            <a:latin typeface="Cambria Math" panose="02040503050406030204" pitchFamily="18" charset="0"/>
                            <a:ea typeface="Cambria Math" panose="02040503050406030204" pitchFamily="18" charset="0"/>
                          </a:rPr>
                          <m:t>−</m:t>
                        </m:r>
                        <m:f>
                          <m:fPr>
                            <m:ctrlPr>
                              <a:rPr lang="pt-BR" sz="3200" i="1" smtClean="0">
                                <a:latin typeface="Cambria Math" panose="02040503050406030204" pitchFamily="18" charset="0"/>
                                <a:ea typeface="Cambria Math" panose="02040503050406030204" pitchFamily="18" charset="0"/>
                              </a:rPr>
                            </m:ctrlPr>
                          </m:fPr>
                          <m:num>
                            <m:sSup>
                              <m:sSupPr>
                                <m:ctrlPr>
                                  <a:rPr lang="pt-BR" sz="3200" i="1">
                                    <a:latin typeface="Cambria Math" panose="02040503050406030204" pitchFamily="18" charset="0"/>
                                    <a:ea typeface="Cambria Math" panose="02040503050406030204" pitchFamily="18" charset="0"/>
                                  </a:rPr>
                                </m:ctrlPr>
                              </m:sSupPr>
                              <m:e>
                                <m:d>
                                  <m:dPr>
                                    <m:ctrlPr>
                                      <a:rPr lang="pt-BR" sz="3200" i="1">
                                        <a:latin typeface="Cambria Math" panose="02040503050406030204" pitchFamily="18" charset="0"/>
                                        <a:ea typeface="Cambria Math" panose="02040503050406030204" pitchFamily="18" charset="0"/>
                                      </a:rPr>
                                    </m:ctrlPr>
                                  </m:dPr>
                                  <m:e>
                                    <m:r>
                                      <a:rPr lang="es-EC" sz="3200" b="0" i="1" smtClean="0">
                                        <a:latin typeface="Cambria Math" panose="02040503050406030204" pitchFamily="18" charset="0"/>
                                        <a:ea typeface="Cambria Math" panose="02040503050406030204" pitchFamily="18" charset="0"/>
                                      </a:rPr>
                                      <m:t>𝑥</m:t>
                                    </m:r>
                                    <m:r>
                                      <a:rPr lang="es-EC" sz="3200" b="0" i="1" smtClean="0">
                                        <a:latin typeface="Cambria Math" panose="02040503050406030204" pitchFamily="18" charset="0"/>
                                        <a:ea typeface="Cambria Math" panose="02040503050406030204" pitchFamily="18" charset="0"/>
                                      </a:rPr>
                                      <m:t>−</m:t>
                                    </m:r>
                                    <m:r>
                                      <a:rPr lang="es-EC" sz="3200" b="0" i="1" smtClean="0">
                                        <a:latin typeface="Cambria Math" panose="02040503050406030204" pitchFamily="18" charset="0"/>
                                        <a:ea typeface="Cambria Math" panose="02040503050406030204" pitchFamily="18" charset="0"/>
                                      </a:rPr>
                                      <m:t>𝜇</m:t>
                                    </m:r>
                                  </m:e>
                                </m:d>
                              </m:e>
                              <m:sup>
                                <m:r>
                                  <a:rPr lang="es-EC" sz="3200" i="1">
                                    <a:latin typeface="Cambria Math" panose="02040503050406030204" pitchFamily="18" charset="0"/>
                                    <a:ea typeface="Cambria Math" panose="02040503050406030204" pitchFamily="18" charset="0"/>
                                  </a:rPr>
                                  <m:t>2</m:t>
                                </m:r>
                              </m:sup>
                            </m:sSup>
                          </m:num>
                          <m:den>
                            <m:r>
                              <a:rPr lang="es-EC" sz="3200" b="0" i="1" smtClean="0">
                                <a:latin typeface="Cambria Math" panose="02040503050406030204" pitchFamily="18" charset="0"/>
                                <a:ea typeface="Cambria Math" panose="02040503050406030204" pitchFamily="18" charset="0"/>
                              </a:rPr>
                              <m:t>2</m:t>
                            </m:r>
                            <m:sSup>
                              <m:sSupPr>
                                <m:ctrlPr>
                                  <a:rPr lang="es-EC" sz="3200" b="0" i="1" smtClean="0">
                                    <a:latin typeface="Cambria Math" panose="02040503050406030204" pitchFamily="18" charset="0"/>
                                    <a:ea typeface="Cambria Math" panose="02040503050406030204" pitchFamily="18" charset="0"/>
                                  </a:rPr>
                                </m:ctrlPr>
                              </m:sSupPr>
                              <m:e>
                                <m:r>
                                  <a:rPr lang="es-EC" sz="3200" b="0" i="1" smtClean="0">
                                    <a:latin typeface="Cambria Math" panose="02040503050406030204" pitchFamily="18" charset="0"/>
                                    <a:ea typeface="Cambria Math" panose="02040503050406030204" pitchFamily="18" charset="0"/>
                                  </a:rPr>
                                  <m:t>𝜎</m:t>
                                </m:r>
                              </m:e>
                              <m:sup>
                                <m:r>
                                  <a:rPr lang="es-EC" sz="3200" b="0" i="1" smtClean="0">
                                    <a:latin typeface="Cambria Math" panose="02040503050406030204" pitchFamily="18" charset="0"/>
                                    <a:ea typeface="Cambria Math" panose="02040503050406030204" pitchFamily="18" charset="0"/>
                                  </a:rPr>
                                  <m:t>2</m:t>
                                </m:r>
                              </m:sup>
                            </m:sSup>
                          </m:den>
                        </m:f>
                      </m:sup>
                    </m:sSup>
                  </m:oMath>
                </a14:m>
                <a:r>
                  <a:rPr lang="es-EC" sz="3200" dirty="0">
                    <a:latin typeface="Cambria Math" panose="02040503050406030204" pitchFamily="18" charset="0"/>
                    <a:ea typeface="Cambria Math" panose="02040503050406030204" pitchFamily="18" charset="0"/>
                  </a:rPr>
                  <a:t> </a:t>
                </a:r>
              </a:p>
            </p:txBody>
          </p:sp>
        </mc:Choice>
        <mc:Fallback xmlns="">
          <p:sp>
            <p:nvSpPr>
              <p:cNvPr id="8" name="CuadroTexto 7"/>
              <p:cNvSpPr txBox="1">
                <a:spLocks noRot="1" noChangeAspect="1" noMove="1" noResize="1" noEditPoints="1" noAdjustHandles="1" noChangeArrowheads="1" noChangeShapeType="1" noTextEdit="1"/>
              </p:cNvSpPr>
              <p:nvPr/>
            </p:nvSpPr>
            <p:spPr>
              <a:xfrm>
                <a:off x="5738231" y="4412262"/>
                <a:ext cx="3612527" cy="929165"/>
              </a:xfrm>
              <a:prstGeom prst="rect">
                <a:avLst/>
              </a:prstGeom>
              <a:blipFill rotWithShape="0">
                <a:blip r:embed="rId2"/>
                <a:stretch>
                  <a:fillRect l="-169"/>
                </a:stretch>
              </a:blipFill>
            </p:spPr>
            <p:txBody>
              <a:bodyPr/>
              <a:lstStyle/>
              <a:p>
                <a:r>
                  <a:rPr lang="es-EC">
                    <a:noFill/>
                  </a:rPr>
                  <a:t> </a:t>
                </a:r>
              </a:p>
            </p:txBody>
          </p:sp>
        </mc:Fallback>
      </mc:AlternateContent>
      <p:pic>
        <p:nvPicPr>
          <p:cNvPr id="1026" name="Picture 2" descr="Imagen relacionad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013" y="3986331"/>
            <a:ext cx="6627600" cy="271019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p:cNvSpPr/>
          <p:nvPr/>
        </p:nvSpPr>
        <p:spPr>
          <a:xfrm>
            <a:off x="6060471" y="2196748"/>
            <a:ext cx="2291589" cy="461665"/>
          </a:xfrm>
          <a:prstGeom prst="rect">
            <a:avLst/>
          </a:prstGeom>
        </p:spPr>
        <p:txBody>
          <a:bodyPr wrap="none">
            <a:spAutoFit/>
          </a:bodyPr>
          <a:lstStyle/>
          <a:p>
            <a:r>
              <a:rPr lang="es-EC" sz="2400" b="1" dirty="0"/>
              <a:t>Parámetros: </a:t>
            </a:r>
            <a:r>
              <a:rPr lang="el-GR" sz="2400" dirty="0"/>
              <a:t>μ</a:t>
            </a:r>
            <a:r>
              <a:rPr lang="es-EC" sz="2400" dirty="0"/>
              <a:t>; </a:t>
            </a:r>
            <a:r>
              <a:rPr lang="el-GR" sz="2400" dirty="0"/>
              <a:t>σ</a:t>
            </a:r>
            <a:endParaRPr lang="es-EC" sz="2400" dirty="0"/>
          </a:p>
        </p:txBody>
      </p:sp>
      <p:sp>
        <p:nvSpPr>
          <p:cNvPr id="11" name="Rectángulo 10"/>
          <p:cNvSpPr/>
          <p:nvPr/>
        </p:nvSpPr>
        <p:spPr>
          <a:xfrm>
            <a:off x="1084990" y="815499"/>
            <a:ext cx="4683718" cy="523220"/>
          </a:xfrm>
          <a:prstGeom prst="rect">
            <a:avLst/>
          </a:prstGeom>
        </p:spPr>
        <p:txBody>
          <a:bodyPr wrap="none">
            <a:spAutoFit/>
          </a:bodyPr>
          <a:lstStyle/>
          <a:p>
            <a:r>
              <a:rPr lang="es-EC" sz="2800" b="1" dirty="0"/>
              <a:t>Modelos Aleatorios Continuos</a:t>
            </a:r>
          </a:p>
        </p:txBody>
      </p:sp>
      <p:sp>
        <p:nvSpPr>
          <p:cNvPr id="12" name="Rectángulo 11"/>
          <p:cNvSpPr/>
          <p:nvPr/>
        </p:nvSpPr>
        <p:spPr>
          <a:xfrm>
            <a:off x="1084990" y="1407315"/>
            <a:ext cx="3184654" cy="523220"/>
          </a:xfrm>
          <a:prstGeom prst="rect">
            <a:avLst/>
          </a:prstGeom>
        </p:spPr>
        <p:txBody>
          <a:bodyPr wrap="none">
            <a:spAutoFit/>
          </a:bodyPr>
          <a:lstStyle/>
          <a:p>
            <a:r>
              <a:rPr lang="es-EC" sz="2800" b="1" dirty="0"/>
              <a:t>Distribución Normal</a:t>
            </a:r>
            <a:endParaRPr lang="es-EC" sz="2800" b="1" baseline="60000" dirty="0"/>
          </a:p>
        </p:txBody>
      </p:sp>
      <p:sp>
        <p:nvSpPr>
          <p:cNvPr id="13" name="Rectángulo 12"/>
          <p:cNvSpPr/>
          <p:nvPr/>
        </p:nvSpPr>
        <p:spPr>
          <a:xfrm>
            <a:off x="1084990" y="2077727"/>
            <a:ext cx="3297824" cy="461665"/>
          </a:xfrm>
          <a:prstGeom prst="rect">
            <a:avLst/>
          </a:prstGeom>
        </p:spPr>
        <p:txBody>
          <a:bodyPr wrap="square">
            <a:spAutoFit/>
          </a:bodyPr>
          <a:lstStyle/>
          <a:p>
            <a:r>
              <a:rPr lang="es-EC" sz="2400" b="1" dirty="0"/>
              <a:t>Valores de X: </a:t>
            </a:r>
            <a:r>
              <a:rPr lang="es-EC" sz="2400" dirty="0"/>
              <a:t>- </a:t>
            </a:r>
            <a:r>
              <a:rPr lang="es-EC" sz="2400" dirty="0">
                <a:cs typeface="Arial" panose="020B0604020202020204" pitchFamily="34" charset="0"/>
              </a:rPr>
              <a:t>ꝏ ; +ꝏ</a:t>
            </a:r>
            <a:endParaRPr lang="es-EC" sz="2400" dirty="0"/>
          </a:p>
        </p:txBody>
      </p:sp>
      <p:sp>
        <p:nvSpPr>
          <p:cNvPr id="14" name="Rectángulo 13"/>
          <p:cNvSpPr/>
          <p:nvPr/>
        </p:nvSpPr>
        <p:spPr>
          <a:xfrm>
            <a:off x="994965" y="2925714"/>
            <a:ext cx="3274679" cy="461665"/>
          </a:xfrm>
          <a:prstGeom prst="rect">
            <a:avLst/>
          </a:prstGeom>
        </p:spPr>
        <p:txBody>
          <a:bodyPr wrap="none">
            <a:spAutoFit/>
          </a:bodyPr>
          <a:lstStyle/>
          <a:p>
            <a:r>
              <a:rPr lang="es-EC" sz="2400" b="1" dirty="0"/>
              <a:t>Función de probabilidad</a:t>
            </a:r>
          </a:p>
        </p:txBody>
      </p:sp>
      <p:sp>
        <p:nvSpPr>
          <p:cNvPr id="15" name="CuadroTexto 14"/>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1593593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994965" y="2925714"/>
            <a:ext cx="3274679" cy="461665"/>
          </a:xfrm>
          <a:prstGeom prst="rect">
            <a:avLst/>
          </a:prstGeom>
        </p:spPr>
        <p:txBody>
          <a:bodyPr wrap="none">
            <a:spAutoFit/>
          </a:bodyPr>
          <a:lstStyle/>
          <a:p>
            <a:r>
              <a:rPr lang="es-EC" sz="2400" b="1" dirty="0"/>
              <a:t>Función de probabilidad</a:t>
            </a:r>
          </a:p>
        </p:txBody>
      </p:sp>
      <p:sp>
        <p:nvSpPr>
          <p:cNvPr id="7" name="Rectángulo 6"/>
          <p:cNvSpPr/>
          <p:nvPr/>
        </p:nvSpPr>
        <p:spPr>
          <a:xfrm>
            <a:off x="1084990" y="2077727"/>
            <a:ext cx="3297824" cy="461665"/>
          </a:xfrm>
          <a:prstGeom prst="rect">
            <a:avLst/>
          </a:prstGeom>
        </p:spPr>
        <p:txBody>
          <a:bodyPr wrap="square">
            <a:spAutoFit/>
          </a:bodyPr>
          <a:lstStyle/>
          <a:p>
            <a:r>
              <a:rPr lang="es-EC" sz="2400" b="1" dirty="0"/>
              <a:t>Valores de X: </a:t>
            </a:r>
            <a:r>
              <a:rPr lang="es-EC" sz="2400" dirty="0"/>
              <a:t>- </a:t>
            </a:r>
            <a:r>
              <a:rPr lang="es-EC" sz="2400" dirty="0">
                <a:cs typeface="Arial" panose="020B0604020202020204" pitchFamily="34" charset="0"/>
              </a:rPr>
              <a:t>ꝏ ; +ꝏ</a:t>
            </a:r>
            <a:endParaRPr lang="es-EC" sz="2400" dirty="0"/>
          </a:p>
        </p:txBody>
      </p:sp>
      <mc:AlternateContent xmlns:mc="http://schemas.openxmlformats.org/markup-compatibility/2006" xmlns:a14="http://schemas.microsoft.com/office/drawing/2010/main">
        <mc:Choice Requires="a14">
          <p:sp>
            <p:nvSpPr>
              <p:cNvPr id="8" name="CuadroTexto 7"/>
              <p:cNvSpPr txBox="1"/>
              <p:nvPr/>
            </p:nvSpPr>
            <p:spPr>
              <a:xfrm>
                <a:off x="5738231" y="4412262"/>
                <a:ext cx="2829557" cy="910827"/>
              </a:xfrm>
              <a:prstGeom prst="rect">
                <a:avLst/>
              </a:prstGeom>
              <a:noFill/>
            </p:spPr>
            <p:txBody>
              <a:bodyPr wrap="none" lIns="0" tIns="0" rIns="0" bIns="0" rtlCol="0">
                <a:spAutoFit/>
              </a:bodyPr>
              <a:lstStyle/>
              <a:p>
                <a14:m>
                  <m:oMath xmlns:m="http://schemas.openxmlformats.org/officeDocument/2006/math">
                    <m:r>
                      <a:rPr lang="pt-BR" sz="3200" i="1" smtClean="0">
                        <a:latin typeface="Cambria Math" panose="02040503050406030204" pitchFamily="18" charset="0"/>
                        <a:ea typeface="Cambria Math" panose="02040503050406030204" pitchFamily="18" charset="0"/>
                      </a:rPr>
                      <m:t>𝑓</m:t>
                    </m:r>
                    <m:d>
                      <m:dPr>
                        <m:ctrlPr>
                          <a:rPr lang="pt-BR" sz="3200" i="1" smtClean="0">
                            <a:latin typeface="Cambria Math" panose="02040503050406030204" pitchFamily="18" charset="0"/>
                            <a:ea typeface="Cambria Math" panose="02040503050406030204" pitchFamily="18" charset="0"/>
                          </a:rPr>
                        </m:ctrlPr>
                      </m:dPr>
                      <m:e>
                        <m:r>
                          <a:rPr lang="pt-BR" sz="3200" i="1" smtClean="0">
                            <a:latin typeface="Cambria Math" panose="02040503050406030204" pitchFamily="18" charset="0"/>
                            <a:ea typeface="Cambria Math" panose="02040503050406030204" pitchFamily="18" charset="0"/>
                          </a:rPr>
                          <m:t>𝑥</m:t>
                        </m:r>
                      </m:e>
                    </m:d>
                    <m:r>
                      <a:rPr lang="pt-BR" sz="3200" i="1" smtClean="0">
                        <a:latin typeface="Cambria Math" panose="02040503050406030204" pitchFamily="18" charset="0"/>
                        <a:ea typeface="Cambria Math" panose="02040503050406030204" pitchFamily="18" charset="0"/>
                      </a:rPr>
                      <m:t>=</m:t>
                    </m:r>
                    <m:f>
                      <m:fPr>
                        <m:ctrlPr>
                          <a:rPr lang="pt-BR" sz="3200" i="1" smtClean="0">
                            <a:latin typeface="Cambria Math" panose="02040503050406030204" pitchFamily="18" charset="0"/>
                            <a:ea typeface="Cambria Math" panose="02040503050406030204" pitchFamily="18" charset="0"/>
                          </a:rPr>
                        </m:ctrlPr>
                      </m:fPr>
                      <m:num>
                        <m:r>
                          <a:rPr lang="es-EC" sz="3200" b="0" i="1" smtClean="0">
                            <a:latin typeface="Cambria Math" panose="02040503050406030204" pitchFamily="18" charset="0"/>
                            <a:ea typeface="Cambria Math" panose="02040503050406030204" pitchFamily="18" charset="0"/>
                          </a:rPr>
                          <m:t>1</m:t>
                        </m:r>
                      </m:num>
                      <m:den>
                        <m:rad>
                          <m:radPr>
                            <m:degHide m:val="on"/>
                            <m:ctrlPr>
                              <a:rPr lang="pt-BR" sz="3200" i="1" smtClean="0">
                                <a:latin typeface="Cambria Math" panose="02040503050406030204" pitchFamily="18" charset="0"/>
                                <a:ea typeface="Cambria Math" panose="02040503050406030204" pitchFamily="18" charset="0"/>
                              </a:rPr>
                            </m:ctrlPr>
                          </m:radPr>
                          <m:deg/>
                          <m:e>
                            <m:r>
                              <a:rPr lang="es-EC" sz="3200" b="0" i="1" smtClean="0">
                                <a:latin typeface="Cambria Math" panose="02040503050406030204" pitchFamily="18" charset="0"/>
                                <a:ea typeface="Cambria Math" panose="02040503050406030204" pitchFamily="18" charset="0"/>
                              </a:rPr>
                              <m:t>2</m:t>
                            </m:r>
                            <m:r>
                              <a:rPr lang="es-EC" sz="3200" b="0" i="1" smtClean="0">
                                <a:latin typeface="Cambria Math" panose="02040503050406030204" pitchFamily="18" charset="0"/>
                                <a:ea typeface="Cambria Math" panose="02040503050406030204" pitchFamily="18" charset="0"/>
                              </a:rPr>
                              <m:t>𝜋</m:t>
                            </m:r>
                          </m:e>
                        </m:rad>
                      </m:den>
                    </m:f>
                    <m:sSup>
                      <m:sSupPr>
                        <m:ctrlPr>
                          <a:rPr lang="pt-BR" sz="3200" i="1" smtClean="0">
                            <a:latin typeface="Cambria Math" panose="02040503050406030204" pitchFamily="18" charset="0"/>
                            <a:ea typeface="Cambria Math" panose="02040503050406030204" pitchFamily="18" charset="0"/>
                          </a:rPr>
                        </m:ctrlPr>
                      </m:sSupPr>
                      <m:e>
                        <m:r>
                          <a:rPr lang="pt-BR" sz="3200" i="1" smtClean="0">
                            <a:latin typeface="Cambria Math" panose="02040503050406030204" pitchFamily="18" charset="0"/>
                            <a:ea typeface="Cambria Math" panose="02040503050406030204" pitchFamily="18" charset="0"/>
                          </a:rPr>
                          <m:t>𝑒</m:t>
                        </m:r>
                      </m:e>
                      <m:sup>
                        <m:r>
                          <a:rPr lang="pt-BR" sz="3200" i="1" smtClean="0">
                            <a:latin typeface="Cambria Math" panose="02040503050406030204" pitchFamily="18" charset="0"/>
                            <a:ea typeface="Cambria Math" panose="02040503050406030204" pitchFamily="18" charset="0"/>
                          </a:rPr>
                          <m:t>−</m:t>
                        </m:r>
                        <m:f>
                          <m:fPr>
                            <m:ctrlPr>
                              <a:rPr lang="pt-BR" sz="3200" i="1" smtClean="0">
                                <a:latin typeface="Cambria Math" panose="02040503050406030204" pitchFamily="18" charset="0"/>
                                <a:ea typeface="Cambria Math" panose="02040503050406030204" pitchFamily="18" charset="0"/>
                              </a:rPr>
                            </m:ctrlPr>
                          </m:fPr>
                          <m:num>
                            <m:sSup>
                              <m:sSupPr>
                                <m:ctrlPr>
                                  <a:rPr lang="pt-BR" sz="3200" i="1">
                                    <a:latin typeface="Cambria Math" panose="02040503050406030204" pitchFamily="18" charset="0"/>
                                    <a:ea typeface="Cambria Math" panose="02040503050406030204" pitchFamily="18" charset="0"/>
                                  </a:rPr>
                                </m:ctrlPr>
                              </m:sSupPr>
                              <m:e>
                                <m:r>
                                  <a:rPr lang="es-EC" sz="3200" i="1" smtClean="0">
                                    <a:latin typeface="Cambria Math" panose="02040503050406030204" pitchFamily="18" charset="0"/>
                                    <a:ea typeface="Cambria Math" panose="02040503050406030204" pitchFamily="18" charset="0"/>
                                  </a:rPr>
                                  <m:t>𝑧</m:t>
                                </m:r>
                              </m:e>
                              <m:sup>
                                <m:r>
                                  <a:rPr lang="es-EC" sz="3200" i="1">
                                    <a:latin typeface="Cambria Math" panose="02040503050406030204" pitchFamily="18" charset="0"/>
                                    <a:ea typeface="Cambria Math" panose="02040503050406030204" pitchFamily="18" charset="0"/>
                                  </a:rPr>
                                  <m:t>2</m:t>
                                </m:r>
                              </m:sup>
                            </m:sSup>
                          </m:num>
                          <m:den>
                            <m:r>
                              <a:rPr lang="es-EC" sz="3200" b="0" i="1" smtClean="0">
                                <a:latin typeface="Cambria Math" panose="02040503050406030204" pitchFamily="18" charset="0"/>
                                <a:ea typeface="Cambria Math" panose="02040503050406030204" pitchFamily="18" charset="0"/>
                              </a:rPr>
                              <m:t>2</m:t>
                            </m:r>
                          </m:den>
                        </m:f>
                      </m:sup>
                    </m:sSup>
                  </m:oMath>
                </a14:m>
                <a:r>
                  <a:rPr lang="es-EC" sz="3200" dirty="0">
                    <a:latin typeface="Cambria Math" panose="02040503050406030204" pitchFamily="18" charset="0"/>
                    <a:ea typeface="Cambria Math" panose="02040503050406030204" pitchFamily="18" charset="0"/>
                  </a:rPr>
                  <a:t> </a:t>
                </a:r>
              </a:p>
            </p:txBody>
          </p:sp>
        </mc:Choice>
        <mc:Fallback xmlns="">
          <p:sp>
            <p:nvSpPr>
              <p:cNvPr id="8" name="CuadroTexto 7"/>
              <p:cNvSpPr txBox="1">
                <a:spLocks noRot="1" noChangeAspect="1" noMove="1" noResize="1" noEditPoints="1" noAdjustHandles="1" noChangeArrowheads="1" noChangeShapeType="1" noTextEdit="1"/>
              </p:cNvSpPr>
              <p:nvPr/>
            </p:nvSpPr>
            <p:spPr>
              <a:xfrm>
                <a:off x="5738231" y="4412262"/>
                <a:ext cx="2829557" cy="910827"/>
              </a:xfrm>
              <a:prstGeom prst="rect">
                <a:avLst/>
              </a:prstGeom>
              <a:blipFill rotWithShape="0">
                <a:blip r:embed="rId2"/>
                <a:stretch>
                  <a:fillRect l="-216"/>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5532314" y="2126675"/>
                <a:ext cx="1654299" cy="7167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𝑍</m:t>
                      </m:r>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𝜇</m:t>
                              </m:r>
                            </m:e>
                          </m:d>
                        </m:num>
                        <m:den>
                          <m:r>
                            <a:rPr lang="es-EC" sz="2400" b="0" i="1" smtClean="0">
                              <a:latin typeface="Cambria Math" panose="02040503050406030204" pitchFamily="18" charset="0"/>
                              <a:ea typeface="Cambria Math" panose="02040503050406030204" pitchFamily="18" charset="0"/>
                            </a:rPr>
                            <m:t>𝜎</m:t>
                          </m:r>
                        </m:den>
                      </m:f>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5532314" y="2126675"/>
                <a:ext cx="1654299" cy="716735"/>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9235232" y="1718121"/>
                <a:ext cx="182197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𝑬</m:t>
                      </m:r>
                      <m:d>
                        <m:dPr>
                          <m:ctrlPr>
                            <a:rPr lang="es-EC" sz="2800" b="1" i="1">
                              <a:latin typeface="Cambria Math" panose="02040503050406030204" pitchFamily="18" charset="0"/>
                            </a:rPr>
                          </m:ctrlPr>
                        </m:dPr>
                        <m:e>
                          <m:r>
                            <a:rPr lang="es-EC" sz="2800" b="1" i="1">
                              <a:latin typeface="Cambria Math" panose="02040503050406030204" pitchFamily="18" charset="0"/>
                            </a:rPr>
                            <m:t>𝑿</m:t>
                          </m:r>
                        </m:e>
                      </m:d>
                      <m:r>
                        <a:rPr lang="es-EC" sz="2800" b="1" i="1">
                          <a:latin typeface="Cambria Math" panose="02040503050406030204" pitchFamily="18" charset="0"/>
                        </a:rPr>
                        <m:t>=</m:t>
                      </m:r>
                      <m:r>
                        <a:rPr lang="es-EC" sz="2800" b="1" i="1" smtClean="0">
                          <a:latin typeface="Cambria Math" panose="02040503050406030204" pitchFamily="18" charset="0"/>
                          <a:ea typeface="Cambria Math" panose="02040503050406030204" pitchFamily="18" charset="0"/>
                        </a:rPr>
                        <m:t>𝟎</m:t>
                      </m:r>
                      <m:r>
                        <a:rPr lang="es-EC" sz="2800" b="1" i="1" smtClean="0">
                          <a:latin typeface="Cambria Math" panose="02040503050406030204" pitchFamily="18" charset="0"/>
                        </a:rPr>
                        <m:t> </m:t>
                      </m:r>
                    </m:oMath>
                  </m:oMathPara>
                </a14:m>
                <a:endParaRPr lang="es-EC" sz="2800" dirty="0"/>
              </a:p>
            </p:txBody>
          </p:sp>
        </mc:Choice>
        <mc:Fallback xmlns="">
          <p:sp>
            <p:nvSpPr>
              <p:cNvPr id="12" name="Rectángulo 11"/>
              <p:cNvSpPr>
                <a:spLocks noRot="1" noChangeAspect="1" noMove="1" noResize="1" noEditPoints="1" noAdjustHandles="1" noChangeArrowheads="1" noChangeShapeType="1" noTextEdit="1"/>
              </p:cNvSpPr>
              <p:nvPr/>
            </p:nvSpPr>
            <p:spPr>
              <a:xfrm>
                <a:off x="9235232" y="1718121"/>
                <a:ext cx="1821974" cy="523220"/>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9447119" y="2633327"/>
                <a:ext cx="181876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𝑽</m:t>
                      </m:r>
                      <m:d>
                        <m:dPr>
                          <m:ctrlPr>
                            <a:rPr lang="es-EC" sz="2800" b="1" i="1">
                              <a:latin typeface="Cambria Math" panose="02040503050406030204" pitchFamily="18" charset="0"/>
                            </a:rPr>
                          </m:ctrlPr>
                        </m:dPr>
                        <m:e>
                          <m:r>
                            <a:rPr lang="es-EC" sz="2800" b="1" i="1">
                              <a:latin typeface="Cambria Math" panose="02040503050406030204" pitchFamily="18" charset="0"/>
                            </a:rPr>
                            <m:t>𝑿</m:t>
                          </m:r>
                        </m:e>
                      </m:d>
                      <m:r>
                        <a:rPr lang="es-EC" sz="2800" b="1" i="1">
                          <a:latin typeface="Cambria Math" panose="02040503050406030204" pitchFamily="18" charset="0"/>
                        </a:rPr>
                        <m:t>=</m:t>
                      </m:r>
                      <m:r>
                        <a:rPr lang="es-EC" sz="2800" b="1" i="1" smtClean="0">
                          <a:latin typeface="Cambria Math" panose="02040503050406030204" pitchFamily="18" charset="0"/>
                          <a:ea typeface="Cambria Math" panose="02040503050406030204" pitchFamily="18" charset="0"/>
                        </a:rPr>
                        <m:t>𝟏</m:t>
                      </m:r>
                      <m:r>
                        <a:rPr lang="es-EC" sz="2800" b="1" i="1" smtClean="0">
                          <a:latin typeface="Cambria Math" panose="02040503050406030204" pitchFamily="18" charset="0"/>
                        </a:rPr>
                        <m:t> </m:t>
                      </m:r>
                    </m:oMath>
                  </m:oMathPara>
                </a14:m>
                <a:endParaRPr lang="es-EC" sz="2800" dirty="0"/>
              </a:p>
            </p:txBody>
          </p:sp>
        </mc:Choice>
        <mc:Fallback xmlns="">
          <p:sp>
            <p:nvSpPr>
              <p:cNvPr id="13" name="Rectángulo 12"/>
              <p:cNvSpPr>
                <a:spLocks noRot="1" noChangeAspect="1" noMove="1" noResize="1" noEditPoints="1" noAdjustHandles="1" noChangeArrowheads="1" noChangeShapeType="1" noTextEdit="1"/>
              </p:cNvSpPr>
              <p:nvPr/>
            </p:nvSpPr>
            <p:spPr>
              <a:xfrm>
                <a:off x="9447119" y="2633327"/>
                <a:ext cx="1818768" cy="523220"/>
              </a:xfrm>
              <a:prstGeom prst="rect">
                <a:avLst/>
              </a:prstGeom>
              <a:blipFill rotWithShape="0">
                <a:blip r:embed="rId5"/>
                <a:stretch>
                  <a:fillRect/>
                </a:stretch>
              </a:blipFill>
            </p:spPr>
            <p:txBody>
              <a:bodyPr/>
              <a:lstStyle/>
              <a:p>
                <a:r>
                  <a:rPr lang="es-EC">
                    <a:noFill/>
                  </a:rPr>
                  <a:t> </a:t>
                </a:r>
              </a:p>
            </p:txBody>
          </p:sp>
        </mc:Fallback>
      </mc:AlternateContent>
      <p:pic>
        <p:nvPicPr>
          <p:cNvPr id="2050" name="Picture 2" descr="Resultado de imagen para curva normal estanda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012" y="3486803"/>
            <a:ext cx="6316663" cy="3214035"/>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p:cNvSpPr/>
          <p:nvPr/>
        </p:nvSpPr>
        <p:spPr>
          <a:xfrm>
            <a:off x="1084990" y="815499"/>
            <a:ext cx="4683718" cy="523220"/>
          </a:xfrm>
          <a:prstGeom prst="rect">
            <a:avLst/>
          </a:prstGeom>
        </p:spPr>
        <p:txBody>
          <a:bodyPr wrap="none">
            <a:spAutoFit/>
          </a:bodyPr>
          <a:lstStyle/>
          <a:p>
            <a:r>
              <a:rPr lang="es-EC" sz="2800" b="1" dirty="0"/>
              <a:t>Modelos Aleatorios Continuos</a:t>
            </a:r>
          </a:p>
        </p:txBody>
      </p:sp>
      <p:sp>
        <p:nvSpPr>
          <p:cNvPr id="16" name="Rectángulo 15"/>
          <p:cNvSpPr/>
          <p:nvPr/>
        </p:nvSpPr>
        <p:spPr>
          <a:xfrm>
            <a:off x="1084990" y="1407315"/>
            <a:ext cx="3184654" cy="523220"/>
          </a:xfrm>
          <a:prstGeom prst="rect">
            <a:avLst/>
          </a:prstGeom>
        </p:spPr>
        <p:txBody>
          <a:bodyPr wrap="none">
            <a:spAutoFit/>
          </a:bodyPr>
          <a:lstStyle/>
          <a:p>
            <a:r>
              <a:rPr lang="es-EC" sz="2800" b="1" dirty="0"/>
              <a:t>Distribución Normal</a:t>
            </a:r>
            <a:endParaRPr lang="es-EC" sz="2800" b="1" baseline="60000" dirty="0"/>
          </a:p>
        </p:txBody>
      </p:sp>
      <p:sp>
        <p:nvSpPr>
          <p:cNvPr id="17" name="Rectángulo 16"/>
          <p:cNvSpPr/>
          <p:nvPr/>
        </p:nvSpPr>
        <p:spPr>
          <a:xfrm>
            <a:off x="8066689" y="1718121"/>
            <a:ext cx="1002197" cy="461665"/>
          </a:xfrm>
          <a:prstGeom prst="rect">
            <a:avLst/>
          </a:prstGeom>
        </p:spPr>
        <p:txBody>
          <a:bodyPr wrap="square">
            <a:spAutoFit/>
          </a:bodyPr>
          <a:lstStyle/>
          <a:p>
            <a:r>
              <a:rPr lang="es-EC" sz="2400" b="1" dirty="0"/>
              <a:t>Media</a:t>
            </a:r>
          </a:p>
        </p:txBody>
      </p:sp>
      <p:sp>
        <p:nvSpPr>
          <p:cNvPr id="18" name="Rectángulo 17"/>
          <p:cNvSpPr/>
          <p:nvPr/>
        </p:nvSpPr>
        <p:spPr>
          <a:xfrm>
            <a:off x="7867248" y="2593147"/>
            <a:ext cx="1274644" cy="461665"/>
          </a:xfrm>
          <a:prstGeom prst="rect">
            <a:avLst/>
          </a:prstGeom>
        </p:spPr>
        <p:txBody>
          <a:bodyPr wrap="none">
            <a:spAutoFit/>
          </a:bodyPr>
          <a:lstStyle/>
          <a:p>
            <a:r>
              <a:rPr lang="es-EC" sz="2400" b="1" dirty="0"/>
              <a:t>Varianza</a:t>
            </a:r>
          </a:p>
        </p:txBody>
      </p:sp>
      <p:sp>
        <p:nvSpPr>
          <p:cNvPr id="19" name="CuadroTexto 18"/>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1202503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721919" y="1183518"/>
            <a:ext cx="4162871" cy="523220"/>
          </a:xfrm>
          <a:prstGeom prst="rect">
            <a:avLst/>
          </a:prstGeom>
        </p:spPr>
        <p:txBody>
          <a:bodyPr wrap="none">
            <a:spAutoFit/>
          </a:bodyPr>
          <a:lstStyle/>
          <a:p>
            <a:r>
              <a:rPr lang="es-EC" sz="2800" b="1" dirty="0"/>
              <a:t>Relación Normal- Binomial</a:t>
            </a:r>
          </a:p>
        </p:txBody>
      </p:sp>
      <mc:AlternateContent xmlns:mc="http://schemas.openxmlformats.org/markup-compatibility/2006" xmlns:a14="http://schemas.microsoft.com/office/drawing/2010/main">
        <mc:Choice Requires="a14">
          <p:sp>
            <p:nvSpPr>
              <p:cNvPr id="4" name="Rectángulo 3"/>
              <p:cNvSpPr/>
              <p:nvPr/>
            </p:nvSpPr>
            <p:spPr>
              <a:xfrm>
                <a:off x="721919" y="2199688"/>
                <a:ext cx="9887810" cy="830997"/>
              </a:xfrm>
              <a:prstGeom prst="rect">
                <a:avLst/>
              </a:prstGeom>
            </p:spPr>
            <p:txBody>
              <a:bodyPr wrap="square">
                <a:spAutoFit/>
              </a:bodyPr>
              <a:lstStyle/>
              <a:p>
                <a:r>
                  <a:rPr lang="es-EC" sz="2400" dirty="0"/>
                  <a:t>Si X siendo B(</a:t>
                </a:r>
                <a:r>
                  <a:rPr lang="es-EC" sz="2400" dirty="0" err="1"/>
                  <a:t>n,p</a:t>
                </a:r>
                <a:r>
                  <a:rPr lang="es-EC" sz="2400" dirty="0"/>
                  <a:t>) cumple con </a:t>
                </a:r>
                <a14:m>
                  <m:oMath xmlns:m="http://schemas.openxmlformats.org/officeDocument/2006/math">
                    <m:r>
                      <a:rPr lang="es-EC" sz="2400" i="1">
                        <a:latin typeface="Cambria Math" panose="02040503050406030204" pitchFamily="18" charset="0"/>
                        <a:ea typeface="Cambria Math" panose="02040503050406030204" pitchFamily="18" charset="0"/>
                      </a:rPr>
                      <m:t>𝑛</m:t>
                    </m:r>
                    <m:r>
                      <a:rPr lang="es-EC" sz="2400" i="1">
                        <a:latin typeface="Cambria Math" panose="02040503050406030204" pitchFamily="18" charset="0"/>
                        <a:ea typeface="Cambria Math" panose="02040503050406030204" pitchFamily="18" charset="0"/>
                      </a:rPr>
                      <m:t>→∞</m:t>
                    </m:r>
                  </m:oMath>
                </a14:m>
                <a:r>
                  <a:rPr lang="es-EC" sz="2400" dirty="0"/>
                  <a:t> ; podemos establecer que X se aproxima a una normal N(</a:t>
                </a:r>
                <a:r>
                  <a:rPr lang="es-EC" sz="2400" dirty="0" err="1"/>
                  <a:t>np</a:t>
                </a:r>
                <a:r>
                  <a:rPr lang="es-EC" sz="2400" dirty="0"/>
                  <a:t>, </a:t>
                </a:r>
                <a:r>
                  <a:rPr lang="es-EC" sz="2400" dirty="0" err="1"/>
                  <a:t>npq</a:t>
                </a:r>
                <a:r>
                  <a:rPr lang="es-EC" sz="2400" dirty="0"/>
                  <a:t>) y que</a:t>
                </a:r>
              </a:p>
            </p:txBody>
          </p:sp>
        </mc:Choice>
        <mc:Fallback xmlns="">
          <p:sp>
            <p:nvSpPr>
              <p:cNvPr id="4" name="Rectángulo 3"/>
              <p:cNvSpPr>
                <a:spLocks noRot="1" noChangeAspect="1" noMove="1" noResize="1" noEditPoints="1" noAdjustHandles="1" noChangeArrowheads="1" noChangeShapeType="1" noTextEdit="1"/>
              </p:cNvSpPr>
              <p:nvPr/>
            </p:nvSpPr>
            <p:spPr>
              <a:xfrm>
                <a:off x="721919" y="2199688"/>
                <a:ext cx="9887810" cy="830997"/>
              </a:xfrm>
              <a:prstGeom prst="rect">
                <a:avLst/>
              </a:prstGeom>
              <a:blipFill rotWithShape="0">
                <a:blip r:embed="rId2"/>
                <a:stretch>
                  <a:fillRect l="-925" t="-5882" r="-863" b="-16176"/>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4117069" y="3913766"/>
                <a:ext cx="2092239" cy="9950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800" b="1" i="1" smtClean="0">
                          <a:latin typeface="Cambria Math" panose="02040503050406030204" pitchFamily="18" charset="0"/>
                        </a:rPr>
                        <m:t>𝒁</m:t>
                      </m:r>
                      <m:r>
                        <a:rPr lang="es-EC" sz="2800" b="1" i="1" smtClean="0">
                          <a:latin typeface="Cambria Math" panose="02040503050406030204" pitchFamily="18" charset="0"/>
                        </a:rPr>
                        <m:t>=</m:t>
                      </m:r>
                      <m:f>
                        <m:fPr>
                          <m:ctrlPr>
                            <a:rPr lang="es-EC" sz="2800" b="1" i="1" smtClean="0">
                              <a:latin typeface="Cambria Math" panose="02040503050406030204" pitchFamily="18" charset="0"/>
                            </a:rPr>
                          </m:ctrlPr>
                        </m:fPr>
                        <m:num>
                          <m:r>
                            <a:rPr lang="es-EC" sz="2800" b="1" i="1" smtClean="0">
                              <a:latin typeface="Cambria Math" panose="02040503050406030204" pitchFamily="18" charset="0"/>
                            </a:rPr>
                            <m:t>𝑿</m:t>
                          </m:r>
                          <m:r>
                            <a:rPr lang="es-EC" sz="2800" b="1" i="1" smtClean="0">
                              <a:latin typeface="Cambria Math" panose="02040503050406030204" pitchFamily="18" charset="0"/>
                            </a:rPr>
                            <m:t>−</m:t>
                          </m:r>
                          <m:r>
                            <a:rPr lang="es-EC" sz="2800" b="1" i="1" smtClean="0">
                              <a:latin typeface="Cambria Math" panose="02040503050406030204" pitchFamily="18" charset="0"/>
                            </a:rPr>
                            <m:t>𝒏𝒑</m:t>
                          </m:r>
                        </m:num>
                        <m:den>
                          <m:rad>
                            <m:radPr>
                              <m:degHide m:val="on"/>
                              <m:ctrlPr>
                                <a:rPr lang="es-EC" sz="2800" b="1" i="1" smtClean="0">
                                  <a:latin typeface="Cambria Math" panose="02040503050406030204" pitchFamily="18" charset="0"/>
                                </a:rPr>
                              </m:ctrlPr>
                            </m:radPr>
                            <m:deg/>
                            <m:e>
                              <m:r>
                                <a:rPr lang="es-EC" sz="2800" b="1" i="1" smtClean="0">
                                  <a:latin typeface="Cambria Math" panose="02040503050406030204" pitchFamily="18" charset="0"/>
                                </a:rPr>
                                <m:t>𝒏𝒑𝒒</m:t>
                              </m:r>
                            </m:e>
                          </m:rad>
                        </m:den>
                      </m:f>
                    </m:oMath>
                  </m:oMathPara>
                </a14:m>
                <a:endParaRPr lang="es-EC" sz="2800" dirty="0"/>
              </a:p>
            </p:txBody>
          </p:sp>
        </mc:Choice>
        <mc:Fallback xmlns="">
          <p:sp>
            <p:nvSpPr>
              <p:cNvPr id="5" name="Rectángulo 4"/>
              <p:cNvSpPr>
                <a:spLocks noRot="1" noChangeAspect="1" noMove="1" noResize="1" noEditPoints="1" noAdjustHandles="1" noChangeArrowheads="1" noChangeShapeType="1" noTextEdit="1"/>
              </p:cNvSpPr>
              <p:nvPr/>
            </p:nvSpPr>
            <p:spPr>
              <a:xfrm>
                <a:off x="4117069" y="3913766"/>
                <a:ext cx="2092239" cy="995016"/>
              </a:xfrm>
              <a:prstGeom prst="rect">
                <a:avLst/>
              </a:prstGeom>
              <a:blipFill rotWithShape="0">
                <a:blip r:embed="rId3"/>
                <a:stretch>
                  <a:fillRect/>
                </a:stretch>
              </a:blipFill>
            </p:spPr>
            <p:txBody>
              <a:bodyPr/>
              <a:lstStyle/>
              <a:p>
                <a:r>
                  <a:rPr lang="es-EC">
                    <a:noFill/>
                  </a:rPr>
                  <a:t> </a:t>
                </a:r>
              </a:p>
            </p:txBody>
          </p:sp>
        </mc:Fallback>
      </mc:AlternateContent>
      <p:sp>
        <p:nvSpPr>
          <p:cNvPr id="6" name="CuadroTexto 5"/>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905765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431991" y="813206"/>
            <a:ext cx="4683718" cy="523220"/>
          </a:xfrm>
          <a:prstGeom prst="rect">
            <a:avLst/>
          </a:prstGeom>
        </p:spPr>
        <p:txBody>
          <a:bodyPr wrap="none">
            <a:spAutoFit/>
          </a:bodyPr>
          <a:lstStyle/>
          <a:p>
            <a:r>
              <a:rPr lang="es-EC" sz="2800" b="1" dirty="0"/>
              <a:t>Modelos Aleatorios Continuos</a:t>
            </a:r>
          </a:p>
        </p:txBody>
      </p:sp>
      <p:sp>
        <p:nvSpPr>
          <p:cNvPr id="4" name="Rectángulo 3"/>
          <p:cNvSpPr/>
          <p:nvPr/>
        </p:nvSpPr>
        <p:spPr>
          <a:xfrm>
            <a:off x="490679" y="1322235"/>
            <a:ext cx="3237553" cy="523220"/>
          </a:xfrm>
          <a:prstGeom prst="rect">
            <a:avLst/>
          </a:prstGeom>
        </p:spPr>
        <p:txBody>
          <a:bodyPr wrap="none">
            <a:spAutoFit/>
          </a:bodyPr>
          <a:lstStyle/>
          <a:p>
            <a:r>
              <a:rPr lang="es-EC" sz="2800" b="1" dirty="0"/>
              <a:t>Distribución Gamma</a:t>
            </a:r>
          </a:p>
        </p:txBody>
      </p:sp>
      <p:sp>
        <p:nvSpPr>
          <p:cNvPr id="14" name="Rectángulo 13"/>
          <p:cNvSpPr/>
          <p:nvPr/>
        </p:nvSpPr>
        <p:spPr>
          <a:xfrm>
            <a:off x="1613120" y="2006852"/>
            <a:ext cx="2608406" cy="523220"/>
          </a:xfrm>
          <a:prstGeom prst="rect">
            <a:avLst/>
          </a:prstGeom>
        </p:spPr>
        <p:txBody>
          <a:bodyPr wrap="none">
            <a:spAutoFit/>
          </a:bodyPr>
          <a:lstStyle/>
          <a:p>
            <a:r>
              <a:rPr lang="es-EC" sz="2800" b="1" dirty="0"/>
              <a:t>Función Gamma</a:t>
            </a:r>
          </a:p>
        </p:txBody>
      </p:sp>
      <mc:AlternateContent xmlns:mc="http://schemas.openxmlformats.org/markup-compatibility/2006" xmlns:a14="http://schemas.microsoft.com/office/drawing/2010/main">
        <mc:Choice Requires="a14">
          <p:sp>
            <p:nvSpPr>
              <p:cNvPr id="9" name="CuadroTexto 8"/>
              <p:cNvSpPr txBox="1"/>
              <p:nvPr/>
            </p:nvSpPr>
            <p:spPr>
              <a:xfrm>
                <a:off x="3594105" y="1572698"/>
                <a:ext cx="4951260" cy="12620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800" i="0" smtClean="0">
                          <a:latin typeface="Cambria Math" panose="02040503050406030204" pitchFamily="18" charset="0"/>
                          <a:ea typeface="Cambria Math" panose="02040503050406030204" pitchFamily="18" charset="0"/>
                        </a:rPr>
                        <m:t>Γ</m:t>
                      </m:r>
                      <m:d>
                        <m:dPr>
                          <m:ctrlPr>
                            <a:rPr lang="el-GR" sz="2800" i="1" smtClean="0">
                              <a:latin typeface="Cambria Math" panose="02040503050406030204" pitchFamily="18" charset="0"/>
                              <a:ea typeface="Cambria Math" panose="02040503050406030204" pitchFamily="18" charset="0"/>
                            </a:rPr>
                          </m:ctrlPr>
                        </m:dPr>
                        <m:e>
                          <m:r>
                            <m:rPr>
                              <m:sty m:val="p"/>
                            </m:rPr>
                            <a:rPr lang="el-GR" sz="2800" i="0" smtClean="0">
                              <a:latin typeface="Cambria Math" panose="02040503050406030204" pitchFamily="18" charset="0"/>
                              <a:ea typeface="Cambria Math" panose="02040503050406030204" pitchFamily="18" charset="0"/>
                            </a:rPr>
                            <m:t>α</m:t>
                          </m:r>
                        </m:e>
                      </m:d>
                      <m:r>
                        <a:rPr lang="es-EC" sz="2800" b="0" i="0" smtClean="0">
                          <a:latin typeface="Cambria Math" panose="02040503050406030204" pitchFamily="18" charset="0"/>
                          <a:ea typeface="Cambria Math" panose="02040503050406030204" pitchFamily="18" charset="0"/>
                        </a:rPr>
                        <m:t>=</m:t>
                      </m:r>
                      <m:nary>
                        <m:naryPr>
                          <m:limLoc m:val="undOvr"/>
                          <m:ctrlPr>
                            <a:rPr lang="es-EC" sz="2800" b="0" i="1" smtClean="0">
                              <a:latin typeface="Cambria Math" panose="02040503050406030204" pitchFamily="18" charset="0"/>
                              <a:ea typeface="Cambria Math" panose="02040503050406030204" pitchFamily="18" charset="0"/>
                            </a:rPr>
                          </m:ctrlPr>
                        </m:naryPr>
                        <m:sub>
                          <m:r>
                            <m:rPr>
                              <m:brk m:alnAt="24"/>
                            </m:rPr>
                            <a:rPr lang="es-EC" sz="2800" b="0" i="0" smtClean="0">
                              <a:latin typeface="Cambria Math" panose="02040503050406030204" pitchFamily="18" charset="0"/>
                              <a:ea typeface="Cambria Math" panose="02040503050406030204" pitchFamily="18" charset="0"/>
                            </a:rPr>
                            <m:t>0</m:t>
                          </m:r>
                        </m:sub>
                        <m:sup>
                          <m:r>
                            <a:rPr lang="es-EC" sz="2800" b="0" i="0" smtClean="0">
                              <a:latin typeface="Cambria Math" panose="02040503050406030204" pitchFamily="18" charset="0"/>
                              <a:ea typeface="Cambria Math" panose="02040503050406030204" pitchFamily="18" charset="0"/>
                            </a:rPr>
                            <m:t>∞</m:t>
                          </m:r>
                        </m:sup>
                        <m:e>
                          <m:sSup>
                            <m:sSupPr>
                              <m:ctrlPr>
                                <a:rPr lang="es-EC" sz="2800" i="1">
                                  <a:latin typeface="Cambria Math" panose="02040503050406030204" pitchFamily="18" charset="0"/>
                                  <a:ea typeface="Cambria Math" panose="02040503050406030204" pitchFamily="18" charset="0"/>
                                </a:rPr>
                              </m:ctrlPr>
                            </m:sSupPr>
                            <m:e>
                              <m:r>
                                <m:rPr>
                                  <m:sty m:val="p"/>
                                </m:rPr>
                                <a:rPr lang="es-EC" sz="2800" i="0">
                                  <a:latin typeface="Cambria Math" panose="02040503050406030204" pitchFamily="18" charset="0"/>
                                  <a:ea typeface="Cambria Math" panose="02040503050406030204" pitchFamily="18" charset="0"/>
                                </a:rPr>
                                <m:t>x</m:t>
                              </m:r>
                            </m:e>
                            <m:sup>
                              <m:r>
                                <m:rPr>
                                  <m:sty m:val="p"/>
                                </m:rPr>
                                <a:rPr lang="es-EC" sz="2800" i="0">
                                  <a:latin typeface="Cambria Math" panose="02040503050406030204" pitchFamily="18" charset="0"/>
                                  <a:ea typeface="Cambria Math" panose="02040503050406030204" pitchFamily="18" charset="0"/>
                                </a:rPr>
                                <m:t>α</m:t>
                              </m:r>
                              <m:r>
                                <a:rPr lang="es-EC" sz="2800" i="0">
                                  <a:latin typeface="Cambria Math" panose="02040503050406030204" pitchFamily="18" charset="0"/>
                                  <a:ea typeface="Cambria Math" panose="02040503050406030204" pitchFamily="18" charset="0"/>
                                </a:rPr>
                                <m:t>−1</m:t>
                              </m:r>
                            </m:sup>
                          </m:sSup>
                          <m:sSup>
                            <m:sSupPr>
                              <m:ctrlPr>
                                <a:rPr lang="es-EC" sz="2800" i="1">
                                  <a:latin typeface="Cambria Math" panose="02040503050406030204" pitchFamily="18" charset="0"/>
                                  <a:ea typeface="Cambria Math" panose="02040503050406030204" pitchFamily="18" charset="0"/>
                                </a:rPr>
                              </m:ctrlPr>
                            </m:sSupPr>
                            <m:e>
                              <m:r>
                                <m:rPr>
                                  <m:sty m:val="p"/>
                                </m:rPr>
                                <a:rPr lang="es-EC" sz="2800" i="0">
                                  <a:latin typeface="Cambria Math" panose="02040503050406030204" pitchFamily="18" charset="0"/>
                                  <a:ea typeface="Cambria Math" panose="02040503050406030204" pitchFamily="18" charset="0"/>
                                </a:rPr>
                                <m:t>e</m:t>
                              </m:r>
                            </m:e>
                            <m:sup>
                              <m:r>
                                <a:rPr lang="es-EC" sz="2800" i="0">
                                  <a:latin typeface="Cambria Math" panose="02040503050406030204" pitchFamily="18" charset="0"/>
                                  <a:ea typeface="Cambria Math" panose="02040503050406030204" pitchFamily="18" charset="0"/>
                                </a:rPr>
                                <m:t>−</m:t>
                              </m:r>
                              <m:r>
                                <m:rPr>
                                  <m:sty m:val="p"/>
                                </m:rPr>
                                <a:rPr lang="es-EC" sz="2800" i="0">
                                  <a:latin typeface="Cambria Math" panose="02040503050406030204" pitchFamily="18" charset="0"/>
                                  <a:ea typeface="Cambria Math" panose="02040503050406030204" pitchFamily="18" charset="0"/>
                                </a:rPr>
                                <m:t>x</m:t>
                              </m:r>
                            </m:sup>
                          </m:sSup>
                          <m:r>
                            <m:rPr>
                              <m:sty m:val="p"/>
                            </m:rPr>
                            <a:rPr lang="es-EC" sz="2800" b="0" i="0" smtClean="0">
                              <a:latin typeface="Cambria Math" panose="02040503050406030204" pitchFamily="18" charset="0"/>
                              <a:ea typeface="Cambria Math" panose="02040503050406030204" pitchFamily="18" charset="0"/>
                            </a:rPr>
                            <m:t>dx</m:t>
                          </m:r>
                        </m:e>
                      </m:nary>
                    </m:oMath>
                  </m:oMathPara>
                </a14:m>
                <a:endParaRPr lang="es-EC" sz="28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3594105" y="1572698"/>
                <a:ext cx="4951260" cy="1262012"/>
              </a:xfrm>
              <a:prstGeom prst="rect">
                <a:avLst/>
              </a:prstGeom>
              <a:blipFill rotWithShape="0">
                <a:blip r:embed="rId2"/>
                <a:stretch>
                  <a:fillRect/>
                </a:stretch>
              </a:blipFill>
            </p:spPr>
            <p:txBody>
              <a:bodyPr/>
              <a:lstStyle/>
              <a:p>
                <a:r>
                  <a:rPr lang="es-EC">
                    <a:noFill/>
                  </a:rPr>
                  <a:t> </a:t>
                </a:r>
              </a:p>
            </p:txBody>
          </p:sp>
        </mc:Fallback>
      </mc:AlternateContent>
      <p:sp>
        <p:nvSpPr>
          <p:cNvPr id="16" name="Rectángulo 15"/>
          <p:cNvSpPr/>
          <p:nvPr/>
        </p:nvSpPr>
        <p:spPr>
          <a:xfrm>
            <a:off x="1261203" y="2910260"/>
            <a:ext cx="2943434" cy="523220"/>
          </a:xfrm>
          <a:prstGeom prst="rect">
            <a:avLst/>
          </a:prstGeom>
        </p:spPr>
        <p:txBody>
          <a:bodyPr wrap="none">
            <a:spAutoFit/>
          </a:bodyPr>
          <a:lstStyle/>
          <a:p>
            <a:r>
              <a:rPr lang="es-EC" sz="2800" dirty="0"/>
              <a:t>Si                           y </a:t>
            </a:r>
            <a:endParaRPr lang="es-EC" sz="2800" baseline="60000" dirty="0"/>
          </a:p>
        </p:txBody>
      </p:sp>
      <mc:AlternateContent xmlns:mc="http://schemas.openxmlformats.org/markup-compatibility/2006" xmlns:a14="http://schemas.microsoft.com/office/drawing/2010/main">
        <mc:Choice Requires="a14">
          <p:sp>
            <p:nvSpPr>
              <p:cNvPr id="15" name="CuadroTexto 14"/>
              <p:cNvSpPr txBox="1"/>
              <p:nvPr/>
            </p:nvSpPr>
            <p:spPr>
              <a:xfrm>
                <a:off x="2073124" y="3011342"/>
                <a:ext cx="131959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𝑢</m:t>
                      </m:r>
                      <m:r>
                        <a:rPr lang="es-EC" sz="2400" b="0" i="1" smtClean="0">
                          <a:latin typeface="Cambria Math" panose="02040503050406030204" pitchFamily="18" charset="0"/>
                        </a:rPr>
                        <m:t>=</m:t>
                      </m:r>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𝑥</m:t>
                          </m:r>
                        </m:e>
                        <m:sup>
                          <m:r>
                            <a:rPr lang="es-EC" sz="2400" i="1">
                              <a:latin typeface="Cambria Math" panose="02040503050406030204" pitchFamily="18" charset="0"/>
                              <a:ea typeface="Cambria Math" panose="02040503050406030204" pitchFamily="18" charset="0"/>
                            </a:rPr>
                            <m:t>𝛼</m:t>
                          </m:r>
                          <m:r>
                            <a:rPr lang="es-EC" sz="2400" i="1">
                              <a:latin typeface="Cambria Math" panose="02040503050406030204" pitchFamily="18" charset="0"/>
                              <a:ea typeface="Cambria Math" panose="02040503050406030204" pitchFamily="18" charset="0"/>
                            </a:rPr>
                            <m:t>−1</m:t>
                          </m:r>
                        </m:sup>
                      </m:sSup>
                    </m:oMath>
                  </m:oMathPara>
                </a14:m>
                <a:endParaRPr lang="es-EC" sz="2400" dirty="0"/>
              </a:p>
            </p:txBody>
          </p:sp>
        </mc:Choice>
        <mc:Fallback xmlns="">
          <p:sp>
            <p:nvSpPr>
              <p:cNvPr id="15" name="CuadroTexto 14"/>
              <p:cNvSpPr txBox="1">
                <a:spLocks noRot="1" noChangeAspect="1" noMove="1" noResize="1" noEditPoints="1" noAdjustHandles="1" noChangeArrowheads="1" noChangeShapeType="1" noTextEdit="1"/>
              </p:cNvSpPr>
              <p:nvPr/>
            </p:nvSpPr>
            <p:spPr>
              <a:xfrm>
                <a:off x="2073124" y="3011342"/>
                <a:ext cx="1319592" cy="369332"/>
              </a:xfrm>
              <a:prstGeom prst="rect">
                <a:avLst/>
              </a:prstGeom>
              <a:blipFill rotWithShape="0">
                <a:blip r:embed="rId3"/>
                <a:stretch>
                  <a:fillRect l="-1382" r="-461"/>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8" name="CuadroTexto 17"/>
              <p:cNvSpPr txBox="1"/>
              <p:nvPr/>
            </p:nvSpPr>
            <p:spPr>
              <a:xfrm>
                <a:off x="4350182" y="2987204"/>
                <a:ext cx="155132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000" b="0" i="1" smtClean="0">
                          <a:latin typeface="Cambria Math" panose="02040503050406030204" pitchFamily="18" charset="0"/>
                        </a:rPr>
                        <m:t>𝑑𝑣</m:t>
                      </m:r>
                      <m:r>
                        <a:rPr lang="es-EC" sz="2000" b="0" i="1" smtClean="0">
                          <a:latin typeface="Cambria Math" panose="02040503050406030204" pitchFamily="18" charset="0"/>
                        </a:rPr>
                        <m:t>=</m:t>
                      </m:r>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𝑒</m:t>
                          </m:r>
                        </m:e>
                        <m:sup>
                          <m:r>
                            <a:rPr lang="es-EC" sz="2400" i="1">
                              <a:latin typeface="Cambria Math" panose="02040503050406030204" pitchFamily="18" charset="0"/>
                              <a:ea typeface="Cambria Math" panose="02040503050406030204" pitchFamily="18" charset="0"/>
                            </a:rPr>
                            <m:t>−</m:t>
                          </m:r>
                          <m:r>
                            <a:rPr lang="es-EC" sz="2400" i="1">
                              <a:latin typeface="Cambria Math" panose="02040503050406030204" pitchFamily="18" charset="0"/>
                              <a:ea typeface="Cambria Math" panose="02040503050406030204" pitchFamily="18" charset="0"/>
                            </a:rPr>
                            <m:t>𝑥</m:t>
                          </m:r>
                        </m:sup>
                      </m:sSup>
                      <m:r>
                        <a:rPr lang="es-EC" sz="2400" i="1">
                          <a:latin typeface="Cambria Math" panose="02040503050406030204" pitchFamily="18" charset="0"/>
                          <a:ea typeface="Cambria Math" panose="02040503050406030204" pitchFamily="18" charset="0"/>
                        </a:rPr>
                        <m:t>𝑑𝑥</m:t>
                      </m:r>
                    </m:oMath>
                  </m:oMathPara>
                </a14:m>
                <a:endParaRPr lang="es-EC" sz="2400" dirty="0"/>
              </a:p>
            </p:txBody>
          </p:sp>
        </mc:Choice>
        <mc:Fallback xmlns="">
          <p:sp>
            <p:nvSpPr>
              <p:cNvPr id="18" name="CuadroTexto 17"/>
              <p:cNvSpPr txBox="1">
                <a:spLocks noRot="1" noChangeAspect="1" noMove="1" noResize="1" noEditPoints="1" noAdjustHandles="1" noChangeArrowheads="1" noChangeShapeType="1" noTextEdit="1"/>
              </p:cNvSpPr>
              <p:nvPr/>
            </p:nvSpPr>
            <p:spPr>
              <a:xfrm>
                <a:off x="4350182" y="2987204"/>
                <a:ext cx="1551322" cy="369332"/>
              </a:xfrm>
              <a:prstGeom prst="rect">
                <a:avLst/>
              </a:prstGeom>
              <a:blipFill rotWithShape="0">
                <a:blip r:embed="rId4"/>
                <a:stretch>
                  <a:fillRect l="-2362" r="-3543" b="-6557"/>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9" name="CuadroTexto 18"/>
              <p:cNvSpPr txBox="1"/>
              <p:nvPr/>
            </p:nvSpPr>
            <p:spPr>
              <a:xfrm>
                <a:off x="5901504" y="2739873"/>
                <a:ext cx="4128510" cy="9015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Γ</m:t>
                      </m:r>
                      <m:d>
                        <m:dPr>
                          <m:ctrlPr>
                            <a:rPr lang="el-GR" sz="2000" i="1" smtClean="0">
                              <a:latin typeface="Cambria Math" panose="02040503050406030204" pitchFamily="18" charset="0"/>
                              <a:ea typeface="Cambria Math" panose="02040503050406030204" pitchFamily="18" charset="0"/>
                            </a:rPr>
                          </m:ctrlPr>
                        </m:dPr>
                        <m:e>
                          <m:r>
                            <a:rPr lang="el-GR" sz="2000" i="1" smtClean="0">
                              <a:latin typeface="Cambria Math" panose="02040503050406030204" pitchFamily="18" charset="0"/>
                              <a:ea typeface="Cambria Math" panose="02040503050406030204" pitchFamily="18" charset="0"/>
                            </a:rPr>
                            <m:t>𝛼</m:t>
                          </m:r>
                        </m:e>
                      </m:d>
                      <m:r>
                        <a:rPr lang="es-EC" sz="2000" b="0" i="1" smtClean="0">
                          <a:latin typeface="Cambria Math" panose="02040503050406030204" pitchFamily="18" charset="0"/>
                          <a:ea typeface="Cambria Math" panose="02040503050406030204" pitchFamily="18" charset="0"/>
                        </a:rPr>
                        <m:t>=(</m:t>
                      </m:r>
                      <m:r>
                        <a:rPr lang="es-EC" sz="2000" b="0" i="1" smtClean="0">
                          <a:latin typeface="Cambria Math" panose="02040503050406030204" pitchFamily="18" charset="0"/>
                          <a:ea typeface="Cambria Math" panose="02040503050406030204" pitchFamily="18" charset="0"/>
                        </a:rPr>
                        <m:t>𝛼</m:t>
                      </m:r>
                      <m:r>
                        <a:rPr lang="es-EC" sz="2000" b="0" i="1" smtClean="0">
                          <a:latin typeface="Cambria Math" panose="02040503050406030204" pitchFamily="18" charset="0"/>
                          <a:ea typeface="Cambria Math" panose="02040503050406030204" pitchFamily="18" charset="0"/>
                        </a:rPr>
                        <m:t>−1)</m:t>
                      </m:r>
                      <m:nary>
                        <m:naryPr>
                          <m:limLoc m:val="undOvr"/>
                          <m:ctrlPr>
                            <a:rPr lang="es-EC" sz="2000" b="0" i="1" smtClean="0">
                              <a:latin typeface="Cambria Math" panose="02040503050406030204" pitchFamily="18" charset="0"/>
                              <a:ea typeface="Cambria Math" panose="02040503050406030204" pitchFamily="18" charset="0"/>
                            </a:rPr>
                          </m:ctrlPr>
                        </m:naryPr>
                        <m:sub>
                          <m:r>
                            <m:rPr>
                              <m:brk m:alnAt="24"/>
                            </m:rPr>
                            <a:rPr lang="es-EC" sz="2000" b="0" i="1" smtClean="0">
                              <a:latin typeface="Cambria Math" panose="02040503050406030204" pitchFamily="18" charset="0"/>
                              <a:ea typeface="Cambria Math" panose="02040503050406030204" pitchFamily="18" charset="0"/>
                            </a:rPr>
                            <m:t>0</m:t>
                          </m:r>
                        </m:sub>
                        <m:sup>
                          <m:r>
                            <a:rPr lang="es-EC" sz="2000" b="0" i="1" smtClean="0">
                              <a:latin typeface="Cambria Math" panose="02040503050406030204" pitchFamily="18" charset="0"/>
                              <a:ea typeface="Cambria Math" panose="02040503050406030204" pitchFamily="18" charset="0"/>
                            </a:rPr>
                            <m:t>∞</m:t>
                          </m:r>
                        </m:sup>
                        <m:e>
                          <m:sSup>
                            <m:sSupPr>
                              <m:ctrlPr>
                                <a:rPr lang="es-EC" sz="2000" i="1">
                                  <a:latin typeface="Cambria Math" panose="02040503050406030204" pitchFamily="18" charset="0"/>
                                  <a:ea typeface="Cambria Math" panose="02040503050406030204" pitchFamily="18" charset="0"/>
                                </a:rPr>
                              </m:ctrlPr>
                            </m:sSupPr>
                            <m:e>
                              <m:r>
                                <a:rPr lang="es-EC" sz="2000" i="1">
                                  <a:latin typeface="Cambria Math" panose="02040503050406030204" pitchFamily="18" charset="0"/>
                                  <a:ea typeface="Cambria Math" panose="02040503050406030204" pitchFamily="18" charset="0"/>
                                </a:rPr>
                                <m:t>𝑥</m:t>
                              </m:r>
                            </m:e>
                            <m:sup>
                              <m:r>
                                <a:rPr lang="es-EC" sz="2000" i="1">
                                  <a:latin typeface="Cambria Math" panose="02040503050406030204" pitchFamily="18" charset="0"/>
                                  <a:ea typeface="Cambria Math" panose="02040503050406030204" pitchFamily="18" charset="0"/>
                                </a:rPr>
                                <m:t>𝛼</m:t>
                              </m:r>
                              <m:r>
                                <a:rPr lang="es-EC" sz="2000" i="1">
                                  <a:latin typeface="Cambria Math" panose="02040503050406030204" pitchFamily="18" charset="0"/>
                                  <a:ea typeface="Cambria Math" panose="02040503050406030204" pitchFamily="18" charset="0"/>
                                </a:rPr>
                                <m:t>−2</m:t>
                              </m:r>
                            </m:sup>
                          </m:sSup>
                          <m:sSup>
                            <m:sSupPr>
                              <m:ctrlPr>
                                <a:rPr lang="es-EC" sz="2000" i="1">
                                  <a:latin typeface="Cambria Math" panose="02040503050406030204" pitchFamily="18" charset="0"/>
                                  <a:ea typeface="Cambria Math" panose="02040503050406030204" pitchFamily="18" charset="0"/>
                                </a:rPr>
                              </m:ctrlPr>
                            </m:sSupPr>
                            <m:e>
                              <m:r>
                                <a:rPr lang="es-EC" sz="2000" i="1">
                                  <a:latin typeface="Cambria Math" panose="02040503050406030204" pitchFamily="18" charset="0"/>
                                  <a:ea typeface="Cambria Math" panose="02040503050406030204" pitchFamily="18" charset="0"/>
                                </a:rPr>
                                <m:t>𝑒</m:t>
                              </m:r>
                            </m:e>
                            <m:sup>
                              <m:r>
                                <a:rPr lang="es-EC" sz="2000" i="1">
                                  <a:latin typeface="Cambria Math" panose="02040503050406030204" pitchFamily="18" charset="0"/>
                                  <a:ea typeface="Cambria Math" panose="02040503050406030204" pitchFamily="18" charset="0"/>
                                </a:rPr>
                                <m:t>−</m:t>
                              </m:r>
                              <m:r>
                                <a:rPr lang="es-EC" sz="2000" i="1">
                                  <a:latin typeface="Cambria Math" panose="02040503050406030204" pitchFamily="18" charset="0"/>
                                  <a:ea typeface="Cambria Math" panose="02040503050406030204" pitchFamily="18" charset="0"/>
                                </a:rPr>
                                <m:t>𝑥</m:t>
                              </m:r>
                            </m:sup>
                          </m:sSup>
                          <m:r>
                            <a:rPr lang="es-EC" sz="2000" b="0" i="1" smtClean="0">
                              <a:latin typeface="Cambria Math" panose="02040503050406030204" pitchFamily="18" charset="0"/>
                              <a:ea typeface="Cambria Math" panose="02040503050406030204" pitchFamily="18" charset="0"/>
                            </a:rPr>
                            <m:t>𝑑𝑥</m:t>
                          </m:r>
                        </m:e>
                      </m:nary>
                    </m:oMath>
                  </m:oMathPara>
                </a14:m>
                <a:endParaRPr lang="es-EC" sz="2000" dirty="0"/>
              </a:p>
            </p:txBody>
          </p:sp>
        </mc:Choice>
        <mc:Fallback xmlns="">
          <p:sp>
            <p:nvSpPr>
              <p:cNvPr id="19" name="CuadroTexto 18"/>
              <p:cNvSpPr txBox="1">
                <a:spLocks noRot="1" noChangeAspect="1" noMove="1" noResize="1" noEditPoints="1" noAdjustHandles="1" noChangeArrowheads="1" noChangeShapeType="1" noTextEdit="1"/>
              </p:cNvSpPr>
              <p:nvPr/>
            </p:nvSpPr>
            <p:spPr>
              <a:xfrm>
                <a:off x="5901504" y="2739873"/>
                <a:ext cx="4128510" cy="901529"/>
              </a:xfrm>
              <a:prstGeom prst="rect">
                <a:avLst/>
              </a:prstGeom>
              <a:blipFill rotWithShape="0">
                <a:blip r:embed="rId5"/>
                <a:stretch>
                  <a:fillRect/>
                </a:stretch>
              </a:blipFill>
            </p:spPr>
            <p:txBody>
              <a:bodyPr/>
              <a:lstStyle/>
              <a:p>
                <a:r>
                  <a:rPr lang="es-EC">
                    <a:noFill/>
                  </a:rPr>
                  <a:t> </a:t>
                </a:r>
              </a:p>
            </p:txBody>
          </p:sp>
        </mc:Fallback>
      </mc:AlternateContent>
      <p:sp>
        <p:nvSpPr>
          <p:cNvPr id="20" name="Rectángulo 19"/>
          <p:cNvSpPr/>
          <p:nvPr/>
        </p:nvSpPr>
        <p:spPr>
          <a:xfrm>
            <a:off x="1261203" y="3946390"/>
            <a:ext cx="1229824" cy="461665"/>
          </a:xfrm>
          <a:prstGeom prst="rect">
            <a:avLst/>
          </a:prstGeom>
        </p:spPr>
        <p:txBody>
          <a:bodyPr wrap="none">
            <a:spAutoFit/>
          </a:bodyPr>
          <a:lstStyle/>
          <a:p>
            <a:r>
              <a:rPr lang="es-EC" sz="2400" b="1" dirty="0"/>
              <a:t>Es decir </a:t>
            </a:r>
            <a:endParaRPr lang="es-EC" sz="2400" b="1" baseline="60000" dirty="0"/>
          </a:p>
        </p:txBody>
      </p:sp>
      <mc:AlternateContent xmlns:mc="http://schemas.openxmlformats.org/markup-compatibility/2006" xmlns:a14="http://schemas.microsoft.com/office/drawing/2010/main">
        <mc:Choice Requires="a14">
          <p:sp>
            <p:nvSpPr>
              <p:cNvPr id="21" name="CuadroTexto 20"/>
              <p:cNvSpPr txBox="1"/>
              <p:nvPr/>
            </p:nvSpPr>
            <p:spPr>
              <a:xfrm>
                <a:off x="2982506" y="3946390"/>
                <a:ext cx="452188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800" i="0" smtClean="0">
                          <a:latin typeface="Cambria Math" panose="02040503050406030204" pitchFamily="18" charset="0"/>
                          <a:ea typeface="Cambria Math" panose="02040503050406030204" pitchFamily="18" charset="0"/>
                        </a:rPr>
                        <m:t>Γ</m:t>
                      </m:r>
                      <m:d>
                        <m:dPr>
                          <m:ctrlPr>
                            <a:rPr lang="el-GR" sz="2800" i="1" smtClean="0">
                              <a:latin typeface="Cambria Math" panose="02040503050406030204" pitchFamily="18" charset="0"/>
                              <a:ea typeface="Cambria Math" panose="02040503050406030204" pitchFamily="18" charset="0"/>
                            </a:rPr>
                          </m:ctrlPr>
                        </m:dPr>
                        <m:e>
                          <m:r>
                            <m:rPr>
                              <m:sty m:val="p"/>
                            </m:rPr>
                            <a:rPr lang="el-GR" sz="2800" i="0" smtClean="0">
                              <a:latin typeface="Cambria Math" panose="02040503050406030204" pitchFamily="18" charset="0"/>
                              <a:ea typeface="Cambria Math" panose="02040503050406030204" pitchFamily="18" charset="0"/>
                            </a:rPr>
                            <m:t>α</m:t>
                          </m:r>
                        </m:e>
                      </m:d>
                      <m:r>
                        <a:rPr lang="es-EC" sz="2800" b="0" i="0" smtClean="0">
                          <a:latin typeface="Cambria Math" panose="02040503050406030204" pitchFamily="18" charset="0"/>
                          <a:ea typeface="Cambria Math" panose="02040503050406030204" pitchFamily="18" charset="0"/>
                        </a:rPr>
                        <m:t>=(</m:t>
                      </m:r>
                      <m:r>
                        <m:rPr>
                          <m:sty m:val="p"/>
                        </m:rPr>
                        <a:rPr lang="es-EC" sz="2800" b="0" i="0" smtClean="0">
                          <a:latin typeface="Cambria Math" panose="02040503050406030204" pitchFamily="18" charset="0"/>
                          <a:ea typeface="Cambria Math" panose="02040503050406030204" pitchFamily="18" charset="0"/>
                        </a:rPr>
                        <m:t>α</m:t>
                      </m:r>
                      <m:r>
                        <a:rPr lang="es-EC" sz="2800" b="0" i="0" smtClean="0">
                          <a:latin typeface="Cambria Math" panose="02040503050406030204" pitchFamily="18" charset="0"/>
                          <a:ea typeface="Cambria Math" panose="02040503050406030204" pitchFamily="18" charset="0"/>
                        </a:rPr>
                        <m:t>−1)</m:t>
                      </m:r>
                      <m:r>
                        <m:rPr>
                          <m:sty m:val="p"/>
                        </m:rPr>
                        <a:rPr lang="el-GR" sz="2800" i="0">
                          <a:latin typeface="Cambria Math" panose="02040503050406030204" pitchFamily="18" charset="0"/>
                          <a:ea typeface="Cambria Math" panose="02040503050406030204" pitchFamily="18" charset="0"/>
                        </a:rPr>
                        <m:t>Γ</m:t>
                      </m:r>
                      <m:d>
                        <m:dPr>
                          <m:ctrlPr>
                            <a:rPr lang="el-GR" sz="2800" i="1">
                              <a:latin typeface="Cambria Math" panose="02040503050406030204" pitchFamily="18" charset="0"/>
                              <a:ea typeface="Cambria Math" panose="02040503050406030204" pitchFamily="18" charset="0"/>
                            </a:rPr>
                          </m:ctrlPr>
                        </m:dPr>
                        <m:e>
                          <m:r>
                            <m:rPr>
                              <m:sty m:val="p"/>
                            </m:rPr>
                            <a:rPr lang="el-GR" sz="2800" i="0">
                              <a:latin typeface="Cambria Math" panose="02040503050406030204" pitchFamily="18" charset="0"/>
                              <a:ea typeface="Cambria Math" panose="02040503050406030204" pitchFamily="18" charset="0"/>
                            </a:rPr>
                            <m:t>α</m:t>
                          </m:r>
                          <m:r>
                            <a:rPr lang="es-EC" sz="2800" b="0" i="0" smtClean="0">
                              <a:latin typeface="Cambria Math" panose="02040503050406030204" pitchFamily="18" charset="0"/>
                              <a:ea typeface="Cambria Math" panose="02040503050406030204" pitchFamily="18" charset="0"/>
                            </a:rPr>
                            <m:t>−1</m:t>
                          </m:r>
                        </m:e>
                      </m:d>
                    </m:oMath>
                  </m:oMathPara>
                </a14:m>
                <a:endParaRPr lang="es-EC" sz="2800" dirty="0"/>
              </a:p>
            </p:txBody>
          </p:sp>
        </mc:Choice>
        <mc:Fallback xmlns="">
          <p:sp>
            <p:nvSpPr>
              <p:cNvPr id="21" name="CuadroTexto 20"/>
              <p:cNvSpPr txBox="1">
                <a:spLocks noRot="1" noChangeAspect="1" noMove="1" noResize="1" noEditPoints="1" noAdjustHandles="1" noChangeArrowheads="1" noChangeShapeType="1" noTextEdit="1"/>
              </p:cNvSpPr>
              <p:nvPr/>
            </p:nvSpPr>
            <p:spPr>
              <a:xfrm>
                <a:off x="2982506" y="3946390"/>
                <a:ext cx="4521880" cy="430887"/>
              </a:xfrm>
              <a:prstGeom prst="rect">
                <a:avLst/>
              </a:prstGeom>
              <a:blipFill rotWithShape="0">
                <a:blip r:embed="rId6"/>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7" name="Rectángulo 16"/>
              <p:cNvSpPr/>
              <p:nvPr/>
            </p:nvSpPr>
            <p:spPr>
              <a:xfrm>
                <a:off x="8064509" y="1953201"/>
                <a:ext cx="1025665" cy="461665"/>
              </a:xfrm>
              <a:prstGeom prst="rect">
                <a:avLst/>
              </a:prstGeom>
            </p:spPr>
            <p:txBody>
              <a:bodyPr wrap="none">
                <a:spAutoFit/>
              </a:bodyPr>
              <a:lstStyle/>
              <a:p>
                <a14:m>
                  <m:oMath xmlns:m="http://schemas.openxmlformats.org/officeDocument/2006/math">
                    <m:r>
                      <m:rPr>
                        <m:sty m:val="p"/>
                      </m:rPr>
                      <a:rPr lang="el-GR" sz="2400" i="1">
                        <a:latin typeface="Cambria Math" panose="02040503050406030204" pitchFamily="18" charset="0"/>
                        <a:ea typeface="Cambria Math" panose="02040503050406030204" pitchFamily="18" charset="0"/>
                      </a:rPr>
                      <m:t>α</m:t>
                    </m:r>
                    <m:r>
                      <a:rPr lang="es-EC" sz="2400" i="1">
                        <a:latin typeface="Cambria Math" panose="02040503050406030204" pitchFamily="18" charset="0"/>
                        <a:ea typeface="Cambria Math" panose="02040503050406030204" pitchFamily="18" charset="0"/>
                      </a:rPr>
                      <m:t>&gt;0</m:t>
                    </m:r>
                  </m:oMath>
                </a14:m>
                <a:r>
                  <a:rPr lang="es-EC" sz="2400" dirty="0"/>
                  <a:t> </a:t>
                </a:r>
              </a:p>
            </p:txBody>
          </p:sp>
        </mc:Choice>
        <mc:Fallback xmlns="">
          <p:sp>
            <p:nvSpPr>
              <p:cNvPr id="17" name="Rectángulo 16"/>
              <p:cNvSpPr>
                <a:spLocks noRot="1" noChangeAspect="1" noMove="1" noResize="1" noEditPoints="1" noAdjustHandles="1" noChangeArrowheads="1" noChangeShapeType="1" noTextEdit="1"/>
              </p:cNvSpPr>
              <p:nvPr/>
            </p:nvSpPr>
            <p:spPr>
              <a:xfrm>
                <a:off x="8064509" y="1953201"/>
                <a:ext cx="1025665" cy="461665"/>
              </a:xfrm>
              <a:prstGeom prst="rect">
                <a:avLst/>
              </a:prstGeom>
              <a:blipFill rotWithShape="0">
                <a:blip r:embed="rId7"/>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23" name="CuadroTexto 22"/>
              <p:cNvSpPr txBox="1"/>
              <p:nvPr/>
            </p:nvSpPr>
            <p:spPr>
              <a:xfrm>
                <a:off x="2986667" y="4621161"/>
                <a:ext cx="555869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l-GR" sz="2800" i="1" smtClean="0">
                          <a:latin typeface="Cambria Math" panose="02040503050406030204" pitchFamily="18" charset="0"/>
                          <a:ea typeface="Cambria Math" panose="02040503050406030204" pitchFamily="18" charset="0"/>
                        </a:rPr>
                        <m:t>𝛤</m:t>
                      </m:r>
                      <m:r>
                        <a:rPr lang="el-GR" sz="2800" i="1" smtClean="0">
                          <a:latin typeface="Cambria Math" panose="02040503050406030204" pitchFamily="18" charset="0"/>
                          <a:ea typeface="Cambria Math" panose="02040503050406030204" pitchFamily="18" charset="0"/>
                        </a:rPr>
                        <m:t>(</m:t>
                      </m:r>
                      <m:r>
                        <a:rPr lang="el-GR" sz="2800" i="1" smtClean="0">
                          <a:latin typeface="Cambria Math" panose="02040503050406030204" pitchFamily="18" charset="0"/>
                          <a:ea typeface="Cambria Math" panose="02040503050406030204" pitchFamily="18" charset="0"/>
                        </a:rPr>
                        <m:t>𝛼</m:t>
                      </m:r>
                      <m:r>
                        <a:rPr lang="el-GR" sz="2800" i="1" smtClean="0">
                          <a:latin typeface="Cambria Math" panose="02040503050406030204" pitchFamily="18" charset="0"/>
                          <a:ea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𝛼</m:t>
                      </m:r>
                      <m:r>
                        <a:rPr lang="es-EC" sz="2800" b="0" i="1" smtClean="0">
                          <a:latin typeface="Cambria Math" panose="02040503050406030204" pitchFamily="18" charset="0"/>
                          <a:ea typeface="Cambria Math" panose="02040503050406030204" pitchFamily="18" charset="0"/>
                        </a:rPr>
                        <m:t>−1)(</m:t>
                      </m:r>
                      <m:r>
                        <a:rPr lang="es-EC" sz="2800" i="1">
                          <a:latin typeface="Cambria Math" panose="02040503050406030204" pitchFamily="18" charset="0"/>
                          <a:ea typeface="Cambria Math" panose="02040503050406030204" pitchFamily="18" charset="0"/>
                        </a:rPr>
                        <m:t>𝛼</m:t>
                      </m:r>
                      <m:r>
                        <a:rPr lang="es-EC" sz="2800" i="1">
                          <a:latin typeface="Cambria Math" panose="02040503050406030204" pitchFamily="18" charset="0"/>
                          <a:ea typeface="Cambria Math" panose="02040503050406030204" pitchFamily="18" charset="0"/>
                        </a:rPr>
                        <m:t>−2)</m:t>
                      </m:r>
                      <m:r>
                        <m:rPr>
                          <m:sty m:val="p"/>
                        </m:rPr>
                        <a:rPr lang="el-GR" sz="2800" i="1">
                          <a:latin typeface="Cambria Math" panose="02040503050406030204" pitchFamily="18" charset="0"/>
                          <a:ea typeface="Cambria Math" panose="02040503050406030204" pitchFamily="18" charset="0"/>
                        </a:rPr>
                        <m:t>Γ</m:t>
                      </m:r>
                      <m:d>
                        <m:dPr>
                          <m:ctrlPr>
                            <a:rPr lang="el-GR" sz="2800" i="1">
                              <a:latin typeface="Cambria Math" panose="02040503050406030204" pitchFamily="18" charset="0"/>
                              <a:ea typeface="Cambria Math" panose="02040503050406030204" pitchFamily="18" charset="0"/>
                            </a:rPr>
                          </m:ctrlPr>
                        </m:dPr>
                        <m:e>
                          <m:r>
                            <a:rPr lang="el-GR" sz="2800" i="1">
                              <a:latin typeface="Cambria Math" panose="02040503050406030204" pitchFamily="18" charset="0"/>
                              <a:ea typeface="Cambria Math" panose="02040503050406030204" pitchFamily="18" charset="0"/>
                            </a:rPr>
                            <m:t>𝛼</m:t>
                          </m:r>
                          <m:r>
                            <a:rPr lang="es-EC" sz="2800" b="0" i="1" smtClean="0">
                              <a:latin typeface="Cambria Math" panose="02040503050406030204" pitchFamily="18" charset="0"/>
                              <a:ea typeface="Cambria Math" panose="02040503050406030204" pitchFamily="18" charset="0"/>
                            </a:rPr>
                            <m:t>−2</m:t>
                          </m:r>
                        </m:e>
                      </m:d>
                    </m:oMath>
                  </m:oMathPara>
                </a14:m>
                <a:endParaRPr lang="es-EC" sz="2800" dirty="0"/>
              </a:p>
            </p:txBody>
          </p:sp>
        </mc:Choice>
        <mc:Fallback xmlns="">
          <p:sp>
            <p:nvSpPr>
              <p:cNvPr id="23" name="CuadroTexto 22"/>
              <p:cNvSpPr txBox="1">
                <a:spLocks noRot="1" noChangeAspect="1" noMove="1" noResize="1" noEditPoints="1" noAdjustHandles="1" noChangeArrowheads="1" noChangeShapeType="1" noTextEdit="1"/>
              </p:cNvSpPr>
              <p:nvPr/>
            </p:nvSpPr>
            <p:spPr>
              <a:xfrm>
                <a:off x="2986667" y="4621161"/>
                <a:ext cx="5558698" cy="430887"/>
              </a:xfrm>
              <a:prstGeom prst="rect">
                <a:avLst/>
              </a:prstGeom>
              <a:blipFill rotWithShape="0">
                <a:blip r:embed="rId8"/>
                <a:stretch>
                  <a:fillRect/>
                </a:stretch>
              </a:blipFill>
            </p:spPr>
            <p:txBody>
              <a:bodyPr/>
              <a:lstStyle/>
              <a:p>
                <a:r>
                  <a:rPr lang="es-EC">
                    <a:noFill/>
                  </a:rPr>
                  <a:t> </a:t>
                </a:r>
              </a:p>
            </p:txBody>
          </p:sp>
        </mc:Fallback>
      </mc:AlternateContent>
      <p:sp>
        <p:nvSpPr>
          <p:cNvPr id="24" name="Rectángulo 23"/>
          <p:cNvSpPr/>
          <p:nvPr/>
        </p:nvSpPr>
        <p:spPr>
          <a:xfrm>
            <a:off x="1194838" y="5277685"/>
            <a:ext cx="3641831" cy="461665"/>
          </a:xfrm>
          <a:prstGeom prst="rect">
            <a:avLst/>
          </a:prstGeom>
        </p:spPr>
        <p:txBody>
          <a:bodyPr wrap="none">
            <a:spAutoFit/>
          </a:bodyPr>
          <a:lstStyle/>
          <a:p>
            <a:r>
              <a:rPr lang="es-EC" sz="2400" b="1" dirty="0"/>
              <a:t>Si </a:t>
            </a:r>
            <a:r>
              <a:rPr lang="el-GR" sz="2400" b="1" dirty="0"/>
              <a:t>α</a:t>
            </a:r>
            <a:r>
              <a:rPr lang="es-EC" sz="2400" b="1" dirty="0"/>
              <a:t> es un entero positivo n</a:t>
            </a:r>
          </a:p>
        </p:txBody>
      </p:sp>
      <mc:AlternateContent xmlns:mc="http://schemas.openxmlformats.org/markup-compatibility/2006" xmlns:a14="http://schemas.microsoft.com/office/drawing/2010/main">
        <mc:Choice Requires="a14">
          <p:sp>
            <p:nvSpPr>
              <p:cNvPr id="22" name="Rectángulo 21"/>
              <p:cNvSpPr/>
              <p:nvPr/>
            </p:nvSpPr>
            <p:spPr>
              <a:xfrm>
                <a:off x="4997136" y="5295932"/>
                <a:ext cx="24284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2400" b="1" i="1" smtClean="0">
                          <a:latin typeface="Cambria Math" panose="02040503050406030204" pitchFamily="18" charset="0"/>
                          <a:ea typeface="Cambria Math" panose="02040503050406030204" pitchFamily="18" charset="0"/>
                        </a:rPr>
                        <m:t>𝜞</m:t>
                      </m:r>
                      <m:d>
                        <m:dPr>
                          <m:ctrlPr>
                            <a:rPr lang="el-GR" sz="2400" b="1" i="1">
                              <a:latin typeface="Cambria Math" panose="02040503050406030204" pitchFamily="18" charset="0"/>
                              <a:ea typeface="Cambria Math" panose="02040503050406030204" pitchFamily="18" charset="0"/>
                            </a:rPr>
                          </m:ctrlPr>
                        </m:dPr>
                        <m:e>
                          <m:r>
                            <a:rPr lang="es-EC" sz="2400" b="1" i="1" smtClean="0">
                              <a:latin typeface="Cambria Math" panose="02040503050406030204" pitchFamily="18" charset="0"/>
                              <a:ea typeface="Cambria Math" panose="02040503050406030204" pitchFamily="18" charset="0"/>
                            </a:rPr>
                            <m:t>𝒏</m:t>
                          </m:r>
                        </m:e>
                      </m:d>
                      <m:r>
                        <a:rPr lang="es-EC" sz="2400" b="1" i="1">
                          <a:latin typeface="Cambria Math" panose="02040503050406030204" pitchFamily="18" charset="0"/>
                          <a:ea typeface="Cambria Math" panose="02040503050406030204" pitchFamily="18" charset="0"/>
                        </a:rPr>
                        <m:t>=</m:t>
                      </m:r>
                      <m:d>
                        <m:dPr>
                          <m:ctrlPr>
                            <a:rPr lang="es-EC" sz="2400" b="1" i="1" smtClean="0">
                              <a:latin typeface="Cambria Math" panose="02040503050406030204" pitchFamily="18" charset="0"/>
                              <a:ea typeface="Cambria Math" panose="02040503050406030204" pitchFamily="18" charset="0"/>
                            </a:rPr>
                          </m:ctrlPr>
                        </m:dPr>
                        <m:e>
                          <m:r>
                            <a:rPr lang="es-EC" sz="2400" b="1" i="1" smtClean="0">
                              <a:latin typeface="Cambria Math" panose="02040503050406030204" pitchFamily="18" charset="0"/>
                              <a:ea typeface="Cambria Math" panose="02040503050406030204" pitchFamily="18" charset="0"/>
                            </a:rPr>
                            <m:t>𝒏</m:t>
                          </m:r>
                          <m:r>
                            <a:rPr lang="es-EC" sz="2400" b="1" i="1" smtClean="0">
                              <a:latin typeface="Cambria Math" panose="02040503050406030204" pitchFamily="18" charset="0"/>
                              <a:ea typeface="Cambria Math" panose="02040503050406030204" pitchFamily="18" charset="0"/>
                            </a:rPr>
                            <m:t>−</m:t>
                          </m:r>
                          <m:r>
                            <a:rPr lang="es-EC" sz="2400" b="1" i="1" smtClean="0">
                              <a:latin typeface="Cambria Math" panose="02040503050406030204" pitchFamily="18" charset="0"/>
                              <a:ea typeface="Cambria Math" panose="02040503050406030204" pitchFamily="18" charset="0"/>
                            </a:rPr>
                            <m:t>𝟏</m:t>
                          </m:r>
                        </m:e>
                      </m:d>
                      <m:r>
                        <a:rPr lang="es-EC" sz="2400" b="1" i="1" smtClean="0">
                          <a:latin typeface="Cambria Math" panose="02040503050406030204" pitchFamily="18" charset="0"/>
                          <a:ea typeface="Cambria Math" panose="02040503050406030204" pitchFamily="18" charset="0"/>
                        </a:rPr>
                        <m:t>!</m:t>
                      </m:r>
                    </m:oMath>
                  </m:oMathPara>
                </a14:m>
                <a:endParaRPr lang="es-EC" sz="2400" b="1" dirty="0"/>
              </a:p>
            </p:txBody>
          </p:sp>
        </mc:Choice>
        <mc:Fallback xmlns="">
          <p:sp>
            <p:nvSpPr>
              <p:cNvPr id="22" name="Rectángulo 21"/>
              <p:cNvSpPr>
                <a:spLocks noRot="1" noChangeAspect="1" noMove="1" noResize="1" noEditPoints="1" noAdjustHandles="1" noChangeArrowheads="1" noChangeShapeType="1" noTextEdit="1"/>
              </p:cNvSpPr>
              <p:nvPr/>
            </p:nvSpPr>
            <p:spPr>
              <a:xfrm>
                <a:off x="4997136" y="5295932"/>
                <a:ext cx="2428422" cy="461665"/>
              </a:xfrm>
              <a:prstGeom prst="rect">
                <a:avLst/>
              </a:prstGeom>
              <a:blipFill rotWithShape="0">
                <a:blip r:embed="rId9"/>
                <a:stretch>
                  <a:fillRect/>
                </a:stretch>
              </a:blipFill>
            </p:spPr>
            <p:txBody>
              <a:bodyPr/>
              <a:lstStyle/>
              <a:p>
                <a:r>
                  <a:rPr lang="es-EC">
                    <a:noFill/>
                  </a:rPr>
                  <a:t> </a:t>
                </a:r>
              </a:p>
            </p:txBody>
          </p:sp>
        </mc:Fallback>
      </mc:AlternateContent>
      <p:sp>
        <p:nvSpPr>
          <p:cNvPr id="27" name="Rectángulo 26"/>
          <p:cNvSpPr/>
          <p:nvPr/>
        </p:nvSpPr>
        <p:spPr>
          <a:xfrm>
            <a:off x="1341192" y="5981838"/>
            <a:ext cx="1391728" cy="461665"/>
          </a:xfrm>
          <a:prstGeom prst="rect">
            <a:avLst/>
          </a:prstGeom>
        </p:spPr>
        <p:txBody>
          <a:bodyPr wrap="none">
            <a:spAutoFit/>
          </a:bodyPr>
          <a:lstStyle/>
          <a:p>
            <a:r>
              <a:rPr lang="es-EC" sz="2400" b="1" dirty="0"/>
              <a:t>Si </a:t>
            </a:r>
            <a:r>
              <a:rPr lang="el-GR" sz="2400" b="1" dirty="0"/>
              <a:t>α</a:t>
            </a:r>
            <a:r>
              <a:rPr lang="es-EC" sz="2400" b="1" dirty="0"/>
              <a:t> = 1/2</a:t>
            </a:r>
          </a:p>
        </p:txBody>
      </p:sp>
      <mc:AlternateContent xmlns:mc="http://schemas.openxmlformats.org/markup-compatibility/2006" xmlns:a14="http://schemas.microsoft.com/office/drawing/2010/main">
        <mc:Choice Requires="a14">
          <p:sp>
            <p:nvSpPr>
              <p:cNvPr id="28" name="Rectángulo 27"/>
              <p:cNvSpPr/>
              <p:nvPr/>
            </p:nvSpPr>
            <p:spPr>
              <a:xfrm>
                <a:off x="3095496" y="5976324"/>
                <a:ext cx="2061911" cy="4671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2400" b="1" i="1" smtClean="0">
                          <a:latin typeface="Cambria Math" panose="02040503050406030204" pitchFamily="18" charset="0"/>
                          <a:ea typeface="Cambria Math" panose="02040503050406030204" pitchFamily="18" charset="0"/>
                        </a:rPr>
                        <m:t>𝜞</m:t>
                      </m:r>
                      <m:d>
                        <m:dPr>
                          <m:ctrlPr>
                            <a:rPr lang="el-GR" sz="2400" b="1" i="1">
                              <a:latin typeface="Cambria Math" panose="02040503050406030204" pitchFamily="18" charset="0"/>
                              <a:ea typeface="Cambria Math" panose="02040503050406030204" pitchFamily="18" charset="0"/>
                            </a:rPr>
                          </m:ctrlPr>
                        </m:dPr>
                        <m:e>
                          <m:r>
                            <a:rPr lang="es-EC" sz="2400" b="1" i="1" smtClean="0">
                              <a:latin typeface="Cambria Math" panose="02040503050406030204" pitchFamily="18" charset="0"/>
                              <a:ea typeface="Cambria Math" panose="02040503050406030204" pitchFamily="18" charset="0"/>
                            </a:rPr>
                            <m:t>𝟏</m:t>
                          </m:r>
                          <m:r>
                            <a:rPr lang="es-EC" sz="2400" b="1" i="1" smtClean="0">
                              <a:latin typeface="Cambria Math" panose="02040503050406030204" pitchFamily="18" charset="0"/>
                              <a:ea typeface="Cambria Math" panose="02040503050406030204" pitchFamily="18" charset="0"/>
                            </a:rPr>
                            <m:t>/</m:t>
                          </m:r>
                          <m:r>
                            <a:rPr lang="es-EC" sz="2400" b="1" i="1" smtClean="0">
                              <a:latin typeface="Cambria Math" panose="02040503050406030204" pitchFamily="18" charset="0"/>
                              <a:ea typeface="Cambria Math" panose="02040503050406030204" pitchFamily="18" charset="0"/>
                            </a:rPr>
                            <m:t>𝟐</m:t>
                          </m:r>
                        </m:e>
                      </m:d>
                      <m:r>
                        <a:rPr lang="es-EC" sz="2400" b="1" i="1">
                          <a:latin typeface="Cambria Math" panose="02040503050406030204" pitchFamily="18" charset="0"/>
                          <a:ea typeface="Cambria Math" panose="02040503050406030204" pitchFamily="18" charset="0"/>
                        </a:rPr>
                        <m:t>=</m:t>
                      </m:r>
                      <m:rad>
                        <m:radPr>
                          <m:degHide m:val="on"/>
                          <m:ctrlPr>
                            <a:rPr lang="es-EC" sz="2400" b="1" i="1" smtClean="0">
                              <a:latin typeface="Cambria Math" panose="02040503050406030204" pitchFamily="18" charset="0"/>
                              <a:ea typeface="Cambria Math" panose="02040503050406030204" pitchFamily="18" charset="0"/>
                            </a:rPr>
                          </m:ctrlPr>
                        </m:radPr>
                        <m:deg/>
                        <m:e>
                          <m:r>
                            <a:rPr lang="es-EC" sz="2400" b="1" i="1" smtClean="0">
                              <a:latin typeface="Cambria Math" panose="02040503050406030204" pitchFamily="18" charset="0"/>
                              <a:ea typeface="Cambria Math" panose="02040503050406030204" pitchFamily="18" charset="0"/>
                            </a:rPr>
                            <m:t>𝝅</m:t>
                          </m:r>
                        </m:e>
                      </m:rad>
                    </m:oMath>
                  </m:oMathPara>
                </a14:m>
                <a:endParaRPr lang="es-EC" sz="2400" b="1" dirty="0"/>
              </a:p>
            </p:txBody>
          </p:sp>
        </mc:Choice>
        <mc:Fallback xmlns="">
          <p:sp>
            <p:nvSpPr>
              <p:cNvPr id="28" name="Rectángulo 27"/>
              <p:cNvSpPr>
                <a:spLocks noRot="1" noChangeAspect="1" noMove="1" noResize="1" noEditPoints="1" noAdjustHandles="1" noChangeArrowheads="1" noChangeShapeType="1" noTextEdit="1"/>
              </p:cNvSpPr>
              <p:nvPr/>
            </p:nvSpPr>
            <p:spPr>
              <a:xfrm>
                <a:off x="3095496" y="5976324"/>
                <a:ext cx="2061911" cy="467179"/>
              </a:xfrm>
              <a:prstGeom prst="rect">
                <a:avLst/>
              </a:prstGeom>
              <a:blipFill rotWithShape="0">
                <a:blip r:embed="rId10"/>
                <a:stretch>
                  <a:fillRect b="-16883"/>
                </a:stretch>
              </a:blipFill>
            </p:spPr>
            <p:txBody>
              <a:bodyPr/>
              <a:lstStyle/>
              <a:p>
                <a:r>
                  <a:rPr lang="es-EC">
                    <a:noFill/>
                  </a:rPr>
                  <a:t> </a:t>
                </a:r>
              </a:p>
            </p:txBody>
          </p:sp>
        </mc:Fallback>
      </mc:AlternateContent>
      <p:sp>
        <p:nvSpPr>
          <p:cNvPr id="26" name="CuadroTexto 25"/>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1445315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704888" y="908669"/>
            <a:ext cx="4683718" cy="523220"/>
          </a:xfrm>
          <a:prstGeom prst="rect">
            <a:avLst/>
          </a:prstGeom>
        </p:spPr>
        <p:txBody>
          <a:bodyPr wrap="none">
            <a:spAutoFit/>
          </a:bodyPr>
          <a:lstStyle/>
          <a:p>
            <a:r>
              <a:rPr lang="es-EC" sz="2800" b="1" dirty="0"/>
              <a:t>Modelos Aleatorios Continuos</a:t>
            </a:r>
          </a:p>
        </p:txBody>
      </p:sp>
      <p:sp>
        <p:nvSpPr>
          <p:cNvPr id="4" name="Rectángulo 3"/>
          <p:cNvSpPr/>
          <p:nvPr/>
        </p:nvSpPr>
        <p:spPr>
          <a:xfrm>
            <a:off x="704888" y="1484596"/>
            <a:ext cx="3237553" cy="523220"/>
          </a:xfrm>
          <a:prstGeom prst="rect">
            <a:avLst/>
          </a:prstGeom>
        </p:spPr>
        <p:txBody>
          <a:bodyPr wrap="none">
            <a:spAutoFit/>
          </a:bodyPr>
          <a:lstStyle/>
          <a:p>
            <a:r>
              <a:rPr lang="es-EC" sz="2800" b="1" dirty="0"/>
              <a:t>Distribución Gamma</a:t>
            </a:r>
          </a:p>
        </p:txBody>
      </p:sp>
      <p:sp>
        <p:nvSpPr>
          <p:cNvPr id="5" name="Rectángulo 4"/>
          <p:cNvSpPr/>
          <p:nvPr/>
        </p:nvSpPr>
        <p:spPr>
          <a:xfrm>
            <a:off x="708680" y="2074757"/>
            <a:ext cx="10120055" cy="830997"/>
          </a:xfrm>
          <a:prstGeom prst="rect">
            <a:avLst/>
          </a:prstGeom>
        </p:spPr>
        <p:txBody>
          <a:bodyPr wrap="square">
            <a:spAutoFit/>
          </a:bodyPr>
          <a:lstStyle/>
          <a:p>
            <a:r>
              <a:rPr lang="es-EC" sz="2400" dirty="0"/>
              <a:t>X tiene una distribución Gamma, con parámetros </a:t>
            </a:r>
            <a:r>
              <a:rPr lang="el-GR" sz="2400" dirty="0"/>
              <a:t>α</a:t>
            </a:r>
            <a:r>
              <a:rPr lang="es-EC" sz="2400" dirty="0"/>
              <a:t> &gt; 0 y </a:t>
            </a:r>
            <a:r>
              <a:rPr lang="el-GR" sz="2400" dirty="0"/>
              <a:t>β</a:t>
            </a:r>
            <a:r>
              <a:rPr lang="es-EC" sz="2400" dirty="0"/>
              <a:t> &gt; 0; si su función de densidad está dada por </a:t>
            </a:r>
          </a:p>
        </p:txBody>
      </p:sp>
      <mc:AlternateContent xmlns:mc="http://schemas.openxmlformats.org/markup-compatibility/2006" xmlns:a14="http://schemas.microsoft.com/office/drawing/2010/main">
        <mc:Choice Requires="a14">
          <p:sp>
            <p:nvSpPr>
              <p:cNvPr id="6" name="CuadroTexto 5"/>
              <p:cNvSpPr txBox="1"/>
              <p:nvPr/>
            </p:nvSpPr>
            <p:spPr>
              <a:xfrm>
                <a:off x="3152238" y="3069279"/>
                <a:ext cx="5291675" cy="20158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𝑓</m:t>
                      </m:r>
                      <m:d>
                        <m:dPr>
                          <m:ctrlPr>
                            <a:rPr lang="pt-BR" sz="2400" i="1" smtClean="0">
                              <a:latin typeface="Cambria Math" panose="02040503050406030204" pitchFamily="18" charset="0"/>
                              <a:ea typeface="Cambria Math" panose="02040503050406030204" pitchFamily="18" charset="0"/>
                            </a:rPr>
                          </m:ctrlPr>
                        </m:dPr>
                        <m:e>
                          <m:r>
                            <a:rPr lang="pt-BR" sz="2400" i="1" smtClean="0">
                              <a:latin typeface="Cambria Math" panose="02040503050406030204" pitchFamily="18" charset="0"/>
                              <a:ea typeface="Cambria Math" panose="02040503050406030204" pitchFamily="18" charset="0"/>
                            </a:rPr>
                            <m:t>𝑥</m:t>
                          </m:r>
                        </m:e>
                      </m:d>
                      <m:r>
                        <a:rPr lang="pt-BR" sz="2400" i="1" smtClean="0">
                          <a:latin typeface="Cambria Math" panose="02040503050406030204" pitchFamily="18" charset="0"/>
                          <a:ea typeface="Cambria Math" panose="02040503050406030204" pitchFamily="18" charset="0"/>
                        </a:rPr>
                        <m:t>=</m:t>
                      </m:r>
                      <m:d>
                        <m:dPr>
                          <m:begChr m:val="{"/>
                          <m:endChr m:val=""/>
                          <m:ctrlPr>
                            <a:rPr lang="pt-BR" sz="2400" i="1" smtClean="0">
                              <a:latin typeface="Cambria Math" panose="02040503050406030204" pitchFamily="18" charset="0"/>
                              <a:ea typeface="Cambria Math" panose="02040503050406030204" pitchFamily="18" charset="0"/>
                            </a:rPr>
                          </m:ctrlPr>
                        </m:dPr>
                        <m:e>
                          <m:eqArr>
                            <m:eqArrPr>
                              <m:ctrlPr>
                                <a:rPr lang="pt-BR" sz="2400" i="1">
                                  <a:latin typeface="Cambria Math" panose="02040503050406030204" pitchFamily="18" charset="0"/>
                                  <a:ea typeface="Cambria Math" panose="02040503050406030204" pitchFamily="18" charset="0"/>
                                </a:rPr>
                              </m:ctrlPr>
                            </m:eqArrPr>
                            <m:e>
                              <m:eqArr>
                                <m:eqArrPr>
                                  <m:ctrlPr>
                                    <a:rPr lang="pt-BR" sz="2400" i="1">
                                      <a:latin typeface="Cambria Math" panose="02040503050406030204" pitchFamily="18" charset="0"/>
                                      <a:ea typeface="Cambria Math" panose="02040503050406030204" pitchFamily="18" charset="0"/>
                                    </a:rPr>
                                  </m:ctrlPr>
                                </m:eqArrPr>
                                <m:e>
                                  <m:f>
                                    <m:fPr>
                                      <m:ctrlPr>
                                        <a:rPr lang="pt-BR"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1</m:t>
                                      </m:r>
                                    </m:num>
                                    <m:den>
                                      <m:sSup>
                                        <m:sSupPr>
                                          <m:ctrlPr>
                                            <a:rPr lang="es-EC" sz="2400" i="1" smtClean="0">
                                              <a:latin typeface="Cambria Math" panose="02040503050406030204" pitchFamily="18" charset="0"/>
                                              <a:ea typeface="Cambria Math" panose="02040503050406030204" pitchFamily="18" charset="0"/>
                                            </a:rPr>
                                          </m:ctrlPr>
                                        </m:sSupPr>
                                        <m:e>
                                          <m:r>
                                            <a:rPr lang="es-EC" sz="2400" i="1" smtClean="0">
                                              <a:latin typeface="Cambria Math" panose="02040503050406030204" pitchFamily="18" charset="0"/>
                                              <a:ea typeface="Cambria Math" panose="02040503050406030204" pitchFamily="18" charset="0"/>
                                            </a:rPr>
                                            <m:t>𝛽</m:t>
                                          </m:r>
                                        </m:e>
                                        <m:sup>
                                          <m:r>
                                            <a:rPr lang="es-EC" sz="2400" i="1" smtClean="0">
                                              <a:latin typeface="Cambria Math" panose="02040503050406030204" pitchFamily="18" charset="0"/>
                                              <a:ea typeface="Cambria Math" panose="02040503050406030204" pitchFamily="18" charset="0"/>
                                            </a:rPr>
                                            <m:t>𝛼</m:t>
                                          </m:r>
                                        </m:sup>
                                      </m:sSup>
                                      <m:r>
                                        <m:rPr>
                                          <m:sty m:val="p"/>
                                        </m:rPr>
                                        <a:rPr lang="el-GR" sz="2400" i="1">
                                          <a:latin typeface="Cambria Math" panose="02040503050406030204" pitchFamily="18" charset="0"/>
                                          <a:ea typeface="Cambria Math" panose="02040503050406030204" pitchFamily="18" charset="0"/>
                                        </a:rPr>
                                        <m:t>Γ</m:t>
                                      </m:r>
                                      <m:d>
                                        <m:dPr>
                                          <m:ctrlPr>
                                            <a:rPr lang="el-GR" sz="2400" i="1">
                                              <a:latin typeface="Cambria Math" panose="02040503050406030204" pitchFamily="18" charset="0"/>
                                              <a:ea typeface="Cambria Math" panose="02040503050406030204" pitchFamily="18" charset="0"/>
                                            </a:rPr>
                                          </m:ctrlPr>
                                        </m:dPr>
                                        <m:e>
                                          <m:r>
                                            <a:rPr lang="el-GR" sz="2400" i="1">
                                              <a:latin typeface="Cambria Math" panose="02040503050406030204" pitchFamily="18" charset="0"/>
                                              <a:ea typeface="Cambria Math" panose="02040503050406030204" pitchFamily="18" charset="0"/>
                                            </a:rPr>
                                            <m:t>𝛼</m:t>
                                          </m:r>
                                        </m:e>
                                      </m:d>
                                    </m:den>
                                  </m:f>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𝑥</m:t>
                                      </m:r>
                                    </m:e>
                                    <m:sup>
                                      <m:r>
                                        <a:rPr lang="es-EC" sz="2400" i="1">
                                          <a:latin typeface="Cambria Math" panose="02040503050406030204" pitchFamily="18" charset="0"/>
                                          <a:ea typeface="Cambria Math" panose="02040503050406030204" pitchFamily="18" charset="0"/>
                                        </a:rPr>
                                        <m:t>𝛼</m:t>
                                      </m:r>
                                      <m:r>
                                        <a:rPr lang="es-EC" sz="2400" i="1">
                                          <a:latin typeface="Cambria Math" panose="02040503050406030204" pitchFamily="18" charset="0"/>
                                          <a:ea typeface="Cambria Math" panose="02040503050406030204" pitchFamily="18" charset="0"/>
                                        </a:rPr>
                                        <m:t>−1</m:t>
                                      </m:r>
                                    </m:sup>
                                  </m:sSup>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𝑒</m:t>
                                      </m:r>
                                    </m:e>
                                    <m:sup>
                                      <m:r>
                                        <a:rPr lang="es-EC" sz="2400" i="1">
                                          <a:latin typeface="Cambria Math" panose="02040503050406030204" pitchFamily="18" charset="0"/>
                                          <a:ea typeface="Cambria Math" panose="02040503050406030204" pitchFamily="18" charset="0"/>
                                        </a:rPr>
                                        <m:t>−</m:t>
                                      </m:r>
                                      <m:f>
                                        <m:fPr>
                                          <m:ctrlPr>
                                            <a:rPr lang="es-EC" sz="240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𝑥</m:t>
                                          </m:r>
                                        </m:num>
                                        <m:den>
                                          <m:r>
                                            <a:rPr lang="es-EC" sz="2400" i="1" smtClean="0">
                                              <a:latin typeface="Cambria Math" panose="02040503050406030204" pitchFamily="18" charset="0"/>
                                              <a:ea typeface="Cambria Math" panose="02040503050406030204" pitchFamily="18" charset="0"/>
                                            </a:rPr>
                                            <m:t>𝛽</m:t>
                                          </m:r>
                                        </m:den>
                                      </m:f>
                                    </m:sup>
                                  </m:sSup>
                                </m:e>
                                <m:e>
                                  <m:r>
                                    <a:rPr lang="es-EC" sz="2400" b="0" i="1" smtClean="0">
                                      <a:latin typeface="Cambria Math" panose="02040503050406030204" pitchFamily="18" charset="0"/>
                                      <a:ea typeface="Cambria Math" panose="02040503050406030204" pitchFamily="18" charset="0"/>
                                    </a:rPr>
                                    <m:t> </m:t>
                                  </m:r>
                                </m:e>
                              </m:eqAr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𝑥</m:t>
                              </m:r>
                              <m:r>
                                <a:rPr lang="es-EC" sz="2400" b="0" i="1" smtClean="0">
                                  <a:latin typeface="Cambria Math" panose="02040503050406030204" pitchFamily="18" charset="0"/>
                                  <a:ea typeface="Cambria Math" panose="02040503050406030204" pitchFamily="18" charset="0"/>
                                </a:rPr>
                                <m:t>&gt;0</m:t>
                              </m:r>
                            </m:e>
                            <m:e/>
                            <m:e>
                              <m:r>
                                <a:rPr lang="es-EC" sz="2400" b="0" i="1" smtClean="0">
                                  <a:latin typeface="Cambria Math" panose="02040503050406030204" pitchFamily="18" charset="0"/>
                                  <a:ea typeface="Cambria Math" panose="02040503050406030204" pitchFamily="18" charset="0"/>
                                </a:rPr>
                                <m:t> </m:t>
                              </m:r>
                            </m:e>
                            <m:e>
                              <m:r>
                                <a:rPr lang="es-EC" sz="2400" b="0" i="1" smtClean="0">
                                  <a:latin typeface="Cambria Math" panose="02040503050406030204" pitchFamily="18" charset="0"/>
                                  <a:ea typeface="Cambria Math" panose="02040503050406030204" pitchFamily="18" charset="0"/>
                                </a:rPr>
                                <m:t>0                                      </m:t>
                              </m:r>
                              <m:r>
                                <a:rPr lang="es-EC" sz="2400" b="0" i="1" smtClean="0">
                                  <a:latin typeface="Cambria Math" panose="02040503050406030204" pitchFamily="18" charset="0"/>
                                  <a:ea typeface="Cambria Math" panose="02040503050406030204" pitchFamily="18" charset="0"/>
                                </a:rPr>
                                <m:t>𝑆𝑖</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𝑛𝑜</m:t>
                              </m:r>
                            </m:e>
                          </m:eqArr>
                        </m:e>
                      </m:d>
                    </m:oMath>
                  </m:oMathPara>
                </a14:m>
                <a:endParaRPr lang="es-EC" sz="2400" dirty="0">
                  <a:latin typeface="Cambria Math" panose="02040503050406030204" pitchFamily="18" charset="0"/>
                  <a:ea typeface="Cambria Math" panose="02040503050406030204" pitchFamily="18" charset="0"/>
                </a:endParaRPr>
              </a:p>
            </p:txBody>
          </p:sp>
        </mc:Choice>
        <mc:Fallback xmlns="">
          <p:sp>
            <p:nvSpPr>
              <p:cNvPr id="6" name="CuadroTexto 5"/>
              <p:cNvSpPr txBox="1">
                <a:spLocks noRot="1" noChangeAspect="1" noMove="1" noResize="1" noEditPoints="1" noAdjustHandles="1" noChangeArrowheads="1" noChangeShapeType="1" noTextEdit="1"/>
              </p:cNvSpPr>
              <p:nvPr/>
            </p:nvSpPr>
            <p:spPr>
              <a:xfrm>
                <a:off x="3152238" y="3069279"/>
                <a:ext cx="5291675" cy="2015808"/>
              </a:xfrm>
              <a:prstGeom prst="rect">
                <a:avLst/>
              </a:prstGeom>
              <a:blipFill rotWithShape="0">
                <a:blip r:embed="rId2"/>
                <a:stretch>
                  <a:fillRect/>
                </a:stretch>
              </a:blipFill>
            </p:spPr>
            <p:txBody>
              <a:bodyPr/>
              <a:lstStyle/>
              <a:p>
                <a:r>
                  <a:rPr lang="es-EC">
                    <a:noFill/>
                  </a:rPr>
                  <a:t> </a:t>
                </a:r>
              </a:p>
            </p:txBody>
          </p:sp>
        </mc:Fallback>
      </mc:AlternateContent>
      <p:sp>
        <p:nvSpPr>
          <p:cNvPr id="7" name="Rectángulo 6"/>
          <p:cNvSpPr/>
          <p:nvPr/>
        </p:nvSpPr>
        <p:spPr>
          <a:xfrm>
            <a:off x="1084990" y="5543274"/>
            <a:ext cx="1002197" cy="461665"/>
          </a:xfrm>
          <a:prstGeom prst="rect">
            <a:avLst/>
          </a:prstGeom>
        </p:spPr>
        <p:txBody>
          <a:bodyPr wrap="none">
            <a:spAutoFit/>
          </a:bodyPr>
          <a:lstStyle/>
          <a:p>
            <a:r>
              <a:rPr lang="es-EC" sz="2400" b="1" dirty="0"/>
              <a:t>Media</a:t>
            </a:r>
          </a:p>
        </p:txBody>
      </p:sp>
      <p:sp>
        <p:nvSpPr>
          <p:cNvPr id="8" name="Rectángulo 7"/>
          <p:cNvSpPr/>
          <p:nvPr/>
        </p:nvSpPr>
        <p:spPr>
          <a:xfrm>
            <a:off x="5904434" y="5592698"/>
            <a:ext cx="1274644" cy="461665"/>
          </a:xfrm>
          <a:prstGeom prst="rect">
            <a:avLst/>
          </a:prstGeom>
        </p:spPr>
        <p:txBody>
          <a:bodyPr wrap="none">
            <a:spAutoFit/>
          </a:bodyPr>
          <a:lstStyle/>
          <a:p>
            <a:r>
              <a:rPr lang="es-EC" sz="2400" b="1" dirty="0"/>
              <a:t>Varianza</a:t>
            </a:r>
          </a:p>
        </p:txBody>
      </p:sp>
      <mc:AlternateContent xmlns:mc="http://schemas.openxmlformats.org/markup-compatibility/2006" xmlns:a14="http://schemas.microsoft.com/office/drawing/2010/main">
        <mc:Choice Requires="a14">
          <p:sp>
            <p:nvSpPr>
              <p:cNvPr id="9" name="Rectángulo 8"/>
              <p:cNvSpPr/>
              <p:nvPr/>
            </p:nvSpPr>
            <p:spPr>
              <a:xfrm>
                <a:off x="2323665" y="5486592"/>
                <a:ext cx="19165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800" b="0" i="0" smtClean="0">
                          <a:latin typeface="Cambria Math" panose="02040503050406030204" pitchFamily="18" charset="0"/>
                        </a:rPr>
                        <m:t>E</m:t>
                      </m:r>
                      <m:d>
                        <m:dPr>
                          <m:ctrlPr>
                            <a:rPr lang="es-EC" sz="2800" i="1">
                              <a:latin typeface="Cambria Math" panose="02040503050406030204" pitchFamily="18" charset="0"/>
                            </a:rPr>
                          </m:ctrlPr>
                        </m:dPr>
                        <m:e>
                          <m:r>
                            <m:rPr>
                              <m:sty m:val="p"/>
                            </m:rPr>
                            <a:rPr lang="es-EC" sz="2800" b="0" i="0">
                              <a:latin typeface="Cambria Math" panose="02040503050406030204" pitchFamily="18" charset="0"/>
                            </a:rPr>
                            <m:t>X</m:t>
                          </m:r>
                        </m:e>
                      </m:d>
                      <m:r>
                        <a:rPr lang="es-EC" sz="2800" b="0" i="0">
                          <a:latin typeface="Cambria Math" panose="02040503050406030204" pitchFamily="18" charset="0"/>
                        </a:rPr>
                        <m:t>=</m:t>
                      </m:r>
                      <m:r>
                        <m:rPr>
                          <m:sty m:val="p"/>
                        </m:rPr>
                        <a:rPr lang="es-EC" sz="2800" b="0" i="0" smtClean="0">
                          <a:latin typeface="Cambria Math" panose="02040503050406030204" pitchFamily="18" charset="0"/>
                          <a:ea typeface="Cambria Math" panose="02040503050406030204" pitchFamily="18" charset="0"/>
                        </a:rPr>
                        <m:t>αβ</m:t>
                      </m:r>
                    </m:oMath>
                  </m:oMathPara>
                </a14:m>
                <a:endParaRPr lang="es-EC" sz="2800" dirty="0"/>
              </a:p>
            </p:txBody>
          </p:sp>
        </mc:Choice>
        <mc:Fallback xmlns="">
          <p:sp>
            <p:nvSpPr>
              <p:cNvPr id="9" name="Rectángulo 8"/>
              <p:cNvSpPr>
                <a:spLocks noRot="1" noChangeAspect="1" noMove="1" noResize="1" noEditPoints="1" noAdjustHandles="1" noChangeArrowheads="1" noChangeShapeType="1" noTextEdit="1"/>
              </p:cNvSpPr>
              <p:nvPr/>
            </p:nvSpPr>
            <p:spPr>
              <a:xfrm>
                <a:off x="2323665" y="5486592"/>
                <a:ext cx="1916550" cy="523220"/>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7466704" y="5476846"/>
                <a:ext cx="202600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800" b="0" i="0" smtClean="0">
                          <a:latin typeface="Cambria Math" panose="02040503050406030204" pitchFamily="18" charset="0"/>
                        </a:rPr>
                        <m:t>V</m:t>
                      </m:r>
                      <m:d>
                        <m:dPr>
                          <m:ctrlPr>
                            <a:rPr lang="es-EC" sz="2800" i="1">
                              <a:latin typeface="Cambria Math" panose="02040503050406030204" pitchFamily="18" charset="0"/>
                            </a:rPr>
                          </m:ctrlPr>
                        </m:dPr>
                        <m:e>
                          <m:r>
                            <m:rPr>
                              <m:sty m:val="p"/>
                            </m:rPr>
                            <a:rPr lang="es-EC" sz="2800" b="0" i="0">
                              <a:latin typeface="Cambria Math" panose="02040503050406030204" pitchFamily="18" charset="0"/>
                            </a:rPr>
                            <m:t>X</m:t>
                          </m:r>
                        </m:e>
                      </m:d>
                      <m:r>
                        <a:rPr lang="es-EC" sz="2800" b="0" i="0">
                          <a:latin typeface="Cambria Math" panose="02040503050406030204" pitchFamily="18" charset="0"/>
                        </a:rPr>
                        <m:t>=</m:t>
                      </m:r>
                      <m:r>
                        <m:rPr>
                          <m:sty m:val="p"/>
                        </m:rPr>
                        <a:rPr lang="es-EC" sz="2800" b="0" i="0">
                          <a:latin typeface="Cambria Math" panose="02040503050406030204" pitchFamily="18" charset="0"/>
                          <a:ea typeface="Cambria Math" panose="02040503050406030204" pitchFamily="18" charset="0"/>
                        </a:rPr>
                        <m:t>α</m:t>
                      </m:r>
                      <m:sSup>
                        <m:sSupPr>
                          <m:ctrlPr>
                            <a:rPr lang="es-EC" sz="2800" i="1" smtClean="0">
                              <a:latin typeface="Cambria Math" panose="02040503050406030204" pitchFamily="18" charset="0"/>
                              <a:ea typeface="Cambria Math" panose="02040503050406030204" pitchFamily="18" charset="0"/>
                            </a:rPr>
                          </m:ctrlPr>
                        </m:sSupPr>
                        <m:e>
                          <m:r>
                            <m:rPr>
                              <m:sty m:val="p"/>
                            </m:rPr>
                            <a:rPr lang="es-EC" sz="2800" b="0" i="0">
                              <a:latin typeface="Cambria Math" panose="02040503050406030204" pitchFamily="18" charset="0"/>
                              <a:ea typeface="Cambria Math" panose="02040503050406030204" pitchFamily="18" charset="0"/>
                            </a:rPr>
                            <m:t>β</m:t>
                          </m:r>
                        </m:e>
                        <m:sup>
                          <m:r>
                            <a:rPr lang="es-EC" sz="2800" b="0" i="0" smtClean="0">
                              <a:latin typeface="Cambria Math" panose="02040503050406030204" pitchFamily="18" charset="0"/>
                              <a:ea typeface="Cambria Math" panose="02040503050406030204" pitchFamily="18" charset="0"/>
                            </a:rPr>
                            <m:t>2</m:t>
                          </m:r>
                        </m:sup>
                      </m:sSup>
                    </m:oMath>
                  </m:oMathPara>
                </a14:m>
                <a:endParaRPr lang="es-EC" sz="2800" dirty="0"/>
              </a:p>
            </p:txBody>
          </p:sp>
        </mc:Choice>
        <mc:Fallback xmlns="">
          <p:sp>
            <p:nvSpPr>
              <p:cNvPr id="10" name="Rectángulo 9"/>
              <p:cNvSpPr>
                <a:spLocks noRot="1" noChangeAspect="1" noMove="1" noResize="1" noEditPoints="1" noAdjustHandles="1" noChangeArrowheads="1" noChangeShapeType="1" noTextEdit="1"/>
              </p:cNvSpPr>
              <p:nvPr/>
            </p:nvSpPr>
            <p:spPr>
              <a:xfrm>
                <a:off x="7466704" y="5476846"/>
                <a:ext cx="2026003" cy="523220"/>
              </a:xfrm>
              <a:prstGeom prst="rect">
                <a:avLst/>
              </a:prstGeom>
              <a:blipFill rotWithShape="0">
                <a:blip r:embed="rId4"/>
                <a:stretch>
                  <a:fillRect/>
                </a:stretch>
              </a:blipFill>
            </p:spPr>
            <p:txBody>
              <a:bodyPr/>
              <a:lstStyle/>
              <a:p>
                <a:r>
                  <a:rPr lang="es-EC">
                    <a:noFill/>
                  </a:rPr>
                  <a:t> </a:t>
                </a:r>
              </a:p>
            </p:txBody>
          </p:sp>
        </mc:Fallback>
      </mc:AlternateContent>
      <p:sp>
        <p:nvSpPr>
          <p:cNvPr id="12" name="CuadroTexto 11"/>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537762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37512" y="919255"/>
            <a:ext cx="4683718" cy="523220"/>
          </a:xfrm>
          <a:prstGeom prst="rect">
            <a:avLst/>
          </a:prstGeom>
        </p:spPr>
        <p:txBody>
          <a:bodyPr wrap="none">
            <a:spAutoFit/>
          </a:bodyPr>
          <a:lstStyle/>
          <a:p>
            <a:r>
              <a:rPr lang="es-EC" sz="2800" b="1" dirty="0"/>
              <a:t>Modelos Aleatorios Continuos</a:t>
            </a:r>
          </a:p>
        </p:txBody>
      </p:sp>
      <p:sp>
        <p:nvSpPr>
          <p:cNvPr id="4" name="Rectángulo 3"/>
          <p:cNvSpPr/>
          <p:nvPr/>
        </p:nvSpPr>
        <p:spPr>
          <a:xfrm>
            <a:off x="637512" y="1517250"/>
            <a:ext cx="3864328" cy="523220"/>
          </a:xfrm>
          <a:prstGeom prst="rect">
            <a:avLst/>
          </a:prstGeom>
        </p:spPr>
        <p:txBody>
          <a:bodyPr wrap="none">
            <a:spAutoFit/>
          </a:bodyPr>
          <a:lstStyle/>
          <a:p>
            <a:r>
              <a:rPr lang="es-EC" sz="2800" b="1" dirty="0"/>
              <a:t>Distribución Exponencial</a:t>
            </a:r>
          </a:p>
        </p:txBody>
      </p:sp>
      <p:sp>
        <p:nvSpPr>
          <p:cNvPr id="5" name="Rectángulo 4"/>
          <p:cNvSpPr/>
          <p:nvPr/>
        </p:nvSpPr>
        <p:spPr>
          <a:xfrm>
            <a:off x="637512" y="2168611"/>
            <a:ext cx="9887810" cy="830997"/>
          </a:xfrm>
          <a:prstGeom prst="rect">
            <a:avLst/>
          </a:prstGeom>
        </p:spPr>
        <p:txBody>
          <a:bodyPr wrap="square">
            <a:spAutoFit/>
          </a:bodyPr>
          <a:lstStyle/>
          <a:p>
            <a:r>
              <a:rPr lang="es-EC" sz="2400" dirty="0"/>
              <a:t>X tiene una distribución exponencial, con parámetro </a:t>
            </a:r>
            <a:r>
              <a:rPr lang="el-GR" sz="2400" dirty="0"/>
              <a:t>β</a:t>
            </a:r>
            <a:r>
              <a:rPr lang="es-EC" sz="2400" dirty="0"/>
              <a:t> &gt; 0; si su función de densidad está dada por </a:t>
            </a:r>
          </a:p>
        </p:txBody>
      </p:sp>
      <mc:AlternateContent xmlns:mc="http://schemas.openxmlformats.org/markup-compatibility/2006" xmlns:a14="http://schemas.microsoft.com/office/drawing/2010/main">
        <mc:Choice Requires="a14">
          <p:sp>
            <p:nvSpPr>
              <p:cNvPr id="6" name="CuadroTexto 5"/>
              <p:cNvSpPr txBox="1"/>
              <p:nvPr/>
            </p:nvSpPr>
            <p:spPr>
              <a:xfrm>
                <a:off x="3152238" y="3069279"/>
                <a:ext cx="5291675" cy="20158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𝑓</m:t>
                      </m:r>
                      <m:d>
                        <m:dPr>
                          <m:ctrlPr>
                            <a:rPr lang="pt-BR" sz="2400" i="1" smtClean="0">
                              <a:latin typeface="Cambria Math" panose="02040503050406030204" pitchFamily="18" charset="0"/>
                              <a:ea typeface="Cambria Math" panose="02040503050406030204" pitchFamily="18" charset="0"/>
                            </a:rPr>
                          </m:ctrlPr>
                        </m:dPr>
                        <m:e>
                          <m:r>
                            <a:rPr lang="pt-BR" sz="2400" i="1" smtClean="0">
                              <a:latin typeface="Cambria Math" panose="02040503050406030204" pitchFamily="18" charset="0"/>
                              <a:ea typeface="Cambria Math" panose="02040503050406030204" pitchFamily="18" charset="0"/>
                            </a:rPr>
                            <m:t>𝑥</m:t>
                          </m:r>
                        </m:e>
                      </m:d>
                      <m:r>
                        <a:rPr lang="pt-BR" sz="2400" i="1" smtClean="0">
                          <a:latin typeface="Cambria Math" panose="02040503050406030204" pitchFamily="18" charset="0"/>
                          <a:ea typeface="Cambria Math" panose="02040503050406030204" pitchFamily="18" charset="0"/>
                        </a:rPr>
                        <m:t>=</m:t>
                      </m:r>
                      <m:d>
                        <m:dPr>
                          <m:begChr m:val="{"/>
                          <m:endChr m:val=""/>
                          <m:ctrlPr>
                            <a:rPr lang="pt-BR" sz="2400" i="1" smtClean="0">
                              <a:latin typeface="Cambria Math" panose="02040503050406030204" pitchFamily="18" charset="0"/>
                              <a:ea typeface="Cambria Math" panose="02040503050406030204" pitchFamily="18" charset="0"/>
                            </a:rPr>
                          </m:ctrlPr>
                        </m:dPr>
                        <m:e>
                          <m:eqArr>
                            <m:eqArrPr>
                              <m:ctrlPr>
                                <a:rPr lang="pt-BR" sz="2400" i="1">
                                  <a:latin typeface="Cambria Math" panose="02040503050406030204" pitchFamily="18" charset="0"/>
                                  <a:ea typeface="Cambria Math" panose="02040503050406030204" pitchFamily="18" charset="0"/>
                                </a:rPr>
                              </m:ctrlPr>
                            </m:eqArrPr>
                            <m:e>
                              <m:eqArr>
                                <m:eqArrPr>
                                  <m:ctrlPr>
                                    <a:rPr lang="pt-BR" sz="2400" i="1">
                                      <a:latin typeface="Cambria Math" panose="02040503050406030204" pitchFamily="18" charset="0"/>
                                      <a:ea typeface="Cambria Math" panose="02040503050406030204" pitchFamily="18" charset="0"/>
                                    </a:rPr>
                                  </m:ctrlPr>
                                </m:eqArrPr>
                                <m:e>
                                  <m:f>
                                    <m:fPr>
                                      <m:ctrlPr>
                                        <a:rPr lang="pt-BR"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1</m:t>
                                      </m:r>
                                    </m:num>
                                    <m:den>
                                      <m:r>
                                        <a:rPr lang="es-EC" sz="2400" i="1" smtClean="0">
                                          <a:latin typeface="Cambria Math" panose="02040503050406030204" pitchFamily="18" charset="0"/>
                                          <a:ea typeface="Cambria Math" panose="02040503050406030204" pitchFamily="18" charset="0"/>
                                        </a:rPr>
                                        <m:t>𝛽</m:t>
                                      </m:r>
                                    </m:den>
                                  </m:f>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𝑒</m:t>
                                      </m:r>
                                    </m:e>
                                    <m:sup>
                                      <m:r>
                                        <a:rPr lang="es-EC" sz="2400" i="1">
                                          <a:latin typeface="Cambria Math" panose="02040503050406030204" pitchFamily="18" charset="0"/>
                                          <a:ea typeface="Cambria Math" panose="02040503050406030204" pitchFamily="18" charset="0"/>
                                        </a:rPr>
                                        <m:t>−</m:t>
                                      </m:r>
                                      <m:f>
                                        <m:fPr>
                                          <m:ctrlPr>
                                            <a:rPr lang="es-EC" sz="240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𝑥</m:t>
                                          </m:r>
                                        </m:num>
                                        <m:den>
                                          <m:r>
                                            <a:rPr lang="es-EC" sz="2400" i="1" smtClean="0">
                                              <a:latin typeface="Cambria Math" panose="02040503050406030204" pitchFamily="18" charset="0"/>
                                              <a:ea typeface="Cambria Math" panose="02040503050406030204" pitchFamily="18" charset="0"/>
                                            </a:rPr>
                                            <m:t>𝛽</m:t>
                                          </m:r>
                                        </m:den>
                                      </m:f>
                                    </m:sup>
                                  </m:sSup>
                                  <m:r>
                                    <a:rPr lang="es-EC" sz="2400" b="0" i="1" smtClean="0">
                                      <a:latin typeface="Cambria Math" panose="02040503050406030204" pitchFamily="18" charset="0"/>
                                      <a:ea typeface="Cambria Math" panose="02040503050406030204" pitchFamily="18" charset="0"/>
                                    </a:rPr>
                                    <m:t>        </m:t>
                                  </m:r>
                                </m:e>
                                <m:e>
                                  <m:r>
                                    <a:rPr lang="es-EC" sz="2400" b="0" i="1" smtClean="0">
                                      <a:latin typeface="Cambria Math" panose="02040503050406030204" pitchFamily="18" charset="0"/>
                                      <a:ea typeface="Cambria Math" panose="02040503050406030204" pitchFamily="18" charset="0"/>
                                    </a:rPr>
                                    <m:t> </m:t>
                                  </m:r>
                                </m:e>
                              </m:eqAr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𝑥</m:t>
                              </m:r>
                              <m:r>
                                <a:rPr lang="es-EC" sz="2400" b="0" i="1" smtClean="0">
                                  <a:latin typeface="Cambria Math" panose="02040503050406030204" pitchFamily="18" charset="0"/>
                                  <a:ea typeface="Cambria Math" panose="02040503050406030204" pitchFamily="18" charset="0"/>
                                </a:rPr>
                                <m:t>&gt;0</m:t>
                              </m:r>
                            </m:e>
                            <m:e/>
                            <m:e>
                              <m:r>
                                <a:rPr lang="es-EC" sz="2400" b="0" i="1" smtClean="0">
                                  <a:latin typeface="Cambria Math" panose="02040503050406030204" pitchFamily="18" charset="0"/>
                                  <a:ea typeface="Cambria Math" panose="02040503050406030204" pitchFamily="18" charset="0"/>
                                </a:rPr>
                                <m:t> </m:t>
                              </m:r>
                            </m:e>
                            <m:e>
                              <m:r>
                                <a:rPr lang="es-EC" sz="2400" b="0" i="1" smtClean="0">
                                  <a:latin typeface="Cambria Math" panose="02040503050406030204" pitchFamily="18" charset="0"/>
                                  <a:ea typeface="Cambria Math" panose="02040503050406030204" pitchFamily="18" charset="0"/>
                                </a:rPr>
                                <m:t>0                                      </m:t>
                              </m:r>
                              <m:r>
                                <a:rPr lang="es-EC" sz="2400" b="0" i="1" smtClean="0">
                                  <a:latin typeface="Cambria Math" panose="02040503050406030204" pitchFamily="18" charset="0"/>
                                  <a:ea typeface="Cambria Math" panose="02040503050406030204" pitchFamily="18" charset="0"/>
                                </a:rPr>
                                <m:t>𝑆𝑖</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𝑛𝑜</m:t>
                              </m:r>
                            </m:e>
                          </m:eqArr>
                        </m:e>
                      </m:d>
                    </m:oMath>
                  </m:oMathPara>
                </a14:m>
                <a:endParaRPr lang="es-EC" sz="2400" dirty="0">
                  <a:latin typeface="Cambria Math" panose="02040503050406030204" pitchFamily="18" charset="0"/>
                  <a:ea typeface="Cambria Math" panose="02040503050406030204" pitchFamily="18" charset="0"/>
                </a:endParaRPr>
              </a:p>
            </p:txBody>
          </p:sp>
        </mc:Choice>
        <mc:Fallback xmlns="">
          <p:sp>
            <p:nvSpPr>
              <p:cNvPr id="6" name="CuadroTexto 5"/>
              <p:cNvSpPr txBox="1">
                <a:spLocks noRot="1" noChangeAspect="1" noMove="1" noResize="1" noEditPoints="1" noAdjustHandles="1" noChangeArrowheads="1" noChangeShapeType="1" noTextEdit="1"/>
              </p:cNvSpPr>
              <p:nvPr/>
            </p:nvSpPr>
            <p:spPr>
              <a:xfrm>
                <a:off x="3152238" y="3069279"/>
                <a:ext cx="5291675" cy="2015808"/>
              </a:xfrm>
              <a:prstGeom prst="rect">
                <a:avLst/>
              </a:prstGeom>
              <a:blipFill rotWithShape="0">
                <a:blip r:embed="rId2"/>
                <a:stretch>
                  <a:fillRect/>
                </a:stretch>
              </a:blipFill>
            </p:spPr>
            <p:txBody>
              <a:bodyPr/>
              <a:lstStyle/>
              <a:p>
                <a:r>
                  <a:rPr lang="es-EC">
                    <a:noFill/>
                  </a:rPr>
                  <a:t> </a:t>
                </a:r>
              </a:p>
            </p:txBody>
          </p:sp>
        </mc:Fallback>
      </mc:AlternateContent>
      <p:sp>
        <p:nvSpPr>
          <p:cNvPr id="7" name="Rectángulo 6"/>
          <p:cNvSpPr/>
          <p:nvPr/>
        </p:nvSpPr>
        <p:spPr>
          <a:xfrm>
            <a:off x="1084990" y="5543274"/>
            <a:ext cx="1002197" cy="461665"/>
          </a:xfrm>
          <a:prstGeom prst="rect">
            <a:avLst/>
          </a:prstGeom>
        </p:spPr>
        <p:txBody>
          <a:bodyPr wrap="none">
            <a:spAutoFit/>
          </a:bodyPr>
          <a:lstStyle/>
          <a:p>
            <a:r>
              <a:rPr lang="es-EC" sz="2400" b="1" dirty="0"/>
              <a:t>Media</a:t>
            </a:r>
            <a:endParaRPr lang="es-EC" sz="2400" dirty="0"/>
          </a:p>
        </p:txBody>
      </p:sp>
      <p:sp>
        <p:nvSpPr>
          <p:cNvPr id="8" name="Rectángulo 7"/>
          <p:cNvSpPr/>
          <p:nvPr/>
        </p:nvSpPr>
        <p:spPr>
          <a:xfrm>
            <a:off x="5904434" y="5592698"/>
            <a:ext cx="1274644" cy="461665"/>
          </a:xfrm>
          <a:prstGeom prst="rect">
            <a:avLst/>
          </a:prstGeom>
        </p:spPr>
        <p:txBody>
          <a:bodyPr wrap="none">
            <a:spAutoFit/>
          </a:bodyPr>
          <a:lstStyle/>
          <a:p>
            <a:r>
              <a:rPr lang="es-EC" sz="2400" b="1" dirty="0"/>
              <a:t>Varianza</a:t>
            </a:r>
            <a:endParaRPr lang="es-EC" sz="2400" dirty="0"/>
          </a:p>
        </p:txBody>
      </p:sp>
      <mc:AlternateContent xmlns:mc="http://schemas.openxmlformats.org/markup-compatibility/2006" xmlns:a14="http://schemas.microsoft.com/office/drawing/2010/main">
        <mc:Choice Requires="a14">
          <p:sp>
            <p:nvSpPr>
              <p:cNvPr id="9" name="Rectángulo 8"/>
              <p:cNvSpPr/>
              <p:nvPr/>
            </p:nvSpPr>
            <p:spPr>
              <a:xfrm>
                <a:off x="2323665" y="5486592"/>
                <a:ext cx="168732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800" b="0" i="0" smtClean="0">
                          <a:latin typeface="Cambria Math" panose="02040503050406030204" pitchFamily="18" charset="0"/>
                        </a:rPr>
                        <m:t>E</m:t>
                      </m:r>
                      <m:d>
                        <m:dPr>
                          <m:ctrlPr>
                            <a:rPr lang="es-EC" sz="2800" i="1">
                              <a:latin typeface="Cambria Math" panose="02040503050406030204" pitchFamily="18" charset="0"/>
                            </a:rPr>
                          </m:ctrlPr>
                        </m:dPr>
                        <m:e>
                          <m:r>
                            <m:rPr>
                              <m:sty m:val="p"/>
                            </m:rPr>
                            <a:rPr lang="es-EC" sz="2800" b="0" i="0">
                              <a:latin typeface="Cambria Math" panose="02040503050406030204" pitchFamily="18" charset="0"/>
                            </a:rPr>
                            <m:t>X</m:t>
                          </m:r>
                        </m:e>
                      </m:d>
                      <m:r>
                        <a:rPr lang="es-EC" sz="2800" b="0" i="0">
                          <a:latin typeface="Cambria Math" panose="02040503050406030204" pitchFamily="18" charset="0"/>
                        </a:rPr>
                        <m:t>=</m:t>
                      </m:r>
                      <m:r>
                        <m:rPr>
                          <m:sty m:val="p"/>
                        </m:rPr>
                        <a:rPr lang="es-EC" sz="2800" b="0" i="0" smtClean="0">
                          <a:latin typeface="Cambria Math" panose="02040503050406030204" pitchFamily="18" charset="0"/>
                          <a:ea typeface="Cambria Math" panose="02040503050406030204" pitchFamily="18" charset="0"/>
                        </a:rPr>
                        <m:t>β</m:t>
                      </m:r>
                    </m:oMath>
                  </m:oMathPara>
                </a14:m>
                <a:endParaRPr lang="es-EC" sz="2800" dirty="0"/>
              </a:p>
            </p:txBody>
          </p:sp>
        </mc:Choice>
        <mc:Fallback xmlns="">
          <p:sp>
            <p:nvSpPr>
              <p:cNvPr id="9" name="Rectángulo 8"/>
              <p:cNvSpPr>
                <a:spLocks noRot="1" noChangeAspect="1" noMove="1" noResize="1" noEditPoints="1" noAdjustHandles="1" noChangeArrowheads="1" noChangeShapeType="1" noTextEdit="1"/>
              </p:cNvSpPr>
              <p:nvPr/>
            </p:nvSpPr>
            <p:spPr>
              <a:xfrm>
                <a:off x="2323665" y="5486592"/>
                <a:ext cx="1687321" cy="523220"/>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7466704" y="5476846"/>
                <a:ext cx="1878528" cy="532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800" b="0" i="0" smtClean="0">
                          <a:latin typeface="Cambria Math" panose="02040503050406030204" pitchFamily="18" charset="0"/>
                        </a:rPr>
                        <m:t>V</m:t>
                      </m:r>
                      <m:d>
                        <m:dPr>
                          <m:ctrlPr>
                            <a:rPr lang="es-EC" sz="2800" i="1">
                              <a:latin typeface="Cambria Math" panose="02040503050406030204" pitchFamily="18" charset="0"/>
                            </a:rPr>
                          </m:ctrlPr>
                        </m:dPr>
                        <m:e>
                          <m:r>
                            <m:rPr>
                              <m:sty m:val="p"/>
                            </m:rPr>
                            <a:rPr lang="es-EC" sz="2800" b="0" i="0">
                              <a:latin typeface="Cambria Math" panose="02040503050406030204" pitchFamily="18" charset="0"/>
                            </a:rPr>
                            <m:t>X</m:t>
                          </m:r>
                        </m:e>
                      </m:d>
                      <m:r>
                        <a:rPr lang="es-EC" sz="2800" b="0" i="0">
                          <a:latin typeface="Cambria Math" panose="02040503050406030204" pitchFamily="18" charset="0"/>
                        </a:rPr>
                        <m:t>=</m:t>
                      </m:r>
                      <m:sSup>
                        <m:sSupPr>
                          <m:ctrlPr>
                            <a:rPr lang="es-EC" sz="2800" i="1" smtClean="0">
                              <a:latin typeface="Cambria Math" panose="02040503050406030204" pitchFamily="18" charset="0"/>
                              <a:ea typeface="Cambria Math" panose="02040503050406030204" pitchFamily="18" charset="0"/>
                            </a:rPr>
                          </m:ctrlPr>
                        </m:sSupPr>
                        <m:e>
                          <m:r>
                            <m:rPr>
                              <m:sty m:val="p"/>
                            </m:rPr>
                            <a:rPr lang="es-EC" sz="2800" b="0" i="0">
                              <a:latin typeface="Cambria Math" panose="02040503050406030204" pitchFamily="18" charset="0"/>
                              <a:ea typeface="Cambria Math" panose="02040503050406030204" pitchFamily="18" charset="0"/>
                            </a:rPr>
                            <m:t>β</m:t>
                          </m:r>
                        </m:e>
                        <m:sup>
                          <m:r>
                            <a:rPr lang="es-EC" sz="2800" b="0" i="0" smtClean="0">
                              <a:latin typeface="Cambria Math" panose="02040503050406030204" pitchFamily="18" charset="0"/>
                              <a:ea typeface="Cambria Math" panose="02040503050406030204" pitchFamily="18" charset="0"/>
                            </a:rPr>
                            <m:t>2</m:t>
                          </m:r>
                        </m:sup>
                      </m:sSup>
                    </m:oMath>
                  </m:oMathPara>
                </a14:m>
                <a:endParaRPr lang="es-EC" sz="2800" dirty="0"/>
              </a:p>
            </p:txBody>
          </p:sp>
        </mc:Choice>
        <mc:Fallback xmlns="">
          <p:sp>
            <p:nvSpPr>
              <p:cNvPr id="10" name="Rectángulo 9"/>
              <p:cNvSpPr>
                <a:spLocks noRot="1" noChangeAspect="1" noMove="1" noResize="1" noEditPoints="1" noAdjustHandles="1" noChangeArrowheads="1" noChangeShapeType="1" noTextEdit="1"/>
              </p:cNvSpPr>
              <p:nvPr/>
            </p:nvSpPr>
            <p:spPr>
              <a:xfrm>
                <a:off x="7466704" y="5476846"/>
                <a:ext cx="1878528" cy="532966"/>
              </a:xfrm>
              <a:prstGeom prst="rect">
                <a:avLst/>
              </a:prstGeom>
              <a:blipFill rotWithShape="0">
                <a:blip r:embed="rId4"/>
                <a:stretch>
                  <a:fillRect/>
                </a:stretch>
              </a:blipFill>
            </p:spPr>
            <p:txBody>
              <a:bodyPr/>
              <a:lstStyle/>
              <a:p>
                <a:r>
                  <a:rPr lang="es-EC">
                    <a:noFill/>
                  </a:rPr>
                  <a:t> </a:t>
                </a:r>
              </a:p>
            </p:txBody>
          </p:sp>
        </mc:Fallback>
      </mc:AlternateContent>
      <p:sp>
        <p:nvSpPr>
          <p:cNvPr id="12" name="CuadroTexto 11"/>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2682648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85377" y="1007412"/>
            <a:ext cx="4345228" cy="523220"/>
          </a:xfrm>
          <a:prstGeom prst="rect">
            <a:avLst/>
          </a:prstGeom>
        </p:spPr>
        <p:txBody>
          <a:bodyPr wrap="none">
            <a:spAutoFit/>
          </a:bodyPr>
          <a:lstStyle/>
          <a:p>
            <a:r>
              <a:rPr lang="es-EC" sz="2800" b="1" dirty="0"/>
              <a:t>Distribución Exponencial (</a:t>
            </a:r>
            <a:r>
              <a:rPr lang="el-GR" sz="2800" b="1" dirty="0"/>
              <a:t>λ</a:t>
            </a:r>
            <a:r>
              <a:rPr lang="es-EC" sz="2800" b="1" dirty="0"/>
              <a:t>)</a:t>
            </a:r>
            <a:endParaRPr lang="es-EC" sz="2800" b="1" baseline="60000" dirty="0"/>
          </a:p>
        </p:txBody>
      </p:sp>
      <p:sp>
        <p:nvSpPr>
          <p:cNvPr id="7" name="Rectángulo 6"/>
          <p:cNvSpPr/>
          <p:nvPr/>
        </p:nvSpPr>
        <p:spPr>
          <a:xfrm>
            <a:off x="1632382" y="5041312"/>
            <a:ext cx="1002197" cy="461665"/>
          </a:xfrm>
          <a:prstGeom prst="rect">
            <a:avLst/>
          </a:prstGeom>
        </p:spPr>
        <p:txBody>
          <a:bodyPr wrap="none">
            <a:spAutoFit/>
          </a:bodyPr>
          <a:lstStyle/>
          <a:p>
            <a:r>
              <a:rPr lang="es-EC" sz="2400" b="1" dirty="0"/>
              <a:t>Media</a:t>
            </a:r>
            <a:endParaRPr lang="es-EC" sz="2400" dirty="0"/>
          </a:p>
        </p:txBody>
      </p:sp>
      <p:sp>
        <p:nvSpPr>
          <p:cNvPr id="8" name="Rectángulo 7"/>
          <p:cNvSpPr/>
          <p:nvPr/>
        </p:nvSpPr>
        <p:spPr>
          <a:xfrm>
            <a:off x="6556177" y="5031566"/>
            <a:ext cx="1274644" cy="461665"/>
          </a:xfrm>
          <a:prstGeom prst="rect">
            <a:avLst/>
          </a:prstGeom>
        </p:spPr>
        <p:txBody>
          <a:bodyPr wrap="none">
            <a:spAutoFit/>
          </a:bodyPr>
          <a:lstStyle/>
          <a:p>
            <a:r>
              <a:rPr lang="es-EC" sz="2400" b="1" dirty="0"/>
              <a:t>Varianza</a:t>
            </a:r>
            <a:endParaRPr lang="es-EC" sz="2000" dirty="0"/>
          </a:p>
        </p:txBody>
      </p:sp>
      <mc:AlternateContent xmlns:mc="http://schemas.openxmlformats.org/markup-compatibility/2006" xmlns:a14="http://schemas.microsoft.com/office/drawing/2010/main">
        <mc:Choice Requires="a14">
          <p:sp>
            <p:nvSpPr>
              <p:cNvPr id="9" name="Rectángulo 8"/>
              <p:cNvSpPr/>
              <p:nvPr/>
            </p:nvSpPr>
            <p:spPr>
              <a:xfrm>
                <a:off x="2975408" y="5041312"/>
                <a:ext cx="1650452"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800" b="0" i="0" smtClean="0">
                          <a:latin typeface="Cambria Math" panose="02040503050406030204" pitchFamily="18" charset="0"/>
                        </a:rPr>
                        <m:t>E</m:t>
                      </m:r>
                      <m:d>
                        <m:dPr>
                          <m:ctrlPr>
                            <a:rPr lang="es-EC" sz="2800" i="1">
                              <a:latin typeface="Cambria Math" panose="02040503050406030204" pitchFamily="18" charset="0"/>
                            </a:rPr>
                          </m:ctrlPr>
                        </m:dPr>
                        <m:e>
                          <m:r>
                            <m:rPr>
                              <m:sty m:val="p"/>
                            </m:rPr>
                            <a:rPr lang="es-EC" sz="2800" b="0" i="0" smtClean="0">
                              <a:latin typeface="Cambria Math" panose="02040503050406030204" pitchFamily="18" charset="0"/>
                            </a:rPr>
                            <m:t>T</m:t>
                          </m:r>
                        </m:e>
                      </m:d>
                      <m:r>
                        <a:rPr lang="es-EC" sz="2800" b="0" i="0">
                          <a:latin typeface="Cambria Math" panose="02040503050406030204" pitchFamily="18" charset="0"/>
                        </a:rPr>
                        <m:t>=</m:t>
                      </m:r>
                      <m:f>
                        <m:fPr>
                          <m:ctrlPr>
                            <a:rPr lang="es-EC" sz="2800" b="0" i="1" smtClean="0">
                              <a:latin typeface="Cambria Math" panose="02040503050406030204" pitchFamily="18" charset="0"/>
                            </a:rPr>
                          </m:ctrlPr>
                        </m:fPr>
                        <m:num>
                          <m:r>
                            <a:rPr lang="es-EC" sz="2800" b="0" i="1" smtClean="0">
                              <a:latin typeface="Cambria Math" panose="02040503050406030204" pitchFamily="18" charset="0"/>
                            </a:rPr>
                            <m:t>1</m:t>
                          </m:r>
                        </m:num>
                        <m:den>
                          <m:r>
                            <a:rPr lang="es-EC" sz="2800" b="0" i="1" smtClean="0">
                              <a:latin typeface="Cambria Math" panose="02040503050406030204" pitchFamily="18" charset="0"/>
                              <a:ea typeface="Cambria Math" panose="02040503050406030204" pitchFamily="18" charset="0"/>
                            </a:rPr>
                            <m:t>𝜆</m:t>
                          </m:r>
                        </m:den>
                      </m:f>
                    </m:oMath>
                  </m:oMathPara>
                </a14:m>
                <a:endParaRPr lang="es-EC" sz="2800" dirty="0"/>
              </a:p>
            </p:txBody>
          </p:sp>
        </mc:Choice>
        <mc:Fallback xmlns="">
          <p:sp>
            <p:nvSpPr>
              <p:cNvPr id="9" name="Rectángulo 8"/>
              <p:cNvSpPr>
                <a:spLocks noRot="1" noChangeAspect="1" noMove="1" noResize="1" noEditPoints="1" noAdjustHandles="1" noChangeArrowheads="1" noChangeShapeType="1" noTextEdit="1"/>
              </p:cNvSpPr>
              <p:nvPr/>
            </p:nvSpPr>
            <p:spPr>
              <a:xfrm>
                <a:off x="2975408" y="5041312"/>
                <a:ext cx="1650452" cy="901785"/>
              </a:xfrm>
              <a:prstGeom prst="rect">
                <a:avLst/>
              </a:prstGeom>
              <a:blipFill rotWithShape="0">
                <a:blip r:embed="rId6"/>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8118447" y="5031566"/>
                <a:ext cx="1809149"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800" b="0" i="0" smtClean="0">
                          <a:latin typeface="Cambria Math" panose="02040503050406030204" pitchFamily="18" charset="0"/>
                        </a:rPr>
                        <m:t>V</m:t>
                      </m:r>
                      <m:d>
                        <m:dPr>
                          <m:ctrlPr>
                            <a:rPr lang="es-EC" sz="2800" i="1">
                              <a:latin typeface="Cambria Math" panose="02040503050406030204" pitchFamily="18" charset="0"/>
                            </a:rPr>
                          </m:ctrlPr>
                        </m:dPr>
                        <m:e>
                          <m:r>
                            <m:rPr>
                              <m:sty m:val="p"/>
                            </m:rPr>
                            <a:rPr lang="es-EC" sz="2800" b="0" i="0" smtClean="0">
                              <a:latin typeface="Cambria Math" panose="02040503050406030204" pitchFamily="18" charset="0"/>
                            </a:rPr>
                            <m:t>T</m:t>
                          </m:r>
                        </m:e>
                      </m:d>
                      <m:r>
                        <a:rPr lang="es-EC" sz="2800" b="0" i="0">
                          <a:latin typeface="Cambria Math" panose="02040503050406030204" pitchFamily="18" charset="0"/>
                        </a:rPr>
                        <m:t>=</m:t>
                      </m:r>
                      <m:f>
                        <m:fPr>
                          <m:ctrlPr>
                            <a:rPr lang="es-EC" sz="2800" b="0" i="1" smtClean="0">
                              <a:latin typeface="Cambria Math" panose="02040503050406030204" pitchFamily="18" charset="0"/>
                            </a:rPr>
                          </m:ctrlPr>
                        </m:fPr>
                        <m:num>
                          <m:r>
                            <a:rPr lang="es-EC" sz="2800" b="0" i="1" smtClean="0">
                              <a:latin typeface="Cambria Math" panose="02040503050406030204" pitchFamily="18" charset="0"/>
                            </a:rPr>
                            <m:t>1</m:t>
                          </m:r>
                        </m:num>
                        <m:den>
                          <m:sSup>
                            <m:sSupPr>
                              <m:ctrlPr>
                                <a:rPr lang="es-EC" sz="2800" b="0" i="1" smtClean="0">
                                  <a:latin typeface="Cambria Math" panose="02040503050406030204" pitchFamily="18" charset="0"/>
                                </a:rPr>
                              </m:ctrlPr>
                            </m:sSupPr>
                            <m:e>
                              <m:r>
                                <a:rPr lang="es-EC" sz="2800" b="0" i="1" smtClean="0">
                                  <a:latin typeface="Cambria Math" panose="02040503050406030204" pitchFamily="18" charset="0"/>
                                  <a:ea typeface="Cambria Math" panose="02040503050406030204" pitchFamily="18" charset="0"/>
                                </a:rPr>
                                <m:t>𝜆</m:t>
                              </m:r>
                            </m:e>
                            <m:sup>
                              <m:r>
                                <a:rPr lang="es-EC" sz="2800" b="0" i="1" smtClean="0">
                                  <a:latin typeface="Cambria Math" panose="02040503050406030204" pitchFamily="18" charset="0"/>
                                </a:rPr>
                                <m:t>2</m:t>
                              </m:r>
                            </m:sup>
                          </m:sSup>
                        </m:den>
                      </m:f>
                    </m:oMath>
                  </m:oMathPara>
                </a14:m>
                <a:endParaRPr lang="es-EC" sz="2800" dirty="0"/>
              </a:p>
            </p:txBody>
          </p:sp>
        </mc:Choice>
        <mc:Fallback xmlns="">
          <p:sp>
            <p:nvSpPr>
              <p:cNvPr id="10" name="Rectángulo 9"/>
              <p:cNvSpPr>
                <a:spLocks noRot="1" noChangeAspect="1" noMove="1" noResize="1" noEditPoints="1" noAdjustHandles="1" noChangeArrowheads="1" noChangeShapeType="1" noTextEdit="1"/>
              </p:cNvSpPr>
              <p:nvPr/>
            </p:nvSpPr>
            <p:spPr>
              <a:xfrm>
                <a:off x="8118447" y="5031566"/>
                <a:ext cx="1809149" cy="901785"/>
              </a:xfrm>
              <a:prstGeom prst="rect">
                <a:avLst/>
              </a:prstGeom>
              <a:blipFill rotWithShape="0">
                <a:blip r:embed="rId7"/>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631110" y="2367708"/>
                <a:ext cx="5291675" cy="18365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𝑓</m:t>
                      </m:r>
                      <m:d>
                        <m:dPr>
                          <m:ctrlPr>
                            <a:rPr lang="pt-BR" sz="240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𝑡</m:t>
                          </m:r>
                        </m:e>
                      </m:d>
                      <m:r>
                        <a:rPr lang="pt-BR" sz="2400" i="1" smtClean="0">
                          <a:latin typeface="Cambria Math" panose="02040503050406030204" pitchFamily="18" charset="0"/>
                          <a:ea typeface="Cambria Math" panose="02040503050406030204" pitchFamily="18" charset="0"/>
                        </a:rPr>
                        <m:t>=</m:t>
                      </m:r>
                      <m:d>
                        <m:dPr>
                          <m:begChr m:val="{"/>
                          <m:endChr m:val=""/>
                          <m:ctrlPr>
                            <a:rPr lang="pt-BR" sz="2400" i="1" smtClean="0">
                              <a:latin typeface="Cambria Math" panose="02040503050406030204" pitchFamily="18" charset="0"/>
                              <a:ea typeface="Cambria Math" panose="02040503050406030204" pitchFamily="18" charset="0"/>
                            </a:rPr>
                          </m:ctrlPr>
                        </m:dPr>
                        <m:e>
                          <m:eqArr>
                            <m:eqArrPr>
                              <m:ctrlPr>
                                <a:rPr lang="pt-BR" sz="2400" i="1">
                                  <a:latin typeface="Cambria Math" panose="02040503050406030204" pitchFamily="18" charset="0"/>
                                  <a:ea typeface="Cambria Math" panose="02040503050406030204" pitchFamily="18" charset="0"/>
                                </a:rPr>
                              </m:ctrlPr>
                            </m:eqArrPr>
                            <m:e>
                              <m:eqArr>
                                <m:eqArrPr>
                                  <m:ctrlPr>
                                    <a:rPr lang="pt-BR" sz="2400" i="1">
                                      <a:latin typeface="Cambria Math" panose="02040503050406030204" pitchFamily="18" charset="0"/>
                                      <a:ea typeface="Cambria Math" panose="02040503050406030204" pitchFamily="18" charset="0"/>
                                    </a:rPr>
                                  </m:ctrlPr>
                                </m:eqArrPr>
                                <m:e>
                                  <m:r>
                                    <a:rPr lang="pt-BR" sz="2400" i="1" smtClean="0">
                                      <a:latin typeface="Cambria Math" panose="02040503050406030204" pitchFamily="18" charset="0"/>
                                      <a:ea typeface="Cambria Math" panose="02040503050406030204" pitchFamily="18" charset="0"/>
                                    </a:rPr>
                                    <m:t>𝜆</m:t>
                                  </m:r>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𝑒</m:t>
                                      </m:r>
                                    </m:e>
                                    <m:sup>
                                      <m:r>
                                        <a:rPr lang="es-EC" sz="2400" i="1">
                                          <a:latin typeface="Cambria Math" panose="02040503050406030204" pitchFamily="18" charset="0"/>
                                          <a:ea typeface="Cambria Math" panose="02040503050406030204" pitchFamily="18" charset="0"/>
                                        </a:rPr>
                                        <m:t>−</m:t>
                                      </m:r>
                                      <m:r>
                                        <a:rPr lang="es-EC" sz="2400" i="1" smtClean="0">
                                          <a:latin typeface="Cambria Math" panose="02040503050406030204" pitchFamily="18" charset="0"/>
                                          <a:ea typeface="Cambria Math" panose="02040503050406030204" pitchFamily="18" charset="0"/>
                                        </a:rPr>
                                        <m:t>𝜆</m:t>
                                      </m:r>
                                      <m:r>
                                        <a:rPr lang="es-EC" sz="2400" b="0" i="1" smtClean="0">
                                          <a:latin typeface="Cambria Math" panose="02040503050406030204" pitchFamily="18" charset="0"/>
                                          <a:ea typeface="Cambria Math" panose="02040503050406030204" pitchFamily="18" charset="0"/>
                                        </a:rPr>
                                        <m:t>𝑡</m:t>
                                      </m:r>
                                    </m:sup>
                                  </m:sSup>
                                  <m:r>
                                    <a:rPr lang="es-EC" sz="2400" b="0" i="1" smtClean="0">
                                      <a:latin typeface="Cambria Math" panose="02040503050406030204" pitchFamily="18" charset="0"/>
                                      <a:ea typeface="Cambria Math" panose="02040503050406030204" pitchFamily="18" charset="0"/>
                                    </a:rPr>
                                    <m:t>        </m:t>
                                  </m:r>
                                </m:e>
                                <m:e>
                                  <m:r>
                                    <a:rPr lang="es-EC" sz="2400" b="0" i="1" smtClean="0">
                                      <a:latin typeface="Cambria Math" panose="02040503050406030204" pitchFamily="18" charset="0"/>
                                      <a:ea typeface="Cambria Math" panose="02040503050406030204" pitchFamily="18" charset="0"/>
                                    </a:rPr>
                                    <m:t> </m:t>
                                  </m:r>
                                </m:e>
                              </m:eqAr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𝑡</m:t>
                              </m:r>
                              <m:r>
                                <a:rPr lang="es-EC" sz="2400" b="0" i="1" smtClean="0">
                                  <a:latin typeface="Cambria Math" panose="02040503050406030204" pitchFamily="18" charset="0"/>
                                  <a:ea typeface="Cambria Math" panose="02040503050406030204" pitchFamily="18" charset="0"/>
                                </a:rPr>
                                <m:t>&gt;0</m:t>
                              </m:r>
                            </m:e>
                            <m:e/>
                            <m:e>
                              <m:r>
                                <a:rPr lang="es-EC" sz="2400" b="0" i="1" smtClean="0">
                                  <a:latin typeface="Cambria Math" panose="02040503050406030204" pitchFamily="18" charset="0"/>
                                  <a:ea typeface="Cambria Math" panose="02040503050406030204" pitchFamily="18" charset="0"/>
                                </a:rPr>
                                <m:t> </m:t>
                              </m:r>
                            </m:e>
                            <m:e>
                              <m:r>
                                <a:rPr lang="es-EC" sz="2400" b="0" i="1" smtClean="0">
                                  <a:latin typeface="Cambria Math" panose="02040503050406030204" pitchFamily="18" charset="0"/>
                                  <a:ea typeface="Cambria Math" panose="02040503050406030204" pitchFamily="18" charset="0"/>
                                </a:rPr>
                                <m:t>0                                      </m:t>
                              </m:r>
                              <m:r>
                                <a:rPr lang="es-EC" sz="2400" b="0" i="1" smtClean="0">
                                  <a:latin typeface="Cambria Math" panose="02040503050406030204" pitchFamily="18" charset="0"/>
                                  <a:ea typeface="Cambria Math" panose="02040503050406030204" pitchFamily="18" charset="0"/>
                                </a:rPr>
                                <m:t>𝑆𝑖</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𝑛𝑜</m:t>
                              </m:r>
                            </m:e>
                          </m:eqArr>
                        </m:e>
                      </m:d>
                    </m:oMath>
                  </m:oMathPara>
                </a14:m>
                <a:endParaRPr lang="es-EC" sz="2400" dirty="0">
                  <a:latin typeface="Cambria Math" panose="02040503050406030204" pitchFamily="18" charset="0"/>
                  <a:ea typeface="Cambria Math" panose="02040503050406030204" pitchFamily="18" charset="0"/>
                </a:endParaRPr>
              </a:p>
            </p:txBody>
          </p:sp>
        </mc:Choice>
        <mc:Fallback xmlns="">
          <p:sp>
            <p:nvSpPr>
              <p:cNvPr id="12" name="CuadroTexto 11"/>
              <p:cNvSpPr txBox="1">
                <a:spLocks noRot="1" noChangeAspect="1" noMove="1" noResize="1" noEditPoints="1" noAdjustHandles="1" noChangeArrowheads="1" noChangeShapeType="1" noTextEdit="1"/>
              </p:cNvSpPr>
              <p:nvPr/>
            </p:nvSpPr>
            <p:spPr>
              <a:xfrm>
                <a:off x="631110" y="2367708"/>
                <a:ext cx="5291675" cy="1836528"/>
              </a:xfrm>
              <a:prstGeom prst="rect">
                <a:avLst/>
              </a:prstGeom>
              <a:blipFill rotWithShape="0">
                <a:blip r:embed="rId8"/>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5922785" y="2367708"/>
                <a:ext cx="5291675" cy="16648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400" b="0" i="0" smtClean="0">
                          <a:latin typeface="Cambria Math" panose="02040503050406030204" pitchFamily="18" charset="0"/>
                          <a:ea typeface="Cambria Math" panose="02040503050406030204" pitchFamily="18" charset="0"/>
                        </a:rPr>
                        <m:t>F</m:t>
                      </m:r>
                      <m:d>
                        <m:dPr>
                          <m:ctrlPr>
                            <a:rPr lang="pt-BR" sz="240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𝑡</m:t>
                          </m:r>
                        </m:e>
                      </m:d>
                      <m:r>
                        <a:rPr lang="pt-BR" sz="2400" i="1" smtClean="0">
                          <a:latin typeface="Cambria Math" panose="02040503050406030204" pitchFamily="18" charset="0"/>
                          <a:ea typeface="Cambria Math" panose="02040503050406030204" pitchFamily="18" charset="0"/>
                        </a:rPr>
                        <m:t>=</m:t>
                      </m:r>
                      <m:d>
                        <m:dPr>
                          <m:begChr m:val="{"/>
                          <m:endChr m:val=""/>
                          <m:ctrlPr>
                            <a:rPr lang="pt-BR" sz="2400" i="1" smtClean="0">
                              <a:latin typeface="Cambria Math" panose="02040503050406030204" pitchFamily="18" charset="0"/>
                              <a:ea typeface="Cambria Math" panose="02040503050406030204" pitchFamily="18" charset="0"/>
                            </a:rPr>
                          </m:ctrlPr>
                        </m:dPr>
                        <m:e>
                          <m:eqArr>
                            <m:eqArrPr>
                              <m:ctrlPr>
                                <a:rPr lang="pt-BR" sz="2400" i="1">
                                  <a:latin typeface="Cambria Math" panose="02040503050406030204" pitchFamily="18" charset="0"/>
                                  <a:ea typeface="Cambria Math" panose="02040503050406030204" pitchFamily="18" charset="0"/>
                                </a:rPr>
                              </m:ctrlPr>
                            </m:eqArrPr>
                            <m:e>
                              <m:r>
                                <a:rPr lang="es-EC" sz="2400" b="0" i="1" smtClean="0">
                                  <a:latin typeface="Cambria Math" panose="02040503050406030204" pitchFamily="18" charset="0"/>
                                  <a:ea typeface="Cambria Math" panose="02040503050406030204" pitchFamily="18" charset="0"/>
                                </a:rPr>
                                <m:t>1−</m:t>
                              </m:r>
                              <m:sSup>
                                <m:sSupPr>
                                  <m:ctrlPr>
                                    <a:rPr lang="es-EC" sz="2400" i="1">
                                      <a:latin typeface="Cambria Math" panose="02040503050406030204" pitchFamily="18" charset="0"/>
                                      <a:ea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𝑒</m:t>
                                  </m:r>
                                </m:e>
                                <m:sup>
                                  <m:r>
                                    <a:rPr lang="es-EC" sz="2400" i="1">
                                      <a:latin typeface="Cambria Math" panose="02040503050406030204" pitchFamily="18" charset="0"/>
                                      <a:ea typeface="Cambria Math" panose="02040503050406030204" pitchFamily="18" charset="0"/>
                                    </a:rPr>
                                    <m:t>−</m:t>
                                  </m:r>
                                  <m:r>
                                    <a:rPr lang="es-EC" sz="2400" i="1" smtClean="0">
                                      <a:latin typeface="Cambria Math" panose="02040503050406030204" pitchFamily="18" charset="0"/>
                                      <a:ea typeface="Cambria Math" panose="02040503050406030204" pitchFamily="18" charset="0"/>
                                    </a:rPr>
                                    <m:t>𝜆</m:t>
                                  </m:r>
                                  <m:r>
                                    <a:rPr lang="es-EC" sz="2400" b="0" i="1" smtClean="0">
                                      <a:latin typeface="Cambria Math" panose="02040503050406030204" pitchFamily="18" charset="0"/>
                                      <a:ea typeface="Cambria Math" panose="02040503050406030204" pitchFamily="18" charset="0"/>
                                    </a:rPr>
                                    <m:t>𝑡</m:t>
                                  </m:r>
                                </m:sup>
                              </m:sSup>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𝑡</m:t>
                              </m:r>
                              <m:r>
                                <a:rPr lang="es-EC" sz="2400" b="0" i="1" smtClean="0">
                                  <a:latin typeface="Cambria Math" panose="02040503050406030204" pitchFamily="18" charset="0"/>
                                  <a:ea typeface="Cambria Math" panose="02040503050406030204" pitchFamily="18" charset="0"/>
                                </a:rPr>
                                <m:t>≥0</m:t>
                              </m:r>
                            </m:e>
                            <m:e/>
                            <m:e>
                              <m:r>
                                <a:rPr lang="es-EC" sz="2400" b="0" i="1" smtClean="0">
                                  <a:latin typeface="Cambria Math" panose="02040503050406030204" pitchFamily="18" charset="0"/>
                                  <a:ea typeface="Cambria Math" panose="02040503050406030204" pitchFamily="18" charset="0"/>
                                </a:rPr>
                                <m:t> </m:t>
                              </m:r>
                            </m:e>
                            <m:e>
                              <m:r>
                                <a:rPr lang="es-EC" sz="2400" b="0" i="1" smtClean="0">
                                  <a:latin typeface="Cambria Math" panose="02040503050406030204" pitchFamily="18" charset="0"/>
                                  <a:ea typeface="Cambria Math" panose="02040503050406030204" pitchFamily="18" charset="0"/>
                                </a:rPr>
                                <m:t>0                               </m:t>
                              </m:r>
                              <m:r>
                                <a:rPr lang="es-EC" sz="2400" b="0" i="1" smtClean="0">
                                  <a:latin typeface="Cambria Math" panose="02040503050406030204" pitchFamily="18" charset="0"/>
                                  <a:ea typeface="Cambria Math" panose="02040503050406030204" pitchFamily="18" charset="0"/>
                                </a:rPr>
                                <m:t>𝑡</m:t>
                              </m:r>
                              <m:r>
                                <a:rPr lang="es-EC" sz="2400" b="0" i="1" smtClean="0">
                                  <a:latin typeface="Cambria Math" panose="02040503050406030204" pitchFamily="18" charset="0"/>
                                  <a:ea typeface="Cambria Math" panose="02040503050406030204" pitchFamily="18" charset="0"/>
                                </a:rPr>
                                <m:t>&lt;0</m:t>
                              </m:r>
                            </m:e>
                          </m:eqArr>
                        </m:e>
                      </m:d>
                    </m:oMath>
                  </m:oMathPara>
                </a14:m>
                <a:endParaRPr lang="es-EC" sz="2400" dirty="0">
                  <a:latin typeface="Cambria Math" panose="02040503050406030204" pitchFamily="18" charset="0"/>
                  <a:ea typeface="Cambria Math" panose="02040503050406030204" pitchFamily="18" charset="0"/>
                </a:endParaRPr>
              </a:p>
            </p:txBody>
          </p:sp>
        </mc:Choice>
        <mc:Fallback xmlns="">
          <p:sp>
            <p:nvSpPr>
              <p:cNvPr id="13" name="CuadroTexto 12"/>
              <p:cNvSpPr txBox="1">
                <a:spLocks noRot="1" noChangeAspect="1" noMove="1" noResize="1" noEditPoints="1" noAdjustHandles="1" noChangeArrowheads="1" noChangeShapeType="1" noTextEdit="1"/>
              </p:cNvSpPr>
              <p:nvPr/>
            </p:nvSpPr>
            <p:spPr>
              <a:xfrm>
                <a:off x="5922785" y="2367708"/>
                <a:ext cx="5291675" cy="1664815"/>
              </a:xfrm>
              <a:prstGeom prst="rect">
                <a:avLst/>
              </a:prstGeom>
              <a:blipFill rotWithShape="0">
                <a:blip r:embed="rId9"/>
                <a:stretch>
                  <a:fillRect/>
                </a:stretch>
              </a:blipFill>
            </p:spPr>
            <p:txBody>
              <a:bodyPr/>
              <a:lstStyle/>
              <a:p>
                <a:r>
                  <a:rPr lang="es-EC">
                    <a:noFill/>
                  </a:rPr>
                  <a:t> </a:t>
                </a:r>
              </a:p>
            </p:txBody>
          </p:sp>
        </mc:Fallback>
      </mc:AlternateContent>
      <p:sp>
        <p:nvSpPr>
          <p:cNvPr id="14" name="CuadroTexto 13"/>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3820820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68039" y="913398"/>
            <a:ext cx="4683718" cy="523220"/>
          </a:xfrm>
          <a:prstGeom prst="rect">
            <a:avLst/>
          </a:prstGeom>
        </p:spPr>
        <p:txBody>
          <a:bodyPr wrap="none">
            <a:spAutoFit/>
          </a:bodyPr>
          <a:lstStyle/>
          <a:p>
            <a:r>
              <a:rPr lang="es-EC" sz="2800" b="1" dirty="0"/>
              <a:t>Modelos Aleatorios Continuos</a:t>
            </a:r>
          </a:p>
        </p:txBody>
      </p:sp>
      <p:sp>
        <p:nvSpPr>
          <p:cNvPr id="4" name="Rectángulo 3"/>
          <p:cNvSpPr/>
          <p:nvPr/>
        </p:nvSpPr>
        <p:spPr>
          <a:xfrm>
            <a:off x="1456902" y="1388012"/>
            <a:ext cx="4064831" cy="523220"/>
          </a:xfrm>
          <a:prstGeom prst="rect">
            <a:avLst/>
          </a:prstGeom>
        </p:spPr>
        <p:txBody>
          <a:bodyPr wrap="none">
            <a:spAutoFit/>
          </a:bodyPr>
          <a:lstStyle/>
          <a:p>
            <a:r>
              <a:rPr lang="es-EC" sz="2800" b="1" dirty="0"/>
              <a:t>Distribución Xi - Cuadrado</a:t>
            </a:r>
            <a:endParaRPr lang="es-EC" sz="2800" b="1" baseline="60000" dirty="0"/>
          </a:p>
        </p:txBody>
      </p:sp>
      <p:sp>
        <p:nvSpPr>
          <p:cNvPr id="5" name="Rectángulo 4"/>
          <p:cNvSpPr/>
          <p:nvPr/>
        </p:nvSpPr>
        <p:spPr>
          <a:xfrm>
            <a:off x="1456902" y="2074757"/>
            <a:ext cx="9887810" cy="830997"/>
          </a:xfrm>
          <a:prstGeom prst="rect">
            <a:avLst/>
          </a:prstGeom>
        </p:spPr>
        <p:txBody>
          <a:bodyPr wrap="square">
            <a:spAutoFit/>
          </a:bodyPr>
          <a:lstStyle/>
          <a:p>
            <a:r>
              <a:rPr lang="es-EC" sz="2400" dirty="0"/>
              <a:t>Si una distribución Gamma, tiene parámetros </a:t>
            </a:r>
            <a:r>
              <a:rPr lang="el-GR" sz="2400" dirty="0"/>
              <a:t>α</a:t>
            </a:r>
            <a:r>
              <a:rPr lang="es-EC" sz="2400" dirty="0"/>
              <a:t> = </a:t>
            </a:r>
            <a:r>
              <a:rPr lang="es-EC" sz="2400" i="1" dirty="0"/>
              <a:t>v/2</a:t>
            </a:r>
            <a:r>
              <a:rPr lang="es-EC" sz="2400" dirty="0"/>
              <a:t>  y </a:t>
            </a:r>
            <a:r>
              <a:rPr lang="el-GR" sz="2400" dirty="0"/>
              <a:t>β</a:t>
            </a:r>
            <a:r>
              <a:rPr lang="es-EC" sz="2400" dirty="0"/>
              <a:t> = 2; su función de densidad se denomina Xi-Cuadrado y está dada por </a:t>
            </a:r>
          </a:p>
        </p:txBody>
      </p:sp>
      <mc:AlternateContent xmlns:mc="http://schemas.openxmlformats.org/markup-compatibility/2006" xmlns:a14="http://schemas.microsoft.com/office/drawing/2010/main">
        <mc:Choice Requires="a14">
          <p:sp>
            <p:nvSpPr>
              <p:cNvPr id="6" name="CuadroTexto 5"/>
              <p:cNvSpPr txBox="1"/>
              <p:nvPr/>
            </p:nvSpPr>
            <p:spPr>
              <a:xfrm>
                <a:off x="2080675" y="3130032"/>
                <a:ext cx="8749249" cy="2072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sz="2200" i="1" smtClean="0">
                          <a:latin typeface="Cambria Math" panose="02040503050406030204" pitchFamily="18" charset="0"/>
                          <a:ea typeface="Cambria Math" panose="02040503050406030204" pitchFamily="18" charset="0"/>
                        </a:rPr>
                        <m:t>𝑓</m:t>
                      </m:r>
                      <m:d>
                        <m:dPr>
                          <m:ctrlPr>
                            <a:rPr lang="pt-BR" sz="2200" i="1" smtClean="0">
                              <a:latin typeface="Cambria Math" panose="02040503050406030204" pitchFamily="18" charset="0"/>
                              <a:ea typeface="Cambria Math" panose="02040503050406030204" pitchFamily="18" charset="0"/>
                            </a:rPr>
                          </m:ctrlPr>
                        </m:dPr>
                        <m:e>
                          <m:r>
                            <a:rPr lang="pt-BR" sz="2200" i="1" smtClean="0">
                              <a:latin typeface="Cambria Math" panose="02040503050406030204" pitchFamily="18" charset="0"/>
                              <a:ea typeface="Cambria Math" panose="02040503050406030204" pitchFamily="18" charset="0"/>
                            </a:rPr>
                            <m:t>𝑥</m:t>
                          </m:r>
                        </m:e>
                      </m:d>
                      <m:r>
                        <a:rPr lang="pt-BR" sz="2200" i="1" smtClean="0">
                          <a:latin typeface="Cambria Math" panose="02040503050406030204" pitchFamily="18" charset="0"/>
                          <a:ea typeface="Cambria Math" panose="02040503050406030204" pitchFamily="18" charset="0"/>
                        </a:rPr>
                        <m:t>=</m:t>
                      </m:r>
                      <m:d>
                        <m:dPr>
                          <m:begChr m:val="{"/>
                          <m:endChr m:val=""/>
                          <m:ctrlPr>
                            <a:rPr lang="pt-BR" sz="2200" i="1" smtClean="0">
                              <a:latin typeface="Cambria Math" panose="02040503050406030204" pitchFamily="18" charset="0"/>
                              <a:ea typeface="Cambria Math" panose="02040503050406030204" pitchFamily="18" charset="0"/>
                            </a:rPr>
                          </m:ctrlPr>
                        </m:dPr>
                        <m:e>
                          <m:eqArr>
                            <m:eqArrPr>
                              <m:ctrlPr>
                                <a:rPr lang="pt-BR" sz="2200" i="1">
                                  <a:latin typeface="Cambria Math" panose="02040503050406030204" pitchFamily="18" charset="0"/>
                                  <a:ea typeface="Cambria Math" panose="02040503050406030204" pitchFamily="18" charset="0"/>
                                </a:rPr>
                              </m:ctrlPr>
                            </m:eqArrPr>
                            <m:e>
                              <m:eqArr>
                                <m:eqArrPr>
                                  <m:ctrlPr>
                                    <a:rPr lang="pt-BR" sz="2200" i="1">
                                      <a:latin typeface="Cambria Math" panose="02040503050406030204" pitchFamily="18" charset="0"/>
                                      <a:ea typeface="Cambria Math" panose="02040503050406030204" pitchFamily="18" charset="0"/>
                                    </a:rPr>
                                  </m:ctrlPr>
                                </m:eqArrPr>
                                <m:e>
                                  <m:f>
                                    <m:fPr>
                                      <m:ctrlPr>
                                        <a:rPr lang="pt-BR" sz="2200" i="1">
                                          <a:latin typeface="Cambria Math" panose="02040503050406030204" pitchFamily="18" charset="0"/>
                                          <a:ea typeface="Cambria Math" panose="02040503050406030204" pitchFamily="18" charset="0"/>
                                        </a:rPr>
                                      </m:ctrlPr>
                                    </m:fPr>
                                    <m:num>
                                      <m:r>
                                        <a:rPr lang="es-EC" sz="2200" i="1">
                                          <a:latin typeface="Cambria Math" panose="02040503050406030204" pitchFamily="18" charset="0"/>
                                          <a:ea typeface="Cambria Math" panose="02040503050406030204" pitchFamily="18" charset="0"/>
                                        </a:rPr>
                                        <m:t>1</m:t>
                                      </m:r>
                                    </m:num>
                                    <m:den>
                                      <m:sSup>
                                        <m:sSupPr>
                                          <m:ctrlPr>
                                            <a:rPr lang="es-EC" sz="2200" i="1" smtClean="0">
                                              <a:latin typeface="Cambria Math" panose="02040503050406030204" pitchFamily="18" charset="0"/>
                                              <a:ea typeface="Cambria Math" panose="02040503050406030204" pitchFamily="18" charset="0"/>
                                            </a:rPr>
                                          </m:ctrlPr>
                                        </m:sSupPr>
                                        <m:e>
                                          <m:r>
                                            <a:rPr lang="es-EC" sz="2200" b="0" i="1" smtClean="0">
                                              <a:latin typeface="Cambria Math" panose="02040503050406030204" pitchFamily="18" charset="0"/>
                                              <a:ea typeface="Cambria Math" panose="02040503050406030204" pitchFamily="18" charset="0"/>
                                            </a:rPr>
                                            <m:t>2</m:t>
                                          </m:r>
                                        </m:e>
                                        <m:sup>
                                          <m:f>
                                            <m:fPr>
                                              <m:ctrlPr>
                                                <a:rPr lang="es-EC" sz="2200" i="1" smtClean="0">
                                                  <a:latin typeface="Cambria Math" panose="02040503050406030204" pitchFamily="18" charset="0"/>
                                                  <a:ea typeface="Cambria Math" panose="02040503050406030204" pitchFamily="18" charset="0"/>
                                                </a:rPr>
                                              </m:ctrlPr>
                                            </m:fPr>
                                            <m:num>
                                              <m:r>
                                                <a:rPr lang="es-EC" sz="2200" b="0" i="1" smtClean="0">
                                                  <a:latin typeface="Cambria Math" panose="02040503050406030204" pitchFamily="18" charset="0"/>
                                                  <a:ea typeface="Cambria Math" panose="02040503050406030204" pitchFamily="18" charset="0"/>
                                                </a:rPr>
                                                <m:t>𝑣</m:t>
                                              </m:r>
                                            </m:num>
                                            <m:den>
                                              <m:r>
                                                <a:rPr lang="es-EC" sz="2200" b="0" i="1" smtClean="0">
                                                  <a:latin typeface="Cambria Math" panose="02040503050406030204" pitchFamily="18" charset="0"/>
                                                  <a:ea typeface="Cambria Math" panose="02040503050406030204" pitchFamily="18" charset="0"/>
                                                </a:rPr>
                                                <m:t>2</m:t>
                                              </m:r>
                                            </m:den>
                                          </m:f>
                                        </m:sup>
                                      </m:sSup>
                                      <m:r>
                                        <m:rPr>
                                          <m:sty m:val="p"/>
                                        </m:rPr>
                                        <a:rPr lang="el-GR" sz="2200" i="1">
                                          <a:latin typeface="Cambria Math" panose="02040503050406030204" pitchFamily="18" charset="0"/>
                                          <a:ea typeface="Cambria Math" panose="02040503050406030204" pitchFamily="18" charset="0"/>
                                        </a:rPr>
                                        <m:t>Γ</m:t>
                                      </m:r>
                                      <m:d>
                                        <m:dPr>
                                          <m:ctrlPr>
                                            <a:rPr lang="el-GR" sz="2200" i="1">
                                              <a:latin typeface="Cambria Math" panose="02040503050406030204" pitchFamily="18" charset="0"/>
                                              <a:ea typeface="Cambria Math" panose="02040503050406030204" pitchFamily="18" charset="0"/>
                                            </a:rPr>
                                          </m:ctrlPr>
                                        </m:dPr>
                                        <m:e>
                                          <m:f>
                                            <m:fPr>
                                              <m:ctrlPr>
                                                <a:rPr lang="es-EC" sz="2200" i="1">
                                                  <a:latin typeface="Cambria Math" panose="02040503050406030204" pitchFamily="18" charset="0"/>
                                                  <a:ea typeface="Cambria Math" panose="02040503050406030204" pitchFamily="18" charset="0"/>
                                                </a:rPr>
                                              </m:ctrlPr>
                                            </m:fPr>
                                            <m:num>
                                              <m:r>
                                                <a:rPr lang="es-EC" sz="2200" i="1">
                                                  <a:latin typeface="Cambria Math" panose="02040503050406030204" pitchFamily="18" charset="0"/>
                                                  <a:ea typeface="Cambria Math" panose="02040503050406030204" pitchFamily="18" charset="0"/>
                                                </a:rPr>
                                                <m:t>𝑣</m:t>
                                              </m:r>
                                            </m:num>
                                            <m:den>
                                              <m:r>
                                                <a:rPr lang="es-EC" sz="2200" i="1">
                                                  <a:latin typeface="Cambria Math" panose="02040503050406030204" pitchFamily="18" charset="0"/>
                                                  <a:ea typeface="Cambria Math" panose="02040503050406030204" pitchFamily="18" charset="0"/>
                                                </a:rPr>
                                                <m:t>2</m:t>
                                              </m:r>
                                            </m:den>
                                          </m:f>
                                        </m:e>
                                      </m:d>
                                    </m:den>
                                  </m:f>
                                  <m:sSup>
                                    <m:sSupPr>
                                      <m:ctrlPr>
                                        <a:rPr lang="es-EC" sz="2200" i="1">
                                          <a:latin typeface="Cambria Math" panose="02040503050406030204" pitchFamily="18" charset="0"/>
                                          <a:ea typeface="Cambria Math" panose="02040503050406030204" pitchFamily="18" charset="0"/>
                                        </a:rPr>
                                      </m:ctrlPr>
                                    </m:sSupPr>
                                    <m:e>
                                      <m:r>
                                        <a:rPr lang="es-EC" sz="2200" i="1">
                                          <a:latin typeface="Cambria Math" panose="02040503050406030204" pitchFamily="18" charset="0"/>
                                          <a:ea typeface="Cambria Math" panose="02040503050406030204" pitchFamily="18" charset="0"/>
                                        </a:rPr>
                                        <m:t>𝑥</m:t>
                                      </m:r>
                                    </m:e>
                                    <m:sup>
                                      <m:f>
                                        <m:fPr>
                                          <m:ctrlPr>
                                            <a:rPr lang="es-EC" sz="2200" i="1">
                                              <a:latin typeface="Cambria Math" panose="02040503050406030204" pitchFamily="18" charset="0"/>
                                              <a:ea typeface="Cambria Math" panose="02040503050406030204" pitchFamily="18" charset="0"/>
                                            </a:rPr>
                                          </m:ctrlPr>
                                        </m:fPr>
                                        <m:num>
                                          <m:r>
                                            <a:rPr lang="es-EC" sz="2200" i="1">
                                              <a:latin typeface="Cambria Math" panose="02040503050406030204" pitchFamily="18" charset="0"/>
                                              <a:ea typeface="Cambria Math" panose="02040503050406030204" pitchFamily="18" charset="0"/>
                                            </a:rPr>
                                            <m:t>𝑣</m:t>
                                          </m:r>
                                        </m:num>
                                        <m:den>
                                          <m:r>
                                            <a:rPr lang="es-EC" sz="2200" i="1">
                                              <a:latin typeface="Cambria Math" panose="02040503050406030204" pitchFamily="18" charset="0"/>
                                              <a:ea typeface="Cambria Math" panose="02040503050406030204" pitchFamily="18" charset="0"/>
                                            </a:rPr>
                                            <m:t>2</m:t>
                                          </m:r>
                                        </m:den>
                                      </m:f>
                                      <m:r>
                                        <a:rPr lang="es-EC" sz="2200" i="1">
                                          <a:latin typeface="Cambria Math" panose="02040503050406030204" pitchFamily="18" charset="0"/>
                                          <a:ea typeface="Cambria Math" panose="02040503050406030204" pitchFamily="18" charset="0"/>
                                        </a:rPr>
                                        <m:t>−1</m:t>
                                      </m:r>
                                    </m:sup>
                                  </m:sSup>
                                  <m:sSup>
                                    <m:sSupPr>
                                      <m:ctrlPr>
                                        <a:rPr lang="es-EC" sz="2200" i="1">
                                          <a:latin typeface="Cambria Math" panose="02040503050406030204" pitchFamily="18" charset="0"/>
                                          <a:ea typeface="Cambria Math" panose="02040503050406030204" pitchFamily="18" charset="0"/>
                                        </a:rPr>
                                      </m:ctrlPr>
                                    </m:sSupPr>
                                    <m:e>
                                      <m:r>
                                        <a:rPr lang="es-EC" sz="2200" i="1">
                                          <a:latin typeface="Cambria Math" panose="02040503050406030204" pitchFamily="18" charset="0"/>
                                          <a:ea typeface="Cambria Math" panose="02040503050406030204" pitchFamily="18" charset="0"/>
                                        </a:rPr>
                                        <m:t>𝑒</m:t>
                                      </m:r>
                                    </m:e>
                                    <m:sup>
                                      <m:r>
                                        <a:rPr lang="es-EC" sz="2200" i="1">
                                          <a:latin typeface="Cambria Math" panose="02040503050406030204" pitchFamily="18" charset="0"/>
                                          <a:ea typeface="Cambria Math" panose="02040503050406030204" pitchFamily="18" charset="0"/>
                                        </a:rPr>
                                        <m:t>−</m:t>
                                      </m:r>
                                      <m:f>
                                        <m:fPr>
                                          <m:ctrlPr>
                                            <a:rPr lang="es-EC" sz="2200" i="1" smtClean="0">
                                              <a:latin typeface="Cambria Math" panose="02040503050406030204" pitchFamily="18" charset="0"/>
                                              <a:ea typeface="Cambria Math" panose="02040503050406030204" pitchFamily="18" charset="0"/>
                                            </a:rPr>
                                          </m:ctrlPr>
                                        </m:fPr>
                                        <m:num>
                                          <m:r>
                                            <a:rPr lang="es-EC" sz="2200" b="0" i="1" smtClean="0">
                                              <a:latin typeface="Cambria Math" panose="02040503050406030204" pitchFamily="18" charset="0"/>
                                              <a:ea typeface="Cambria Math" panose="02040503050406030204" pitchFamily="18" charset="0"/>
                                            </a:rPr>
                                            <m:t>𝑥</m:t>
                                          </m:r>
                                        </m:num>
                                        <m:den>
                                          <m:r>
                                            <a:rPr lang="es-EC" sz="2200" b="0" i="1" smtClean="0">
                                              <a:latin typeface="Cambria Math" panose="02040503050406030204" pitchFamily="18" charset="0"/>
                                              <a:ea typeface="Cambria Math" panose="02040503050406030204" pitchFamily="18" charset="0"/>
                                            </a:rPr>
                                            <m:t>2</m:t>
                                          </m:r>
                                        </m:den>
                                      </m:f>
                                    </m:sup>
                                  </m:sSup>
                                </m:e>
                                <m:e>
                                  <m:r>
                                    <a:rPr lang="es-EC" sz="2200" b="0" i="1" smtClean="0">
                                      <a:latin typeface="Cambria Math" panose="02040503050406030204" pitchFamily="18" charset="0"/>
                                      <a:ea typeface="Cambria Math" panose="02040503050406030204" pitchFamily="18" charset="0"/>
                                    </a:rPr>
                                    <m:t> </m:t>
                                  </m:r>
                                </m:e>
                              </m:eqArr>
                              <m:r>
                                <a:rPr lang="es-EC" sz="2200" b="0" i="1" smtClean="0">
                                  <a:latin typeface="Cambria Math" panose="02040503050406030204" pitchFamily="18" charset="0"/>
                                  <a:ea typeface="Cambria Math" panose="02040503050406030204" pitchFamily="18" charset="0"/>
                                </a:rPr>
                                <m:t>                </m:t>
                              </m:r>
                              <m:r>
                                <a:rPr lang="es-EC" sz="2200" b="0" i="1" smtClean="0">
                                  <a:latin typeface="Cambria Math" panose="02040503050406030204" pitchFamily="18" charset="0"/>
                                  <a:ea typeface="Cambria Math" panose="02040503050406030204" pitchFamily="18" charset="0"/>
                                </a:rPr>
                                <m:t>𝑥</m:t>
                              </m:r>
                              <m:r>
                                <a:rPr lang="es-EC" sz="2200" b="0" i="1" smtClean="0">
                                  <a:latin typeface="Cambria Math" panose="02040503050406030204" pitchFamily="18" charset="0"/>
                                  <a:ea typeface="Cambria Math" panose="02040503050406030204" pitchFamily="18" charset="0"/>
                                </a:rPr>
                                <m:t>&gt;0;</m:t>
                              </m:r>
                              <m:r>
                                <a:rPr lang="es-EC" sz="2200" i="1">
                                  <a:latin typeface="Cambria Math" panose="02040503050406030204" pitchFamily="18" charset="0"/>
                                </a:rPr>
                                <m:t>𝑣</m:t>
                              </m:r>
                              <m:r>
                                <a:rPr lang="es-EC" sz="2200" i="1">
                                  <a:latin typeface="Cambria Math" panose="02040503050406030204" pitchFamily="18" charset="0"/>
                                </a:rPr>
                                <m:t> </m:t>
                              </m:r>
                              <m:r>
                                <a:rPr lang="es-EC" sz="2200" i="1">
                                  <a:latin typeface="Cambria Math" panose="02040503050406030204" pitchFamily="18" charset="0"/>
                                </a:rPr>
                                <m:t>𝑒𝑠</m:t>
                              </m:r>
                              <m:r>
                                <a:rPr lang="es-EC" sz="2200" i="1">
                                  <a:latin typeface="Cambria Math" panose="02040503050406030204" pitchFamily="18" charset="0"/>
                                </a:rPr>
                                <m:t> </m:t>
                              </m:r>
                              <m:r>
                                <a:rPr lang="es-EC" sz="2200" i="1">
                                  <a:latin typeface="Cambria Math" panose="02040503050406030204" pitchFamily="18" charset="0"/>
                                </a:rPr>
                                <m:t>𝑒𝑛𝑡𝑒𝑟𝑜</m:t>
                              </m:r>
                              <m:r>
                                <a:rPr lang="es-EC" sz="2200" i="1">
                                  <a:latin typeface="Cambria Math" panose="02040503050406030204" pitchFamily="18" charset="0"/>
                                </a:rPr>
                                <m:t> </m:t>
                              </m:r>
                              <m:r>
                                <a:rPr lang="es-EC" sz="2200" i="1">
                                  <a:latin typeface="Cambria Math" panose="02040503050406030204" pitchFamily="18" charset="0"/>
                                </a:rPr>
                                <m:t>𝑝𝑜𝑠𝑖𝑡𝑖𝑣𝑜</m:t>
                              </m:r>
                              <m:r>
                                <m:rPr>
                                  <m:nor/>
                                </m:rPr>
                                <a:rPr lang="es-EC" sz="2200" dirty="0"/>
                                <m:t> </m:t>
                              </m:r>
                            </m:e>
                            <m:e/>
                            <m:e>
                              <m:r>
                                <a:rPr lang="es-EC" sz="2200" b="0" i="1" smtClean="0">
                                  <a:latin typeface="Cambria Math" panose="02040503050406030204" pitchFamily="18" charset="0"/>
                                  <a:ea typeface="Cambria Math" panose="02040503050406030204" pitchFamily="18" charset="0"/>
                                </a:rPr>
                                <m:t> </m:t>
                              </m:r>
                            </m:e>
                            <m:e>
                              <m:r>
                                <a:rPr lang="es-EC" sz="2200" b="0" i="1" smtClean="0">
                                  <a:latin typeface="Cambria Math" panose="02040503050406030204" pitchFamily="18" charset="0"/>
                                  <a:ea typeface="Cambria Math" panose="02040503050406030204" pitchFamily="18" charset="0"/>
                                </a:rPr>
                                <m:t>0                                      </m:t>
                              </m:r>
                              <m:r>
                                <a:rPr lang="es-EC" sz="2200" b="0" i="1" smtClean="0">
                                  <a:latin typeface="Cambria Math" panose="02040503050406030204" pitchFamily="18" charset="0"/>
                                  <a:ea typeface="Cambria Math" panose="02040503050406030204" pitchFamily="18" charset="0"/>
                                </a:rPr>
                                <m:t>𝑆𝑖</m:t>
                              </m:r>
                              <m:r>
                                <a:rPr lang="es-EC" sz="2200" b="0" i="1" smtClean="0">
                                  <a:latin typeface="Cambria Math" panose="02040503050406030204" pitchFamily="18" charset="0"/>
                                  <a:ea typeface="Cambria Math" panose="02040503050406030204" pitchFamily="18" charset="0"/>
                                </a:rPr>
                                <m:t> </m:t>
                              </m:r>
                              <m:r>
                                <a:rPr lang="es-EC" sz="2200" b="0" i="1" smtClean="0">
                                  <a:latin typeface="Cambria Math" panose="02040503050406030204" pitchFamily="18" charset="0"/>
                                  <a:ea typeface="Cambria Math" panose="02040503050406030204" pitchFamily="18" charset="0"/>
                                </a:rPr>
                                <m:t>𝑛𝑜</m:t>
                              </m:r>
                            </m:e>
                          </m:eqArr>
                        </m:e>
                      </m:d>
                    </m:oMath>
                  </m:oMathPara>
                </a14:m>
                <a:endParaRPr lang="es-EC" sz="2200" dirty="0">
                  <a:latin typeface="Cambria Math" panose="02040503050406030204" pitchFamily="18" charset="0"/>
                  <a:ea typeface="Cambria Math" panose="02040503050406030204" pitchFamily="18" charset="0"/>
                </a:endParaRPr>
              </a:p>
            </p:txBody>
          </p:sp>
        </mc:Choice>
        <mc:Fallback xmlns="">
          <p:sp>
            <p:nvSpPr>
              <p:cNvPr id="6" name="CuadroTexto 5"/>
              <p:cNvSpPr txBox="1">
                <a:spLocks noRot="1" noChangeAspect="1" noMove="1" noResize="1" noEditPoints="1" noAdjustHandles="1" noChangeArrowheads="1" noChangeShapeType="1" noTextEdit="1"/>
              </p:cNvSpPr>
              <p:nvPr/>
            </p:nvSpPr>
            <p:spPr>
              <a:xfrm>
                <a:off x="2080675" y="3130032"/>
                <a:ext cx="8749249" cy="2072234"/>
              </a:xfrm>
              <a:prstGeom prst="rect">
                <a:avLst/>
              </a:prstGeom>
              <a:blipFill rotWithShape="0">
                <a:blip r:embed="rId2"/>
                <a:stretch>
                  <a:fillRect/>
                </a:stretch>
              </a:blipFill>
            </p:spPr>
            <p:txBody>
              <a:bodyPr/>
              <a:lstStyle/>
              <a:p>
                <a:r>
                  <a:rPr lang="es-EC">
                    <a:noFill/>
                  </a:rPr>
                  <a:t> </a:t>
                </a:r>
              </a:p>
            </p:txBody>
          </p:sp>
        </mc:Fallback>
      </mc:AlternateContent>
      <p:sp>
        <p:nvSpPr>
          <p:cNvPr id="8" name="Rectángulo 7"/>
          <p:cNvSpPr/>
          <p:nvPr/>
        </p:nvSpPr>
        <p:spPr>
          <a:xfrm>
            <a:off x="1084990" y="5681229"/>
            <a:ext cx="933269" cy="430887"/>
          </a:xfrm>
          <a:prstGeom prst="rect">
            <a:avLst/>
          </a:prstGeom>
        </p:spPr>
        <p:txBody>
          <a:bodyPr wrap="none">
            <a:spAutoFit/>
          </a:bodyPr>
          <a:lstStyle/>
          <a:p>
            <a:r>
              <a:rPr lang="es-EC" sz="2200" b="1" dirty="0"/>
              <a:t>Media</a:t>
            </a:r>
            <a:endParaRPr lang="es-EC" sz="2200" dirty="0"/>
          </a:p>
        </p:txBody>
      </p:sp>
      <p:sp>
        <p:nvSpPr>
          <p:cNvPr id="9" name="Rectángulo 8"/>
          <p:cNvSpPr/>
          <p:nvPr/>
        </p:nvSpPr>
        <p:spPr>
          <a:xfrm>
            <a:off x="5904434" y="5730653"/>
            <a:ext cx="1183401" cy="430887"/>
          </a:xfrm>
          <a:prstGeom prst="rect">
            <a:avLst/>
          </a:prstGeom>
        </p:spPr>
        <p:txBody>
          <a:bodyPr wrap="none">
            <a:spAutoFit/>
          </a:bodyPr>
          <a:lstStyle/>
          <a:p>
            <a:r>
              <a:rPr lang="es-EC" sz="2200" b="1" dirty="0"/>
              <a:t>Varianza</a:t>
            </a:r>
            <a:endParaRPr lang="es-EC" sz="2200" dirty="0"/>
          </a:p>
        </p:txBody>
      </p:sp>
      <mc:AlternateContent xmlns:mc="http://schemas.openxmlformats.org/markup-compatibility/2006" xmlns:a14="http://schemas.microsoft.com/office/drawing/2010/main">
        <mc:Choice Requires="a14">
          <p:sp>
            <p:nvSpPr>
              <p:cNvPr id="10" name="Rectángulo 9"/>
              <p:cNvSpPr/>
              <p:nvPr/>
            </p:nvSpPr>
            <p:spPr>
              <a:xfrm>
                <a:off x="2323665" y="5721752"/>
                <a:ext cx="123892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000" b="0" i="0" smtClean="0">
                          <a:latin typeface="Cambria Math" panose="02040503050406030204" pitchFamily="18" charset="0"/>
                        </a:rPr>
                        <m:t>E</m:t>
                      </m:r>
                      <m:d>
                        <m:dPr>
                          <m:ctrlPr>
                            <a:rPr lang="es-EC" sz="2000" i="1">
                              <a:latin typeface="Cambria Math" panose="02040503050406030204" pitchFamily="18" charset="0"/>
                            </a:rPr>
                          </m:ctrlPr>
                        </m:dPr>
                        <m:e>
                          <m:r>
                            <m:rPr>
                              <m:sty m:val="p"/>
                            </m:rPr>
                            <a:rPr lang="es-EC" sz="2000" b="0" i="0">
                              <a:latin typeface="Cambria Math" panose="02040503050406030204" pitchFamily="18" charset="0"/>
                            </a:rPr>
                            <m:t>X</m:t>
                          </m:r>
                        </m:e>
                      </m:d>
                      <m:r>
                        <a:rPr lang="es-EC" sz="2000" b="0" i="0">
                          <a:latin typeface="Cambria Math" panose="02040503050406030204" pitchFamily="18" charset="0"/>
                        </a:rPr>
                        <m:t>=</m:t>
                      </m:r>
                      <m:r>
                        <m:rPr>
                          <m:sty m:val="p"/>
                        </m:rPr>
                        <a:rPr lang="es-EC" sz="2000" b="0" i="0" smtClean="0">
                          <a:latin typeface="Cambria Math" panose="02040503050406030204" pitchFamily="18" charset="0"/>
                          <a:ea typeface="Cambria Math" panose="02040503050406030204" pitchFamily="18" charset="0"/>
                        </a:rPr>
                        <m:t>v</m:t>
                      </m:r>
                    </m:oMath>
                  </m:oMathPara>
                </a14:m>
                <a:endParaRPr lang="es-EC" sz="2000" dirty="0"/>
              </a:p>
            </p:txBody>
          </p:sp>
        </mc:Choice>
        <mc:Fallback xmlns="">
          <p:sp>
            <p:nvSpPr>
              <p:cNvPr id="10" name="Rectángulo 9"/>
              <p:cNvSpPr>
                <a:spLocks noRot="1" noChangeAspect="1" noMove="1" noResize="1" noEditPoints="1" noAdjustHandles="1" noChangeArrowheads="1" noChangeShapeType="1" noTextEdit="1"/>
              </p:cNvSpPr>
              <p:nvPr/>
            </p:nvSpPr>
            <p:spPr>
              <a:xfrm>
                <a:off x="2323665" y="5721752"/>
                <a:ext cx="1238929" cy="400110"/>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7466704" y="5712006"/>
                <a:ext cx="136396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C" sz="2000" b="0" i="0" smtClean="0">
                          <a:latin typeface="Cambria Math" panose="02040503050406030204" pitchFamily="18" charset="0"/>
                        </a:rPr>
                        <m:t>V</m:t>
                      </m:r>
                      <m:d>
                        <m:dPr>
                          <m:ctrlPr>
                            <a:rPr lang="es-EC" sz="2000" i="1">
                              <a:latin typeface="Cambria Math" panose="02040503050406030204" pitchFamily="18" charset="0"/>
                            </a:rPr>
                          </m:ctrlPr>
                        </m:dPr>
                        <m:e>
                          <m:r>
                            <m:rPr>
                              <m:sty m:val="p"/>
                            </m:rPr>
                            <a:rPr lang="es-EC" sz="2000" b="0" i="0">
                              <a:latin typeface="Cambria Math" panose="02040503050406030204" pitchFamily="18" charset="0"/>
                            </a:rPr>
                            <m:t>X</m:t>
                          </m:r>
                        </m:e>
                      </m:d>
                      <m:r>
                        <a:rPr lang="es-EC" sz="2000" b="0" i="0">
                          <a:latin typeface="Cambria Math" panose="02040503050406030204" pitchFamily="18" charset="0"/>
                        </a:rPr>
                        <m:t>=</m:t>
                      </m:r>
                      <m:r>
                        <a:rPr lang="es-EC" sz="2000" b="0" i="0" smtClean="0">
                          <a:latin typeface="Cambria Math" panose="02040503050406030204" pitchFamily="18" charset="0"/>
                        </a:rPr>
                        <m:t>2</m:t>
                      </m:r>
                      <m:r>
                        <m:rPr>
                          <m:sty m:val="p"/>
                        </m:rPr>
                        <a:rPr lang="es-EC" sz="2000" b="0" i="0" smtClean="0">
                          <a:latin typeface="Cambria Math" panose="02040503050406030204" pitchFamily="18" charset="0"/>
                        </a:rPr>
                        <m:t>v</m:t>
                      </m:r>
                    </m:oMath>
                  </m:oMathPara>
                </a14:m>
                <a:endParaRPr lang="es-EC" sz="2000" dirty="0"/>
              </a:p>
            </p:txBody>
          </p:sp>
        </mc:Choice>
        <mc:Fallback xmlns="">
          <p:sp>
            <p:nvSpPr>
              <p:cNvPr id="11" name="Rectángulo 10"/>
              <p:cNvSpPr>
                <a:spLocks noRot="1" noChangeAspect="1" noMove="1" noResize="1" noEditPoints="1" noAdjustHandles="1" noChangeArrowheads="1" noChangeShapeType="1" noTextEdit="1"/>
              </p:cNvSpPr>
              <p:nvPr/>
            </p:nvSpPr>
            <p:spPr>
              <a:xfrm>
                <a:off x="7466704" y="5712006"/>
                <a:ext cx="1363963" cy="400110"/>
              </a:xfrm>
              <a:prstGeom prst="rect">
                <a:avLst/>
              </a:prstGeom>
              <a:blipFill rotWithShape="0">
                <a:blip r:embed="rId4"/>
                <a:stretch>
                  <a:fillRect/>
                </a:stretch>
              </a:blipFill>
            </p:spPr>
            <p:txBody>
              <a:bodyPr/>
              <a:lstStyle/>
              <a:p>
                <a:r>
                  <a:rPr lang="es-EC">
                    <a:noFill/>
                  </a:rPr>
                  <a:t> </a:t>
                </a:r>
              </a:p>
            </p:txBody>
          </p:sp>
        </mc:Fallback>
      </mc:AlternateContent>
      <p:sp>
        <p:nvSpPr>
          <p:cNvPr id="12" name="CuadroTexto 11"/>
          <p:cNvSpPr txBox="1"/>
          <p:nvPr/>
        </p:nvSpPr>
        <p:spPr>
          <a:xfrm>
            <a:off x="268039" y="237208"/>
            <a:ext cx="7023141" cy="646331"/>
          </a:xfrm>
          <a:prstGeom prst="rect">
            <a:avLst/>
          </a:prstGeom>
          <a:noFill/>
        </p:spPr>
        <p:txBody>
          <a:bodyPr wrap="none" rtlCol="0">
            <a:spAutoFit/>
          </a:bodyPr>
          <a:lstStyle/>
          <a:p>
            <a:r>
              <a:rPr lang="es-EC" sz="3600" b="1" dirty="0"/>
              <a:t>VARIABLES ALEATORIAS - MODELOS</a:t>
            </a:r>
            <a:endParaRPr lang="es-EC" sz="4000" b="1" dirty="0"/>
          </a:p>
        </p:txBody>
      </p:sp>
    </p:spTree>
    <p:extLst>
      <p:ext uri="{BB962C8B-B14F-4D97-AF65-F5344CB8AC3E}">
        <p14:creationId xmlns:p14="http://schemas.microsoft.com/office/powerpoint/2010/main" val="1750171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815499"/>
            <a:ext cx="3883114" cy="523220"/>
          </a:xfrm>
          <a:prstGeom prst="rect">
            <a:avLst/>
          </a:prstGeom>
        </p:spPr>
        <p:txBody>
          <a:bodyPr wrap="none">
            <a:spAutoFit/>
          </a:bodyPr>
          <a:lstStyle/>
          <a:p>
            <a:r>
              <a:rPr lang="es-EC" sz="2800" b="1" dirty="0"/>
              <a:t>Distribuciones Conjuntas</a:t>
            </a:r>
          </a:p>
        </p:txBody>
      </p:sp>
      <mc:AlternateContent xmlns:mc="http://schemas.openxmlformats.org/markup-compatibility/2006" xmlns:a14="http://schemas.microsoft.com/office/drawing/2010/main">
        <mc:Choice Requires="a14">
          <p:sp>
            <p:nvSpPr>
              <p:cNvPr id="4" name="Rectángulo 3"/>
              <p:cNvSpPr/>
              <p:nvPr/>
            </p:nvSpPr>
            <p:spPr>
              <a:xfrm>
                <a:off x="1084990" y="1588982"/>
                <a:ext cx="10402160" cy="5160965"/>
              </a:xfrm>
              <a:prstGeom prst="rect">
                <a:avLst/>
              </a:prstGeom>
            </p:spPr>
            <p:txBody>
              <a:bodyPr wrap="square">
                <a:spAutoFit/>
              </a:bodyPr>
              <a:lstStyle/>
              <a:p>
                <a:r>
                  <a:rPr lang="es-EC" sz="2400" dirty="0"/>
                  <a:t>Sean  X e Y variables aleatorias se dice que la función f(</a:t>
                </a:r>
                <a:r>
                  <a:rPr lang="es-EC" sz="2400" dirty="0" err="1"/>
                  <a:t>x,y</a:t>
                </a:r>
                <a:r>
                  <a:rPr lang="es-EC" sz="2400" dirty="0"/>
                  <a:t>) es una distribución de probabilidad/densidad conjunta si:</a:t>
                </a:r>
              </a:p>
              <a:p>
                <a:endParaRPr lang="es-EC" sz="2400" dirty="0"/>
              </a:p>
              <a:p>
                <a:pPr marL="342900" indent="-342900">
                  <a:buFontTx/>
                  <a:buChar char="-"/>
                </a:pPr>
                <a14:m>
                  <m:oMath xmlns:m="http://schemas.openxmlformats.org/officeDocument/2006/math">
                    <m:r>
                      <a:rPr lang="es-EC" sz="2400" b="0" i="1" smtClean="0">
                        <a:latin typeface="Cambria Math" panose="02040503050406030204" pitchFamily="18" charset="0"/>
                      </a:rPr>
                      <m:t>𝑓</m:t>
                    </m:r>
                    <m:d>
                      <m:dPr>
                        <m:ctrlPr>
                          <a:rPr lang="es-EC" sz="2400" i="1" smtClean="0">
                            <a:latin typeface="Cambria Math" panose="02040503050406030204" pitchFamily="18" charset="0"/>
                          </a:rPr>
                        </m:ctrlPr>
                      </m:dPr>
                      <m:e>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𝑦</m:t>
                        </m:r>
                      </m:e>
                    </m:d>
                    <m:r>
                      <a:rPr lang="es-EC" sz="2400" b="0" i="1" smtClean="0">
                        <a:latin typeface="Cambria Math" panose="02040503050406030204" pitchFamily="18" charset="0"/>
                        <a:ea typeface="Cambria Math" panose="02040503050406030204" pitchFamily="18" charset="0"/>
                      </a:rPr>
                      <m:t>≥0; ∀ </m:t>
                    </m:r>
                    <m:r>
                      <a:rPr lang="es-EC" sz="2400" b="0" i="1" smtClean="0">
                        <a:latin typeface="Cambria Math" panose="02040503050406030204" pitchFamily="18" charset="0"/>
                        <a:ea typeface="Cambria Math" panose="02040503050406030204" pitchFamily="18" charset="0"/>
                      </a:rPr>
                      <m:t>𝑥</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𝑦</m:t>
                    </m:r>
                  </m:oMath>
                </a14:m>
                <a:endParaRPr lang="es-EC" sz="2400" dirty="0">
                  <a:ea typeface="Cambria Math" panose="02040503050406030204" pitchFamily="18" charset="0"/>
                </a:endParaRPr>
              </a:p>
              <a:p>
                <a:pPr marL="342900" indent="-342900">
                  <a:buFontTx/>
                  <a:buChar char="-"/>
                </a:pPr>
                <a:endParaRPr lang="es-EC" sz="2400" dirty="0"/>
              </a:p>
              <a:p>
                <a:pPr marL="342900" indent="-342900">
                  <a:buFontTx/>
                  <a:buChar char="-"/>
                </a:pPr>
                <a14:m>
                  <m:oMath xmlns:m="http://schemas.openxmlformats.org/officeDocument/2006/math">
                    <m:nary>
                      <m:naryPr>
                        <m:chr m:val="∑"/>
                        <m:subHide m:val="on"/>
                        <m:supHide m:val="on"/>
                        <m:ctrlPr>
                          <a:rPr lang="es-EC" sz="2400" i="1" smtClean="0">
                            <a:latin typeface="Cambria Math" panose="02040503050406030204" pitchFamily="18" charset="0"/>
                          </a:rPr>
                        </m:ctrlPr>
                      </m:naryPr>
                      <m:sub/>
                      <m:sup/>
                      <m:e>
                        <m:nary>
                          <m:naryPr>
                            <m:chr m:val="∑"/>
                            <m:subHide m:val="on"/>
                            <m:supHide m:val="on"/>
                            <m:ctrlPr>
                              <a:rPr lang="es-EC" sz="2400" i="1">
                                <a:latin typeface="Cambria Math" panose="02040503050406030204" pitchFamily="18" charset="0"/>
                              </a:rPr>
                            </m:ctrlPr>
                          </m:naryPr>
                          <m:sub/>
                          <m:sup/>
                          <m:e>
                            <m:r>
                              <a:rPr lang="es-EC" sz="2400" b="0" i="1">
                                <a:latin typeface="Cambria Math" panose="02040503050406030204" pitchFamily="18" charset="0"/>
                              </a:rPr>
                              <m:t>𝑓</m:t>
                            </m:r>
                            <m:d>
                              <m:dPr>
                                <m:ctrlPr>
                                  <a:rPr lang="es-EC" sz="2400" i="1">
                                    <a:latin typeface="Cambria Math" panose="02040503050406030204" pitchFamily="18" charset="0"/>
                                  </a:rPr>
                                </m:ctrlPr>
                              </m:dPr>
                              <m:e>
                                <m:r>
                                  <a:rPr lang="es-EC" sz="2400" b="0" i="1">
                                    <a:latin typeface="Cambria Math" panose="02040503050406030204" pitchFamily="18" charset="0"/>
                                  </a:rPr>
                                  <m:t>𝑥</m:t>
                                </m:r>
                                <m:r>
                                  <a:rPr lang="es-EC" sz="2400" b="0" i="1">
                                    <a:latin typeface="Cambria Math" panose="02040503050406030204" pitchFamily="18" charset="0"/>
                                  </a:rPr>
                                  <m:t>,</m:t>
                                </m:r>
                                <m:r>
                                  <a:rPr lang="es-EC" sz="2400" b="0" i="1">
                                    <a:latin typeface="Cambria Math" panose="02040503050406030204" pitchFamily="18" charset="0"/>
                                  </a:rPr>
                                  <m:t>𝑦</m:t>
                                </m:r>
                              </m:e>
                            </m:d>
                            <m:r>
                              <a:rPr lang="es-EC" sz="2400" b="0" i="1">
                                <a:latin typeface="Cambria Math" panose="02040503050406030204" pitchFamily="18" charset="0"/>
                              </a:rPr>
                              <m:t>=1</m:t>
                            </m:r>
                          </m:e>
                        </m:nary>
                        <m:r>
                          <a:rPr lang="es-EC" sz="2400" b="0" i="1">
                            <a:latin typeface="Cambria Math" panose="02040503050406030204" pitchFamily="18" charset="0"/>
                          </a:rPr>
                          <m:t>;</m:t>
                        </m:r>
                        <m:r>
                          <a:rPr lang="es-EC" sz="2400" b="0" i="1" smtClean="0">
                            <a:latin typeface="Cambria Math" panose="02040503050406030204" pitchFamily="18" charset="0"/>
                          </a:rPr>
                          <m:t> </m:t>
                        </m:r>
                        <m:nary>
                          <m:naryPr>
                            <m:limLoc m:val="undOvr"/>
                            <m:subHide m:val="on"/>
                            <m:supHide m:val="on"/>
                            <m:ctrlPr>
                              <a:rPr lang="es-EC" sz="2400" i="1" smtClean="0">
                                <a:latin typeface="Cambria Math" panose="02040503050406030204" pitchFamily="18" charset="0"/>
                              </a:rPr>
                            </m:ctrlPr>
                          </m:naryPr>
                          <m:sub/>
                          <m:sup/>
                          <m:e>
                            <m:nary>
                              <m:naryPr>
                                <m:limLoc m:val="undOvr"/>
                                <m:subHide m:val="on"/>
                                <m:supHide m:val="on"/>
                                <m:ctrlPr>
                                  <a:rPr lang="es-EC" sz="2400" i="1" smtClean="0">
                                    <a:latin typeface="Cambria Math" panose="02040503050406030204" pitchFamily="18" charset="0"/>
                                  </a:rPr>
                                </m:ctrlPr>
                              </m:naryPr>
                              <m:sub/>
                              <m:sup/>
                              <m:e>
                                <m:r>
                                  <a:rPr lang="es-EC" sz="2400" b="0" i="1" smtClean="0">
                                    <a:latin typeface="Cambria Math" panose="02040503050406030204" pitchFamily="18" charset="0"/>
                                  </a:rPr>
                                  <m:t>𝑓</m:t>
                                </m:r>
                                <m:d>
                                  <m:dPr>
                                    <m:ctrlPr>
                                      <a:rPr lang="es-EC" sz="2400" i="1" smtClean="0">
                                        <a:latin typeface="Cambria Math" panose="02040503050406030204" pitchFamily="18" charset="0"/>
                                      </a:rPr>
                                    </m:ctrlPr>
                                  </m:dPr>
                                  <m:e>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𝑦</m:t>
                                    </m:r>
                                  </m:e>
                                </m:d>
                                <m:r>
                                  <a:rPr lang="es-EC" sz="2400" b="0" i="1" smtClean="0">
                                    <a:latin typeface="Cambria Math" panose="02040503050406030204" pitchFamily="18" charset="0"/>
                                  </a:rPr>
                                  <m:t>=1</m:t>
                                </m:r>
                              </m:e>
                            </m:nary>
                          </m:e>
                        </m:nary>
                        <m:r>
                          <a:rPr lang="es-EC" sz="2400" b="0" i="1" smtClean="0">
                            <a:latin typeface="Cambria Math" panose="02040503050406030204" pitchFamily="18" charset="0"/>
                          </a:rPr>
                          <m:t> </m:t>
                        </m:r>
                      </m:e>
                    </m:nary>
                  </m:oMath>
                </a14:m>
                <a:endParaRPr lang="es-EC" sz="2400" dirty="0"/>
              </a:p>
              <a:p>
                <a:pPr marL="342900" indent="-342900">
                  <a:buFontTx/>
                  <a:buChar char="-"/>
                </a:pPr>
                <a:endParaRPr lang="es-EC" sz="2400" dirty="0"/>
              </a:p>
              <a:p>
                <a:pPr marL="342900" indent="-342900">
                  <a:buFontTx/>
                  <a:buChar char="-"/>
                </a:pPr>
                <a14:m>
                  <m:oMath xmlns:m="http://schemas.openxmlformats.org/officeDocument/2006/math">
                    <m:r>
                      <a:rPr lang="es-EC" sz="2400" b="0" i="1" smtClean="0">
                        <a:latin typeface="Cambria Math" panose="02040503050406030204" pitchFamily="18" charset="0"/>
                      </a:rPr>
                      <m:t>𝑃</m:t>
                    </m:r>
                    <m:d>
                      <m:dPr>
                        <m:ctrlPr>
                          <a:rPr lang="es-EC" sz="2400" i="1" smtClean="0">
                            <a:latin typeface="Cambria Math" panose="02040503050406030204" pitchFamily="18" charset="0"/>
                          </a:rPr>
                        </m:ctrlPr>
                      </m:dPr>
                      <m:e>
                        <m:r>
                          <a:rPr lang="es-EC" sz="2400" b="0" i="1" smtClean="0">
                            <a:latin typeface="Cambria Math" panose="02040503050406030204" pitchFamily="18" charset="0"/>
                          </a:rPr>
                          <m:t>𝑋</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𝑌</m:t>
                        </m:r>
                        <m:r>
                          <a:rPr lang="es-EC" sz="2400" b="0" i="1" smtClean="0">
                            <a:latin typeface="Cambria Math" panose="02040503050406030204" pitchFamily="18" charset="0"/>
                          </a:rPr>
                          <m:t>=</m:t>
                        </m:r>
                        <m:r>
                          <a:rPr lang="es-EC" sz="2400" b="0" i="1" smtClean="0">
                            <a:latin typeface="Cambria Math" panose="02040503050406030204" pitchFamily="18" charset="0"/>
                          </a:rPr>
                          <m:t>𝑦</m:t>
                        </m:r>
                      </m:e>
                    </m:d>
                    <m:r>
                      <a:rPr lang="es-EC" sz="2400" b="0" i="1" smtClean="0">
                        <a:latin typeface="Cambria Math" panose="02040503050406030204" pitchFamily="18" charset="0"/>
                      </a:rPr>
                      <m:t>=</m:t>
                    </m:r>
                    <m:r>
                      <a:rPr lang="es-EC" sz="2400" b="0" i="1" smtClean="0">
                        <a:latin typeface="Cambria Math" panose="02040503050406030204" pitchFamily="18" charset="0"/>
                      </a:rPr>
                      <m:t>𝑓</m:t>
                    </m:r>
                    <m:d>
                      <m:dPr>
                        <m:ctrlPr>
                          <a:rPr lang="es-EC" sz="2400" i="1" smtClean="0">
                            <a:latin typeface="Cambria Math" panose="02040503050406030204" pitchFamily="18" charset="0"/>
                          </a:rPr>
                        </m:ctrlPr>
                      </m:dPr>
                      <m:e>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𝑦</m:t>
                        </m:r>
                      </m:e>
                    </m:d>
                  </m:oMath>
                </a14:m>
                <a:endParaRPr lang="es-EC" sz="2400" dirty="0"/>
              </a:p>
              <a:p>
                <a:pPr marL="342900" indent="-342900">
                  <a:buFontTx/>
                  <a:buChar char="-"/>
                </a:pPr>
                <a:endParaRPr lang="es-EC" sz="2400" dirty="0"/>
              </a:p>
              <a:p>
                <a:pPr marL="342900" indent="-342900">
                  <a:buFontTx/>
                  <a:buChar char="-"/>
                </a:pPr>
                <a14:m>
                  <m:oMath xmlns:m="http://schemas.openxmlformats.org/officeDocument/2006/math">
                    <m:r>
                      <a:rPr lang="es-EC" sz="2400" b="0" i="1">
                        <a:latin typeface="Cambria Math" panose="02040503050406030204" pitchFamily="18" charset="0"/>
                      </a:rPr>
                      <m:t>𝑆𝑖</m:t>
                    </m:r>
                    <m:r>
                      <a:rPr lang="es-EC" sz="2400" b="0" i="1">
                        <a:latin typeface="Cambria Math" panose="02040503050406030204" pitchFamily="18" charset="0"/>
                      </a:rPr>
                      <m:t> </m:t>
                    </m:r>
                    <m:r>
                      <a:rPr lang="es-EC" sz="2400" b="0" i="1">
                        <a:latin typeface="Cambria Math" panose="02040503050406030204" pitchFamily="18" charset="0"/>
                      </a:rPr>
                      <m:t>𝑥</m:t>
                    </m:r>
                    <m:r>
                      <a:rPr lang="es-EC" sz="2400" b="0" i="1">
                        <a:latin typeface="Cambria Math" panose="02040503050406030204" pitchFamily="18" charset="0"/>
                      </a:rPr>
                      <m:t>,</m:t>
                    </m:r>
                    <m:r>
                      <a:rPr lang="es-EC" sz="2400" b="0" i="1">
                        <a:latin typeface="Cambria Math" panose="02040503050406030204" pitchFamily="18" charset="0"/>
                      </a:rPr>
                      <m:t>𝑦</m:t>
                    </m:r>
                    <m:r>
                      <a:rPr lang="es-EC" sz="2400" b="0" i="1">
                        <a:latin typeface="Cambria Math" panose="02040503050406030204" pitchFamily="18" charset="0"/>
                      </a:rPr>
                      <m:t> ∈</m:t>
                    </m:r>
                    <m:r>
                      <a:rPr lang="es-EC" sz="2400" b="0" i="1">
                        <a:latin typeface="Cambria Math" panose="02040503050406030204" pitchFamily="18" charset="0"/>
                        <a:ea typeface="Cambria Math" panose="02040503050406030204" pitchFamily="18" charset="0"/>
                      </a:rPr>
                      <m:t>𝐴</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𝑃</m:t>
                    </m:r>
                    <m:d>
                      <m:dPr>
                        <m:ctrlPr>
                          <a:rPr lang="es-EC" sz="2400" i="1" smtClean="0">
                            <a:latin typeface="Cambria Math" panose="02040503050406030204" pitchFamily="18" charset="0"/>
                            <a:ea typeface="Cambria Math" panose="02040503050406030204" pitchFamily="18" charset="0"/>
                          </a:rPr>
                        </m:ctrlPr>
                      </m:dPr>
                      <m:e>
                        <m:d>
                          <m:dPr>
                            <m:ctrlPr>
                              <a:rPr lang="es-EC" sz="240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𝑋</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𝑌</m:t>
                            </m:r>
                          </m:e>
                        </m:d>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𝐴</m:t>
                        </m:r>
                      </m:e>
                    </m:d>
                    <m:r>
                      <a:rPr lang="es-EC" sz="2400" b="0" i="1" smtClean="0">
                        <a:latin typeface="Cambria Math" panose="02040503050406030204" pitchFamily="18" charset="0"/>
                        <a:ea typeface="Cambria Math" panose="02040503050406030204" pitchFamily="18" charset="0"/>
                      </a:rPr>
                      <m:t>=</m:t>
                    </m:r>
                    <m:nary>
                      <m:naryPr>
                        <m:chr m:val="∑"/>
                        <m:supHide m:val="on"/>
                        <m:ctrlPr>
                          <a:rPr lang="es-EC" sz="2400" i="1" smtClean="0">
                            <a:latin typeface="Cambria Math" panose="02040503050406030204" pitchFamily="18" charset="0"/>
                            <a:ea typeface="Cambria Math" panose="02040503050406030204" pitchFamily="18" charset="0"/>
                          </a:rPr>
                        </m:ctrlPr>
                      </m:naryPr>
                      <m:sub>
                        <m:r>
                          <m:rPr>
                            <m:brk m:alnAt="7"/>
                          </m:rPr>
                          <a:rPr lang="es-EC" sz="2400" b="0" i="1" smtClean="0">
                            <a:latin typeface="Cambria Math" panose="02040503050406030204" pitchFamily="18" charset="0"/>
                            <a:ea typeface="Cambria Math" panose="02040503050406030204" pitchFamily="18" charset="0"/>
                          </a:rPr>
                          <m:t>𝐴</m:t>
                        </m:r>
                      </m:sub>
                      <m:sup/>
                      <m:e>
                        <m:nary>
                          <m:naryPr>
                            <m:chr m:val="∑"/>
                            <m:subHide m:val="on"/>
                            <m:supHide m:val="on"/>
                            <m:ctrlPr>
                              <a:rPr lang="es-EC" sz="2400" i="1" smtClean="0">
                                <a:latin typeface="Cambria Math" panose="02040503050406030204" pitchFamily="18" charset="0"/>
                                <a:ea typeface="Cambria Math" panose="02040503050406030204" pitchFamily="18" charset="0"/>
                              </a:rPr>
                            </m:ctrlPr>
                          </m:naryPr>
                          <m:sub/>
                          <m:sup/>
                          <m:e>
                            <m:r>
                              <a:rPr lang="es-EC" sz="2400" b="0" i="1" smtClean="0">
                                <a:latin typeface="Cambria Math" panose="02040503050406030204" pitchFamily="18" charset="0"/>
                                <a:ea typeface="Cambria Math" panose="02040503050406030204" pitchFamily="18" charset="0"/>
                              </a:rPr>
                              <m:t>𝑓</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𝑥</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𝑦</m:t>
                            </m:r>
                            <m:r>
                              <a:rPr lang="es-EC" sz="2400" b="0" i="1" smtClean="0">
                                <a:latin typeface="Cambria Math" panose="02040503050406030204" pitchFamily="18" charset="0"/>
                                <a:ea typeface="Cambria Math" panose="02040503050406030204" pitchFamily="18" charset="0"/>
                              </a:rPr>
                              <m:t>)</m:t>
                            </m:r>
                          </m:e>
                        </m:nary>
                      </m:e>
                    </m:nary>
                  </m:oMath>
                </a14:m>
                <a:r>
                  <a:rPr lang="es-EC" sz="2400" dirty="0"/>
                  <a:t>;</a:t>
                </a:r>
              </a:p>
              <a:p>
                <a:pPr marL="342900" indent="-342900">
                  <a:buFontTx/>
                  <a:buChar char="-"/>
                </a:pPr>
                <a:endParaRPr lang="es-EC" sz="2400" dirty="0"/>
              </a:p>
              <a:p>
                <a:pPr marL="342900" indent="-342900">
                  <a:buFontTx/>
                  <a:buChar char="-"/>
                </a:pPr>
                <a14:m>
                  <m:oMath xmlns:m="http://schemas.openxmlformats.org/officeDocument/2006/math">
                    <m:r>
                      <a:rPr lang="es-EC" sz="2400" b="0" i="1">
                        <a:latin typeface="Cambria Math" panose="02040503050406030204" pitchFamily="18" charset="0"/>
                        <a:ea typeface="Cambria Math" panose="02040503050406030204" pitchFamily="18" charset="0"/>
                      </a:rPr>
                      <m:t>𝑃</m:t>
                    </m:r>
                    <m:d>
                      <m:dPr>
                        <m:ctrlPr>
                          <a:rPr lang="es-EC" sz="2400" i="1">
                            <a:latin typeface="Cambria Math" panose="02040503050406030204" pitchFamily="18" charset="0"/>
                            <a:ea typeface="Cambria Math" panose="02040503050406030204" pitchFamily="18" charset="0"/>
                          </a:rPr>
                        </m:ctrlPr>
                      </m:dPr>
                      <m:e>
                        <m:d>
                          <m:dPr>
                            <m:ctrlPr>
                              <a:rPr lang="es-EC" sz="2400" i="1">
                                <a:latin typeface="Cambria Math" panose="02040503050406030204" pitchFamily="18" charset="0"/>
                                <a:ea typeface="Cambria Math" panose="02040503050406030204" pitchFamily="18" charset="0"/>
                              </a:rPr>
                            </m:ctrlPr>
                          </m:dPr>
                          <m:e>
                            <m:r>
                              <a:rPr lang="es-EC" sz="2400" b="0" i="1">
                                <a:latin typeface="Cambria Math" panose="02040503050406030204" pitchFamily="18" charset="0"/>
                                <a:ea typeface="Cambria Math" panose="02040503050406030204" pitchFamily="18" charset="0"/>
                              </a:rPr>
                              <m:t>𝑋</m:t>
                            </m:r>
                            <m:r>
                              <a:rPr lang="es-EC" sz="2400" b="0" i="1">
                                <a:latin typeface="Cambria Math" panose="02040503050406030204" pitchFamily="18" charset="0"/>
                                <a:ea typeface="Cambria Math" panose="02040503050406030204" pitchFamily="18" charset="0"/>
                              </a:rPr>
                              <m:t>,</m:t>
                            </m:r>
                            <m:r>
                              <a:rPr lang="es-EC" sz="2400" b="0" i="1">
                                <a:latin typeface="Cambria Math" panose="02040503050406030204" pitchFamily="18" charset="0"/>
                                <a:ea typeface="Cambria Math" panose="02040503050406030204" pitchFamily="18" charset="0"/>
                              </a:rPr>
                              <m:t>𝑌</m:t>
                            </m:r>
                          </m:e>
                        </m:d>
                        <m:r>
                          <a:rPr lang="es-EC" sz="2400" b="0" i="1">
                            <a:latin typeface="Cambria Math" panose="02040503050406030204" pitchFamily="18" charset="0"/>
                            <a:ea typeface="Cambria Math" panose="02040503050406030204" pitchFamily="18" charset="0"/>
                          </a:rPr>
                          <m:t>∈</m:t>
                        </m:r>
                        <m:r>
                          <a:rPr lang="es-EC" sz="2400" b="0" i="1">
                            <a:latin typeface="Cambria Math" panose="02040503050406030204" pitchFamily="18" charset="0"/>
                            <a:ea typeface="Cambria Math" panose="02040503050406030204" pitchFamily="18" charset="0"/>
                          </a:rPr>
                          <m:t>𝐴</m:t>
                        </m:r>
                      </m:e>
                    </m:d>
                    <m:r>
                      <a:rPr lang="es-EC" sz="2400" b="0" i="1">
                        <a:latin typeface="Cambria Math" panose="02040503050406030204" pitchFamily="18" charset="0"/>
                        <a:ea typeface="Cambria Math" panose="02040503050406030204" pitchFamily="18" charset="0"/>
                      </a:rPr>
                      <m:t>=</m:t>
                    </m:r>
                    <m:nary>
                      <m:naryPr>
                        <m:chr m:val="∬"/>
                        <m:ctrlPr>
                          <a:rPr lang="es-EC" sz="2400" i="1" smtClean="0">
                            <a:latin typeface="Cambria Math" panose="02040503050406030204" pitchFamily="18" charset="0"/>
                            <a:ea typeface="Cambria Math" panose="02040503050406030204" pitchFamily="18" charset="0"/>
                          </a:rPr>
                        </m:ctrlPr>
                      </m:naryPr>
                      <m:sub>
                        <m:r>
                          <m:rPr>
                            <m:brk m:alnAt="23"/>
                          </m:rPr>
                          <a:rPr lang="es-EC" sz="2400" b="0" i="1" smtClean="0">
                            <a:latin typeface="Cambria Math" panose="02040503050406030204" pitchFamily="18" charset="0"/>
                            <a:ea typeface="Cambria Math" panose="02040503050406030204" pitchFamily="18" charset="0"/>
                          </a:rPr>
                          <m:t>𝐴</m:t>
                        </m:r>
                      </m:sub>
                      <m:sup/>
                      <m:e>
                        <m:r>
                          <a:rPr lang="es-EC" sz="2400" b="0" i="1" smtClean="0">
                            <a:latin typeface="Cambria Math" panose="02040503050406030204" pitchFamily="18" charset="0"/>
                            <a:ea typeface="Cambria Math" panose="02040503050406030204" pitchFamily="18" charset="0"/>
                          </a:rPr>
                          <m:t>𝑓</m:t>
                        </m:r>
                        <m:d>
                          <m:dPr>
                            <m:ctrlPr>
                              <a:rPr lang="es-EC" sz="2400" i="1" smtClean="0">
                                <a:latin typeface="Cambria Math" panose="02040503050406030204" pitchFamily="18" charset="0"/>
                                <a:ea typeface="Cambria Math" panose="02040503050406030204" pitchFamily="18" charset="0"/>
                              </a:rPr>
                            </m:ctrlPr>
                          </m:dPr>
                          <m:e>
                            <m:r>
                              <a:rPr lang="es-EC" sz="2400" b="0" i="1" smtClean="0">
                                <a:latin typeface="Cambria Math" panose="02040503050406030204" pitchFamily="18" charset="0"/>
                                <a:ea typeface="Cambria Math" panose="02040503050406030204" pitchFamily="18" charset="0"/>
                              </a:rPr>
                              <m:t>𝑥</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𝑦</m:t>
                            </m:r>
                          </m:e>
                        </m:d>
                        <m:r>
                          <a:rPr lang="es-EC" sz="2400" b="0" i="1" smtClean="0">
                            <a:latin typeface="Cambria Math" panose="02040503050406030204" pitchFamily="18" charset="0"/>
                            <a:ea typeface="Cambria Math" panose="02040503050406030204" pitchFamily="18" charset="0"/>
                          </a:rPr>
                          <m:t>𝑑𝑥𝑑𝑦</m:t>
                        </m:r>
                      </m:e>
                    </m:nary>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𝑠𝑖𝑒𝑛𝑑𝑜</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𝐴</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𝑢𝑛𝑎</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𝑟𝑒𝑔𝑖</m:t>
                    </m:r>
                    <m:r>
                      <a:rPr lang="es-EC" sz="2400" b="0" i="1" smtClean="0">
                        <a:latin typeface="Cambria Math" panose="02040503050406030204" pitchFamily="18" charset="0"/>
                        <a:ea typeface="Cambria Math" panose="02040503050406030204" pitchFamily="18" charset="0"/>
                      </a:rPr>
                      <m:t>ó</m:t>
                    </m:r>
                    <m:r>
                      <a:rPr lang="es-EC" sz="2400" b="0" i="1" smtClean="0">
                        <a:latin typeface="Cambria Math" panose="02040503050406030204" pitchFamily="18" charset="0"/>
                        <a:ea typeface="Cambria Math" panose="02040503050406030204" pitchFamily="18" charset="0"/>
                      </a:rPr>
                      <m:t>𝑛</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𝑒𝑛</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𝑒𝑙</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𝑝𝑙𝑎𝑛𝑜</m:t>
                    </m:r>
                    <m:r>
                      <a:rPr lang="es-EC" sz="2400" b="0" i="1" smtClean="0">
                        <a:latin typeface="Cambria Math" panose="02040503050406030204" pitchFamily="18" charset="0"/>
                        <a:ea typeface="Cambria Math" panose="02040503050406030204" pitchFamily="18" charset="0"/>
                      </a:rPr>
                      <m:t> </m:t>
                    </m:r>
                    <m:r>
                      <a:rPr lang="es-EC" sz="2400" b="0" i="1" smtClean="0">
                        <a:latin typeface="Cambria Math" panose="02040503050406030204" pitchFamily="18" charset="0"/>
                        <a:ea typeface="Cambria Math" panose="02040503050406030204" pitchFamily="18" charset="0"/>
                      </a:rPr>
                      <m:t>𝑥𝑦</m:t>
                    </m:r>
                  </m:oMath>
                </a14:m>
                <a:endParaRPr lang="es-EC" sz="2400" dirty="0"/>
              </a:p>
              <a:p>
                <a:pPr marL="342900" indent="-342900">
                  <a:buFontTx/>
                  <a:buChar char="-"/>
                </a:pPr>
                <a:endParaRPr lang="es-EC" sz="2400" dirty="0"/>
              </a:p>
            </p:txBody>
          </p:sp>
        </mc:Choice>
        <mc:Fallback xmlns="">
          <p:sp>
            <p:nvSpPr>
              <p:cNvPr id="4" name="Rectángulo 3"/>
              <p:cNvSpPr>
                <a:spLocks noRot="1" noChangeAspect="1" noMove="1" noResize="1" noEditPoints="1" noAdjustHandles="1" noChangeArrowheads="1" noChangeShapeType="1" noTextEdit="1"/>
              </p:cNvSpPr>
              <p:nvPr/>
            </p:nvSpPr>
            <p:spPr>
              <a:xfrm>
                <a:off x="1084990" y="1588982"/>
                <a:ext cx="10402160" cy="5160965"/>
              </a:xfrm>
              <a:prstGeom prst="rect">
                <a:avLst/>
              </a:prstGeom>
              <a:blipFill rotWithShape="0">
                <a:blip r:embed="rId2"/>
                <a:stretch>
                  <a:fillRect l="-1290" t="-946"/>
                </a:stretch>
              </a:blipFill>
            </p:spPr>
            <p:txBody>
              <a:bodyPr/>
              <a:lstStyle/>
              <a:p>
                <a:r>
                  <a:rPr lang="es-EC">
                    <a:noFill/>
                  </a:rPr>
                  <a:t> </a:t>
                </a:r>
              </a:p>
            </p:txBody>
          </p:sp>
        </mc:Fallback>
      </mc:AlternateContent>
      <p:sp>
        <p:nvSpPr>
          <p:cNvPr id="5" name="CuadroTexto 4"/>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1486209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815499"/>
            <a:ext cx="5813707" cy="523220"/>
          </a:xfrm>
          <a:prstGeom prst="rect">
            <a:avLst/>
          </a:prstGeom>
        </p:spPr>
        <p:txBody>
          <a:bodyPr wrap="none">
            <a:spAutoFit/>
          </a:bodyPr>
          <a:lstStyle/>
          <a:p>
            <a:r>
              <a:rPr lang="es-EC" sz="2800" b="1" dirty="0"/>
              <a:t>Distribuciones Conjuntas - Marginales</a:t>
            </a:r>
          </a:p>
        </p:txBody>
      </p:sp>
      <p:sp>
        <p:nvSpPr>
          <p:cNvPr id="4" name="Rectángulo 3"/>
          <p:cNvSpPr/>
          <p:nvPr/>
        </p:nvSpPr>
        <p:spPr>
          <a:xfrm>
            <a:off x="1084990" y="1588982"/>
            <a:ext cx="10402160" cy="830997"/>
          </a:xfrm>
          <a:prstGeom prst="rect">
            <a:avLst/>
          </a:prstGeom>
        </p:spPr>
        <p:txBody>
          <a:bodyPr wrap="square">
            <a:spAutoFit/>
          </a:bodyPr>
          <a:lstStyle/>
          <a:p>
            <a:r>
              <a:rPr lang="es-EC" sz="2400" dirty="0"/>
              <a:t>Sea la función f(</a:t>
            </a:r>
            <a:r>
              <a:rPr lang="es-EC" sz="2400" dirty="0" err="1"/>
              <a:t>x,y</a:t>
            </a:r>
            <a:r>
              <a:rPr lang="es-EC" sz="2400" dirty="0"/>
              <a:t>) la función de distribución de probabilidad/densidad conjunta de las variables aleatorias  X e Y; sus correspondientes marginales serán:</a:t>
            </a:r>
          </a:p>
        </p:txBody>
      </p:sp>
      <mc:AlternateContent xmlns:mc="http://schemas.openxmlformats.org/markup-compatibility/2006" xmlns:a14="http://schemas.microsoft.com/office/drawing/2010/main">
        <mc:Choice Requires="a14">
          <p:sp>
            <p:nvSpPr>
              <p:cNvPr id="5" name="CuadroTexto 4"/>
              <p:cNvSpPr txBox="1"/>
              <p:nvPr/>
            </p:nvSpPr>
            <p:spPr>
              <a:xfrm>
                <a:off x="1864517" y="3464718"/>
                <a:ext cx="2193741" cy="9422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400" b="0" i="0" smtClean="0">
                          <a:latin typeface="Cambria Math" panose="02040503050406030204" pitchFamily="18" charset="0"/>
                        </a:rPr>
                        <m:t>f</m:t>
                      </m:r>
                      <m:d>
                        <m:dPr>
                          <m:ctrlPr>
                            <a:rPr lang="es-EC" sz="2400" b="0" i="1" smtClean="0">
                              <a:latin typeface="Cambria Math" panose="02040503050406030204" pitchFamily="18" charset="0"/>
                            </a:rPr>
                          </m:ctrlPr>
                        </m:dPr>
                        <m:e>
                          <m:r>
                            <m:rPr>
                              <m:sty m:val="p"/>
                            </m:rPr>
                            <a:rPr lang="es-EC" sz="2400" b="0" i="0" smtClean="0">
                              <a:latin typeface="Cambria Math" panose="02040503050406030204" pitchFamily="18" charset="0"/>
                            </a:rPr>
                            <m:t>x</m:t>
                          </m:r>
                        </m:e>
                      </m:d>
                      <m:r>
                        <a:rPr lang="es-EC" sz="2400" b="0" i="0" smtClean="0">
                          <a:latin typeface="Cambria Math" panose="02040503050406030204" pitchFamily="18" charset="0"/>
                        </a:rPr>
                        <m:t>=</m:t>
                      </m:r>
                      <m:nary>
                        <m:naryPr>
                          <m:chr m:val="∑"/>
                          <m:supHide m:val="on"/>
                          <m:ctrlPr>
                            <a:rPr lang="es-EC" sz="2400" b="0" i="1" smtClean="0">
                              <a:latin typeface="Cambria Math" panose="02040503050406030204" pitchFamily="18" charset="0"/>
                            </a:rPr>
                          </m:ctrlPr>
                        </m:naryPr>
                        <m:sub>
                          <m:r>
                            <m:rPr>
                              <m:sty m:val="p"/>
                              <m:brk m:alnAt="7"/>
                            </m:rPr>
                            <a:rPr lang="es-EC" sz="2400" b="0" i="0" smtClean="0">
                              <a:latin typeface="Cambria Math" panose="02040503050406030204" pitchFamily="18" charset="0"/>
                            </a:rPr>
                            <m:t>y</m:t>
                          </m:r>
                        </m:sub>
                        <m:sup/>
                        <m:e>
                          <m:r>
                            <m:rPr>
                              <m:sty m:val="p"/>
                            </m:rPr>
                            <a:rPr lang="es-EC" sz="2400" b="0" i="0" smtClean="0">
                              <a:latin typeface="Cambria Math" panose="02040503050406030204" pitchFamily="18" charset="0"/>
                            </a:rPr>
                            <m:t>f</m:t>
                          </m:r>
                          <m:r>
                            <a:rPr lang="es-EC" sz="2400" b="0" i="0" smtClean="0">
                              <a:latin typeface="Cambria Math" panose="02040503050406030204" pitchFamily="18" charset="0"/>
                            </a:rPr>
                            <m:t>(</m:t>
                          </m:r>
                          <m:r>
                            <m:rPr>
                              <m:sty m:val="p"/>
                            </m:rPr>
                            <a:rPr lang="es-EC" sz="2400" b="0" i="0" smtClean="0">
                              <a:latin typeface="Cambria Math" panose="02040503050406030204" pitchFamily="18" charset="0"/>
                            </a:rPr>
                            <m:t>x</m:t>
                          </m:r>
                          <m:r>
                            <a:rPr lang="es-EC" sz="2400" b="0" i="0" smtClean="0">
                              <a:latin typeface="Cambria Math" panose="02040503050406030204" pitchFamily="18" charset="0"/>
                            </a:rPr>
                            <m:t>,</m:t>
                          </m:r>
                          <m:r>
                            <m:rPr>
                              <m:sty m:val="p"/>
                            </m:rPr>
                            <a:rPr lang="es-EC" sz="2400" b="0" i="0" smtClean="0">
                              <a:latin typeface="Cambria Math" panose="02040503050406030204" pitchFamily="18" charset="0"/>
                            </a:rPr>
                            <m:t>y</m:t>
                          </m:r>
                          <m:r>
                            <a:rPr lang="es-EC" sz="2400" b="0" i="0" smtClean="0">
                              <a:latin typeface="Cambria Math" panose="02040503050406030204" pitchFamily="18" charset="0"/>
                            </a:rPr>
                            <m:t>)</m:t>
                          </m:r>
                        </m:e>
                      </m:nary>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1864517" y="3464718"/>
                <a:ext cx="2193741" cy="942246"/>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6988967" y="3464717"/>
                <a:ext cx="2200153" cy="894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400" b="0" i="0" smtClean="0">
                          <a:latin typeface="Cambria Math" panose="02040503050406030204" pitchFamily="18" charset="0"/>
                        </a:rPr>
                        <m:t>f</m:t>
                      </m:r>
                      <m:d>
                        <m:dPr>
                          <m:ctrlPr>
                            <a:rPr lang="es-EC" sz="2400" b="0" i="1" smtClean="0">
                              <a:latin typeface="Cambria Math" panose="02040503050406030204" pitchFamily="18" charset="0"/>
                            </a:rPr>
                          </m:ctrlPr>
                        </m:dPr>
                        <m:e>
                          <m:r>
                            <m:rPr>
                              <m:sty m:val="p"/>
                            </m:rPr>
                            <a:rPr lang="es-EC" sz="2400" b="0" i="0" smtClean="0">
                              <a:latin typeface="Cambria Math" panose="02040503050406030204" pitchFamily="18" charset="0"/>
                            </a:rPr>
                            <m:t>y</m:t>
                          </m:r>
                        </m:e>
                      </m:d>
                      <m:r>
                        <a:rPr lang="es-EC" sz="2400" b="0" i="0" smtClean="0">
                          <a:latin typeface="Cambria Math" panose="02040503050406030204" pitchFamily="18" charset="0"/>
                        </a:rPr>
                        <m:t>=</m:t>
                      </m:r>
                      <m:nary>
                        <m:naryPr>
                          <m:chr m:val="∑"/>
                          <m:supHide m:val="on"/>
                          <m:ctrlPr>
                            <a:rPr lang="es-EC" sz="2400" b="0" i="1" smtClean="0">
                              <a:latin typeface="Cambria Math" panose="02040503050406030204" pitchFamily="18" charset="0"/>
                            </a:rPr>
                          </m:ctrlPr>
                        </m:naryPr>
                        <m:sub>
                          <m:r>
                            <m:rPr>
                              <m:sty m:val="p"/>
                              <m:brk m:alnAt="7"/>
                            </m:rPr>
                            <a:rPr lang="es-EC" sz="2400" b="0" i="0" smtClean="0">
                              <a:latin typeface="Cambria Math" panose="02040503050406030204" pitchFamily="18" charset="0"/>
                            </a:rPr>
                            <m:t>x</m:t>
                          </m:r>
                        </m:sub>
                        <m:sup/>
                        <m:e>
                          <m:r>
                            <m:rPr>
                              <m:sty m:val="p"/>
                            </m:rPr>
                            <a:rPr lang="es-EC" sz="2400" b="0" i="0" smtClean="0">
                              <a:latin typeface="Cambria Math" panose="02040503050406030204" pitchFamily="18" charset="0"/>
                            </a:rPr>
                            <m:t>f</m:t>
                          </m:r>
                          <m:r>
                            <a:rPr lang="es-EC" sz="2400" b="0" i="0" smtClean="0">
                              <a:latin typeface="Cambria Math" panose="02040503050406030204" pitchFamily="18" charset="0"/>
                            </a:rPr>
                            <m:t>(</m:t>
                          </m:r>
                          <m:r>
                            <m:rPr>
                              <m:sty m:val="p"/>
                            </m:rPr>
                            <a:rPr lang="es-EC" sz="2400" b="0" i="0" smtClean="0">
                              <a:latin typeface="Cambria Math" panose="02040503050406030204" pitchFamily="18" charset="0"/>
                            </a:rPr>
                            <m:t>x</m:t>
                          </m:r>
                          <m:r>
                            <a:rPr lang="es-EC" sz="2400" b="0" i="0" smtClean="0">
                              <a:latin typeface="Cambria Math" panose="02040503050406030204" pitchFamily="18" charset="0"/>
                            </a:rPr>
                            <m:t>,</m:t>
                          </m:r>
                          <m:r>
                            <m:rPr>
                              <m:sty m:val="p"/>
                            </m:rPr>
                            <a:rPr lang="es-EC" sz="2400" b="0" i="0" smtClean="0">
                              <a:latin typeface="Cambria Math" panose="02040503050406030204" pitchFamily="18" charset="0"/>
                            </a:rPr>
                            <m:t>y</m:t>
                          </m:r>
                          <m:r>
                            <a:rPr lang="es-EC" sz="2400" b="0" i="0" smtClean="0">
                              <a:latin typeface="Cambria Math" panose="02040503050406030204" pitchFamily="18" charset="0"/>
                            </a:rPr>
                            <m:t>)</m:t>
                          </m:r>
                        </m:e>
                      </m:nary>
                    </m:oMath>
                  </m:oMathPara>
                </a14:m>
                <a:endParaRPr lang="es-EC"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6988967" y="3464717"/>
                <a:ext cx="2200153" cy="894219"/>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CuadroTexto 6"/>
              <p:cNvSpPr txBox="1"/>
              <p:nvPr/>
            </p:nvSpPr>
            <p:spPr>
              <a:xfrm>
                <a:off x="1864517" y="4955379"/>
                <a:ext cx="2515497" cy="9088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400" b="0" i="0" smtClean="0">
                          <a:latin typeface="Cambria Math" panose="02040503050406030204" pitchFamily="18" charset="0"/>
                        </a:rPr>
                        <m:t>f</m:t>
                      </m:r>
                      <m:d>
                        <m:dPr>
                          <m:ctrlPr>
                            <a:rPr lang="es-EC" sz="2400" b="0" i="1" smtClean="0">
                              <a:latin typeface="Cambria Math" panose="02040503050406030204" pitchFamily="18" charset="0"/>
                            </a:rPr>
                          </m:ctrlPr>
                        </m:dPr>
                        <m:e>
                          <m:r>
                            <m:rPr>
                              <m:sty m:val="p"/>
                            </m:rPr>
                            <a:rPr lang="es-EC" sz="2400" b="0" i="0" smtClean="0">
                              <a:latin typeface="Cambria Math" panose="02040503050406030204" pitchFamily="18" charset="0"/>
                            </a:rPr>
                            <m:t>x</m:t>
                          </m:r>
                        </m:e>
                      </m:d>
                      <m:r>
                        <a:rPr lang="es-EC" sz="2400" b="0" i="0" smtClean="0">
                          <a:latin typeface="Cambria Math" panose="02040503050406030204" pitchFamily="18" charset="0"/>
                        </a:rPr>
                        <m:t>=</m:t>
                      </m:r>
                      <m:nary>
                        <m:naryPr>
                          <m:ctrlPr>
                            <a:rPr lang="es-EC" sz="2400" b="0" i="1" smtClean="0">
                              <a:latin typeface="Cambria Math" panose="02040503050406030204" pitchFamily="18" charset="0"/>
                            </a:rPr>
                          </m:ctrlPr>
                        </m:naryPr>
                        <m:sub>
                          <m:r>
                            <m:rPr>
                              <m:sty m:val="p"/>
                              <m:brk m:alnAt="23"/>
                            </m:rPr>
                            <a:rPr lang="es-EC" sz="2400" b="0" i="0" smtClean="0">
                              <a:latin typeface="Cambria Math" panose="02040503050406030204" pitchFamily="18" charset="0"/>
                            </a:rPr>
                            <m:t>y</m:t>
                          </m:r>
                        </m:sub>
                        <m:sup/>
                        <m:e>
                          <m:r>
                            <m:rPr>
                              <m:sty m:val="p"/>
                            </m:rPr>
                            <a:rPr lang="es-EC" sz="2400" i="0">
                              <a:latin typeface="Cambria Math" panose="02040503050406030204" pitchFamily="18" charset="0"/>
                            </a:rPr>
                            <m:t>f</m:t>
                          </m:r>
                          <m:d>
                            <m:dPr>
                              <m:ctrlPr>
                                <a:rPr lang="es-EC" sz="2400" i="1">
                                  <a:latin typeface="Cambria Math" panose="02040503050406030204" pitchFamily="18" charset="0"/>
                                </a:rPr>
                              </m:ctrlPr>
                            </m:dPr>
                            <m:e>
                              <m:r>
                                <m:rPr>
                                  <m:sty m:val="p"/>
                                </m:rPr>
                                <a:rPr lang="es-EC" sz="2400" i="0">
                                  <a:latin typeface="Cambria Math" panose="02040503050406030204" pitchFamily="18" charset="0"/>
                                </a:rPr>
                                <m:t>x</m:t>
                              </m:r>
                              <m:r>
                                <a:rPr lang="es-EC" sz="2400" i="0">
                                  <a:latin typeface="Cambria Math" panose="02040503050406030204" pitchFamily="18" charset="0"/>
                                </a:rPr>
                                <m:t>,</m:t>
                              </m:r>
                              <m:r>
                                <m:rPr>
                                  <m:sty m:val="p"/>
                                </m:rPr>
                                <a:rPr lang="es-EC" sz="2400" i="0">
                                  <a:latin typeface="Cambria Math" panose="02040503050406030204" pitchFamily="18" charset="0"/>
                                </a:rPr>
                                <m:t>y</m:t>
                              </m:r>
                            </m:e>
                          </m:d>
                          <m:r>
                            <m:rPr>
                              <m:sty m:val="p"/>
                            </m:rPr>
                            <a:rPr lang="es-EC" sz="2400" b="0" i="0" smtClean="0">
                              <a:latin typeface="Cambria Math" panose="02040503050406030204" pitchFamily="18" charset="0"/>
                            </a:rPr>
                            <m:t>dy</m:t>
                          </m:r>
                        </m:e>
                      </m:nary>
                    </m:oMath>
                  </m:oMathPara>
                </a14:m>
                <a:endParaRPr lang="es-EC"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1864517" y="4955379"/>
                <a:ext cx="2515497" cy="908839"/>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6988967" y="4955380"/>
                <a:ext cx="2515497" cy="8608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400" b="0" i="0" smtClean="0">
                          <a:latin typeface="Cambria Math" panose="02040503050406030204" pitchFamily="18" charset="0"/>
                        </a:rPr>
                        <m:t>f</m:t>
                      </m:r>
                      <m:d>
                        <m:dPr>
                          <m:ctrlPr>
                            <a:rPr lang="es-EC" sz="2400" b="0" i="1" smtClean="0">
                              <a:latin typeface="Cambria Math" panose="02040503050406030204" pitchFamily="18" charset="0"/>
                            </a:rPr>
                          </m:ctrlPr>
                        </m:dPr>
                        <m:e>
                          <m:r>
                            <m:rPr>
                              <m:sty m:val="p"/>
                            </m:rPr>
                            <a:rPr lang="es-EC" sz="2400" b="0" i="0" smtClean="0">
                              <a:latin typeface="Cambria Math" panose="02040503050406030204" pitchFamily="18" charset="0"/>
                            </a:rPr>
                            <m:t>y</m:t>
                          </m:r>
                        </m:e>
                      </m:d>
                      <m:r>
                        <a:rPr lang="es-EC" sz="2400" b="0" i="0" smtClean="0">
                          <a:latin typeface="Cambria Math" panose="02040503050406030204" pitchFamily="18" charset="0"/>
                        </a:rPr>
                        <m:t>=</m:t>
                      </m:r>
                      <m:nary>
                        <m:naryPr>
                          <m:ctrlPr>
                            <a:rPr lang="es-EC" sz="2400" i="1">
                              <a:latin typeface="Cambria Math" panose="02040503050406030204" pitchFamily="18" charset="0"/>
                            </a:rPr>
                          </m:ctrlPr>
                        </m:naryPr>
                        <m:sub>
                          <m:r>
                            <m:rPr>
                              <m:sty m:val="p"/>
                              <m:brk m:alnAt="15"/>
                            </m:rPr>
                            <a:rPr lang="es-EC" sz="2400" b="0" i="0" smtClean="0">
                              <a:latin typeface="Cambria Math" panose="02040503050406030204" pitchFamily="18" charset="0"/>
                            </a:rPr>
                            <m:t>x</m:t>
                          </m:r>
                        </m:sub>
                        <m:sup/>
                        <m:e>
                          <m:r>
                            <m:rPr>
                              <m:sty m:val="p"/>
                            </m:rPr>
                            <a:rPr lang="es-EC" sz="2400" i="0">
                              <a:latin typeface="Cambria Math" panose="02040503050406030204" pitchFamily="18" charset="0"/>
                            </a:rPr>
                            <m:t>f</m:t>
                          </m:r>
                          <m:d>
                            <m:dPr>
                              <m:ctrlPr>
                                <a:rPr lang="es-EC" sz="2400" i="1">
                                  <a:latin typeface="Cambria Math" panose="02040503050406030204" pitchFamily="18" charset="0"/>
                                </a:rPr>
                              </m:ctrlPr>
                            </m:dPr>
                            <m:e>
                              <m:r>
                                <m:rPr>
                                  <m:sty m:val="p"/>
                                </m:rPr>
                                <a:rPr lang="es-EC" sz="2400" i="0">
                                  <a:latin typeface="Cambria Math" panose="02040503050406030204" pitchFamily="18" charset="0"/>
                                </a:rPr>
                                <m:t>x</m:t>
                              </m:r>
                              <m:r>
                                <a:rPr lang="es-EC" sz="2400" i="0">
                                  <a:latin typeface="Cambria Math" panose="02040503050406030204" pitchFamily="18" charset="0"/>
                                </a:rPr>
                                <m:t>,</m:t>
                              </m:r>
                              <m:r>
                                <m:rPr>
                                  <m:sty m:val="p"/>
                                </m:rPr>
                                <a:rPr lang="es-EC" sz="2400" i="0">
                                  <a:latin typeface="Cambria Math" panose="02040503050406030204" pitchFamily="18" charset="0"/>
                                </a:rPr>
                                <m:t>y</m:t>
                              </m:r>
                            </m:e>
                          </m:d>
                          <m:r>
                            <m:rPr>
                              <m:sty m:val="p"/>
                            </m:rPr>
                            <a:rPr lang="es-EC" sz="2400" i="0">
                              <a:latin typeface="Cambria Math" panose="02040503050406030204" pitchFamily="18" charset="0"/>
                            </a:rPr>
                            <m:t>d</m:t>
                          </m:r>
                          <m:r>
                            <m:rPr>
                              <m:sty m:val="p"/>
                            </m:rPr>
                            <a:rPr lang="es-EC" sz="2400" b="0" i="0" smtClean="0">
                              <a:latin typeface="Cambria Math" panose="02040503050406030204" pitchFamily="18" charset="0"/>
                            </a:rPr>
                            <m:t>x</m:t>
                          </m:r>
                        </m:e>
                      </m:nary>
                    </m:oMath>
                  </m:oMathPara>
                </a14:m>
                <a:endParaRPr lang="es-EC" sz="2400" dirty="0"/>
              </a:p>
            </p:txBody>
          </p:sp>
        </mc:Choice>
        <mc:Fallback xmlns="">
          <p:sp>
            <p:nvSpPr>
              <p:cNvPr id="8" name="CuadroTexto 7"/>
              <p:cNvSpPr txBox="1">
                <a:spLocks noRot="1" noChangeAspect="1" noMove="1" noResize="1" noEditPoints="1" noAdjustHandles="1" noChangeArrowheads="1" noChangeShapeType="1" noTextEdit="1"/>
              </p:cNvSpPr>
              <p:nvPr/>
            </p:nvSpPr>
            <p:spPr>
              <a:xfrm>
                <a:off x="6988967" y="4955380"/>
                <a:ext cx="2515497" cy="860813"/>
              </a:xfrm>
              <a:prstGeom prst="rect">
                <a:avLst/>
              </a:prstGeom>
              <a:blipFill rotWithShape="0">
                <a:blip r:embed="rId5"/>
                <a:stretch>
                  <a:fillRect/>
                </a:stretch>
              </a:blipFill>
            </p:spPr>
            <p:txBody>
              <a:bodyPr/>
              <a:lstStyle/>
              <a:p>
                <a:r>
                  <a:rPr lang="es-EC">
                    <a:noFill/>
                  </a:rPr>
                  <a:t> </a:t>
                </a:r>
              </a:p>
            </p:txBody>
          </p:sp>
        </mc:Fallback>
      </mc:AlternateContent>
      <p:sp>
        <p:nvSpPr>
          <p:cNvPr id="9" name="CuadroTexto 8"/>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3305480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932733"/>
            <a:ext cx="6226705" cy="523220"/>
          </a:xfrm>
          <a:prstGeom prst="rect">
            <a:avLst/>
          </a:prstGeom>
        </p:spPr>
        <p:txBody>
          <a:bodyPr wrap="none">
            <a:spAutoFit/>
          </a:bodyPr>
          <a:lstStyle/>
          <a:p>
            <a:r>
              <a:rPr lang="es-EC" sz="2800" b="1" dirty="0"/>
              <a:t>Distribuciones Conjuntas - Condicionales</a:t>
            </a:r>
          </a:p>
        </p:txBody>
      </p:sp>
      <p:sp>
        <p:nvSpPr>
          <p:cNvPr id="4" name="Rectángulo 3"/>
          <p:cNvSpPr/>
          <p:nvPr/>
        </p:nvSpPr>
        <p:spPr>
          <a:xfrm>
            <a:off x="1084990" y="1665304"/>
            <a:ext cx="10402160" cy="830997"/>
          </a:xfrm>
          <a:prstGeom prst="rect">
            <a:avLst/>
          </a:prstGeom>
        </p:spPr>
        <p:txBody>
          <a:bodyPr wrap="square">
            <a:spAutoFit/>
          </a:bodyPr>
          <a:lstStyle/>
          <a:p>
            <a:r>
              <a:rPr lang="es-EC" sz="2400" dirty="0"/>
              <a:t>Sea la función f(</a:t>
            </a:r>
            <a:r>
              <a:rPr lang="es-EC" sz="2400" dirty="0" err="1"/>
              <a:t>x,y</a:t>
            </a:r>
            <a:r>
              <a:rPr lang="es-EC" sz="2400" dirty="0"/>
              <a:t>) la función de distribución de probabilidad/densidad conjunta de las variables aleatorias  X e Y; la distribución condicionada de Y dado X será:</a:t>
            </a:r>
          </a:p>
        </p:txBody>
      </p:sp>
      <mc:AlternateContent xmlns:mc="http://schemas.openxmlformats.org/markup-compatibility/2006" xmlns:a14="http://schemas.microsoft.com/office/drawing/2010/main">
        <mc:Choice Requires="a14">
          <p:sp>
            <p:nvSpPr>
              <p:cNvPr id="5" name="CuadroTexto 4"/>
              <p:cNvSpPr txBox="1"/>
              <p:nvPr/>
            </p:nvSpPr>
            <p:spPr>
              <a:xfrm>
                <a:off x="3876924" y="2971271"/>
                <a:ext cx="2249334" cy="768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𝑓</m:t>
                      </m:r>
                      <m:d>
                        <m:dPr>
                          <m:ctrlPr>
                            <a:rPr lang="es-EC" sz="2400" i="1">
                              <a:latin typeface="Cambria Math" panose="02040503050406030204" pitchFamily="18" charset="0"/>
                            </a:rPr>
                          </m:ctrlPr>
                        </m:dPr>
                        <m:e>
                          <m:r>
                            <a:rPr lang="es-EC" sz="2400" b="0" i="1" smtClean="0">
                              <a:latin typeface="Cambria Math" panose="02040503050406030204" pitchFamily="18" charset="0"/>
                            </a:rPr>
                            <m:t>𝑦</m:t>
                          </m:r>
                        </m:e>
                        <m:e>
                          <m:r>
                            <a:rPr lang="es-EC" sz="2400" b="0" i="1" smtClean="0">
                              <a:latin typeface="Cambria Math" panose="02040503050406030204" pitchFamily="18" charset="0"/>
                            </a:rPr>
                            <m:t>𝑥</m:t>
                          </m:r>
                        </m:e>
                      </m:d>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b="0" i="1" smtClean="0">
                              <a:latin typeface="Cambria Math" panose="02040503050406030204" pitchFamily="18" charset="0"/>
                            </a:rPr>
                            <m:t>)</m:t>
                          </m:r>
                        </m:num>
                        <m:den>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den>
                      </m:f>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3876924" y="2971271"/>
                <a:ext cx="2249334" cy="768993"/>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6777389" y="3074985"/>
                <a:ext cx="143250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rPr>
                        <m:t>𝑓</m:t>
                      </m:r>
                      <m:d>
                        <m:dPr>
                          <m:ctrlPr>
                            <a:rPr lang="es-EC" sz="2400" i="1">
                              <a:latin typeface="Cambria Math" panose="02040503050406030204" pitchFamily="18" charset="0"/>
                            </a:rPr>
                          </m:ctrlPr>
                        </m:dPr>
                        <m:e>
                          <m:r>
                            <a:rPr lang="es-EC" sz="2400" i="1">
                              <a:latin typeface="Cambria Math" panose="02040503050406030204" pitchFamily="18" charset="0"/>
                            </a:rPr>
                            <m:t>𝑥</m:t>
                          </m:r>
                        </m:e>
                      </m:d>
                      <m:r>
                        <a:rPr lang="es-EC" sz="2400" b="0" i="1" smtClean="0">
                          <a:latin typeface="Cambria Math" panose="02040503050406030204" pitchFamily="18" charset="0"/>
                        </a:rPr>
                        <m:t>&gt;0</m:t>
                      </m:r>
                    </m:oMath>
                  </m:oMathPara>
                </a14:m>
                <a:endParaRPr lang="es-EC" sz="2400" dirty="0"/>
              </a:p>
            </p:txBody>
          </p:sp>
        </mc:Choice>
        <mc:Fallback xmlns="">
          <p:sp>
            <p:nvSpPr>
              <p:cNvPr id="9" name="Rectángulo 8"/>
              <p:cNvSpPr>
                <a:spLocks noRot="1" noChangeAspect="1" noMove="1" noResize="1" noEditPoints="1" noAdjustHandles="1" noChangeArrowheads="1" noChangeShapeType="1" noTextEdit="1"/>
              </p:cNvSpPr>
              <p:nvPr/>
            </p:nvSpPr>
            <p:spPr>
              <a:xfrm>
                <a:off x="6777389" y="3074985"/>
                <a:ext cx="1432508" cy="461665"/>
              </a:xfrm>
              <a:prstGeom prst="rect">
                <a:avLst/>
              </a:prstGeom>
              <a:blipFill rotWithShape="0">
                <a:blip r:embed="rId3"/>
                <a:stretch>
                  <a:fillRect l="-851" b="-17105"/>
                </a:stretch>
              </a:blipFill>
            </p:spPr>
            <p:txBody>
              <a:bodyPr/>
              <a:lstStyle/>
              <a:p>
                <a:r>
                  <a:rPr lang="es-EC">
                    <a:noFill/>
                  </a:rPr>
                  <a:t> </a:t>
                </a:r>
              </a:p>
            </p:txBody>
          </p:sp>
        </mc:Fallback>
      </mc:AlternateContent>
      <p:sp>
        <p:nvSpPr>
          <p:cNvPr id="10" name="Rectángulo 9"/>
          <p:cNvSpPr/>
          <p:nvPr/>
        </p:nvSpPr>
        <p:spPr>
          <a:xfrm>
            <a:off x="1084990" y="4222182"/>
            <a:ext cx="10402160" cy="461665"/>
          </a:xfrm>
          <a:prstGeom prst="rect">
            <a:avLst/>
          </a:prstGeom>
        </p:spPr>
        <p:txBody>
          <a:bodyPr wrap="square">
            <a:spAutoFit/>
          </a:bodyPr>
          <a:lstStyle/>
          <a:p>
            <a:r>
              <a:rPr lang="es-EC" sz="2400" dirty="0"/>
              <a:t>La distribución condicionada de X dado Y será:</a:t>
            </a:r>
          </a:p>
        </p:txBody>
      </p:sp>
      <mc:AlternateContent xmlns:mc="http://schemas.openxmlformats.org/markup-compatibility/2006" xmlns:a14="http://schemas.microsoft.com/office/drawing/2010/main">
        <mc:Choice Requires="a14">
          <p:sp>
            <p:nvSpPr>
              <p:cNvPr id="11" name="CuadroTexto 10"/>
              <p:cNvSpPr txBox="1"/>
              <p:nvPr/>
            </p:nvSpPr>
            <p:spPr>
              <a:xfrm>
                <a:off x="3948654" y="5430934"/>
                <a:ext cx="2249334" cy="768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𝑓</m:t>
                      </m:r>
                      <m:d>
                        <m:dPr>
                          <m:ctrlPr>
                            <a:rPr lang="es-EC" sz="2400" i="1">
                              <a:latin typeface="Cambria Math" panose="02040503050406030204" pitchFamily="18" charset="0"/>
                            </a:rPr>
                          </m:ctrlPr>
                        </m:dPr>
                        <m:e>
                          <m:r>
                            <a:rPr lang="es-EC" sz="2400" b="0" i="1" smtClean="0">
                              <a:latin typeface="Cambria Math" panose="02040503050406030204" pitchFamily="18" charset="0"/>
                            </a:rPr>
                            <m:t>𝑥</m:t>
                          </m:r>
                        </m:e>
                        <m:e>
                          <m:r>
                            <a:rPr lang="es-EC" sz="2400" b="0" i="1" smtClean="0">
                              <a:latin typeface="Cambria Math" panose="02040503050406030204" pitchFamily="18" charset="0"/>
                            </a:rPr>
                            <m:t>𝑦</m:t>
                          </m:r>
                        </m:e>
                      </m:d>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b="0" i="1" smtClean="0">
                              <a:latin typeface="Cambria Math" panose="02040503050406030204" pitchFamily="18" charset="0"/>
                            </a:rPr>
                            <m:t>)</m:t>
                          </m:r>
                        </m:num>
                        <m:den>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b="0" i="1" smtClean="0">
                              <a:latin typeface="Cambria Math" panose="02040503050406030204" pitchFamily="18" charset="0"/>
                            </a:rPr>
                            <m:t>)</m:t>
                          </m:r>
                        </m:den>
                      </m:f>
                    </m:oMath>
                  </m:oMathPara>
                </a14:m>
                <a:endParaRPr lang="es-EC" sz="2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3948654" y="5430934"/>
                <a:ext cx="2249334" cy="768993"/>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6849119" y="5534648"/>
                <a:ext cx="143648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rPr>
                        <m:t>𝑓</m:t>
                      </m:r>
                      <m:d>
                        <m:dPr>
                          <m:ctrlPr>
                            <a:rPr lang="es-EC" sz="2400" i="1">
                              <a:latin typeface="Cambria Math" panose="02040503050406030204" pitchFamily="18" charset="0"/>
                            </a:rPr>
                          </m:ctrlPr>
                        </m:dPr>
                        <m:e>
                          <m:r>
                            <a:rPr lang="es-EC" sz="2400" b="0" i="1" smtClean="0">
                              <a:latin typeface="Cambria Math" panose="02040503050406030204" pitchFamily="18" charset="0"/>
                            </a:rPr>
                            <m:t>𝑦</m:t>
                          </m:r>
                        </m:e>
                      </m:d>
                      <m:r>
                        <a:rPr lang="es-EC" sz="2400" b="0" i="1" smtClean="0">
                          <a:latin typeface="Cambria Math" panose="02040503050406030204" pitchFamily="18" charset="0"/>
                        </a:rPr>
                        <m:t>&gt;0</m:t>
                      </m:r>
                    </m:oMath>
                  </m:oMathPara>
                </a14:m>
                <a:endParaRPr lang="es-EC" sz="2400" dirty="0"/>
              </a:p>
            </p:txBody>
          </p:sp>
        </mc:Choice>
        <mc:Fallback xmlns="">
          <p:sp>
            <p:nvSpPr>
              <p:cNvPr id="12" name="Rectángulo 11"/>
              <p:cNvSpPr>
                <a:spLocks noRot="1" noChangeAspect="1" noMove="1" noResize="1" noEditPoints="1" noAdjustHandles="1" noChangeArrowheads="1" noChangeShapeType="1" noTextEdit="1"/>
              </p:cNvSpPr>
              <p:nvPr/>
            </p:nvSpPr>
            <p:spPr>
              <a:xfrm>
                <a:off x="6849119" y="5534648"/>
                <a:ext cx="1436483" cy="461665"/>
              </a:xfrm>
              <a:prstGeom prst="rect">
                <a:avLst/>
              </a:prstGeom>
              <a:blipFill rotWithShape="0">
                <a:blip r:embed="rId5"/>
                <a:stretch>
                  <a:fillRect l="-851" b="-17105"/>
                </a:stretch>
              </a:blipFill>
            </p:spPr>
            <p:txBody>
              <a:bodyPr/>
              <a:lstStyle/>
              <a:p>
                <a:r>
                  <a:rPr lang="es-EC">
                    <a:noFill/>
                  </a:rPr>
                  <a:t> </a:t>
                </a:r>
              </a:p>
            </p:txBody>
          </p:sp>
        </mc:Fallback>
      </mc:AlternateContent>
      <p:sp>
        <p:nvSpPr>
          <p:cNvPr id="13" name="CuadroTexto 12"/>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4107783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992019"/>
            <a:ext cx="6367769" cy="523220"/>
          </a:xfrm>
          <a:prstGeom prst="rect">
            <a:avLst/>
          </a:prstGeom>
        </p:spPr>
        <p:txBody>
          <a:bodyPr wrap="none">
            <a:spAutoFit/>
          </a:bodyPr>
          <a:lstStyle/>
          <a:p>
            <a:r>
              <a:rPr lang="es-EC" sz="2800" b="1" dirty="0"/>
              <a:t>Distribuciones Conjuntas - Independencia</a:t>
            </a:r>
          </a:p>
        </p:txBody>
      </p:sp>
      <p:sp>
        <p:nvSpPr>
          <p:cNvPr id="4" name="Rectángulo 3"/>
          <p:cNvSpPr/>
          <p:nvPr/>
        </p:nvSpPr>
        <p:spPr>
          <a:xfrm>
            <a:off x="1084990" y="2017607"/>
            <a:ext cx="10402160" cy="1200329"/>
          </a:xfrm>
          <a:prstGeom prst="rect">
            <a:avLst/>
          </a:prstGeom>
        </p:spPr>
        <p:txBody>
          <a:bodyPr wrap="square">
            <a:spAutoFit/>
          </a:bodyPr>
          <a:lstStyle/>
          <a:p>
            <a:pPr algn="just"/>
            <a:r>
              <a:rPr lang="es-EC" sz="2400" dirty="0"/>
              <a:t>Sea la función f(</a:t>
            </a:r>
            <a:r>
              <a:rPr lang="es-EC" sz="2400" dirty="0" err="1"/>
              <a:t>x,y</a:t>
            </a:r>
            <a:r>
              <a:rPr lang="es-EC" sz="2400" dirty="0"/>
              <a:t>) la función de distribución de probabilidad/densidad conjunta de las variables aleatorias  X e Y; se dice que X e Y son estadísticamente independientes si y sólo si se cumple:</a:t>
            </a:r>
          </a:p>
        </p:txBody>
      </p:sp>
      <mc:AlternateContent xmlns:mc="http://schemas.openxmlformats.org/markup-compatibility/2006" xmlns:a14="http://schemas.microsoft.com/office/drawing/2010/main">
        <mc:Choice Requires="a14">
          <p:sp>
            <p:nvSpPr>
              <p:cNvPr id="5" name="CuadroTexto 4"/>
              <p:cNvSpPr txBox="1"/>
              <p:nvPr/>
            </p:nvSpPr>
            <p:spPr>
              <a:xfrm>
                <a:off x="4390551" y="4019097"/>
                <a:ext cx="30163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i="1" smtClean="0">
                          <a:latin typeface="Cambria Math" panose="02040503050406030204" pitchFamily="18" charset="0"/>
                        </a:rPr>
                        <m:t>𝑓</m:t>
                      </m:r>
                      <m:r>
                        <a:rPr lang="es-EC" sz="2800" i="1" smtClean="0">
                          <a:latin typeface="Cambria Math" panose="02040503050406030204" pitchFamily="18" charset="0"/>
                        </a:rPr>
                        <m:t>(</m:t>
                      </m:r>
                      <m:r>
                        <a:rPr lang="es-EC" sz="2800" i="1" smtClean="0">
                          <a:latin typeface="Cambria Math" panose="02040503050406030204" pitchFamily="18" charset="0"/>
                        </a:rPr>
                        <m:t>𝑥</m:t>
                      </m:r>
                      <m:r>
                        <a:rPr lang="es-EC" sz="2800" i="1" smtClean="0">
                          <a:latin typeface="Cambria Math" panose="02040503050406030204" pitchFamily="18" charset="0"/>
                        </a:rPr>
                        <m:t>,</m:t>
                      </m:r>
                      <m:r>
                        <a:rPr lang="es-EC" sz="2800" i="1" smtClean="0">
                          <a:latin typeface="Cambria Math" panose="02040503050406030204" pitchFamily="18" charset="0"/>
                        </a:rPr>
                        <m:t>𝑦</m:t>
                      </m:r>
                      <m:r>
                        <a:rPr lang="es-EC" sz="2800" i="1" smtClean="0">
                          <a:latin typeface="Cambria Math" panose="02040503050406030204" pitchFamily="18" charset="0"/>
                        </a:rPr>
                        <m:t>)=</m:t>
                      </m:r>
                      <m:r>
                        <a:rPr lang="es-EC" sz="2800" b="0" i="1" smtClean="0">
                          <a:latin typeface="Cambria Math" panose="02040503050406030204" pitchFamily="18" charset="0"/>
                        </a:rPr>
                        <m:t>𝑓</m:t>
                      </m:r>
                      <m:d>
                        <m:dPr>
                          <m:ctrlPr>
                            <a:rPr lang="es-EC" sz="2800" b="0" i="1" smtClean="0">
                              <a:latin typeface="Cambria Math" panose="02040503050406030204" pitchFamily="18" charset="0"/>
                            </a:rPr>
                          </m:ctrlPr>
                        </m:dPr>
                        <m:e>
                          <m:r>
                            <a:rPr lang="es-EC" sz="2800" b="0" i="1" smtClean="0">
                              <a:latin typeface="Cambria Math" panose="02040503050406030204" pitchFamily="18" charset="0"/>
                            </a:rPr>
                            <m:t>𝑥</m:t>
                          </m:r>
                        </m:e>
                      </m:d>
                      <m:r>
                        <a:rPr lang="es-EC" sz="2800" b="0" i="1" smtClean="0">
                          <a:latin typeface="Cambria Math" panose="02040503050406030204" pitchFamily="18" charset="0"/>
                        </a:rPr>
                        <m:t>𝑓</m:t>
                      </m:r>
                      <m:r>
                        <a:rPr lang="es-EC" sz="2800" b="0" i="1" smtClean="0">
                          <a:latin typeface="Cambria Math" panose="02040503050406030204" pitchFamily="18" charset="0"/>
                        </a:rPr>
                        <m:t>(</m:t>
                      </m:r>
                      <m:r>
                        <a:rPr lang="es-EC" sz="2800" b="0" i="1" smtClean="0">
                          <a:latin typeface="Cambria Math" panose="02040503050406030204" pitchFamily="18" charset="0"/>
                        </a:rPr>
                        <m:t>𝑦</m:t>
                      </m:r>
                      <m:r>
                        <a:rPr lang="es-EC" sz="2800" b="0" i="1" smtClean="0">
                          <a:latin typeface="Cambria Math" panose="02040503050406030204" pitchFamily="18" charset="0"/>
                        </a:rPr>
                        <m:t>)</m:t>
                      </m:r>
                    </m:oMath>
                  </m:oMathPara>
                </a14:m>
                <a:endParaRPr lang="es-EC"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4390551" y="4019097"/>
                <a:ext cx="3016339" cy="430887"/>
              </a:xfrm>
              <a:prstGeom prst="rect">
                <a:avLst/>
              </a:prstGeom>
              <a:blipFill rotWithShape="0">
                <a:blip r:embed="rId2"/>
                <a:stretch>
                  <a:fillRect/>
                </a:stretch>
              </a:blipFill>
            </p:spPr>
            <p:txBody>
              <a:bodyPr/>
              <a:lstStyle/>
              <a:p>
                <a:r>
                  <a:rPr lang="es-EC">
                    <a:noFill/>
                  </a:rPr>
                  <a:t> </a:t>
                </a:r>
              </a:p>
            </p:txBody>
          </p:sp>
        </mc:Fallback>
      </mc:AlternateContent>
      <p:sp>
        <p:nvSpPr>
          <p:cNvPr id="6" name="CuadroTexto 5"/>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32284964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1149427"/>
            <a:ext cx="5654818" cy="523220"/>
          </a:xfrm>
          <a:prstGeom prst="rect">
            <a:avLst/>
          </a:prstGeom>
        </p:spPr>
        <p:txBody>
          <a:bodyPr wrap="none">
            <a:spAutoFit/>
          </a:bodyPr>
          <a:lstStyle/>
          <a:p>
            <a:r>
              <a:rPr lang="es-EC" sz="2800" b="1" dirty="0"/>
              <a:t>Distribuciones Conjuntas - Esperanza</a:t>
            </a:r>
          </a:p>
        </p:txBody>
      </p:sp>
      <p:sp>
        <p:nvSpPr>
          <p:cNvPr id="4" name="Rectángulo 3"/>
          <p:cNvSpPr/>
          <p:nvPr/>
        </p:nvSpPr>
        <p:spPr>
          <a:xfrm>
            <a:off x="1084990" y="2017607"/>
            <a:ext cx="10402160" cy="1569660"/>
          </a:xfrm>
          <a:prstGeom prst="rect">
            <a:avLst/>
          </a:prstGeom>
        </p:spPr>
        <p:txBody>
          <a:bodyPr wrap="square">
            <a:spAutoFit/>
          </a:bodyPr>
          <a:lstStyle/>
          <a:p>
            <a:pPr algn="just"/>
            <a:r>
              <a:rPr lang="es-EC" sz="2400" dirty="0"/>
              <a:t>Sea la función f(</a:t>
            </a:r>
            <a:r>
              <a:rPr lang="es-EC" sz="2400" dirty="0" err="1"/>
              <a:t>x,y</a:t>
            </a:r>
            <a:r>
              <a:rPr lang="es-EC" sz="2400" dirty="0"/>
              <a:t>) la función de distribución de probabilidad/densidad conjunta de las variables aleatorias  X e Y; se define la esperanza conjunta de la siguiente manera:</a:t>
            </a:r>
          </a:p>
          <a:p>
            <a:pPr algn="just"/>
            <a:endParaRPr lang="es-EC" sz="2400" dirty="0"/>
          </a:p>
        </p:txBody>
      </p:sp>
      <mc:AlternateContent xmlns:mc="http://schemas.openxmlformats.org/markup-compatibility/2006" xmlns:a14="http://schemas.microsoft.com/office/drawing/2010/main">
        <mc:Choice Requires="a14">
          <p:sp>
            <p:nvSpPr>
              <p:cNvPr id="5" name="CuadroTexto 4"/>
              <p:cNvSpPr txBox="1"/>
              <p:nvPr/>
            </p:nvSpPr>
            <p:spPr>
              <a:xfrm>
                <a:off x="3728399" y="3562896"/>
                <a:ext cx="3421706" cy="937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rPr>
                        <m:t>𝐸</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𝑥𝑦</m:t>
                          </m:r>
                        </m:e>
                      </m:d>
                      <m:r>
                        <a:rPr lang="es-EC" sz="2400" b="0" i="1" smtClean="0">
                          <a:latin typeface="Cambria Math" panose="02040503050406030204" pitchFamily="18" charset="0"/>
                        </a:rPr>
                        <m:t>=</m:t>
                      </m:r>
                      <m:nary>
                        <m:naryPr>
                          <m:chr m:val="∑"/>
                          <m:supHide m:val="on"/>
                          <m:ctrlPr>
                            <a:rPr lang="es-EC" sz="2400" b="0" i="1" smtClean="0">
                              <a:latin typeface="Cambria Math" panose="02040503050406030204" pitchFamily="18" charset="0"/>
                            </a:rPr>
                          </m:ctrlPr>
                        </m:naryPr>
                        <m:sub>
                          <m:r>
                            <m:rPr>
                              <m:brk m:alnAt="7"/>
                            </m:rPr>
                            <a:rPr lang="es-EC" sz="2400" b="0" i="1" smtClean="0">
                              <a:latin typeface="Cambria Math" panose="02040503050406030204" pitchFamily="18" charset="0"/>
                            </a:rPr>
                            <m:t>𝑥</m:t>
                          </m:r>
                        </m:sub>
                        <m:sup/>
                        <m:e>
                          <m:nary>
                            <m:naryPr>
                              <m:chr m:val="∑"/>
                              <m:supHide m:val="on"/>
                              <m:ctrlPr>
                                <a:rPr lang="es-EC" sz="2400" b="0" i="1" smtClean="0">
                                  <a:latin typeface="Cambria Math" panose="02040503050406030204" pitchFamily="18" charset="0"/>
                                </a:rPr>
                              </m:ctrlPr>
                            </m:naryPr>
                            <m:sub>
                              <m:r>
                                <m:rPr>
                                  <m:brk m:alnAt="7"/>
                                </m:rPr>
                                <a:rPr lang="es-EC" sz="2400" b="0" i="1" smtClean="0">
                                  <a:latin typeface="Cambria Math" panose="02040503050406030204" pitchFamily="18" charset="0"/>
                                </a:rPr>
                                <m:t>𝑦</m:t>
                              </m:r>
                            </m:sub>
                            <m:sup/>
                            <m:e>
                              <m:r>
                                <a:rPr lang="es-EC" sz="2400" b="0" i="1" smtClean="0">
                                  <a:latin typeface="Cambria Math" panose="02040503050406030204" pitchFamily="18" charset="0"/>
                                </a:rPr>
                                <m:t>𝑥𝑦𝑓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b="0" i="1" smtClean="0">
                                  <a:latin typeface="Cambria Math" panose="02040503050406030204" pitchFamily="18" charset="0"/>
                                </a:rPr>
                                <m:t>)</m:t>
                              </m:r>
                            </m:e>
                          </m:nary>
                        </m:e>
                      </m:nary>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3728399" y="3562896"/>
                <a:ext cx="3421706" cy="937436"/>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3728398" y="4672558"/>
                <a:ext cx="3930435" cy="11866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rPr>
                        <m:t>𝐸</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𝑥𝑦</m:t>
                          </m:r>
                        </m:e>
                      </m:d>
                      <m:r>
                        <a:rPr lang="es-EC" sz="2400" b="0" i="1" smtClean="0">
                          <a:latin typeface="Cambria Math" panose="02040503050406030204" pitchFamily="18" charset="0"/>
                        </a:rPr>
                        <m:t>=</m:t>
                      </m:r>
                      <m:nary>
                        <m:naryPr>
                          <m:limLoc m:val="undOvr"/>
                          <m:ctrlPr>
                            <a:rPr lang="es-EC" sz="2400" b="0" i="1" smtClean="0">
                              <a:latin typeface="Cambria Math" panose="02040503050406030204" pitchFamily="18" charset="0"/>
                            </a:rPr>
                          </m:ctrlPr>
                        </m:naryPr>
                        <m:sub>
                          <m:r>
                            <m:rPr>
                              <m:brk m:alnAt="24"/>
                            </m:rPr>
                            <a:rPr lang="es-EC" sz="2400" b="0" i="1" smtClean="0">
                              <a:latin typeface="Cambria Math" panose="02040503050406030204" pitchFamily="18" charset="0"/>
                            </a:rPr>
                            <m:t>𝑦</m:t>
                          </m:r>
                        </m:sub>
                        <m:sup/>
                        <m:e>
                          <m:nary>
                            <m:naryPr>
                              <m:limLoc m:val="undOvr"/>
                              <m:ctrlPr>
                                <a:rPr lang="es-EC" sz="2400" i="1">
                                  <a:latin typeface="Cambria Math" panose="02040503050406030204" pitchFamily="18" charset="0"/>
                                </a:rPr>
                              </m:ctrlPr>
                            </m:naryPr>
                            <m:sub>
                              <m:r>
                                <m:rPr>
                                  <m:brk m:alnAt="24"/>
                                </m:rPr>
                                <a:rPr lang="es-EC" sz="2400" b="0" i="1" smtClean="0">
                                  <a:latin typeface="Cambria Math" panose="02040503050406030204" pitchFamily="18" charset="0"/>
                                </a:rPr>
                                <m:t>𝑥</m:t>
                              </m:r>
                            </m:sub>
                            <m:sup/>
                            <m:e>
                              <m:r>
                                <a:rPr lang="es-EC" sz="2400" i="1">
                                  <a:latin typeface="Cambria Math" panose="02040503050406030204" pitchFamily="18" charset="0"/>
                                </a:rPr>
                                <m:t>𝑥𝑦𝑓</m:t>
                              </m:r>
                              <m:r>
                                <a:rPr lang="es-EC" sz="2400" i="1">
                                  <a:latin typeface="Cambria Math" panose="02040503050406030204" pitchFamily="18" charset="0"/>
                                </a:rPr>
                                <m:t>(</m:t>
                              </m:r>
                              <m:r>
                                <a:rPr lang="es-EC" sz="2400" i="1">
                                  <a:latin typeface="Cambria Math" panose="02040503050406030204" pitchFamily="18" charset="0"/>
                                </a:rPr>
                                <m:t>𝑥</m:t>
                              </m:r>
                              <m:r>
                                <a:rPr lang="es-EC" sz="2400" i="1">
                                  <a:latin typeface="Cambria Math" panose="02040503050406030204" pitchFamily="18" charset="0"/>
                                </a:rPr>
                                <m:t>,</m:t>
                              </m:r>
                              <m:r>
                                <a:rPr lang="es-EC" sz="2400" i="1">
                                  <a:latin typeface="Cambria Math" panose="02040503050406030204" pitchFamily="18" charset="0"/>
                                </a:rPr>
                                <m:t>𝑦</m:t>
                              </m:r>
                              <m:r>
                                <a:rPr lang="es-EC" sz="2400" i="1">
                                  <a:latin typeface="Cambria Math" panose="02040503050406030204" pitchFamily="18" charset="0"/>
                                </a:rPr>
                                <m:t>)</m:t>
                              </m:r>
                            </m:e>
                          </m:nary>
                          <m:r>
                            <a:rPr lang="es-EC" sz="2400" b="0" i="1" smtClean="0">
                              <a:latin typeface="Cambria Math" panose="02040503050406030204" pitchFamily="18" charset="0"/>
                            </a:rPr>
                            <m:t>𝑑𝑥𝑑𝑦</m:t>
                          </m:r>
                        </m:e>
                      </m:nary>
                    </m:oMath>
                  </m:oMathPara>
                </a14:m>
                <a:endParaRPr lang="es-EC"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3728398" y="4672558"/>
                <a:ext cx="3930435" cy="1186607"/>
              </a:xfrm>
              <a:prstGeom prst="rect">
                <a:avLst/>
              </a:prstGeom>
              <a:blipFill rotWithShape="0">
                <a:blip r:embed="rId3"/>
                <a:stretch>
                  <a:fillRect/>
                </a:stretch>
              </a:blipFill>
            </p:spPr>
            <p:txBody>
              <a:bodyPr/>
              <a:lstStyle/>
              <a:p>
                <a:r>
                  <a:rPr lang="es-EC">
                    <a:noFill/>
                  </a:rPr>
                  <a:t> </a:t>
                </a:r>
              </a:p>
            </p:txBody>
          </p:sp>
        </mc:Fallback>
      </mc:AlternateContent>
      <p:sp>
        <p:nvSpPr>
          <p:cNvPr id="7" name="CuadroTexto 6"/>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36184553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1149427"/>
            <a:ext cx="7833298" cy="523220"/>
          </a:xfrm>
          <a:prstGeom prst="rect">
            <a:avLst/>
          </a:prstGeom>
        </p:spPr>
        <p:txBody>
          <a:bodyPr wrap="none">
            <a:spAutoFit/>
          </a:bodyPr>
          <a:lstStyle/>
          <a:p>
            <a:r>
              <a:rPr lang="es-EC" sz="2800" b="1" dirty="0"/>
              <a:t>Distribuciones Conjuntas – Esperanza Condicionada</a:t>
            </a:r>
          </a:p>
        </p:txBody>
      </p:sp>
      <p:sp>
        <p:nvSpPr>
          <p:cNvPr id="4" name="Rectángulo 3"/>
          <p:cNvSpPr/>
          <p:nvPr/>
        </p:nvSpPr>
        <p:spPr>
          <a:xfrm>
            <a:off x="1084990" y="2017607"/>
            <a:ext cx="10402160" cy="1200329"/>
          </a:xfrm>
          <a:prstGeom prst="rect">
            <a:avLst/>
          </a:prstGeom>
        </p:spPr>
        <p:txBody>
          <a:bodyPr wrap="square">
            <a:spAutoFit/>
          </a:bodyPr>
          <a:lstStyle/>
          <a:p>
            <a:pPr algn="just"/>
            <a:r>
              <a:rPr lang="es-EC" sz="2400" dirty="0"/>
              <a:t>Sea la función f(</a:t>
            </a:r>
            <a:r>
              <a:rPr lang="es-EC" sz="2400" dirty="0" err="1"/>
              <a:t>x,y</a:t>
            </a:r>
            <a:r>
              <a:rPr lang="es-EC" sz="2400" dirty="0"/>
              <a:t>) la función de distribución de probabilidad/densidad conjunta de las variables aleatorias  X e Y; se define la esperanza condicionada de X dado un valor de Y de la siguiente manera:</a:t>
            </a:r>
          </a:p>
        </p:txBody>
      </p:sp>
      <mc:AlternateContent xmlns:mc="http://schemas.openxmlformats.org/markup-compatibility/2006" xmlns:a14="http://schemas.microsoft.com/office/drawing/2010/main">
        <mc:Choice Requires="a14">
          <p:sp>
            <p:nvSpPr>
              <p:cNvPr id="5" name="CuadroTexto 4"/>
              <p:cNvSpPr txBox="1"/>
              <p:nvPr/>
            </p:nvSpPr>
            <p:spPr>
              <a:xfrm>
                <a:off x="3728399" y="3562896"/>
                <a:ext cx="3567836"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rPr>
                        <m:t>𝐸</m:t>
                      </m:r>
                      <m:d>
                        <m:dPr>
                          <m:ctrlPr>
                            <a:rPr lang="es-EC" sz="2400" i="1">
                              <a:latin typeface="Cambria Math" panose="02040503050406030204" pitchFamily="18" charset="0"/>
                            </a:rPr>
                          </m:ctrlPr>
                        </m:dPr>
                        <m:e>
                          <m:r>
                            <a:rPr lang="es-EC" sz="2400" b="0" i="1" smtClean="0">
                              <a:latin typeface="Cambria Math" panose="02040503050406030204" pitchFamily="18" charset="0"/>
                            </a:rPr>
                            <m:t>𝑋</m:t>
                          </m:r>
                        </m:e>
                        <m:e>
                          <m:r>
                            <a:rPr lang="es-EC" sz="2400" b="0" i="1" smtClean="0">
                              <a:latin typeface="Cambria Math" panose="02040503050406030204" pitchFamily="18" charset="0"/>
                            </a:rPr>
                            <m:t>𝑌</m:t>
                          </m:r>
                          <m:r>
                            <a:rPr lang="es-EC" sz="2400" b="0" i="1" smtClean="0">
                              <a:latin typeface="Cambria Math" panose="02040503050406030204" pitchFamily="18" charset="0"/>
                            </a:rPr>
                            <m:t>=</m:t>
                          </m:r>
                          <m:r>
                            <a:rPr lang="es-EC" sz="2400" b="0" i="1" smtClean="0">
                              <a:latin typeface="Cambria Math" panose="02040503050406030204" pitchFamily="18" charset="0"/>
                            </a:rPr>
                            <m:t>𝑦</m:t>
                          </m:r>
                        </m:e>
                      </m:d>
                      <m:r>
                        <a:rPr lang="es-EC" sz="2400" i="1">
                          <a:latin typeface="Cambria Math" panose="02040503050406030204" pitchFamily="18" charset="0"/>
                        </a:rPr>
                        <m:t>=</m:t>
                      </m:r>
                      <m:nary>
                        <m:naryPr>
                          <m:chr m:val="∑"/>
                          <m:supHide m:val="on"/>
                          <m:ctrlPr>
                            <a:rPr lang="es-EC" sz="2400" b="0" i="1" smtClean="0">
                              <a:latin typeface="Cambria Math" panose="02040503050406030204" pitchFamily="18" charset="0"/>
                            </a:rPr>
                          </m:ctrlPr>
                        </m:naryPr>
                        <m:sub>
                          <m:r>
                            <m:rPr>
                              <m:brk m:alnAt="7"/>
                            </m:rPr>
                            <a:rPr lang="es-EC" sz="2400" b="0" i="1" smtClean="0">
                              <a:latin typeface="Cambria Math" panose="02040503050406030204" pitchFamily="18" charset="0"/>
                            </a:rPr>
                            <m:t>𝑥</m:t>
                          </m:r>
                        </m:sub>
                        <m:sup/>
                        <m:e>
                          <m:r>
                            <a:rPr lang="es-EC" sz="2400" b="0" i="1" smtClean="0">
                              <a:latin typeface="Cambria Math" panose="02040503050406030204" pitchFamily="18" charset="0"/>
                            </a:rPr>
                            <m:t>𝑥</m:t>
                          </m:r>
                        </m:e>
                      </m:nary>
                      <m:r>
                        <a:rPr lang="es-EC" sz="2400" i="1">
                          <a:latin typeface="Cambria Math" panose="02040503050406030204" pitchFamily="18" charset="0"/>
                        </a:rPr>
                        <m:t>𝑓</m:t>
                      </m:r>
                      <m:d>
                        <m:dPr>
                          <m:ctrlPr>
                            <a:rPr lang="es-EC" sz="2400" i="1">
                              <a:latin typeface="Cambria Math" panose="02040503050406030204" pitchFamily="18" charset="0"/>
                            </a:rPr>
                          </m:ctrlPr>
                        </m:dPr>
                        <m:e>
                          <m:r>
                            <a:rPr lang="es-EC" sz="2400" i="1">
                              <a:latin typeface="Cambria Math" panose="02040503050406030204" pitchFamily="18" charset="0"/>
                            </a:rPr>
                            <m:t>𝑥</m:t>
                          </m:r>
                        </m:e>
                        <m:e>
                          <m:r>
                            <a:rPr lang="es-EC" sz="2400" i="1">
                              <a:latin typeface="Cambria Math" panose="02040503050406030204" pitchFamily="18" charset="0"/>
                            </a:rPr>
                            <m:t>𝑦</m:t>
                          </m:r>
                        </m:e>
                      </m:d>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3728399" y="3562896"/>
                <a:ext cx="3567836" cy="896207"/>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3641869" y="4804063"/>
                <a:ext cx="3740896" cy="11866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rPr>
                        <m:t>𝐸</m:t>
                      </m:r>
                      <m:d>
                        <m:dPr>
                          <m:ctrlPr>
                            <a:rPr lang="es-EC" sz="2400" i="1">
                              <a:latin typeface="Cambria Math" panose="02040503050406030204" pitchFamily="18" charset="0"/>
                            </a:rPr>
                          </m:ctrlPr>
                        </m:dPr>
                        <m:e>
                          <m:r>
                            <a:rPr lang="es-EC" sz="2400" i="1">
                              <a:latin typeface="Cambria Math" panose="02040503050406030204" pitchFamily="18" charset="0"/>
                            </a:rPr>
                            <m:t>𝑋</m:t>
                          </m:r>
                        </m:e>
                        <m:e>
                          <m:r>
                            <a:rPr lang="es-EC" sz="2400" i="1">
                              <a:latin typeface="Cambria Math" panose="02040503050406030204" pitchFamily="18" charset="0"/>
                            </a:rPr>
                            <m:t>𝑌</m:t>
                          </m:r>
                          <m:r>
                            <a:rPr lang="es-EC" sz="2400" i="1">
                              <a:latin typeface="Cambria Math" panose="02040503050406030204" pitchFamily="18" charset="0"/>
                            </a:rPr>
                            <m:t>=</m:t>
                          </m:r>
                          <m:r>
                            <a:rPr lang="es-EC" sz="2400" i="1">
                              <a:latin typeface="Cambria Math" panose="02040503050406030204" pitchFamily="18" charset="0"/>
                            </a:rPr>
                            <m:t>𝑦</m:t>
                          </m:r>
                        </m:e>
                      </m:d>
                      <m:r>
                        <a:rPr lang="es-EC" sz="2400" i="1">
                          <a:latin typeface="Cambria Math" panose="02040503050406030204" pitchFamily="18" charset="0"/>
                        </a:rPr>
                        <m:t>=</m:t>
                      </m:r>
                      <m:nary>
                        <m:naryPr>
                          <m:limLoc m:val="undOvr"/>
                          <m:ctrlPr>
                            <a:rPr lang="es-EC" sz="2400" b="0" i="1" smtClean="0">
                              <a:latin typeface="Cambria Math" panose="02040503050406030204" pitchFamily="18" charset="0"/>
                            </a:rPr>
                          </m:ctrlPr>
                        </m:naryPr>
                        <m:sub>
                          <m:r>
                            <a:rPr lang="es-EC" sz="2400" b="0" i="1" smtClean="0">
                              <a:latin typeface="Cambria Math" panose="02040503050406030204" pitchFamily="18" charset="0"/>
                            </a:rPr>
                            <m:t>𝑥</m:t>
                          </m:r>
                        </m:sub>
                        <m:sup/>
                        <m:e>
                          <m:r>
                            <a:rPr lang="es-EC" sz="2400" b="0" i="1" smtClean="0">
                              <a:latin typeface="Cambria Math" panose="02040503050406030204" pitchFamily="18" charset="0"/>
                            </a:rPr>
                            <m:t>𝑥</m:t>
                          </m:r>
                          <m:r>
                            <a:rPr lang="es-EC" sz="2400" i="1">
                              <a:latin typeface="Cambria Math" panose="02040503050406030204" pitchFamily="18" charset="0"/>
                            </a:rPr>
                            <m:t>𝑓</m:t>
                          </m:r>
                          <m:d>
                            <m:dPr>
                              <m:ctrlPr>
                                <a:rPr lang="es-EC" sz="2400" i="1">
                                  <a:latin typeface="Cambria Math" panose="02040503050406030204" pitchFamily="18" charset="0"/>
                                </a:rPr>
                              </m:ctrlPr>
                            </m:dPr>
                            <m:e>
                              <m:r>
                                <a:rPr lang="es-EC" sz="2400" i="1">
                                  <a:latin typeface="Cambria Math" panose="02040503050406030204" pitchFamily="18" charset="0"/>
                                </a:rPr>
                                <m:t>𝑥</m:t>
                              </m:r>
                            </m:e>
                            <m:e>
                              <m:r>
                                <a:rPr lang="es-EC" sz="2400" i="1">
                                  <a:latin typeface="Cambria Math" panose="02040503050406030204" pitchFamily="18" charset="0"/>
                                </a:rPr>
                                <m:t>𝑦</m:t>
                              </m:r>
                            </m:e>
                          </m:d>
                          <m:r>
                            <a:rPr lang="es-EC" sz="2400" b="0" i="1" smtClean="0">
                              <a:latin typeface="Cambria Math" panose="02040503050406030204" pitchFamily="18" charset="0"/>
                            </a:rPr>
                            <m:t>𝑑𝑥</m:t>
                          </m:r>
                        </m:e>
                      </m:nary>
                    </m:oMath>
                  </m:oMathPara>
                </a14:m>
                <a:endParaRPr lang="es-EC"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3641869" y="4804063"/>
                <a:ext cx="3740896" cy="1186607"/>
              </a:xfrm>
              <a:prstGeom prst="rect">
                <a:avLst/>
              </a:prstGeom>
              <a:blipFill rotWithShape="0">
                <a:blip r:embed="rId3"/>
                <a:stretch>
                  <a:fillRect/>
                </a:stretch>
              </a:blipFill>
            </p:spPr>
            <p:txBody>
              <a:bodyPr/>
              <a:lstStyle/>
              <a:p>
                <a:r>
                  <a:rPr lang="es-EC">
                    <a:noFill/>
                  </a:rPr>
                  <a:t> </a:t>
                </a:r>
              </a:p>
            </p:txBody>
          </p:sp>
        </mc:Fallback>
      </mc:AlternateContent>
      <p:sp>
        <p:nvSpPr>
          <p:cNvPr id="7" name="CuadroTexto 6"/>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1100389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1045666"/>
            <a:ext cx="7834068" cy="523220"/>
          </a:xfrm>
          <a:prstGeom prst="rect">
            <a:avLst/>
          </a:prstGeom>
        </p:spPr>
        <p:txBody>
          <a:bodyPr wrap="none">
            <a:spAutoFit/>
          </a:bodyPr>
          <a:lstStyle/>
          <a:p>
            <a:r>
              <a:rPr lang="es-EC" sz="2800" b="1" dirty="0"/>
              <a:t>Distribuciones Conjuntas – Covarianza - Correlación</a:t>
            </a:r>
          </a:p>
        </p:txBody>
      </p:sp>
      <p:sp>
        <p:nvSpPr>
          <p:cNvPr id="4" name="Rectángulo 3"/>
          <p:cNvSpPr/>
          <p:nvPr/>
        </p:nvSpPr>
        <p:spPr>
          <a:xfrm>
            <a:off x="1084990" y="1891880"/>
            <a:ext cx="10402160" cy="1200329"/>
          </a:xfrm>
          <a:prstGeom prst="rect">
            <a:avLst/>
          </a:prstGeom>
        </p:spPr>
        <p:txBody>
          <a:bodyPr wrap="square">
            <a:spAutoFit/>
          </a:bodyPr>
          <a:lstStyle/>
          <a:p>
            <a:pPr algn="just"/>
            <a:r>
              <a:rPr lang="es-EC" sz="2400" dirty="0"/>
              <a:t>Sea la función f(</a:t>
            </a:r>
            <a:r>
              <a:rPr lang="es-EC" sz="2400" dirty="0" err="1"/>
              <a:t>x,y</a:t>
            </a:r>
            <a:r>
              <a:rPr lang="es-EC" sz="2400" dirty="0"/>
              <a:t>) la función de distribución de probabilidad/densidad conjunta de las variables aleatorias  X e Y; se define la covarianza entre las variables de la siguiente manera:</a:t>
            </a:r>
          </a:p>
        </p:txBody>
      </p:sp>
      <mc:AlternateContent xmlns:mc="http://schemas.openxmlformats.org/markup-compatibility/2006" xmlns:a14="http://schemas.microsoft.com/office/drawing/2010/main">
        <mc:Choice Requires="a14">
          <p:sp>
            <p:nvSpPr>
              <p:cNvPr id="6" name="CuadroTexto 5"/>
              <p:cNvSpPr txBox="1"/>
              <p:nvPr/>
            </p:nvSpPr>
            <p:spPr>
              <a:xfrm>
                <a:off x="2322304" y="4134824"/>
                <a:ext cx="6403228" cy="988860"/>
              </a:xfrm>
              <a:prstGeom prst="rect">
                <a:avLst/>
              </a:prstGeom>
              <a:noFill/>
            </p:spPr>
            <p:txBody>
              <a:bodyPr wrap="none" lIns="0" tIns="0" rIns="0" bIns="0" rtlCol="0">
                <a:spAutoFit/>
              </a:bodyPr>
              <a:lstStyle/>
              <a:p>
                <a:endParaRPr lang="es-EC" sz="20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2322304" y="4134824"/>
                <a:ext cx="6403228" cy="988860"/>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CuadroTexto 6"/>
              <p:cNvSpPr txBox="1"/>
              <p:nvPr/>
            </p:nvSpPr>
            <p:spPr>
              <a:xfrm>
                <a:off x="2535151" y="3680980"/>
                <a:ext cx="7146828" cy="937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i="1" smtClean="0">
                          <a:latin typeface="Cambria Math" panose="02040503050406030204" pitchFamily="18" charset="0"/>
                        </a:rPr>
                        <m:t>𝐸</m:t>
                      </m:r>
                      <m:d>
                        <m:dPr>
                          <m:begChr m:val="["/>
                          <m:endChr m:val="]"/>
                          <m:ctrlPr>
                            <a:rPr lang="es-EC" sz="2400" i="1" smtClean="0">
                              <a:latin typeface="Cambria Math" panose="02040503050406030204" pitchFamily="18" charset="0"/>
                            </a:rPr>
                          </m:ctrlPr>
                        </m:dPr>
                        <m:e>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sSub>
                            <m:sSubPr>
                              <m:ctrlPr>
                                <a:rPr lang="es-EC" sz="2400" b="0" i="1" smtClean="0">
                                  <a:latin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𝜇</m:t>
                              </m:r>
                            </m:e>
                            <m:sub>
                              <m:r>
                                <a:rPr lang="es-EC" sz="2400" b="0" i="1" smtClean="0">
                                  <a:latin typeface="Cambria Math" panose="02040503050406030204" pitchFamily="18" charset="0"/>
                                </a:rPr>
                                <m:t>𝑥</m:t>
                              </m:r>
                            </m:sub>
                          </m:sSub>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𝜇</m:t>
                              </m:r>
                            </m:e>
                            <m:sub>
                              <m:r>
                                <a:rPr lang="es-EC" sz="2400" b="0" i="1" smtClean="0">
                                  <a:latin typeface="Cambria Math" panose="02040503050406030204" pitchFamily="18" charset="0"/>
                                  <a:ea typeface="Cambria Math" panose="02040503050406030204" pitchFamily="18" charset="0"/>
                                </a:rPr>
                                <m:t>𝑦</m:t>
                              </m:r>
                            </m:sub>
                          </m:sSub>
                          <m:r>
                            <a:rPr lang="es-EC" sz="2400" b="0" i="1" smtClean="0">
                              <a:latin typeface="Cambria Math" panose="02040503050406030204" pitchFamily="18" charset="0"/>
                            </a:rPr>
                            <m:t>)</m:t>
                          </m:r>
                        </m:e>
                      </m:d>
                      <m:r>
                        <a:rPr lang="es-EC" sz="2400" b="0" i="1" smtClean="0">
                          <a:latin typeface="Cambria Math" panose="02040503050406030204" pitchFamily="18" charset="0"/>
                        </a:rPr>
                        <m:t>=</m:t>
                      </m:r>
                      <m:nary>
                        <m:naryPr>
                          <m:chr m:val="∑"/>
                          <m:supHide m:val="on"/>
                          <m:ctrlPr>
                            <a:rPr lang="es-EC" sz="2400" i="1">
                              <a:latin typeface="Cambria Math" panose="02040503050406030204" pitchFamily="18" charset="0"/>
                            </a:rPr>
                          </m:ctrlPr>
                        </m:naryPr>
                        <m:sub>
                          <m:r>
                            <m:rPr>
                              <m:brk m:alnAt="7"/>
                            </m:rPr>
                            <a:rPr lang="es-EC" sz="2400" i="1">
                              <a:latin typeface="Cambria Math" panose="02040503050406030204" pitchFamily="18" charset="0"/>
                            </a:rPr>
                            <m:t>𝑥</m:t>
                          </m:r>
                        </m:sub>
                        <m:sup/>
                        <m:e>
                          <m:nary>
                            <m:naryPr>
                              <m:chr m:val="∑"/>
                              <m:supHide m:val="on"/>
                              <m:ctrlPr>
                                <a:rPr lang="es-EC" sz="2400" i="1">
                                  <a:latin typeface="Cambria Math" panose="02040503050406030204" pitchFamily="18" charset="0"/>
                                </a:rPr>
                              </m:ctrlPr>
                            </m:naryPr>
                            <m:sub>
                              <m:r>
                                <m:rPr>
                                  <m:brk m:alnAt="7"/>
                                </m:rPr>
                                <a:rPr lang="es-EC" sz="2400" i="1">
                                  <a:latin typeface="Cambria Math" panose="02040503050406030204" pitchFamily="18" charset="0"/>
                                </a:rPr>
                                <m:t>𝑦</m:t>
                              </m:r>
                            </m:sub>
                            <m:sup/>
                            <m:e>
                              <m:r>
                                <a:rPr lang="es-EC" sz="2400" i="1">
                                  <a:latin typeface="Cambria Math" panose="02040503050406030204" pitchFamily="18" charset="0"/>
                                </a:rPr>
                                <m:t>(</m:t>
                              </m:r>
                              <m:r>
                                <a:rPr lang="es-EC" sz="2400" i="1">
                                  <a:latin typeface="Cambria Math" panose="02040503050406030204" pitchFamily="18" charset="0"/>
                                </a:rPr>
                                <m:t>𝑥</m:t>
                              </m:r>
                              <m: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𝜇</m:t>
                                  </m:r>
                                </m:e>
                                <m:sub>
                                  <m:r>
                                    <a:rPr lang="es-EC" sz="2400" i="1">
                                      <a:latin typeface="Cambria Math" panose="02040503050406030204" pitchFamily="18" charset="0"/>
                                    </a:rPr>
                                    <m:t>𝑥</m:t>
                                  </m:r>
                                </m:sub>
                              </m:sSub>
                              <m:r>
                                <a:rPr lang="es-EC" sz="2400" i="1">
                                  <a:latin typeface="Cambria Math" panose="02040503050406030204" pitchFamily="18" charset="0"/>
                                </a:rPr>
                                <m:t>)(</m:t>
                              </m:r>
                              <m:r>
                                <a:rPr lang="es-EC" sz="2400" i="1">
                                  <a:latin typeface="Cambria Math" panose="02040503050406030204" pitchFamily="18" charset="0"/>
                                </a:rPr>
                                <m:t>𝑦</m:t>
                              </m:r>
                              <m: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𝜇</m:t>
                                  </m:r>
                                </m:e>
                                <m:sub>
                                  <m:r>
                                    <a:rPr lang="es-EC" sz="2400" i="1">
                                      <a:latin typeface="Cambria Math" panose="02040503050406030204" pitchFamily="18" charset="0"/>
                                      <a:ea typeface="Cambria Math" panose="02040503050406030204" pitchFamily="18" charset="0"/>
                                    </a:rPr>
                                    <m:t>𝑦</m:t>
                                  </m:r>
                                </m:sub>
                              </m:sSub>
                              <m:r>
                                <a:rPr lang="es-EC" sz="2400" i="1">
                                  <a:latin typeface="Cambria Math" panose="02040503050406030204" pitchFamily="18" charset="0"/>
                                </a:rPr>
                                <m:t>)</m:t>
                              </m:r>
                              <m:r>
                                <a:rPr lang="es-EC" sz="2400" i="1">
                                  <a:latin typeface="Cambria Math" panose="02040503050406030204" pitchFamily="18" charset="0"/>
                                </a:rPr>
                                <m:t>𝑓</m:t>
                              </m:r>
                              <m:r>
                                <a:rPr lang="es-EC" sz="2400" i="1">
                                  <a:latin typeface="Cambria Math" panose="02040503050406030204" pitchFamily="18" charset="0"/>
                                </a:rPr>
                                <m:t>(</m:t>
                              </m:r>
                              <m:r>
                                <a:rPr lang="es-EC" sz="2400" i="1">
                                  <a:latin typeface="Cambria Math" panose="02040503050406030204" pitchFamily="18" charset="0"/>
                                </a:rPr>
                                <m:t>𝑥</m:t>
                              </m:r>
                              <m:r>
                                <a:rPr lang="es-EC" sz="2400" i="1">
                                  <a:latin typeface="Cambria Math" panose="02040503050406030204" pitchFamily="18" charset="0"/>
                                </a:rPr>
                                <m:t>,</m:t>
                              </m:r>
                              <m:r>
                                <a:rPr lang="es-EC" sz="2400" i="1">
                                  <a:latin typeface="Cambria Math" panose="02040503050406030204" pitchFamily="18" charset="0"/>
                                </a:rPr>
                                <m:t>𝑦</m:t>
                              </m:r>
                              <m:r>
                                <a:rPr lang="es-EC" sz="2400" i="1">
                                  <a:latin typeface="Cambria Math" panose="02040503050406030204" pitchFamily="18" charset="0"/>
                                </a:rPr>
                                <m:t>)</m:t>
                              </m:r>
                            </m:e>
                          </m:nary>
                        </m:e>
                      </m:nary>
                    </m:oMath>
                  </m:oMathPara>
                </a14:m>
                <a:endParaRPr lang="es-EC"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2535151" y="3680980"/>
                <a:ext cx="7146828" cy="937436"/>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4247618" y="5246452"/>
                <a:ext cx="1878271" cy="8676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C" sz="2800" i="1" smtClean="0">
                              <a:latin typeface="Cambria Math" panose="02040503050406030204" pitchFamily="18" charset="0"/>
                            </a:rPr>
                          </m:ctrlPr>
                        </m:sSubPr>
                        <m:e>
                          <m:r>
                            <a:rPr lang="es-EC" sz="2800" i="1" smtClean="0">
                              <a:latin typeface="Cambria Math" panose="02040503050406030204" pitchFamily="18" charset="0"/>
                              <a:ea typeface="Cambria Math" panose="02040503050406030204" pitchFamily="18" charset="0"/>
                            </a:rPr>
                            <m:t>𝜌</m:t>
                          </m:r>
                        </m:e>
                        <m:sub>
                          <m:r>
                            <a:rPr lang="es-EC" sz="2800" b="0" i="1" smtClean="0">
                              <a:latin typeface="Cambria Math" panose="02040503050406030204" pitchFamily="18" charset="0"/>
                            </a:rPr>
                            <m:t>𝑥</m:t>
                          </m:r>
                          <m:r>
                            <a:rPr lang="es-EC" sz="2800" b="0" i="1" smtClean="0">
                              <a:latin typeface="Cambria Math" panose="02040503050406030204" pitchFamily="18" charset="0"/>
                            </a:rPr>
                            <m:t>,</m:t>
                          </m:r>
                          <m:r>
                            <a:rPr lang="es-EC" sz="2800" b="0" i="1" smtClean="0">
                              <a:latin typeface="Cambria Math" panose="02040503050406030204" pitchFamily="18" charset="0"/>
                            </a:rPr>
                            <m:t>𝑦</m:t>
                          </m:r>
                        </m:sub>
                      </m:sSub>
                      <m:r>
                        <a:rPr lang="es-EC" sz="2800" b="0" i="1" smtClean="0">
                          <a:latin typeface="Cambria Math" panose="02040503050406030204" pitchFamily="18" charset="0"/>
                        </a:rPr>
                        <m:t>=</m:t>
                      </m:r>
                      <m:f>
                        <m:fPr>
                          <m:ctrlPr>
                            <a:rPr lang="es-EC" sz="2800" b="0" i="1" smtClean="0">
                              <a:latin typeface="Cambria Math" panose="02040503050406030204" pitchFamily="18" charset="0"/>
                            </a:rPr>
                          </m:ctrlPr>
                        </m:fPr>
                        <m:num>
                          <m:sSub>
                            <m:sSubPr>
                              <m:ctrlPr>
                                <a:rPr lang="es-EC" sz="2800" i="1">
                                  <a:latin typeface="Cambria Math" panose="02040503050406030204" pitchFamily="18" charset="0"/>
                                </a:rPr>
                              </m:ctrlPr>
                            </m:sSubPr>
                            <m:e>
                              <m:r>
                                <a:rPr lang="es-EC" sz="2800" i="1">
                                  <a:latin typeface="Cambria Math" panose="02040503050406030204" pitchFamily="18" charset="0"/>
                                  <a:ea typeface="Cambria Math" panose="02040503050406030204" pitchFamily="18" charset="0"/>
                                </a:rPr>
                                <m:t>𝜎</m:t>
                              </m:r>
                            </m:e>
                            <m:sub>
                              <m:r>
                                <a:rPr lang="es-EC" sz="2800" i="1">
                                  <a:latin typeface="Cambria Math" panose="02040503050406030204" pitchFamily="18" charset="0"/>
                                </a:rPr>
                                <m:t>𝑥𝑦</m:t>
                              </m:r>
                            </m:sub>
                          </m:sSub>
                        </m:num>
                        <m:den>
                          <m:sSub>
                            <m:sSubPr>
                              <m:ctrlPr>
                                <a:rPr lang="es-EC" sz="2800" b="0" i="1" smtClean="0">
                                  <a:latin typeface="Cambria Math" panose="02040503050406030204" pitchFamily="18" charset="0"/>
                                </a:rPr>
                              </m:ctrlPr>
                            </m:sSubPr>
                            <m:e>
                              <m:r>
                                <a:rPr lang="es-EC" sz="2800" b="0" i="1" smtClean="0">
                                  <a:latin typeface="Cambria Math" panose="02040503050406030204" pitchFamily="18" charset="0"/>
                                  <a:ea typeface="Cambria Math" panose="02040503050406030204" pitchFamily="18" charset="0"/>
                                </a:rPr>
                                <m:t>𝜎</m:t>
                              </m:r>
                            </m:e>
                            <m:sub>
                              <m:r>
                                <a:rPr lang="es-EC" sz="2800" b="0" i="1" smtClean="0">
                                  <a:latin typeface="Cambria Math" panose="02040503050406030204" pitchFamily="18" charset="0"/>
                                </a:rPr>
                                <m:t>𝑥</m:t>
                              </m:r>
                            </m:sub>
                          </m:sSub>
                          <m:sSub>
                            <m:sSubPr>
                              <m:ctrlPr>
                                <a:rPr lang="es-EC" sz="2800" b="0" i="1" smtClean="0">
                                  <a:latin typeface="Cambria Math" panose="02040503050406030204" pitchFamily="18" charset="0"/>
                                </a:rPr>
                              </m:ctrlPr>
                            </m:sSubPr>
                            <m:e>
                              <m:r>
                                <a:rPr lang="es-EC" sz="2800" b="0" i="1" smtClean="0">
                                  <a:latin typeface="Cambria Math" panose="02040503050406030204" pitchFamily="18" charset="0"/>
                                  <a:ea typeface="Cambria Math" panose="02040503050406030204" pitchFamily="18" charset="0"/>
                                </a:rPr>
                                <m:t>𝜎</m:t>
                              </m:r>
                            </m:e>
                            <m:sub>
                              <m:r>
                                <a:rPr lang="es-EC" sz="2800" b="0" i="1" smtClean="0">
                                  <a:latin typeface="Cambria Math" panose="02040503050406030204" pitchFamily="18" charset="0"/>
                                </a:rPr>
                                <m:t>𝑦</m:t>
                              </m:r>
                            </m:sub>
                          </m:sSub>
                        </m:den>
                      </m:f>
                    </m:oMath>
                  </m:oMathPara>
                </a14:m>
                <a:endParaRPr lang="es-EC" sz="2800" dirty="0"/>
              </a:p>
            </p:txBody>
          </p:sp>
        </mc:Choice>
        <mc:Fallback xmlns="">
          <p:sp>
            <p:nvSpPr>
              <p:cNvPr id="8" name="CuadroTexto 7"/>
              <p:cNvSpPr txBox="1">
                <a:spLocks noRot="1" noChangeAspect="1" noMove="1" noResize="1" noEditPoints="1" noAdjustHandles="1" noChangeArrowheads="1" noChangeShapeType="1" noTextEdit="1"/>
              </p:cNvSpPr>
              <p:nvPr/>
            </p:nvSpPr>
            <p:spPr>
              <a:xfrm>
                <a:off x="4247618" y="5246452"/>
                <a:ext cx="1878271" cy="867610"/>
              </a:xfrm>
              <a:prstGeom prst="rect">
                <a:avLst/>
              </a:prstGeom>
              <a:blipFill rotWithShape="0">
                <a:blip r:embed="rId4"/>
                <a:stretch>
                  <a:fillRect/>
                </a:stretch>
              </a:blipFill>
            </p:spPr>
            <p:txBody>
              <a:bodyPr/>
              <a:lstStyle/>
              <a:p>
                <a:r>
                  <a:rPr lang="es-EC">
                    <a:noFill/>
                  </a:rPr>
                  <a:t> </a:t>
                </a:r>
              </a:p>
            </p:txBody>
          </p:sp>
        </mc:Fallback>
      </mc:AlternateContent>
      <p:sp>
        <p:nvSpPr>
          <p:cNvPr id="9" name="CuadroTexto 8"/>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Tree>
    <p:extLst>
      <p:ext uri="{BB962C8B-B14F-4D97-AF65-F5344CB8AC3E}">
        <p14:creationId xmlns:p14="http://schemas.microsoft.com/office/powerpoint/2010/main" val="24081284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265183" y="419993"/>
            <a:ext cx="8061438" cy="646331"/>
          </a:xfrm>
          <a:prstGeom prst="rect">
            <a:avLst/>
          </a:prstGeom>
          <a:noFill/>
        </p:spPr>
        <p:txBody>
          <a:bodyPr wrap="none" rtlCol="0">
            <a:spAutoFit/>
          </a:bodyPr>
          <a:lstStyle/>
          <a:p>
            <a:r>
              <a:rPr lang="es-EC" sz="3600" b="1" dirty="0"/>
              <a:t>PROBABILIDAD – VARIABLES ALEATORIAS</a:t>
            </a:r>
            <a:endParaRPr lang="es-EC" sz="4000" b="1" dirty="0"/>
          </a:p>
        </p:txBody>
      </p:sp>
      <p:sp>
        <p:nvSpPr>
          <p:cNvPr id="3" name="Rectángulo 2"/>
          <p:cNvSpPr/>
          <p:nvPr/>
        </p:nvSpPr>
        <p:spPr>
          <a:xfrm>
            <a:off x="265183" y="1439804"/>
            <a:ext cx="7391575" cy="523220"/>
          </a:xfrm>
          <a:prstGeom prst="rect">
            <a:avLst/>
          </a:prstGeom>
        </p:spPr>
        <p:txBody>
          <a:bodyPr wrap="none">
            <a:spAutoFit/>
          </a:bodyPr>
          <a:lstStyle/>
          <a:p>
            <a:r>
              <a:rPr lang="es-EC" sz="2800" b="1" dirty="0"/>
              <a:t>Funciones de variables aleatorias – caso discreto</a:t>
            </a:r>
          </a:p>
        </p:txBody>
      </p:sp>
      <mc:AlternateContent xmlns:mc="http://schemas.openxmlformats.org/markup-compatibility/2006" xmlns:a14="http://schemas.microsoft.com/office/drawing/2010/main">
        <mc:Choice Requires="a14">
          <p:sp>
            <p:nvSpPr>
              <p:cNvPr id="4" name="Rectángulo 3"/>
              <p:cNvSpPr/>
              <p:nvPr/>
            </p:nvSpPr>
            <p:spPr>
              <a:xfrm>
                <a:off x="265183" y="2175660"/>
                <a:ext cx="10402160" cy="1569660"/>
              </a:xfrm>
              <a:prstGeom prst="rect">
                <a:avLst/>
              </a:prstGeom>
            </p:spPr>
            <p:txBody>
              <a:bodyPr wrap="square">
                <a:spAutoFit/>
              </a:bodyPr>
              <a:lstStyle/>
              <a:p>
                <a:pPr algn="just"/>
                <a:r>
                  <a:rPr lang="es-EC" sz="2400" dirty="0"/>
                  <a:t>Sea X una variable aleatoria discreta con función de probabilidad </a:t>
                </a:r>
                <a14:m>
                  <m:oMath xmlns:m="http://schemas.openxmlformats.org/officeDocument/2006/math">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oMath>
                </a14:m>
                <a:r>
                  <a:rPr lang="es-EC" sz="2400" dirty="0"/>
                  <a:t>, se </a:t>
                </a:r>
                <a:r>
                  <a:rPr lang="es-EC" sz="2400" dirty="0" err="1"/>
                  <a:t>defnie</a:t>
                </a:r>
                <a:r>
                  <a:rPr lang="es-EC" sz="2400" dirty="0"/>
                  <a:t> la variable </a:t>
                </a:r>
                <a14:m>
                  <m:oMath xmlns:m="http://schemas.openxmlformats.org/officeDocument/2006/math">
                    <m:r>
                      <a:rPr lang="es-EC" sz="2400" b="0" i="1" smtClean="0">
                        <a:latin typeface="Cambria Math" panose="02040503050406030204" pitchFamily="18" charset="0"/>
                      </a:rPr>
                      <m:t>𝑌</m:t>
                    </m:r>
                    <m:r>
                      <a:rPr lang="es-EC" sz="2400" b="0" i="1" smtClean="0">
                        <a:latin typeface="Cambria Math" panose="02040503050406030204" pitchFamily="18" charset="0"/>
                      </a:rPr>
                      <m:t>=</m:t>
                    </m:r>
                    <m:r>
                      <a:rPr lang="es-EC" sz="2400" b="0" i="1" smtClean="0">
                        <a:latin typeface="Cambria Math" panose="02040503050406030204" pitchFamily="18" charset="0"/>
                      </a:rPr>
                      <m:t>𝑢</m:t>
                    </m:r>
                    <m:r>
                      <a:rPr lang="es-EC" sz="2400" b="0" i="1" smtClean="0">
                        <a:latin typeface="Cambria Math" panose="02040503050406030204" pitchFamily="18" charset="0"/>
                      </a:rPr>
                      <m:t>(</m:t>
                    </m:r>
                    <m:r>
                      <a:rPr lang="es-EC" sz="2400" b="0" i="1" smtClean="0">
                        <a:latin typeface="Cambria Math" panose="02040503050406030204" pitchFamily="18" charset="0"/>
                      </a:rPr>
                      <m:t>𝑋</m:t>
                    </m:r>
                    <m:r>
                      <a:rPr lang="es-EC" sz="2400" b="0" i="1" smtClean="0">
                        <a:latin typeface="Cambria Math" panose="02040503050406030204" pitchFamily="18" charset="0"/>
                      </a:rPr>
                      <m:t>)</m:t>
                    </m:r>
                  </m:oMath>
                </a14:m>
                <a:r>
                  <a:rPr lang="es-EC" sz="2400" dirty="0"/>
                  <a:t>, como una transformación 1 a 1 de los valores de X e Y, de tal forma que siempre sea posible para </a:t>
                </a:r>
                <a14:m>
                  <m:oMath xmlns:m="http://schemas.openxmlformats.org/officeDocument/2006/math">
                    <m:r>
                      <a:rPr lang="es-EC" sz="2400" b="0" i="1" smtClean="0">
                        <a:latin typeface="Cambria Math" panose="02040503050406030204" pitchFamily="18" charset="0"/>
                      </a:rPr>
                      <m:t>𝑦</m:t>
                    </m:r>
                    <m:r>
                      <a:rPr lang="es-EC" sz="2400" b="0" i="1" smtClean="0">
                        <a:latin typeface="Cambria Math" panose="02040503050406030204" pitchFamily="18" charset="0"/>
                      </a:rPr>
                      <m:t>=</m:t>
                    </m:r>
                    <m:r>
                      <a:rPr lang="es-EC" sz="2400" b="0" i="1" smtClean="0">
                        <a:latin typeface="Cambria Math" panose="02040503050406030204" pitchFamily="18" charset="0"/>
                      </a:rPr>
                      <m:t>𝑢</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oMath>
                </a14:m>
                <a:r>
                  <a:rPr lang="es-EC" sz="2400" dirty="0"/>
                  <a:t>, escribir </a:t>
                </a:r>
                <a14:m>
                  <m:oMath xmlns:m="http://schemas.openxmlformats.org/officeDocument/2006/math">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𝑤</m:t>
                    </m:r>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b="0" i="1" smtClean="0">
                        <a:latin typeface="Cambria Math" panose="02040503050406030204" pitchFamily="18" charset="0"/>
                      </a:rPr>
                      <m:t>)</m:t>
                    </m:r>
                  </m:oMath>
                </a14:m>
                <a:r>
                  <a:rPr lang="es-EC" sz="2400" dirty="0"/>
                  <a:t>. Entonces la distribución de probabilidad de Y es:</a:t>
                </a:r>
              </a:p>
            </p:txBody>
          </p:sp>
        </mc:Choice>
        <mc:Fallback xmlns="">
          <p:sp>
            <p:nvSpPr>
              <p:cNvPr id="4" name="Rectángulo 3"/>
              <p:cNvSpPr>
                <a:spLocks noRot="1" noChangeAspect="1" noMove="1" noResize="1" noEditPoints="1" noAdjustHandles="1" noChangeArrowheads="1" noChangeShapeType="1" noTextEdit="1"/>
              </p:cNvSpPr>
              <p:nvPr/>
            </p:nvSpPr>
            <p:spPr>
              <a:xfrm>
                <a:off x="265183" y="2175660"/>
                <a:ext cx="10402160" cy="1569660"/>
              </a:xfrm>
              <a:prstGeom prst="rect">
                <a:avLst/>
              </a:prstGeom>
              <a:blipFill rotWithShape="0">
                <a:blip r:embed="rId3"/>
                <a:stretch>
                  <a:fillRect l="-938" t="-3113" r="-879" b="-8171"/>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4207168" y="4423769"/>
                <a:ext cx="251819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𝑔</m:t>
                      </m:r>
                      <m:d>
                        <m:dPr>
                          <m:ctrlPr>
                            <a:rPr lang="es-EC" sz="2800" b="0" i="1" smtClean="0">
                              <a:latin typeface="Cambria Math" panose="02040503050406030204" pitchFamily="18" charset="0"/>
                            </a:rPr>
                          </m:ctrlPr>
                        </m:dPr>
                        <m:e>
                          <m:r>
                            <a:rPr lang="es-EC" sz="2800" b="0" i="1" smtClean="0">
                              <a:latin typeface="Cambria Math" panose="02040503050406030204" pitchFamily="18" charset="0"/>
                            </a:rPr>
                            <m:t>𝑦</m:t>
                          </m:r>
                        </m:e>
                      </m:d>
                      <m:r>
                        <a:rPr lang="es-EC" sz="2800" b="0" i="1" smtClean="0">
                          <a:latin typeface="Cambria Math" panose="02040503050406030204" pitchFamily="18" charset="0"/>
                        </a:rPr>
                        <m:t>=</m:t>
                      </m:r>
                      <m:r>
                        <a:rPr lang="es-EC" sz="2800" b="0" i="1" smtClean="0">
                          <a:latin typeface="Cambria Math" panose="02040503050406030204" pitchFamily="18" charset="0"/>
                        </a:rPr>
                        <m:t>𝑓</m:t>
                      </m:r>
                      <m:d>
                        <m:dPr>
                          <m:begChr m:val="["/>
                          <m:endChr m:val="]"/>
                          <m:ctrlPr>
                            <a:rPr lang="es-EC" sz="2800" b="0" i="1" smtClean="0">
                              <a:latin typeface="Cambria Math" panose="02040503050406030204" pitchFamily="18" charset="0"/>
                            </a:rPr>
                          </m:ctrlPr>
                        </m:dPr>
                        <m:e>
                          <m:r>
                            <a:rPr lang="es-EC" sz="2800" b="0" i="1" smtClean="0">
                              <a:latin typeface="Cambria Math" panose="02040503050406030204" pitchFamily="18" charset="0"/>
                            </a:rPr>
                            <m:t>𝑤</m:t>
                          </m:r>
                          <m:r>
                            <a:rPr lang="es-EC" sz="2800" b="0" i="1" smtClean="0">
                              <a:latin typeface="Cambria Math" panose="02040503050406030204" pitchFamily="18" charset="0"/>
                            </a:rPr>
                            <m:t>(</m:t>
                          </m:r>
                          <m:r>
                            <a:rPr lang="es-EC" sz="2800" b="0" i="1" smtClean="0">
                              <a:latin typeface="Cambria Math" panose="02040503050406030204" pitchFamily="18" charset="0"/>
                            </a:rPr>
                            <m:t>𝑦</m:t>
                          </m:r>
                          <m:r>
                            <a:rPr lang="es-EC" sz="2800" b="0" i="1" smtClean="0">
                              <a:latin typeface="Cambria Math" panose="02040503050406030204" pitchFamily="18" charset="0"/>
                            </a:rPr>
                            <m:t>)</m:t>
                          </m:r>
                        </m:e>
                      </m:d>
                    </m:oMath>
                  </m:oMathPara>
                </a14:m>
                <a:endParaRPr lang="es-EC"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4207168" y="4423769"/>
                <a:ext cx="2518190" cy="430887"/>
              </a:xfrm>
              <a:prstGeom prst="rect">
                <a:avLst/>
              </a:prstGeom>
              <a:blipFill rotWithShape="0">
                <a:blip r:embed="rId4"/>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20491680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265183" y="419993"/>
            <a:ext cx="8061438" cy="646331"/>
          </a:xfrm>
          <a:prstGeom prst="rect">
            <a:avLst/>
          </a:prstGeom>
          <a:noFill/>
        </p:spPr>
        <p:txBody>
          <a:bodyPr wrap="none" rtlCol="0">
            <a:spAutoFit/>
          </a:bodyPr>
          <a:lstStyle/>
          <a:p>
            <a:r>
              <a:rPr lang="es-EC" sz="3600" b="1" dirty="0"/>
              <a:t>PROBABILIDAD – VARIABLES ALEATORIAS</a:t>
            </a:r>
            <a:endParaRPr lang="es-EC" sz="4000" b="1" dirty="0"/>
          </a:p>
        </p:txBody>
      </p:sp>
      <p:sp>
        <p:nvSpPr>
          <p:cNvPr id="3" name="Rectángulo 2"/>
          <p:cNvSpPr/>
          <p:nvPr/>
        </p:nvSpPr>
        <p:spPr>
          <a:xfrm>
            <a:off x="265183" y="1439804"/>
            <a:ext cx="8875507" cy="523220"/>
          </a:xfrm>
          <a:prstGeom prst="rect">
            <a:avLst/>
          </a:prstGeom>
        </p:spPr>
        <p:txBody>
          <a:bodyPr wrap="none">
            <a:spAutoFit/>
          </a:bodyPr>
          <a:lstStyle/>
          <a:p>
            <a:r>
              <a:rPr lang="es-EC" sz="2800" b="1" dirty="0"/>
              <a:t>Funciones de variables aleatorias – caso discreto </a:t>
            </a:r>
            <a:r>
              <a:rPr lang="es-EC" sz="2800" b="1" dirty="0" err="1"/>
              <a:t>bivariado</a:t>
            </a:r>
            <a:endParaRPr lang="es-EC" sz="2800" b="1" dirty="0"/>
          </a:p>
        </p:txBody>
      </p:sp>
      <mc:AlternateContent xmlns:mc="http://schemas.openxmlformats.org/markup-compatibility/2006" xmlns:a14="http://schemas.microsoft.com/office/drawing/2010/main">
        <mc:Choice Requires="a14">
          <p:sp>
            <p:nvSpPr>
              <p:cNvPr id="4" name="Rectángulo 3"/>
              <p:cNvSpPr/>
              <p:nvPr/>
            </p:nvSpPr>
            <p:spPr>
              <a:xfrm>
                <a:off x="265183" y="2175660"/>
                <a:ext cx="10402160" cy="2308324"/>
              </a:xfrm>
              <a:prstGeom prst="rect">
                <a:avLst/>
              </a:prstGeom>
            </p:spPr>
            <p:txBody>
              <a:bodyPr wrap="square">
                <a:spAutoFit/>
              </a:bodyPr>
              <a:lstStyle/>
              <a:p>
                <a:pPr algn="just"/>
                <a:r>
                  <a:rPr lang="es-EC" sz="2400" dirty="0"/>
                  <a:t>Sea </a:t>
                </a:r>
                <a14:m>
                  <m:oMath xmlns:m="http://schemas.openxmlformats.org/officeDocument/2006/math">
                    <m:sSub>
                      <m:sSubPr>
                        <m:ctrlPr>
                          <a:rPr lang="es-EC" sz="2400" i="1" dirty="0" smtClean="0">
                            <a:latin typeface="Cambria Math" panose="02040503050406030204" pitchFamily="18" charset="0"/>
                          </a:rPr>
                        </m:ctrlPr>
                      </m:sSubPr>
                      <m:e>
                        <m:r>
                          <a:rPr lang="es-EC" sz="2400" b="0" i="1" dirty="0" smtClean="0">
                            <a:latin typeface="Cambria Math" panose="02040503050406030204" pitchFamily="18" charset="0"/>
                          </a:rPr>
                          <m:t>𝑋</m:t>
                        </m:r>
                      </m:e>
                      <m:sub>
                        <m:r>
                          <a:rPr lang="es-EC" sz="2400" b="0" i="1" dirty="0" smtClean="0">
                            <a:latin typeface="Cambria Math" panose="02040503050406030204" pitchFamily="18" charset="0"/>
                          </a:rPr>
                          <m:t>1</m:t>
                        </m:r>
                      </m:sub>
                    </m:sSub>
                  </m:oMath>
                </a14:m>
                <a:r>
                  <a:rPr lang="es-EC" sz="2400" dirty="0"/>
                  <a:t>,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b="0" i="1" dirty="0" smtClean="0">
                            <a:latin typeface="Cambria Math" panose="02040503050406030204" pitchFamily="18" charset="0"/>
                          </a:rPr>
                          <m:t>2</m:t>
                        </m:r>
                      </m:sub>
                    </m:sSub>
                  </m:oMath>
                </a14:m>
                <a:r>
                  <a:rPr lang="es-EC" sz="2400" dirty="0"/>
                  <a:t> un par de variables aleatorias discretas con función de probabilidad conjunta </a:t>
                </a:r>
                <a14:m>
                  <m:oMath xmlns:m="http://schemas.openxmlformats.org/officeDocument/2006/math">
                    <m:r>
                      <a:rPr lang="es-EC" sz="2400" b="0" i="1" smtClean="0">
                        <a:latin typeface="Cambria Math" panose="02040503050406030204" pitchFamily="18" charset="0"/>
                      </a:rPr>
                      <m:t>𝑓</m:t>
                    </m:r>
                    <m:r>
                      <a:rPr lang="es-EC" sz="2400" b="0" i="1" smtClean="0">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i="1" dirty="0">
                            <a:latin typeface="Cambria Math" panose="02040503050406030204" pitchFamily="18" charset="0"/>
                          </a:rPr>
                          <m:t>1</m:t>
                        </m:r>
                      </m:sub>
                    </m:sSub>
                    <m:r>
                      <a:rPr lang="es-EC" sz="2400" b="0" i="1" smtClean="0">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b="0" i="1" dirty="0" smtClean="0">
                            <a:latin typeface="Cambria Math" panose="02040503050406030204" pitchFamily="18" charset="0"/>
                          </a:rPr>
                          <m:t>2</m:t>
                        </m:r>
                      </m:sub>
                    </m:sSub>
                    <m:r>
                      <a:rPr lang="es-EC" sz="2400" b="0" i="1" smtClean="0">
                        <a:latin typeface="Cambria Math" panose="02040503050406030204" pitchFamily="18" charset="0"/>
                      </a:rPr>
                      <m:t>)</m:t>
                    </m:r>
                  </m:oMath>
                </a14:m>
                <a:r>
                  <a:rPr lang="es-EC" sz="2400" dirty="0"/>
                  <a:t>, se define la variable</a:t>
                </a:r>
                <a14:m>
                  <m:oMath xmlns:m="http://schemas.openxmlformats.org/officeDocument/2006/math">
                    <m:r>
                      <a:rPr lang="es-EC" sz="2400" b="0" i="0" dirty="0" smtClean="0">
                        <a:latin typeface="Cambria Math" panose="02040503050406030204" pitchFamily="18" charset="0"/>
                      </a:rPr>
                      <m:t> </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𝑌</m:t>
                        </m:r>
                      </m:e>
                      <m:sub>
                        <m:r>
                          <a:rPr lang="es-EC" sz="2400" i="1" dirty="0">
                            <a:latin typeface="Cambria Math" panose="02040503050406030204" pitchFamily="18" charset="0"/>
                          </a:rPr>
                          <m:t>1</m:t>
                        </m:r>
                      </m:sub>
                    </m:sSub>
                    <m:r>
                      <a:rPr lang="es-EC" sz="2400" b="0" i="1" smtClean="0">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𝑢</m:t>
                        </m:r>
                      </m:e>
                      <m:sub>
                        <m:r>
                          <a:rPr lang="es-EC" sz="2400" i="1" dirty="0">
                            <a:latin typeface="Cambria Math" panose="02040503050406030204" pitchFamily="18" charset="0"/>
                          </a:rPr>
                          <m:t>1</m:t>
                        </m:r>
                      </m:sub>
                    </m:sSub>
                    <m:r>
                      <a:rPr lang="es-EC" sz="2400" b="0" i="1" smtClean="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1</m:t>
                        </m:r>
                      </m:sub>
                    </m:sSub>
                    <m:r>
                      <a:rPr lang="es-EC" sz="2400" b="0" i="1" dirty="0" smtClean="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2</m:t>
                        </m:r>
                      </m:sub>
                    </m:sSub>
                    <m:r>
                      <a:rPr lang="es-EC" sz="2400" b="0" i="1" smtClean="0">
                        <a:latin typeface="Cambria Math" panose="02040503050406030204" pitchFamily="18" charset="0"/>
                      </a:rPr>
                      <m:t>)</m:t>
                    </m:r>
                  </m:oMath>
                </a14:m>
                <a:r>
                  <a:rPr lang="es-EC" sz="2400" dirty="0"/>
                  <a:t> y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𝑌</m:t>
                        </m:r>
                      </m:e>
                      <m:sub>
                        <m:r>
                          <a:rPr lang="es-EC" sz="2400" b="0" i="1" dirty="0" smtClean="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𝑢</m:t>
                        </m:r>
                      </m:e>
                      <m:sub>
                        <m:r>
                          <a:rPr lang="es-EC" sz="2400" b="0" i="1" dirty="0" smtClean="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b="0" i="1" dirty="0" smtClean="0">
                            <a:latin typeface="Cambria Math" panose="02040503050406030204" pitchFamily="18" charset="0"/>
                          </a:rPr>
                          <m:t>1</m:t>
                        </m:r>
                      </m:sub>
                    </m:sSub>
                    <m:r>
                      <a:rPr lang="es-EC" sz="2400" b="0" i="1" dirty="0" smtClean="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b="0" i="1" dirty="0" smtClean="0">
                            <a:latin typeface="Cambria Math" panose="02040503050406030204" pitchFamily="18" charset="0"/>
                          </a:rPr>
                          <m:t>2</m:t>
                        </m:r>
                      </m:sub>
                    </m:sSub>
                    <m:r>
                      <a:rPr lang="es-EC" sz="2400" i="1">
                        <a:latin typeface="Cambria Math" panose="02040503050406030204" pitchFamily="18" charset="0"/>
                      </a:rPr>
                      <m:t>)</m:t>
                    </m:r>
                  </m:oMath>
                </a14:m>
                <a:r>
                  <a:rPr lang="es-EC" sz="2400" dirty="0"/>
                  <a:t>, como una transformación 1 a 1 de los puntos de </a:t>
                </a:r>
                <a14:m>
                  <m:oMath xmlns:m="http://schemas.openxmlformats.org/officeDocument/2006/math">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y </a:t>
                </a:r>
                <a14:m>
                  <m:oMath xmlns:m="http://schemas.openxmlformats.org/officeDocument/2006/math">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de tal forma que siempre sea posible para </a:t>
                </a:r>
                <a14:m>
                  <m:oMath xmlns:m="http://schemas.openxmlformats.org/officeDocument/2006/math">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𝑢</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y </a:t>
                </a:r>
                <a14:m>
                  <m:oMath xmlns:m="http://schemas.openxmlformats.org/officeDocument/2006/math">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𝑢</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escribir</a:t>
                </a:r>
                <a14:m>
                  <m:oMath xmlns:m="http://schemas.openxmlformats.org/officeDocument/2006/math">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𝑤</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y </a:t>
                </a:r>
                <a14:m>
                  <m:oMath xmlns:m="http://schemas.openxmlformats.org/officeDocument/2006/math">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𝑤</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b="0" i="1" dirty="0" smtClean="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Entonces la distribución de probabilidad conjunta de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𝑌</m:t>
                        </m:r>
                      </m:e>
                      <m:sub>
                        <m:r>
                          <a:rPr lang="es-EC" sz="2400" i="1" dirty="0">
                            <a:latin typeface="Cambria Math" panose="02040503050406030204" pitchFamily="18" charset="0"/>
                          </a:rPr>
                          <m:t>1</m:t>
                        </m:r>
                      </m:sub>
                    </m:sSub>
                  </m:oMath>
                </a14:m>
                <a:r>
                  <a:rPr lang="es-EC" sz="2400" dirty="0"/>
                  <a:t>,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𝑌</m:t>
                        </m:r>
                      </m:e>
                      <m:sub>
                        <m:r>
                          <a:rPr lang="es-EC" sz="2400" b="0" i="1" dirty="0" smtClean="0">
                            <a:latin typeface="Cambria Math" panose="02040503050406030204" pitchFamily="18" charset="0"/>
                          </a:rPr>
                          <m:t>2</m:t>
                        </m:r>
                      </m:sub>
                    </m:sSub>
                  </m:oMath>
                </a14:m>
                <a:r>
                  <a:rPr lang="es-EC" sz="2400" dirty="0"/>
                  <a:t> es:</a:t>
                </a:r>
              </a:p>
            </p:txBody>
          </p:sp>
        </mc:Choice>
        <mc:Fallback xmlns="">
          <p:sp>
            <p:nvSpPr>
              <p:cNvPr id="4" name="Rectángulo 3"/>
              <p:cNvSpPr>
                <a:spLocks noRot="1" noChangeAspect="1" noMove="1" noResize="1" noEditPoints="1" noAdjustHandles="1" noChangeArrowheads="1" noChangeShapeType="1" noTextEdit="1"/>
              </p:cNvSpPr>
              <p:nvPr/>
            </p:nvSpPr>
            <p:spPr>
              <a:xfrm>
                <a:off x="265183" y="2175660"/>
                <a:ext cx="10402160" cy="2308324"/>
              </a:xfrm>
              <a:prstGeom prst="rect">
                <a:avLst/>
              </a:prstGeom>
              <a:blipFill rotWithShape="0">
                <a:blip r:embed="rId3"/>
                <a:stretch>
                  <a:fillRect l="-938" t="-2111" r="-879" b="-5013"/>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2661905" y="4933103"/>
                <a:ext cx="560871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𝑔</m:t>
                      </m:r>
                      <m:r>
                        <a:rPr lang="es-EC" sz="2800" i="1">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1</m:t>
                          </m:r>
                        </m:sub>
                      </m:sSub>
                      <m:r>
                        <a:rPr lang="es-EC" sz="2800" i="1" dirty="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2</m:t>
                          </m:r>
                        </m:sub>
                      </m:sSub>
                      <m:r>
                        <a:rPr lang="es-EC" sz="2800" i="1">
                          <a:latin typeface="Cambria Math" panose="02040503050406030204" pitchFamily="18" charset="0"/>
                        </a:rPr>
                        <m:t>)</m:t>
                      </m:r>
                      <m:r>
                        <a:rPr lang="es-EC" sz="2800" b="0" i="1" smtClean="0">
                          <a:latin typeface="Cambria Math" panose="02040503050406030204" pitchFamily="18" charset="0"/>
                        </a:rPr>
                        <m:t>=</m:t>
                      </m:r>
                      <m:r>
                        <a:rPr lang="es-EC" sz="2800" b="0" i="1" smtClean="0">
                          <a:latin typeface="Cambria Math" panose="02040503050406030204" pitchFamily="18" charset="0"/>
                        </a:rPr>
                        <m:t>𝑓</m:t>
                      </m:r>
                      <m:d>
                        <m:dPr>
                          <m:begChr m:val="["/>
                          <m:endChr m:val="]"/>
                          <m:ctrlPr>
                            <a:rPr lang="es-EC" sz="2800" b="0" i="1" smtClean="0">
                              <a:latin typeface="Cambria Math" panose="02040503050406030204" pitchFamily="18" charset="0"/>
                            </a:rPr>
                          </m:ctrlPr>
                        </m:dPr>
                        <m:e>
                          <m:sSub>
                            <m:sSubPr>
                              <m:ctrlPr>
                                <a:rPr lang="es-EC" sz="2800" i="1" dirty="0">
                                  <a:latin typeface="Cambria Math" panose="02040503050406030204" pitchFamily="18" charset="0"/>
                                </a:rPr>
                              </m:ctrlPr>
                            </m:sSubPr>
                            <m:e>
                              <m:r>
                                <a:rPr lang="es-EC" sz="2800" i="1" dirty="0">
                                  <a:latin typeface="Cambria Math" panose="02040503050406030204" pitchFamily="18" charset="0"/>
                                </a:rPr>
                                <m:t>𝑤</m:t>
                              </m:r>
                            </m:e>
                            <m:sub>
                              <m:r>
                                <a:rPr lang="es-EC" sz="2800" i="1" dirty="0">
                                  <a:latin typeface="Cambria Math" panose="02040503050406030204" pitchFamily="18" charset="0"/>
                                </a:rPr>
                                <m:t>1</m:t>
                              </m:r>
                            </m:sub>
                          </m:sSub>
                          <m:d>
                            <m:dPr>
                              <m:ctrlPr>
                                <a:rPr lang="es-EC" sz="2800" i="1" dirty="0">
                                  <a:latin typeface="Cambria Math" panose="02040503050406030204" pitchFamily="18" charset="0"/>
                                </a:rPr>
                              </m:ctrlPr>
                            </m:dPr>
                            <m:e>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1</m:t>
                                  </m:r>
                                </m:sub>
                              </m:sSub>
                              <m:r>
                                <a:rPr lang="es-EC" sz="2800" i="1" dirty="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2</m:t>
                                  </m:r>
                                </m:sub>
                              </m:sSub>
                            </m:e>
                          </m:d>
                          <m:r>
                            <a:rPr lang="es-EC" sz="2800" b="0" i="1" smtClean="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𝑤</m:t>
                              </m:r>
                            </m:e>
                            <m:sub>
                              <m:r>
                                <a:rPr lang="es-EC" sz="2800" i="1" dirty="0">
                                  <a:latin typeface="Cambria Math" panose="02040503050406030204" pitchFamily="18" charset="0"/>
                                </a:rPr>
                                <m:t>2</m:t>
                              </m:r>
                            </m:sub>
                          </m:sSub>
                          <m:r>
                            <a:rPr lang="es-EC" sz="2800" i="1">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1</m:t>
                              </m:r>
                            </m:sub>
                          </m:sSub>
                          <m:r>
                            <a:rPr lang="es-EC" sz="2800" i="1" dirty="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2</m:t>
                              </m:r>
                            </m:sub>
                          </m:sSub>
                          <m:r>
                            <a:rPr lang="es-EC" sz="2800" i="1">
                              <a:latin typeface="Cambria Math" panose="02040503050406030204" pitchFamily="18" charset="0"/>
                            </a:rPr>
                            <m:t>)</m:t>
                          </m:r>
                        </m:e>
                      </m:d>
                    </m:oMath>
                  </m:oMathPara>
                </a14:m>
                <a:endParaRPr lang="es-EC"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661905" y="4933103"/>
                <a:ext cx="5608715" cy="430887"/>
              </a:xfrm>
              <a:prstGeom prst="rect">
                <a:avLst/>
              </a:prstGeom>
              <a:blipFill rotWithShape="0">
                <a:blip r:embed="rId4"/>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1904437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265183" y="419993"/>
            <a:ext cx="8061438" cy="646331"/>
          </a:xfrm>
          <a:prstGeom prst="rect">
            <a:avLst/>
          </a:prstGeom>
          <a:noFill/>
        </p:spPr>
        <p:txBody>
          <a:bodyPr wrap="none" rtlCol="0">
            <a:spAutoFit/>
          </a:bodyPr>
          <a:lstStyle/>
          <a:p>
            <a:r>
              <a:rPr lang="es-EC" sz="3600" b="1" dirty="0"/>
              <a:t>PROBABILIDAD – VARIABLES ALEATORIAS</a:t>
            </a:r>
            <a:endParaRPr lang="es-EC" sz="4000" b="1" dirty="0"/>
          </a:p>
        </p:txBody>
      </p:sp>
      <p:sp>
        <p:nvSpPr>
          <p:cNvPr id="3" name="Rectángulo 2"/>
          <p:cNvSpPr/>
          <p:nvPr/>
        </p:nvSpPr>
        <p:spPr>
          <a:xfrm>
            <a:off x="265183" y="1439804"/>
            <a:ext cx="7521546" cy="523220"/>
          </a:xfrm>
          <a:prstGeom prst="rect">
            <a:avLst/>
          </a:prstGeom>
        </p:spPr>
        <p:txBody>
          <a:bodyPr wrap="none">
            <a:spAutoFit/>
          </a:bodyPr>
          <a:lstStyle/>
          <a:p>
            <a:r>
              <a:rPr lang="es-EC" sz="2800" b="1" dirty="0"/>
              <a:t>Funciones de variables aleatorias – caso continuo</a:t>
            </a:r>
          </a:p>
        </p:txBody>
      </p:sp>
      <mc:AlternateContent xmlns:mc="http://schemas.openxmlformats.org/markup-compatibility/2006" xmlns:a14="http://schemas.microsoft.com/office/drawing/2010/main">
        <mc:Choice Requires="a14">
          <p:sp>
            <p:nvSpPr>
              <p:cNvPr id="4" name="Rectángulo 3"/>
              <p:cNvSpPr/>
              <p:nvPr/>
            </p:nvSpPr>
            <p:spPr>
              <a:xfrm>
                <a:off x="265183" y="2175660"/>
                <a:ext cx="10402160" cy="1569660"/>
              </a:xfrm>
              <a:prstGeom prst="rect">
                <a:avLst/>
              </a:prstGeom>
            </p:spPr>
            <p:txBody>
              <a:bodyPr wrap="square">
                <a:spAutoFit/>
              </a:bodyPr>
              <a:lstStyle/>
              <a:p>
                <a:pPr algn="just"/>
                <a:r>
                  <a:rPr lang="es-EC" sz="2400" dirty="0"/>
                  <a:t>Sea X una variable aleatoria continua con función de probabilidad </a:t>
                </a:r>
                <a14:m>
                  <m:oMath xmlns:m="http://schemas.openxmlformats.org/officeDocument/2006/math">
                    <m:r>
                      <a:rPr lang="es-EC" sz="2400" b="0" i="1" smtClean="0">
                        <a:latin typeface="Cambria Math" panose="02040503050406030204" pitchFamily="18" charset="0"/>
                      </a:rPr>
                      <m:t>𝑓</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oMath>
                </a14:m>
                <a:r>
                  <a:rPr lang="es-EC" sz="2400" dirty="0"/>
                  <a:t>, se </a:t>
                </a:r>
                <a:r>
                  <a:rPr lang="es-EC" sz="2400" dirty="0" err="1"/>
                  <a:t>defnie</a:t>
                </a:r>
                <a:r>
                  <a:rPr lang="es-EC" sz="2400" dirty="0"/>
                  <a:t> la variable </a:t>
                </a:r>
                <a14:m>
                  <m:oMath xmlns:m="http://schemas.openxmlformats.org/officeDocument/2006/math">
                    <m:r>
                      <a:rPr lang="es-EC" sz="2400" b="0" i="1" smtClean="0">
                        <a:latin typeface="Cambria Math" panose="02040503050406030204" pitchFamily="18" charset="0"/>
                      </a:rPr>
                      <m:t>𝑌</m:t>
                    </m:r>
                    <m:r>
                      <a:rPr lang="es-EC" sz="2400" b="0" i="1" smtClean="0">
                        <a:latin typeface="Cambria Math" panose="02040503050406030204" pitchFamily="18" charset="0"/>
                      </a:rPr>
                      <m:t>=</m:t>
                    </m:r>
                    <m:r>
                      <a:rPr lang="es-EC" sz="2400" b="0" i="1" smtClean="0">
                        <a:latin typeface="Cambria Math" panose="02040503050406030204" pitchFamily="18" charset="0"/>
                      </a:rPr>
                      <m:t>𝑢</m:t>
                    </m:r>
                    <m:r>
                      <a:rPr lang="es-EC" sz="2400" b="0" i="1" smtClean="0">
                        <a:latin typeface="Cambria Math" panose="02040503050406030204" pitchFamily="18" charset="0"/>
                      </a:rPr>
                      <m:t>(</m:t>
                    </m:r>
                    <m:r>
                      <a:rPr lang="es-EC" sz="2400" b="0" i="1" smtClean="0">
                        <a:latin typeface="Cambria Math" panose="02040503050406030204" pitchFamily="18" charset="0"/>
                      </a:rPr>
                      <m:t>𝑋</m:t>
                    </m:r>
                    <m:r>
                      <a:rPr lang="es-EC" sz="2400" b="0" i="1" smtClean="0">
                        <a:latin typeface="Cambria Math" panose="02040503050406030204" pitchFamily="18" charset="0"/>
                      </a:rPr>
                      <m:t>)</m:t>
                    </m:r>
                  </m:oMath>
                </a14:m>
                <a:r>
                  <a:rPr lang="es-EC" sz="2400" dirty="0"/>
                  <a:t>, como una transformación 1 a 1 de los valores de X e Y, de tal forma que siempre sea posible para </a:t>
                </a:r>
                <a14:m>
                  <m:oMath xmlns:m="http://schemas.openxmlformats.org/officeDocument/2006/math">
                    <m:r>
                      <a:rPr lang="es-EC" sz="2400" b="0" i="1" smtClean="0">
                        <a:latin typeface="Cambria Math" panose="02040503050406030204" pitchFamily="18" charset="0"/>
                      </a:rPr>
                      <m:t>𝑦</m:t>
                    </m:r>
                    <m:r>
                      <a:rPr lang="es-EC" sz="2400" b="0" i="1" smtClean="0">
                        <a:latin typeface="Cambria Math" panose="02040503050406030204" pitchFamily="18" charset="0"/>
                      </a:rPr>
                      <m:t>=</m:t>
                    </m:r>
                    <m:r>
                      <a:rPr lang="es-EC" sz="2400" b="0" i="1" smtClean="0">
                        <a:latin typeface="Cambria Math" panose="02040503050406030204" pitchFamily="18" charset="0"/>
                      </a:rPr>
                      <m:t>𝑢</m:t>
                    </m:r>
                    <m:r>
                      <a:rPr lang="es-EC" sz="2400" b="0" i="1" smtClean="0">
                        <a:latin typeface="Cambria Math" panose="02040503050406030204" pitchFamily="18" charset="0"/>
                      </a:rPr>
                      <m:t>(</m:t>
                    </m:r>
                    <m:r>
                      <a:rPr lang="es-EC" sz="2400" b="0" i="1" smtClean="0">
                        <a:latin typeface="Cambria Math" panose="02040503050406030204" pitchFamily="18" charset="0"/>
                      </a:rPr>
                      <m:t>𝑥</m:t>
                    </m:r>
                    <m:r>
                      <a:rPr lang="es-EC" sz="2400" b="0" i="1" smtClean="0">
                        <a:latin typeface="Cambria Math" panose="02040503050406030204" pitchFamily="18" charset="0"/>
                      </a:rPr>
                      <m:t>)</m:t>
                    </m:r>
                  </m:oMath>
                </a14:m>
                <a:r>
                  <a:rPr lang="es-EC" sz="2400" dirty="0"/>
                  <a:t>, escribir </a:t>
                </a:r>
                <a14:m>
                  <m:oMath xmlns:m="http://schemas.openxmlformats.org/officeDocument/2006/math">
                    <m:r>
                      <a:rPr lang="es-EC" sz="2400" b="0" i="1" smtClean="0">
                        <a:latin typeface="Cambria Math" panose="02040503050406030204" pitchFamily="18" charset="0"/>
                      </a:rPr>
                      <m:t>𝑥</m:t>
                    </m:r>
                    <m:r>
                      <a:rPr lang="es-EC" sz="2400" b="0" i="1" smtClean="0">
                        <a:latin typeface="Cambria Math" panose="02040503050406030204" pitchFamily="18" charset="0"/>
                      </a:rPr>
                      <m:t>=</m:t>
                    </m:r>
                    <m:r>
                      <a:rPr lang="es-EC" sz="2400" b="0" i="1" smtClean="0">
                        <a:latin typeface="Cambria Math" panose="02040503050406030204" pitchFamily="18" charset="0"/>
                      </a:rPr>
                      <m:t>𝑤</m:t>
                    </m:r>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b="0" i="1" smtClean="0">
                        <a:latin typeface="Cambria Math" panose="02040503050406030204" pitchFamily="18" charset="0"/>
                      </a:rPr>
                      <m:t>)</m:t>
                    </m:r>
                  </m:oMath>
                </a14:m>
                <a:r>
                  <a:rPr lang="es-EC" sz="2400" dirty="0"/>
                  <a:t>. Entonces la distribución de probabilidad de Y es:</a:t>
                </a:r>
              </a:p>
            </p:txBody>
          </p:sp>
        </mc:Choice>
        <mc:Fallback xmlns="">
          <p:sp>
            <p:nvSpPr>
              <p:cNvPr id="4" name="Rectángulo 3"/>
              <p:cNvSpPr>
                <a:spLocks noRot="1" noChangeAspect="1" noMove="1" noResize="1" noEditPoints="1" noAdjustHandles="1" noChangeArrowheads="1" noChangeShapeType="1" noTextEdit="1"/>
              </p:cNvSpPr>
              <p:nvPr/>
            </p:nvSpPr>
            <p:spPr>
              <a:xfrm>
                <a:off x="265183" y="2175660"/>
                <a:ext cx="10402160" cy="1569660"/>
              </a:xfrm>
              <a:prstGeom prst="rect">
                <a:avLst/>
              </a:prstGeom>
              <a:blipFill rotWithShape="0">
                <a:blip r:embed="rId3"/>
                <a:stretch>
                  <a:fillRect l="-938" t="-3113" r="-879" b="-8171"/>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4207168" y="4423769"/>
                <a:ext cx="28902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𝑔</m:t>
                      </m:r>
                      <m:d>
                        <m:dPr>
                          <m:ctrlPr>
                            <a:rPr lang="es-EC" sz="2800" b="0" i="1" smtClean="0">
                              <a:latin typeface="Cambria Math" panose="02040503050406030204" pitchFamily="18" charset="0"/>
                            </a:rPr>
                          </m:ctrlPr>
                        </m:dPr>
                        <m:e>
                          <m:r>
                            <a:rPr lang="es-EC" sz="2800" b="0" i="1" smtClean="0">
                              <a:latin typeface="Cambria Math" panose="02040503050406030204" pitchFamily="18" charset="0"/>
                            </a:rPr>
                            <m:t>𝑦</m:t>
                          </m:r>
                        </m:e>
                      </m:d>
                      <m:r>
                        <a:rPr lang="es-EC" sz="2800" b="0" i="1" smtClean="0">
                          <a:latin typeface="Cambria Math" panose="02040503050406030204" pitchFamily="18" charset="0"/>
                        </a:rPr>
                        <m:t>=</m:t>
                      </m:r>
                      <m:r>
                        <a:rPr lang="es-EC" sz="2800" b="0" i="1" smtClean="0">
                          <a:latin typeface="Cambria Math" panose="02040503050406030204" pitchFamily="18" charset="0"/>
                        </a:rPr>
                        <m:t>𝑓</m:t>
                      </m:r>
                      <m:d>
                        <m:dPr>
                          <m:begChr m:val="["/>
                          <m:endChr m:val="]"/>
                          <m:ctrlPr>
                            <a:rPr lang="es-EC" sz="2800" b="0" i="1" smtClean="0">
                              <a:latin typeface="Cambria Math" panose="02040503050406030204" pitchFamily="18" charset="0"/>
                            </a:rPr>
                          </m:ctrlPr>
                        </m:dPr>
                        <m:e>
                          <m:r>
                            <a:rPr lang="es-EC" sz="2800" b="0" i="1" smtClean="0">
                              <a:latin typeface="Cambria Math" panose="02040503050406030204" pitchFamily="18" charset="0"/>
                            </a:rPr>
                            <m:t>𝑤</m:t>
                          </m:r>
                          <m:r>
                            <a:rPr lang="es-EC" sz="2800" b="0" i="1" smtClean="0">
                              <a:latin typeface="Cambria Math" panose="02040503050406030204" pitchFamily="18" charset="0"/>
                            </a:rPr>
                            <m:t>(</m:t>
                          </m:r>
                          <m:r>
                            <a:rPr lang="es-EC" sz="2800" b="0" i="1" smtClean="0">
                              <a:latin typeface="Cambria Math" panose="02040503050406030204" pitchFamily="18" charset="0"/>
                            </a:rPr>
                            <m:t>𝑦</m:t>
                          </m:r>
                          <m:r>
                            <a:rPr lang="es-EC" sz="2800" b="0" i="1" smtClean="0">
                              <a:latin typeface="Cambria Math" panose="02040503050406030204" pitchFamily="18" charset="0"/>
                            </a:rPr>
                            <m:t>)</m:t>
                          </m:r>
                        </m:e>
                      </m:d>
                      <m:d>
                        <m:dPr>
                          <m:begChr m:val="|"/>
                          <m:endChr m:val="|"/>
                          <m:ctrlPr>
                            <a:rPr lang="es-EC" sz="2800" b="0" i="1" smtClean="0">
                              <a:latin typeface="Cambria Math" panose="02040503050406030204" pitchFamily="18" charset="0"/>
                            </a:rPr>
                          </m:ctrlPr>
                        </m:dPr>
                        <m:e>
                          <m:r>
                            <a:rPr lang="es-EC" sz="2800" b="0" i="1" smtClean="0">
                              <a:latin typeface="Cambria Math" panose="02040503050406030204" pitchFamily="18" charset="0"/>
                            </a:rPr>
                            <m:t>𝐽</m:t>
                          </m:r>
                        </m:e>
                      </m:d>
                    </m:oMath>
                  </m:oMathPara>
                </a14:m>
                <a:endParaRPr lang="es-EC"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4207168" y="4423769"/>
                <a:ext cx="2890278" cy="430887"/>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265183" y="5302272"/>
                <a:ext cx="10402160" cy="461665"/>
              </a:xfrm>
              <a:prstGeom prst="rect">
                <a:avLst/>
              </a:prstGeom>
            </p:spPr>
            <p:txBody>
              <a:bodyPr wrap="square">
                <a:spAutoFit/>
              </a:bodyPr>
              <a:lstStyle/>
              <a:p>
                <a:r>
                  <a:rPr lang="es-EC" sz="2400" dirty="0"/>
                  <a:t>Donde </a:t>
                </a:r>
                <a14:m>
                  <m:oMath xmlns:m="http://schemas.openxmlformats.org/officeDocument/2006/math">
                    <m:r>
                      <a:rPr lang="es-EC" sz="2400" b="0" i="1" smtClean="0">
                        <a:latin typeface="Cambria Math" panose="02040503050406030204" pitchFamily="18" charset="0"/>
                      </a:rPr>
                      <m:t>𝐽</m:t>
                    </m:r>
                    <m:r>
                      <a:rPr lang="es-EC" sz="2400" b="0" i="1" smtClean="0">
                        <a:latin typeface="Cambria Math" panose="02040503050406030204" pitchFamily="18" charset="0"/>
                      </a:rPr>
                      <m:t>=</m:t>
                    </m:r>
                    <m:sSup>
                      <m:sSupPr>
                        <m:ctrlPr>
                          <a:rPr lang="es-EC" sz="2400" b="0" i="1" smtClean="0">
                            <a:latin typeface="Cambria Math" panose="02040503050406030204" pitchFamily="18" charset="0"/>
                          </a:rPr>
                        </m:ctrlPr>
                      </m:sSupPr>
                      <m:e>
                        <m:r>
                          <a:rPr lang="es-EC" sz="2400" b="0" i="1" smtClean="0">
                            <a:latin typeface="Cambria Math" panose="02040503050406030204" pitchFamily="18" charset="0"/>
                          </a:rPr>
                          <m:t>𝑤</m:t>
                        </m:r>
                      </m:e>
                      <m:sup>
                        <m:r>
                          <a:rPr lang="es-EC" sz="2400" b="0" i="1" smtClean="0">
                            <a:latin typeface="Cambria Math" panose="02040503050406030204" pitchFamily="18" charset="0"/>
                          </a:rPr>
                          <m:t>′</m:t>
                        </m:r>
                      </m:sup>
                    </m:sSup>
                    <m:r>
                      <a:rPr lang="es-EC" sz="2400" b="0" i="1" smtClean="0">
                        <a:latin typeface="Cambria Math" panose="02040503050406030204" pitchFamily="18" charset="0"/>
                      </a:rPr>
                      <m:t>(</m:t>
                    </m:r>
                    <m:r>
                      <a:rPr lang="es-EC" sz="2400" b="0" i="1" smtClean="0">
                        <a:latin typeface="Cambria Math" panose="02040503050406030204" pitchFamily="18" charset="0"/>
                      </a:rPr>
                      <m:t>𝑦</m:t>
                    </m:r>
                    <m:r>
                      <a:rPr lang="es-EC" sz="2400" b="0" i="1" smtClean="0">
                        <a:latin typeface="Cambria Math" panose="02040503050406030204" pitchFamily="18" charset="0"/>
                      </a:rPr>
                      <m:t>)</m:t>
                    </m:r>
                  </m:oMath>
                </a14:m>
                <a:r>
                  <a:rPr lang="es-EC" sz="2400" dirty="0"/>
                  <a:t> y se llama </a:t>
                </a:r>
                <a:r>
                  <a:rPr lang="es-EC" sz="2400" dirty="0" err="1"/>
                  <a:t>Jacobiano</a:t>
                </a:r>
                <a:r>
                  <a:rPr lang="es-EC" sz="2400" dirty="0"/>
                  <a:t> de la transformación</a:t>
                </a:r>
              </a:p>
            </p:txBody>
          </p:sp>
        </mc:Choice>
        <mc:Fallback xmlns="">
          <p:sp>
            <p:nvSpPr>
              <p:cNvPr id="6" name="Rectángulo 5"/>
              <p:cNvSpPr>
                <a:spLocks noRot="1" noChangeAspect="1" noMove="1" noResize="1" noEditPoints="1" noAdjustHandles="1" noChangeArrowheads="1" noChangeShapeType="1" noTextEdit="1"/>
              </p:cNvSpPr>
              <p:nvPr/>
            </p:nvSpPr>
            <p:spPr>
              <a:xfrm>
                <a:off x="265183" y="5302272"/>
                <a:ext cx="10402160" cy="461665"/>
              </a:xfrm>
              <a:prstGeom prst="rect">
                <a:avLst/>
              </a:prstGeom>
              <a:blipFill rotWithShape="0">
                <a:blip r:embed="rId5"/>
                <a:stretch>
                  <a:fillRect l="-938" t="-10526" b="-28947"/>
                </a:stretch>
              </a:blipFill>
            </p:spPr>
            <p:txBody>
              <a:bodyPr/>
              <a:lstStyle/>
              <a:p>
                <a:r>
                  <a:rPr lang="es-EC">
                    <a:noFill/>
                  </a:rPr>
                  <a:t> </a:t>
                </a:r>
              </a:p>
            </p:txBody>
          </p:sp>
        </mc:Fallback>
      </mc:AlternateContent>
    </p:spTree>
    <p:extLst>
      <p:ext uri="{BB962C8B-B14F-4D97-AF65-F5344CB8AC3E}">
        <p14:creationId xmlns:p14="http://schemas.microsoft.com/office/powerpoint/2010/main" val="2525135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265183" y="179523"/>
            <a:ext cx="8061438" cy="646331"/>
          </a:xfrm>
          <a:prstGeom prst="rect">
            <a:avLst/>
          </a:prstGeom>
          <a:noFill/>
        </p:spPr>
        <p:txBody>
          <a:bodyPr wrap="none" rtlCol="0">
            <a:spAutoFit/>
          </a:bodyPr>
          <a:lstStyle/>
          <a:p>
            <a:r>
              <a:rPr lang="es-EC" sz="3600" b="1" dirty="0"/>
              <a:t>PROBABILIDAD – VARIABLES ALEATORIAS</a:t>
            </a:r>
            <a:endParaRPr lang="es-EC" sz="4000" b="1" dirty="0"/>
          </a:p>
        </p:txBody>
      </p:sp>
      <p:sp>
        <p:nvSpPr>
          <p:cNvPr id="3" name="Rectángulo 2"/>
          <p:cNvSpPr/>
          <p:nvPr/>
        </p:nvSpPr>
        <p:spPr>
          <a:xfrm>
            <a:off x="265183" y="821840"/>
            <a:ext cx="9005479" cy="523220"/>
          </a:xfrm>
          <a:prstGeom prst="rect">
            <a:avLst/>
          </a:prstGeom>
        </p:spPr>
        <p:txBody>
          <a:bodyPr wrap="none">
            <a:spAutoFit/>
          </a:bodyPr>
          <a:lstStyle/>
          <a:p>
            <a:r>
              <a:rPr lang="es-EC" sz="2800" b="1" dirty="0"/>
              <a:t>Funciones de variables aleatorias – caso continuo </a:t>
            </a:r>
            <a:r>
              <a:rPr lang="es-EC" sz="2800" b="1" dirty="0" err="1"/>
              <a:t>bivariado</a:t>
            </a:r>
            <a:endParaRPr lang="es-EC" sz="2800" b="1" dirty="0"/>
          </a:p>
        </p:txBody>
      </p:sp>
      <mc:AlternateContent xmlns:mc="http://schemas.openxmlformats.org/markup-compatibility/2006" xmlns:a14="http://schemas.microsoft.com/office/drawing/2010/main">
        <mc:Choice Requires="a14">
          <p:sp>
            <p:nvSpPr>
              <p:cNvPr id="4" name="Rectángulo 3"/>
              <p:cNvSpPr/>
              <p:nvPr/>
            </p:nvSpPr>
            <p:spPr>
              <a:xfrm>
                <a:off x="265183" y="1345060"/>
                <a:ext cx="10402160" cy="2308324"/>
              </a:xfrm>
              <a:prstGeom prst="rect">
                <a:avLst/>
              </a:prstGeom>
            </p:spPr>
            <p:txBody>
              <a:bodyPr wrap="square">
                <a:spAutoFit/>
              </a:bodyPr>
              <a:lstStyle/>
              <a:p>
                <a:pPr algn="just"/>
                <a:r>
                  <a:rPr lang="es-EC" sz="2400" dirty="0"/>
                  <a:t>Sea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1</m:t>
                        </m:r>
                      </m:sub>
                    </m:sSub>
                  </m:oMath>
                </a14:m>
                <a:r>
                  <a:rPr lang="es-EC" sz="2400" dirty="0"/>
                  <a:t>,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2</m:t>
                        </m:r>
                      </m:sub>
                    </m:sSub>
                  </m:oMath>
                </a14:m>
                <a:r>
                  <a:rPr lang="es-EC" sz="2400" dirty="0"/>
                  <a:t> un par de variables aleatorias discretas con función de probabilidad conjunta </a:t>
                </a:r>
                <a14:m>
                  <m:oMath xmlns:m="http://schemas.openxmlformats.org/officeDocument/2006/math">
                    <m:r>
                      <a:rPr lang="es-EC" sz="2400" i="1">
                        <a:latin typeface="Cambria Math" panose="02040503050406030204" pitchFamily="18" charset="0"/>
                      </a:rPr>
                      <m:t>𝑓</m:t>
                    </m:r>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se define la variable</a:t>
                </a:r>
                <a14:m>
                  <m:oMath xmlns:m="http://schemas.openxmlformats.org/officeDocument/2006/math">
                    <m:r>
                      <a:rPr lang="es-EC" sz="2400" dirty="0">
                        <a:latin typeface="Cambria Math" panose="02040503050406030204" pitchFamily="18" charset="0"/>
                      </a:rPr>
                      <m:t> </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𝑌</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𝑢</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y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𝑌</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𝑢</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𝑋</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como una transformación 1 a 1 de los puntos de </a:t>
                </a:r>
                <a14:m>
                  <m:oMath xmlns:m="http://schemas.openxmlformats.org/officeDocument/2006/math">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y </a:t>
                </a:r>
                <a14:m>
                  <m:oMath xmlns:m="http://schemas.openxmlformats.org/officeDocument/2006/math">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de tal forma que siempre sea posible para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𝑢</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y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𝑢</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escribir</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𝑤</m:t>
                        </m:r>
                      </m:e>
                      <m:sub>
                        <m:r>
                          <a:rPr lang="es-EC" sz="2400" i="1" dirty="0">
                            <a:latin typeface="Cambria Math" panose="02040503050406030204" pitchFamily="18" charset="0"/>
                          </a:rPr>
                          <m:t>1</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y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𝑥</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𝑤</m:t>
                        </m:r>
                      </m:e>
                      <m:sub>
                        <m:r>
                          <a:rPr lang="es-EC" sz="2400" i="1" dirty="0">
                            <a:latin typeface="Cambria Math" panose="02040503050406030204" pitchFamily="18" charset="0"/>
                          </a:rPr>
                          <m:t>2</m:t>
                        </m:r>
                      </m:sub>
                    </m:sSub>
                    <m:r>
                      <a:rPr lang="es-EC" sz="2400" i="1">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1</m:t>
                        </m:r>
                      </m:sub>
                    </m:sSub>
                    <m:r>
                      <a:rPr lang="es-EC" sz="2400" i="1" dirty="0">
                        <a:latin typeface="Cambria Math" panose="02040503050406030204" pitchFamily="18" charset="0"/>
                      </a:rPr>
                      <m:t>,</m:t>
                    </m:r>
                    <m:sSub>
                      <m:sSubPr>
                        <m:ctrlPr>
                          <a:rPr lang="es-EC" sz="2400" i="1" dirty="0">
                            <a:latin typeface="Cambria Math" panose="02040503050406030204" pitchFamily="18" charset="0"/>
                          </a:rPr>
                        </m:ctrlPr>
                      </m:sSubPr>
                      <m:e>
                        <m:r>
                          <a:rPr lang="es-EC" sz="2400" i="1" dirty="0">
                            <a:latin typeface="Cambria Math" panose="02040503050406030204" pitchFamily="18" charset="0"/>
                          </a:rPr>
                          <m:t>𝑦</m:t>
                        </m:r>
                      </m:e>
                      <m:sub>
                        <m:r>
                          <a:rPr lang="es-EC" sz="2400" i="1" dirty="0">
                            <a:latin typeface="Cambria Math" panose="02040503050406030204" pitchFamily="18" charset="0"/>
                          </a:rPr>
                          <m:t>2</m:t>
                        </m:r>
                      </m:sub>
                    </m:sSub>
                    <m:r>
                      <a:rPr lang="es-EC" sz="2400" i="1">
                        <a:latin typeface="Cambria Math" panose="02040503050406030204" pitchFamily="18" charset="0"/>
                      </a:rPr>
                      <m:t>)</m:t>
                    </m:r>
                  </m:oMath>
                </a14:m>
                <a:r>
                  <a:rPr lang="es-EC" sz="2400" dirty="0"/>
                  <a:t>. Entonces la distribución de probabilidad conjunta de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𝑌</m:t>
                        </m:r>
                      </m:e>
                      <m:sub>
                        <m:r>
                          <a:rPr lang="es-EC" sz="2400" i="1" dirty="0">
                            <a:latin typeface="Cambria Math" panose="02040503050406030204" pitchFamily="18" charset="0"/>
                          </a:rPr>
                          <m:t>1</m:t>
                        </m:r>
                      </m:sub>
                    </m:sSub>
                  </m:oMath>
                </a14:m>
                <a:r>
                  <a:rPr lang="es-EC" sz="2400" dirty="0"/>
                  <a:t>, </a:t>
                </a:r>
                <a14:m>
                  <m:oMath xmlns:m="http://schemas.openxmlformats.org/officeDocument/2006/math">
                    <m:sSub>
                      <m:sSubPr>
                        <m:ctrlPr>
                          <a:rPr lang="es-EC" sz="2400" i="1" dirty="0">
                            <a:latin typeface="Cambria Math" panose="02040503050406030204" pitchFamily="18" charset="0"/>
                          </a:rPr>
                        </m:ctrlPr>
                      </m:sSubPr>
                      <m:e>
                        <m:r>
                          <a:rPr lang="es-EC" sz="2400" i="1" dirty="0">
                            <a:latin typeface="Cambria Math" panose="02040503050406030204" pitchFamily="18" charset="0"/>
                          </a:rPr>
                          <m:t>𝑌</m:t>
                        </m:r>
                      </m:e>
                      <m:sub>
                        <m:r>
                          <a:rPr lang="es-EC" sz="2400" i="1" dirty="0">
                            <a:latin typeface="Cambria Math" panose="02040503050406030204" pitchFamily="18" charset="0"/>
                          </a:rPr>
                          <m:t>2</m:t>
                        </m:r>
                      </m:sub>
                    </m:sSub>
                  </m:oMath>
                </a14:m>
                <a:r>
                  <a:rPr lang="es-EC" sz="2400" dirty="0"/>
                  <a:t> es:</a:t>
                </a:r>
              </a:p>
            </p:txBody>
          </p:sp>
        </mc:Choice>
        <mc:Fallback xmlns="">
          <p:sp>
            <p:nvSpPr>
              <p:cNvPr id="4" name="Rectángulo 3"/>
              <p:cNvSpPr>
                <a:spLocks noRot="1" noChangeAspect="1" noMove="1" noResize="1" noEditPoints="1" noAdjustHandles="1" noChangeArrowheads="1" noChangeShapeType="1" noTextEdit="1"/>
              </p:cNvSpPr>
              <p:nvPr/>
            </p:nvSpPr>
            <p:spPr>
              <a:xfrm>
                <a:off x="265183" y="1345060"/>
                <a:ext cx="10402160" cy="2308324"/>
              </a:xfrm>
              <a:prstGeom prst="rect">
                <a:avLst/>
              </a:prstGeom>
              <a:blipFill rotWithShape="0">
                <a:blip r:embed="rId3"/>
                <a:stretch>
                  <a:fillRect l="-938" t="-2116" r="-879" b="-5291"/>
                </a:stretch>
              </a:blipFill>
            </p:spPr>
            <p:txBody>
              <a:bodyPr/>
              <a:lstStyle/>
              <a:p>
                <a:r>
                  <a:rPr lang="es-EC">
                    <a:noFill/>
                  </a:rPr>
                  <a:t> </a:t>
                </a:r>
              </a:p>
            </p:txBody>
          </p:sp>
        </mc:Fallback>
      </mc:AlternateContent>
      <p:sp>
        <p:nvSpPr>
          <p:cNvPr id="6" name="Rectángulo 5"/>
          <p:cNvSpPr/>
          <p:nvPr/>
        </p:nvSpPr>
        <p:spPr>
          <a:xfrm>
            <a:off x="265183" y="4450934"/>
            <a:ext cx="10402160" cy="461665"/>
          </a:xfrm>
          <a:prstGeom prst="rect">
            <a:avLst/>
          </a:prstGeom>
        </p:spPr>
        <p:txBody>
          <a:bodyPr wrap="square">
            <a:spAutoFit/>
          </a:bodyPr>
          <a:lstStyle/>
          <a:p>
            <a:r>
              <a:rPr lang="es-EC" sz="2400" dirty="0"/>
              <a:t>Donde el </a:t>
            </a:r>
            <a:r>
              <a:rPr lang="es-EC" sz="2400" dirty="0" err="1"/>
              <a:t>Jacobiano</a:t>
            </a:r>
            <a:r>
              <a:rPr lang="es-EC" sz="2400" dirty="0"/>
              <a:t> de la transformación es el determinante de la matriz</a:t>
            </a:r>
          </a:p>
        </p:txBody>
      </p:sp>
      <mc:AlternateContent xmlns:mc="http://schemas.openxmlformats.org/markup-compatibility/2006" xmlns:a14="http://schemas.microsoft.com/office/drawing/2010/main">
        <mc:Choice Requires="a14">
          <p:sp>
            <p:nvSpPr>
              <p:cNvPr id="7" name="CuadroTexto 6"/>
              <p:cNvSpPr txBox="1"/>
              <p:nvPr/>
            </p:nvSpPr>
            <p:spPr>
              <a:xfrm>
                <a:off x="2583077" y="3741703"/>
                <a:ext cx="616617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𝑔</m:t>
                      </m:r>
                      <m:r>
                        <a:rPr lang="es-EC" sz="2800" i="1">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1</m:t>
                          </m:r>
                        </m:sub>
                      </m:sSub>
                      <m:r>
                        <a:rPr lang="es-EC" sz="2800" i="1" dirty="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2</m:t>
                          </m:r>
                        </m:sub>
                      </m:sSub>
                      <m:r>
                        <a:rPr lang="es-EC" sz="2800" i="1">
                          <a:latin typeface="Cambria Math" panose="02040503050406030204" pitchFamily="18" charset="0"/>
                        </a:rPr>
                        <m:t>)</m:t>
                      </m:r>
                      <m:r>
                        <a:rPr lang="es-EC" sz="2800" b="0" i="1" smtClean="0">
                          <a:latin typeface="Cambria Math" panose="02040503050406030204" pitchFamily="18" charset="0"/>
                        </a:rPr>
                        <m:t>=</m:t>
                      </m:r>
                      <m:r>
                        <a:rPr lang="es-EC" sz="2800" b="0" i="1" smtClean="0">
                          <a:latin typeface="Cambria Math" panose="02040503050406030204" pitchFamily="18" charset="0"/>
                        </a:rPr>
                        <m:t>𝑓</m:t>
                      </m:r>
                      <m:d>
                        <m:dPr>
                          <m:begChr m:val="["/>
                          <m:endChr m:val="]"/>
                          <m:ctrlPr>
                            <a:rPr lang="es-EC" sz="2800" b="0" i="1" smtClean="0">
                              <a:latin typeface="Cambria Math" panose="02040503050406030204" pitchFamily="18" charset="0"/>
                            </a:rPr>
                          </m:ctrlPr>
                        </m:dPr>
                        <m:e>
                          <m:sSub>
                            <m:sSubPr>
                              <m:ctrlPr>
                                <a:rPr lang="es-EC" sz="2800" i="1" dirty="0">
                                  <a:latin typeface="Cambria Math" panose="02040503050406030204" pitchFamily="18" charset="0"/>
                                </a:rPr>
                              </m:ctrlPr>
                            </m:sSubPr>
                            <m:e>
                              <m:r>
                                <a:rPr lang="es-EC" sz="2800" i="1" dirty="0">
                                  <a:latin typeface="Cambria Math" panose="02040503050406030204" pitchFamily="18" charset="0"/>
                                </a:rPr>
                                <m:t>𝑤</m:t>
                              </m:r>
                            </m:e>
                            <m:sub>
                              <m:r>
                                <a:rPr lang="es-EC" sz="2800" i="1" dirty="0">
                                  <a:latin typeface="Cambria Math" panose="02040503050406030204" pitchFamily="18" charset="0"/>
                                </a:rPr>
                                <m:t>1</m:t>
                              </m:r>
                            </m:sub>
                          </m:sSub>
                          <m:d>
                            <m:dPr>
                              <m:ctrlPr>
                                <a:rPr lang="es-EC" sz="2800" i="1" dirty="0">
                                  <a:latin typeface="Cambria Math" panose="02040503050406030204" pitchFamily="18" charset="0"/>
                                </a:rPr>
                              </m:ctrlPr>
                            </m:dPr>
                            <m:e>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1</m:t>
                                  </m:r>
                                </m:sub>
                              </m:sSub>
                              <m:r>
                                <a:rPr lang="es-EC" sz="2800" i="1" dirty="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2</m:t>
                                  </m:r>
                                </m:sub>
                              </m:sSub>
                            </m:e>
                          </m:d>
                          <m:r>
                            <a:rPr lang="es-EC" sz="2800" b="0" i="1" smtClean="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𝑤</m:t>
                              </m:r>
                            </m:e>
                            <m:sub>
                              <m:r>
                                <a:rPr lang="es-EC" sz="2800" i="1" dirty="0">
                                  <a:latin typeface="Cambria Math" panose="02040503050406030204" pitchFamily="18" charset="0"/>
                                </a:rPr>
                                <m:t>2</m:t>
                              </m:r>
                            </m:sub>
                          </m:sSub>
                          <m:r>
                            <a:rPr lang="es-EC" sz="2800" i="1">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1</m:t>
                              </m:r>
                            </m:sub>
                          </m:sSub>
                          <m:r>
                            <a:rPr lang="es-EC" sz="2800" i="1" dirty="0">
                              <a:latin typeface="Cambria Math" panose="02040503050406030204" pitchFamily="18" charset="0"/>
                            </a:rPr>
                            <m:t>,</m:t>
                          </m:r>
                          <m:sSub>
                            <m:sSubPr>
                              <m:ctrlPr>
                                <a:rPr lang="es-EC" sz="2800" i="1" dirty="0">
                                  <a:latin typeface="Cambria Math" panose="02040503050406030204" pitchFamily="18" charset="0"/>
                                </a:rPr>
                              </m:ctrlPr>
                            </m:sSubPr>
                            <m:e>
                              <m:r>
                                <a:rPr lang="es-EC" sz="2800" i="1" dirty="0">
                                  <a:latin typeface="Cambria Math" panose="02040503050406030204" pitchFamily="18" charset="0"/>
                                </a:rPr>
                                <m:t>𝑦</m:t>
                              </m:r>
                            </m:e>
                            <m:sub>
                              <m:r>
                                <a:rPr lang="es-EC" sz="2800" i="1" dirty="0">
                                  <a:latin typeface="Cambria Math" panose="02040503050406030204" pitchFamily="18" charset="0"/>
                                </a:rPr>
                                <m:t>2</m:t>
                              </m:r>
                            </m:sub>
                          </m:sSub>
                          <m:r>
                            <a:rPr lang="es-EC" sz="2800" i="1">
                              <a:latin typeface="Cambria Math" panose="02040503050406030204" pitchFamily="18" charset="0"/>
                            </a:rPr>
                            <m:t>)</m:t>
                          </m:r>
                        </m:e>
                      </m:d>
                      <m:d>
                        <m:dPr>
                          <m:begChr m:val="|"/>
                          <m:endChr m:val="|"/>
                          <m:ctrlPr>
                            <a:rPr lang="es-EC" sz="2800" b="0" i="1" smtClean="0">
                              <a:latin typeface="Cambria Math" panose="02040503050406030204" pitchFamily="18" charset="0"/>
                            </a:rPr>
                          </m:ctrlPr>
                        </m:dPr>
                        <m:e>
                          <m:r>
                            <a:rPr lang="es-EC" sz="2800" b="0" i="1" smtClean="0">
                              <a:latin typeface="Cambria Math" panose="02040503050406030204" pitchFamily="18" charset="0"/>
                            </a:rPr>
                            <m:t>𝐽</m:t>
                          </m:r>
                        </m:e>
                      </m:d>
                    </m:oMath>
                  </m:oMathPara>
                </a14:m>
                <a:endParaRPr lang="es-EC" sz="28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2583077" y="3741703"/>
                <a:ext cx="6166175" cy="430887"/>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4564117" y="4974228"/>
                <a:ext cx="1558760" cy="15838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C" sz="2400" i="1" smtClean="0">
                              <a:latin typeface="Cambria Math" panose="02040503050406030204" pitchFamily="18" charset="0"/>
                            </a:rPr>
                          </m:ctrlPr>
                        </m:dPr>
                        <m:e>
                          <m:m>
                            <m:mPr>
                              <m:mcs>
                                <m:mc>
                                  <m:mcPr>
                                    <m:count m:val="2"/>
                                    <m:mcJc m:val="center"/>
                                  </m:mcPr>
                                </m:mc>
                              </m:mcs>
                              <m:ctrlPr>
                                <a:rPr lang="es-EC" sz="2400" i="1" smtClean="0">
                                  <a:latin typeface="Cambria Math" panose="02040503050406030204" pitchFamily="18" charset="0"/>
                                </a:rPr>
                              </m:ctrlPr>
                            </m:mPr>
                            <m:mr>
                              <m:e>
                                <m:f>
                                  <m:fPr>
                                    <m:ctrlPr>
                                      <a:rPr lang="es-EC" sz="2400" i="1" smtClean="0">
                                        <a:latin typeface="Cambria Math" panose="02040503050406030204" pitchFamily="18" charset="0"/>
                                      </a:rPr>
                                    </m:ctrlPr>
                                  </m:fPr>
                                  <m:num>
                                    <m:r>
                                      <m:rPr>
                                        <m:brk m:alnAt="7"/>
                                      </m:rPr>
                                      <a:rPr lang="es-EC" sz="2400" i="1" smtClean="0">
                                        <a:latin typeface="Cambria Math" panose="02040503050406030204" pitchFamily="18" charset="0"/>
                                      </a:rPr>
                                      <m:t>𝜕</m:t>
                                    </m:r>
                                    <m:sSub>
                                      <m:sSubPr>
                                        <m:ctrlPr>
                                          <a:rPr lang="es-EC" sz="2400" i="1" smtClean="0">
                                            <a:latin typeface="Cambria Math" panose="02040503050406030204" pitchFamily="18" charset="0"/>
                                          </a:rPr>
                                        </m:ctrlPr>
                                      </m:sSubPr>
                                      <m:e>
                                        <m:r>
                                          <a:rPr lang="es-EC" sz="2400" b="0" i="1" smtClean="0">
                                            <a:latin typeface="Cambria Math" panose="02040503050406030204" pitchFamily="18" charset="0"/>
                                          </a:rPr>
                                          <m:t>𝑥</m:t>
                                        </m:r>
                                      </m:e>
                                      <m:sub>
                                        <m:r>
                                          <a:rPr lang="es-EC" sz="2400" b="0" i="1" smtClean="0">
                                            <a:latin typeface="Cambria Math" panose="02040503050406030204" pitchFamily="18" charset="0"/>
                                          </a:rPr>
                                          <m:t>1</m:t>
                                        </m:r>
                                      </m:sub>
                                    </m:sSub>
                                  </m:num>
                                  <m:den>
                                    <m:r>
                                      <m:rPr>
                                        <m:brk m:alnAt="7"/>
                                      </m:rP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b="0" i="1" smtClean="0">
                                            <a:latin typeface="Cambria Math" panose="02040503050406030204" pitchFamily="18" charset="0"/>
                                          </a:rPr>
                                          <m:t>𝑦</m:t>
                                        </m:r>
                                      </m:e>
                                      <m:sub>
                                        <m:r>
                                          <a:rPr lang="es-EC" sz="2400" i="1">
                                            <a:latin typeface="Cambria Math" panose="02040503050406030204" pitchFamily="18" charset="0"/>
                                          </a:rPr>
                                          <m:t>1</m:t>
                                        </m:r>
                                      </m:sub>
                                    </m:sSub>
                                  </m:den>
                                </m:f>
                              </m:e>
                              <m:e>
                                <m:f>
                                  <m:fPr>
                                    <m:ctrlPr>
                                      <a:rPr lang="es-EC" sz="2400" i="1">
                                        <a:latin typeface="Cambria Math" panose="02040503050406030204" pitchFamily="18" charset="0"/>
                                      </a:rPr>
                                    </m:ctrlPr>
                                  </m:fPr>
                                  <m:num>
                                    <m:r>
                                      <m:rPr>
                                        <m:brk m:alnAt="7"/>
                                      </m:rP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rPr>
                                          <m:t>𝑥</m:t>
                                        </m:r>
                                      </m:e>
                                      <m:sub>
                                        <m:r>
                                          <a:rPr lang="es-EC" sz="2400" i="1">
                                            <a:latin typeface="Cambria Math" panose="02040503050406030204" pitchFamily="18" charset="0"/>
                                          </a:rPr>
                                          <m:t>1</m:t>
                                        </m:r>
                                      </m:sub>
                                    </m:sSub>
                                  </m:num>
                                  <m:den>
                                    <m:r>
                                      <m:rPr>
                                        <m:brk m:alnAt="7"/>
                                      </m:rP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rPr>
                                          <m:t>𝑦</m:t>
                                        </m:r>
                                      </m:e>
                                      <m:sub>
                                        <m:r>
                                          <a:rPr lang="es-EC" sz="2400" b="0" i="1" smtClean="0">
                                            <a:latin typeface="Cambria Math" panose="02040503050406030204" pitchFamily="18" charset="0"/>
                                          </a:rPr>
                                          <m:t>2</m:t>
                                        </m:r>
                                      </m:sub>
                                    </m:sSub>
                                  </m:den>
                                </m:f>
                              </m:e>
                            </m:mr>
                            <m:mr>
                              <m:e>
                                <m:f>
                                  <m:fPr>
                                    <m:ctrlPr>
                                      <a:rPr lang="es-EC" sz="2400" i="1">
                                        <a:latin typeface="Cambria Math" panose="02040503050406030204" pitchFamily="18" charset="0"/>
                                      </a:rPr>
                                    </m:ctrlPr>
                                  </m:fPr>
                                  <m:num>
                                    <m:r>
                                      <m:rPr>
                                        <m:brk m:alnAt="7"/>
                                      </m:rP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rPr>
                                          <m:t>𝑥</m:t>
                                        </m:r>
                                      </m:e>
                                      <m:sub>
                                        <m:r>
                                          <a:rPr lang="es-EC" sz="2400" b="0" i="1" smtClean="0">
                                            <a:latin typeface="Cambria Math" panose="02040503050406030204" pitchFamily="18" charset="0"/>
                                          </a:rPr>
                                          <m:t>2</m:t>
                                        </m:r>
                                      </m:sub>
                                    </m:sSub>
                                  </m:num>
                                  <m:den>
                                    <m:r>
                                      <m:rPr>
                                        <m:brk m:alnAt="7"/>
                                      </m:rP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rPr>
                                          <m:t>𝑦</m:t>
                                        </m:r>
                                      </m:e>
                                      <m:sub>
                                        <m:r>
                                          <a:rPr lang="es-EC" sz="2400" i="1">
                                            <a:latin typeface="Cambria Math" panose="02040503050406030204" pitchFamily="18" charset="0"/>
                                          </a:rPr>
                                          <m:t>1</m:t>
                                        </m:r>
                                      </m:sub>
                                    </m:sSub>
                                  </m:den>
                                </m:f>
                              </m:e>
                              <m:e>
                                <m:f>
                                  <m:fPr>
                                    <m:ctrlPr>
                                      <a:rPr lang="es-EC" sz="2400" i="1">
                                        <a:latin typeface="Cambria Math" panose="02040503050406030204" pitchFamily="18" charset="0"/>
                                      </a:rPr>
                                    </m:ctrlPr>
                                  </m:fPr>
                                  <m:num>
                                    <m:r>
                                      <m:rPr>
                                        <m:brk m:alnAt="7"/>
                                      </m:rP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rPr>
                                          <m:t>𝑥</m:t>
                                        </m:r>
                                      </m:e>
                                      <m:sub>
                                        <m:r>
                                          <a:rPr lang="es-EC" sz="2400" b="0" i="1" smtClean="0">
                                            <a:latin typeface="Cambria Math" panose="02040503050406030204" pitchFamily="18" charset="0"/>
                                          </a:rPr>
                                          <m:t>2</m:t>
                                        </m:r>
                                      </m:sub>
                                    </m:sSub>
                                  </m:num>
                                  <m:den>
                                    <m:r>
                                      <m:rPr>
                                        <m:brk m:alnAt="7"/>
                                      </m:rPr>
                                      <a:rPr lang="es-EC" sz="2400" i="1">
                                        <a:latin typeface="Cambria Math" panose="02040503050406030204" pitchFamily="18" charset="0"/>
                                      </a:rPr>
                                      <m:t>𝜕</m:t>
                                    </m:r>
                                    <m:sSub>
                                      <m:sSubPr>
                                        <m:ctrlPr>
                                          <a:rPr lang="es-EC" sz="2400" i="1">
                                            <a:latin typeface="Cambria Math" panose="02040503050406030204" pitchFamily="18" charset="0"/>
                                          </a:rPr>
                                        </m:ctrlPr>
                                      </m:sSubPr>
                                      <m:e>
                                        <m:r>
                                          <a:rPr lang="es-EC" sz="2400" i="1">
                                            <a:latin typeface="Cambria Math" panose="02040503050406030204" pitchFamily="18" charset="0"/>
                                          </a:rPr>
                                          <m:t>𝑦</m:t>
                                        </m:r>
                                      </m:e>
                                      <m:sub>
                                        <m:r>
                                          <a:rPr lang="es-EC" sz="2400" b="0" i="1" smtClean="0">
                                            <a:latin typeface="Cambria Math" panose="02040503050406030204" pitchFamily="18" charset="0"/>
                                          </a:rPr>
                                          <m:t>2</m:t>
                                        </m:r>
                                      </m:sub>
                                    </m:sSub>
                                  </m:den>
                                </m:f>
                              </m:e>
                            </m:mr>
                          </m:m>
                        </m:e>
                      </m:d>
                    </m:oMath>
                  </m:oMathPara>
                </a14:m>
                <a:endParaRPr lang="es-EC" sz="2400" dirty="0"/>
              </a:p>
            </p:txBody>
          </p:sp>
        </mc:Choice>
        <mc:Fallback xmlns="">
          <p:sp>
            <p:nvSpPr>
              <p:cNvPr id="8" name="CuadroTexto 7"/>
              <p:cNvSpPr txBox="1">
                <a:spLocks noRot="1" noChangeAspect="1" noMove="1" noResize="1" noEditPoints="1" noAdjustHandles="1" noChangeArrowheads="1" noChangeShapeType="1" noTextEdit="1"/>
              </p:cNvSpPr>
              <p:nvPr/>
            </p:nvSpPr>
            <p:spPr>
              <a:xfrm>
                <a:off x="4564117" y="4974228"/>
                <a:ext cx="1558760" cy="1583832"/>
              </a:xfrm>
              <a:prstGeom prst="rect">
                <a:avLst/>
              </a:prstGeom>
              <a:blipFill rotWithShape="0">
                <a:blip r:embed="rId5"/>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666676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
        <p:nvSpPr>
          <p:cNvPr id="3" name="Rectángulo 2"/>
          <p:cNvSpPr/>
          <p:nvPr/>
        </p:nvSpPr>
        <p:spPr>
          <a:xfrm>
            <a:off x="1084990" y="1045666"/>
            <a:ext cx="4157357" cy="523220"/>
          </a:xfrm>
          <a:prstGeom prst="rect">
            <a:avLst/>
          </a:prstGeom>
        </p:spPr>
        <p:txBody>
          <a:bodyPr wrap="none">
            <a:spAutoFit/>
          </a:bodyPr>
          <a:lstStyle/>
          <a:p>
            <a:r>
              <a:rPr lang="es-EC" sz="2800" b="1" dirty="0"/>
              <a:t>Desigualdad de </a:t>
            </a:r>
            <a:r>
              <a:rPr lang="es-EC" sz="2800" b="1" dirty="0" err="1"/>
              <a:t>Chebyshev</a:t>
            </a:r>
            <a:endParaRPr lang="es-EC" sz="2800" b="1" dirty="0"/>
          </a:p>
        </p:txBody>
      </p:sp>
      <mc:AlternateContent xmlns:mc="http://schemas.openxmlformats.org/markup-compatibility/2006" xmlns:a14="http://schemas.microsoft.com/office/drawing/2010/main">
        <mc:Choice Requires="a14">
          <p:sp>
            <p:nvSpPr>
              <p:cNvPr id="4" name="CuadroTexto 3"/>
              <p:cNvSpPr txBox="1"/>
              <p:nvPr/>
            </p:nvSpPr>
            <p:spPr>
              <a:xfrm>
                <a:off x="1084990" y="1705883"/>
                <a:ext cx="9509438" cy="1572162"/>
              </a:xfrm>
              <a:prstGeom prst="rect">
                <a:avLst/>
              </a:prstGeom>
              <a:noFill/>
            </p:spPr>
            <p:txBody>
              <a:bodyPr wrap="square" rtlCol="0">
                <a:spAutoFit/>
              </a:bodyPr>
              <a:lstStyle/>
              <a:p>
                <a:r>
                  <a:rPr lang="es-EC" sz="2400" dirty="0"/>
                  <a:t>Sea X una </a:t>
                </a:r>
                <a:r>
                  <a:rPr lang="es-EC" sz="2400" dirty="0" err="1"/>
                  <a:t>v.a.</a:t>
                </a:r>
                <a:r>
                  <a:rPr lang="es-EC" sz="2400" dirty="0"/>
                  <a:t> con  </a:t>
                </a:r>
                <a14:m>
                  <m:oMath xmlns:m="http://schemas.openxmlformats.org/officeDocument/2006/math">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i="1">
                            <a:latin typeface="Cambria Math" panose="02040503050406030204" pitchFamily="18" charset="0"/>
                          </a:rPr>
                          <m:t>𝑋</m:t>
                        </m:r>
                      </m:e>
                    </m:d>
                    <m:r>
                      <a:rPr lang="es-EC" sz="2400" i="1">
                        <a:latin typeface="Cambria Math" panose="02040503050406030204" pitchFamily="18" charset="0"/>
                      </a:rPr>
                      <m:t>=</m:t>
                    </m:r>
                    <m:r>
                      <a:rPr lang="es-EC" sz="2400" i="1" smtClean="0">
                        <a:latin typeface="Cambria Math" panose="02040503050406030204" pitchFamily="18" charset="0"/>
                        <a:ea typeface="Cambria Math" panose="02040503050406030204" pitchFamily="18" charset="0"/>
                      </a:rPr>
                      <m:t>𝜇</m:t>
                    </m:r>
                    <m:r>
                      <a:rPr lang="es-EC" sz="2400" i="1">
                        <a:latin typeface="Cambria Math" panose="02040503050406030204" pitchFamily="18" charset="0"/>
                      </a:rPr>
                      <m:t> </m:t>
                    </m:r>
                  </m:oMath>
                </a14:m>
                <a:r>
                  <a:rPr lang="es-EC" sz="2400" dirty="0"/>
                  <a:t> y V</a:t>
                </a:r>
                <a14:m>
                  <m:oMath xmlns:m="http://schemas.openxmlformats.org/officeDocument/2006/math">
                    <m:d>
                      <m:dPr>
                        <m:ctrlPr>
                          <a:rPr lang="es-EC" sz="2400" i="1">
                            <a:latin typeface="Cambria Math" panose="02040503050406030204" pitchFamily="18" charset="0"/>
                          </a:rPr>
                        </m:ctrlPr>
                      </m:dPr>
                      <m:e>
                        <m:r>
                          <a:rPr lang="es-EC" sz="2400" i="1">
                            <a:latin typeface="Cambria Math" panose="02040503050406030204" pitchFamily="18" charset="0"/>
                          </a:rPr>
                          <m:t>𝑋</m:t>
                        </m:r>
                      </m:e>
                    </m:d>
                    <m:r>
                      <a:rPr lang="es-EC" sz="2400" i="1">
                        <a:latin typeface="Cambria Math" panose="02040503050406030204" pitchFamily="18" charset="0"/>
                      </a:rPr>
                      <m:t>=</m:t>
                    </m:r>
                    <m:sSup>
                      <m:sSupPr>
                        <m:ctrlPr>
                          <a:rPr lang="es-EC" sz="2400" i="1">
                            <a:latin typeface="Cambria Math" panose="02040503050406030204" pitchFamily="18" charset="0"/>
                          </a:rPr>
                        </m:ctrlPr>
                      </m:sSupPr>
                      <m:e>
                        <m:r>
                          <a:rPr lang="es-EC" sz="2400" i="1">
                            <a:latin typeface="Cambria Math" panose="02040503050406030204" pitchFamily="18" charset="0"/>
                            <a:ea typeface="Cambria Math" panose="02040503050406030204" pitchFamily="18" charset="0"/>
                          </a:rPr>
                          <m:t>𝜎</m:t>
                        </m:r>
                      </m:e>
                      <m:sup>
                        <m:r>
                          <a:rPr lang="es-EC" sz="2400" i="1">
                            <a:latin typeface="Cambria Math" panose="02040503050406030204" pitchFamily="18" charset="0"/>
                          </a:rPr>
                          <m:t>2</m:t>
                        </m:r>
                      </m:sup>
                    </m:sSup>
                    <m:r>
                      <a:rPr lang="es-EC" sz="2400" b="0" i="0" smtClean="0">
                        <a:latin typeface="Cambria Math" panose="02040503050406030204" pitchFamily="18" charset="0"/>
                      </a:rPr>
                      <m:t>;</m:t>
                    </m:r>
                  </m:oMath>
                </a14:m>
                <a:r>
                  <a:rPr lang="es-EC" sz="2400" dirty="0"/>
                  <a:t> para </a:t>
                </a:r>
                <a14:m>
                  <m:oMath xmlns:m="http://schemas.openxmlformats.org/officeDocument/2006/math">
                    <m:r>
                      <a:rPr lang="es-EC" sz="2400" i="1" smtClean="0">
                        <a:latin typeface="Cambria Math" panose="02040503050406030204" pitchFamily="18" charset="0"/>
                        <a:ea typeface="Cambria Math" panose="02040503050406030204" pitchFamily="18" charset="0"/>
                      </a:rPr>
                      <m:t>𝜖</m:t>
                    </m:r>
                    <m:r>
                      <a:rPr lang="es-EC" sz="2400" i="1" smtClean="0">
                        <a:latin typeface="Cambria Math" panose="02040503050406030204" pitchFamily="18" charset="0"/>
                        <a:ea typeface="Cambria Math" panose="02040503050406030204" pitchFamily="18" charset="0"/>
                      </a:rPr>
                      <m:t>&gt;0</m:t>
                    </m:r>
                  </m:oMath>
                </a14:m>
                <a:r>
                  <a:rPr lang="es-EC" sz="2400" dirty="0"/>
                  <a:t> se tiene que:</a:t>
                </a:r>
              </a:p>
              <a:p>
                <a:endParaRPr lang="es-EC" sz="2400" dirty="0"/>
              </a:p>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𝑃</m:t>
                      </m:r>
                      <m:r>
                        <a:rPr lang="es-EC" sz="2400" b="0" i="1" smtClean="0">
                          <a:latin typeface="Cambria Math" panose="02040503050406030204" pitchFamily="18" charset="0"/>
                        </a:rPr>
                        <m:t>(</m:t>
                      </m:r>
                      <m:d>
                        <m:dPr>
                          <m:begChr m:val="|"/>
                          <m:endChr m:val="|"/>
                          <m:ctrlPr>
                            <a:rPr lang="es-EC" sz="2400" b="0" i="1" smtClean="0">
                              <a:latin typeface="Cambria Math" panose="02040503050406030204" pitchFamily="18" charset="0"/>
                            </a:rPr>
                          </m:ctrlPr>
                        </m:dPr>
                        <m:e>
                          <m:r>
                            <a:rPr lang="es-EC" sz="2400" b="0" i="1" smtClean="0">
                              <a:latin typeface="Cambria Math" panose="02040503050406030204" pitchFamily="18" charset="0"/>
                            </a:rPr>
                            <m:t>𝑋</m:t>
                          </m:r>
                          <m: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𝜇</m:t>
                          </m:r>
                        </m:e>
                      </m:d>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𝜖</m:t>
                      </m:r>
                      <m: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m:t>
                      </m:r>
                      <m:f>
                        <m:fPr>
                          <m:ctrlPr>
                            <a:rPr lang="es-EC" sz="2400" b="0" i="1" smtClean="0">
                              <a:latin typeface="Cambria Math" panose="02040503050406030204" pitchFamily="18" charset="0"/>
                              <a:ea typeface="Cambria Math" panose="02040503050406030204" pitchFamily="18" charset="0"/>
                            </a:rPr>
                          </m:ctrlPr>
                        </m:fPr>
                        <m:num>
                          <m:sSup>
                            <m:sSupPr>
                              <m:ctrlPr>
                                <a:rPr lang="es-EC" sz="2400" b="0" i="1" smtClean="0">
                                  <a:latin typeface="Cambria Math" panose="02040503050406030204" pitchFamily="18" charset="0"/>
                                  <a:ea typeface="Cambria Math" panose="02040503050406030204" pitchFamily="18" charset="0"/>
                                </a:rPr>
                              </m:ctrlPr>
                            </m:sSupPr>
                            <m:e>
                              <m:r>
                                <a:rPr lang="es-EC" sz="2400" b="0" i="1" smtClean="0">
                                  <a:latin typeface="Cambria Math" panose="02040503050406030204" pitchFamily="18" charset="0"/>
                                  <a:ea typeface="Cambria Math" panose="02040503050406030204" pitchFamily="18" charset="0"/>
                                </a:rPr>
                                <m:t>𝜎</m:t>
                              </m:r>
                            </m:e>
                            <m:sup>
                              <m:r>
                                <a:rPr lang="es-EC" sz="2400" b="0" i="1" smtClean="0">
                                  <a:latin typeface="Cambria Math" panose="02040503050406030204" pitchFamily="18" charset="0"/>
                                  <a:ea typeface="Cambria Math" panose="02040503050406030204" pitchFamily="18" charset="0"/>
                                </a:rPr>
                                <m:t>2</m:t>
                              </m:r>
                            </m:sup>
                          </m:sSup>
                        </m:num>
                        <m:den>
                          <m:sSup>
                            <m:sSupPr>
                              <m:ctrlPr>
                                <a:rPr lang="es-EC" sz="2400" b="0" i="1" smtClean="0">
                                  <a:latin typeface="Cambria Math" panose="02040503050406030204" pitchFamily="18" charset="0"/>
                                  <a:ea typeface="Cambria Math" panose="02040503050406030204" pitchFamily="18" charset="0"/>
                                </a:rPr>
                              </m:ctrlPr>
                            </m:sSupPr>
                            <m:e>
                              <m:r>
                                <a:rPr lang="es-EC" sz="2400" b="0" i="1" smtClean="0">
                                  <a:latin typeface="Cambria Math" panose="02040503050406030204" pitchFamily="18" charset="0"/>
                                  <a:ea typeface="Cambria Math" panose="02040503050406030204" pitchFamily="18" charset="0"/>
                                </a:rPr>
                                <m:t>𝜖</m:t>
                              </m:r>
                            </m:e>
                            <m:sup>
                              <m:r>
                                <a:rPr lang="es-EC" sz="2400" b="0" i="1" smtClean="0">
                                  <a:latin typeface="Cambria Math" panose="02040503050406030204" pitchFamily="18" charset="0"/>
                                  <a:ea typeface="Cambria Math" panose="02040503050406030204" pitchFamily="18" charset="0"/>
                                </a:rPr>
                                <m:t>2</m:t>
                              </m:r>
                            </m:sup>
                          </m:sSup>
                        </m:den>
                      </m:f>
                    </m:oMath>
                  </m:oMathPara>
                </a14:m>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1084990" y="1705883"/>
                <a:ext cx="9509438" cy="1572162"/>
              </a:xfrm>
              <a:prstGeom prst="rect">
                <a:avLst/>
              </a:prstGeom>
              <a:blipFill rotWithShape="0">
                <a:blip r:embed="rId3"/>
                <a:stretch>
                  <a:fillRect l="-1026" t="-3101"/>
                </a:stretch>
              </a:blipFill>
            </p:spPr>
            <p:txBody>
              <a:bodyPr/>
              <a:lstStyle/>
              <a:p>
                <a:r>
                  <a:rPr lang="es-EC">
                    <a:noFill/>
                  </a:rPr>
                  <a:t> </a:t>
                </a:r>
              </a:p>
            </p:txBody>
          </p:sp>
        </mc:Fallback>
      </mc:AlternateContent>
      <p:sp>
        <p:nvSpPr>
          <p:cNvPr id="8" name="Rectángulo 7"/>
          <p:cNvSpPr/>
          <p:nvPr/>
        </p:nvSpPr>
        <p:spPr>
          <a:xfrm>
            <a:off x="1084990" y="3415042"/>
            <a:ext cx="4301627" cy="523220"/>
          </a:xfrm>
          <a:prstGeom prst="rect">
            <a:avLst/>
          </a:prstGeom>
        </p:spPr>
        <p:txBody>
          <a:bodyPr wrap="none">
            <a:spAutoFit/>
          </a:bodyPr>
          <a:lstStyle/>
          <a:p>
            <a:r>
              <a:rPr lang="es-EC" sz="2800" b="1" dirty="0"/>
              <a:t>Ley de los grandes números</a:t>
            </a:r>
          </a:p>
        </p:txBody>
      </p:sp>
      <mc:AlternateContent xmlns:mc="http://schemas.openxmlformats.org/markup-compatibility/2006" xmlns:a14="http://schemas.microsoft.com/office/drawing/2010/main">
        <mc:Choice Requires="a14">
          <p:sp>
            <p:nvSpPr>
              <p:cNvPr id="9" name="CuadroTexto 8"/>
              <p:cNvSpPr txBox="1"/>
              <p:nvPr/>
            </p:nvSpPr>
            <p:spPr>
              <a:xfrm>
                <a:off x="1084989" y="4075259"/>
                <a:ext cx="9793217" cy="2277803"/>
              </a:xfrm>
              <a:prstGeom prst="rect">
                <a:avLst/>
              </a:prstGeom>
              <a:noFill/>
            </p:spPr>
            <p:txBody>
              <a:bodyPr wrap="square" rtlCol="0">
                <a:spAutoFit/>
              </a:bodyPr>
              <a:lstStyle/>
              <a:p>
                <a:r>
                  <a:rPr lang="es-EC" sz="2400" dirty="0"/>
                  <a:t>Sea </a:t>
                </a:r>
                <a14:m>
                  <m:oMath xmlns:m="http://schemas.openxmlformats.org/officeDocument/2006/math">
                    <m:sSub>
                      <m:sSubPr>
                        <m:ctrlPr>
                          <a:rPr lang="es-EC" sz="2400" i="1" dirty="0" smtClean="0">
                            <a:latin typeface="Cambria Math" panose="02040503050406030204" pitchFamily="18" charset="0"/>
                          </a:rPr>
                        </m:ctrlPr>
                      </m:sSubPr>
                      <m:e>
                        <m:r>
                          <a:rPr lang="es-EC" sz="2400" b="0" i="1" dirty="0" smtClean="0">
                            <a:latin typeface="Cambria Math" panose="02040503050406030204" pitchFamily="18" charset="0"/>
                          </a:rPr>
                          <m:t>𝑋</m:t>
                        </m:r>
                      </m:e>
                      <m:sub>
                        <m:r>
                          <a:rPr lang="es-EC" sz="2400" b="0" i="1" dirty="0" smtClean="0">
                            <a:latin typeface="Cambria Math" panose="02040503050406030204" pitchFamily="18" charset="0"/>
                          </a:rPr>
                          <m:t>𝑛</m:t>
                        </m:r>
                      </m:sub>
                    </m:sSub>
                  </m:oMath>
                </a14:m>
                <a:r>
                  <a:rPr lang="es-EC" sz="2400" dirty="0"/>
                  <a:t> una sucesión infinita de </a:t>
                </a:r>
                <a:r>
                  <a:rPr lang="es-EC" sz="2400" dirty="0" err="1"/>
                  <a:t>v.a.</a:t>
                </a:r>
                <a:r>
                  <a:rPr lang="es-EC" sz="2400" dirty="0"/>
                  <a:t> con  </a:t>
                </a:r>
                <a14:m>
                  <m:oMath xmlns:m="http://schemas.openxmlformats.org/officeDocument/2006/math">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i="1">
                            <a:latin typeface="Cambria Math" panose="02040503050406030204" pitchFamily="18" charset="0"/>
                          </a:rPr>
                          <m:t>𝑋</m:t>
                        </m:r>
                      </m:e>
                    </m:d>
                    <m:r>
                      <a:rPr lang="es-EC" sz="2400" i="1">
                        <a:latin typeface="Cambria Math" panose="02040503050406030204" pitchFamily="18" charset="0"/>
                      </a:rPr>
                      <m:t>=</m:t>
                    </m:r>
                    <m:r>
                      <a:rPr lang="es-EC" sz="2400" i="1" smtClean="0">
                        <a:latin typeface="Cambria Math" panose="02040503050406030204" pitchFamily="18" charset="0"/>
                        <a:ea typeface="Cambria Math" panose="02040503050406030204" pitchFamily="18" charset="0"/>
                      </a:rPr>
                      <m:t>𝜇</m:t>
                    </m:r>
                    <m:r>
                      <a:rPr lang="es-EC" sz="2400" i="1">
                        <a:latin typeface="Cambria Math" panose="02040503050406030204" pitchFamily="18" charset="0"/>
                      </a:rPr>
                      <m:t> </m:t>
                    </m:r>
                    <m:r>
                      <a:rPr lang="es-EC" sz="2400" b="0" i="1" smtClean="0">
                        <a:latin typeface="Cambria Math" panose="02040503050406030204" pitchFamily="18" charset="0"/>
                      </a:rPr>
                      <m:t> </m:t>
                    </m:r>
                    <m:r>
                      <a:rPr lang="es-EC" sz="2400" b="0" i="1" smtClean="0">
                        <a:latin typeface="Cambria Math" panose="02040503050406030204" pitchFamily="18" charset="0"/>
                      </a:rPr>
                      <m:t>𝑓𝑖𝑛𝑖𝑡𝑎</m:t>
                    </m:r>
                  </m:oMath>
                </a14:m>
                <a:r>
                  <a:rPr lang="es-EC" sz="2400" dirty="0"/>
                  <a:t> y que son independientes e idénticamente distribuidas (</a:t>
                </a:r>
                <a:r>
                  <a:rPr lang="es-EC" sz="2400" dirty="0" err="1"/>
                  <a:t>i.i.d</a:t>
                </a:r>
                <a:r>
                  <a:rPr lang="es-EC" sz="2400" dirty="0"/>
                  <a:t>.) entonces </a:t>
                </a:r>
              </a:p>
              <a:p>
                <a:endParaRPr lang="es-EC" sz="2400" dirty="0"/>
              </a:p>
              <a:p>
                <a:pPr/>
                <a14:m>
                  <m:oMathPara xmlns:m="http://schemas.openxmlformats.org/officeDocument/2006/math">
                    <m:oMathParaPr>
                      <m:jc m:val="centerGroup"/>
                    </m:oMathParaPr>
                    <m:oMath xmlns:m="http://schemas.openxmlformats.org/officeDocument/2006/math">
                      <m:f>
                        <m:fPr>
                          <m:ctrlPr>
                            <a:rPr lang="es-EC" sz="2400" b="0" i="1" smtClean="0">
                              <a:latin typeface="Cambria Math" panose="02040503050406030204" pitchFamily="18" charset="0"/>
                            </a:rPr>
                          </m:ctrlPr>
                        </m:fPr>
                        <m:num>
                          <m:r>
                            <a:rPr lang="es-EC" sz="2400" b="0" i="1" smtClean="0">
                              <a:latin typeface="Cambria Math" panose="02040503050406030204" pitchFamily="18" charset="0"/>
                            </a:rPr>
                            <m:t>1</m:t>
                          </m:r>
                        </m:num>
                        <m:den>
                          <m:r>
                            <a:rPr lang="es-EC" sz="2400" b="0" i="1" smtClean="0">
                              <a:latin typeface="Cambria Math" panose="02040503050406030204" pitchFamily="18" charset="0"/>
                            </a:rPr>
                            <m:t>𝑛</m:t>
                          </m:r>
                        </m:den>
                      </m:f>
                      <m:nary>
                        <m:naryPr>
                          <m:chr m:val="∑"/>
                          <m:ctrlPr>
                            <a:rPr lang="es-EC" sz="2400" b="0" i="1" smtClean="0">
                              <a:latin typeface="Cambria Math" panose="02040503050406030204" pitchFamily="18" charset="0"/>
                            </a:rPr>
                          </m:ctrlPr>
                        </m:naryPr>
                        <m:sub>
                          <m:r>
                            <m:rPr>
                              <m:brk m:alnAt="23"/>
                            </m:rPr>
                            <a:rPr lang="es-EC" sz="2400" b="0" i="1" smtClean="0">
                              <a:latin typeface="Cambria Math" panose="02040503050406030204" pitchFamily="18" charset="0"/>
                            </a:rPr>
                            <m:t>𝑖</m:t>
                          </m:r>
                          <m:r>
                            <a:rPr lang="es-EC" sz="2400" b="0" i="1" smtClean="0">
                              <a:latin typeface="Cambria Math" panose="02040503050406030204" pitchFamily="18" charset="0"/>
                            </a:rPr>
                            <m:t>=1</m:t>
                          </m:r>
                        </m:sub>
                        <m:sup>
                          <m:r>
                            <a:rPr lang="es-EC" sz="2400" b="0" i="1" smtClean="0">
                              <a:latin typeface="Cambria Math" panose="02040503050406030204" pitchFamily="18" charset="0"/>
                            </a:rPr>
                            <m:t>𝑛</m:t>
                          </m:r>
                        </m:sup>
                        <m:e>
                          <m:sSub>
                            <m:sSubPr>
                              <m:ctrlPr>
                                <a:rPr lang="es-EC" sz="2400" b="0" i="1" smtClean="0">
                                  <a:latin typeface="Cambria Math" panose="02040503050406030204" pitchFamily="18" charset="0"/>
                                </a:rPr>
                              </m:ctrlPr>
                            </m:sSubPr>
                            <m:e>
                              <m:r>
                                <a:rPr lang="es-EC" sz="2400" b="0" i="1" smtClean="0">
                                  <a:latin typeface="Cambria Math" panose="02040503050406030204" pitchFamily="18" charset="0"/>
                                </a:rPr>
                                <m:t>𝑋</m:t>
                              </m:r>
                            </m:e>
                            <m:sub>
                              <m:r>
                                <a:rPr lang="es-EC" sz="2400" b="0" i="1" smtClean="0">
                                  <a:latin typeface="Cambria Math" panose="02040503050406030204" pitchFamily="18" charset="0"/>
                                </a:rPr>
                                <m:t>𝑖</m:t>
                              </m:r>
                            </m:sub>
                          </m:sSub>
                          <m:groupChr>
                            <m:groupChrPr>
                              <m:chr m:val="→"/>
                              <m:pos m:val="top"/>
                              <m:ctrlPr>
                                <a:rPr lang="es-EC" sz="2400" b="0" i="1" smtClean="0">
                                  <a:latin typeface="Cambria Math" panose="02040503050406030204" pitchFamily="18" charset="0"/>
                                </a:rPr>
                              </m:ctrlPr>
                            </m:groupChrPr>
                            <m:e>
                              <m:r>
                                <m:rPr>
                                  <m:brk m:alnAt="1"/>
                                </m:rPr>
                                <a:rPr lang="es-EC" sz="2400" b="0" i="1" smtClean="0">
                                  <a:latin typeface="Cambria Math" panose="02040503050406030204" pitchFamily="18" charset="0"/>
                                </a:rPr>
                                <m:t>𝑛</m:t>
                              </m:r>
                              <m:r>
                                <a:rPr lang="es-EC" sz="2400" b="0" i="1" smtClean="0">
                                  <a:latin typeface="Cambria Math" panose="02040503050406030204" pitchFamily="18" charset="0"/>
                                  <a:ea typeface="Cambria Math" panose="02040503050406030204" pitchFamily="18" charset="0"/>
                                </a:rPr>
                                <m:t>→∞</m:t>
                              </m:r>
                            </m:e>
                          </m:groupChr>
                          <m:r>
                            <a:rPr lang="es-EC" sz="2400" b="0" i="1" smtClean="0">
                              <a:latin typeface="Cambria Math" panose="02040503050406030204" pitchFamily="18" charset="0"/>
                              <a:ea typeface="Cambria Math" panose="02040503050406030204" pitchFamily="18" charset="0"/>
                            </a:rPr>
                            <m:t>𝜇</m:t>
                          </m:r>
                        </m:e>
                      </m:nary>
                    </m:oMath>
                  </m:oMathPara>
                </a14:m>
                <a:endParaRPr lang="es-EC"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1084989" y="4075259"/>
                <a:ext cx="9793217" cy="2277803"/>
              </a:xfrm>
              <a:prstGeom prst="rect">
                <a:avLst/>
              </a:prstGeom>
              <a:blipFill rotWithShape="0">
                <a:blip r:embed="rId4"/>
                <a:stretch>
                  <a:fillRect l="-996" t="-2145"/>
                </a:stretch>
              </a:blipFill>
            </p:spPr>
            <p:txBody>
              <a:bodyPr/>
              <a:lstStyle/>
              <a:p>
                <a:r>
                  <a:rPr lang="es-EC">
                    <a:noFill/>
                  </a:rPr>
                  <a:t> </a:t>
                </a:r>
              </a:p>
            </p:txBody>
          </p:sp>
        </mc:Fallback>
      </mc:AlternateContent>
    </p:spTree>
    <p:extLst>
      <p:ext uri="{BB962C8B-B14F-4D97-AF65-F5344CB8AC3E}">
        <p14:creationId xmlns:p14="http://schemas.microsoft.com/office/powerpoint/2010/main" val="12040736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p:cNvSpPr txBox="1"/>
          <p:nvPr/>
        </p:nvSpPr>
        <p:spPr>
          <a:xfrm>
            <a:off x="1084990" y="262338"/>
            <a:ext cx="8061438" cy="646331"/>
          </a:xfrm>
          <a:prstGeom prst="rect">
            <a:avLst/>
          </a:prstGeom>
          <a:noFill/>
        </p:spPr>
        <p:txBody>
          <a:bodyPr wrap="none" rtlCol="0">
            <a:spAutoFit/>
          </a:bodyPr>
          <a:lstStyle/>
          <a:p>
            <a:r>
              <a:rPr lang="es-EC" sz="3600" b="1" dirty="0"/>
              <a:t>PROBABILIDAD – VARIABLES ALEATORIAS</a:t>
            </a:r>
            <a:endParaRPr lang="es-EC" sz="4000" b="1" dirty="0"/>
          </a:p>
        </p:txBody>
      </p:sp>
      <p:sp>
        <p:nvSpPr>
          <p:cNvPr id="3" name="Rectángulo 2"/>
          <p:cNvSpPr/>
          <p:nvPr/>
        </p:nvSpPr>
        <p:spPr>
          <a:xfrm>
            <a:off x="1084990" y="1045666"/>
            <a:ext cx="4181594" cy="523220"/>
          </a:xfrm>
          <a:prstGeom prst="rect">
            <a:avLst/>
          </a:prstGeom>
        </p:spPr>
        <p:txBody>
          <a:bodyPr wrap="none">
            <a:spAutoFit/>
          </a:bodyPr>
          <a:lstStyle/>
          <a:p>
            <a:r>
              <a:rPr lang="es-EC" sz="2800" b="1" dirty="0"/>
              <a:t>Teorema del Límite Central</a:t>
            </a:r>
          </a:p>
        </p:txBody>
      </p:sp>
      <mc:AlternateContent xmlns:mc="http://schemas.openxmlformats.org/markup-compatibility/2006" xmlns:a14="http://schemas.microsoft.com/office/drawing/2010/main">
        <mc:Choice Requires="a14">
          <p:sp>
            <p:nvSpPr>
              <p:cNvPr id="5" name="CuadroTexto 4"/>
              <p:cNvSpPr txBox="1"/>
              <p:nvPr/>
            </p:nvSpPr>
            <p:spPr>
              <a:xfrm>
                <a:off x="1084990" y="1705883"/>
                <a:ext cx="9793217" cy="1569660"/>
              </a:xfrm>
              <a:prstGeom prst="rect">
                <a:avLst/>
              </a:prstGeom>
              <a:noFill/>
            </p:spPr>
            <p:txBody>
              <a:bodyPr wrap="square" rtlCol="0">
                <a:spAutoFit/>
              </a:bodyPr>
              <a:lstStyle/>
              <a:p>
                <a:r>
                  <a:rPr lang="es-EC" sz="2400" dirty="0"/>
                  <a:t>Sea </a:t>
                </a:r>
                <a14:m>
                  <m:oMath xmlns:m="http://schemas.openxmlformats.org/officeDocument/2006/math">
                    <m:sSub>
                      <m:sSubPr>
                        <m:ctrlPr>
                          <a:rPr lang="es-EC" sz="2400" i="1" dirty="0" smtClean="0">
                            <a:latin typeface="Cambria Math" panose="02040503050406030204" pitchFamily="18" charset="0"/>
                          </a:rPr>
                        </m:ctrlPr>
                      </m:sSubPr>
                      <m:e>
                        <m:r>
                          <a:rPr lang="es-EC" sz="2400" b="0" i="1" dirty="0" smtClean="0">
                            <a:latin typeface="Cambria Math" panose="02040503050406030204" pitchFamily="18" charset="0"/>
                          </a:rPr>
                          <m:t>𝑋</m:t>
                        </m:r>
                      </m:e>
                      <m:sub>
                        <m:r>
                          <a:rPr lang="es-EC" sz="2400" b="0" i="1" dirty="0" smtClean="0">
                            <a:latin typeface="Cambria Math" panose="02040503050406030204" pitchFamily="18" charset="0"/>
                          </a:rPr>
                          <m:t>𝑛</m:t>
                        </m:r>
                      </m:sub>
                    </m:sSub>
                  </m:oMath>
                </a14:m>
                <a:r>
                  <a:rPr lang="es-EC" sz="2400" dirty="0"/>
                  <a:t> una sucesión infinita de </a:t>
                </a:r>
                <a:r>
                  <a:rPr lang="es-EC" sz="2400" dirty="0" err="1"/>
                  <a:t>v.a.</a:t>
                </a:r>
                <a:r>
                  <a:rPr lang="es-EC" sz="2400" dirty="0"/>
                  <a:t> </a:t>
                </a:r>
                <a:r>
                  <a:rPr lang="es-EC" sz="2400" dirty="0" err="1"/>
                  <a:t>i.i.d</a:t>
                </a:r>
                <a:r>
                  <a:rPr lang="es-EC" sz="2400" dirty="0"/>
                  <a:t>. con  </a:t>
                </a:r>
                <a14:m>
                  <m:oMath xmlns:m="http://schemas.openxmlformats.org/officeDocument/2006/math">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i="1">
                            <a:latin typeface="Cambria Math" panose="02040503050406030204" pitchFamily="18" charset="0"/>
                          </a:rPr>
                          <m:t>𝑋</m:t>
                        </m:r>
                      </m:e>
                    </m:d>
                    <m:r>
                      <a:rPr lang="es-EC" sz="2400" i="1">
                        <a:latin typeface="Cambria Math" panose="02040503050406030204" pitchFamily="18" charset="0"/>
                      </a:rPr>
                      <m:t>=</m:t>
                    </m:r>
                    <m:r>
                      <a:rPr lang="es-EC" sz="2400" i="1" smtClean="0">
                        <a:latin typeface="Cambria Math" panose="02040503050406030204" pitchFamily="18" charset="0"/>
                        <a:ea typeface="Cambria Math" panose="02040503050406030204" pitchFamily="18" charset="0"/>
                      </a:rPr>
                      <m:t>𝜇</m:t>
                    </m:r>
                    <m:r>
                      <a:rPr lang="es-EC" sz="2400" i="1">
                        <a:latin typeface="Cambria Math" panose="02040503050406030204" pitchFamily="18" charset="0"/>
                      </a:rPr>
                      <m:t> </m:t>
                    </m:r>
                    <m:r>
                      <a:rPr lang="es-EC" sz="2400" b="0" i="1" smtClean="0">
                        <a:latin typeface="Cambria Math" panose="02040503050406030204" pitchFamily="18" charset="0"/>
                      </a:rPr>
                      <m:t> </m:t>
                    </m:r>
                    <m:r>
                      <a:rPr lang="es-EC" sz="2400" b="0" i="1" smtClean="0">
                        <a:latin typeface="Cambria Math" panose="02040503050406030204" pitchFamily="18" charset="0"/>
                      </a:rPr>
                      <m:t>𝑦</m:t>
                    </m:r>
                    <m:r>
                      <a:rPr lang="es-EC" sz="2400" b="0" i="1" smtClean="0">
                        <a:latin typeface="Cambria Math" panose="02040503050406030204" pitchFamily="18" charset="0"/>
                      </a:rPr>
                      <m:t> </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𝑋</m:t>
                        </m:r>
                      </m:e>
                    </m:d>
                    <m:r>
                      <a:rPr lang="es-EC" sz="2400" b="0" i="1" smtClean="0">
                        <a:latin typeface="Cambria Math" panose="02040503050406030204" pitchFamily="18" charset="0"/>
                      </a:rPr>
                      <m:t>=</m:t>
                    </m:r>
                    <m:sSup>
                      <m:sSupPr>
                        <m:ctrlPr>
                          <a:rPr lang="es-EC" sz="2400" b="0" i="1" smtClean="0">
                            <a:latin typeface="Cambria Math" panose="02040503050406030204" pitchFamily="18" charset="0"/>
                          </a:rPr>
                        </m:ctrlPr>
                      </m:sSupPr>
                      <m:e>
                        <m:r>
                          <a:rPr lang="es-EC" sz="2400" b="0" i="1" smtClean="0">
                            <a:latin typeface="Cambria Math" panose="02040503050406030204" pitchFamily="18" charset="0"/>
                            <a:ea typeface="Cambria Math" panose="02040503050406030204" pitchFamily="18" charset="0"/>
                          </a:rPr>
                          <m:t>𝜎</m:t>
                        </m:r>
                      </m:e>
                      <m:sup>
                        <m:r>
                          <a:rPr lang="es-EC" sz="2400" b="0" i="1" smtClean="0">
                            <a:latin typeface="Cambria Math" panose="02040503050406030204" pitchFamily="18" charset="0"/>
                          </a:rPr>
                          <m:t>2</m:t>
                        </m:r>
                      </m:sup>
                    </m:sSup>
                    <m:r>
                      <a:rPr lang="es-EC" sz="2400" b="0" i="1" smtClean="0">
                        <a:latin typeface="Cambria Math" panose="02040503050406030204" pitchFamily="18" charset="0"/>
                      </a:rPr>
                      <m:t>𝑓𝑖𝑛𝑖𝑡𝑎</m:t>
                    </m:r>
                  </m:oMath>
                </a14:m>
                <a:r>
                  <a:rPr lang="es-EC" sz="2400" dirty="0"/>
                  <a:t> y entonces la </a:t>
                </a:r>
                <a:r>
                  <a:rPr lang="es-EC" sz="2400" dirty="0" err="1"/>
                  <a:t>v.a.</a:t>
                </a:r>
                <a:r>
                  <a:rPr lang="es-EC" sz="2400" dirty="0"/>
                  <a:t> Z definida por</a:t>
                </a:r>
              </a:p>
              <a:p>
                <a:endParaRPr lang="es-EC" sz="2400" dirty="0"/>
              </a:p>
              <a:p>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1084990" y="1705883"/>
                <a:ext cx="9793217" cy="1569660"/>
              </a:xfrm>
              <a:prstGeom prst="rect">
                <a:avLst/>
              </a:prstGeom>
              <a:blipFill rotWithShape="0">
                <a:blip r:embed="rId3"/>
                <a:stretch>
                  <a:fillRect l="-996" t="-3113" r="-1557"/>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4712507" y="2695805"/>
                <a:ext cx="1663725" cy="10758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𝑍</m:t>
                      </m:r>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d>
                            <m:dPr>
                              <m:ctrlPr>
                                <a:rPr lang="es-EC" sz="2400" b="0" i="1" smtClean="0">
                                  <a:latin typeface="Cambria Math" panose="02040503050406030204" pitchFamily="18" charset="0"/>
                                </a:rPr>
                              </m:ctrlPr>
                            </m:dPr>
                            <m:e>
                              <m:acc>
                                <m:accPr>
                                  <m:chr m:val="̅"/>
                                  <m:ctrlPr>
                                    <a:rPr lang="es-EC" sz="2400" b="0" i="1" smtClean="0">
                                      <a:latin typeface="Cambria Math" panose="02040503050406030204" pitchFamily="18" charset="0"/>
                                    </a:rPr>
                                  </m:ctrlPr>
                                </m:accPr>
                                <m:e>
                                  <m:r>
                                    <a:rPr lang="es-EC" sz="2400" b="0" i="1" smtClean="0">
                                      <a:latin typeface="Cambria Math" panose="02040503050406030204" pitchFamily="18" charset="0"/>
                                    </a:rPr>
                                    <m:t>𝑋</m:t>
                                  </m:r>
                                </m:e>
                              </m:acc>
                              <m: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𝜇</m:t>
                              </m:r>
                            </m:e>
                          </m:d>
                        </m:num>
                        <m:den>
                          <m:f>
                            <m:fPr>
                              <m:ctrlPr>
                                <a:rPr lang="es-EC" sz="2400" b="0" i="1" smtClean="0">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b="0" i="1" smtClean="0">
                                      <a:latin typeface="Cambria Math" panose="02040503050406030204" pitchFamily="18" charset="0"/>
                                      <a:ea typeface="Cambria Math" panose="02040503050406030204" pitchFamily="18" charset="0"/>
                                    </a:rPr>
                                  </m:ctrlPr>
                                </m:radPr>
                                <m:deg/>
                                <m:e>
                                  <m:r>
                                    <a:rPr lang="es-EC" sz="2400" b="0" i="1" smtClean="0">
                                      <a:latin typeface="Cambria Math" panose="02040503050406030204" pitchFamily="18" charset="0"/>
                                      <a:ea typeface="Cambria Math" panose="02040503050406030204" pitchFamily="18" charset="0"/>
                                    </a:rPr>
                                    <m:t>𝑛</m:t>
                                  </m:r>
                                </m:e>
                              </m:rad>
                            </m:den>
                          </m:f>
                        </m:den>
                      </m:f>
                    </m:oMath>
                  </m:oMathPara>
                </a14:m>
                <a:endParaRPr lang="es-EC"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4712507" y="2695805"/>
                <a:ext cx="1663725" cy="1075807"/>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1084990" y="4222182"/>
                <a:ext cx="10402160" cy="461665"/>
              </a:xfrm>
              <a:prstGeom prst="rect">
                <a:avLst/>
              </a:prstGeom>
            </p:spPr>
            <p:txBody>
              <a:bodyPr wrap="square">
                <a:spAutoFit/>
              </a:bodyPr>
              <a:lstStyle/>
              <a:p>
                <a:r>
                  <a:rPr lang="es-EC" sz="2400" dirty="0"/>
                  <a:t>Y su distribución converge a una N(0,1), cuando </a:t>
                </a:r>
                <a14:m>
                  <m:oMath xmlns:m="http://schemas.openxmlformats.org/officeDocument/2006/math">
                    <m:r>
                      <a:rPr lang="es-EC" sz="2400" b="0" i="1" smtClean="0">
                        <a:latin typeface="Cambria Math" panose="02040503050406030204" pitchFamily="18" charset="0"/>
                      </a:rPr>
                      <m:t>𝑛</m:t>
                    </m:r>
                    <m:r>
                      <a:rPr lang="es-EC" sz="2400" b="0" i="1" smtClean="0">
                        <a:latin typeface="Cambria Math" panose="02040503050406030204" pitchFamily="18" charset="0"/>
                        <a:ea typeface="Cambria Math" panose="02040503050406030204" pitchFamily="18" charset="0"/>
                      </a:rPr>
                      <m:t>→∞</m:t>
                    </m:r>
                  </m:oMath>
                </a14:m>
                <a:r>
                  <a:rPr lang="es-EC" sz="2400" dirty="0"/>
                  <a:t> </a:t>
                </a:r>
              </a:p>
            </p:txBody>
          </p:sp>
        </mc:Choice>
        <mc:Fallback xmlns="">
          <p:sp>
            <p:nvSpPr>
              <p:cNvPr id="7" name="Rectángulo 6"/>
              <p:cNvSpPr>
                <a:spLocks noRot="1" noChangeAspect="1" noMove="1" noResize="1" noEditPoints="1" noAdjustHandles="1" noChangeArrowheads="1" noChangeShapeType="1" noTextEdit="1"/>
              </p:cNvSpPr>
              <p:nvPr/>
            </p:nvSpPr>
            <p:spPr>
              <a:xfrm>
                <a:off x="1084990" y="4222182"/>
                <a:ext cx="10402160" cy="461665"/>
              </a:xfrm>
              <a:prstGeom prst="rect">
                <a:avLst/>
              </a:prstGeom>
              <a:blipFill rotWithShape="0">
                <a:blip r:embed="rId5"/>
                <a:stretch>
                  <a:fillRect l="-938" t="-10667" b="-30667"/>
                </a:stretch>
              </a:blipFill>
            </p:spPr>
            <p:txBody>
              <a:bodyPr/>
              <a:lstStyle/>
              <a:p>
                <a:r>
                  <a:rPr lang="es-EC">
                    <a:noFill/>
                  </a:rPr>
                  <a:t> </a:t>
                </a:r>
              </a:p>
            </p:txBody>
          </p:sp>
        </mc:Fallback>
      </mc:AlternateContent>
    </p:spTree>
    <p:extLst>
      <p:ext uri="{BB962C8B-B14F-4D97-AF65-F5344CB8AC3E}">
        <p14:creationId xmlns:p14="http://schemas.microsoft.com/office/powerpoint/2010/main" val="235775614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2209</TotalTime>
  <Words>3094</Words>
  <Application>Microsoft Office PowerPoint</Application>
  <PresentationFormat>Widescreen</PresentationFormat>
  <Paragraphs>456</Paragraphs>
  <Slides>49</Slides>
  <Notes>7</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Calibri Light</vt:lpstr>
      <vt:lpstr>Cambria Math</vt:lpstr>
      <vt:lpstr>Papyrus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Super Koffre</dc:creator>
  <cp:lastModifiedBy>Heydi Roa López</cp:lastModifiedBy>
  <cp:revision>24</cp:revision>
  <dcterms:created xsi:type="dcterms:W3CDTF">2020-03-18T03:34:30Z</dcterms:created>
  <dcterms:modified xsi:type="dcterms:W3CDTF">2020-07-01T03:35:56Z</dcterms:modified>
</cp:coreProperties>
</file>